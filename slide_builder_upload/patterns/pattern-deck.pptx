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905695" cy="6858000"/>
  <p:notesSz cx="6858000" cy="9905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過去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108</c:v>
                </c:pt>
                <c:pt idx="2">
                  <c:v>115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直近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132</c:v>
                </c:pt>
                <c:pt idx="4">
                  <c:v>150</c:v>
                </c:pt>
                <c:pt idx="5">
                  <c:v>170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地域H</c:v>
                  </c:pt>
                  <c:pt idx="1">
                    <c:v>地域G</c:v>
                  </c:pt>
                  <c:pt idx="2">
                    <c:v>地域F</c:v>
                  </c:pt>
                  <c:pt idx="3">
                    <c:v>【対象】</c:v>
                  </c:pt>
                  <c:pt idx="4">
                    <c:v>地域D</c:v>
                  </c:pt>
                  <c:pt idx="5">
                    <c:v>地域C</c:v>
                  </c:pt>
                  <c:pt idx="6">
                    <c:v>地域B</c:v>
                  </c:pt>
                  <c:pt idx="7">
                    <c:v>地域A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0</c:v>
                </c:pt>
                <c:pt idx="4">
                  <c:v>140</c:v>
                </c:pt>
                <c:pt idx="5">
                  <c:v>150</c:v>
                </c:pt>
                <c:pt idx="6">
                  <c:v>165</c:v>
                </c:pt>
                <c:pt idx="7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対象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地域H</c:v>
                  </c:pt>
                  <c:pt idx="1">
                    <c:v>地域G</c:v>
                  </c:pt>
                  <c:pt idx="2">
                    <c:v>地域F</c:v>
                  </c:pt>
                  <c:pt idx="3">
                    <c:v>【対象】</c:v>
                  </c:pt>
                  <c:pt idx="4">
                    <c:v>地域D</c:v>
                  </c:pt>
                  <c:pt idx="5">
                    <c:v>地域C</c:v>
                  </c:pt>
                  <c:pt idx="6">
                    <c:v>地域B</c:v>
                  </c:pt>
                  <c:pt idx="7">
                    <c:v>地域A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区分A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区分B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33</c:v>
                </c:pt>
                <c:pt idx="2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区分C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22</c:v>
                </c:pt>
                <c:pt idx="2">
                  <c:v>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2015</c:v>
                  </c:pt>
                  <c:pt idx="1">
                    <c:v>2020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BFBFBF"/>
              </a:solidFill>
              <a:ln w="9525" cap="flat">
                <a:solidFill>
                  <a:srgbClr val="BFBFBF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  <c:pt idx="10">
                  <c:v>32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22</c:v>
                </c:pt>
                <c:pt idx="1">
                  <c:v>30</c:v>
                </c:pt>
                <c:pt idx="2">
                  <c:v>28</c:v>
                </c:pt>
                <c:pt idx="3">
                  <c:v>40</c:v>
                </c:pt>
                <c:pt idx="4">
                  <c:v>42</c:v>
                </c:pt>
                <c:pt idx="5">
                  <c:v>50</c:v>
                </c:pt>
                <c:pt idx="6">
                  <c:v>47</c:v>
                </c:pt>
                <c:pt idx="7">
                  <c:v>60</c:v>
                </c:pt>
                <c:pt idx="8">
                  <c:v>58</c:v>
                </c:pt>
                <c:pt idx="9">
                  <c:v>66</c:v>
                </c:pt>
                <c:pt idx="10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【対象】</c:v>
                </c:pt>
              </c:strCache>
            </c:strRef>
          </c:tx>
          <c:spPr>
            <a:solidFill>
              <a:srgbClr val="000F78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000F78"/>
              </a:solidFill>
              <a:ln w="9525" cap="flat">
                <a:solidFill>
                  <a:srgbClr val="000F78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  <c:pt idx="10">
                  <c:v>32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30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全国</c:v>
                </c:pt>
              </c:strCache>
            </c:strRef>
          </c:tx>
          <c:spPr>
            <a:solidFill>
              <a:srgbClr val="BFBFBF"/>
            </a:solidFill>
            <a:ln w="25400" cap="flat">
              <a:solidFill>
                <a:srgbClr val="BFBFB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FBFBF"/>
              </a:solidFill>
              <a:ln w="9525" cap="flat">
                <a:solidFill>
                  <a:srgbClr val="BFB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101</c:v>
                </c:pt>
                <c:pt idx="2">
                  <c:v>102</c:v>
                </c:pt>
                <c:pt idx="3">
                  <c:v>102</c:v>
                </c:pt>
                <c:pt idx="4">
                  <c:v>103</c:v>
                </c:pt>
                <c:pt idx="5">
                  <c:v>99</c:v>
                </c:pt>
                <c:pt idx="6">
                  <c:v>100</c:v>
                </c:pt>
                <c:pt idx="7">
                  <c:v>101</c:v>
                </c:pt>
                <c:pt idx="8">
                  <c:v>102</c:v>
                </c:pt>
                <c:pt idx="9">
                  <c:v>103</c:v>
                </c:pt>
                <c:pt idx="10">
                  <c:v>104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類似地域</c:v>
                </c:pt>
              </c:strCache>
            </c:strRef>
          </c:tx>
          <c:spPr>
            <a:solidFill>
              <a:srgbClr val="7F7F7F"/>
            </a:solidFill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99</c:v>
                </c:pt>
                <c:pt idx="2">
                  <c:v>99</c:v>
                </c:pt>
                <c:pt idx="3">
                  <c:v>98</c:v>
                </c:pt>
                <c:pt idx="4">
                  <c:v>98</c:v>
                </c:pt>
                <c:pt idx="5">
                  <c:v>95</c:v>
                </c:pt>
                <c:pt idx="6">
                  <c:v>95</c:v>
                </c:pt>
                <c:pt idx="7">
                  <c:v>96</c:v>
                </c:pt>
                <c:pt idx="8">
                  <c:v>96</c:v>
                </c:pt>
                <c:pt idx="9">
                  <c:v>96</c:v>
                </c:pt>
                <c:pt idx="10">
                  <c:v>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【対象】</c:v>
                </c:pt>
              </c:strCache>
            </c:strRef>
          </c:tx>
          <c:spPr>
            <a:solidFill>
              <a:srgbClr val="000F78"/>
            </a:solidFill>
            <a:ln w="25400" cap="flat">
              <a:solidFill>
                <a:srgbClr val="000F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0F78"/>
              </a:solidFill>
              <a:ln w="9525" cap="flat">
                <a:solidFill>
                  <a:srgbClr val="000F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97</c:v>
                </c:pt>
                <c:pt idx="2">
                  <c:v>95</c:v>
                </c:pt>
                <c:pt idx="3">
                  <c:v>92</c:v>
                </c:pt>
                <c:pt idx="4">
                  <c:v>90</c:v>
                </c:pt>
                <c:pt idx="5">
                  <c:v>85</c:v>
                </c:pt>
                <c:pt idx="6">
                  <c:v>84</c:v>
                </c:pt>
                <c:pt idx="7">
                  <c:v>83</c:v>
                </c:pt>
                <c:pt idx="8">
                  <c:v>81</c:v>
                </c:pt>
                <c:pt idx="9">
                  <c:v>80</c:v>
                </c:pt>
                <c:pt idx="10">
                  <c:v>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7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2015</c:v>
                  </c:pt>
                  <c:pt idx="1">
                    <c:v>2017</c:v>
                  </c:pt>
                  <c:pt idx="2">
                    <c:v>2019</c:v>
                  </c:pt>
                  <c:pt idx="3">
                    <c:v>2021</c:v>
                  </c:pt>
                  <c:pt idx="4">
                    <c:v>2023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112</c:v>
                </c:pt>
                <c:pt idx="2">
                  <c:v>121</c:v>
                </c:pt>
                <c:pt idx="3">
                  <c:v>126</c:v>
                </c:pt>
                <c:pt idx="4">
                  <c:v>128</c:v>
                </c:pt>
                <c:pt idx="5">
                  <c:v>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そう思う</c:v>
                </c:pt>
              </c:strCache>
            </c:strRef>
          </c:tx>
          <c:spPr>
            <a:solidFill>
              <a:srgbClr val="000F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38</c:v>
                </c:pt>
                <c:pt idx="2">
                  <c:v>41</c:v>
                </c:pt>
                <c:pt idx="3">
                  <c:v>48</c:v>
                </c:pt>
                <c:pt idx="4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ややそう思う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24</c:v>
                </c:pt>
                <c:pt idx="2">
                  <c:v>25</c:v>
                </c:pt>
                <c:pt idx="3">
                  <c:v>22</c:v>
                </c:pt>
                <c:pt idx="4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どちらでもない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17</c:v>
                </c:pt>
                <c:pt idx="1">
                  <c:v>20</c:v>
                </c:pt>
                <c:pt idx="2">
                  <c:v>18</c:v>
                </c:pt>
                <c:pt idx="3">
                  <c:v>16</c:v>
                </c:pt>
                <c:pt idx="4">
                  <c:v>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そう思わない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70代以上</c:v>
                  </c:pt>
                  <c:pt idx="1">
                    <c:v>50〜60代</c:v>
                  </c:pt>
                  <c:pt idx="2">
                    <c:v>30〜40代</c:v>
                  </c:pt>
                  <c:pt idx="3">
                    <c:v>10〜20代</c:v>
                  </c:pt>
                  <c:pt idx="4">
                    <c:v>全体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</c:v>
                </c:pt>
                <c:pt idx="1">
                  <c:v>18</c:v>
                </c:pt>
                <c:pt idx="2">
                  <c:v>16</c:v>
                </c:pt>
                <c:pt idx="3">
                  <c:v>14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表紙。案件で使う際は、このファイルを案件名で別名保存し、最後に見本スライドを削除する。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パターンID：P01
使う場面：デッキ冒頭。各章のメッセージラインを1行に要約し、根拠の数字を添える。最後の提言だけを紺にする。
差し替え：章ごとの結論文・根拠の数字・提言。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パターンID：P02
使う場面：目次、各章の扉。当該章だけ紺・太字、他はグレー。
差し替え：章名。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パターンID：P03
使う場面：時系列の増減を示す。期間が少ない（〜10本）場合。言いたい期間の棒だけ紺、CAGRを紺の注釈で。
差し替え：系列データ（グラフ用シート）、CAGRの値と範囲、見出し。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パターンID：P04
使う場面：大小・順位の比較。必ず降順。注目対象だけ紺、他はグレー。
差し替え：項目名と値（降順に並べ替える）、注目対象の位置。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パターンID：P05
使う場面：構成の変化。系列は5つ以内、グレーの濃淡で塗り分け、注目の1系列だけ紺。
差し替え：系列名・値、注目系列。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パターンID：P06
使う場面：増減の要因分解。始点・終点は濃いグレー、要因は中間のグレー、最大要因だけ紺。棒は図形で作図（編集可能）。
差し替え：要因名・値。棒の高さは値に比例させて調整する。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パターンID：P07
使う場面：規模と構成の両方が議論に必要なときだけ使う。片方だけなら棒グラフで足りる。
差し替え：セグメントの幅（規模比）とシェア。【当社】の区画だけ紺。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パターンID：P08
使う場面：2変数の関係。平均線で象限を切り、注目点だけ紺。
差し替え：X・Yの値、平均線の位置、注目点。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パターンID：P09
使う場面：長い期間の推移、複数系列（3本まで）。対象だけ紺、他はグレー。凡例を使わず線の端に系列名を直接書く。
差し替え：系列データ、系列名。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パターンID：P10
使う場面：チャートから読み取るべき点が2〜3ある場合。チャート上の番号とキーメッセージ欄の番号を対応させる。
差し替え：チャートデータ、読み取り3点。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パターンID：P11
使う場面：Before/After、現状とあるべき姿、定量と定性など2つのエクジビットを並べる場合。必ず左右に並べ、上下に積まない。結論側（右）だけ紺。
差し替え：左右の見出しと中身。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パターンID：P12
使う場面：関係者の関係、お金・モノ・情報の流れ。要素は6つ以内、各12字以内。変化する箇所だけ紺。アイコンはPowerPointの「アイコン」で単色の線画に差し替える。
差し替え：主体名、矢印のラベル。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パターンID：P13
使う場面：手順、スケジュール、段階的な実行。今回決める段階・判断点だけ紺。判断点は◆で示す。
差し替え：フェーズ名・期間・主な取組・判断点。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パターンID：P14
使う場面：要因の分解、論点整理。左から右へ。演算子（×＋）を明記。効いている枝だけ紺。
差し替え：各ノードの名前・値。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パターンID：P15
使う場面：2軸での優先順位付け、ポジショニング。軸の定義と各象限の意味を明記。推奨象限だけ紺。
差し替え：軸の名前、項目と位置。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パターンID：P16
使う場面：選択肢・事例の構造的な比較。評価はハーベイボール（グレー）。推奨する列だけ紺の細枠。表は4列4行程度まで。
差し替え：選択肢名・基準・評価。評価基準は注記で定義する。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パターンID：P17
使う場面：先行事例の紹介。左に概要（取組・体制）、右に成果の数値。成果の数値だけ紺。
差し替え：事例の各項目、成果の数値。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パターンID：P18
使う場面：アンケート結果。属性別の行を横の100%積上げで。設問文・n数・調査時期を必ず記載。注目の回答だけ紺。
差し替え：属性・回答割合・設問文。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パターンID：P19
使う場面：提言。グループに分け、番号を振って他ページから参照できるようにする。各施策は動詞で終える。実行時期を付ける。最優先の施策だけ紺。
差し替え：領域・施策・時期。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パターンID：P20
使う場面：主要な数値の並び（KPI）。3〜4個まで。最も言いたい数値だけ紺、他は黒。
差し替え：指標名・数値・補足。
参考ページID：未登録（slide-reference-library で参照ページを収集後に追記）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パターン見本デッキ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consulting-slide-builder 用　20の型（P01〜P20）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使い方：この見本を複製し、中身だけを差し替えてスライドを作る。各スライドのノートに、パターンID・使う場面・差し替える箇所を記載。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数値は全てダミー値。成果物に残さないこと。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84124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00　エグゼクティブサマリー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【対象】は【課題】により【期間】で【数値A】が不足する。【打ち手A】と【打ち手B】を組み合わせ、【時期】までに【目標】を達成すべきである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88036" y="1508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31036" y="1508760"/>
            <a:ext cx="8186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【対象】の【指標】は10年で【数値A】減少し、全国平均を下回る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31036" y="1819656"/>
            <a:ext cx="8186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根拠：【指標】【数値】（【年度】）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88036" y="2258568"/>
            <a:ext cx="932962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8036" y="24231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431036" y="2423160"/>
            <a:ext cx="8186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減少の主因は【要因X】であり、【要因Y】の影響は限定的である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31036" y="2734056"/>
            <a:ext cx="8186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根拠：要因分解で【要因X】が全体の【数値】%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8036" y="3172968"/>
            <a:ext cx="932962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8036" y="33375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431036" y="3337560"/>
            <a:ext cx="8186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【打ち手A】は効果と実現性の両面で最も優先度が高い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31036" y="3648456"/>
            <a:ext cx="8186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根拠：評価表で4基準中3基準が最上位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88036" y="4087368"/>
            <a:ext cx="932962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8036" y="4389120"/>
            <a:ext cx="9329623" cy="1234440"/>
          </a:xfrm>
          <a:prstGeom prst="rect">
            <a:avLst/>
          </a:prstGeom>
          <a:solidFill>
            <a:srgbClr val="000F78">
              <a:alpha val="10000"/>
            </a:srgbClr>
          </a:solidFill>
          <a:ln w="19050">
            <a:solidFill>
              <a:srgbClr val="000F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0916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提言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31036" y="4526280"/>
            <a:ext cx="8003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【打ち手A】を【時期】までに実行し、並行して【打ち手B】の検証に着手する。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初年度は【体制】を立ち上げ、【KPI】で進捗を管理する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本資料は【問い】に答えるため、現状・課題・打ち手・実行計画の順に検討結果を示す。本章では【章の要点】を明らかにし、次章の打ち手の前提とする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62356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85316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現状：【対象】を取り巻く環境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2356" y="2331720"/>
            <a:ext cx="878098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2356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385316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課題：【指標】悪化の要因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2356" y="3154680"/>
            <a:ext cx="878098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2356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385316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打ち手：選択肢の評価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2356" y="3977640"/>
            <a:ext cx="878098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356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385316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実行計画：ロードマップと体制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2356" y="4800600"/>
            <a:ext cx="878098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356" y="4983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385316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参考資料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2356" y="5623560"/>
            <a:ext cx="878098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【対象】の【指標】は【期間】で【数値A】増加し、【比較対象】の【数値B】倍に達した。【示唆：だから何をすべきか】を早期に検討すべき局面にある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【対象】の【指標】の推移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（【単位】、2015–2025年度）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88036" y="1965960"/>
          <a:ext cx="9329623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5120640" y="2331720"/>
            <a:ext cx="3474720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5852160" y="1965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CAGR ＋【X】%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【対象】の【指標】は8地域中【順位】位で、上位地域の【数値A】割にとどまる。上位との差は【要因】で説明でき、改善余地が大きい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地域別の【指標】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（【単位】、【年度】）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88036" y="1874520"/>
          <a:ext cx="658368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223760" y="4206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上位地域との差は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【数値】ポイント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086600" y="4526280"/>
            <a:ext cx="109728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【対象】の構成比は【期間】で大きく変わり、【区分C】の比率が【数値A】ポイント上昇した。今後の需要は【区分C】を軸に組み立てる必要がある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【指標】の構成比の変化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（%、【年度】）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88036" y="1874520"/>
          <a:ext cx="69494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3609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区分C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区分B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360920" y="5120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区分A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18388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＋【数値A】pt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【指標】は【期間】で【数値A】減少し、その約【数値B】割は【要因X】による。【要因X】への対策なしに【指標】を回復させることはできない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【指標】の増減要因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（【単位】、【期間】）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2356" y="2377440"/>
            <a:ext cx="960120" cy="31089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62356" y="2084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" y="55595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実績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522476" y="2377440"/>
            <a:ext cx="50292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025396" y="2377440"/>
            <a:ext cx="960120" cy="932688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025396" y="2084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933956" y="55595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要因X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985516" y="3310128"/>
            <a:ext cx="50292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488436" y="3310128"/>
            <a:ext cx="960120" cy="248717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8843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396996" y="55595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要因Y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448556" y="3558845"/>
            <a:ext cx="50292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4951476" y="3372307"/>
            <a:ext cx="960120" cy="18653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951476" y="3079699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860036" y="55595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要因Z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11596" y="3372307"/>
            <a:ext cx="50292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6414516" y="3372307"/>
            <a:ext cx="960120" cy="93269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14516" y="3079699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323076" y="55595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374636" y="3465576"/>
            <a:ext cx="50292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7877556" y="3465576"/>
            <a:ext cx="960120" cy="202082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877556" y="31729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786116" y="55595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実績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88036" y="548640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【市場】の【数値A】割を占める最大セグメントで、【当社】のシェアは【数値B】%にとどまる。ここでの存在感の低さが成長の制約となっている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セグメント別の市場規模とプレイヤーシェア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（幅＝市場規模、高さ＝シェア、【年度】）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476756" y="1965960"/>
            <a:ext cx="3128482" cy="1312164"/>
          </a:xfrm>
          <a:prstGeom prst="rect">
            <a:avLst/>
          </a:prstGeom>
          <a:solidFill>
            <a:srgbClr val="7F7F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476756" y="1965960"/>
            <a:ext cx="3128482" cy="131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476756" y="3278124"/>
            <a:ext cx="3128482" cy="937260"/>
          </a:xfrm>
          <a:prstGeom prst="rect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76756" y="3278124"/>
            <a:ext cx="3128482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476756" y="4215384"/>
            <a:ext cx="3128482" cy="562356"/>
          </a:xfrm>
          <a:prstGeom prst="rect">
            <a:avLst/>
          </a:prstGeom>
          <a:solidFill>
            <a:srgbClr val="000F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476756" y="4215384"/>
            <a:ext cx="312848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476756" y="4777740"/>
            <a:ext cx="3128482" cy="937260"/>
          </a:xfrm>
          <a:prstGeom prst="rect">
            <a:avLst/>
          </a:prstGeom>
          <a:solidFill>
            <a:srgbClr val="E7E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76756" y="4777740"/>
            <a:ext cx="3128482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76756" y="5788152"/>
            <a:ext cx="3128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セグメントA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（規模45%）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605238" y="1965960"/>
            <a:ext cx="2085655" cy="749808"/>
          </a:xfrm>
          <a:prstGeom prst="rect">
            <a:avLst/>
          </a:prstGeom>
          <a:solidFill>
            <a:srgbClr val="7F7F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05238" y="1965960"/>
            <a:ext cx="2085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05238" y="2715768"/>
            <a:ext cx="2085655" cy="1124712"/>
          </a:xfrm>
          <a:prstGeom prst="rect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05238" y="2715768"/>
            <a:ext cx="208565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05238" y="3840480"/>
            <a:ext cx="2085655" cy="1124712"/>
          </a:xfrm>
          <a:prstGeom prst="rect">
            <a:avLst/>
          </a:prstGeom>
          <a:solidFill>
            <a:srgbClr val="000F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05238" y="3840480"/>
            <a:ext cx="208565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605238" y="4965192"/>
            <a:ext cx="2085655" cy="749808"/>
          </a:xfrm>
          <a:prstGeom prst="rect">
            <a:avLst/>
          </a:prstGeom>
          <a:solidFill>
            <a:srgbClr val="E7E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05238" y="4965192"/>
            <a:ext cx="2085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605238" y="5788152"/>
            <a:ext cx="2085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セグメントB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（規模30%）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690893" y="1965960"/>
            <a:ext cx="1738046" cy="1499616"/>
          </a:xfrm>
          <a:prstGeom prst="rect">
            <a:avLst/>
          </a:prstGeom>
          <a:solidFill>
            <a:srgbClr val="7F7F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90893" y="1965960"/>
            <a:ext cx="173804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690893" y="3465576"/>
            <a:ext cx="1738046" cy="749808"/>
          </a:xfrm>
          <a:prstGeom prst="rect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690893" y="3465576"/>
            <a:ext cx="17380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690893" y="4215384"/>
            <a:ext cx="1738046" cy="937260"/>
          </a:xfrm>
          <a:prstGeom prst="rect">
            <a:avLst/>
          </a:prstGeom>
          <a:solidFill>
            <a:srgbClr val="000F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90893" y="4215384"/>
            <a:ext cx="1738046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690893" y="5152644"/>
            <a:ext cx="1738046" cy="562356"/>
          </a:xfrm>
          <a:prstGeom prst="rect">
            <a:avLst/>
          </a:prstGeom>
          <a:solidFill>
            <a:srgbClr val="E7E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690893" y="5152644"/>
            <a:ext cx="173804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690893" y="5788152"/>
            <a:ext cx="17380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セグメントC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（規模25%）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538667" y="246613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企業X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538667" y="35908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企業Y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8538667" y="434065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【当社】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538667" y="512795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その他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【指標X】と【指標Y】には正の相関があり、【対象】は同規模の自治体より【指標Y】が低い。【指標X】を改善すれば【指標Y】も底上げできる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【指標X】と【指標Y】の関係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（【単位】、n＝【数値】、【年度】）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88036" y="18745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31520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平均より【数値A】低い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縦軸：【指標Y】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横軸：【指標X】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【対象】の【指標】は2015年以降一貫して低下し、比較対象との差は【数値A】ポイントに拡大した。他地域並みの水準へ戻すには構造的な対策が要る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【指標】の推移（地域比較）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（【単位】、2015–2025年）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88036" y="187452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8638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全国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類似地域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4160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差は【数値A】pt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【指標】の伸びは【期間】で鈍化し、その背景には3つの構造的な要因がある。いずれも【対象】単独では解消が難しく、関係者との連携が欠かせない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【指標】の推移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（【単位】、2015–2025年度）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88036" y="18745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3017520" y="2514600"/>
            <a:ext cx="292608" cy="292608"/>
          </a:xfrm>
          <a:prstGeom prst="ellipse">
            <a:avLst/>
          </a:prstGeom>
          <a:solidFill>
            <a:srgbClr val="000F78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175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886200" y="23317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88620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22402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72200" y="1965960"/>
            <a:ext cx="292608" cy="292608"/>
          </a:xfrm>
          <a:prstGeom prst="ellipse">
            <a:avLst/>
          </a:prstGeom>
          <a:solidFill>
            <a:srgbClr val="000F78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17220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1947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伸び率の鈍化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2286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2021年度以降の伸びは年【数値】%に低下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172200" y="3063240"/>
            <a:ext cx="3445459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72200" y="32918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17220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583680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【要因2】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583680" y="36118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【要因2】の影響で需要の伸びが頭打ち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172200" y="4389120"/>
            <a:ext cx="3445459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172200" y="46177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7220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6583680" y="4599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【要因3】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583680" y="4937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供給側の制約で回復が遅れている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172200" y="5715000"/>
            <a:ext cx="3445459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現状は【主体A】と【主体B】が個別に【業務】を担い、重複コストが年【数値A】生じている。機能を統合すれば重複は解消し、【効果】が見込める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88036" y="1417320"/>
            <a:ext cx="448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8036" y="1728216"/>
            <a:ext cx="4481932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036" y="2057400"/>
            <a:ext cx="44819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" y="2057400"/>
            <a:ext cx="40247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【主体A】【主体B】が個別に運用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8036" y="3291840"/>
            <a:ext cx="44819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6636" y="3291840"/>
            <a:ext cx="40247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同じ【業務】を二重に実施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88036" y="4526280"/>
            <a:ext cx="44819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636" y="4526280"/>
            <a:ext cx="40247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調整に年【数値】日を要する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135728" y="1417320"/>
            <a:ext cx="4481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あるべき姿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135728" y="1728216"/>
            <a:ext cx="4481932" cy="0"/>
          </a:xfrm>
          <a:prstGeom prst="line">
            <a:avLst/>
          </a:prstGeom>
          <a:noFill/>
          <a:ln w="15875">
            <a:solidFill>
              <a:srgbClr val="000F7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35728" y="2057400"/>
            <a:ext cx="44819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64328" y="2057400"/>
            <a:ext cx="40247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【機能】を【主体C】に一元化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135728" y="3291840"/>
            <a:ext cx="4481932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F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64328" y="3291840"/>
            <a:ext cx="40247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重複コストを年【数値A】削減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135728" y="4526280"/>
            <a:ext cx="448193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64328" y="4526280"/>
            <a:ext cx="40247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意思決定が【数値】日短縮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新たな仕組みでは【主体C】が【主体A】と【主体B】の間に入り、資金とデータの流れを一本化する。これにより利用者の負担が大きく減る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新しい仕組みの全体像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14400" y="26517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30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【主体A】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434840" y="219456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F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3484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977640" y="3273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【主体C】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55280" y="265176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55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3730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【主体B】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34840" y="457200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34840" y="4937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977640" y="5650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011680" y="3108960"/>
            <a:ext cx="2331720" cy="-320040"/>
          </a:xfrm>
          <a:prstGeom prst="line">
            <a:avLst/>
          </a:prstGeom>
          <a:noFill/>
          <a:ln w="2222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2402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532120" y="2788920"/>
            <a:ext cx="2331720" cy="320040"/>
          </a:xfrm>
          <a:prstGeom prst="line">
            <a:avLst/>
          </a:prstGeom>
          <a:noFill/>
          <a:ln w="22225">
            <a:solidFill>
              <a:srgbClr val="000F78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576072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資金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937760" y="4114800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50749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取組は3段階で進め、【年度】までに【目標】を達成する。最初の判断点は【時期】の【判断事項】であり、ここで【条件】を満たせば本格展開に移る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実行ロードマップ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（【年度】〜【年度】）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8036" y="1965960"/>
            <a:ext cx="3018434" cy="640080"/>
          </a:xfrm>
          <a:prstGeom prst="chevron">
            <a:avLst/>
          </a:prstGeom>
          <a:solidFill>
            <a:srgbClr val="000F78"/>
          </a:solidFill>
          <a:ln w="12700">
            <a:solidFill>
              <a:srgbClr val="000F7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8076" y="1965960"/>
            <a:ext cx="24697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フェーズ1　検証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" y="2743200"/>
            <a:ext cx="3018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" y="3246120"/>
            <a:ext cx="2744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・実証範囲の決定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0916" y="3657600"/>
            <a:ext cx="2744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・効果の測定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43630" y="1965960"/>
            <a:ext cx="3018434" cy="6400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63670" y="1965960"/>
            <a:ext cx="24697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フェーズ2　拡大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43630" y="2743200"/>
            <a:ext cx="3018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26510" y="3246120"/>
            <a:ext cx="2744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・対象を【数値】に拡大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26510" y="3657600"/>
            <a:ext cx="2744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・体制の整備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99225" y="1965960"/>
            <a:ext cx="3018434" cy="6400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19265" y="1965960"/>
            <a:ext cx="24697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フェーズ3　本格展開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599225" y="2743200"/>
            <a:ext cx="30184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【年度】〜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782105" y="3246120"/>
            <a:ext cx="2744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・全域で運用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782105" y="3657600"/>
            <a:ext cx="2744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・収支の自立化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169310" y="4434840"/>
            <a:ext cx="310896" cy="310896"/>
          </a:xfrm>
          <a:prstGeom prst="diamond">
            <a:avLst/>
          </a:prstGeom>
          <a:solidFill>
            <a:srgbClr val="000F7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599078" y="4343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判断点：【時期】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【条件】を満たせば拡大へ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288036" y="4590288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課題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【指標】の低下の【数値A】割は利用者数の減少で説明できる。中でも【要因X】の寄与が最も大きく、対策の優先度が最も高い要因である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【指標】の要因分解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8036" y="3429000"/>
            <a:ext cx="1828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476" y="34290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108960" y="2423160"/>
            <a:ext cx="201168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0400" y="2423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108960" y="4434840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00400" y="4434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単価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88620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09360" y="1828800"/>
            <a:ext cx="32918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00F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1828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【要因X】（寄与【数値】%）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09360" y="269748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2697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【要因Y】（寄与【数値】%）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309360" y="411480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114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【要因Z】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09360" y="4983480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4983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【要因W】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116836" y="3712464"/>
            <a:ext cx="496062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12898" y="2706624"/>
            <a:ext cx="0" cy="100584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612898" y="2706624"/>
            <a:ext cx="496062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116836" y="3712464"/>
            <a:ext cx="49606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612898" y="3712464"/>
            <a:ext cx="0" cy="10058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612898" y="4718304"/>
            <a:ext cx="49606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120640" y="2706624"/>
            <a:ext cx="594360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15000" y="2112264"/>
            <a:ext cx="0" cy="59436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15000" y="2112264"/>
            <a:ext cx="594360" cy="0"/>
          </a:xfrm>
          <a:prstGeom prst="line">
            <a:avLst/>
          </a:prstGeom>
          <a:noFill/>
          <a:ln w="12700">
            <a:solidFill>
              <a:srgbClr val="000F7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120640" y="2706624"/>
            <a:ext cx="594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715000" y="2706624"/>
            <a:ext cx="0" cy="27432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15000" y="2980944"/>
            <a:ext cx="594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120640" y="4718304"/>
            <a:ext cx="594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715000" y="4398264"/>
            <a:ext cx="0" cy="3200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715000" y="4398264"/>
            <a:ext cx="594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120640" y="4718304"/>
            <a:ext cx="594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715000" y="4718304"/>
            <a:ext cx="0" cy="54864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15000" y="5266944"/>
            <a:ext cx="594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6つの打ち手のうち、効果も実現性も高いのは【打ち手A】と【打ち手B】である。まずこの2つに資源を集中し、残りは中期の検討課題とする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打ち手の優先順位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（縦軸：効果、横軸：実現性）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85716" y="1965960"/>
            <a:ext cx="3383280" cy="1965960"/>
          </a:xfrm>
          <a:prstGeom prst="rect">
            <a:avLst/>
          </a:prstGeom>
          <a:solidFill>
            <a:srgbClr val="000F78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202436" y="3931920"/>
            <a:ext cx="676656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85716" y="1965960"/>
            <a:ext cx="0" cy="393192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" y="1965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 大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" y="5623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効果 小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02436" y="5971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実現性 低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97396" y="5971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実現性 高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22876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最優先で着手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39596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中期で検討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57316" y="2606040"/>
            <a:ext cx="182880" cy="18288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04204" y="2551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【打ち手A】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225796" y="3246120"/>
            <a:ext cx="182880" cy="182880"/>
          </a:xfrm>
          <a:prstGeom prst="ellipse">
            <a:avLst/>
          </a:prstGeom>
          <a:solidFill>
            <a:srgbClr val="000F7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72684" y="3191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【打ち手B】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299716" y="278892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546604" y="2734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【打ち手C】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031236" y="342900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278124" y="3374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【打ち手D】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774436" y="470916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021324" y="4654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【打ち手E】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116836" y="4983480"/>
            <a:ext cx="182880" cy="18288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363724" y="4928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【打ち手F】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4つの選択肢を4基準で評価すると、【案B】が効果・費用・実現性で最も高い。リスク面の弱点は【対策】で補えるため、【案B】を推奨する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選択肢の評価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（●高　◑中　○低）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8036" y="1920240"/>
          <a:ext cx="9329623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011680"/>
                <a:gridCol w="1828800"/>
                <a:gridCol w="1648663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評価基準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【案A】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【案B】（推奨）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【案C】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【案D】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効果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費用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実現性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リスク</a:t>
                      </a:r>
                      <a:endParaRPr lang="en-US" sz="14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●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F7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◑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7F7F7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○</a:t>
                      </a:r>
                      <a:endParaRPr lang="en-US" sz="2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128516" y="1874520"/>
            <a:ext cx="2011680" cy="4023360"/>
          </a:xfrm>
          <a:prstGeom prst="rect">
            <a:avLst/>
          </a:prstGeom>
          <a:ln w="19050">
            <a:solidFill>
              <a:srgbClr val="000F78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打ち手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【事例地域】では【取組】により【期間】で【指標】を【数値A】改善した。成功の鍵は【要因】であり、【対象】でも同じ条件を整えれば再現できる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事例：【事例名】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（【事例地域】、【年度】〜）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88036" y="1965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68196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【背景】により【課題】が深刻化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8036" y="2743200"/>
            <a:ext cx="5394960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" y="2926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取組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568196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【取組1】と【取組2】を同時に実施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8036" y="3703320"/>
            <a:ext cx="5394960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8036" y="3886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体制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68196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【主体A】が主導し【主体B】が協力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8036" y="4663440"/>
            <a:ext cx="5394960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8036" y="48463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成功の鍵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568196" y="4846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【要因】を初期に整えたこと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8036" y="5623560"/>
            <a:ext cx="5394960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40196" y="1965960"/>
            <a:ext cx="34774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成果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140196" y="2286000"/>
            <a:ext cx="347746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40196" y="2514600"/>
            <a:ext cx="34774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【指標】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140196" y="2834640"/>
            <a:ext cx="34774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＋【数値A】%</a:t>
            </a:r>
            <a:endParaRPr lang="en-US" sz="3600" dirty="0"/>
          </a:p>
        </p:txBody>
      </p:sp>
      <p:sp>
        <p:nvSpPr>
          <p:cNvPr id="28" name="Text 25"/>
          <p:cNvSpPr txBox="1"/>
          <p:nvPr/>
        </p:nvSpPr>
        <p:spPr>
          <a:xfrm>
            <a:off x="6140196" y="3611880"/>
            <a:ext cx="34774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【期間】での改善幅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140196" y="4343400"/>
            <a:ext cx="34774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【副次的な成果】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140196" y="4663440"/>
            <a:ext cx="34774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【数値B】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現状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利用者の【数値A】割が【サービス】の継続を望んでおり、特に【属性】では【数値B】%に達する。継続の是非より、維持の方法を議論すべき段階にある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【サービス】を継続すべきと思うか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　（%、n＝【数値】、【調査時期】）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88036" y="2240280"/>
          <a:ext cx="9329623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1751076" y="1892808"/>
            <a:ext cx="182880" cy="18288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007108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そう思う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808476" y="1892808"/>
            <a:ext cx="182880" cy="18288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064508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ややそう思う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865876" y="1892808"/>
            <a:ext cx="182880" cy="18288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121908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どちらでもない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923276" y="1892808"/>
            <a:ext cx="182880" cy="18288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179308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そう思わない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提言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【目標】の達成に向け、収入・費用・体制の3領域で7つの施策を提言する。うち効果の大きい1-1と2-1は【時期】までに着手する必要がある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提言の全体像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428939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着手時期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88036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　収入を増やす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756916" y="2148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351276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【対象】向けの新サービスを導入する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28939" y="2148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756916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351276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料金体系を見直す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28939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8036" y="3017520"/>
            <a:ext cx="932962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8036" y="3172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　費用を抑える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756916" y="31729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2-1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351276" y="3172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【業務】を共同化する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428939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756916" y="3630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351276" y="3630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設備更新の優先順位を見直す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428939" y="3630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756916" y="4087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351276" y="4087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調達方法を変える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428939" y="4087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88036" y="4498848"/>
            <a:ext cx="932962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88036" y="4654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　体制を整える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756916" y="46542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3351276" y="46542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推進組織を立ち上げる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428939" y="46542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756916" y="51114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3351276" y="5111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KPIで進捗を管理する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428939" y="51114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【年度】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288036" y="5522976"/>
            <a:ext cx="9329623" cy="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" y="256032"/>
            <a:ext cx="50292" cy="914400"/>
          </a:xfrm>
          <a:prstGeom prst="rect">
            <a:avLst/>
          </a:prstGeom>
          <a:solidFill>
            <a:srgbClr val="000F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4340" y="237744"/>
            <a:ext cx="9183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　実行計画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34340" y="475488"/>
            <a:ext cx="9183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施策を全て実行すると【年度】には収支が年【数値A】改善し、利用者数も【数値B】%増える。収支の改善が最も大きく、事業の自立化が視野に入る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88036" y="1280160"/>
            <a:ext cx="932962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8036" y="1417320"/>
            <a:ext cx="81409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施策実行後の効果（【年度】時点）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" y="1728216"/>
            <a:ext cx="9329623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31859" y="1417320"/>
            <a:ext cx="685800" cy="237744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見本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" y="6272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注）ダミー値による見本。実際の資料ではエビデンスExcelの値に差し替える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出所）【発行主体】「【資料名】」（【発行年月】）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160459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25196" y="219456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収支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9476" y="2743200"/>
            <a:ext cx="2149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F7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＋【数値A】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425196" y="370332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億円／年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5196" y="4389120"/>
            <a:ext cx="2058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【補足：算定の前提】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20442" y="2103120"/>
            <a:ext cx="0" cy="310896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57602" y="219456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利用者数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711882" y="2743200"/>
            <a:ext cx="2149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＋【数値B】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2757602" y="370332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%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757602" y="4389120"/>
            <a:ext cx="2058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【補足：算定の前提】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52848" y="2103120"/>
            <a:ext cx="0" cy="310896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90008" y="219456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CO₂排出量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044288" y="2743200"/>
            <a:ext cx="2149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−【数値C】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5090008" y="370332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t／年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090008" y="4389120"/>
            <a:ext cx="2058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【補足：算定の前提】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285253" y="2103120"/>
            <a:ext cx="0" cy="3108960"/>
          </a:xfrm>
          <a:prstGeom prst="line">
            <a:avLst/>
          </a:prstGeom>
          <a:noFill/>
          <a:ln w="9525">
            <a:solidFill>
              <a:srgbClr val="E7E6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22413" y="219456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担い手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376693" y="2743200"/>
            <a:ext cx="2149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＋【数値D】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422413" y="3703320"/>
            <a:ext cx="20580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422413" y="4389120"/>
            <a:ext cx="2058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【補足：算定の前提】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パターン見本デッキ</dc:title>
  <dc:subject>PptxGenJS Presentation</dc:subject>
  <dc:creator>PptxGenJS</dc:creator>
  <cp:lastModifiedBy>PptxGenJS</cp:lastModifiedBy>
  <cp:revision>1</cp:revision>
  <dcterms:created xsi:type="dcterms:W3CDTF">2026-10-08T01:17:35Z</dcterms:created>
  <dcterms:modified xsi:type="dcterms:W3CDTF">2026-10-08T01:17:35Z</dcterms:modified>
</cp:coreProperties>
</file>