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参考ページID：MCK01-p8、BCG01-p10、MCK04-p3（画像はPCの参照ライブラリ/pages/）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要因の下に「全体の増減に占める割合」を丸の印で並べると、どの要因が効いているかが数字で読める（MCK04-p13）。割合の合計は100%になるよう検算する。
差し替え：要因名・値・割合。棒の高さは値に比例させて調整する。
参考ページID：MCK04-p13、MCK04-p17（画像はPCの参照ライブラリ/pages/）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参考ページID：MCK04-p26、MCK05-p5（画像はPCの参照ライブラリ/pages/）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参考ページID：MCK02-p14、MCK04-p30（画像はPCの参照ライブラリ/pages/）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縦帯に読み取りと示唆を集約する。公開資料（MCK02-p9、MCK04-p9・p17・p27）に多い構成。帯は2〜3つの段に分け、各段を「太字の一文（言いたいこと）＋本文2〜3行（根拠・例）」で書く。段の間は細い線で区切る。帯の中で紺にするのは結論の段の太字だけ。
差し替え：図のデータ、帯の各段。
参考ページID：MCK04-p9、MCK04-p17（画像はPCの参照ライブラリ/pages/）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参考ページID：MCK04-p6（画像はPCの参照ライブラリ/pages/）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参考ページID：JNB01-p23、MCK04-p31（画像はPCの参照ライブラリ/pages/）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パターンID：P79
使う場面：同じ2〜3つの指標を、地区・部門などの行ごとに並べて比べ、行ごとの読み取りを右に添えるとき。行の見出し（アイコン＋名前）、指標ごとの小さな棒の列、読み取りの列を、行の区切り線でそろえる。公開資料（MCK04-p10・p11・p12）に多い構成。注目の1行だけ紺。
差し替え：行（地区）、指標、値、読み取り。
作法：指標の列ごとに基準線（0）と目盛りの縮尺をそろえ、値は棒の先に直接書く。読み取りは1行につき2行以内で、図の値と食い違うことを書かない。
参考ページID：MCK04-p10、MCK04-p12（画像はPCの参照ライブラリ/pages/）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パターンID：P80
使う場面：多数の打ち手を「どれだけ減らせるか（量）」と「1単位当たりいくらか（単価）」の両方で比べ、安い順に積み上げて、目標までに必要な打ち手と費用を示すとき。排出削減のコストカーブ（MACC）として公開資料（MCK04-p7・p15・p16）に多い。単価の安い順に左から並べ、棒の幅を量、高さを単価にする。
差し替え：打ち手、削減量、単価、目標の位置。
作法：0の線を必ず引き、0より下（費用が戻る打ち手）と上を分ける。目標の位置は縦の点線で示す。ラベルは棒の上下に引き出し線で付け、主な打ち手だけに絞る。棒の色は打ち手の種類で塗り分けず、注目の打ち手だけ紺。
参考ページID：MCK04-p7、MCK04-p15（画像はPCの参照ライブラリ/pages/）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chart" Target="..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image" Target="../media/image-87-14.png"/><Relationship Id="rId15" Type="http://schemas.openxmlformats.org/officeDocument/2006/relationships/image" Target="../media/image-87-15.png"/><Relationship Id="rId16" Type="http://schemas.openxmlformats.org/officeDocument/2006/relationships/image" Target="../media/image-87-16.png"/><Relationship Id="rId17" Type="http://schemas.openxmlformats.org/officeDocument/2006/relationships/image" Target="../media/image-87-17.png"/><Relationship Id="rId18" Type="http://schemas.openxmlformats.org/officeDocument/2006/relationships/image" Target="../media/image-87-18.png"/><Relationship Id="rId19" Type="http://schemas.openxmlformats.org/officeDocument/2006/relationships/image" Target="../media/image-87-19.png"/><Relationship Id="rId20" Type="http://schemas.openxmlformats.org/officeDocument/2006/relationships/image" Target="../media/image-8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image" Target="../media/image-88-5.png"/><Relationship Id="rId6" Type="http://schemas.openxmlformats.org/officeDocument/2006/relationships/image" Target="../media/image-88-6.png"/><Relationship Id="rId7" Type="http://schemas.openxmlformats.org/officeDocument/2006/relationships/image" Target="../media/image-88-7.png"/><Relationship Id="rId8" Type="http://schemas.openxmlformats.org/officeDocument/2006/relationships/image" Target="../media/image-88-8.png"/><Relationship Id="rId9" Type="http://schemas.openxmlformats.org/officeDocument/2006/relationships/image" Target="../media/image-88-9.png"/><Relationship Id="rId10" Type="http://schemas.openxmlformats.org/officeDocument/2006/relationships/image" Target="../media/image-88-10.png"/><Relationship Id="rId11" Type="http://schemas.openxmlformats.org/officeDocument/2006/relationships/image" Target="../media/image-88-11.png"/><Relationship Id="rId12" Type="http://schemas.openxmlformats.org/officeDocument/2006/relationships/image" Target="../media/image-88-12.png"/><Relationship Id="rId13" Type="http://schemas.openxmlformats.org/officeDocument/2006/relationships/image" Target="../media/image-88-13.png"/><Relationship Id="rId14" Type="http://schemas.openxmlformats.org/officeDocument/2006/relationships/image" Target="../media/image-88-14.png"/><Relationship Id="rId15" Type="http://schemas.openxmlformats.org/officeDocument/2006/relationships/image" Target="../media/image-88-15.png"/><Relationship Id="rId16" Type="http://schemas.openxmlformats.org/officeDocument/2006/relationships/image" Target="../media/image-88-16.png"/><Relationship Id="rId17" Type="http://schemas.openxmlformats.org/officeDocument/2006/relationships/image" Target="../media/image-88-17.png"/><Relationship Id="rId18" Type="http://schemas.openxmlformats.org/officeDocument/2006/relationships/image" Target="../media/image-88-18.png"/><Relationship Id="rId19" Type="http://schemas.openxmlformats.org/officeDocument/2006/relationships/image" Target="../media/image-88-19.png"/><Relationship Id="rId20" Type="http://schemas.openxmlformats.org/officeDocument/2006/relationships/image" Target="../media/image-8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image" Target="../media/image-89-5.png"/><Relationship Id="rId6" Type="http://schemas.openxmlformats.org/officeDocument/2006/relationships/image" Target="../media/image-89-6.png"/><Relationship Id="rId7" Type="http://schemas.openxmlformats.org/officeDocument/2006/relationships/image" Target="../media/image-89-7.png"/><Relationship Id="rId8" Type="http://schemas.openxmlformats.org/officeDocument/2006/relationships/image" Target="../media/image-89-8.png"/><Relationship Id="rId9" Type="http://schemas.openxmlformats.org/officeDocument/2006/relationships/image" Target="../media/image-89-9.png"/><Relationship Id="rId10" Type="http://schemas.openxmlformats.org/officeDocument/2006/relationships/image" Target="../media/image-89-10.png"/><Relationship Id="rId11" Type="http://schemas.openxmlformats.org/officeDocument/2006/relationships/image" Target="../media/image-89-11.png"/><Relationship Id="rId12" Type="http://schemas.openxmlformats.org/officeDocument/2006/relationships/image" Target="../media/image-89-12.png"/><Relationship Id="rId13" Type="http://schemas.openxmlformats.org/officeDocument/2006/relationships/image" Target="../media/image-8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80の型（P01〜P80）＋記号集・アイコン集・テンプレート集＋通しの完成例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355528" y="2286000"/>
            <a:ext cx="2606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578288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区域を広げた2019年度から伸びが加速した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2015→2019年度は年3.7%、2019→2025年度は年6.7%。拡大した3地区が増加の7割を占める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支線の転換先として受け止められる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支線12路線の利用者は年4.8万人で、予約型の6.5万人の4分の3に当たる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上位3市の平均より9回少ない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上位3市の平均は23回、みなと市は14回。8市の平均（16回）も下回る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差は運行本数で説明できる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上位3市は人口千人当たりの1日運行本数が、みなと市の1.8倍（P08）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5720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64288" y="2331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864288" y="3063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864288" y="4069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64288" y="5120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864288" y="3337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通院は10年で＋17pt、最も伸びた目的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通院の利用者は年62万人から93万人に増えた。70歳以上の人口が2割増えたことが主因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通学は−12pt、生徒数の減少が続く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沿線の高校生は10年で3割減った。2035年度には通学の割合が20%を下回る見込み（推計）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157984"/>
            <a:ext cx="960120" cy="28254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435288" y="2157984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38208" y="2157984"/>
            <a:ext cx="960120" cy="65836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3820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84676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898328" y="2816352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05250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05250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401248" y="2816352"/>
            <a:ext cx="960120" cy="21259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401248" y="25237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30980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361368" y="302895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351554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51554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864288" y="2905506"/>
            <a:ext cx="960120" cy="1234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86428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7284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824408" y="2905506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497858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97858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327328" y="2905506"/>
            <a:ext cx="960120" cy="8915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32732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23588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287448" y="299466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644162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44162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790368" y="2994660"/>
            <a:ext cx="960120" cy="19888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790368" y="27020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6989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83728" y="56692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減少に占める割合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92288" y="5696712"/>
            <a:ext cx="21988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491114" y="5696712"/>
            <a:ext cx="14658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956998" y="5696712"/>
            <a:ext cx="12215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28829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528829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28829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28829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通院は移動の45%、バスの分担率は15%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通院の移動は年620万回で、バスが運ぶのは93万回。残りの8割強は車と送迎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家族の送迎が通院の25%を担う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送迎する家族の6割が「負担が大きい」と回答した（アンケート、n＝1,200）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200848" y="5806440"/>
            <a:ext cx="625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（縦軸：1人当たり年間利用回数（回）　横軸：人口千人当たりの1日運行本数（本））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本数と利用回数の相関は強い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相関係数は0.97。千人当たりの本数が10本多いと、利用は年4回多い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みなと市は同規模の市より年5回少ない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本数は32本で11市の中位だが、利用は14回にとどまる。路線が利用の多い地区に合っていない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5257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504368" y="2331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 104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504368" y="2971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 97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504368" y="41605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 78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（−26pt）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2020年の落ち込みから戻っていない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全国と類似市は2021年以降に持ち直したが、みなと市は減り続けた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全国との差は10年で26ptに開いた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差の半分（12pt）は2020年以降の5年で開いた。減便が利用離れを招いている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26544" y="3651671"/>
            <a:ext cx="130759" cy="261518"/>
          </a:xfrm>
          <a:custGeom>
            <a:avLst/>
            <a:gdLst/>
            <a:ahLst/>
            <a:cxnLst/>
            <a:rect l="l" t="t" r="r" b="b"/>
            <a:pathLst>
              <a:path w="130759" h="261518">
                <a:moveTo>
                  <a:pt x="0" y="0"/>
                </a:moveTo>
                <a:lnTo>
                  <a:pt x="130759" y="130759"/>
                </a:lnTo>
                <a:lnTo>
                  <a:pt x="0" y="2615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1" name="Shape 38"/>
          <p:cNvSpPr/>
          <p:nvPr/>
        </p:nvSpPr>
        <p:spPr>
          <a:xfrm>
            <a:off x="4724613" y="3660586"/>
            <a:ext cx="109659" cy="243688"/>
          </a:xfrm>
          <a:custGeom>
            <a:avLst/>
            <a:gdLst/>
            <a:ahLst/>
            <a:cxnLst/>
            <a:rect l="l" t="t" r="r" b="b"/>
            <a:pathLst>
              <a:path w="109659" h="243688">
                <a:moveTo>
                  <a:pt x="0" y="0"/>
                </a:moveTo>
                <a:lnTo>
                  <a:pt x="109659" y="121844"/>
                </a:lnTo>
                <a:lnTo>
                  <a:pt x="0" y="243688"/>
                </a:lnTo>
              </a:path>
            </a:pathLst>
          </a:custGeom>
          <a:ln w="26829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98528" y="1965960"/>
            <a:ext cx="338328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248" y="3931920"/>
            <a:ext cx="6766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98528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24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1020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3568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5240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3568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321488" y="260604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68376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72848" y="320040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19736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663888" y="2651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910776" y="2596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395408" y="338328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42296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466344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385496" y="4608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755328" y="4937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002216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950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828800"/>
                <a:gridCol w="182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858448" y="1965960"/>
            <a:ext cx="2194560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4791136" y="358810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0"/>
          <p:cNvSpPr/>
          <p:nvPr/>
        </p:nvSpPr>
        <p:spPr>
          <a:xfrm>
            <a:off x="4911836" y="359907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23168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329958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49112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655902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05920" y="2052828"/>
            <a:ext cx="100584" cy="201168"/>
          </a:xfrm>
          <a:custGeom>
            <a:avLst/>
            <a:gdLst/>
            <a:ahLst/>
            <a:cxnLst/>
            <a:rect l="l" t="t" r="r" b="b"/>
            <a:pathLst>
              <a:path w="100584" h="201168">
                <a:moveTo>
                  <a:pt x="0" y="0"/>
                </a:moveTo>
                <a:lnTo>
                  <a:pt x="100584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281358" y="2059686"/>
            <a:ext cx="84353" cy="187452"/>
          </a:xfrm>
          <a:custGeom>
            <a:avLst/>
            <a:gdLst/>
            <a:ahLst/>
            <a:cxnLst/>
            <a:rect l="l" t="t" r="r" b="b"/>
            <a:pathLst>
              <a:path w="84353" h="187452">
                <a:moveTo>
                  <a:pt x="0" y="0"/>
                </a:moveTo>
                <a:lnTo>
                  <a:pt x="84353" y="93726"/>
                </a:lnTo>
                <a:lnTo>
                  <a:pt x="0" y="187452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08416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6160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90392" y="2350008"/>
            <a:ext cx="268833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278728" y="2350008"/>
            <a:ext cx="243230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0459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75675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6785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2787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927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92464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26584" y="3849624"/>
            <a:ext cx="115214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278728" y="3849624"/>
            <a:ext cx="96012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440784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284568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38648" y="4599432"/>
            <a:ext cx="6400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278728" y="4599432"/>
            <a:ext cx="57607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9528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900520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58688" y="5349240"/>
            <a:ext cx="32004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278728" y="5349240"/>
            <a:ext cx="25603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272888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580480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27872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4720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62256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262256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262256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262256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504428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44288" y="2267712"/>
            <a:ext cx="2238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504428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04428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746600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46600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746600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746600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2926080"/>
                <a:gridCol w="1280160"/>
                <a:gridCol w="136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269928" y="2514600"/>
            <a:ext cx="260604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4269928" y="3118104"/>
            <a:ext cx="69494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4269928" y="3721608"/>
            <a:ext cx="52120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4269928" y="4325112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4269928" y="4928616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2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53208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653208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653208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653208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Shape 35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9" name="Text 36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2010528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86072" y="5138928"/>
            <a:ext cx="457200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2074216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48536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165656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759440" y="5010912"/>
            <a:ext cx="457200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3947584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21904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039024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632808" y="4754880"/>
            <a:ext cx="457200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5820952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95272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2392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506176" y="5074920"/>
            <a:ext cx="457200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7694320" y="2011680"/>
            <a:ext cx="2010528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8640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85760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8379544" y="3794760"/>
            <a:ext cx="457200" cy="160020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764704" y="5486400"/>
            <a:ext cx="21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10312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80代以上の満足は31%で、全体の半分にとどまる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78892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不満の理由の6割が「停留所が遠い・坂道がある」（自由回答）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88620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06908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80代以上の多い地区から予約型を始めるべきである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75488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乗降地点を病院と自宅の前に置き、停留所まで歩く負担をなくす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57280" y="3403031"/>
            <a:ext cx="144841" cy="289682"/>
          </a:xfrm>
          <a:custGeom>
            <a:avLst/>
            <a:gdLst/>
            <a:ahLst/>
            <a:cxnLst/>
            <a:rect l="l" t="t" r="r" b="b"/>
            <a:pathLst>
              <a:path w="144841" h="289682">
                <a:moveTo>
                  <a:pt x="0" y="0"/>
                </a:moveTo>
                <a:lnTo>
                  <a:pt x="144841" y="144841"/>
                </a:lnTo>
                <a:lnTo>
                  <a:pt x="0" y="289682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765910" y="3412907"/>
            <a:ext cx="121469" cy="269931"/>
          </a:xfrm>
          <a:custGeom>
            <a:avLst/>
            <a:gdLst/>
            <a:ahLst/>
            <a:cxnLst/>
            <a:rect l="l" t="t" r="r" b="b"/>
            <a:pathLst>
              <a:path w="121469" h="269931">
                <a:moveTo>
                  <a:pt x="0" y="0"/>
                </a:moveTo>
                <a:lnTo>
                  <a:pt x="121469" y="134965"/>
                </a:lnTo>
                <a:lnTo>
                  <a:pt x="0" y="269931"/>
                </a:lnTo>
              </a:path>
            </a:pathLst>
          </a:custGeom>
          <a:ln w="29718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868860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60884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13112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790448" y="1901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181792" y="2514600"/>
            <a:ext cx="2016252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06604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090352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335204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58743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790448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373816" y="2971800"/>
            <a:ext cx="115214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34520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3282376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6631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779456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893756" y="3429000"/>
            <a:ext cx="105613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5844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802316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08704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2299396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853876" y="3886200"/>
            <a:ext cx="96012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22556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762436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95115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325951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8790448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469828" y="4343400"/>
            <a:ext cx="86410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242496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337838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4471096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287546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8790448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910008" y="4800600"/>
            <a:ext cx="6720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490652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481856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719252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431564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8790448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81792" y="52578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666424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90352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895024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2587432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71" name="Text 68"/>
          <p:cNvSpPr txBox="1"/>
          <p:nvPr/>
        </p:nvSpPr>
        <p:spPr>
          <a:xfrm>
            <a:off x="8790448" y="5029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5774116" y="5715000"/>
            <a:ext cx="38404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66724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5682676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6295324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517975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8790448" y="5486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1252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5300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8452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944048" y="2472538"/>
            <a:ext cx="3840480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040" y="264993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20520" y="240853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29448" y="256763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21688" y="232623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944048" y="4584802"/>
            <a:ext cx="3840480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80040" y="4520794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520" y="5003597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9448" y="443849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21688" y="4921301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944048" y="5007254"/>
            <a:ext cx="3840480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040" y="4943246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6720520" y="548640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9448" y="486095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21688" y="549737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944048" y="5248656"/>
            <a:ext cx="3840480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040" y="5184648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6720520" y="5305349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29448" y="513527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921688" y="522305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944048" y="4765853"/>
            <a:ext cx="3840480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80040" y="560710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20520" y="4701845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29448" y="552480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21688" y="461954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78288" y="1920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21768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578288" y="252374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2578288" y="2596896"/>
            <a:ext cx="3950208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3088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84608" y="237744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81888" y="2377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578288" y="3145536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2578288" y="3218688"/>
            <a:ext cx="407365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93088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4608" y="299923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81888" y="299923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578288" y="3767328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2578288" y="3840480"/>
            <a:ext cx="3374136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6693088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84608" y="362102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881888" y="36210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578288" y="4389120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2578288" y="4462272"/>
            <a:ext cx="329184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6693088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8460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881888" y="424281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578288" y="5010912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578288" y="5084064"/>
            <a:ext cx="185166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6693088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84608" y="486460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881888" y="4864608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578288" y="563270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2578288" y="5705856"/>
            <a:ext cx="2468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6693088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84608" y="548640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8881888" y="5486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6327328" y="6108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58048" y="562356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2916936"/>
            <a:ext cx="790956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613328" y="27706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49488" y="2794406"/>
            <a:ext cx="566928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048" y="250179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0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78088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618168" y="3742639"/>
            <a:ext cx="566928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26728" y="3450031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4627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032952" y="3802718"/>
            <a:ext cx="868680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84676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2486848" y="4115714"/>
            <a:ext cx="566928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395408" y="382310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23314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 flipV="1">
            <a:off x="1901632" y="3219809"/>
            <a:ext cx="868680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15448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880040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355528" y="4986223"/>
            <a:ext cx="566928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264088" y="4693615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2000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 flipV="1">
            <a:off x="2770312" y="2973424"/>
            <a:ext cx="868680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84128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4224208" y="5110582"/>
            <a:ext cx="566928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132768" y="481797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06876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 flipV="1">
            <a:off x="3638992" y="2775115"/>
            <a:ext cx="868680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452808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5092888" y="5203850"/>
            <a:ext cx="566928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001448" y="491124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374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 flipV="1">
            <a:off x="4507672" y="2612861"/>
            <a:ext cx="868680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321488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596156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87012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8061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 flipV="1">
            <a:off x="5376352" y="2480655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9016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6830248" y="5343754"/>
            <a:ext cx="566928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738808" y="505114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66748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 flipV="1">
            <a:off x="6245032" y="2372486"/>
            <a:ext cx="868680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058848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769892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60748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75434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 flipV="1">
            <a:off x="7113712" y="2240280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27528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241808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601728" y="1874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前段階からの移行率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395408" y="2194560"/>
            <a:ext cx="45720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0588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29848" y="2962656"/>
            <a:ext cx="210312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82440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60756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601728" y="2862072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41328" y="3730752"/>
            <a:ext cx="12801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1292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60756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01728" y="3630168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407088" y="4498848"/>
            <a:ext cx="548640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292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60756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7601728" y="4398264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09958" y="5266944"/>
            <a:ext cx="3429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1292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60756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601728" y="5166360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840928" y="557784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368" y="3712464"/>
            <a:ext cx="813816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32368" y="3419856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09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801048" y="2468880"/>
            <a:ext cx="813816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01048" y="217627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7096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669728" y="2779776"/>
            <a:ext cx="813816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69728" y="2487168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538408" y="4023360"/>
            <a:ext cx="813816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538408" y="373075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4469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407088" y="4645152"/>
            <a:ext cx="813816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40708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1564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275768" y="4645152"/>
            <a:ext cx="813816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27576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1843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14444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4444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0530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701312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01312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69216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788180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8180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77903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3017200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3090352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275768" y="4187952"/>
            <a:ext cx="341985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275768" y="3840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8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9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40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1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2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3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4552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2716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0880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790448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964024" y="2371972"/>
            <a:ext cx="724168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33912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952569" y="2578877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3634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762685" y="2607353"/>
            <a:ext cx="253406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1798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567575" y="2630603"/>
            <a:ext cx="206905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9962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237744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15750" y="3210082"/>
            <a:ext cx="620715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682185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3966089" y="3378782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33634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743084" y="3374136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1798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7539151" y="3388563"/>
            <a:ext cx="263753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9962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1638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184449" y="4165166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5470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3970893" y="4169969"/>
            <a:ext cx="273710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3634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725815" y="4143251"/>
            <a:ext cx="327146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11798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7454641" y="4090437"/>
            <a:ext cx="432773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933134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790448" y="395020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16667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5470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3952569" y="4938029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33634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72995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11798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7477486" y="4899666"/>
            <a:ext cx="38708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910290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790448" y="473659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66388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4552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522716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700880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790448" y="5614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331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26859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3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291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4地区のうち東部だけが利用者と運賃収入の両方で大きく減った。他の3地区は運賃改定で減収を補えており、東部は別の要因で落ち込んだ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注）2020→2025年度の増減率。運賃は2023年4月に全地区で一律10%改定。名称・数値はすべて架空の見本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89248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利用者数（%）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89248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556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運賃収入（%）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7556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95808" y="1485000"/>
            <a:ext cx="410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595808" y="1832472"/>
            <a:ext cx="41090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488" y="2051928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107372" y="2390256"/>
            <a:ext cx="77724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51301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084762" y="2390256"/>
            <a:ext cx="582930" cy="3108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49040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595808" y="2051928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高齢化で通院の利用が減り、運賃改定でも収入を補えなかった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039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488" y="3039480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690302" y="3377808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9594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67692" y="3377808"/>
            <a:ext cx="12954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84295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595808" y="3039480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通学の減少を、運賃改定による増収が上回った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40270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9488" y="4027032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787457" y="4365360"/>
            <a:ext cx="9715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193097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667692" y="4365360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907722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595808" y="4027032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商業施設の新設で買物の利用が下げ止まった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5014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9488" y="5014584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625532" y="5352912"/>
            <a:ext cx="25908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31172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67692" y="5352912"/>
            <a:ext cx="3238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745797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595808" y="5014584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人口減少の分だけ減ったが、収入はほぼ横ばい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88461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66769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pic>
        <p:nvPicPr>
          <p:cNvPr id="45" name="Image 0" descr="person-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136" y="2326248"/>
            <a:ext cx="438912" cy="438912"/>
          </a:xfrm>
          <a:prstGeom prst="rect">
            <a:avLst/>
          </a:prstGeom>
        </p:spPr>
      </p:pic>
      <p:pic>
        <p:nvPicPr>
          <p:cNvPr id="46" name="Image 1" descr="scho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" y="3313800"/>
            <a:ext cx="438912" cy="438912"/>
          </a:xfrm>
          <a:prstGeom prst="rect">
            <a:avLst/>
          </a:prstGeom>
        </p:spPr>
      </p:pic>
      <p:pic>
        <p:nvPicPr>
          <p:cNvPr id="47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6" y="4301352"/>
            <a:ext cx="438912" cy="438912"/>
          </a:xfrm>
          <a:prstGeom prst="rect">
            <a:avLst/>
          </a:prstGeom>
        </p:spPr>
      </p:pic>
      <p:pic>
        <p:nvPicPr>
          <p:cNvPr id="48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36" y="5288904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目標の1,800トンは、燃料費の節約で費用を回収できる策だけで届く。それ以上の削減は単価が急に上がり、燃料電池バスは1トン5.8万円かかる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CO2削減策のコストカーブ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（幅＝削減量 t、高さ＝1t当たり費用 千円、2030年度）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千円／t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500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971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593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4215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8371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5792" y="4343400"/>
            <a:ext cx="966193" cy="559613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1378888" y="4903013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4488" y="4994453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エコドライブ研修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880273" y="4343400"/>
            <a:ext cx="350893" cy="373075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2055719" y="4716475"/>
            <a:ext cx="0" cy="676656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41319" y="539313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車庫のLED化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249453" y="4343400"/>
            <a:ext cx="1704554" cy="18653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3101731" y="4529938"/>
            <a:ext cx="0" cy="38404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87331" y="491398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ハイブリッドバス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972296" y="4343400"/>
            <a:ext cx="1335374" cy="6217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4639983" y="4405579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5583" y="449701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屋根置き太陽光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325958" y="4219042"/>
            <a:ext cx="1458434" cy="12435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5175" y="3341218"/>
            <a:ext cx="0" cy="877824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140775" y="306689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EVバス（短距離）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02680" y="4063594"/>
            <a:ext cx="108925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7347307" y="3770986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32907" y="349666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再エネ電力の購入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910221" y="3690518"/>
            <a:ext cx="916969" cy="65288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8368706" y="3397910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51386" y="312359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EVバス（長距離）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845479" y="2540203"/>
            <a:ext cx="621625" cy="180319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16095" y="2540203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燃料電池バス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886648" y="4343400"/>
            <a:ext cx="8589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16814" y="2170800"/>
            <a:ext cx="0" cy="354420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5389966" y="2125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2030年の目標　1,800t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886648" y="5870448"/>
            <a:ext cx="858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664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088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3347851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82091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809054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294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827025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90449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961648" y="5559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累計の年間削減量（t-CO2）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0928" y="239938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7" name="Shape 14"/>
          <p:cNvSpPr/>
          <p:nvPr/>
        </p:nvSpPr>
        <p:spPr>
          <a:xfrm>
            <a:off x="961628" y="241035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左右の間の強い因果。1枚に1つまで（グレーの三角＋線。HG_pptFMT の形）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矢印（右2列は下向き）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2971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800280" y="2524673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2" name="Shape 39"/>
          <p:cNvSpPr/>
          <p:nvPr/>
        </p:nvSpPr>
        <p:spPr>
          <a:xfrm>
            <a:off x="4922163" y="2509128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367208" y="2527782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4" name="Shape 41"/>
          <p:cNvSpPr/>
          <p:nvPr/>
        </p:nvSpPr>
        <p:spPr>
          <a:xfrm>
            <a:off x="5469803" y="2537109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94816" y="2563992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9272" y="2685876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7" name="Shape 44"/>
          <p:cNvSpPr/>
          <p:nvPr/>
        </p:nvSpPr>
        <p:spPr>
          <a:xfrm>
            <a:off x="6464853" y="2563992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8" name="Shape 45"/>
          <p:cNvSpPr/>
          <p:nvPr/>
        </p:nvSpPr>
        <p:spPr>
          <a:xfrm>
            <a:off x="6474180" y="2666588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280" y="3091601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22163" y="3076056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1" name="Shape 48"/>
          <p:cNvSpPr/>
          <p:nvPr/>
        </p:nvSpPr>
        <p:spPr>
          <a:xfrm>
            <a:off x="5367208" y="3094710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2" name="Shape 49"/>
          <p:cNvSpPr/>
          <p:nvPr/>
        </p:nvSpPr>
        <p:spPr>
          <a:xfrm>
            <a:off x="5469803" y="3104037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94816" y="3130920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4" name="Shape 51"/>
          <p:cNvSpPr/>
          <p:nvPr/>
        </p:nvSpPr>
        <p:spPr>
          <a:xfrm>
            <a:off x="5879272" y="3252804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5" name="Shape 52"/>
          <p:cNvSpPr/>
          <p:nvPr/>
        </p:nvSpPr>
        <p:spPr>
          <a:xfrm>
            <a:off x="6464853" y="3130920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4180" y="3233516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0280" y="3642984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Shape 55"/>
          <p:cNvSpPr/>
          <p:nvPr/>
        </p:nvSpPr>
        <p:spPr>
          <a:xfrm>
            <a:off x="4928493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67208" y="364298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0" name="Shape 57"/>
          <p:cNvSpPr/>
          <p:nvPr/>
        </p:nvSpPr>
        <p:spPr>
          <a:xfrm>
            <a:off x="5495421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800280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67208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414775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994840" y="24908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6994840" y="3057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三角＋線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6994840" y="362469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6994840" y="41916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8110408" y="267372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8201848" y="274687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779036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110408" y="372528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201848" y="379843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79036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790368" y="4502520"/>
            <a:ext cx="191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4928817" y="3922790"/>
            <a:ext cx="64520" cy="153619"/>
          </a:xfrm>
          <a:custGeom>
            <a:avLst/>
            <a:gdLst/>
            <a:ahLst/>
            <a:cxnLst/>
            <a:rect l="l" t="t" r="r" b="b"/>
            <a:pathLst>
              <a:path w="64520" h="153619">
                <a:moveTo>
                  <a:pt x="0" y="0"/>
                </a:moveTo>
                <a:lnTo>
                  <a:pt x="64520" y="76810"/>
                </a:lnTo>
                <a:lnTo>
                  <a:pt x="0" y="153619"/>
                </a:lnTo>
              </a:path>
            </a:pathLst>
          </a:custGeom>
          <a:ln w="13716">
            <a:solidFill>
              <a:srgbClr val="FFFFFF"/>
            </a:solidFill>
            <a:prstDash val="solid"/>
          </a:ln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96485" y="2728584"/>
            <a:ext cx="312725" cy="206398"/>
          </a:xfrm>
          <a:custGeom>
            <a:avLst/>
            <a:gdLst/>
            <a:ahLst/>
            <a:cxnLst/>
            <a:rect l="l" t="t" r="r" b="b"/>
            <a:pathLst>
              <a:path w="312725" h="206398">
                <a:moveTo>
                  <a:pt x="0" y="0"/>
                </a:moveTo>
                <a:lnTo>
                  <a:pt x="0" y="94943"/>
                </a:lnTo>
                <a:lnTo>
                  <a:pt x="156362" y="206398"/>
                </a:lnTo>
                <a:lnTo>
                  <a:pt x="312725" y="94943"/>
                </a:lnTo>
                <a:lnTo>
                  <a:pt x="312725" y="0"/>
                </a:lnTo>
                <a:lnTo>
                  <a:pt x="156362" y="11145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9112" y="2864807"/>
            <a:ext cx="347472" cy="229332"/>
          </a:xfrm>
          <a:custGeom>
            <a:avLst/>
            <a:gdLst/>
            <a:ahLst/>
            <a:cxnLst/>
            <a:rect l="l" t="t" r="r" b="b"/>
            <a:pathLst>
              <a:path w="347472" h="229332">
                <a:moveTo>
                  <a:pt x="0" y="0"/>
                </a:moveTo>
                <a:lnTo>
                  <a:pt x="0" y="105492"/>
                </a:lnTo>
                <a:lnTo>
                  <a:pt x="173736" y="229332"/>
                </a:lnTo>
                <a:lnTo>
                  <a:pt x="347472" y="105492"/>
                </a:lnTo>
                <a:lnTo>
                  <a:pt x="347472" y="0"/>
                </a:lnTo>
                <a:lnTo>
                  <a:pt x="173736" y="123839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4273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2199360" y="295151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7717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7" name="Shape 24"/>
          <p:cNvSpPr/>
          <p:nvPr/>
        </p:nvSpPr>
        <p:spPr>
          <a:xfrm>
            <a:off x="2199360" y="418595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41161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2199360" y="542039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7208733" y="3924429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9504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481008" y="2377440"/>
            <a:ext cx="6949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94404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60350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73048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73048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73048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373048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90368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790368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79036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graphicFrame>
        <p:nvGraphicFramePr>
          <p:cNvPr id="1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134</a:t>
            </a:r>
            <a:endParaRPr lang="en-US" sz="9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2026-10-28T23:23:30Z</dcterms:created>
  <dcterms:modified xsi:type="dcterms:W3CDTF">2026-10-28T23:23:30Z</dcterms:modified>
</cp:coreProperties>
</file>