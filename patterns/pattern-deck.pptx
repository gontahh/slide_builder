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8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4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5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charts/chart16.xml" ContentType="application/vnd.openxmlformats-officedocument.drawingml.chart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charts/chart17.xml" ContentType="application/vnd.openxmlformats-officedocument.drawingml.chart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charts/chart18.xml" ContentType="application/vnd.openxmlformats-officedocument.drawingml.chart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charts/chart19.xml" ContentType="application/vnd.openxmlformats-officedocument.drawingml.chart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charts/chart20.xml" ContentType="application/vnd.openxmlformats-officedocument.drawingml.chart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</p:sldIdLst>
  <p:notesMasterIdLst>
    <p:notesMasterId r:id="rId137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notesMaster" Target="notesMasters/notesMaster1.xml"/><Relationship Id="rId138" Type="http://schemas.openxmlformats.org/officeDocument/2006/relationships/presProps" Target="presProps.xml"/><Relationship Id="rId139" Type="http://schemas.openxmlformats.org/officeDocument/2006/relationships/viewProps" Target="viewProps.xml"/><Relationship Id="rId140" Type="http://schemas.openxmlformats.org/officeDocument/2006/relationships/theme" Target="theme/theme1.xml"/><Relationship Id="rId1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
差し替え：要因名・値。棒の高さは値に比例させて調整する。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使う場面：左に定量の図、右端の淡いグレーの縦帯に「現場の声」や「示唆」を集約する。公開資料（MCK02-p9、MCK02-p58、MCK03-p21）に多い構成。帯の中の結論の一文だけ紺。
差し替え：図のデータ、帯の声・示唆。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chart" Target="/ppt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image" Target="../media/image-84-6.png"/><Relationship Id="rId7" Type="http://schemas.openxmlformats.org/officeDocument/2006/relationships/image" Target="../media/image-84-7.png"/><Relationship Id="rId8" Type="http://schemas.openxmlformats.org/officeDocument/2006/relationships/image" Target="../media/image-84-8.png"/><Relationship Id="rId9" Type="http://schemas.openxmlformats.org/officeDocument/2006/relationships/image" Target="../media/image-84-9.png"/><Relationship Id="rId10" Type="http://schemas.openxmlformats.org/officeDocument/2006/relationships/image" Target="../media/image-84-10.png"/><Relationship Id="rId11" Type="http://schemas.openxmlformats.org/officeDocument/2006/relationships/image" Target="../media/image-84-11.png"/><Relationship Id="rId12" Type="http://schemas.openxmlformats.org/officeDocument/2006/relationships/image" Target="../media/image-84-12.png"/><Relationship Id="rId13" Type="http://schemas.openxmlformats.org/officeDocument/2006/relationships/image" Target="../media/image-84-13.png"/><Relationship Id="rId14" Type="http://schemas.openxmlformats.org/officeDocument/2006/relationships/image" Target="../media/image-84-14.png"/><Relationship Id="rId15" Type="http://schemas.openxmlformats.org/officeDocument/2006/relationships/image" Target="../media/image-84-15.png"/><Relationship Id="rId16" Type="http://schemas.openxmlformats.org/officeDocument/2006/relationships/image" Target="../media/image-84-16.png"/><Relationship Id="rId17" Type="http://schemas.openxmlformats.org/officeDocument/2006/relationships/image" Target="../media/image-84-17.png"/><Relationship Id="rId18" Type="http://schemas.openxmlformats.org/officeDocument/2006/relationships/image" Target="../media/image-84-18.png"/><Relationship Id="rId19" Type="http://schemas.openxmlformats.org/officeDocument/2006/relationships/image" Target="../media/image-84-19.png"/><Relationship Id="rId20" Type="http://schemas.openxmlformats.org/officeDocument/2006/relationships/image" Target="../media/image-84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image" Target="../media/image-85-7.png"/><Relationship Id="rId8" Type="http://schemas.openxmlformats.org/officeDocument/2006/relationships/image" Target="../media/image-85-8.png"/><Relationship Id="rId9" Type="http://schemas.openxmlformats.org/officeDocument/2006/relationships/image" Target="../media/image-85-9.png"/><Relationship Id="rId10" Type="http://schemas.openxmlformats.org/officeDocument/2006/relationships/image" Target="../media/image-85-10.png"/><Relationship Id="rId11" Type="http://schemas.openxmlformats.org/officeDocument/2006/relationships/image" Target="../media/image-85-11.png"/><Relationship Id="rId12" Type="http://schemas.openxmlformats.org/officeDocument/2006/relationships/image" Target="../media/image-85-12.png"/><Relationship Id="rId13" Type="http://schemas.openxmlformats.org/officeDocument/2006/relationships/image" Target="../media/image-85-13.png"/><Relationship Id="rId14" Type="http://schemas.openxmlformats.org/officeDocument/2006/relationships/image" Target="../media/image-85-14.png"/><Relationship Id="rId15" Type="http://schemas.openxmlformats.org/officeDocument/2006/relationships/image" Target="../media/image-85-15.png"/><Relationship Id="rId16" Type="http://schemas.openxmlformats.org/officeDocument/2006/relationships/image" Target="../media/image-85-16.png"/><Relationship Id="rId17" Type="http://schemas.openxmlformats.org/officeDocument/2006/relationships/image" Target="../media/image-85-17.png"/><Relationship Id="rId18" Type="http://schemas.openxmlformats.org/officeDocument/2006/relationships/image" Target="../media/image-85-18.png"/><Relationship Id="rId19" Type="http://schemas.openxmlformats.org/officeDocument/2006/relationships/image" Target="../media/image-85-19.png"/><Relationship Id="rId20" Type="http://schemas.openxmlformats.org/officeDocument/2006/relationships/image" Target="../media/image-8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78の型（P01〜P78）＋記号集・アイコン集・テンプレート集＋通しの完成例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5120640" y="2286000"/>
            <a:ext cx="34747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846320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5836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2376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9回少ない（23回→14回）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60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069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6092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183880" y="3063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238451"/>
            <a:ext cx="960120" cy="320222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945843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238451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238451"/>
            <a:ext cx="960120" cy="74615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945843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98460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401248" y="2984602"/>
            <a:ext cx="960120" cy="240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401248" y="269199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30980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361368" y="322554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864288" y="3085643"/>
            <a:ext cx="960120" cy="13990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864288" y="2793035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7284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824408" y="3085643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6327328" y="3085643"/>
            <a:ext cx="960120" cy="101041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27328" y="2793035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23588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287448" y="31866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7790368" y="3186684"/>
            <a:ext cx="960120" cy="22539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90368" y="28940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69892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5696712"/>
            <a:ext cx="3124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14224" y="5696712"/>
            <a:ext cx="2083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97328" y="5696712"/>
            <a:ext cx="173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44297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4297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44297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4297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15200" y="3246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同規模の市より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年5回少ない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5074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縦軸：1人当たり年間利用回数（回）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横軸：人口千人当たりの1日運行本数（本）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63840" y="2331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41605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 −26pt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8416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6160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90392" y="2350008"/>
            <a:ext cx="268833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278728" y="2350008"/>
            <a:ext cx="243230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0459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5675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785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2787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927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2464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26584" y="3849624"/>
            <a:ext cx="115214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278728" y="3849624"/>
            <a:ext cx="96012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440784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38648" y="4599432"/>
            <a:ext cx="6400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278728" y="4599432"/>
            <a:ext cx="57607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9528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900520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58688" y="5349240"/>
            <a:ext cx="32004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278728" y="5349240"/>
            <a:ext cx="25603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272888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0480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27872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4720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62256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262256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262256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262256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4428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44288" y="2267712"/>
            <a:ext cx="2238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504428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4428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46600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46600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746600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746600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4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53208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653208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65320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53208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057400"/>
            <a:ext cx="319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現場の声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423160"/>
            <a:ext cx="319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「停留所まで坂道を15分歩く」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「病院の前に止まってほしい」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97764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114800"/>
            <a:ext cx="319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480560"/>
            <a:ext cx="319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80代以上の多い地区から予約型を始め、乗降地点を病院の前に置く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68860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60884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13112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90448" y="1901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181792" y="2514600"/>
            <a:ext cx="2016252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6604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90352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3520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5874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790448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373816" y="2971800"/>
            <a:ext cx="115214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34520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3282376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663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77945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893756" y="3429000"/>
            <a:ext cx="105613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5844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802316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08704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29939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853876" y="3886200"/>
            <a:ext cx="96012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22556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762436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95115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25951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790448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469828" y="4343400"/>
            <a:ext cx="86410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242496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337838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47109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87546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790448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910008" y="4800600"/>
            <a:ext cx="6720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490652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481856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719252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431564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8790448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81792" y="52578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666424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90352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895024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2587432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71" name="Text 68"/>
          <p:cNvSpPr txBox="1"/>
          <p:nvPr/>
        </p:nvSpPr>
        <p:spPr>
          <a:xfrm>
            <a:off x="8790448" y="5029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4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5774116" y="5715000"/>
            <a:ext cx="38404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66724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5682676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295324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17975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8790448" y="5486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048" y="562356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2916936"/>
            <a:ext cx="790956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13328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9488" y="2794406"/>
            <a:ext cx="566928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048" y="25017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0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78088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18168" y="3742639"/>
            <a:ext cx="566928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26728" y="345003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627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032952" y="3802718"/>
            <a:ext cx="868680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4676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2486848" y="4115714"/>
            <a:ext cx="566928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395408" y="382310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3314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 flipV="1">
            <a:off x="1901632" y="3219809"/>
            <a:ext cx="868680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15448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80040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355528" y="4986223"/>
            <a:ext cx="566928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64088" y="4693615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000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flipV="1">
            <a:off x="2770312" y="2973424"/>
            <a:ext cx="868680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84128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4224208" y="5110582"/>
            <a:ext cx="566928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132768" y="481797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06876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 flipV="1">
            <a:off x="3638992" y="2775115"/>
            <a:ext cx="868680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452808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5092888" y="5203850"/>
            <a:ext cx="566928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001448" y="491124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374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 flipV="1">
            <a:off x="4507672" y="2612861"/>
            <a:ext cx="868680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321488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596156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87012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8061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 flipV="1">
            <a:off x="5376352" y="2480655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9016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6830248" y="5343754"/>
            <a:ext cx="566928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738808" y="505114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6748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 flipV="1">
            <a:off x="6245032" y="2372486"/>
            <a:ext cx="868680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58848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769892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60748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75434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 flipV="1">
            <a:off x="7113712" y="2240280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27528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241808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0172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前段階からの移行率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395408" y="2194560"/>
            <a:ext cx="45720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588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629848" y="2962656"/>
            <a:ext cx="210312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2440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60756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01728" y="2862072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41328" y="3730752"/>
            <a:ext cx="12801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1292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0756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01728" y="3630168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07088" y="4498848"/>
            <a:ext cx="548640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292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0756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601728" y="4398264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09958" y="5266944"/>
            <a:ext cx="3429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1292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60756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601728" y="5166360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40928" y="557784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368" y="3712464"/>
            <a:ext cx="813816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368" y="3419856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409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01048" y="2468880"/>
            <a:ext cx="813816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01048" y="217627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7096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669728" y="2779776"/>
            <a:ext cx="813816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69728" y="2487168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538408" y="4023360"/>
            <a:ext cx="813816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38408" y="373075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469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4645152"/>
            <a:ext cx="813816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40708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64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275768" y="4645152"/>
            <a:ext cx="813816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7576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843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4444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0530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01312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1312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216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88180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8180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7903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017200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3090352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275768" y="4187952"/>
            <a:ext cx="341985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75768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4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4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graphicFrame>
        <p:nvGraphicFramePr>
          <p:cNvPr id="1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graphicFrame>
        <p:nvGraphicFramePr>
          <p:cNvPr id="1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135</Slides>
  <Notes>135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135</vt:i4>
      </vt:variant>
    </vt:vector>
  </HeadingPairs>
  <TitlesOfParts>
    <vt:vector size="1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2026-10-21T14:16:52Z</dcterms:created>
  <dcterms:modified xsi:type="dcterms:W3CDTF">2026-10-21T14:16:52Z</dcterms:modified>
</cp:coreProperties>
</file>