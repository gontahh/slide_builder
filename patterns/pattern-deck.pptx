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参考ページID：MCK01-p8、BCG01-p10、MCK04-p3（画像はPCの参照ライブラリ/pages/）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要因の下に「全体の増減に占める割合」を丸の印で並べると、どの要因が効いているかが数字で読める（MCK04-p13）。割合の合計は100%になるよう検算する。
差し替え：要因名・値・割合。棒の高さは値に比例させて調整する。
参考ページID：MCK04-p13、MCK04-p17（画像はPCの参照ライブラリ/pages/）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参考ページID：MCK04-p26、MCK05-p5（画像はPCの参照ライブラリ/pages/）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参考ページID：MCK02-p14、MCK04-p30（画像はPCの参照ライブラリ/pages/）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縦帯に読み取りと示唆を集約する。公開資料（MCK02-p9、MCK04-p9・p17・p27）に多い構成。帯は2〜3つの段に分け、各段を「太字の一文（言いたいこと）＋本文2〜3行（根拠・例）」で書く。段の間は細い線で区切る。帯の中で紺にするのは結論の段の太字だけ。
差し替え：図のデータ、帯の各段。
参考ページID：MCK04-p9、MCK04-p17（画像はPCの参照ライブラリ/pages/）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参考ページID：MCK04-p6（画像はPCの参照ライブラリ/pages/）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参考ページID：JNB01-p23、MCK04-p31（画像はPCの参照ライブラリ/pages/）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パターンID：P79
使う場面：同じ2〜3つの指標を、地区・部門などの行ごとに並べて比べ、行ごとの読み取りを右に添えるとき。行の見出し（アイコン＋名前）、指標ごとの小さな棒の列、読み取りの列を、行の区切り線でそろえる。公開資料（MCK04-p10・p11・p12）に多い構成。注目の1行だけ紺。
差し替え：行（地区）、指標、値、読み取り。
作法：指標の列ごとに基準線（0）と目盛りの縮尺をそろえ、値は棒の先に直接書く。読み取りは1行につき2行以内で、図の値と食い違うことを書かない。
参考ページID：MCK04-p10、MCK04-p12（画像はPCの参照ライブラリ/pages/）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パターンID：P80
使う場面：多数の打ち手を「どれだけ減らせるか（量）」と「1単位当たりいくらか（単価）」の両方で比べ、安い順に積み上げて、目標までに必要な打ち手と費用を示すとき。排出削減のコストカーブ（MACC）として公開資料（MCK04-p7・p15・p16）に多い。単価の安い順に左から並べ、棒の幅を量、高さを単価にする。
差し替え：打ち手、削減量、単価、目標の位置。
作法：0の線を必ず引き、0より下（費用が戻る打ち手）と上を分ける。目標の位置は縦の点線で示す。ラベルは棒の上下に引き出し線で付け、主な打ち手だけに絞る。棒の色は打ち手の種類で塗り分けず、注目の打ち手だけ紺。
参考ページID：MCK04-p7、MCK04-p15（画像はPCの参照ライブラリ/pages/）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image" Target="../media/image-8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image" Target="../media/image-87-14.png"/><Relationship Id="rId15" Type="http://schemas.openxmlformats.org/officeDocument/2006/relationships/image" Target="../media/image-87-15.png"/><Relationship Id="rId16" Type="http://schemas.openxmlformats.org/officeDocument/2006/relationships/image" Target="../media/image-87-16.png"/><Relationship Id="rId17" Type="http://schemas.openxmlformats.org/officeDocument/2006/relationships/image" Target="../media/image-87-17.png"/><Relationship Id="rId18" Type="http://schemas.openxmlformats.org/officeDocument/2006/relationships/image" Target="../media/image-87-18.png"/><Relationship Id="rId19" Type="http://schemas.openxmlformats.org/officeDocument/2006/relationships/image" Target="../media/image-87-19.png"/><Relationship Id="rId20" Type="http://schemas.openxmlformats.org/officeDocument/2006/relationships/image" Target="../media/image-8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image" Target="../media/image-88-5.png"/><Relationship Id="rId6" Type="http://schemas.openxmlformats.org/officeDocument/2006/relationships/image" Target="../media/image-88-6.png"/><Relationship Id="rId7" Type="http://schemas.openxmlformats.org/officeDocument/2006/relationships/image" Target="../media/image-88-7.png"/><Relationship Id="rId8" Type="http://schemas.openxmlformats.org/officeDocument/2006/relationships/image" Target="../media/image-88-8.png"/><Relationship Id="rId9" Type="http://schemas.openxmlformats.org/officeDocument/2006/relationships/image" Target="../media/image-88-9.png"/><Relationship Id="rId10" Type="http://schemas.openxmlformats.org/officeDocument/2006/relationships/image" Target="../media/image-88-10.png"/><Relationship Id="rId11" Type="http://schemas.openxmlformats.org/officeDocument/2006/relationships/image" Target="../media/image-88-11.png"/><Relationship Id="rId12" Type="http://schemas.openxmlformats.org/officeDocument/2006/relationships/image" Target="../media/image-88-12.png"/><Relationship Id="rId13" Type="http://schemas.openxmlformats.org/officeDocument/2006/relationships/image" Target="../media/image-88-13.png"/><Relationship Id="rId14" Type="http://schemas.openxmlformats.org/officeDocument/2006/relationships/image" Target="../media/image-88-14.png"/><Relationship Id="rId15" Type="http://schemas.openxmlformats.org/officeDocument/2006/relationships/image" Target="../media/image-88-15.png"/><Relationship Id="rId16" Type="http://schemas.openxmlformats.org/officeDocument/2006/relationships/image" Target="../media/image-88-16.png"/><Relationship Id="rId17" Type="http://schemas.openxmlformats.org/officeDocument/2006/relationships/image" Target="../media/image-88-17.png"/><Relationship Id="rId18" Type="http://schemas.openxmlformats.org/officeDocument/2006/relationships/image" Target="../media/image-88-18.png"/><Relationship Id="rId19" Type="http://schemas.openxmlformats.org/officeDocument/2006/relationships/image" Target="../media/image-88-19.png"/><Relationship Id="rId20" Type="http://schemas.openxmlformats.org/officeDocument/2006/relationships/image" Target="../media/image-8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image" Target="../media/image-89-5.png"/><Relationship Id="rId6" Type="http://schemas.openxmlformats.org/officeDocument/2006/relationships/image" Target="../media/image-89-6.png"/><Relationship Id="rId7" Type="http://schemas.openxmlformats.org/officeDocument/2006/relationships/image" Target="../media/image-89-7.png"/><Relationship Id="rId8" Type="http://schemas.openxmlformats.org/officeDocument/2006/relationships/image" Target="../media/image-89-8.png"/><Relationship Id="rId9" Type="http://schemas.openxmlformats.org/officeDocument/2006/relationships/image" Target="../media/image-89-9.png"/><Relationship Id="rId10" Type="http://schemas.openxmlformats.org/officeDocument/2006/relationships/image" Target="../media/image-89-10.png"/><Relationship Id="rId11" Type="http://schemas.openxmlformats.org/officeDocument/2006/relationships/image" Target="../media/image-89-11.png"/><Relationship Id="rId12" Type="http://schemas.openxmlformats.org/officeDocument/2006/relationships/image" Target="../media/image-89-12.png"/><Relationship Id="rId13" Type="http://schemas.openxmlformats.org/officeDocument/2006/relationships/image" Target="../media/image-89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80の型（P01〜P80）＋記号集・アイコン集・テンプレート集＋通しの完成例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355528" y="2286000"/>
            <a:ext cx="2606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578288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区域を広げた2019年度から伸びが加速した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2015→2019年度は年3.7%、2019→2025年度は年6.7%。拡大した3地区が増加の7割を占める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支線の転換先として受け止められる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支線12路線の利用者は年4.8万人で、予約型の6.5万人の4分の3に当たる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上位3市の平均より9回少ない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上位3市の平均は23回、みなと市は14回。8市の平均（16回）も下回る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差は運行本数で説明できる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上位3市は人口千人当たりの1日運行本数が、みなと市の1.8倍（P08）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5720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64288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864288" y="3063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864288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64288" y="5120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864288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通院は10年で＋17pt、最も伸びた目的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通院の利用者は年62万人から93万人に増えた。70歳以上の人口が2割増えたことが主因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通学は−12pt、生徒数の減少が続く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沿線の高校生は10年で3割減った。2035年度には通学の割合が20%を下回る見込み（推計）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157984"/>
            <a:ext cx="960120" cy="28254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1579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157984"/>
            <a:ext cx="960120" cy="65836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8653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81635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05250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05250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401248" y="2816352"/>
            <a:ext cx="960120" cy="21259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401248" y="25237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30980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361368" y="302895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351554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1554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864288" y="2905506"/>
            <a:ext cx="960120" cy="1234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86428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7284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824408" y="290550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497858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97858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327328" y="2905506"/>
            <a:ext cx="960120" cy="8915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327328" y="261289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23588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287448" y="2994660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6441628" y="5669280"/>
            <a:ext cx="731520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441628" y="56692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790368" y="2994660"/>
            <a:ext cx="960120" cy="19888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790368" y="270205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698928" y="50566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83728" y="56692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減少に占める割合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1965960"/>
            <a:ext cx="21988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4160520"/>
            <a:ext cx="21988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2288" y="4709160"/>
            <a:ext cx="2198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288" y="5696712"/>
            <a:ext cx="2198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91114" y="196596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91114" y="269748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491114" y="3794760"/>
            <a:ext cx="14658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91114" y="4892040"/>
            <a:ext cx="14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491114" y="5696712"/>
            <a:ext cx="14658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56998" y="1965960"/>
            <a:ext cx="122157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956998" y="3429000"/>
            <a:ext cx="12215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956998" y="4160520"/>
            <a:ext cx="12215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956998" y="5074920"/>
            <a:ext cx="12215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956998" y="5696712"/>
            <a:ext cx="12215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28829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28829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28829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28829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通院は移動の45%、バスの分担率は15%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通院の移動は年620万回で、バスが運ぶのは93万回。残りの8割強は車と送迎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家族の送迎が通院の25%を担う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送迎する家族の6割が「負担が大きい」と回答した（アンケート、n＝1,200）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257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00848" y="5806440"/>
            <a:ext cx="625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（縦軸：1人当たり年間利用回数（回）　横軸：人口千人当たりの1日運行本数（本））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本数と利用回数の相関は強い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相関係数は0.97。千人当たりの本数が10本多いと、利用は年4回多い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みなと市は同規模の市より年5回少ない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本数は32本で11市の中位だが、利用は14回にとどまる。路線が利用の多い地区に合っていない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5257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504368" y="2331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 104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504368" y="2971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 97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504368" y="41605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 78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（−26pt）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2020年の落ち込みから戻っていない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全国と類似市は2021年以降に持ち直したが、みなと市は減り続けた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全国との差は10年で26ptに開いた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差の半分（12pt）は2020年以降の5年で開いた。減便が利用離れを招いている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26544" y="3651671"/>
            <a:ext cx="130759" cy="261518"/>
          </a:xfrm>
          <a:custGeom>
            <a:avLst/>
            <a:gdLst/>
            <a:ahLst/>
            <a:cxnLst/>
            <a:rect l="l" t="t" r="r" b="b"/>
            <a:pathLst>
              <a:path w="130759" h="261518">
                <a:moveTo>
                  <a:pt x="0" y="0"/>
                </a:moveTo>
                <a:lnTo>
                  <a:pt x="130759" y="130759"/>
                </a:lnTo>
                <a:lnTo>
                  <a:pt x="0" y="2615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1" name="Shape 38"/>
          <p:cNvSpPr/>
          <p:nvPr/>
        </p:nvSpPr>
        <p:spPr>
          <a:xfrm>
            <a:off x="4724613" y="3660586"/>
            <a:ext cx="109659" cy="243688"/>
          </a:xfrm>
          <a:custGeom>
            <a:avLst/>
            <a:gdLst/>
            <a:ahLst/>
            <a:cxnLst/>
            <a:rect l="l" t="t" r="r" b="b"/>
            <a:pathLst>
              <a:path w="109659" h="243688">
                <a:moveTo>
                  <a:pt x="0" y="0"/>
                </a:moveTo>
                <a:lnTo>
                  <a:pt x="109659" y="121844"/>
                </a:lnTo>
                <a:lnTo>
                  <a:pt x="0" y="243688"/>
                </a:lnTo>
              </a:path>
            </a:pathLst>
          </a:custGeom>
          <a:ln w="26829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62578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886648" y="1984248"/>
            <a:ext cx="164592" cy="1645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061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258248" y="1984248"/>
            <a:ext cx="164592" cy="1645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4777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629848" y="1984248"/>
            <a:ext cx="164592" cy="16459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8493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001448" y="1984248"/>
            <a:ext cx="164592" cy="164592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220904" y="19293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70代以上の77%が存続を望む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「そう思う」と「ややそう思う」の計。若い世代ほど低く、10〜20代は62%にとどまる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反対は全体の13%にとどまる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存続の是非ではなく、どの形で維持するかが議論の中心になる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4791136" y="358810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0"/>
          <p:cNvSpPr/>
          <p:nvPr/>
        </p:nvSpPr>
        <p:spPr>
          <a:xfrm>
            <a:off x="4911836" y="359907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23168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329958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491128" y="1771664"/>
            <a:ext cx="90526" cy="181051"/>
          </a:xfrm>
          <a:custGeom>
            <a:avLst/>
            <a:gdLst/>
            <a:ahLst/>
            <a:cxnLst/>
            <a:rect l="l" t="t" r="r" b="b"/>
            <a:pathLst>
              <a:path w="90526" h="181051">
                <a:moveTo>
                  <a:pt x="0" y="0"/>
                </a:moveTo>
                <a:lnTo>
                  <a:pt x="90526" y="90526"/>
                </a:lnTo>
                <a:lnTo>
                  <a:pt x="0" y="181051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6559022" y="1777837"/>
            <a:ext cx="75918" cy="168707"/>
          </a:xfrm>
          <a:custGeom>
            <a:avLst/>
            <a:gdLst/>
            <a:ahLst/>
            <a:cxnLst/>
            <a:rect l="l" t="t" r="r" b="b"/>
            <a:pathLst>
              <a:path w="75918" h="168707">
                <a:moveTo>
                  <a:pt x="0" y="0"/>
                </a:moveTo>
                <a:lnTo>
                  <a:pt x="75918" y="84353"/>
                </a:lnTo>
                <a:lnTo>
                  <a:pt x="0" y="168707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05920" y="2052828"/>
            <a:ext cx="100584" cy="201168"/>
          </a:xfrm>
          <a:custGeom>
            <a:avLst/>
            <a:gdLst/>
            <a:ahLst/>
            <a:cxnLst/>
            <a:rect l="l" t="t" r="r" b="b"/>
            <a:pathLst>
              <a:path w="100584" h="201168">
                <a:moveTo>
                  <a:pt x="0" y="0"/>
                </a:moveTo>
                <a:lnTo>
                  <a:pt x="100584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4281358" y="2059686"/>
            <a:ext cx="84353" cy="187452"/>
          </a:xfrm>
          <a:custGeom>
            <a:avLst/>
            <a:gdLst/>
            <a:ahLst/>
            <a:cxnLst/>
            <a:rect l="l" t="t" r="r" b="b"/>
            <a:pathLst>
              <a:path w="84353" h="187452">
                <a:moveTo>
                  <a:pt x="0" y="0"/>
                </a:moveTo>
                <a:lnTo>
                  <a:pt x="84353" y="93726"/>
                </a:lnTo>
                <a:lnTo>
                  <a:pt x="0" y="187452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0964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708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60777" y="2350008"/>
            <a:ext cx="184343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4208" y="2350008"/>
            <a:ext cx="166786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74977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117793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30692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4208" y="3099816"/>
            <a:ext cx="10972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6211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54720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14166" y="3849624"/>
            <a:ext cx="79004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4208" y="3849624"/>
            <a:ext cx="65836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92836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108296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65296" y="4599432"/>
            <a:ext cx="43891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4404208" y="4599432"/>
            <a:ext cx="39502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279496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449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84752" y="5349240"/>
            <a:ext cx="2194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4404208" y="5349240"/>
            <a:ext cx="175565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49895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625492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40420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67268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利用者数の±10%で収支が約4,000万円動く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下振れ−42・上振れ＋38百万円で、2位の運賃単価（±25）の1.6倍に当たる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試行で利用者数を確かめてから投資する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2地区の試行（2027年）で継続利用率80%以上を確かめ、本格投資の判断の基準にする（P47）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78817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78817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178817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178817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37550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3375508" y="2267712"/>
            <a:ext cx="145017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337550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337550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962838" y="1920240"/>
            <a:ext cx="1450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962838" y="2267712"/>
            <a:ext cx="145017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4962838" y="2377440"/>
          <a:ext cx="145017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4962838" y="5669280"/>
            <a:ext cx="14501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減り続けているのは東部だけ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東部は10年で70万人から41万人に減った（−41%）。他の3地区は横ばいか増加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東部では通学の利用が半分になった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沿線の高校の統合（2016年）以降、東部の通学の利用は10年で半分に減った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402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23004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230048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230048" y="4892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0084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687328" y="1874520"/>
            <a:ext cx="3017520" cy="425196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870208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10年で4億円増え、12億円になった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70208" y="266090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増加の40千万円のうち39千万円が通院の送迎による。買物の支援と外出の付添いは横ばい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870208" y="3936492"/>
            <a:ext cx="26517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70208" y="40462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通院の送迎は5倍になった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870208" y="4649724"/>
            <a:ext cx="2651760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10千万円から49千万円へ。予約型交通に置き換えると、送迎の費用の半分を減らせる見込み（試算）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F3F3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10312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80代以上の満足は31%で、全体の半分にとどまる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78892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不満の理由の6割が「停留所が遠い・坂道がある」（自由回答）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88620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069080"/>
            <a:ext cx="319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80代以上の多い地区から予約型を始めるべきである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754880"/>
            <a:ext cx="319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乗降地点を病院と自宅の前に置き、停留所まで歩く負担をなくす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657280" y="3403031"/>
            <a:ext cx="144841" cy="289682"/>
          </a:xfrm>
          <a:custGeom>
            <a:avLst/>
            <a:gdLst/>
            <a:ahLst/>
            <a:cxnLst/>
            <a:rect l="l" t="t" r="r" b="b"/>
            <a:pathLst>
              <a:path w="144841" h="289682">
                <a:moveTo>
                  <a:pt x="0" y="0"/>
                </a:moveTo>
                <a:lnTo>
                  <a:pt x="144841" y="144841"/>
                </a:lnTo>
                <a:lnTo>
                  <a:pt x="0" y="289682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3765910" y="3412907"/>
            <a:ext cx="121469" cy="269931"/>
          </a:xfrm>
          <a:custGeom>
            <a:avLst/>
            <a:gdLst/>
            <a:ahLst/>
            <a:cxnLst/>
            <a:rect l="l" t="t" r="r" b="b"/>
            <a:pathLst>
              <a:path w="121469" h="269931">
                <a:moveTo>
                  <a:pt x="0" y="0"/>
                </a:moveTo>
                <a:lnTo>
                  <a:pt x="121469" y="134965"/>
                </a:lnTo>
                <a:lnTo>
                  <a:pt x="0" y="269931"/>
                </a:lnTo>
              </a:path>
            </a:pathLst>
          </a:custGeom>
          <a:ln w="29718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331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5" name="Shape 12"/>
          <p:cNvSpPr/>
          <p:nvPr/>
        </p:nvSpPr>
        <p:spPr>
          <a:xfrm>
            <a:off x="26859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352" y="1997521"/>
            <a:ext cx="70409" cy="140818"/>
          </a:xfrm>
          <a:custGeom>
            <a:avLst/>
            <a:gdLst/>
            <a:ahLst/>
            <a:cxnLst/>
            <a:rect l="l" t="t" r="r" b="b"/>
            <a:pathLst>
              <a:path w="70409" h="140818">
                <a:moveTo>
                  <a:pt x="0" y="0"/>
                </a:moveTo>
                <a:lnTo>
                  <a:pt x="70409" y="70409"/>
                </a:lnTo>
                <a:lnTo>
                  <a:pt x="0" y="14081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29158" y="2002322"/>
            <a:ext cx="59047" cy="131216"/>
          </a:xfrm>
          <a:custGeom>
            <a:avLst/>
            <a:gdLst/>
            <a:ahLst/>
            <a:cxnLst/>
            <a:rect l="l" t="t" r="r" b="b"/>
            <a:pathLst>
              <a:path w="59047" h="131216">
                <a:moveTo>
                  <a:pt x="0" y="0"/>
                </a:moveTo>
                <a:lnTo>
                  <a:pt x="59047" y="65608"/>
                </a:lnTo>
                <a:lnTo>
                  <a:pt x="0" y="131216"/>
                </a:lnTo>
              </a:path>
            </a:pathLst>
          </a:custGeom>
          <a:ln w="22225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4地区のうち東部だけが利用者と運賃収入の両方で大きく減った。他の3地区は運賃改定で減収を補えており、東部は別の要因で落ち込んだ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注）2020→2025年度の増減率。運賃は2023年4月に全地区で一律10%改定。名称・数値はすべて架空の見本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89248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利用者数（%）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89248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5568" y="14850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運賃収入（%）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75568" y="1832472"/>
            <a:ext cx="1600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95808" y="1485000"/>
            <a:ext cx="410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595808" y="1832472"/>
            <a:ext cx="410904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488" y="2051928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107372" y="2390256"/>
            <a:ext cx="77724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51301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084762" y="2390256"/>
            <a:ext cx="582930" cy="3108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490402" y="23902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595808" y="2051928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高齢化で通院の利用が減り、運賃改定でも収入を補えなかった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039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488" y="3039480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690302" y="3377808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9594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7692" y="3377808"/>
            <a:ext cx="12954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842952" y="337780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595808" y="3039480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通学の減少を、運賃改定による増収が上回った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270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9488" y="4027032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787457" y="4365360"/>
            <a:ext cx="9715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193097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667692" y="4365360"/>
            <a:ext cx="19431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907722" y="43653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595808" y="4027032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商業施設の新設で買物の利用が下げ止まった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5014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9488" y="5014584"/>
            <a:ext cx="10972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625532" y="5352912"/>
            <a:ext cx="259080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31172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667692" y="5352912"/>
            <a:ext cx="32385" cy="31089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745797" y="535291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5595808" y="5014584"/>
            <a:ext cx="4109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人口減少の分だけ減ったが、収入はほぼ横ばい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88461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67692" y="2051928"/>
            <a:ext cx="0" cy="3950208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pic>
        <p:nvPicPr>
          <p:cNvPr id="45" name="Image 0" descr="person-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136" y="2326248"/>
            <a:ext cx="438912" cy="438912"/>
          </a:xfrm>
          <a:prstGeom prst="rect">
            <a:avLst/>
          </a:prstGeom>
        </p:spPr>
      </p:pic>
      <p:pic>
        <p:nvPicPr>
          <p:cNvPr id="46" name="Image 1" descr="scho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" y="3313800"/>
            <a:ext cx="438912" cy="438912"/>
          </a:xfrm>
          <a:prstGeom prst="rect">
            <a:avLst/>
          </a:prstGeom>
        </p:spPr>
      </p:pic>
      <p:pic>
        <p:nvPicPr>
          <p:cNvPr id="47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6" y="4301352"/>
            <a:ext cx="438912" cy="438912"/>
          </a:xfrm>
          <a:prstGeom prst="rect">
            <a:avLst/>
          </a:prstGeom>
        </p:spPr>
      </p:pic>
      <p:pic>
        <p:nvPicPr>
          <p:cNvPr id="48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136" y="52889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目標の1,800トンは、燃料費の節約で費用を回収できる策だけで届く。それ以上の削減は単価が急に上がり、燃料電池バスは1トン5.8万円かかる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CO2削減策のコストカーブ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（幅＝削減量 t、高さ＝1t当たり費用 千円、2030年度）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千円／t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500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9718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5935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4215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8371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5792" y="4343400"/>
            <a:ext cx="966193" cy="559613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1378888" y="4903013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4488" y="4994453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エコドライブ研修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880273" y="4343400"/>
            <a:ext cx="350893" cy="373075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Shape 19"/>
          <p:cNvSpPr/>
          <p:nvPr/>
        </p:nvSpPr>
        <p:spPr>
          <a:xfrm>
            <a:off x="2055719" y="4716475"/>
            <a:ext cx="0" cy="676656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41319" y="539313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車庫のLED化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249453" y="4343400"/>
            <a:ext cx="1704554" cy="18653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3101731" y="4529938"/>
            <a:ext cx="0" cy="38404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87331" y="491398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ハイブリッドバス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972296" y="4343400"/>
            <a:ext cx="1335374" cy="6217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4639983" y="4405579"/>
            <a:ext cx="0" cy="91440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5583" y="449701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屋根置き太陽光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325958" y="4219042"/>
            <a:ext cx="1458434" cy="12435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055175" y="3341218"/>
            <a:ext cx="0" cy="877824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140775" y="306689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EVバス（短距離）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02680" y="4063594"/>
            <a:ext cx="1089254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7347307" y="3770986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32907" y="349666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再エネ電力の購入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7910221" y="3690518"/>
            <a:ext cx="916969" cy="65288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8368706" y="3397910"/>
            <a:ext cx="0" cy="292608"/>
          </a:xfrm>
          <a:prstGeom prst="line">
            <a:avLst/>
          </a:prstGeom>
          <a:noFill/>
          <a:ln w="6350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51386" y="312359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EVバス（長距離）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845479" y="2540203"/>
            <a:ext cx="621625" cy="180319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16095" y="2540203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燃料電池バス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886648" y="4343400"/>
            <a:ext cx="8589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16814" y="2170800"/>
            <a:ext cx="0" cy="354420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5389966" y="2125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2030年の目標　1,800t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886648" y="5870448"/>
            <a:ext cx="858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664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088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3347851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82091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809054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294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8270258" y="5870448"/>
            <a:ext cx="0" cy="54864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904498" y="59436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961648" y="5559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累計の年間削減量（t-CO2）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0928" y="2399386"/>
            <a:ext cx="160934" cy="321869"/>
          </a:xfrm>
          <a:custGeom>
            <a:avLst/>
            <a:gdLst/>
            <a:ahLst/>
            <a:cxnLst/>
            <a:rect l="l" t="t" r="r" b="b"/>
            <a:pathLst>
              <a:path w="160934" h="321869">
                <a:moveTo>
                  <a:pt x="0" y="0"/>
                </a:moveTo>
                <a:lnTo>
                  <a:pt x="160934" y="160934"/>
                </a:lnTo>
                <a:lnTo>
                  <a:pt x="0" y="321869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7" name="Shape 14"/>
          <p:cNvSpPr/>
          <p:nvPr/>
        </p:nvSpPr>
        <p:spPr>
          <a:xfrm>
            <a:off x="961628" y="2410358"/>
            <a:ext cx="134965" cy="299923"/>
          </a:xfrm>
          <a:custGeom>
            <a:avLst/>
            <a:gdLst/>
            <a:ahLst/>
            <a:cxnLst/>
            <a:rect l="l" t="t" r="r" b="b"/>
            <a:pathLst>
              <a:path w="134965" h="299923">
                <a:moveTo>
                  <a:pt x="0" y="0"/>
                </a:moveTo>
                <a:lnTo>
                  <a:pt x="134965" y="149962"/>
                </a:lnTo>
                <a:lnTo>
                  <a:pt x="0" y="299923"/>
                </a:lnTo>
              </a:path>
            </a:pathLst>
          </a:custGeom>
          <a:ln w="3302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左右の間の強い因果。1枚に1つまで（グレーの三角＋線。HG_pptFMT の形）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矢印（右2列は下向き）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2971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800280" y="2524673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2" name="Shape 39"/>
          <p:cNvSpPr/>
          <p:nvPr/>
        </p:nvSpPr>
        <p:spPr>
          <a:xfrm>
            <a:off x="4922163" y="2509128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367208" y="2527782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4" name="Shape 41"/>
          <p:cNvSpPr/>
          <p:nvPr/>
        </p:nvSpPr>
        <p:spPr>
          <a:xfrm>
            <a:off x="5469803" y="2537109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94816" y="2563992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5879272" y="2685876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47" name="Shape 44"/>
          <p:cNvSpPr/>
          <p:nvPr/>
        </p:nvSpPr>
        <p:spPr>
          <a:xfrm>
            <a:off x="6464853" y="2563992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48" name="Shape 45"/>
          <p:cNvSpPr/>
          <p:nvPr/>
        </p:nvSpPr>
        <p:spPr>
          <a:xfrm>
            <a:off x="6474180" y="2666588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000F7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00280" y="3091601"/>
            <a:ext cx="184672" cy="279806"/>
          </a:xfrm>
          <a:custGeom>
            <a:avLst/>
            <a:gdLst/>
            <a:ahLst/>
            <a:cxnLst/>
            <a:rect l="l" t="t" r="r" b="b"/>
            <a:pathLst>
              <a:path w="184672" h="279806">
                <a:moveTo>
                  <a:pt x="0" y="0"/>
                </a:moveTo>
                <a:lnTo>
                  <a:pt x="84949" y="0"/>
                </a:lnTo>
                <a:lnTo>
                  <a:pt x="184672" y="139903"/>
                </a:lnTo>
                <a:lnTo>
                  <a:pt x="84949" y="279806"/>
                </a:lnTo>
                <a:lnTo>
                  <a:pt x="0" y="279806"/>
                </a:lnTo>
                <a:lnTo>
                  <a:pt x="99723" y="1399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0" name="Shape 47"/>
          <p:cNvSpPr/>
          <p:nvPr/>
        </p:nvSpPr>
        <p:spPr>
          <a:xfrm>
            <a:off x="4922163" y="3076056"/>
            <a:ext cx="205191" cy="310896"/>
          </a:xfrm>
          <a:custGeom>
            <a:avLst/>
            <a:gdLst/>
            <a:ahLst/>
            <a:cxnLst/>
            <a:rect l="l" t="t" r="r" b="b"/>
            <a:pathLst>
              <a:path w="205191" h="310896">
                <a:moveTo>
                  <a:pt x="0" y="0"/>
                </a:moveTo>
                <a:lnTo>
                  <a:pt x="94388" y="0"/>
                </a:lnTo>
                <a:lnTo>
                  <a:pt x="205191" y="155448"/>
                </a:lnTo>
                <a:lnTo>
                  <a:pt x="94388" y="310896"/>
                </a:lnTo>
                <a:lnTo>
                  <a:pt x="0" y="310896"/>
                </a:lnTo>
                <a:lnTo>
                  <a:pt x="110803" y="15544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1" name="Shape 48"/>
          <p:cNvSpPr/>
          <p:nvPr/>
        </p:nvSpPr>
        <p:spPr>
          <a:xfrm>
            <a:off x="5367208" y="3094710"/>
            <a:ext cx="136794" cy="273588"/>
          </a:xfrm>
          <a:custGeom>
            <a:avLst/>
            <a:gdLst/>
            <a:ahLst/>
            <a:cxnLst/>
            <a:rect l="l" t="t" r="r" b="b"/>
            <a:pathLst>
              <a:path w="136794" h="273588">
                <a:moveTo>
                  <a:pt x="0" y="0"/>
                </a:moveTo>
                <a:lnTo>
                  <a:pt x="136794" y="136794"/>
                </a:lnTo>
                <a:lnTo>
                  <a:pt x="0" y="273588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2" name="Shape 49"/>
          <p:cNvSpPr/>
          <p:nvPr/>
        </p:nvSpPr>
        <p:spPr>
          <a:xfrm>
            <a:off x="5469803" y="3104037"/>
            <a:ext cx="114721" cy="254935"/>
          </a:xfrm>
          <a:custGeom>
            <a:avLst/>
            <a:gdLst/>
            <a:ahLst/>
            <a:cxnLst/>
            <a:rect l="l" t="t" r="r" b="b"/>
            <a:pathLst>
              <a:path w="114721" h="254935">
                <a:moveTo>
                  <a:pt x="0" y="0"/>
                </a:moveTo>
                <a:lnTo>
                  <a:pt x="114721" y="127467"/>
                </a:lnTo>
                <a:lnTo>
                  <a:pt x="0" y="254935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894816" y="3130920"/>
            <a:ext cx="279806" cy="184672"/>
          </a:xfrm>
          <a:custGeom>
            <a:avLst/>
            <a:gdLst/>
            <a:ahLst/>
            <a:cxnLst/>
            <a:rect l="l" t="t" r="r" b="b"/>
            <a:pathLst>
              <a:path w="279806" h="184672">
                <a:moveTo>
                  <a:pt x="0" y="0"/>
                </a:moveTo>
                <a:lnTo>
                  <a:pt x="0" y="84949"/>
                </a:lnTo>
                <a:lnTo>
                  <a:pt x="139903" y="184672"/>
                </a:lnTo>
                <a:lnTo>
                  <a:pt x="279806" y="84949"/>
                </a:lnTo>
                <a:lnTo>
                  <a:pt x="279806" y="0"/>
                </a:lnTo>
                <a:lnTo>
                  <a:pt x="139903" y="9972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4" name="Shape 51"/>
          <p:cNvSpPr/>
          <p:nvPr/>
        </p:nvSpPr>
        <p:spPr>
          <a:xfrm>
            <a:off x="5879272" y="3252804"/>
            <a:ext cx="310896" cy="205191"/>
          </a:xfrm>
          <a:custGeom>
            <a:avLst/>
            <a:gdLst/>
            <a:ahLst/>
            <a:cxnLst/>
            <a:rect l="l" t="t" r="r" b="b"/>
            <a:pathLst>
              <a:path w="310896" h="205191">
                <a:moveTo>
                  <a:pt x="0" y="0"/>
                </a:moveTo>
                <a:lnTo>
                  <a:pt x="0" y="94388"/>
                </a:lnTo>
                <a:lnTo>
                  <a:pt x="155448" y="205191"/>
                </a:lnTo>
                <a:lnTo>
                  <a:pt x="310896" y="94388"/>
                </a:lnTo>
                <a:lnTo>
                  <a:pt x="310896" y="0"/>
                </a:lnTo>
                <a:lnTo>
                  <a:pt x="155448" y="110803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5" name="Shape 52"/>
          <p:cNvSpPr/>
          <p:nvPr/>
        </p:nvSpPr>
        <p:spPr>
          <a:xfrm>
            <a:off x="6464853" y="3130920"/>
            <a:ext cx="273588" cy="136794"/>
          </a:xfrm>
          <a:custGeom>
            <a:avLst/>
            <a:gdLst/>
            <a:ahLst/>
            <a:cxnLst/>
            <a:rect l="l" t="t" r="r" b="b"/>
            <a:pathLst>
              <a:path w="273588" h="136794">
                <a:moveTo>
                  <a:pt x="0" y="0"/>
                </a:moveTo>
                <a:lnTo>
                  <a:pt x="136794" y="136794"/>
                </a:lnTo>
                <a:lnTo>
                  <a:pt x="273588" y="0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4180" y="3233516"/>
            <a:ext cx="254935" cy="114721"/>
          </a:xfrm>
          <a:custGeom>
            <a:avLst/>
            <a:gdLst/>
            <a:ahLst/>
            <a:cxnLst/>
            <a:rect l="l" t="t" r="r" b="b"/>
            <a:pathLst>
              <a:path w="254935" h="114721">
                <a:moveTo>
                  <a:pt x="0" y="0"/>
                </a:moveTo>
                <a:lnTo>
                  <a:pt x="127467" y="114721"/>
                </a:lnTo>
                <a:lnTo>
                  <a:pt x="254935" y="0"/>
                </a:lnTo>
              </a:path>
            </a:pathLst>
          </a:custGeom>
          <a:ln w="28067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0280" y="3642984"/>
            <a:ext cx="310896" cy="31089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8" name="Shape 55"/>
          <p:cNvSpPr/>
          <p:nvPr/>
        </p:nvSpPr>
        <p:spPr>
          <a:xfrm>
            <a:off x="4928493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67208" y="364298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0" name="Shape 57"/>
          <p:cNvSpPr/>
          <p:nvPr/>
        </p:nvSpPr>
        <p:spPr>
          <a:xfrm>
            <a:off x="5495421" y="3711381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800280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367208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14775" y="4209912"/>
            <a:ext cx="139903" cy="310896"/>
          </a:xfrm>
          <a:custGeom>
            <a:avLst/>
            <a:gdLst/>
            <a:ahLst/>
            <a:cxnLst/>
            <a:rect l="l" t="t" r="r" b="b"/>
            <a:pathLst>
              <a:path w="139903" h="310896">
                <a:moveTo>
                  <a:pt x="0" y="0"/>
                </a:moveTo>
                <a:lnTo>
                  <a:pt x="139903" y="155448"/>
                </a:lnTo>
                <a:lnTo>
                  <a:pt x="0" y="310896"/>
                </a:lnTo>
              </a:path>
            </a:pathLst>
          </a:custGeom>
          <a:ln w="19431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994840" y="249084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6994840" y="3057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三角＋線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994840" y="362469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100" dirty="0"/>
          </a:p>
        </p:txBody>
      </p:sp>
      <p:sp>
        <p:nvSpPr>
          <p:cNvPr id="67" name="Text 64"/>
          <p:cNvSpPr txBox="1"/>
          <p:nvPr/>
        </p:nvSpPr>
        <p:spPr>
          <a:xfrm>
            <a:off x="6994840" y="419162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8110408" y="267372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01848" y="274687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779036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110408" y="3725280"/>
            <a:ext cx="15944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01848" y="3798432"/>
            <a:ext cx="145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79036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790368" y="4502520"/>
            <a:ext cx="191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4928817" y="3922790"/>
            <a:ext cx="64520" cy="153619"/>
          </a:xfrm>
          <a:custGeom>
            <a:avLst/>
            <a:gdLst/>
            <a:ahLst/>
            <a:cxnLst/>
            <a:rect l="l" t="t" r="r" b="b"/>
            <a:pathLst>
              <a:path w="64520" h="153619">
                <a:moveTo>
                  <a:pt x="0" y="0"/>
                </a:moveTo>
                <a:lnTo>
                  <a:pt x="64520" y="76810"/>
                </a:lnTo>
                <a:lnTo>
                  <a:pt x="0" y="153619"/>
                </a:lnTo>
              </a:path>
            </a:pathLst>
          </a:custGeom>
          <a:ln w="13716">
            <a:solidFill>
              <a:srgbClr val="FFFFFF"/>
            </a:solidFill>
            <a:prstDash val="solid"/>
          </a:ln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96485" y="2728584"/>
            <a:ext cx="312725" cy="206398"/>
          </a:xfrm>
          <a:custGeom>
            <a:avLst/>
            <a:gdLst/>
            <a:ahLst/>
            <a:cxnLst/>
            <a:rect l="l" t="t" r="r" b="b"/>
            <a:pathLst>
              <a:path w="312725" h="206398">
                <a:moveTo>
                  <a:pt x="0" y="0"/>
                </a:moveTo>
                <a:lnTo>
                  <a:pt x="0" y="94943"/>
                </a:lnTo>
                <a:lnTo>
                  <a:pt x="156362" y="206398"/>
                </a:lnTo>
                <a:lnTo>
                  <a:pt x="312725" y="94943"/>
                </a:lnTo>
                <a:lnTo>
                  <a:pt x="312725" y="0"/>
                </a:lnTo>
                <a:lnTo>
                  <a:pt x="156362" y="11145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9112" y="2864807"/>
            <a:ext cx="347472" cy="229332"/>
          </a:xfrm>
          <a:custGeom>
            <a:avLst/>
            <a:gdLst/>
            <a:ahLst/>
            <a:cxnLst/>
            <a:rect l="l" t="t" r="r" b="b"/>
            <a:pathLst>
              <a:path w="347472" h="229332">
                <a:moveTo>
                  <a:pt x="0" y="0"/>
                </a:moveTo>
                <a:lnTo>
                  <a:pt x="0" y="105492"/>
                </a:lnTo>
                <a:lnTo>
                  <a:pt x="173736" y="229332"/>
                </a:lnTo>
                <a:lnTo>
                  <a:pt x="347472" y="105492"/>
                </a:lnTo>
                <a:lnTo>
                  <a:pt x="347472" y="0"/>
                </a:lnTo>
                <a:lnTo>
                  <a:pt x="173736" y="123839"/>
                </a:lnTo>
                <a:close/>
              </a:path>
            </a:pathLst>
          </a:cu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4273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2199360" y="295151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7717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27" name="Shape 24"/>
          <p:cNvSpPr/>
          <p:nvPr/>
        </p:nvSpPr>
        <p:spPr>
          <a:xfrm>
            <a:off x="2199360" y="418595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411616"/>
            <a:ext cx="128748" cy="257495"/>
          </a:xfrm>
          <a:custGeom>
            <a:avLst/>
            <a:gdLst/>
            <a:ahLst/>
            <a:cxnLst/>
            <a:rect l="l" t="t" r="r" b="b"/>
            <a:pathLst>
              <a:path w="128748" h="257495">
                <a:moveTo>
                  <a:pt x="0" y="0"/>
                </a:moveTo>
                <a:lnTo>
                  <a:pt x="128748" y="128748"/>
                </a:lnTo>
                <a:lnTo>
                  <a:pt x="0" y="257495"/>
                </a:lnTo>
                <a:close/>
              </a:path>
            </a:pathLst>
          </a:cu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2199360" y="5420395"/>
            <a:ext cx="107972" cy="239939"/>
          </a:xfrm>
          <a:custGeom>
            <a:avLst/>
            <a:gdLst/>
            <a:ahLst/>
            <a:cxnLst/>
            <a:rect l="l" t="t" r="r" b="b"/>
            <a:pathLst>
              <a:path w="107972" h="239939">
                <a:moveTo>
                  <a:pt x="0" y="0"/>
                </a:moveTo>
                <a:lnTo>
                  <a:pt x="107972" y="119969"/>
                </a:lnTo>
                <a:lnTo>
                  <a:pt x="0" y="239939"/>
                </a:lnTo>
              </a:path>
            </a:pathLst>
          </a:custGeom>
          <a:ln w="26416">
            <a:solidFill>
              <a:srgbClr val="000F7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7208733" y="3924429"/>
            <a:ext cx="73123" cy="174102"/>
          </a:xfrm>
          <a:custGeom>
            <a:avLst/>
            <a:gdLst/>
            <a:ahLst/>
            <a:cxnLst/>
            <a:rect l="l" t="t" r="r" b="b"/>
            <a:pathLst>
              <a:path w="73123" h="174102">
                <a:moveTo>
                  <a:pt x="0" y="0"/>
                </a:moveTo>
                <a:lnTo>
                  <a:pt x="73123" y="87051"/>
                </a:lnTo>
                <a:lnTo>
                  <a:pt x="0" y="174102"/>
                </a:lnTo>
              </a:path>
            </a:pathLst>
          </a:custGeom>
          <a:ln w="15545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graphicFrame>
        <p:nvGraphicFramePr>
          <p:cNvPr id="1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134</a:t>
            </a:r>
            <a:endParaRPr lang="en-US" sz="900" dirty="0"/>
          </a:p>
        </p:txBody>
      </p:sp>
      <p:graphicFrame>
        <p:nvGraphicFramePr>
          <p:cNvPr id="1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2026-10-28T23:28:29Z</dcterms:created>
  <dcterms:modified xsi:type="dcterms:W3CDTF">2026-10-28T23:28:29Z</dcterms:modified>
</cp:coreProperties>
</file>