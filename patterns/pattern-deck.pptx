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</p:sldIdLst>
  <p:notesMasterIdLst>
    <p:notesMasterId r:id="rId139"/>
  </p:notesMasterIdLst>
  <p:sldSz cx="9905695" cy="6858000"/>
  <p:notesSz cx="6858000" cy="9905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notesMaster" Target="notesMasters/notesMaster1.xml"/><Relationship Id="rId140" Type="http://schemas.openxmlformats.org/officeDocument/2006/relationships/presProps" Target="presProps.xml"/><Relationship Id="rId141" Type="http://schemas.openxmlformats.org/officeDocument/2006/relationships/viewProps" Target="viewProps.xml"/><Relationship Id="rId142" Type="http://schemas.openxmlformats.org/officeDocument/2006/relationships/theme" Target="theme/theme1.xml"/><Relationship Id="rId14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区域拡大前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3.8</c:v>
                </c:pt>
                <c:pt idx="1">
                  <c:v>4.1</c:v>
                </c:pt>
                <c:pt idx="2">
                  <c:v>4.4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区域拡大後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5</c:v>
                </c:pt>
                <c:pt idx="4">
                  <c:v>5.7</c:v>
                </c:pt>
                <c:pt idx="5">
                  <c:v>6.5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10</c:v>
                </c:pt>
                <c:pt idx="2">
                  <c:v>12</c:v>
                </c:pt>
                <c:pt idx="3">
                  <c:v>0</c:v>
                </c:pt>
                <c:pt idx="4">
                  <c:v>17</c:v>
                </c:pt>
                <c:pt idx="5">
                  <c:v>21</c:v>
                </c:pt>
                <c:pt idx="6">
                  <c:v>23</c:v>
                </c:pt>
                <c:pt idx="7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対象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35</c:v>
                </c:pt>
                <c:pt idx="1">
                  <c:v>33</c:v>
                </c:pt>
                <c:pt idx="2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</c:v>
                </c:pt>
                <c:pt idx="1">
                  <c:v>22</c:v>
                </c:pt>
                <c:pt idx="2">
                  <c:v>32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10</c:v>
                </c:pt>
                <c:pt idx="1">
                  <c:v>10</c:v>
                </c:pt>
                <c:pt idx="2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CCCCCC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8</c:v>
                </c:pt>
                <c:pt idx="1">
                  <c:v>12</c:v>
                </c:pt>
                <c:pt idx="2">
                  <c:v>11</c:v>
                </c:pt>
                <c:pt idx="3">
                  <c:v>16</c:v>
                </c:pt>
                <c:pt idx="4">
                  <c:v>17</c:v>
                </c:pt>
                <c:pt idx="5">
                  <c:v>21</c:v>
                </c:pt>
                <c:pt idx="6">
                  <c:v>19</c:v>
                </c:pt>
                <c:pt idx="7">
                  <c:v>25</c:v>
                </c:pt>
                <c:pt idx="8">
                  <c:v>24</c:v>
                </c:pt>
                <c:pt idx="9">
                  <c:v>28</c:v>
                </c:pt>
                <c:pt idx="10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Sheet1!$C$2:$C$12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0"/>
          <c:min val="0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全国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101</c:v>
                </c:pt>
                <c:pt idx="2">
                  <c:v>102</c:v>
                </c:pt>
                <c:pt idx="3">
                  <c:v>102</c:v>
                </c:pt>
                <c:pt idx="4">
                  <c:v>103</c:v>
                </c:pt>
                <c:pt idx="5">
                  <c:v>99</c:v>
                </c:pt>
                <c:pt idx="6">
                  <c:v>100</c:v>
                </c:pt>
                <c:pt idx="7">
                  <c:v>101</c:v>
                </c:pt>
                <c:pt idx="8">
                  <c:v>102</c:v>
                </c:pt>
                <c:pt idx="9">
                  <c:v>103</c:v>
                </c:pt>
                <c:pt idx="10">
                  <c:v>104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99</c:v>
                </c:pt>
                <c:pt idx="2">
                  <c:v>99</c:v>
                </c:pt>
                <c:pt idx="3">
                  <c:v>98</c:v>
                </c:pt>
                <c:pt idx="4">
                  <c:v>98</c:v>
                </c:pt>
                <c:pt idx="5">
                  <c:v>95</c:v>
                </c:pt>
                <c:pt idx="6">
                  <c:v>95</c:v>
                </c:pt>
                <c:pt idx="7">
                  <c:v>96</c:v>
                </c:pt>
                <c:pt idx="8">
                  <c:v>96</c:v>
                </c:pt>
                <c:pt idx="9">
                  <c:v>96</c:v>
                </c:pt>
                <c:pt idx="10">
                  <c:v>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97</c:v>
                </c:pt>
                <c:pt idx="2">
                  <c:v>95</c:v>
                </c:pt>
                <c:pt idx="3">
                  <c:v>92</c:v>
                </c:pt>
                <c:pt idx="4">
                  <c:v>90</c:v>
                </c:pt>
                <c:pt idx="5">
                  <c:v>85</c:v>
                </c:pt>
                <c:pt idx="6">
                  <c:v>84</c:v>
                </c:pt>
                <c:pt idx="7">
                  <c:v>83</c:v>
                </c:pt>
                <c:pt idx="8">
                  <c:v>81</c:v>
                </c:pt>
                <c:pt idx="9">
                  <c:v>80</c:v>
                </c:pt>
                <c:pt idx="10">
                  <c:v>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7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値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5.6</c:v>
                </c:pt>
                <c:pt idx="2">
                  <c:v>6.1</c:v>
                </c:pt>
                <c:pt idx="3">
                  <c:v>6.3</c:v>
                </c:pt>
                <c:pt idx="4">
                  <c:v>6.4</c:v>
                </c:pt>
                <c:pt idx="5">
                  <c:v>6.5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</c:v>
                </c:pt>
                <c:pt idx="1">
                  <c:v>50</c:v>
                </c:pt>
                <c:pt idx="2">
                  <c:v>44</c:v>
                </c:pt>
                <c:pt idx="3">
                  <c:v>40</c:v>
                </c:pt>
                <c:pt idx="4">
                  <c:v>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</c:v>
                </c:pt>
                <c:pt idx="1">
                  <c:v>22</c:v>
                </c:pt>
                <c:pt idx="2">
                  <c:v>25</c:v>
                </c:pt>
                <c:pt idx="3">
                  <c:v>22</c:v>
                </c:pt>
                <c:pt idx="4">
                  <c:v>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13</c:v>
                </c:pt>
                <c:pt idx="1">
                  <c:v>16</c:v>
                </c:pt>
                <c:pt idx="2">
                  <c:v>17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10</c:v>
                </c:pt>
                <c:pt idx="1">
                  <c:v>12</c:v>
                </c:pt>
                <c:pt idx="2">
                  <c:v>14</c:v>
                </c:pt>
                <c:pt idx="3">
                  <c:v>18</c:v>
                </c:pt>
                <c:pt idx="4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0.6</c:v>
                </c:pt>
                <c:pt idx="2">
                  <c:v>0.4</c:v>
                </c:pt>
                <c:pt idx="3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97</c:v>
                </c:pt>
                <c:pt idx="2">
                  <c:v>94</c:v>
                </c:pt>
                <c:pt idx="3">
                  <c:v>91</c:v>
                </c:pt>
                <c:pt idx="4">
                  <c:v>88</c:v>
                </c:pt>
                <c:pt idx="5">
                  <c:v>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93</c:v>
                </c:pt>
                <c:pt idx="2">
                  <c:v>86</c:v>
                </c:pt>
                <c:pt idx="3">
                  <c:v>79</c:v>
                </c:pt>
                <c:pt idx="4">
                  <c:v>72</c:v>
                </c:pt>
                <c:pt idx="5">
                  <c:v>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100</c:v>
                </c:pt>
                <c:pt idx="1">
                  <c:v>89</c:v>
                </c:pt>
                <c:pt idx="2">
                  <c:v>78</c:v>
                </c:pt>
                <c:pt idx="3">
                  <c:v>68</c:v>
                </c:pt>
                <c:pt idx="4">
                  <c:v>59</c:v>
                </c:pt>
                <c:pt idx="5">
                  <c:v>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4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北部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</c:v>
                </c:pt>
                <c:pt idx="1">
                  <c:v>62</c:v>
                </c:pt>
                <c:pt idx="2">
                  <c:v>61</c:v>
                </c:pt>
                <c:pt idx="3">
                  <c:v>63</c:v>
                </c:pt>
                <c:pt idx="4">
                  <c:v>64</c:v>
                </c:pt>
                <c:pt idx="5">
                  <c:v>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西部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54</c:v>
                </c:pt>
                <c:pt idx="2">
                  <c:v>56</c:v>
                </c:pt>
                <c:pt idx="3">
                  <c:v>55</c:v>
                </c:pt>
                <c:pt idx="4">
                  <c:v>57</c:v>
                </c:pt>
                <c:pt idx="5">
                  <c:v>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東部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</c:v>
                </c:pt>
                <c:pt idx="1">
                  <c:v>64</c:v>
                </c:pt>
                <c:pt idx="2">
                  <c:v>58</c:v>
                </c:pt>
                <c:pt idx="3">
                  <c:v>52</c:v>
                </c:pt>
                <c:pt idx="4">
                  <c:v>47</c:v>
                </c:pt>
                <c:pt idx="5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中央部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43</c:v>
                </c:pt>
                <c:pt idx="3">
                  <c:v>46</c:v>
                </c:pt>
                <c:pt idx="4">
                  <c:v>49</c:v>
                </c:pt>
                <c:pt idx="5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買物の支援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40</c:v>
                </c:pt>
                <c:pt idx="3">
                  <c:v>41</c:v>
                </c:pt>
                <c:pt idx="4">
                  <c:v>40</c:v>
                </c:pt>
                <c:pt idx="5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外出の付添い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</c:v>
                </c:pt>
                <c:pt idx="1">
                  <c:v>30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通院の送迎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24</c:v>
                </c:pt>
                <c:pt idx="3">
                  <c:v>33</c:v>
                </c:pt>
                <c:pt idx="4">
                  <c:v>41</c:v>
                </c:pt>
                <c:pt idx="5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55</c:v>
                </c:pt>
                <c:pt idx="2">
                  <c:v>64</c:v>
                </c:pt>
                <c:pt idx="3">
                  <c:v>70</c:v>
                </c:pt>
                <c:pt idx="4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過去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210</c:v>
                </c:pt>
                <c:pt idx="1">
                  <c:v>198</c:v>
                </c:pt>
                <c:pt idx="2">
                  <c:v>186</c:v>
                </c:pt>
                <c:pt idx="3">
                  <c:v>131</c:v>
                </c:pt>
                <c:pt idx="4">
                  <c:v>152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直近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158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通勤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30</c:v>
                </c:pt>
                <c:pt idx="1">
                  <c:v>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通院・買物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12</c:v>
                </c:pt>
                <c:pt idx="1">
                  <c:v>16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観光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158</c:v>
                </c:pt>
                <c:pt idx="1">
                  <c:v>154</c:v>
                </c:pt>
                <c:pt idx="2">
                  <c:v>150</c:v>
                </c:pt>
                <c:pt idx="3">
                  <c:v>145</c:v>
                </c:pt>
                <c:pt idx="4">
                  <c:v>140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158</c:v>
                </c:pt>
                <c:pt idx="1">
                  <c:v>148</c:v>
                </c:pt>
                <c:pt idx="2">
                  <c:v>138</c:v>
                </c:pt>
                <c:pt idx="3">
                  <c:v>128</c:v>
                </c:pt>
                <c:pt idx="4">
                  <c:v>118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158</c:v>
                </c:pt>
                <c:pt idx="1">
                  <c:v>142</c:v>
                </c:pt>
                <c:pt idx="2">
                  <c:v>126</c:v>
                </c:pt>
                <c:pt idx="3">
                  <c:v>110</c:v>
                </c:pt>
                <c:pt idx="4">
                  <c:v>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"/>
          <c:min val="8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</c:v>
                </c:pt>
                <c:pt idx="1">
                  <c:v>37</c:v>
                </c:pt>
                <c:pt idx="2">
                  <c:v>35</c:v>
                </c:pt>
                <c:pt idx="3">
                  <c:v>48</c:v>
                </c:pt>
                <c:pt idx="4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</c:v>
                </c:pt>
                <c:pt idx="1">
                  <c:v>28</c:v>
                </c:pt>
                <c:pt idx="2">
                  <c:v>27</c:v>
                </c:pt>
                <c:pt idx="3">
                  <c:v>22</c:v>
                </c:pt>
                <c:pt idx="4">
                  <c:v>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</c:v>
                </c:pt>
                <c:pt idx="1">
                  <c:v>20</c:v>
                </c:pt>
                <c:pt idx="2">
                  <c:v>22</c:v>
                </c:pt>
                <c:pt idx="3">
                  <c:v>16</c:v>
                </c:pt>
                <c:pt idx="4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</c:v>
                </c:pt>
                <c:pt idx="1">
                  <c:v>15</c:v>
                </c:pt>
                <c:pt idx="2">
                  <c:v>16</c:v>
                </c:pt>
                <c:pt idx="3">
                  <c:v>14</c:v>
                </c:pt>
                <c:pt idx="4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2.4</c:v>
                </c:pt>
                <c:pt idx="2">
                  <c:v>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表紙。案件で使う際は、このファイルを案件名で別名保存し、最後に見本スライドを削除する。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パターンID：P01
使う場面：デッキ冒頭。各章のメッセージラインを太字1行＋根拠の数字1行に要約し、最後の提言だけを紺にする。行は本文の章と1対1に対応させる。
差し替え：章ごとの結論文・根拠の数字・提言。
作法：提言は塗りの箱で囲まず、紺の線と紺の文字で立てる（塗りに枠線を重ねない）。
参考ページID：BCG02-p3（画像はPCの参照ライブラリ/pages/）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パターンID：P02
使う場面：目次、各章の扉。当該章だけ紺・太字、他はグレー。目次は1列で並べる。
差し替え：章名。
参考ページID：MCK01-p8、BCG01-p10、MCK04-p3（画像はPCの参照ライブラリ/pages/）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パターンID：P03
使う場面：時系列の増減を示す。期間が少ない（〜10本）場合。言いたい期間の棒だけ紺、成長率を紺の注釈で1つだけ。
差し替え：系列データ（グラフ用シート）、成長率の値と範囲、見出し。
参考ページID：MCK03-p29（画像はPCの参照ライブラリ/pages/）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パターンID：P04
使う場面：大小・順位の比較。必ず降順。注目対象だけ紺、他はグレー。
差し替え：項目名と値（降順に並べ替える）、注目対象の位置。
参考ページID：MCK01-p5、MCK01-p33（画像はPCの参照ライブラリ/pages/）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パターンID：P05
使う場面：構成の変化。系列は5つ以内、グレーの濃淡で塗り分け、注目の1系列だけ紺。系列名は凡例でなく右端に直接書く。
差し替え：系列名・値、注目系列。
参考ページID：MCK01-p39、BCG02-p19（画像はPCの参照ライブラリ/pages/）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パターンID：P06
使う場面：増減の要因分解。始点・終点はGray2、要因はGray1、最大要因だけ紺。増減は「＋」「−」で示し、赤緑で塗り分けない。棒は図形で作図（編集可能）。要因の下に「全体の増減に占める割合」を丸の印で並べると、どの要因が効いているかが数字で読める（MCK04-p13）。割合の合計は100%になるよう検算する。
差し替え：要因名・値・割合。棒の高さは値に比例させて調整する。
参考ページID：MCK04-p13、MCK04-p17（画像はPCの参照ライブラリ/pages/）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パターンID：P07
使う場面：規模と構成の両方が議論に必要なときだけ使う。片方だけなら棒グラフで足りる。
差し替え：区分の幅（規模比）と分担率。対象の区画だけ紺。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パターンID：P08
使う場面：2変数の関係。注目点だけ紺、他はグレー。軸の名前と単位を必ず書く。
差し替え：X・Yの値、注目点。
参考ページID：MCK03-p21（画像はPCの参照ライブラリ/pages/）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パターンID：P09
使う場面：長い期間の推移、複数系列（3本まで）。対象だけ紺、他はグレー。凡例を使わず線の端に系列名を直接書く。
差し替え：系列データ、系列名。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パターンID：P10
使う場面：チャートから読み取るべき点が2〜3ある場合。チャート上の番号とキーメッセージ欄の番号を同じ図形のバッジで対応させる。
差し替え：チャートデータ、読み取り3点。
参考ページID：MCK01-p28、MCK02-p8（画像はPCの参照ライブラリ/pages/）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パターンID：P11
使う場面：Before/After、現状とあるべき姿、定量と定性など2つのエクジビットを並べる場合。必ず左右に並べ、上下に積まない。左右の見出しの線の高さと、行の高さ・上端をそろえる。結論側（右）だけ紺。
差し替え：左右の見出しと中身。
作法：項目を箱で囲まない。行の区切りは細い線、左右の対応は同じ行の高さで示す（H-1）。
参考ページID：MCK01-p11、MCK01-p92、MCK03-p26（画像はPCの参照ライブラリ/pages/）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パターンID：P12
使う場面：関係者の関係、お金・モノ・情報の流れ。要素は6つ以内、各12字以内。変化する箇所だけ紺。アイコンは templates/icons/ の線画（アイコン集を参照）を使い、紺にするのは変化する主体だけ。
差し替え：主体名、矢印のラベル。
参考ページID：MCK01-p10（画像はPCの参照ライブラリ/pages/）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パターンID：P13
使う場面：手順、スケジュール、段階的な実行。段階を矢羽で列見出しにし、左の行見出し（期間・取組・判断の基準・担い手）で中身を並べる。今回決める段階・判断点だけ紺。判断点は◆で示す。
差し替え：フェーズ名・期間・主な取組・判断の基準・担い手。
作法：矢羽の下に別内容を積まず、矢羽と1対1の列で書く（下半分を空けない）。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パターンID：P14
使う場面：要因の分解、論点整理。左から右へ。演算子（×＋）を明記。効いている枝だけ紺。線は交差させず、曲がりは1回まで。
差し替え：各ノードの名前・値。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パターンID：P15
使う場面：2軸での優先順位付け、ポジショニング。軸の名前と両端の意味、4つの象限それぞれの「どうするか」を書く。推奨象限だけ紺。
差し替え：軸の名前、項目と位置。
参考ページID：MCK03-p35（画像はPCの参照ライブラリ/pages/）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パターンID：P16
使う場面：選択肢・事例の構造的な比較。評価はハーベイボール（グレー）。推奨する列だけ紺の細枠。表は4列4行程度まで。使った段階はすべて凡例で定義する。
差し替え：選択肢名・基準・評価。評価基準は注記で定義する。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パターンID：P17
使う場面：先行事例の紹介。左に概要（背景・取組・体制・成功の鍵）、右に成果の数値。事例は「誰が作ったか・扱う規模・範囲・使っている人数」を入れる。成果の数値だけ紺。
差し替え：事例の各項目、成果の数値。
参考ページID：MCK02-p21、MCK03-p46、BCG01-p96（画像はPCの参照ライブラリ/pages/）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パターンID：P18
使う場面：アンケート結果。属性別の行を横の100%積上げで。設問文・n数・調査時期を必ず記載。注目の回答だけ紺。凡例はグラフの上に1行で置く。
差し替え：属性・回答割合・設問文。
参考ページID：MCK02-p58（画像はPCの参照ライブラリ/pages/）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パターンID：P19
使う場面：提言。グループに分け、番号を振って他ページから参照できるようにする。各施策は動詞で終える。実行時期を付ける。最優先の施策だけ紺。
差し替え：領域・施策・時期。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パターンID：P20
使う場面：主要な数値の並び（KPI）。3〜4個まで。最も言いたい数値だけ紺。各数値に「現状→目標」と算定の前提を添え、下半分を空けない。
差し替え：指標名・数値・現状と目標・前提。
参考ページID：MCK01-p29、MCK01-p38（画像はPCの参照ライブラリ/pages/）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パターンID：P21
使う場面：左の図（前提）から、右の読み取り（帰結）を導く。強い因果があるときだけ中央にグレーの三角を1つ置く。右の項目は左の図のどこの話かを番号で対応させる。
差し替え：左の図、右の読み取り3点。
参考ページID：MCK02-p9（画像はPCの参照ライブラリ/pages/）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パターンID：P22
使う場面：冒頭やエグゼクティブサマリーの前で、話の骨格を3段で示す。課題は「未達の原因」だけを書き、解決は課題と1対1で対応させる（同じ行に置く）。解決の列だけ紺。「Situation」などの枠組みの名前は紙面に出さない。
差し替え：各段の見出しと根拠2点。
作法：項目を箱で囲まず、見出しの線と行の線で組む。段の間の三角は見出しの行に1つずつ。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パターンID：P23
使う場面：課題と打ち手を1対1で対応させる。打ち手のない課題、課題のない打ち手を作らない。最優先の組だけ紺。
差し替え：課題、打ち手、効果の目安。
作法：課題と打ち手を箱で囲まず、行で対応させる。課題→打ち手の向きは見出しの行に三角を1つだけ置いて示し、行ごとに矢印を繰り返さない。
参考ページID：MCK01-p7、BCG01-p34（画像はPCの参照ライブラリ/pages/）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パターンID：P24
使う場面：工程・手順・変遷を左から右へ。4〜6工程。今回決める工程・最も重要な工程だけ紺。各工程の下に、期間・何をするか・誰がするか・終わりの条件を、工程と1対1の列で書く。
差し替え：工程名、期間、内容、担当、条件。
作法：矢羽の下に別の内容を積まない。下半分を空けず、行見出しで中身を並べる。
参考ページID：MCK01-p20、MCK02-p49、MCK03-p54（画像はPCの参照ライブラリ/pages/）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パターンID：P25
使う場面：作業ごとの期間と順序。全体の完了時期を決める作業（クリティカルパス）だけ紺。節目は◆で示す。作業は8行程度まで。時間のマスは等幅にし、バーは実際の開始・終了の位置に置く。
差し替え：作業名、開始・終了月、節目。
参考ページID：MCK01-p12、BCG01-p6（画像はPCの参照ライブラリ/pages/）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パターンID：P26
使う場面：複数の主体にまたがる業務の流れ。行＝主体（レーン）、左から右へ時間。導入前の現状に提案物を混ぜない。問題の工程だけ紺。
差し替え：レーン名、工程、矢印。
参考ページID：BCG02-p9、BCG02-p24（画像はPCの参照ライブラリ/pages/）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パターンID：P27
使う場面：将来の見通しに幅がある場合。左にシナリオ別の推移、右に各シナリオの前提。基本シナリオだけ紺、他はグレー。見通しの期間は「（予測）」と明記。
差し替え：シナリオの値、前提、維持ライン。
参考ページID：MCK04-p26、MCK05-p5（画像はPCの参照ライブラリ/pages/）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パターンID：P28
使う場面：どの前提が結論を左右するかを示す。影響の大きい順に上から並べる。最も影響の大きい前提だけ紺。基本ケースの値を中央線で示す。
差し替え：前提名、下振れ・上振れの値。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パターンID：P29
使う場面：結論の数字がどの数字の掛け算・足し算で決まるかを示す。演算子（＝×−＋）を明記し、各箱に値を書く。値は検算表と一致させる。動かすべきドライバーだけ紺。
差し替え：各ドライバーの名前と値、演算子。
参考ページID：MCK03-p40、MCK03-p67（画像はPCの参照ライブラリ/pages/）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パターンID：P30
使う場面：リスク・兆候・打ち手を一覧で示す。影響度の大きい順に並べる。最も影響の大きいリスクの行だけ紺。
差し替え：リスク、兆候（何を見れば分かるか）、影響度、打ち手。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パターンID：P31
使う場面：多数の項目×観点の強弱を一覧で示す。濃淡はグレー3段階、最も言いたい行（または列）だけ紺の枠で囲む。凡例で濃淡の意味を書く。
差し替え：行・列の名前、各セルの水準（1〜3）。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パターンID：P32
使う場面：会議で判断を求める。決めてほしいこと・選択肢と推奨・判断に必要な前提・決めた後の動きを1枚に。推奨案と「決めてほしいこと」だけ紺。依頼や合意事項がない資料では使わない。
差し替え：論点、案、推奨理由、前提、期限。
作法：「決めていただきたいこと」は淡い紺の帯で立てるが、帯に枠線を重ねない（塗りか枠のどちらか一方）。
参考ページID：MCK01-p19（画像はPCの参照ライブラリ/pages/）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パターンID：P33
使う場面：同じ図法・同じ目盛りで、切り口違い（地域・事業・顧客層）を並べて比べる。目盛りは必ずそろえる。注目の1枚だけ紺、他はグレー。
差し替え：各小図のデータと見出し。
参考ページID：MCK01-p62、MCK02-p13、BCG01-p85（画像はPCの参照ライブラリ/pages/）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パターンID：P34
使う場面：本文が11枚以上の資料の冒頭で、論点と章の対応を一望させる。後続ページの章名トラッカーと同じ番号・言葉を使う。最重要の論点だけ紺。
差し替え：論点、章、ページ範囲。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パターンID：P35
使う場面：問いを「答えを決める要素」で分解し、各論点の確かめ方（分析・データ）を右列に置く。進め方の順番ではなく答えの構造で分ける。答えを最も左右する論点だけ紺。
差し替え：問い、サブ論点、確かめ方。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パターンID：P36
使う場面：観点ごとに現状・目指す姿・差を並べ、打ち手の必要性を示す。差の列を設け、最も大きい差だけ紺。
差し替え：観点、現状値、目標値、差。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パターンID：P37
使う場面：打ち手ごとの効果額・着手時期・確度を一覧にする。効果の大きい順に並べ、合計を最下行に置く。最大の打ち手だけ紺。合計は検算する。
差し替え：打ち手、効果、時期、確度。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パターンID：P38
使う場面：2つの数値の対比だけで主張が伝わる場合。数値は大きく、算定の前提と内訳を下に添える。言いたい側の数値だけ紺。
差し替え：2つの数値、単位、内訳、前提。
作法：数値の下を空けない。比べる2つの数値の内訳を同じ行立てで並べ、差がどこにあるかを示す。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パターンID：P39
使う場面：割合を「100人中◯人」で直感的に示す。100個の点で表し、該当する点だけ紺。割合が1桁や90%台なら棒グラフの方がよい。右に内訳を添えて下を空けない。
差し替え：割合、設問、内訳の読み取り。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パターンID：P40
使う場面：規模の違いを面積で印象づける。円の面積を値に比例させる（直径ではない）。比較は2〜3個まで。正確な比較が必要なら棒グラフを使う。
差し替え：値（面積比で直径を計算）、ラベル。
参考ページID：MCK02-p17（画像はPCの参照ライブラリ/pages/）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パターンID：P41
使う場面：総量の推移と内訳の両方を示す。棒の上に合計値、系列名は右端に直接書く。注目の系列だけ紺。構成比だけを言いたいなら100%積上げ（P05）を使う。
差し替え：系列データ、合計、系列名。
参考ページID：MCK02-p14、MCK04-p30（画像はPCの参照ライブラリ/pages/）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パターンID：P42
使う場面：目指す姿・柱（施策群）・土台（共通基盤）の関係を示す。屋根の箱は使わず、線と文字で構造を表す。最重要の柱と、前提となる土台だけ紺。
差し替え：目指す姿、柱、土台。
参考ページID：BCG01-p25（画像はPCの参照ライブラリ/pages/）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パターンID：P43
使う場面：工程（列）×観点（行）で課題を一覧にする。課題のあるセルだけ短く書き、集中している工程の列を紺の枠で囲む。
差し替え：工程、観点、課題の短文。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パターンID：P44
使う場面：施策（行）×年度（列）で、いつ何をするかを示す。ガント（P25）より粗い計画向け。各セルは短い動詞句。鍵になるセルだけ淡い紺の面で立てる。
差し替え：施策、年度、取組。
作法：セルを1つずつ箱で囲まない。行の線と列の点線で区切り、立てるのは1か所だけ（H-1・H-4）。
参考ページID：MCK02-p40、BCG02-p44（画像はPCの参照ライブラリ/pages/）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パターンID：P45
使う場面：要素が互いに強め合う（または弱め合う）循環を示す。要素は4〜5個。循環の起点だけ紺。悪循環の場合は「断ち切る点」を紺にする。
差し替え：要素名、起点。
参考ページID：BCG01-p23、BCG01-p24（画像はPCの参照ライブラリ/pages/）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パターンID：P46
使う場面：業界の機能の連なりと、どこで価値（利益・費用）が生まれるかを示す。各段の下に値を置く。注目の段だけ紺。
差し替え：段の名前、配分、自社の位置。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パターンID：P47
使う場面：条件によって取るべき道が分かれることを示す。分岐の条件は数値の閾値で書く。今の時点で最も起こりやすい道、または推奨の道だけ紺。
差し替え：判断点、条件、それぞれの道と時期。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パターンID：P48
使う場面：外部動向（政策・技術・社会・競争）を4つ並べ、それぞれに数字1つと出所を添える。最も影響の大きい動向だけ紺。
差し替え：動向、数字、出所。
作法：4つの枠を箱で囲まない。各欄を「区分＋見出しの線」で始め、数字・説明・出所を同じ位置にそろえる（H-1）。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パターンID：P49
使う場面：冒頭で、結論がどの調査に基づくかを示し、信頼性を担保する。件数・期間・対象を数字で書き、各調査を本資料のどこで使ったかを添える。最も重い調査だけ紺。
差し替え：調査名、件数、期間、対象、使った箇所。
作法：数字の下を空けない。対象・時期・使った章を行見出しで並べる。
参考ページID：BCG01-p95、BCG02-p10（画像はPCの参照ライブラリ/pages/）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パターンID：P50
使う場面：定例報告で、取組ごとの状態を一覧にする。状態は記号と言葉で示し、信号色（赤黄緑）は使わない。遅れている取組の行だけ紺。
差し替え：取組、状態、進捗率、次の打ち手。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パターンID：P51
使う場面：画面操作の説明。左に画面（スクリーンショットをそのまま）、右に番号付きの手順。画面上の番号と手順の番号を対応させる。最重要の操作だけ紺。個人情報はぼかす。
差し替え：画面画像、手順。
作法：画像を入れる予定の灰色の面は作業中だけ。相手に出す版には残さない。
参考ページID：MCK02-p44、BCG02-p53（画像はPCの参照ライブラリ/pages/）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パターンID：P52
使う場面：複数の条件の重なりを示す。円は3つまで。円は塗らずに線で描き、重なりの中心（または注目の領域）だけ紺。各領域に数を書く。
差し替え：条件名、各領域の数。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パターンID：P53
使う場面：定量データを補う定性の根拠。発言は「」で短く引用し、発言者は属性で示す（個人名は出さない）。主張を最も端的に表す発言だけ紺。
差し替え：発言、属性。
参考ページID：MCK01-p93、BCG01-p36（画像はPCの参照ライブラリ/pages/）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パターンID：P54
使う場面：左に定量の図、右端の淡い縦帯に読み取りと示唆を集約する。公開資料（MCK02-p9、MCK04-p9・p17・p27）に多い構成。帯は2〜3つの段に分け、各段を「太字の一文（言いたいこと）＋本文2〜3行（根拠・例）」で書く。段の間は細い線で区切る。帯の中で紺にするのは結論の段の太字だけ。
差し替え：図のデータ、帯の各段。
参考ページID：MCK04-p9、MCK04-p17（画像はPCの参照ライブラリ/pages/）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パターンID：P55
使う場面：表のまま数値の大小も見せたいとき、数値の横に小さな横棒を入れ、基準値（平均＝100など）を縦の点線で示す。公開資料（MCK03-p42、MCK03-p38）に見られる表とグラフの折衷。最も弱い（強い）行だけ紺。
差し替え：指標名、指数、基準線の位置。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パターンID：P56
使う場面：会議資料の冒頭で、議題ごとの時間と狙いを示す。時間・議題・内容・資料の4列に、時間の配分を横棒で添える。山場の議題の行だけ紺の淡色。合計時間で締める。
参考ページID：MCK01-p90（画像はPCの参照ライブラリ/pages/）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パターンID：P57
使う場面：左に目的、右に設計上の工夫を置き、英字バッジで「どの工夫がどの目的に効くか」を対応させる。最も重い目的と、それに効く工夫のバッジだけ紺。工夫は動詞で書く。
参考ページID：MCK01-p89（画像はPCの参照ライブラリ/pages/）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パターンID：P58
使う場面：事例×枠組みの表に、該当するセルだけ印を付け、右端に詳細ページの番号を入れる。読み手は表で全体を見て、気になる事例だけ参考資料へ飛べる。最も多くの事例に共通する列だけ紺。
参考ページID：BCG01-p28（画像はPCの参照ライブラリ/pages/）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パターンID：P59
使う場面：候補を条件で順に落としていく過程を、1枚の表で見せる。条件を外れた行は文字をグレーにし、外れた条件のセルに×を置く。残った候補のうち推奨の行だけ紺。上に絞り込みの件数を矢印で示す。
参考ページID：BCG01-p12（画像はPCの参照ライブラリ/pages/）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パターンID：P60
使う場面：2時点（または2群）の差を、行ごとに点と線で示す。差の大きい順に並べ、変化の向きが一目で分かる。両端の値を点の外側に書く。注目する行だけ紺、他はグレー（前の時点は淡く、後の時点は濃く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パターンID：P61
使う場面：2時点の値と順位の入れ替わりを示す。左右に時点を置き、項目ごとに線で結ぶ。項目名と値は線の両端に直接書く（凡例は使わない）。注目する1本だけ紺の太線、他はグレーの細線。項目は5〜8本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パターンID：P62
使う場面：複数のKPIの実績を目標と並べて示す。淡いグレーの帯を目標までの長さ、濃い棒を実績、黒い縦線を目標値とする。達成率の数値を右に書く。最も遅れているKPIの棒だけ紺。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パターンID：P63
使う場面：多数の要因のうち少数が大半を占めることを示す。件数の降順に棒を並べ、累積構成比を折れ線で重ね、80%などの目安に点線を引く。対策を絞る上位の棒だけ紺。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パターンID：P64
使う場面：段階ごとに人数が減る過程を示し、どこで最も離れるかを特定する。棒は中央にそろえて段階順に積み、段階の間に移行率を書く。最も移行率の低い段階だけ紺。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パターンID：P65
使う場面：平均だけでは伝わらない、ばらつきや偏りを示す。階級ごとの件数を隙間の狭い縦棒で並べ、中央値（または平均）を縦の点線で示す。注目する階級だけ紺。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パターンID：P66
使う場面：利用者の行動を段階ごとに追い、各段階の接点・不満・打ち手を行で並べる。満足度の線で山と谷を見せる。不満が最も強い段階の列だけ紺の細枠。行は3〜4、段階は4〜6まで。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パターンID：P67
使う場面：意思決定・事務局・実行チームの関係と役割を示す。上下は指揮の関係、点線は助言の関係。各箱に役割を1行、主な構成員を1行書く。新設・変更する組織だけ紺。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パターンID：P68
使う場面：フェーズ（列）×作業の流れ（行）で、いつ何をするかを示す。各セルの棒に短い動詞句を書き、フェーズの境目の判断点を◆で示す。完了時期を決める作業の棒だけ紺。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パターンID：P69
使う場面：出来事の順番と間隔を示す。横の時間軸に年の目盛りを置き、出来事を上下交互に短く書く。期間のある出来事は軸の上に帯で示す。最も重要な出来事だけ紺の大きな点。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パターンID：P70
使う場面：選択肢を同じ項目の並びでカードにし、横に見比べられるようにする。項目の行は全カードで高さをそろえ、最も言いたい数値を大きく書く。推奨のカードだけ紺の枠と「推奨」の見出し。
参考ページID：MCK04-p6（画像はPCの参照ライブラリ/pages/）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パターンID：P71
使う場面：関係者を影響力（縦）と関心（横）の2軸に置き、誰をどう巻き込むかを示す。象限の名前を四隅に書き、動かしたい関係者には目指す位置への点線矢印を付ける。最優先の関係者だけ紺。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パターンID：P72
使う場面：全体マップ・イシューツリー・エグゼクティブサマリーで番号を振った論点を、各論のページで受けるとき。左1/4に「番号＋区分名＋この1枚の主張」、右3/4に根拠の図を置く。番号と区分名は一覧のページと一字一句そろえる。
差し替え：番号、区分名、主張、右の図。
作法：左のパネルを濃い塗りの箱にしない。紺の大きな番号と、パネルと図の間の紺の縦線で区切る（塗りの面を増やさない）。主張はメッセージラインの言い換えでなく、その根拠の一点を書く。
参考ページID：JNB01-p11（画像はPCの参照ライブラリ/pages/）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パターンID：P73
使う場面：項目ごとに増える分と減る分の両方があり、総量の差し引きだけでは中身が見えないとき。基準線の上に増える分、下に減る分を描き、左端に増減それぞれの合計を大きく置く。注目の1本だけ紺。
差し替え：項目、増加・減少の値、合計。
作法：増減を赤と緑で塗り分けない（＋−の符号と位置で示す）。合計は検算する。
参考ページID：JNB01-p23、MCK04-p31（画像はPCの参照ライブラリ/pages/）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パターンID：P74
使う場面：行（部門・地域）×列（段階）の件数を、円の面積で一覧にする。どの段階に件数が溜まっているかを一目で見せる。注目の円だけ紺。行と列の合計を端に置く。
差し替え：行・列の名前、件数。
作法：円の直径でなく面積を件数に比例させる。円の横に数字を書き、凡例に頼らない。
参考ページID：JNB01-p16（画像はPCの参照ライブラリ/pages/）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パターンID：P75
使う場面：項目が数十〜数百あり、少数の上位に量が集中している（裾が長く伸びる）ことを示す。全項目を多い順の細い棒で並べ、上位の区切りに線を引いて、その割合を注記する。上位の棒だけ紺。
差し替え：項目の値（多い順）、区切りの位置、注記。
作法：項目名は書かない（数が多く読めない）。読ませるのは形と区切りの注記。右に読み取りを置く。
参考ページID：JNB01-p17（画像はPCの参照ライブラリ/pages/）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パターンID：P76
使う場面：行を大分類で束ね、その中に小分類の行を入れ子にする一覧。大分類ごとの小計を添え、大分類どうしの比較を読ませる。注目の大分類だけ紺。
差し替え：大分類、メニュー、対象、費用。
作法：大分類を濃い塗りの箱にしない。大分類の名前と小計を左に置き、その範囲を縦の線で括る。大分類の間に全幅の線を1本、行の間は細い線（H-5）。
参考ページID：JNB01-p44（画像はPCの参照ライブラリ/pages/）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パターンID：P77
使う場面：課題ごとに原因を1段挟んで解決を示す。課題と解決を直接つなぐと「なぜその解決か」が飛ぶときに使う。行は課題ごと、列は課題・原因・解決。最も効く解決の行だけ紺。
差し替え：課題、原因、解決、費用。
作法：課題→原因→解決の向きは見出しの行に三角を1つずつ置いて示し、行ごとに矢印を繰り返さない。原因は「未達の事実」でなく仕組みを書く。
参考ページID：JNB01-p51（画像はPCの参照ライブラリ/pages/）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パターンID：P78
使う場面：同じ量を押し上げる要因と押し下げる要因が同時に働き、差し引きの向きを示したいとき。左に押し上げ要因、右に押し下げ要因を並べ、中央に向きの異なる矢羽を置く。差し引きを下に1行で書く。差し引きを決める側の合計だけ紺。
差し替え：要因、値、合計。
作法：要因の値は同じ単位・同じ期間でそろえ、合計を検算する。赤と緑で塗り分けない。
参考ページID：JNB01-p20（画像はPCの参照ライブラリ/pages/）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パターンID：P79
使う場面：同じ2〜3つの指標を、地区・部門などの行ごとに並べて比べ、行ごとの読み取りを右に添えるとき。行の見出し（アイコン＋名前）、指標ごとの小さな棒の列、読み取りの列を、行の区切り線でそろえる。公開資料（MCK04-p10・p11・p12）に多い構成。注目の1行だけ紺。
差し替え：行（地区）、指標、値、読み取り。
作法：指標の列ごとに基準線（0）と目盛りの縮尺をそろえ、値は棒の先に直接書く。読み取りは1行につき2行以内で、図の値と食い違うことを書かない。
参考ページID：MCK04-p10、MCK04-p12（画像はPCの参照ライブラリ/pages/）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パターンID：P80
使う場面：多数の打ち手を「どれだけ減らせるか（量）」と「1単位当たりいくらか（単価）」の両方で比べ、安い順に積み上げて、目標までに必要な打ち手と費用を示すとき。排出削減のコストカーブ（MACC）として公開資料（MCK04-p7・p15・p16）に多い。単価の安い順に左から並べ、棒の幅を量、高さを単価にする。
差し替え：打ち手、削減量、単価、目標の位置。
作法：0の線を必ず引き、0より下（費用が戻る打ち手）と上を分ける。目標の位置は縦の点線で示す。ラベルは棒の上下に引き出し線で付け、主な打ち手だけに絞る。棒の色は打ち手の種類で塗り分けず、注目の打ち手だけ紺。
参考ページID：MCK04-p7、MCK04-p15（画像はPCの参照ライブラリ/pages/）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記号集①。関連する型：P12 ポンチ絵、P45 循環サイクル、P47 分岐と判断、P71 関係者マップ。
図形はこのスライドからコピーして使う。色・太さの決まりは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記号集②。関連する型：P03 縦棒＋CAGR、P13 プロセス、P21 前提→帰結、P24 矢羽、P25 ガント、P60 ダンベル。
図形はこのスライドからコピーして使う。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記号集③。関連する型：P03 CAGR、P05 構成比、P06 ウォーターフォール、P29 計算ロジック、P36 差の表。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記号集④。関連する型：P16 評価表、P10 チャート＋キーメッセージ欄、P58 索引付きチェック表、P03 見通し。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1/4。関連する型：P12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2/4。関連する型：P12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3/4。関連する型：P12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4/4。関連する型：P12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パーツ集①（自作の書式 HG_pptFMT のパーツ集を指定色で描き直したもの）。関連する型：P11、P22、P23、T13、T17。
元の書式の赤・オレンジの箱は、指定色（rules B-3）に無いため入れていない。悪化・未達の強調は反対色の文字（#D73232）で示す。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パーツ集②。関連する型：P10、P29、P51、P57、T04、T09、T15。
丸数字（①）の文字は環境で崩れるため使わず、このスライドの図形をコピーする。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テンプレートID：T01
使う場面：目次、章扉（該当章だけ紺・太字）。対応する型：P02、P34。
本文が10枚以下なら目次・章扉は置かない（rules B-5）。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テンプレートID：T02
使う場面：報告書・提案書の冒頭の構成。対応する型：P34（全体マップ）。
章が8つを超えるなら、章を束ね直す。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テンプレートID：T03
使う場面：検討の冒頭で背景と目的を示す。対応する型：P21（前提→帰結）。
左右の見出しの線の高さをそろえる（rules H-10）。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テンプレートID：T04
使う場面：会議資料の冒頭。対応する型：P56（時間配分付きアジェンダ）。
ゴールは「何が決まれば終わりか」を書く。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テンプレートID：T05
使う場面：比較・一覧の表の基本。対応する型：P16、P36、P50。
行＝項目、列＝観点。最終行の下には線を引かない（rules H-5）。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テンプレートID：T06
使う場面：行の区分名を立てたい表。対応する型：P31、P55。
表側の塗りはGray1（#CCCCCC）。表頭は塗らない。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テンプレートID：T07
使う場面：列を束ねる見出しがある表（年度×区分など）。対応する型：P44。
上の段の線は、束ねる列の幅だけに引く。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テンプレートID：T08
使う場面：大分類×項目の一覧（制度・施策の棚卸し）。対応する型：P76（入れ子行の行列）。
枠線の箱は項目名の欄だけ（rules H-1 の例外：依頼者の書式）。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テンプレートID：T09
使う場面：番号で他のページから参照する項目の一覧。対応する型：P58、P72。
番号の図形は S06 からコピーする。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テンプレートID：T10
使う場面：数値の一覧。対応する型：P37、P55。
単位は見出しの括弧書きにまとめ、セルに単位を繰り返さない。西暦・年度には3桁区切りを付けない。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テンプレートID：T11
使う場面：工程（段階）ごとに観点別の中身を書く。対応する型：P13、P24、P43。
強調する工程があれば、その列の見出しの文字だけ紺にする。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テンプレートID：T12
使う場面：大分類×小分類×工程の3段の整理。対応する型：P43、P76。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テンプレートID：T13
使う場面：工程・手順と、その中身・説明。対応する型：P24（横の矢羽）、P51。
強調しないときは全工程をグレーにする。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テンプレートID：T14
使う場面：工程×2観点（課題と打ち手、現状と目指す姿など）。対応する型：P43、P66。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テンプレートID：T15
使う場面：試算の算式を示す。対応する型：P29（計算ロジック）。
各項の値は検算表と一致させる（rules D-4）。演算子は S06 からコピーする。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テンプレートID：T16
使う場面：論点・要因の分解。対応する型：P14（ロジックツリー）、P35（イシューツリー）。
分解は抜け漏れ・重複なく、3階層まで（rules C-3）。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テンプレートID：T17
使う場面：課題ごとの打手、事象ごとの対応。対応する型：P23（課題と打ち手の対応）、P77。
打手の左列に打手の名前、右列に中身を書く。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テンプレートID：T18
使う場面：課題と行動、事実と政策など、A→Bの関係。対応する型：P21、P23。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テンプレートID：T19
使う場面：前提情報と検討事項、事実とそれを踏まえた対応。対応する型：P21（前提→帰結）。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テンプレートID：T20
使う場面：グラフ・表から示唆を導く。対応する型：P21、P54（図＋右側の示唆帯）。
帯の中で紺にするのは結論の一文だけ。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テンプレートID：T21
使う場面：ヒアリングの発言、文書・法令の引用。対応する型：P53（現場の声）。
発言者は属性で示し、個人名は出さない（rules D-3）。引用は自分の主張が主、引用が従（著作権法32条）。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使用した型：P02（部扉）
完成例の部扉。案件で使う場合は削除する。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使用した型：表紙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使用した型：P01 エグゼクティブサマリー
エビデンスID：E-01〜E-12（各章の根拠）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使用した型：P34 全体マップ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使用した型：P49 調査の土台
エビデンスID：E-00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使用した型：P03 縦棒の時系列＋CAGR
エビデンスID：E-01（運行データ）
検算：158÷210＝0.752（25%減）、年平均−2.8%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使用した型：P05 100%積上げ
エビデンスID：E-02（定期券種別データ・アンケート）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使用した型：P27 シナリオ比較
エビデンスID：E-03（将来人口推計）・E-01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使用した型：P18 アンケート結果
エビデンスID：E-04（沿線住民アンケート）
検算：全体 41＋27＝68%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使用した型：P06 ウォーターフォール
エビデンスID：E-05（費目別決算）
検算：2.1＋1.9＋0.8＋0.5＋0.2−0.3＝5.2、1.9÷3.1＝61%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使用した型：P38 大型数値の対比
エビデンスID：E-05・E-06（同規模事業者の公表決算）
検算：14.8億円÷158万人＝937円、937÷620＝1.51。内訳 6.9億÷158万＝437、3.2億÷158万＝203、残り297。差 107＋83＝190（317の60%）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使用した型：P29 計算ロジック
エビデンスID：E-05
検算：9.6−14.8＝−5.2、158万人×513円＝8.1億円、5.2億円÷513円＝101万人、(158＋101)÷158＝1.64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使用した型：P28 感度分析
エビデンスID：E-05
検算：運賃収入8.1×10%＝0.81、人件費6.9×10%＝0.69、修繕費3.2×10%＝0.32、減価償却2.1×10%＝0.21、動力費1.4×10%＝0.14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使用した型：P16 評価表
エビデンスID：E-07（案別の試算）・E-08（ヒアリング）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使用した型：P12 ポンチ絵
エビデンスID：E-07
検算：施設費用＝修繕費3.2＋減価償却費2.1＝5.3億円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使用した型：P04 降順の横棒
エビデンスID：E-07
検算：案B 5.3−1.0−2.1＝2.2、案A 2030年度の赤字見込み6.3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使用した型：P37 打ち手の効果表
エビデンスID：E-09（増収策の試算）
検算：0.40＋0.30＋0.15＋0.10＋0.05＝1.00、会社収支 −5.2＋5.3−1.0＝−0.9 →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使用した型：P13 プロセス／ロードマップ
エビデンスID：E-10（手続きの所要期間）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使用した型：P20 数値ハイライト
エビデンスID：E-07・E-09
検算：6.3−2.2＝4.1、会社収支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使用した型：P30 リスク一覧
エビデンスID：E-07・E-08
検算：補助なしの実質負担＝5.3−1.0＝4.3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使用した型：P32 意思決定ページ
エビデンスID：E-07・E-10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 userDrawn="1">
          <p15:clr>
            <a:srgbClr val="F26B43"/>
          </p15:clr>
        </p15:guide>
        <p15:guide id="2" orient="horz" pos="935" userDrawn="1">
          <p15:clr>
            <a:srgbClr val="F26B43"/>
          </p15:clr>
        </p15:guide>
        <p15:guide id="3" pos="127" userDrawn="1">
          <p15:clr>
            <a:srgbClr val="F26B43"/>
          </p15:clr>
        </p15:guide>
        <p15:guide id="4" pos="6113" userDrawn="1">
          <p15:clr>
            <a:srgbClr val="F26B43"/>
          </p15:clr>
        </p15:guide>
        <p15:guide id="5" pos="312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chart" Target="..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0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Relationship Id="rId4" Type="http://schemas.openxmlformats.org/officeDocument/2006/relationships/chart" Target="../charts/chart13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image" Target="../media/image-68-5.png"/><Relationship Id="rId6" Type="http://schemas.openxmlformats.org/officeDocument/2006/relationships/image" Target="../media/image-6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image" Target="../media/image-80-3.png"/><Relationship Id="rId4" Type="http://schemas.openxmlformats.org/officeDocument/2006/relationships/image" Target="../media/image-8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image" Target="../media/image-86-3.png"/><Relationship Id="rId4" Type="http://schemas.openxmlformats.org/officeDocument/2006/relationships/image" Target="../media/image-86-4.png"/><Relationship Id="rId5" Type="http://schemas.openxmlformats.org/officeDocument/2006/relationships/image" Target="../media/image-86-5.png"/><Relationship Id="rId6" Type="http://schemas.openxmlformats.org/officeDocument/2006/relationships/image" Target="../media/image-86-6.png"/><Relationship Id="rId7" Type="http://schemas.openxmlformats.org/officeDocument/2006/relationships/image" Target="../media/image-86-7.png"/><Relationship Id="rId8" Type="http://schemas.openxmlformats.org/officeDocument/2006/relationships/image" Target="../media/image-86-8.png"/><Relationship Id="rId9" Type="http://schemas.openxmlformats.org/officeDocument/2006/relationships/image" Target="../media/image-86-9.png"/><Relationship Id="rId10" Type="http://schemas.openxmlformats.org/officeDocument/2006/relationships/image" Target="../media/image-86-10.png"/><Relationship Id="rId11" Type="http://schemas.openxmlformats.org/officeDocument/2006/relationships/image" Target="../media/image-86-11.png"/><Relationship Id="rId12" Type="http://schemas.openxmlformats.org/officeDocument/2006/relationships/image" Target="../media/image-86-12.png"/><Relationship Id="rId13" Type="http://schemas.openxmlformats.org/officeDocument/2006/relationships/image" Target="../media/image-86-13.png"/><Relationship Id="rId14" Type="http://schemas.openxmlformats.org/officeDocument/2006/relationships/image" Target="../media/image-86-14.png"/><Relationship Id="rId15" Type="http://schemas.openxmlformats.org/officeDocument/2006/relationships/image" Target="../media/image-86-15.png"/><Relationship Id="rId16" Type="http://schemas.openxmlformats.org/officeDocument/2006/relationships/image" Target="../media/image-86-16.png"/><Relationship Id="rId17" Type="http://schemas.openxmlformats.org/officeDocument/2006/relationships/image" Target="../media/image-86-17.png"/><Relationship Id="rId18" Type="http://schemas.openxmlformats.org/officeDocument/2006/relationships/image" Target="../media/image-86-18.png"/><Relationship Id="rId19" Type="http://schemas.openxmlformats.org/officeDocument/2006/relationships/image" Target="../media/image-86-19.png"/><Relationship Id="rId20" Type="http://schemas.openxmlformats.org/officeDocument/2006/relationships/image" Target="../media/image-8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image" Target="../media/image-87-3.png"/><Relationship Id="rId4" Type="http://schemas.openxmlformats.org/officeDocument/2006/relationships/image" Target="../media/image-87-4.png"/><Relationship Id="rId5" Type="http://schemas.openxmlformats.org/officeDocument/2006/relationships/image" Target="../media/image-87-5.png"/><Relationship Id="rId6" Type="http://schemas.openxmlformats.org/officeDocument/2006/relationships/image" Target="../media/image-87-6.png"/><Relationship Id="rId7" Type="http://schemas.openxmlformats.org/officeDocument/2006/relationships/image" Target="../media/image-87-7.png"/><Relationship Id="rId8" Type="http://schemas.openxmlformats.org/officeDocument/2006/relationships/image" Target="../media/image-87-8.png"/><Relationship Id="rId9" Type="http://schemas.openxmlformats.org/officeDocument/2006/relationships/image" Target="../media/image-87-9.png"/><Relationship Id="rId10" Type="http://schemas.openxmlformats.org/officeDocument/2006/relationships/image" Target="../media/image-87-10.png"/><Relationship Id="rId11" Type="http://schemas.openxmlformats.org/officeDocument/2006/relationships/image" Target="../media/image-87-11.png"/><Relationship Id="rId12" Type="http://schemas.openxmlformats.org/officeDocument/2006/relationships/image" Target="../media/image-87-12.png"/><Relationship Id="rId13" Type="http://schemas.openxmlformats.org/officeDocument/2006/relationships/image" Target="../media/image-87-13.png"/><Relationship Id="rId14" Type="http://schemas.openxmlformats.org/officeDocument/2006/relationships/image" Target="../media/image-87-14.png"/><Relationship Id="rId15" Type="http://schemas.openxmlformats.org/officeDocument/2006/relationships/image" Target="../media/image-87-15.png"/><Relationship Id="rId16" Type="http://schemas.openxmlformats.org/officeDocument/2006/relationships/image" Target="../media/image-87-16.png"/><Relationship Id="rId17" Type="http://schemas.openxmlformats.org/officeDocument/2006/relationships/image" Target="../media/image-87-17.png"/><Relationship Id="rId18" Type="http://schemas.openxmlformats.org/officeDocument/2006/relationships/image" Target="../media/image-87-18.png"/><Relationship Id="rId19" Type="http://schemas.openxmlformats.org/officeDocument/2006/relationships/image" Target="../media/image-87-19.png"/><Relationship Id="rId20" Type="http://schemas.openxmlformats.org/officeDocument/2006/relationships/image" Target="../media/image-87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image" Target="../media/image-88-3.png"/><Relationship Id="rId4" Type="http://schemas.openxmlformats.org/officeDocument/2006/relationships/image" Target="../media/image-88-4.png"/><Relationship Id="rId5" Type="http://schemas.openxmlformats.org/officeDocument/2006/relationships/image" Target="../media/image-88-5.png"/><Relationship Id="rId6" Type="http://schemas.openxmlformats.org/officeDocument/2006/relationships/image" Target="../media/image-88-6.png"/><Relationship Id="rId7" Type="http://schemas.openxmlformats.org/officeDocument/2006/relationships/image" Target="../media/image-88-7.png"/><Relationship Id="rId8" Type="http://schemas.openxmlformats.org/officeDocument/2006/relationships/image" Target="../media/image-88-8.png"/><Relationship Id="rId9" Type="http://schemas.openxmlformats.org/officeDocument/2006/relationships/image" Target="../media/image-88-9.png"/><Relationship Id="rId10" Type="http://schemas.openxmlformats.org/officeDocument/2006/relationships/image" Target="../media/image-88-10.png"/><Relationship Id="rId11" Type="http://schemas.openxmlformats.org/officeDocument/2006/relationships/image" Target="../media/image-88-11.png"/><Relationship Id="rId12" Type="http://schemas.openxmlformats.org/officeDocument/2006/relationships/image" Target="../media/image-88-12.png"/><Relationship Id="rId13" Type="http://schemas.openxmlformats.org/officeDocument/2006/relationships/image" Target="../media/image-88-13.png"/><Relationship Id="rId14" Type="http://schemas.openxmlformats.org/officeDocument/2006/relationships/image" Target="../media/image-88-14.png"/><Relationship Id="rId15" Type="http://schemas.openxmlformats.org/officeDocument/2006/relationships/image" Target="../media/image-88-15.png"/><Relationship Id="rId16" Type="http://schemas.openxmlformats.org/officeDocument/2006/relationships/image" Target="../media/image-88-16.png"/><Relationship Id="rId17" Type="http://schemas.openxmlformats.org/officeDocument/2006/relationships/image" Target="../media/image-88-17.png"/><Relationship Id="rId18" Type="http://schemas.openxmlformats.org/officeDocument/2006/relationships/image" Target="../media/image-88-18.png"/><Relationship Id="rId19" Type="http://schemas.openxmlformats.org/officeDocument/2006/relationships/image" Target="../media/image-88-19.png"/><Relationship Id="rId20" Type="http://schemas.openxmlformats.org/officeDocument/2006/relationships/image" Target="../media/image-88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image" Target="../media/image-89-3.png"/><Relationship Id="rId4" Type="http://schemas.openxmlformats.org/officeDocument/2006/relationships/image" Target="../media/image-89-4.png"/><Relationship Id="rId5" Type="http://schemas.openxmlformats.org/officeDocument/2006/relationships/image" Target="../media/image-89-5.png"/><Relationship Id="rId6" Type="http://schemas.openxmlformats.org/officeDocument/2006/relationships/image" Target="../media/image-89-6.png"/><Relationship Id="rId7" Type="http://schemas.openxmlformats.org/officeDocument/2006/relationships/image" Target="../media/image-89-7.png"/><Relationship Id="rId8" Type="http://schemas.openxmlformats.org/officeDocument/2006/relationships/image" Target="../media/image-89-8.png"/><Relationship Id="rId9" Type="http://schemas.openxmlformats.org/officeDocument/2006/relationships/image" Target="../media/image-89-9.png"/><Relationship Id="rId10" Type="http://schemas.openxmlformats.org/officeDocument/2006/relationships/image" Target="../media/image-89-10.png"/><Relationship Id="rId11" Type="http://schemas.openxmlformats.org/officeDocument/2006/relationships/image" Target="../media/image-89-11.png"/><Relationship Id="rId12" Type="http://schemas.openxmlformats.org/officeDocument/2006/relationships/image" Target="../media/image-89-12.png"/><Relationship Id="rId13" Type="http://schemas.openxmlformats.org/officeDocument/2006/relationships/image" Target="../media/image-89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chart" Target="..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94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パターン見本デッキ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consulting-slide-builder 用　80の型（P01〜P80）＋記号集・アイコン集・テンプレート集＋通しの完成例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使い方：伝えたいことを先に決め、合う型を選んで中身を差し替える。各スライドのノートに、パターンID・使う場面・差し替える箇所を記載。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名称・数値はすべて架空の見本（架空の「みなと市」のバス事業など）。成果物に残さないこと。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352044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みなと市のバス事業は利用減で年4.2億円の赤字にある。支線の予約型交通への転換と幹線の増便を組み合わせ、2030年度までに赤字を半減すべきである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注）収支は運行補助を含まない営業収支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利用者は10年で30%減り、赤字は年4.2億円に拡大した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根拠：年間利用者数 412万人→290万人、赤字 1.8億円→4.2億円（2015→2025年度）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赤字の7割は、利用の少ない支線12路線で生じている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根拠：路線別収支の分解で、支線の赤字は2.9億円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支線の予約型交通への転換が、効果と実現性の両面で最も優れる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根拠：4つの選択肢を4基準で評価し、4基準中3基準で最上位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支線12路線を2027年度から順次予約型交通に転換し、浮いた運転士で幹線を1時間3本に増やす。初年度に推進室を設け、収支と利用者数を四半期ごとに管理する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本資料はバス事業の赤字にどう対処するかに答えるため、現状・課題・打ち手・実行計画の順に示す。本章では赤字が膨らむ要因を明らかにする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75168" y="1691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1298128" y="1691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現状：バスの利用と収支の推移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75168" y="233172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5168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298128" y="2514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課題：赤字が膨らむ要因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75168" y="315468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168" y="3337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1298128" y="3337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打ち手：選択肢の評価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75168" y="397764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5168" y="4160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1298128" y="4160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実行計画：転換の手順と体制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75168" y="480060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75168" y="4983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1298128" y="4983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参考資料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予約型交通の利用者数は運行区域を広げた2019年度以降に年6.7%で増え、6.5万人に達した。支線の転換先として需要を受け止められる水準にある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注）1. 年度の延べ利用者数　2. 2019年度に運行区域を3地区に拡大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331720"/>
          <a:ext cx="625788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3355528" y="2286000"/>
            <a:ext cx="26060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2578288" y="190195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＋6.7%（2019→2025年度）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区域を広げた2019年度から伸びが加速した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2015→2019年度は年3.7%、2019→2025年度は年6.7%。拡大した3地区が増加の7割を占める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支線の転換先として受け止められる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支線12路線の利用者は年4.8万人で、予約型の6.5万人の4分の3に当たる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みなと市の住民1人当たりのバス利用は年14回で、類似8市の中で5位にとどまる。上位3市との差は運行本数で説明でき、増便の余地が大きい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住民1人当たりの年間バス利用回数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（回、類似8市、2025年度）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注）利用回数＝年間利用者数÷住民数。類似市は人口10〜20万人の8市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出所）国土交通省「地域交通統計」（2026年）を基に作成（名称・数値は架空の見本）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25788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上位3市の平均より9回少ない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上位3市の平均は23回、みなと市は14回。8市の平均（16回）も下回る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差は運行本数で説明できる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上位3市は人口千人当たりの1日運行本数が、みなと市の1.8倍（P08）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バス利用者に占める通院目的の割合は、10年で15%から32%へ17ポイント上がった。今後の路線は、病院への接続を軸に組み立てる必要がある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目的別のバス利用者の構成比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（%、2015・2020・2025年度）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注）利用目的は乗車時の聞き取り調査（各年度10月の平日1週間）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45720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64288" y="23317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864288" y="3063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864288" y="4069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864288" y="51206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4864288" y="3337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＋17pt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通院は10年で＋17pt、最も伸びた目的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通院の利用者は年62万人から93万人に増えた。70歳以上の人口が2割増えたことが主因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通学は−12pt、生徒数の減少が続く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沿線の高校生は10年で3割減った。2035年度には通学の割合が20%を下回る見込み（推計）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年間利用者数は10年で412万人から290万人に減り、減少の約8割は人口減少による。人口が減り続ける以上、路線網の維持だけを目標にはできない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注）人口減少の影響＝2015年度の1人当たり利用回数×人口の減少数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2157984"/>
            <a:ext cx="960120" cy="282549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5168" y="186537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372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435288" y="2157984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938208" y="2157984"/>
            <a:ext cx="960120" cy="65836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938208" y="186537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−96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84676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898328" y="2816352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205250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05250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401248" y="2816352"/>
            <a:ext cx="960120" cy="21259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401248" y="252374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30980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361368" y="3028950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>
            <a:off x="351554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51554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864288" y="2905506"/>
            <a:ext cx="960120" cy="1234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864288" y="261289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77284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824408" y="2905506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497858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97858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−15%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327328" y="2905506"/>
            <a:ext cx="960120" cy="8915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327328" y="261289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−13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623588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7287448" y="2994660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8" name="Shape 35"/>
          <p:cNvSpPr/>
          <p:nvPr/>
        </p:nvSpPr>
        <p:spPr>
          <a:xfrm>
            <a:off x="644162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44162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7790368" y="2994660"/>
            <a:ext cx="960120" cy="19888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7790368" y="270205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69892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383728" y="56692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減少に占める割合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200848" y="4983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沿線の移動の45%を占める通院で、みなとバスの分担率は15%にとどまる。最も大きな移動目的での存在感の低さが、利用減の根本にある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目的別の移動回数と交通手段の分担率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（幅＝移動回数の構成比、高さ＝分担率、2025年度）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注）移動回数は1日当たり。バス以外の分担率はパーソントリップ調査による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出所）沿線パーソントリップ調査（2025年）を基に作成（名称・数値は架空の見本）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92288" y="1965960"/>
            <a:ext cx="2198826" cy="128016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1965960"/>
            <a:ext cx="219882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92288" y="3246120"/>
            <a:ext cx="2198826" cy="91440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92288" y="3246120"/>
            <a:ext cx="21988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92288" y="4160520"/>
            <a:ext cx="2198826" cy="54864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2288" y="4160520"/>
            <a:ext cx="21988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92288" y="4709160"/>
            <a:ext cx="2198826" cy="91440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92288" y="4709160"/>
            <a:ext cx="21988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92288" y="5696712"/>
            <a:ext cx="21988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通院（45%）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491114" y="1965960"/>
            <a:ext cx="1465884" cy="73152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491114" y="1965960"/>
            <a:ext cx="14658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491114" y="2697480"/>
            <a:ext cx="1465884" cy="109728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491114" y="2697480"/>
            <a:ext cx="14658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491114" y="3794760"/>
            <a:ext cx="1465884" cy="109728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491114" y="3794760"/>
            <a:ext cx="14658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491114" y="4892040"/>
            <a:ext cx="1465884" cy="73152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491114" y="4892040"/>
            <a:ext cx="14658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491114" y="5696712"/>
            <a:ext cx="14658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通学（30%）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3956998" y="1965960"/>
            <a:ext cx="1221570" cy="146304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956998" y="1965960"/>
            <a:ext cx="122157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3956998" y="3429000"/>
            <a:ext cx="1221570" cy="73152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956998" y="3429000"/>
            <a:ext cx="12215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3956998" y="4160520"/>
            <a:ext cx="1221570" cy="91440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956998" y="4160520"/>
            <a:ext cx="12215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3956998" y="5074920"/>
            <a:ext cx="1221570" cy="54864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956998" y="5074920"/>
            <a:ext cx="12215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956998" y="5696712"/>
            <a:ext cx="12215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買物（25%）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288296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5288296" y="354787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5288296" y="42793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みなとバス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5288296" y="50474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通院は移動の45%、バスの分担率は15%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通院の移動は年620万回で、バスが運ぶのは93万回。残りの8割強は車と送迎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家族の送迎が通院の25%を担う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送迎する家族の6割が「負担が大きい」と回答した（アンケート、n＝1,200）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運行本数と1人当たりの利用回数には強い正の相関があり、みなと市は同規模の市より利用が少ない。本数を増やせば、利用も底上げできる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人口当たりの運行本数と1人当たりの年間利用回数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（n＝11市、2025年度）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注）1. 運行本数は平日1日の合計　2. 類似市は人口10〜20万人の11市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出所）国土交通省「地域交通統計」（2026年）を基に作成（名称・数値は架空の見本）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25788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200848" y="5806440"/>
            <a:ext cx="6257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（縦軸：1人当たり年間利用回数（回）　横軸：人口千人当たりの1日運行本数（本））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本数と利用回数の相関は強い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相関係数は0.97。千人当たりの本数が10本多いと、利用は年4回多い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みなと市は同規模の市より年5回少ない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本数は32本で11市の中位だが、利用は14回にとどまる。路線が利用の多い地区に合っていない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みなと市のバス利用は2015年以降一貫して減り、2025年には全国平均を26ポイント下回った。他市並みに戻すには、路線網の構造から見直す必要がある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1人当たりバス利用回数の推移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（2015年＝100、2015–2025年）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注）全国は乗合バス事業者の合計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出所）国土交通省「自動車輸送統計年報」（各年）を基に作成（名称・数値は架空の見本）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52578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504368" y="23317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 104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504368" y="2971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 97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504368" y="41605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 78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（−26pt）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2020年の落ち込みから戻っていない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全国と類似市は2021年以降に持ち直したが、みなと市は減り続けた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全国との差は10年で26ptに開いた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差の半分（12pt）は2020年以降の5年で開いた。減便が利用離れを招いている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幹線の運賃収入の伸びは2021年度以降に年0.8%まで鈍った。鈍化の原因は運転士の不足と家族の送迎の増加であり、いずれも市単独では解消できない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注）幹線は1日30便以上の4路線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5486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3273552" y="1920240"/>
            <a:ext cx="292608" cy="292608"/>
          </a:xfrm>
          <a:prstGeom prst="ellipse">
            <a:avLst/>
          </a:prstGeom>
          <a:solidFill>
            <a:srgbClr val="7F7F7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7355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142232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4223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001768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001768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72200" y="1965960"/>
            <a:ext cx="292608" cy="292608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17220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583680" y="194767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伸び率の鈍化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0" y="229514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2021年度以降の伸びは年0.8%（それまでは年5.1%）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172200" y="306324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172200" y="32918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17220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6583680" y="327355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6583680" y="362102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必要数の15%が欠員で、増便ができない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6172200" y="438912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172200" y="46177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172200" y="4617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6583680" y="459943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家族の送迎の増加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6583680" y="494690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通院の移動の25%を家族の送迎が担う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市とバス会社が予約受付や運行管理を別々に担い、重複する費用が年6,800万円生じている。窓口と管理を一元化すれば、重複の8割を削減できる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注）重複費用は2025年度の決算額を業務別に配分した試算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現状：業務別の重複費用（万円／年）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297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47168" y="1485000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一元化後の姿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47168" y="1832472"/>
            <a:ext cx="46576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03364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予約受付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618168" y="2285100"/>
            <a:ext cx="2253996" cy="27432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945316" y="203364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047168" y="203364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市とバス会社の窓口を予約センターに統合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836168" y="203364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−2,600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00848" y="290232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047168" y="290232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299376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618168" y="3245220"/>
            <a:ext cx="163220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323524" y="299376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047168" y="299376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配車と運転士の管理をバス会社に一本化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836168" y="299376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−1,900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00848" y="386244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047168" y="386244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3953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問合せ対応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1618168" y="4205340"/>
            <a:ext cx="932688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624008" y="395388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047168" y="395388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問合せも予約センターで一括して受ける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836168" y="39538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−900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00848" y="482256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047168" y="482256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91400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広報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618168" y="5165460"/>
            <a:ext cx="46634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157664" y="491400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047168" y="491400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市の広報誌に集約（費用は現状維持）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836168" y="491400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±0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4626544" y="3651671"/>
            <a:ext cx="130759" cy="261518"/>
          </a:xfrm>
          <a:custGeom>
            <a:avLst/>
            <a:gdLst/>
            <a:ahLst/>
            <a:cxnLst/>
            <a:rect l="l" t="t" r="r" b="b"/>
            <a:pathLst>
              <a:path w="130759" h="261518">
                <a:moveTo>
                  <a:pt x="0" y="0"/>
                </a:moveTo>
                <a:lnTo>
                  <a:pt x="130759" y="130759"/>
                </a:lnTo>
                <a:lnTo>
                  <a:pt x="0" y="2615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1" name="Shape 38"/>
          <p:cNvSpPr/>
          <p:nvPr/>
        </p:nvSpPr>
        <p:spPr>
          <a:xfrm>
            <a:off x="4724613" y="3660586"/>
            <a:ext cx="109659" cy="243688"/>
          </a:xfrm>
          <a:custGeom>
            <a:avLst/>
            <a:gdLst/>
            <a:ahLst/>
            <a:cxnLst/>
            <a:rect l="l" t="t" r="r" b="b"/>
            <a:pathLst>
              <a:path w="109659" h="243688">
                <a:moveTo>
                  <a:pt x="0" y="0"/>
                </a:moveTo>
                <a:lnTo>
                  <a:pt x="109659" y="121844"/>
                </a:lnTo>
                <a:lnTo>
                  <a:pt x="0" y="243688"/>
                </a:lnTo>
              </a:path>
            </a:pathLst>
          </a:custGeom>
          <a:ln w="26829">
            <a:solidFill>
              <a:srgbClr val="7F7F7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585583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6,800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5047168" y="5855832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削減　−5,400（79%）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新しい仕組みでは予約センターが市と交通事業者の間に入り、予約と委託料の流れを一本化する。利用者は1つの窓口で、すべての便を予約できる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91440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434840" y="2194560"/>
            <a:ext cx="100584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86200" y="3273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95528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0664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交通事業者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34840" y="457200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86200" y="56509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11680" y="3108960"/>
            <a:ext cx="2331720" cy="-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2402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委託料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32120" y="2788920"/>
            <a:ext cx="2331720" cy="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76072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予約データ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937760" y="411480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507492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400" dirty="0"/>
          </a:p>
        </p:txBody>
      </p:sp>
      <p:pic>
        <p:nvPicPr>
          <p:cNvPr id="26" name="Image 0" descr="building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880360"/>
            <a:ext cx="548640" cy="548640"/>
          </a:xfrm>
          <a:prstGeom prst="rect">
            <a:avLst/>
          </a:prstGeom>
        </p:spPr>
      </p:pic>
      <p:pic>
        <p:nvPicPr>
          <p:cNvPr id="27" name="Image 1" descr="netwo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423160"/>
            <a:ext cx="548640" cy="548640"/>
          </a:xfrm>
          <a:prstGeom prst="rect">
            <a:avLst/>
          </a:prstGeom>
        </p:spPr>
      </p:pic>
      <p:pic>
        <p:nvPicPr>
          <p:cNvPr id="28" name="Image 2" descr="b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2880360"/>
            <a:ext cx="548640" cy="548640"/>
          </a:xfrm>
          <a:prstGeom prst="rect">
            <a:avLst/>
          </a:prstGeom>
        </p:spPr>
      </p:pic>
      <p:pic>
        <p:nvPicPr>
          <p:cNvPr id="29" name="Image 3" descr="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48006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転換は2地区での検証から始め、2030年度に全支線で予約型交通に移る。最初の判断点は2027年度末で、利用者の8割が使い続ければ拡大に移る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注）判断点の基準値は試行の結果で見直す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334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40740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判断の基準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5111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18464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利用と費用を測る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407408"/>
            <a:ext cx="2055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みなと市・バス会社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拡大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2028〜29年度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支線を6路線ずつ転換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運転士を幹線へ再配置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1便当たり乗車 2.0人以上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バス会社・予約センター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本格展開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2030年度〜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全12支線で運行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 2.1億円以下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590288"/>
            <a:ext cx="310896" cy="310896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91616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判断点：2027年度末に、継続利用率で拡大の可否を決める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運賃収入の減少1.1億円のうち8割は、利用者数の減少で説明できる。中でも通学定期の減少の寄与が最も大きく、対策の優先度が最も高い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運賃収入の減少の要因分解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注）単価の影響＝利用者数を2015年度に固定したときの運賃収入の差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3429000"/>
            <a:ext cx="2103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34290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 −1.1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08960" y="2423160"/>
            <a:ext cx="219456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24231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 −0.9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108960" y="4434840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200400" y="44348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 −0.2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977640" y="3611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309360" y="1920240"/>
            <a:ext cx="329184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0" y="19202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通学定期の減少 −0.5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09360" y="269748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0" y="2697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高齢者の外出減 −0.4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309360" y="411480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41148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割引の拡大 −0.15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309360" y="498348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00800" y="4983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乗継ぎ割引 −0.05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303968" y="3712464"/>
            <a:ext cx="40249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706464" y="2706624"/>
            <a:ext cx="0" cy="100584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706464" y="2706624"/>
            <a:ext cx="40249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303968" y="3712464"/>
            <a:ext cx="40249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06464" y="3712464"/>
            <a:ext cx="0" cy="10058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706464" y="4718304"/>
            <a:ext cx="40249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303520" y="2706624"/>
            <a:ext cx="502920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806440" y="2203704"/>
            <a:ext cx="0" cy="50292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806440" y="2203704"/>
            <a:ext cx="502920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303520" y="270662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806440" y="2706624"/>
            <a:ext cx="0" cy="2743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806440" y="298094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03520" y="471830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06440" y="4398264"/>
            <a:ext cx="0" cy="3200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806440" y="439826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303520" y="471830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806440" y="4718304"/>
            <a:ext cx="0" cy="5486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806440" y="526694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検討した打ち手のうち効果も実現性も高いのは、支線の予約型交通への転換と幹線の増便である。まずこの2つに資源を集中し、残りは中期の課題とする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打ち手の優先順位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（縦軸：赤字の削減効果、横軸：2年以内の実現性）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注）効果は赤字の削減額（年）、実現性は2年以内に着手できるかで評価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498528" y="1965960"/>
            <a:ext cx="3383280" cy="19659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Shape 10"/>
          <p:cNvSpPr/>
          <p:nvPr/>
        </p:nvSpPr>
        <p:spPr>
          <a:xfrm>
            <a:off x="1115248" y="3931920"/>
            <a:ext cx="67665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98528" y="1965960"/>
            <a:ext cx="0" cy="3931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19659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大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56235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小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115248" y="5971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低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10208" y="5971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635688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最優先で着手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52408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中期で準備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252408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見送り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635688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手が空けば実施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321488" y="260604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568376" y="25511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772848" y="320040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019736" y="31455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幹線の増便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663888" y="2651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910776" y="2596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自動運転の導入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395408" y="338328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642296" y="33284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企業送迎との統合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38608" y="466344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385496" y="46085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運賃の見直し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755328" y="4937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002216" y="4882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車両の小型化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4つの選択肢を4基準で評価すると、予約型交通への転換が効果・費用・実現性で最も高い。リスク面の弱点は段階導入で補えるため、転換を推奨する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支線の扱いの選択肢の評価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注）評価の基準は参考資料（p.24）に記載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2011680"/>
          <a:ext cx="9504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2194560"/>
                <a:gridCol w="1828800"/>
                <a:gridCol w="18230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予約型へ転換（推奨）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路線の廃止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民間へ委託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858448" y="1965960"/>
            <a:ext cx="2194560" cy="402336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A町は支線を予約型交通に切り替え、3年で利用者数を38%増やした。成功の鍵は病院と商業施設を乗降地点に組み込んだことで、みなと市でも再現できる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事例：A町の予約型交通（人口2.8万人）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（2022年度〜）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注）人口・利用者数はA町の公表値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出所）A町「地域公共交通計画」（2025年）を基に作成（名称・数値は架空の見本）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81008" y="19659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路線バス4路線の利用が10年で半減した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80720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971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9718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4路線を予約型交通に切り替え、乗降地点を120か所に増やした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81304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9776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体制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81008" y="39776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町が運行を委託し、地元のタクシー2社が運行を担う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481888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49834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成功の鍵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81008" y="49834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運行前に病院と商業施設を乗降地点に組み込んだ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053008" y="1874520"/>
            <a:ext cx="365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成果（2021→2024年度）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053008" y="2221992"/>
            <a:ext cx="3651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053008" y="25146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6053008" y="2834640"/>
            <a:ext cx="365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＋38%</a:t>
            </a:r>
            <a:endParaRPr lang="en-US" sz="3600" dirty="0"/>
          </a:p>
        </p:txBody>
      </p:sp>
      <p:sp>
        <p:nvSpPr>
          <p:cNvPr id="27" name="Text 24"/>
          <p:cNvSpPr txBox="1"/>
          <p:nvPr/>
        </p:nvSpPr>
        <p:spPr>
          <a:xfrm>
            <a:off x="6053008" y="361188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1.9万人 → 2.6万人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053008" y="4160520"/>
            <a:ext cx="365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53008" y="43434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1便当たりの運行費用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053008" y="4663440"/>
            <a:ext cx="365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−24%</a:t>
            </a:r>
            <a:endParaRPr lang="en-US" sz="2800" dirty="0"/>
          </a:p>
        </p:txBody>
      </p:sp>
      <p:sp>
        <p:nvSpPr>
          <p:cNvPr id="31" name="Text 28"/>
          <p:cNvSpPr txBox="1"/>
          <p:nvPr/>
        </p:nvSpPr>
        <p:spPr>
          <a:xfrm>
            <a:off x="6053008" y="52578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8,300円 → 6,300円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住民の72%がバスの存続を望み、70代以上では77%に達する。存続の是非より、どう維持するかを議論すべき段階にある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バスを今後も残すべきと思うか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注）設問「今後もバスを残すべきだと思いますか」。無回答を除く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出所）みなと市「地域交通に関する住民アンケート」（2026年5月、n＝1,200）を基に作成（名称・数値は架空の見本）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625788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886648" y="1984248"/>
            <a:ext cx="164592" cy="1645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106104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2258248" y="1984248"/>
            <a:ext cx="164592" cy="16459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2477704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3629848" y="1984248"/>
            <a:ext cx="164592" cy="16459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3849304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001448" y="1984248"/>
            <a:ext cx="164592" cy="164592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220904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70代以上の77%が存続を望む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「そう思う」と「ややそう思う」の計。若い世代ほど低く、10〜20代は62%にとどまる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反対は全体の13%にとどまる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存続の是非ではなく、どの形で維持するかが議論の中心になる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赤字の半減に向け、収入・費用・体制の3領域で施策を提言する。効果の大きい予約型への転換と運転士の再配置は、2027年度に着手する必要がある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920240"/>
            <a:ext cx="822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267712"/>
            <a:ext cx="8223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着手時期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516128" y="226771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3957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収入を増やす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669728" y="23957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264088" y="23957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幹線を1時間3本に増やす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516128" y="23957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669728" y="28712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264088" y="28712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通院向けの定額乗車券を出す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516128" y="28712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3101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3456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費用を抑える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669728" y="3456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264088" y="34564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516128" y="3456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69728" y="3931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264088" y="3931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運転士を支線から幹線へ再配置する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516128" y="3931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669728" y="44074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264088" y="44074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車両の更新を小型車に切り替える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516128" y="44074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9926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体制を整える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669728" y="4992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3-1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264088" y="49926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市に交通の推進室を設ける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516128" y="49926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2669728" y="54681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3-2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264088" y="5468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収支と利用者数を四半期ごとに管理する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516128" y="54681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施策をすべて実行すると、2030年度の収支は年2.1億円改善し、利用者数も18%増える。収支の改善が最も大きく、事業の自立が視野に入る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（2030年度時点、2025年度比）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注）効果は2030年度時点の試算。CO₂は軽油の使用量から換算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38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38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38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 → −2.1億円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補足：予約型への転換と幹線の増便の効果を合算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714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714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714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 → 342万人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補足：幹線の増便による利用の増加を含む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90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CO₂排出量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−1,200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90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t／年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90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5,400 → 4,200t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補足：車両の小型化と走行距離の短縮による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66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運転士の余力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＋14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66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66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欠員15% → 充足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補足：支線から幹線への再配置による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赤字4.2億円の7割は支線12路線で生じている。対策の対象を支線に絞れば、限られた予算でも赤字を大きく減らせる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路線区分別の赤字（億円、2025年度）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805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480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4791136" y="3588106"/>
            <a:ext cx="160934" cy="321869"/>
          </a:xfrm>
          <a:custGeom>
            <a:avLst/>
            <a:gdLst/>
            <a:ahLst/>
            <a:cxnLst/>
            <a:rect l="l" t="t" r="r" b="b"/>
            <a:pathLst>
              <a:path w="160934" h="321869">
                <a:moveTo>
                  <a:pt x="0" y="0"/>
                </a:moveTo>
                <a:lnTo>
                  <a:pt x="160934" y="160934"/>
                </a:lnTo>
                <a:lnTo>
                  <a:pt x="0" y="321869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4" name="Shape 10"/>
          <p:cNvSpPr/>
          <p:nvPr/>
        </p:nvSpPr>
        <p:spPr>
          <a:xfrm>
            <a:off x="4911836" y="3599078"/>
            <a:ext cx="134965" cy="299923"/>
          </a:xfrm>
          <a:custGeom>
            <a:avLst/>
            <a:gdLst/>
            <a:ahLst/>
            <a:cxnLst/>
            <a:rect l="l" t="t" r="r" b="b"/>
            <a:pathLst>
              <a:path w="134965" h="299923">
                <a:moveTo>
                  <a:pt x="0" y="0"/>
                </a:moveTo>
                <a:lnTo>
                  <a:pt x="134965" y="149962"/>
                </a:lnTo>
                <a:lnTo>
                  <a:pt x="0" y="299923"/>
                </a:lnTo>
              </a:path>
            </a:pathLst>
          </a:custGeom>
          <a:ln w="33020">
            <a:solidFill>
              <a:srgbClr val="7F7F7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367208" y="1485000"/>
            <a:ext cx="433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367208" y="1832472"/>
            <a:ext cx="43376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367208" y="19659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687248" y="196596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赤字の7割は支線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5687248" y="233172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支線12路線だけで年2.9億円の赤字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5367208" y="304495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367208" y="329184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5687248" y="329184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幹線・循環線の赤字は小さい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5687248" y="365760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合わせて年1.3億円で、急ぐ必要は小さい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367208" y="437083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367208" y="461772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5687248" y="4617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対象を支線に絞る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5687248" y="498348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転換費用1.2億円で赤字を半減できる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バス事業を支えてきた通学需要は、生徒数の減少で崩れつつある。支線を予約型交通に転換すれば、5年で赤字を半減できる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23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20084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状況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これまでの前提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2088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通学の需要で、幹線も支線も乗客を確保できた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88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運賃収入で費用の8割を賄えた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2088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市の補助は年1億円で足りていた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231688" y="1771664"/>
            <a:ext cx="90526" cy="181051"/>
          </a:xfrm>
          <a:custGeom>
            <a:avLst/>
            <a:gdLst/>
            <a:ahLst/>
            <a:cxnLst/>
            <a:rect l="l" t="t" r="r" b="b"/>
            <a:pathLst>
              <a:path w="90526" h="181051">
                <a:moveTo>
                  <a:pt x="0" y="0"/>
                </a:moveTo>
                <a:lnTo>
                  <a:pt x="90526" y="90526"/>
                </a:lnTo>
                <a:lnTo>
                  <a:pt x="0" y="181051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21" name="Shape 18"/>
          <p:cNvSpPr/>
          <p:nvPr/>
        </p:nvSpPr>
        <p:spPr>
          <a:xfrm>
            <a:off x="3299582" y="1777837"/>
            <a:ext cx="75918" cy="168707"/>
          </a:xfrm>
          <a:custGeom>
            <a:avLst/>
            <a:gdLst/>
            <a:ahLst/>
            <a:cxnLst/>
            <a:rect l="l" t="t" r="r" b="b"/>
            <a:pathLst>
              <a:path w="75918" h="168707">
                <a:moveTo>
                  <a:pt x="0" y="0"/>
                </a:moveTo>
                <a:lnTo>
                  <a:pt x="75918" y="84353"/>
                </a:lnTo>
                <a:lnTo>
                  <a:pt x="0" y="168707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46028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346028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前提が崩れた原因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346028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46028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378032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生徒数が10年で35%減り、支線の乗客が半減した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346028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6028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378032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運転士の賃金上昇で、費用が年1.1億円増えた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346028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46028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78032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赤字が補助の上限を年3.2億円上回った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491128" y="1771664"/>
            <a:ext cx="90526" cy="181051"/>
          </a:xfrm>
          <a:custGeom>
            <a:avLst/>
            <a:gdLst/>
            <a:ahLst/>
            <a:cxnLst/>
            <a:rect l="l" t="t" r="r" b="b"/>
            <a:pathLst>
              <a:path w="90526" h="181051">
                <a:moveTo>
                  <a:pt x="0" y="0"/>
                </a:moveTo>
                <a:lnTo>
                  <a:pt x="90526" y="90526"/>
                </a:lnTo>
                <a:lnTo>
                  <a:pt x="0" y="181051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4" name="Shape 31"/>
          <p:cNvSpPr/>
          <p:nvPr/>
        </p:nvSpPr>
        <p:spPr>
          <a:xfrm>
            <a:off x="6559022" y="1777837"/>
            <a:ext cx="75918" cy="168707"/>
          </a:xfrm>
          <a:custGeom>
            <a:avLst/>
            <a:gdLst/>
            <a:ahLst/>
            <a:cxnLst/>
            <a:rect l="l" t="t" r="r" b="b"/>
            <a:pathLst>
              <a:path w="75918" h="168707">
                <a:moveTo>
                  <a:pt x="0" y="0"/>
                </a:moveTo>
                <a:lnTo>
                  <a:pt x="75918" y="84353"/>
                </a:lnTo>
                <a:lnTo>
                  <a:pt x="0" y="168707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71972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71972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とるべき打ち手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6719728" y="2216520"/>
            <a:ext cx="298512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71972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703976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支線を予約型交通に転換し、需要に合わせて運ぶ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671972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71972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703976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運転士を幹線に集め、1人当たりの乗客を増やす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671972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71972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703976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補助を転換費用に充て、5年で赤字を半減する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課題ごとに打ち手を対応させると、効果が最も大きいのは支線の予約型交通への転換である。他の打ち手より先に、ここへ資源を集中すべきである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課題と打ち手の対応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（効果は赤字の削減額、億円／年）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注）効果は赤字の削減額（年）。重複は除いて合計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8996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8996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21888" y="196596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521888" y="231343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205920" y="2052828"/>
            <a:ext cx="100584" cy="201168"/>
          </a:xfrm>
          <a:custGeom>
            <a:avLst/>
            <a:gdLst/>
            <a:ahLst/>
            <a:cxnLst/>
            <a:rect l="l" t="t" r="r" b="b"/>
            <a:pathLst>
              <a:path w="100584" h="201168">
                <a:moveTo>
                  <a:pt x="0" y="0"/>
                </a:moveTo>
                <a:lnTo>
                  <a:pt x="100584" y="100584"/>
                </a:lnTo>
                <a:lnTo>
                  <a:pt x="0" y="20116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4281358" y="2059686"/>
            <a:ext cx="84353" cy="187452"/>
          </a:xfrm>
          <a:custGeom>
            <a:avLst/>
            <a:gdLst/>
            <a:ahLst/>
            <a:cxnLst/>
            <a:rect l="l" t="t" r="r" b="b"/>
            <a:pathLst>
              <a:path w="84353" h="187452">
                <a:moveTo>
                  <a:pt x="0" y="0"/>
                </a:moveTo>
                <a:lnTo>
                  <a:pt x="84353" y="93726"/>
                </a:lnTo>
                <a:lnTo>
                  <a:pt x="0" y="187452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46888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20888" y="246888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通学需要の減少で、支線の乗客が半減した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9968" y="24688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521888" y="246888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200848" y="34747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356616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20888" y="356616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運転士の不足で、幹線を増便できない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589968" y="356616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支線の運転士を幹線へ再配置する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521888" y="356616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466344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20888" y="466344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予約と案内が事業者ごとに分かれている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589968" y="46634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予約センターで窓口を一本化する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4589968" y="5760720"/>
            <a:ext cx="511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2.4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導入は1年で進め、利用者に影響が出るのは2027年1月の試行からである。12月までに車両と運転士を揃えることが、計画どおり進む条件となる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導入の工程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（2026年4月〜2027年4月）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2095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やること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1239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17880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472744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終わりの条件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343848" y="1938528"/>
            <a:ext cx="1781928" cy="56692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599880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現状把握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453576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4〜6月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53576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乗降データで利用の実態を調べる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453576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 交通政策課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453576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支線ごとの需要が分かる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988616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244648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設計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098344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7〜9月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098344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運行区域と予約のルールを決める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098344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098344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協議会で承認される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633384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89416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準備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743112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10〜12月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743112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車両と運転士を用意する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743112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43112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車両8台と運転士10人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6278152" y="1938528"/>
            <a:ext cx="1781928" cy="566928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534184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試行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387880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2027年1〜3月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387880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387880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387880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継続利用率80%以上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22920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8178952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本格運用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032648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2027年4月〜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032648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支線に順次広げる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8032648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032648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00848" y="5687568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試行の開始条件：12月末までに車両8台と運転士10人を揃えること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全体の完了時期は、最も長い予約システムの整備で決まる。整備に着手する6月までに予算を確定できるかが、計画の成否を分ける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スケジュール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注）◆は判断の時期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7611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3398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5月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398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9184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6月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9184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4970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970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57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757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543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9月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543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330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10月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2330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116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11月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8116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902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12月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3902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689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1月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9689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5475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2月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5475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1262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3月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91262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00848" y="224028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2377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利用実態の調査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788600" y="2450592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2852928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2944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予約システムの整備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945880" y="3017520"/>
            <a:ext cx="4574256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200848" y="3419856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5112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事業者との協議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3367240" y="3584448"/>
            <a:ext cx="283833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200848" y="3986784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00848" y="4078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運行規程の改定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5681800" y="4151376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00848" y="4553712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6451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2地区での試行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7996360" y="4718304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200848" y="52120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効果の検証</a:t>
            </a:r>
            <a:endParaRPr lang="en-US" sz="1400" dirty="0"/>
          </a:p>
        </p:txBody>
      </p:sp>
      <p:sp>
        <p:nvSpPr>
          <p:cNvPr id="52" name="Shape 49"/>
          <p:cNvSpPr/>
          <p:nvPr/>
        </p:nvSpPr>
        <p:spPr>
          <a:xfrm>
            <a:off x="8575000" y="5285232"/>
            <a:ext cx="110241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6104992" y="5833872"/>
            <a:ext cx="256032" cy="256032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4733392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協議の合意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9448816" y="5833872"/>
            <a:ext cx="256032" cy="256032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8077216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本格運用の判断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利用登録の手続きは完了まで平均18日かかり、遅れの大半はバス会社での確認待ちで生じている。ここが手続きを短くする焦点となる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（導入前の現状）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注）所要日数は2025年度の申請120件の平均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福祉課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2024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92288" y="192024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92288" y="324612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市の窓口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457200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92288" y="457200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19202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572448" y="1920240"/>
            <a:ext cx="0" cy="3977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70960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75532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5260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92118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211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298976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03548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13276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20134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20134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269928" y="4914900"/>
            <a:ext cx="1143000" cy="6400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1564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内容の確認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129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150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8150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555008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59580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補正の依頼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6930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76166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76166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683024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87596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書類の再提出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7324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041828" y="2583180"/>
            <a:ext cx="0" cy="26517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0418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8110408" y="491490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15612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3995608" y="55915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確認待ち 平均11日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利用者数は基本シナリオでも2050年度に3割以上減る。どのシナリオでも維持に必要な水準を下回り、今の路線網の見直しは避けられない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注）人口は国立社会保障・人口問題研究所の推計（2023年）を基に補正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28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利用者数の見通し（2025年度＝100、2050年度まで予測）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394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572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3375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1605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870128" y="1485000"/>
            <a:ext cx="383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各シナリオの前提（2050年度）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870128" y="1832472"/>
            <a:ext cx="3834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70128" y="1965960"/>
          <a:ext cx="3834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0160"/>
                <a:gridCol w="146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870128" y="4526280"/>
            <a:ext cx="3834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870128" y="4663440"/>
            <a:ext cx="383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今の路線網の維持には、2025年度比80以上の利用者数が要る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収支を最も左右する前提は利用者数で、±10%の変動で収支が年4,000万円前後動く。本格投資の前に、利用者数を試行で確かめるべきである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前提が±10%変動したときの収支の変化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（百万円／年、基本ケース＝−210）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注）各前提を基本ケースから±10%動かし、他は固定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20964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下振れ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8708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上振れ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560777" y="2350008"/>
            <a:ext cx="1843430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4404208" y="2350008"/>
            <a:ext cx="1667866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874977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117793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運賃単価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3306928" y="3099816"/>
            <a:ext cx="109728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4404208" y="3099816"/>
            <a:ext cx="109728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62112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54720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運転士の人件費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614166" y="3849624"/>
            <a:ext cx="79004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4404208" y="3849624"/>
            <a:ext cx="65836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928366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108296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＋15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燃料費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3965296" y="4599432"/>
            <a:ext cx="43891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4404208" y="4599432"/>
            <a:ext cx="395021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3279496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4844948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184752" y="5349240"/>
            <a:ext cx="2194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4404208" y="5349240"/>
            <a:ext cx="175565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498952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625492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40420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672688" y="6080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利用者数の±10%で収支が約4,000万円動く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下振れ−42・上振れ＋38百万円で、2位の運賃単価（±25）の1.6倍に当たる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試行で利用者数を確かめてから投資する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2地区の試行（2027年）で継続利用率80%以上を確かめ、本格投資の判断の基準にする（P47）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赤字4.2億円は、利用者数×単価で決まる収入が費用を下回るためである。単価を据え置くなら、黒字化には利用者数を188万人増やす必要がある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注）1. 2025年度決算　2. 単価＝運賃収入÷利用者数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2029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486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578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315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772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864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864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401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488" y="3657600"/>
            <a:ext cx="182880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0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40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290万人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57828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3035488" y="365760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126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126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224円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663888" y="3474720"/>
            <a:ext cx="2286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663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949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04716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13860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13860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7.4億円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651020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696740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05884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05884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3.3億円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5778688" y="3474720"/>
            <a:ext cx="2194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7786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97324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00848" y="4892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00848" y="502920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黒字化に必要な利用者数：＋188万人（4.2億円÷224円。単価据え置きの場合）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最も影響が大きいリスクは、予約型の利用者が想定を下回ることである。兆候を試行の初月から毎月確かめ、発生時はすぐ定時便に戻せるよう備える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利用者が想定を下回る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月次の利用者数が計画比90%未満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一部の地区を定時便に戻す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費用が膨らむ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四半期の費用が予算比110%超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委託先の調達を見直す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事業者の合意が遅れる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協議の開催が計画から1か月遅延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市長名で協議を申し入れる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運転士が集まらない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応募数が募集枠の半数未満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タクシー事業者に委託する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東部は需要・採算・担い手のいずれも弱く、6地区の中で課題が最も集中している。支援の優先順位は、東部を最上位に置くべきである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地区別・観点別の状況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（色が濃いほど課題が大きい、2025年度）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注）各観点の評価基準は参考資料（p.26）に記載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46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89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採算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75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418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377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874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Shape 16"/>
          <p:cNvSpPr/>
          <p:nvPr/>
        </p:nvSpPr>
        <p:spPr>
          <a:xfrm>
            <a:off x="3017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Shape 17"/>
          <p:cNvSpPr/>
          <p:nvPr/>
        </p:nvSpPr>
        <p:spPr>
          <a:xfrm>
            <a:off x="4160200" y="240487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5303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446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00848" y="298094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874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3017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Shape 23"/>
          <p:cNvSpPr/>
          <p:nvPr/>
        </p:nvSpPr>
        <p:spPr>
          <a:xfrm>
            <a:off x="4160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Shape 24"/>
          <p:cNvSpPr/>
          <p:nvPr/>
        </p:nvSpPr>
        <p:spPr>
          <a:xfrm>
            <a:off x="5303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6446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358444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874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3017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2" name="Shape 29"/>
          <p:cNvSpPr/>
          <p:nvPr/>
        </p:nvSpPr>
        <p:spPr>
          <a:xfrm>
            <a:off x="4160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5303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6446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00848" y="41879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874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Shape 34"/>
          <p:cNvSpPr/>
          <p:nvPr/>
        </p:nvSpPr>
        <p:spPr>
          <a:xfrm>
            <a:off x="3017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4160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9" name="Shape 36"/>
          <p:cNvSpPr/>
          <p:nvPr/>
        </p:nvSpPr>
        <p:spPr>
          <a:xfrm>
            <a:off x="5303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Shape 37"/>
          <p:cNvSpPr/>
          <p:nvPr/>
        </p:nvSpPr>
        <p:spPr>
          <a:xfrm>
            <a:off x="6446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00848" y="47914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874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3017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4160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Shape 42"/>
          <p:cNvSpPr/>
          <p:nvPr/>
        </p:nvSpPr>
        <p:spPr>
          <a:xfrm>
            <a:off x="5303200" y="4818888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6" name="Shape 43"/>
          <p:cNvSpPr/>
          <p:nvPr/>
        </p:nvSpPr>
        <p:spPr>
          <a:xfrm>
            <a:off x="6446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200848" y="53949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1874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9" name="Shape 46"/>
          <p:cNvSpPr/>
          <p:nvPr/>
        </p:nvSpPr>
        <p:spPr>
          <a:xfrm>
            <a:off x="3017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0" name="Shape 47"/>
          <p:cNvSpPr/>
          <p:nvPr/>
        </p:nvSpPr>
        <p:spPr>
          <a:xfrm>
            <a:off x="4160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5303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6446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3" name="Shape 50"/>
          <p:cNvSpPr/>
          <p:nvPr/>
        </p:nvSpPr>
        <p:spPr>
          <a:xfrm>
            <a:off x="200848" y="3566160"/>
            <a:ext cx="7360920" cy="640080"/>
          </a:xfrm>
          <a:prstGeom prst="rect">
            <a:avLst/>
          </a:prstGeom>
          <a:ln w="22225">
            <a:solidFill>
              <a:srgbClr val="000F7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018968" y="196596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凡例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8018968" y="2313432"/>
            <a:ext cx="1685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018968" y="2514600"/>
            <a:ext cx="320040" cy="2743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8430448" y="24871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大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8018968" y="2971800"/>
            <a:ext cx="320040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8430448" y="29443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中</a:t>
            </a:r>
            <a:endParaRPr lang="en-US" sz="1400" dirty="0"/>
          </a:p>
        </p:txBody>
      </p:sp>
      <p:sp>
        <p:nvSpPr>
          <p:cNvPr id="60" name="Shape 57"/>
          <p:cNvSpPr/>
          <p:nvPr/>
        </p:nvSpPr>
        <p:spPr>
          <a:xfrm>
            <a:off x="8018968" y="3429000"/>
            <a:ext cx="320040" cy="2743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8430448" y="34015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小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8018968" y="388620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63" name="Shape 60"/>
          <p:cNvSpPr/>
          <p:nvPr/>
        </p:nvSpPr>
        <p:spPr>
          <a:xfrm>
            <a:off x="8018968" y="4233672"/>
            <a:ext cx="1685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018968" y="4389120"/>
            <a:ext cx="168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東部は5観点中3観点で課題が大きい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本日は支線の扱いについて、予約型交通への転換の採用をご判断いただきたい。転換案は費用と効果の釣り合いが最も良く、2028年度に効果が出る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33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00848" y="1485000"/>
            <a:ext cx="86810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852608" y="1485000"/>
            <a:ext cx="584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支線12路線を予約型交通に転換し、2027年4月に1地区目の試行を始めること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0576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現状維持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846768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路線と便数を変えない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12728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小／効果 小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10576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予約型へ転換（推奨）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846768" y="3749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支線を予約型交通にする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12728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中／効果 大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10576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路線の廃止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846768" y="470916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支線をやめ通院は補助で対応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812728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大／効果 中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転換費用は5年で1.2億円まで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協議会で事業者3社が合意すること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効果の算定方法は参考資料p.24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2026年12月　推進室の立ち上げ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　1地区目の試行開始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　効果の中間報告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バスの利用者が減り続けているのは4地区中で東部だけで、他は横ばいか増加である。東部に固有の要因を特定する必要がある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（万人、2015–2025年度、縦軸はすべて同じ目盛り）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1450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145017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4" name="Chart 0" descr=""/>
          <p:cNvGraphicFramePr/>
          <p:nvPr/>
        </p:nvGraphicFramePr>
        <p:xfrm>
          <a:off x="200848" y="2377440"/>
          <a:ext cx="145017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200848" y="5669280"/>
            <a:ext cx="14501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＋6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788178" y="1920240"/>
            <a:ext cx="1450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1788178" y="2267712"/>
            <a:ext cx="145017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8" name="Chart 1" descr=""/>
          <p:cNvGraphicFramePr/>
          <p:nvPr/>
        </p:nvGraphicFramePr>
        <p:xfrm>
          <a:off x="1788178" y="2377440"/>
          <a:ext cx="145017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1788178" y="5669280"/>
            <a:ext cx="14501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＋3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375508" y="1920240"/>
            <a:ext cx="1450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3375508" y="2267712"/>
            <a:ext cx="145017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graphicFrame>
        <p:nvGraphicFramePr>
          <p:cNvPr id="22" name="Chart 2" descr=""/>
          <p:cNvGraphicFramePr/>
          <p:nvPr/>
        </p:nvGraphicFramePr>
        <p:xfrm>
          <a:off x="3375508" y="2377440"/>
          <a:ext cx="145017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Text 17"/>
          <p:cNvSpPr txBox="1"/>
          <p:nvPr/>
        </p:nvSpPr>
        <p:spPr>
          <a:xfrm>
            <a:off x="3375508" y="5669280"/>
            <a:ext cx="14501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−29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4962838" y="1920240"/>
            <a:ext cx="1450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4962838" y="2267712"/>
            <a:ext cx="145017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6" name="Chart 3" descr=""/>
          <p:cNvGraphicFramePr/>
          <p:nvPr/>
        </p:nvGraphicFramePr>
        <p:xfrm>
          <a:off x="4962838" y="2377440"/>
          <a:ext cx="145017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4962838" y="5669280"/>
            <a:ext cx="14501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＋12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減り続けているのは東部だけ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東部は10年で70万人から41万人に減った（−41%）。他の3地区は横ばいか増加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東部では通学の利用が半分になった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沿線の高校の統合（2016年）以降、東部の通学の利用は10年で半分に減った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本資料は4つの論点に、論点ごとに現状・課題・打ち手の順で答える。最も重要なのは論点3の支線の扱いであり、第3章で詳しく扱う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本資料の全体マップ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35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920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49268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56340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63412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677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2288" y="239572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利用はどこまで減るか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9268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p.4–6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56340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p.7–8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63412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200848" y="3127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92288" y="326440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赤字の原因はどこにあるか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49268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p.10–11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56340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p.12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63412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p.13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200848" y="39959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4059936"/>
            <a:ext cx="9504000" cy="73152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92288" y="413308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論点3　支線をどう扱うか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49268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p.14–16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56340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p.17–19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63412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p.20–22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00848" y="486460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92288" y="500176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論点4　誰がどう運営するか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49268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p.23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56340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763412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p.25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200848" y="589788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注）網かけは最も重要な論点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「支線を残すべきか」には需要・費用・担い手の3つを確かめれば答えられる。答えを最も左右するのは需要であり、調査の資源をここに厚く配分する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論点の分解と確かめ方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36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00848" y="3566160"/>
            <a:ext cx="2103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8008" y="3566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残すべきか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44048" y="19202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答えを決める論点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944048" y="2267712"/>
            <a:ext cx="2926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44448" y="1920240"/>
            <a:ext cx="356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確かめ方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448" y="2267712"/>
            <a:ext cx="3560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944048" y="2377440"/>
            <a:ext cx="292608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081208" y="23774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需要は維持できるか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624008" y="2834640"/>
            <a:ext cx="3200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144448" y="237744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人口推計×利用率で2050年までを試算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144448" y="342900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944048" y="356616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081208" y="35661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費用は賄えるか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62400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144448" y="356616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費目別の10年推移と他市の単価を比較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6144448" y="461772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944048" y="475488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081208" y="4754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担い手を確保できるか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624008" y="521208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144448" y="475488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事業者と運転士へのヒアリング（20件）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3つの観点すべてで目指す姿との差があり、最も大きいのは1便当たりの乗車人数の差である。この差を埋める打ち手を最優先で講じるべきである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現状と目指す姿の差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（2025年度時点、目指す姿は2030年度）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注）目指す姿は「地域公共交通計画」（2026年）の目標値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37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645920"/>
                <a:gridCol w="292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観点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目指す姿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1便当たりの乗車人数（人）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＋0.8（＋67%）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運賃で賄う費用の割合（%）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＋19pt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運転士の欠員（人）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5つの打ち手で年2.4億円の収支改善が見込め、その6割を予約型交通への転換が占める。転換の実現性が、全体の成否を決める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打ち手ごとの効果と時期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注）効果は2030年度時点の年額。打ち手の間の重複は除いた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38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914400"/>
                <a:gridCol w="2926080"/>
                <a:gridCol w="1280160"/>
                <a:gridCol w="13658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着手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支線の予約型交通への転換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運転士の再配置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予約センターの一本化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通院向け定額乗車券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車両の小型化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2029年度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269928" y="2514600"/>
            <a:ext cx="2606040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4269928" y="3118104"/>
            <a:ext cx="694944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4269928" y="3721608"/>
            <a:ext cx="521208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4269928" y="4325112"/>
            <a:ext cx="17373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4269928" y="4928616"/>
            <a:ext cx="173736" cy="237744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みなと市の利用者1人当たりの運行費用は類似市の1.6倍で、差は10年で倍に広がった。規模では説明できず、運営方法に原因がある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注）1人当たり運行費用＝年間運行費用÷年間利用者数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出所）国土交通省「地域交通統計」（2026年）を基に作成（名称・数値は架空の見本）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369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06928" y="376732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 円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7024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6928" y="42702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 円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類似市の平均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231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501488" y="376732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607568" y="376732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 円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501488" y="427024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07568" y="42702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 円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×1.6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00848" y="4983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51206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差の7割は人件費（運転士1人当たりの乗客数の少なさ）による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00848" y="557784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補足：1人当たり運行費用＝年間運行費用÷年間利用者数。2025年度決算ベース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利用者の10人に3人は代わりの移動手段を持たず、その多くは高校生と高齢者である。この層には生活の前提であり、単純な廃止は選べない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代わりの移動手段がない利用者の割合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注）設問「バスがなくなった場合、代わりの移動手段はありますか」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出所）みなと市「地域交通に関する住民アンケート」（2026年5月、n＝1,200）を基に作成（名称・数値は架空の見本）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85921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124326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162731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201136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239540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277945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316350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354755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93160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47516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85921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124326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5" name="Shape 22"/>
          <p:cNvSpPr/>
          <p:nvPr/>
        </p:nvSpPr>
        <p:spPr>
          <a:xfrm>
            <a:off x="162731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1136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7" name="Shape 24"/>
          <p:cNvSpPr/>
          <p:nvPr/>
        </p:nvSpPr>
        <p:spPr>
          <a:xfrm>
            <a:off x="239540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8" name="Shape 25"/>
          <p:cNvSpPr/>
          <p:nvPr/>
        </p:nvSpPr>
        <p:spPr>
          <a:xfrm>
            <a:off x="277945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9" name="Shape 26"/>
          <p:cNvSpPr/>
          <p:nvPr/>
        </p:nvSpPr>
        <p:spPr>
          <a:xfrm>
            <a:off x="316350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Shape 27"/>
          <p:cNvSpPr/>
          <p:nvPr/>
        </p:nvSpPr>
        <p:spPr>
          <a:xfrm>
            <a:off x="354755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93160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Shape 29"/>
          <p:cNvSpPr/>
          <p:nvPr/>
        </p:nvSpPr>
        <p:spPr>
          <a:xfrm>
            <a:off x="47516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3" name="Shape 30"/>
          <p:cNvSpPr/>
          <p:nvPr/>
        </p:nvSpPr>
        <p:spPr>
          <a:xfrm>
            <a:off x="85921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4" name="Shape 31"/>
          <p:cNvSpPr/>
          <p:nvPr/>
        </p:nvSpPr>
        <p:spPr>
          <a:xfrm>
            <a:off x="124326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5" name="Shape 32"/>
          <p:cNvSpPr/>
          <p:nvPr/>
        </p:nvSpPr>
        <p:spPr>
          <a:xfrm>
            <a:off x="162731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201136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7" name="Shape 34"/>
          <p:cNvSpPr/>
          <p:nvPr/>
        </p:nvSpPr>
        <p:spPr>
          <a:xfrm>
            <a:off x="239540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Shape 35"/>
          <p:cNvSpPr/>
          <p:nvPr/>
        </p:nvSpPr>
        <p:spPr>
          <a:xfrm>
            <a:off x="277945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9" name="Shape 36"/>
          <p:cNvSpPr/>
          <p:nvPr/>
        </p:nvSpPr>
        <p:spPr>
          <a:xfrm>
            <a:off x="316350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0" name="Shape 37"/>
          <p:cNvSpPr/>
          <p:nvPr/>
        </p:nvSpPr>
        <p:spPr>
          <a:xfrm>
            <a:off x="354755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93160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2" name="Shape 39"/>
          <p:cNvSpPr/>
          <p:nvPr/>
        </p:nvSpPr>
        <p:spPr>
          <a:xfrm>
            <a:off x="47516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85921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24326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62731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201136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39540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77945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316350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354755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393160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47516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85921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124326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62731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01136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39540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77945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316350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354755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393160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47516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85921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124326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162731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01136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39540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277945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16350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54755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93160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47516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85921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124326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162731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201136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239540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277945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16350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54755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93160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47516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85921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124326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162731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201136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239540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277945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316350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354755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393160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7516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85921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124326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162731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201136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239540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277945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316350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354755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393160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516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85921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24326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62731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1136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39540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77945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316350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354755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393160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4772848" y="1920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4400" dirty="0"/>
          </a:p>
        </p:txBody>
      </p:sp>
      <p:sp>
        <p:nvSpPr>
          <p:cNvPr id="113" name="Text 110"/>
          <p:cNvSpPr txBox="1"/>
          <p:nvPr/>
        </p:nvSpPr>
        <p:spPr>
          <a:xfrm>
            <a:off x="4772848" y="2788920"/>
            <a:ext cx="493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</a:t>
            </a:r>
            <a:endParaRPr lang="en-US" sz="1400" dirty="0"/>
          </a:p>
        </p:txBody>
      </p:sp>
      <p:sp>
        <p:nvSpPr>
          <p:cNvPr id="114" name="Text 111"/>
          <p:cNvSpPr txBox="1"/>
          <p:nvPr/>
        </p:nvSpPr>
        <p:spPr>
          <a:xfrm>
            <a:off x="4772848" y="3291840"/>
            <a:ext cx="493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30%の内訳（利用者全体に対する割合）</a:t>
            </a:r>
            <a:endParaRPr lang="en-US" sz="1400" dirty="0"/>
          </a:p>
        </p:txBody>
      </p:sp>
      <p:sp>
        <p:nvSpPr>
          <p:cNvPr id="115" name="Shape 112"/>
          <p:cNvSpPr/>
          <p:nvPr/>
        </p:nvSpPr>
        <p:spPr>
          <a:xfrm>
            <a:off x="4772848" y="3639312"/>
            <a:ext cx="4932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16" name="Text 113"/>
          <p:cNvSpPr txBox="1"/>
          <p:nvPr/>
        </p:nvSpPr>
        <p:spPr>
          <a:xfrm>
            <a:off x="4772848" y="3794760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高校生</a:t>
            </a:r>
            <a:endParaRPr lang="en-US" sz="1400" dirty="0"/>
          </a:p>
        </p:txBody>
      </p:sp>
      <p:sp>
        <p:nvSpPr>
          <p:cNvPr id="117" name="Text 114"/>
          <p:cNvSpPr txBox="1"/>
          <p:nvPr/>
        </p:nvSpPr>
        <p:spPr>
          <a:xfrm>
            <a:off x="8790448" y="37947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200" dirty="0"/>
          </a:p>
        </p:txBody>
      </p:sp>
      <p:sp>
        <p:nvSpPr>
          <p:cNvPr id="118" name="Shape 115"/>
          <p:cNvSpPr/>
          <p:nvPr/>
        </p:nvSpPr>
        <p:spPr>
          <a:xfrm>
            <a:off x="4772848" y="4306824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19" name="Text 116"/>
          <p:cNvSpPr txBox="1"/>
          <p:nvPr/>
        </p:nvSpPr>
        <p:spPr>
          <a:xfrm>
            <a:off x="4772848" y="4361688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120" name="Text 117"/>
          <p:cNvSpPr txBox="1"/>
          <p:nvPr/>
        </p:nvSpPr>
        <p:spPr>
          <a:xfrm>
            <a:off x="8790448" y="43616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1200" dirty="0"/>
          </a:p>
        </p:txBody>
      </p:sp>
      <p:sp>
        <p:nvSpPr>
          <p:cNvPr id="121" name="Shape 118"/>
          <p:cNvSpPr/>
          <p:nvPr/>
        </p:nvSpPr>
        <p:spPr>
          <a:xfrm>
            <a:off x="4772848" y="4873752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2" name="Text 119"/>
          <p:cNvSpPr txBox="1"/>
          <p:nvPr/>
        </p:nvSpPr>
        <p:spPr>
          <a:xfrm>
            <a:off x="4772848" y="4928616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その他（通院・障害など）</a:t>
            </a:r>
            <a:endParaRPr lang="en-US" sz="1400" dirty="0"/>
          </a:p>
        </p:txBody>
      </p:sp>
      <p:sp>
        <p:nvSpPr>
          <p:cNvPr id="123" name="Text 120"/>
          <p:cNvSpPr txBox="1"/>
          <p:nvPr/>
        </p:nvSpPr>
        <p:spPr>
          <a:xfrm>
            <a:off x="8790448" y="492861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市内の予約型交通の需要は2035年度までに約3倍の45万回に増え、増加分の大半を通院が占める見込みである。転換の好機は今後5年にある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予約型交通の年間需要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（万回、2025年度と2035年度（予測））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注）2035年度は人口推計と利用率の見通しによる予測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663888" y="3566160"/>
            <a:ext cx="1554480" cy="15544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2848" y="2428202"/>
            <a:ext cx="2692438" cy="269243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115248" y="52120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15万回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498528" y="5212080"/>
            <a:ext cx="32410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2035年度（予測）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45万回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401248" y="4343400"/>
            <a:ext cx="118872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852608" y="3931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約3倍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698928" y="1965960"/>
            <a:ext cx="200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増加分30万回の内訳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698928" y="2313432"/>
            <a:ext cx="20059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698928" y="246888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699008" y="24688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19万回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698928" y="295351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698928" y="301752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699008" y="30175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7万回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698928" y="350215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698928" y="356616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5661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4万回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高齢者向けの移動支援の費用は10年で4億円増えたが、増加分のほぼすべては通院の送迎による。他の区分は横ばいで、増加は1区分に集中している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高齢者向け移動支援の費用の推移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（千万円、2015–2025年度）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注）市の一般会計からの支出（委託料・補助金）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出所）みなと市「決算書」（各年度）を基に作成（名称・数値は架空の見本）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42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40280"/>
          <a:ext cx="49377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230048" y="2788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通院の送迎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230048" y="38862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外出の付添い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230048" y="4892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買物の支援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200848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 80 → 120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10年で4億円増え、12億円になった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増加の40千万円のうち39千万円が通院の送迎による。買物の支援と外出の付添いは横ばい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通院の送迎は5倍になった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10千万円から49千万円へ。予約型交通に置き換えると、送迎の費用の半分を減らせる見込み（試算）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目指す姿は3つの柱と2つの土台で実現する。最も効果が大きいのは支線の転換であり、予約データの基盤が整わなければどの柱も機能しない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戦略の全体像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43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920240"/>
            <a:ext cx="950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目指す姿：2030年度までに赤字を半減し、通院と通学の足を守る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00848" y="251460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0848" y="2697480"/>
            <a:ext cx="0" cy="210312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372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柱1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372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支線を転換する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12路線を予約型交通に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乗降地点を病院に置く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46028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64316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64316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幹線を強くする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4316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1時間3本に増やす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乗継ぎを30分以内に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71972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0260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柱3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90260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収入を増やす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90260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通院の定額乗車券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企業の送迎と統合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00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土台1　予約と乗降のデータ基盤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952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土台2　推進室と運転士の確保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952848" y="5029200"/>
            <a:ext cx="0" cy="502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利用登録の5工程を3観点で点検すると、課題は受付と確認の2工程に集中している。両工程の手作業を減らせば、処理時間を半分にできる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工程別・観点別の課題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業務調査（2025年）を基に作成（名称・数値は架空の見本）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481008" y="1965960"/>
            <a:ext cx="1690488" cy="4572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3125776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0544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6415312" y="1965960"/>
            <a:ext cx="169048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8060080" y="1965960"/>
            <a:ext cx="164476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63888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申込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8656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53424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598192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42960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通知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60604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6576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17216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入力に平均20分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861984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差戻しで3日待ち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151520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郵送で2日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365760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品質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470916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861984" y="365760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誤り率8%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470916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572448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17216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紙の転記が残る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125776" y="2514600"/>
            <a:ext cx="3289536" cy="329184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施策は3年で段階的に広げ、2年目の運転士の再配置が3年目の目標達成の鍵となる。初年度は基盤づくりに集中し、成果を急がない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年度別の取組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（2027〜2029年度）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965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76116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07572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39028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00848" y="235000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423160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85260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2地区で試行する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16716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6路線に広げる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48172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全12路線に広げる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3273552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運転士の再配置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85260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配置計画を作る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112304" y="3328416"/>
            <a:ext cx="2241408" cy="667512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6716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10人を幹線に移す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8172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40965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4123944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85260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16716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窓口を一本化する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48172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問合せも集約する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9469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974336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85260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推進室を設ける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16716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人員を2人増やす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48172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507572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7" name="Shape 34"/>
          <p:cNvSpPr/>
          <p:nvPr/>
        </p:nvSpPr>
        <p:spPr>
          <a:xfrm>
            <a:off x="739028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8" name="Text 35"/>
          <p:cNvSpPr txBox="1"/>
          <p:nvPr/>
        </p:nvSpPr>
        <p:spPr>
          <a:xfrm>
            <a:off x="200848" y="5916168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注）網かけは3年目の目標達成の鍵になる取組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便数が増えるほど利用者と収入が増え、さらに便数を増やせる好循環を作れる。最初の1年は、起点となる幹線の増便に投資を集中すべきである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利用拡大の好循環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46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849728" y="2011680"/>
            <a:ext cx="20116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86888" y="2011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起点：幹線の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便数を増やす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97570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1286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待ち時間が減る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849728" y="484632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86888" y="48463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利用者が増える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2374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090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運賃収入が増える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907128" y="2468880"/>
            <a:ext cx="1120140" cy="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798668" y="4206240"/>
            <a:ext cx="-937260" cy="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2804008" y="5120640"/>
            <a:ext cx="-1120140" cy="-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1912468" y="3383280"/>
            <a:ext cx="937260" cy="-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7327408" y="19659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投資を集中する点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327408" y="2313432"/>
            <a:ext cx="23774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27408" y="24688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幹線を1時間2本から3本へ増やす（年3,600万円の追加費用）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地域交通の付加価値の半分は下流の運行管理と予約で生まれるが、市内の事業者は車両の運行に偏る。下流への展開が収益改善の鍵となる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地域交通の機能別の付加価値の配分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注）付加価値＝売上高−外部購入費。市内の交通事業者3社の合計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出所）事業者3社の決算資料を基に作成（名称・数値は架空の見本）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2010528" cy="6858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5168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路線の計画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886072" y="5138928"/>
            <a:ext cx="457200" cy="2560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2074216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348536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車両の調達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165656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759440" y="5010912"/>
            <a:ext cx="457200" cy="38404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Shape 17"/>
          <p:cNvSpPr/>
          <p:nvPr/>
        </p:nvSpPr>
        <p:spPr>
          <a:xfrm>
            <a:off x="3947584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221904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車両の運行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039024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4632808" y="4754880"/>
            <a:ext cx="457200" cy="6400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>
            <a:off x="5820952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095272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案内・販売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912392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506176" y="5074920"/>
            <a:ext cx="457200" cy="3200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7694320" y="2011680"/>
            <a:ext cx="2010528" cy="6858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968640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運行管理・予約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85760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8379544" y="3794760"/>
            <a:ext cx="457200" cy="160020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2" name="Shape 29"/>
          <p:cNvSpPr/>
          <p:nvPr/>
        </p:nvSpPr>
        <p:spPr>
          <a:xfrm>
            <a:off x="200848" y="539496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764704" y="5486400"/>
            <a:ext cx="2101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市内事業者の主な事業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2027年度末の試行の結果で、道は2つに分かれる。継続利用率80%以上なら全支線に広げ、未満なら対象を通院に絞って運行区域を縮める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判断の分岐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注）継続利用率＝試行の3か月目に2回以上利用した登録者の割合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3154680"/>
            <a:ext cx="1737360" cy="118872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試行の結果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669728" y="2606040"/>
            <a:ext cx="0" cy="114300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69728" y="2606040"/>
            <a:ext cx="457200" cy="0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715448" y="21762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955728" y="2103120"/>
            <a:ext cx="20116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92888" y="21031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全支線に広げる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50288" y="210312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2030年度までに12路線を転換し、運転士を幹線へ移す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669728" y="3749040"/>
            <a:ext cx="0" cy="128016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669728" y="5029200"/>
            <a:ext cx="457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2715448" y="4599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80%未満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955728" y="4526280"/>
            <a:ext cx="2011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92888" y="45262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対象を絞る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452628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通院の時間帯に絞って運行し、費用を4割抑える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4つの外部動向はいずれも、運転士と定時便に頼る今の運行の前提を弱める方向に働く。中でも運転士の不足の影響が最も大きく、5年以内に表面化する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事業環境の主な変化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出所）国土交通省・総務省の公表資料を基に作成（名称・数値は架空の見本）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社会　運転士が足りなくなる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45234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−3割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大型二種免許の保有者は10年で3割減る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出所）国の運転免許統計を基に推計（架空）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51814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政策　運転時間の上限が厳しくなる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181448" y="226771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814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年3,300時間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51814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2024年度から運転士の拘束時間に上限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1814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出所）改正後の基準による（架空）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技術　予約型の配車システムが安くなる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−50%</a:t>
            </a:r>
            <a:endParaRPr lang="en-US" sz="3000" dirty="0"/>
          </a:p>
        </p:txBody>
      </p:sp>
      <p:sp>
        <p:nvSpPr>
          <p:cNvPr id="25" name="Text 22"/>
          <p:cNvSpPr txBox="1"/>
          <p:nvPr/>
        </p:nvSpPr>
        <p:spPr>
          <a:xfrm>
            <a:off x="2008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導入費用は5年で半分になった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008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出所）事業者3社への聞き取り（架空）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51814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競争　病院・商業施設の送迎が増える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814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1814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年12路線</a:t>
            </a:r>
            <a:endParaRPr lang="en-US" sz="3000" dirty="0"/>
          </a:p>
        </p:txBody>
      </p:sp>
      <p:sp>
        <p:nvSpPr>
          <p:cNvPr id="30" name="Text 27"/>
          <p:cNvSpPr txBox="1"/>
          <p:nvPr/>
        </p:nvSpPr>
        <p:spPr>
          <a:xfrm>
            <a:off x="51814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市内で新たに始まった送迎の数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1814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出所）市の届出の集計（架空）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本資料の結論は、ヒアリング32件、アンケート1,200件、10年分の運行データの3つの調査に基づき、定量と定性の両面で裏付けている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自治体・事業者・利用者団体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第2章（課題）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利用者アンケート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沿線住民（無作為抽出3,000人）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第1章・第3章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運行データ分析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路線別・時間帯別の乗降データ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2015〜2025年度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第1章（現状）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6つの取組のうち4つは計画どおりだが、予約システムの整備は3か月遅れ、年度内の完了が難しい。追加の人員配置を本日決めていただきたい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取組の進捗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（2026年9月末時点）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097280"/>
                <a:gridCol w="44748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取組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状態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進捗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コメント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利用実態の調査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予定どおり10月に完了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事業者との協議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予約システムの整備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× 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3か月遅れ。人員2名の追加が必要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運行規程の改定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乗降地点の選定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△ 注意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病院との合意待ち（11月見込み）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車両の調達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新しい予約は3つの操作で完了し、所要時間は電話予約の8分から2分に短くなる。最も時間を減らすのは、操作2の乗車地点の自動入力である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予約画面の操作手順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注）画面は開発中のもの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4754880" cy="39319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00848" y="36118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予約画面のスクリーンショットを入れる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66608" y="2286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6608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578288" y="3017520"/>
            <a:ext cx="329184" cy="329184"/>
          </a:xfrm>
          <a:prstGeom prst="ellipse">
            <a:avLst/>
          </a:prstGeom>
          <a:solidFill>
            <a:srgbClr val="7F7F7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132768" y="52120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132768" y="5212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321488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21488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778688" y="199339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利用者番号を入力する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78688" y="239572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番号は乗車証の右上に記載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321488" y="306324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321488" y="3291840"/>
            <a:ext cx="329184" cy="329184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321488" y="3291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778688" y="327355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「いつもの乗車地点」を押す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78688" y="367588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乗車地点と行き先が過去の予約から入る（約5分短縮）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321488" y="434340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321488" y="4572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321488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778688" y="455371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時刻を選んで予約する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78688" y="495604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前日の夕方に確認の通知が届く</a:t>
            </a:r>
            <a:endParaRPr lang="en-US" sz="1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移動の支援が要る3,400世帯のうち、3つの条件が重なる620世帯が最も支援を要する。まずこの層に絞って、予約型交通の乗降地点を決めるべきである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移動の支援が要る世帯の重なり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（世帯、2026年5月）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注）世帯数は住民基本台帳と運転免許の保有データを突き合わせた推計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住民基本台帳（2026年5月）を基に作成（名称・数値は架空の見本）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2066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21031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高齢の単身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5782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38608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車を持たない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892488" y="310896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303968" y="5623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駅から2km以上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761168" y="3429000"/>
            <a:ext cx="731520" cy="6400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715448" y="3566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27328" y="1965960"/>
            <a:ext cx="337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3条件すべてに当たる世帯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27328" y="2313432"/>
            <a:ext cx="337752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27328" y="2514600"/>
            <a:ext cx="337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620世帯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327328" y="3337560"/>
            <a:ext cx="3377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27328" y="3474720"/>
            <a:ext cx="337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移動の支援が要る世帯全体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327328" y="3794760"/>
            <a:ext cx="337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3,400世帯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6327328" y="4297680"/>
            <a:ext cx="337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補足：いずれか1つ以上に当たる世帯の合計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立場の異なる関係者が共通して、通院の足がなくなることを最大の不安に挙げた。数字に表れにくいこの不安への手当てが、合意形成の前提となる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ヒアリングで聞かれた声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（ヒアリング32件より抜粋）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注）発言は趣旨を変えない範囲で要約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出所）関係者ヒアリング（2026年4〜6月、32件）を基に作成（名称・数値は架空の見本）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0" cy="960120"/>
          </a:xfrm>
          <a:prstGeom prst="line">
            <a:avLst/>
          </a:prstGeom>
          <a:noFill/>
          <a:ln w="38100">
            <a:solidFill>
              <a:srgbClr val="000F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01168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「バスがなくなったら、週2回の通院をどうすればよいのか分からない」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75168" y="260604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沿線の高齢者（80代、一人暮らし）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333756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33756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「予約型になっても、病院の前で乗り降りできるなら困らない」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168" y="393192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沿線自治会 会長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466344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6344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「運転士が足りず、今の便数を保つだけで精一杯だ」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75168" y="525780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 運行管理者</a:t>
            </a:r>
            <a:endParaRPr lang="en-US" sz="1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バスの満足度は年代が上がるほど低く、80代以上は全体の半分にとどまる。背景には停留所の遠さがあり、支援は80代以上から始めるべきである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年代別のバスの満足度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（「満足」「やや満足」の計、%、n＝1,200、2026年5月）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注）設問「バスの利用に満足していますか」の「満足」「やや満足」の計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出所）みなと市「地域交通に関する住民アンケート」（2026年5月、n＝1,200）を基に作成（名称・数値は架空の見本）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56692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144448" y="1920240"/>
            <a:ext cx="3560400" cy="4114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327328" y="2103120"/>
            <a:ext cx="319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80代以上の満足は31%で、全体の半分にとどまる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327328" y="2788920"/>
            <a:ext cx="319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不満の理由の6割が「停留所が遠い・坂道がある」（自由回答）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327328" y="3886200"/>
            <a:ext cx="3194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327328" y="4069080"/>
            <a:ext cx="319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80代以上の多い地区から予約型を始めるべきである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327328" y="4754880"/>
            <a:ext cx="319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乗降地点を病院と自宅の前に置き、停留所まで歩く負担をなくす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8つの指標のうち6つでみなと市は類似市の平均を下回り、特に1便当たりの乗車人数は平均の半分にとどまる。弱みは運行の効率に集中している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指標別の比較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（類似市の平均＝100、2025年度）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注）類似市は人口10〜20万人の8市の平均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出所）国土交通省「地域交通統計」（2026年）を基に作成（名称・数値は架空の見本）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01248" y="19202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指数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401248" y="2377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407088" y="2496312"/>
            <a:ext cx="358444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>
            <a:off x="200848" y="28346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834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1人当たりの利用回数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401248" y="2834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407088" y="2953512"/>
            <a:ext cx="304038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Shape 19"/>
          <p:cNvSpPr/>
          <p:nvPr/>
        </p:nvSpPr>
        <p:spPr>
          <a:xfrm>
            <a:off x="200848" y="32918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3291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1便当たりの乗車人数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401248" y="3291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407088" y="3410712"/>
            <a:ext cx="16002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848" y="3749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3749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運賃で賄う費用の割合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401248" y="3749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407088" y="3867912"/>
            <a:ext cx="2816352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200848" y="42062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4206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停留所までの近さ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401248" y="42062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407088" y="4325112"/>
            <a:ext cx="3328416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200848" y="46634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663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定時に運行した割合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401248" y="4663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4407088" y="4782312"/>
            <a:ext cx="243230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5120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乗継ぎの待ち時間の短さ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401248" y="5120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4407088" y="5239512"/>
            <a:ext cx="291236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200848" y="55778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77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利用者の満足度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401248" y="5577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4407088" y="5696712"/>
            <a:ext cx="2656332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7607488" y="2331720"/>
            <a:ext cx="0" cy="374904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7" name="Text 44"/>
          <p:cNvSpPr txBox="1"/>
          <p:nvPr/>
        </p:nvSpPr>
        <p:spPr>
          <a:xfrm>
            <a:off x="7058848" y="6126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平均＝100</a:t>
            </a:r>
            <a:endParaRPr lang="en-US" sz="14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本日の120分のうち半分を論点2の打ち手の選定に充て、最後の20分で次回までの宿題を確定する。論点1は事前送付資料の確認に留める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本日の進め方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（13:00〜15:00、120分）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57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開始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695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配分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30980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議題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8701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613328" y="1920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資料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28600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35915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13:00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069528" y="2633472"/>
            <a:ext cx="2286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371280" y="235915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10分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309808" y="235915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開会・本日の目的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870128" y="235915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目的と、会議の終わりに決めることを確認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613328" y="235915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00848" y="31455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18211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13:10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1069528" y="3456432"/>
            <a:ext cx="6858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828480" y="318211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30分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309808" y="318211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現状認識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870128" y="318211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事前送付資料の要点だけを確認する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613328" y="318211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p.3–8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200848" y="3968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00848" y="4005072"/>
            <a:ext cx="9504000" cy="749808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400507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13:40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1069528" y="4279392"/>
            <a:ext cx="13716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514280" y="400507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60分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3309808" y="400507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打ち手の選定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870128" y="400507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3案を比較し、推奨案の採否を議論する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613328" y="400507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p.9–18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200848" y="47914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482803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14:40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1069528" y="5102352"/>
            <a:ext cx="4572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1599880" y="482803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20分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3309808" y="482803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次回までの宿題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5870128" y="482803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担当と期限を確定する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8613328" y="482803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p.19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200848" y="56144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00848" y="5715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　120分</a:t>
            </a:r>
            <a:endParaRPr lang="en-US" sz="14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新制度は3つの目的に対して5つの工夫で応える設計である。最も重い目的Aには工夫1〜3の3つが効いており、制度の中核をなしている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制度の目的と設計上の工夫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132768" y="1920240"/>
            <a:ext cx="557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設計上の工夫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効く目的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132768" y="2286000"/>
            <a:ext cx="5572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2578608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578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12328" y="246888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利用者の負担を下げる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352044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00848" y="385876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858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12328" y="374904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事業者の参入を促す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00848" y="480060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51389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00848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12328" y="502920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自治体の事務を減らす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60807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657280" y="3403031"/>
            <a:ext cx="144841" cy="289682"/>
          </a:xfrm>
          <a:custGeom>
            <a:avLst/>
            <a:gdLst/>
            <a:ahLst/>
            <a:cxnLst/>
            <a:rect l="l" t="t" r="r" b="b"/>
            <a:pathLst>
              <a:path w="144841" h="289682">
                <a:moveTo>
                  <a:pt x="0" y="0"/>
                </a:moveTo>
                <a:lnTo>
                  <a:pt x="144841" y="144841"/>
                </a:lnTo>
                <a:lnTo>
                  <a:pt x="0" y="289682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0" name="Shape 27"/>
          <p:cNvSpPr/>
          <p:nvPr/>
        </p:nvSpPr>
        <p:spPr>
          <a:xfrm>
            <a:off x="3765910" y="3412907"/>
            <a:ext cx="121469" cy="269931"/>
          </a:xfrm>
          <a:custGeom>
            <a:avLst/>
            <a:gdLst/>
            <a:ahLst/>
            <a:cxnLst/>
            <a:rect l="l" t="t" r="r" b="b"/>
            <a:pathLst>
              <a:path w="121469" h="269931">
                <a:moveTo>
                  <a:pt x="0" y="0"/>
                </a:moveTo>
                <a:lnTo>
                  <a:pt x="121469" y="134965"/>
                </a:lnTo>
                <a:lnTo>
                  <a:pt x="0" y="269931"/>
                </a:lnTo>
              </a:path>
            </a:pathLst>
          </a:custGeom>
          <a:ln w="29718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132768" y="2395728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4452808" y="2395728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運賃の上限を地域で一律に定める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375664" y="252374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375664" y="2523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132768" y="3054096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132768" y="3163824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4452808" y="3163824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乗継ぎの割引を事業者間で自動精算する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9009904" y="329184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00990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9375664" y="329184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937566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4132768" y="3822192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132768" y="39319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4452808" y="3931920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予約と決済を1つのアプリにまとめる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9009904" y="405993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900990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75664" y="405993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937566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4132768" y="4590288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132768" y="4700016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4452808" y="4700016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参入時の初期費用を3年間補助する</a:t>
            </a:r>
            <a:endParaRPr lang="en-US" sz="1400" dirty="0"/>
          </a:p>
        </p:txBody>
      </p:sp>
      <p:sp>
        <p:nvSpPr>
          <p:cNvPr id="52" name="Shape 49"/>
          <p:cNvSpPr/>
          <p:nvPr/>
        </p:nvSpPr>
        <p:spPr>
          <a:xfrm>
            <a:off x="9375664" y="482803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375664" y="48280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4132768" y="5358384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132768" y="546811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4452808" y="5468112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申請を年1回の一括申請に改める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9375664" y="55961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9375664" y="5596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4132768" y="6126480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先行6事例のうち5事例が専任の調整役を置いており、成功の共通要素は資金より人材にある。各事例の詳細は参考資料の該当ページで確認できる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先行事例の取組要素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（6事例、2025年度時点）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注）各事例の詳細は参考資料（p.24〜34）に記載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出所）各自治体の地域公共交通計画を基に作成（名称・数値は架空の見本）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12728" y="1874520"/>
            <a:ext cx="1234440" cy="403250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57828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1272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専任の調整役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04716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拠点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28160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条例・制度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51604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データ共有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933368" y="1874520"/>
            <a:ext cx="77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詳細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33172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37744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事例A　北部市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57828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81272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04716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1604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33368" y="2377440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00848" y="288950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89504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事例B　東町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812728" y="28895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281608" y="28895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933368" y="2889504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p.26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40156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事例C　南村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57828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381272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04716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8933368" y="3401568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p.28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200848" y="391363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391363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事例D　西市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57828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628160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751604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8933368" y="3913632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p.30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200848" y="442569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42569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事例E　中央市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81272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504716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751604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8933368" y="4425696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p.32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200848" y="493776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事例F　港町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578288" y="493776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2" name="Text 49"/>
          <p:cNvSpPr txBox="1"/>
          <p:nvPr/>
        </p:nvSpPr>
        <p:spPr>
          <a:xfrm>
            <a:off x="3812728" y="493776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3" name="Text 50"/>
          <p:cNvSpPr txBox="1"/>
          <p:nvPr/>
        </p:nvSpPr>
        <p:spPr>
          <a:xfrm>
            <a:off x="8933368" y="4937760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p.34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200848" y="544982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00848" y="549554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該当数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257828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381272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504716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Text 56"/>
          <p:cNvSpPr txBox="1"/>
          <p:nvPr/>
        </p:nvSpPr>
        <p:spPr>
          <a:xfrm>
            <a:off x="628160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751604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8つの候補地を3つの条件で絞り込むと、すべてを満たすのは候補3と候補6の2か所だけである。両者のうち費用の低い候補3を第一候補とする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候補地の絞り込み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（○＝条件を満たす）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注）概算費用は用地取得費を除く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8か所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892488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2596576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条件1　用地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596576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5か所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288216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4992304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条件2　接続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92304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3か所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683944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7388032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条件3　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388032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2か所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20084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21252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用地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5844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50436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26060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概算費用（億円）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29535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29900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候補1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21252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85844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50436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50288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335584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3355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候補2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21252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385844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50436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150288" y="33558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37216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00848" y="3721608"/>
            <a:ext cx="9504000" cy="3657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200848" y="37216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候補3　第一候補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21252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85844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0436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150288" y="37216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40873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087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候補4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21252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385844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550436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7150288" y="40873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200848" y="445312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0848" y="4453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候補5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221252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385844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550436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7150288" y="4453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200848" y="48188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200848" y="4818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候補6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221252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385844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550436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7150288" y="48188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400" dirty="0"/>
          </a:p>
        </p:txBody>
      </p:sp>
      <p:sp>
        <p:nvSpPr>
          <p:cNvPr id="65" name="Shape 62"/>
          <p:cNvSpPr/>
          <p:nvPr/>
        </p:nvSpPr>
        <p:spPr>
          <a:xfrm>
            <a:off x="200848" y="518464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200848" y="5184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候補7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221252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385844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550436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7150288" y="5184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71" name="Shape 68"/>
          <p:cNvSpPr/>
          <p:nvPr/>
        </p:nvSpPr>
        <p:spPr>
          <a:xfrm>
            <a:off x="200848" y="55504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200848" y="55504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候補8</a:t>
            </a:r>
            <a:endParaRPr lang="en-US" sz="1400" dirty="0"/>
          </a:p>
        </p:txBody>
      </p:sp>
      <p:sp>
        <p:nvSpPr>
          <p:cNvPr id="73" name="Text 70"/>
          <p:cNvSpPr txBox="1"/>
          <p:nvPr/>
        </p:nvSpPr>
        <p:spPr>
          <a:xfrm>
            <a:off x="221252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4" name="Text 71"/>
          <p:cNvSpPr txBox="1"/>
          <p:nvPr/>
        </p:nvSpPr>
        <p:spPr>
          <a:xfrm>
            <a:off x="385844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550436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6" name="Text 73"/>
          <p:cNvSpPr txBox="1"/>
          <p:nvPr/>
        </p:nvSpPr>
        <p:spPr>
          <a:xfrm>
            <a:off x="7150288" y="55504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77" name="Shape 74"/>
          <p:cNvSpPr/>
          <p:nvPr/>
        </p:nvSpPr>
        <p:spPr>
          <a:xfrm>
            <a:off x="200848" y="59161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8地域すべてで利用率は10年で下がったが、下げ幅は地域で大きく異なる。対象の東部は21ポイント減と最も大きく、平均の2倍に当たる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地域別の公共交通の利用率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（%、2015年度と2025年度）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注）利用率＝通勤・通学・通院の移動に占める公共交通の割合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出所）沿線パーソントリップ調査（2015年、2025年）を基に作成（名称・数値は架空の見本）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959032" y="1965960"/>
            <a:ext cx="146304" cy="14630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151056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499296" y="1965960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691320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910088" y="1901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2860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560000" y="2514600"/>
            <a:ext cx="1728216" cy="0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196776" y="242316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468560" y="242316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42537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965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910088" y="2286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−21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200848" y="27432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2743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724592" y="2971800"/>
            <a:ext cx="98755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620704" y="2880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2633152" y="2880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849304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130232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910088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00848" y="32004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32004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山間部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313112" y="3429000"/>
            <a:ext cx="905256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126928" y="3337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2221672" y="3337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355528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1718752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910088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−11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200848" y="36576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6576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3136072" y="3886200"/>
            <a:ext cx="82296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867592" y="37947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3044632" y="3794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096192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2541712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5910088" y="3657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200848" y="41148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00848" y="41148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2806888" y="4343400"/>
            <a:ext cx="7406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456112" y="42519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2715448" y="42519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3684712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2212528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5910088" y="4114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200848" y="45720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200848" y="45720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4041328" y="4800600"/>
            <a:ext cx="57607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525960" y="47091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3949888" y="47091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475456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3446968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200" dirty="0"/>
          </a:p>
        </p:txBody>
      </p:sp>
      <p:sp>
        <p:nvSpPr>
          <p:cNvPr id="63" name="Text 60"/>
          <p:cNvSpPr txBox="1"/>
          <p:nvPr/>
        </p:nvSpPr>
        <p:spPr>
          <a:xfrm>
            <a:off x="5910088" y="4572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</a:t>
            </a:r>
            <a:endParaRPr lang="en-US" sz="1200" dirty="0"/>
          </a:p>
        </p:txBody>
      </p:sp>
      <p:sp>
        <p:nvSpPr>
          <p:cNvPr id="64" name="Shape 61"/>
          <p:cNvSpPr/>
          <p:nvPr/>
        </p:nvSpPr>
        <p:spPr>
          <a:xfrm>
            <a:off x="200848" y="50292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200848" y="5029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2560000" y="5257800"/>
            <a:ext cx="493776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962336" y="5166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2468560" y="5166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3190936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196564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71" name="Text 68"/>
          <p:cNvSpPr txBox="1"/>
          <p:nvPr/>
        </p:nvSpPr>
        <p:spPr>
          <a:xfrm>
            <a:off x="5910088" y="5029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200848" y="54864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200848" y="54864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市街地</a:t>
            </a:r>
            <a:endParaRPr lang="en-US" sz="1400" dirty="0"/>
          </a:p>
        </p:txBody>
      </p:sp>
      <p:sp>
        <p:nvSpPr>
          <p:cNvPr id="74" name="Shape 71"/>
          <p:cNvSpPr/>
          <p:nvPr/>
        </p:nvSpPr>
        <p:spPr>
          <a:xfrm>
            <a:off x="4781992" y="5715000"/>
            <a:ext cx="32918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019736" y="5623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4690552" y="5623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5248336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1200" dirty="0"/>
          </a:p>
        </p:txBody>
      </p:sp>
      <p:sp>
        <p:nvSpPr>
          <p:cNvPr id="78" name="Text 75"/>
          <p:cNvSpPr txBox="1"/>
          <p:nvPr/>
        </p:nvSpPr>
        <p:spPr>
          <a:xfrm>
            <a:off x="4187632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200" dirty="0"/>
          </a:p>
        </p:txBody>
      </p:sp>
      <p:sp>
        <p:nvSpPr>
          <p:cNvPr id="79" name="Text 76"/>
          <p:cNvSpPr txBox="1"/>
          <p:nvPr/>
        </p:nvSpPr>
        <p:spPr>
          <a:xfrm>
            <a:off x="5910088" y="5486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200" dirty="0"/>
          </a:p>
        </p:txBody>
      </p:sp>
      <p:sp>
        <p:nvSpPr>
          <p:cNvPr id="80" name="Shape 77"/>
          <p:cNvSpPr/>
          <p:nvPr/>
        </p:nvSpPr>
        <p:spPr>
          <a:xfrm>
            <a:off x="200848" y="5943600"/>
            <a:ext cx="625788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82" name="Text 79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東部の下げ幅は21pt、8地域で最大</a:t>
            </a:r>
            <a:endParaRPr lang="en-US" sz="1400" dirty="0"/>
          </a:p>
        </p:txBody>
      </p:sp>
      <p:sp>
        <p:nvSpPr>
          <p:cNvPr id="83" name="Text 80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8地域の平均の下げ幅は10pt。東部はその2倍で、2位の北部（−12pt）も大きく上回る</a:t>
            </a:r>
            <a:endParaRPr lang="en-US" sz="1200" dirty="0"/>
          </a:p>
        </p:txBody>
      </p:sp>
      <p:sp>
        <p:nvSpPr>
          <p:cNvPr id="84" name="Shape 81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利用率の高い市街地ほど減りにくい</a:t>
            </a:r>
            <a:endParaRPr lang="en-US" sz="1400" dirty="0"/>
          </a:p>
        </p:txBody>
      </p:sp>
      <p:sp>
        <p:nvSpPr>
          <p:cNvPr id="86" name="Text 83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市街地は58%から54%（−4pt）。運行本数の多い地区ほど利用が保たれている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5つの移動手段のうち、10年で順位を上げたのは送迎だけである。鉄道は分担率を21%から13%に落とし、2位の座を送迎に譲った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移動手段別の分担率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出所）沿線パーソントリップ調査（2015年、2025年）を基に作成（名称・数値は架空の見本）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212528" y="1901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053008" y="1901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944048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784528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944048" y="2472538"/>
            <a:ext cx="3840480" cy="241402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880040" y="2649931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8" name="Shape 15"/>
          <p:cNvSpPr/>
          <p:nvPr/>
        </p:nvSpPr>
        <p:spPr>
          <a:xfrm>
            <a:off x="6720520" y="2408530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29448" y="2567635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　52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921688" y="232623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　自家用車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944048" y="4584802"/>
            <a:ext cx="3840480" cy="482803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880040" y="4520794"/>
            <a:ext cx="128016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6720520" y="5003597"/>
            <a:ext cx="128016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29448" y="443849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　21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21688" y="4921301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　鉄道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944048" y="5007254"/>
            <a:ext cx="3840480" cy="543154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880040" y="4943246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Shape 25"/>
          <p:cNvSpPr/>
          <p:nvPr/>
        </p:nvSpPr>
        <p:spPr>
          <a:xfrm>
            <a:off x="6720520" y="5486400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29448" y="486095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　14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921688" y="5497373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バス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944048" y="5248656"/>
            <a:ext cx="3840480" cy="120701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880040" y="5184648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6720520" y="5305349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29448" y="513527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徒歩・自転車　10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921688" y="5223053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　徒歩・自転車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 flipV="1">
            <a:off x="2944048" y="4765853"/>
            <a:ext cx="3840480" cy="90525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880040" y="5607101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20520" y="4701845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29448" y="5524805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送迎　3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921688" y="4619549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　送迎</a:t>
            </a:r>
            <a:endParaRPr lang="en-US" sz="14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6つのKPIのうち4つは年度目標の8割を超えたが、担い手の確保は目標の45%にとどまる。下期は担い手の確保に予算と人員を寄せるべきである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KPIの達成状況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（2026年度上期末時点、目標＝100%）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注）目標は2026年度の年間目標を上期分に按分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578288" y="19202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達成率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921768" y="19202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　　達成率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578288" y="2523744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Shape 15"/>
          <p:cNvSpPr/>
          <p:nvPr/>
        </p:nvSpPr>
        <p:spPr>
          <a:xfrm>
            <a:off x="2578288" y="2596896"/>
            <a:ext cx="3950208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6693088" y="246888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84608" y="237744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12.4万人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881888" y="237744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999232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運行の定時率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578288" y="3145536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Shape 21"/>
          <p:cNvSpPr/>
          <p:nvPr/>
        </p:nvSpPr>
        <p:spPr>
          <a:xfrm>
            <a:off x="2578288" y="3218688"/>
            <a:ext cx="4073652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6693088" y="3090672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84608" y="2999232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97.1%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881888" y="2999232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200848" y="3621024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アプリ登録者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578288" y="3767328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0" name="Shape 27"/>
          <p:cNvSpPr/>
          <p:nvPr/>
        </p:nvSpPr>
        <p:spPr>
          <a:xfrm>
            <a:off x="2578288" y="3840480"/>
            <a:ext cx="3374136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6693088" y="3712464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84608" y="3621024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1.8万人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881888" y="3621024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242816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協賛企業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578288" y="4389120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Shape 33"/>
          <p:cNvSpPr/>
          <p:nvPr/>
        </p:nvSpPr>
        <p:spPr>
          <a:xfrm>
            <a:off x="2578288" y="4462272"/>
            <a:ext cx="329184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Shape 34"/>
          <p:cNvSpPr/>
          <p:nvPr/>
        </p:nvSpPr>
        <p:spPr>
          <a:xfrm>
            <a:off x="6693088" y="4334256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784608" y="4242816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24社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881888" y="4242816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200848" y="486460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担い手の確保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578288" y="5010912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Shape 39"/>
          <p:cNvSpPr/>
          <p:nvPr/>
        </p:nvSpPr>
        <p:spPr>
          <a:xfrm>
            <a:off x="2578288" y="5084064"/>
            <a:ext cx="185166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6693088" y="4956048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84608" y="4864608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9人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8881888" y="4864608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200848" y="548640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収支の改善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578288" y="5632704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8" name="Shape 45"/>
          <p:cNvSpPr/>
          <p:nvPr/>
        </p:nvSpPr>
        <p:spPr>
          <a:xfrm>
            <a:off x="2578288" y="5705856"/>
            <a:ext cx="2468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6693088" y="557784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784608" y="548640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0.6億円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8881888" y="548640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6327328" y="61081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苦情は9種類に分かれるが、上位3種類で全体の71%を占める。遅延・接続・情報提供の3つに対策を絞れば、苦情の大半を減らせる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種類別の苦情件数と累積構成比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注）2025年度に受け付けた苦情563件（電話・窓口・メール）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苦情記録を基に作成（名称・数値は架空の見本）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5623560"/>
            <a:ext cx="568756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75168" y="2916936"/>
            <a:ext cx="5687568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5614096" y="2606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608" y="2794406"/>
            <a:ext cx="420624" cy="282915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75168" y="2501798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11160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22056" y="4474989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19" name="Shape 16"/>
          <p:cNvSpPr/>
          <p:nvPr/>
        </p:nvSpPr>
        <p:spPr>
          <a:xfrm>
            <a:off x="1188400" y="3742639"/>
            <a:ext cx="420624" cy="1880921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096960" y="3450031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32952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 flipV="1">
            <a:off x="776920" y="3802718"/>
            <a:ext cx="621792" cy="72713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343848" y="3747854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4" name="Shape 21"/>
          <p:cNvSpPr/>
          <p:nvPr/>
        </p:nvSpPr>
        <p:spPr>
          <a:xfrm>
            <a:off x="1810192" y="4115714"/>
            <a:ext cx="420624" cy="150784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718752" y="3823106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654744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情報提供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 flipV="1">
            <a:off x="1398712" y="3219809"/>
            <a:ext cx="621792" cy="58291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965640" y="3164945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130232" y="3174089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71%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2431984" y="4986223"/>
            <a:ext cx="420624" cy="63733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2340544" y="4693615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2276536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 flipV="1">
            <a:off x="2020504" y="2973424"/>
            <a:ext cx="621792" cy="24638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587432" y="2918560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35" name="Shape 32"/>
          <p:cNvSpPr/>
          <p:nvPr/>
        </p:nvSpPr>
        <p:spPr>
          <a:xfrm>
            <a:off x="3053776" y="5110582"/>
            <a:ext cx="420624" cy="5129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962336" y="4817974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2898328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車内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 flipV="1">
            <a:off x="2642296" y="2775115"/>
            <a:ext cx="621792" cy="19830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3209224" y="272025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0" name="Shape 37"/>
          <p:cNvSpPr/>
          <p:nvPr/>
        </p:nvSpPr>
        <p:spPr>
          <a:xfrm>
            <a:off x="3675568" y="5203850"/>
            <a:ext cx="420624" cy="41971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584128" y="491124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3520120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乗務員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 flipV="1">
            <a:off x="3264088" y="2612861"/>
            <a:ext cx="621792" cy="162253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831016" y="2557997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5" name="Shape 42"/>
          <p:cNvSpPr/>
          <p:nvPr/>
        </p:nvSpPr>
        <p:spPr>
          <a:xfrm>
            <a:off x="4297360" y="5281574"/>
            <a:ext cx="420624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4205920" y="4988966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141912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 flipV="1">
            <a:off x="3885880" y="2480655"/>
            <a:ext cx="621792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452808" y="242579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0" name="Shape 47"/>
          <p:cNvSpPr/>
          <p:nvPr/>
        </p:nvSpPr>
        <p:spPr>
          <a:xfrm>
            <a:off x="4919152" y="5343754"/>
            <a:ext cx="420624" cy="2798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4827712" y="5051146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4763704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 flipV="1">
            <a:off x="4507672" y="2372486"/>
            <a:ext cx="621792" cy="10816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074600" y="2317622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5" name="Shape 52"/>
          <p:cNvSpPr/>
          <p:nvPr/>
        </p:nvSpPr>
        <p:spPr>
          <a:xfrm>
            <a:off x="5540944" y="5281574"/>
            <a:ext cx="420624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449504" y="4988966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5385496" y="5669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 flipV="1">
            <a:off x="5129464" y="2240280"/>
            <a:ext cx="621792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696392" y="2185416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4995688" y="17830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累積構成比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上位3種類で苦情の71%を占める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遅延182件・接続121件・情報提供97件。いずれも運行の遅れと案内の不足から生じている</a:t>
            </a:r>
            <a:endParaRPr lang="en-US" sz="1200" dirty="0"/>
          </a:p>
        </p:txBody>
      </p:sp>
      <p:sp>
        <p:nvSpPr>
          <p:cNvPr id="64" name="Shape 61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3つに対策を絞れば苦情の大半が減る</a:t>
            </a:r>
            <a:endParaRPr lang="en-US" sz="1400" dirty="0"/>
          </a:p>
        </p:txBody>
      </p:sp>
      <p:sp>
        <p:nvSpPr>
          <p:cNvPr id="66" name="Text 63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遅延と接続は接続ダイヤの見直し（P78）、情報提供は車内と停留所の表示で手当てできる</a:t>
            </a:r>
            <a:endParaRPr lang="en-US" sz="12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アプリを知った人のうち実際に予約まで至るのは12%にとどまる。最大の離脱は登録から初回予約の間で起きており、ここで半数以上が離れている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利用までの段階ごとの人数と移行率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（人、2026年4〜9月）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注）アプリを知った人は広報の到達数（推計）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出所）予約アプリの利用ログ（2026年4〜9月）を基に作成（名称・数値は架空の見本）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270008" y="18745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移行率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29648" y="2194560"/>
            <a:ext cx="310896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219456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230048" y="219456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869067" y="2962656"/>
            <a:ext cx="1430122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0848" y="2962656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ダウンロード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390628" y="2962656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9,200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361448" y="2871216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270008" y="2862072"/>
            <a:ext cx="11887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148873" y="3730752"/>
            <a:ext cx="870509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73075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会員登録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315648" y="373075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361448" y="3639312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270008" y="3630168"/>
            <a:ext cx="11887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97590" y="4498848"/>
            <a:ext cx="373075" cy="56692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00848" y="4498848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初回予約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315648" y="449884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2,400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361448" y="4407408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43%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5270008" y="4398264"/>
            <a:ext cx="11887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467542" y="5266944"/>
            <a:ext cx="233172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5266944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2回目以降の予約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4315648" y="526694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361448" y="5175504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270008" y="5166360"/>
            <a:ext cx="11887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アプリを知った人の12%が予約まで至る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20,000人のうち初回予約は2,400人。2回目以降も使い続けるのは1,500人（7.5%）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最大の離脱は登録から初回予約の間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移行率は43%で5段階の中で最も低い。初回の予約の手順を3つに減らす（P51）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沿線42集落の最寄り駅までの距離は中央値で2.4kmだが、5km以上の集落が9つあり分布は長く右に伸びる。平均値では遠い集落の実態が見えない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集落別の最寄り駅までの距離の分布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（集落数、km）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注）距離は集落の中心から最寄り駅までの道路距離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出所）沿線集落の位置データ（2025年）を基に作成（名称・数値は架空の見本）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66608" y="5577840"/>
            <a:ext cx="5522976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8048" y="3712464"/>
            <a:ext cx="548640" cy="186537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58048" y="3419856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66608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261552" y="2468880"/>
            <a:ext cx="548640" cy="310896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261552" y="2176272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70112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865056" y="2779776"/>
            <a:ext cx="548640" cy="2798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65056" y="2487168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773616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2468560" y="4023360"/>
            <a:ext cx="548640" cy="1554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468560" y="3730752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37712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072064" y="4645152"/>
            <a:ext cx="548640" cy="93268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072064" y="4352544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2980624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4–5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3675568" y="4645152"/>
            <a:ext cx="548640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675568" y="4352544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3584128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5–6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279072" y="4956048"/>
            <a:ext cx="548640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279072" y="4663440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4187632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6–7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882576" y="4956048"/>
            <a:ext cx="548640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4882576" y="4663440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4791136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7–8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080" y="4956048"/>
            <a:ext cx="548640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486080" y="4663440"/>
            <a:ext cx="5486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3946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2106457" y="2103120"/>
            <a:ext cx="0" cy="347472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2179609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中央値 2.4km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3675568" y="4187952"/>
            <a:ext cx="2359152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492688" y="3840480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5km以上　9集落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中央値は2.4km、9集落は5km以上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42集落の2割が駅から5km以上離れ、歩いて駅に行けない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平均の3.2kmでは遠い集落が見えない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遠い9集落の住民は約1,400人。予約型交通の乗降地点を、まずここに置く</a:t>
            </a:r>
            <a:endParaRPr lang="en-US" sz="1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通院する高齢者は予約から帰宅までの5段階のうち、乗継ぎの待ち時間で最も強い不満を抱く。打ち手は乗継ぎの段階に集中させるべきである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通院する高齢者の移動の流れ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（ヒアリング20件を基に作成）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出所）通院する高齢者へのヒアリング（2026年5月、20件）を基に作成（名称・数値は架空の見本）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572448" y="1874520"/>
            <a:ext cx="1663056" cy="41148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75532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予約する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9892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38180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駅まで行く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825408" y="1874520"/>
            <a:ext cx="1663056" cy="41148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0828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乗り継ぐ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5188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3476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受診する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078368" y="1874520"/>
            <a:ext cx="1626480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6124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帰宅する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852840" y="2331720"/>
            <a:ext cx="1571616" cy="3794760"/>
          </a:xfrm>
          <a:prstGeom prst="rect">
            <a:avLst/>
          </a:prstGeom>
          <a:ln w="15875">
            <a:solidFill>
              <a:srgbClr val="000F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242316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行動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64560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電話で予約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27208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徒歩で15分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89856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駅で40分待つ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52504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受付から2時間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15152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家族が迎えに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0358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081528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4560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平日のみ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7208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坂道がきつい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89856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待合所が寒い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2504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815152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頼みにくい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200848" y="36941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00848" y="3739896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4560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アプリと電話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27208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戸口まで送迎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89856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接続ダイヤ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52504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15152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帰りの予約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435254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983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満足度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572448" y="521208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2312536" y="4782312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7" name="Shape 44"/>
          <p:cNvSpPr/>
          <p:nvPr/>
        </p:nvSpPr>
        <p:spPr>
          <a:xfrm>
            <a:off x="2385688" y="4855464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3939016" y="4901184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4012168" y="4974336"/>
            <a:ext cx="1626480" cy="71323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538064" y="5586984"/>
            <a:ext cx="201168" cy="201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1" name="Shape 48"/>
          <p:cNvSpPr/>
          <p:nvPr/>
        </p:nvSpPr>
        <p:spPr>
          <a:xfrm flipV="1">
            <a:off x="5638648" y="5093208"/>
            <a:ext cx="1626480" cy="59436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191976" y="5020056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Shape 50"/>
          <p:cNvSpPr/>
          <p:nvPr/>
        </p:nvSpPr>
        <p:spPr>
          <a:xfrm>
            <a:off x="7265128" y="5093208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818456" y="513892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4815688" y="57972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最も強い不満</a:t>
            </a:r>
            <a:endParaRPr lang="en-US" sz="1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推進体制は協議会の下に事務局を新設し、3つの作業部会を束ねる。事務局が予算と進捗を一元管理することで、部会間の調整を月1回の会議に集約する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（2027年度から）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68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06928" y="1874520"/>
            <a:ext cx="32918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038448" y="19659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地域交通協議会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038448" y="231343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市長・事業者・住民代表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06928" y="3200400"/>
            <a:ext cx="3291840" cy="8686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038448" y="329184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事務局（新設）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038448" y="36393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予算と進捗を一元管理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053088" y="3200400"/>
            <a:ext cx="26517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7784608" y="32918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有識者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784608" y="36393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月1回の助言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952848" y="2743200"/>
            <a:ext cx="0" cy="457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98768" y="3630168"/>
            <a:ext cx="454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>
            <a:off x="4952848" y="406908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693408" y="4480560"/>
            <a:ext cx="651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69340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236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運行部会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93236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事業者3社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95284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46028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19180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利用促進部会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19180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商工会・学校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21228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71972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45124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データ部会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45124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市情報政策課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00848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（実線＝指揮、点線＝助言）</a:t>
            </a:r>
            <a:endParaRPr lang="en-US" sz="1200" dirty="0"/>
          </a:p>
        </p:txBody>
      </p:sp>
      <p:pic>
        <p:nvPicPr>
          <p:cNvPr id="37" name="Image 0" descr="land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4088" y="2057400"/>
            <a:ext cx="502920" cy="502920"/>
          </a:xfrm>
          <a:prstGeom prst="rect">
            <a:avLst/>
          </a:prstGeom>
        </p:spPr>
      </p:pic>
      <p:pic>
        <p:nvPicPr>
          <p:cNvPr id="38" name="Image 1" descr="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088" y="3383280"/>
            <a:ext cx="502920" cy="502920"/>
          </a:xfrm>
          <a:prstGeom prst="rect">
            <a:avLst/>
          </a:prstGeom>
        </p:spPr>
      </p:pic>
      <p:pic>
        <p:nvPicPr>
          <p:cNvPr id="39" name="Image 2" descr="light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248" y="3383280"/>
            <a:ext cx="502920" cy="502920"/>
          </a:xfrm>
          <a:prstGeom prst="rect">
            <a:avLst/>
          </a:prstGeom>
        </p:spPr>
      </p:pic>
      <p:pic>
        <p:nvPicPr>
          <p:cNvPr id="40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008" y="5074920"/>
            <a:ext cx="502920" cy="502920"/>
          </a:xfrm>
          <a:prstGeom prst="rect">
            <a:avLst/>
          </a:prstGeom>
        </p:spPr>
      </p:pic>
      <p:pic>
        <p:nvPicPr>
          <p:cNvPr id="41" name="Image 4" descr="messages-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7448" y="5074920"/>
            <a:ext cx="502920" cy="502920"/>
          </a:xfrm>
          <a:prstGeom prst="rect">
            <a:avLst/>
          </a:prstGeom>
        </p:spPr>
      </p:pic>
      <p:pic>
        <p:nvPicPr>
          <p:cNvPr id="42" name="Image 5" descr="datab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6888" y="5074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3つのフェーズを4つの作業の流れで進め、18か月で本格運行に移る。完了時期を決めるのは車両の調達であり、発注を最初の3か月で終える必要がある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作業の流れ別の実行計画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（2027年4月〜2028年9月）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注）◆は判断の時期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21088" y="1874520"/>
            <a:ext cx="2564496" cy="38404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34968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フェーズ1　準備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12108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2027年4〜9月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49008" y="1874520"/>
            <a:ext cx="2564496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7760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フェーズ2　実証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64900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2027年10月〜2028年3月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176928" y="1874520"/>
            <a:ext cx="2527920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0552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フェーズ3　移行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7692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2028年4〜9月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00848" y="2743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運行計画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3832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16680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23081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ダイヤ案の作成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69472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75873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実証運行と見直し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22264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28665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本格ダイヤ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3474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114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166808" y="3529584"/>
            <a:ext cx="1172520" cy="40233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230816" y="3529584"/>
            <a:ext cx="1044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発注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430768" y="3529584"/>
            <a:ext cx="370044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494776" y="3529584"/>
            <a:ext cx="3572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製造・納入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222648" y="352958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286656" y="352958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全車両の配備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4206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システム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166808" y="4261104"/>
            <a:ext cx="2942064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2230816" y="4261104"/>
            <a:ext cx="281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予約アプリの開発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5200312" y="4261104"/>
            <a:ext cx="4458816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264320" y="4261104"/>
            <a:ext cx="433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試験運用と改良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00848" y="49377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469472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75873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沿線への周知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722264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728665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定期券の切替え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464900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49" name="Shape 46"/>
          <p:cNvSpPr/>
          <p:nvPr/>
        </p:nvSpPr>
        <p:spPr>
          <a:xfrm>
            <a:off x="453013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346028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判断：実証の可否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717692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>
            <a:off x="705805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598820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判断：本格運行の可否</a:t>
            </a:r>
            <a:endParaRPr lang="en-US" sz="14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沿線の交通は25年で3度の転機を経てきた。2020年の減便以降は利用の減少が加速しており、今回の見直しは2008年以来の大きな転機となる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沿線の交通をめぐる主な出来事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（2000〜2026年）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出所）みなと鉄道 社史・みなと市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66608" y="4023360"/>
            <a:ext cx="8772480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60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253623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87863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2005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94063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7487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27654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261894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314669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48909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01685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35925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314669" y="3931920"/>
            <a:ext cx="2024418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314669" y="4407408"/>
            <a:ext cx="2024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利用の減少が加速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578817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50566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72977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2003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72977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第三セクターに移行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265832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192680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259992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2008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2259992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上下分離を検討し見送り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615445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42293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609605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3609605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駅の無人化（6駅）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965057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9190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959217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959217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沿線高校の統合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314669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241517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308829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6308829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減便（1日32→24本）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9339088" y="4023360"/>
            <a:ext cx="0" cy="685800"/>
          </a:xfrm>
          <a:prstGeom prst="line">
            <a:avLst/>
          </a:prstGeom>
          <a:noFill/>
          <a:ln w="9525">
            <a:solidFill>
              <a:srgbClr val="000F7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201928" y="388620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693168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7693168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運営形態の見直し</a:t>
            </a:r>
            <a:endParaRPr lang="en-US" sz="14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3つの運営形態のうち、上下分離案は町の負担を年4.1億円減らしつつ運行を続けられる。費用と継続性の両面で最も優れ、推奨案とする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（町の負担は2030年度の試算）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注）町の負担は2030年度の試算。補助制度は現行のものを前提とした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　現状維持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837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37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町が赤字を補填し続ける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37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837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3837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37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高い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837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837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運行は続くが負担が増え続ける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445048" y="1965960"/>
            <a:ext cx="3015600" cy="40690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推奨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279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　上下分離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6279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279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6279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施設は町、運行は会社が担う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6279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6279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36279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279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中程度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279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6279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補助制度の採択が前提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6892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8721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　バス転換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68721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721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8721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鉄道を廃止しバスで代替する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8721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8721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3200" dirty="0"/>
          </a:p>
        </p:txBody>
      </p:sp>
      <p:sp>
        <p:nvSpPr>
          <p:cNvPr id="43" name="Text 40"/>
          <p:cNvSpPr txBox="1"/>
          <p:nvPr/>
        </p:nvSpPr>
        <p:spPr>
          <a:xfrm>
            <a:off x="68721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68721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低い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68721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21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利用者の3割が離れる恐れ</a:t>
            </a:r>
            <a:endParaRPr lang="en-US" sz="14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8者の関係者のうち、影響力が大きく関心の低い県を早期に巻き込むことが鍵である。県の補助が上下分離案の前提となるため、年内に協議を始める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関係者の影響力と関心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（ヒアリングを基に評価）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出所）関係者ヒアリング（2026年4〜6月、32件）を基に作成（名称・数値は架空の見本）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5806440"/>
            <a:ext cx="5852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3808" y="1965960"/>
            <a:ext cx="0" cy="3840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49888" y="1965960"/>
            <a:ext cx="0" cy="384048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1023808" y="3886200"/>
            <a:ext cx="5852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200848" y="19202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影響力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687248" y="58521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関心　→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11524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満足を保つ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04132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重点的に巻き込む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11524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様子を見る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04132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情報を伝える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192411" y="242316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475875" y="238658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448443" y="2587752"/>
            <a:ext cx="2633472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dash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740283" y="234452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87171" y="227137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38024" y="284378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284912" y="277063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町長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989768" y="3112618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236656" y="303946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国（運輸局）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569851" y="4495190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16739" y="442203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399419" y="476402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646307" y="46908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915848" y="418795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162736" y="4114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994900" y="514807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2241788" y="50749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観光協会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241728" y="19659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巻き込み方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7241728" y="2295144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241728" y="24231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241728" y="2715768"/>
            <a:ext cx="246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補助の前提条件を年内に協議し、関心を高める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241728" y="3611880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241728" y="374904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鉄道会社・町長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7241728" y="4041648"/>
            <a:ext cx="246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月1回の協議会で進捗を共有する</a:t>
            </a:r>
            <a:endParaRPr lang="en-US" sz="14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課題（論点2）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支線の1便当たりの赤字は1万2千円で、幹線の4倍に達する。赤字の原因は便数の多さではなく、1便当たりの乗客の少なさにある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注）1便当たりの赤字＝路線区分の赤字÷年間便数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4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25365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948040"/>
            <a:ext cx="2011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30852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支線は、1便に乗る客の少なさで赤字が膨らむ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56692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 打ち手はp.17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532568" y="1576440"/>
            <a:ext cx="0" cy="452628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761168" y="1485000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路線区分別の1便当たりの赤字（円、2025年度）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761168" y="1832472"/>
            <a:ext cx="6943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61168" y="20574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支線（12路線）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69928" y="2167128"/>
            <a:ext cx="4520520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863600" y="20574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12,000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2761168" y="29718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循環線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269928" y="3081528"/>
            <a:ext cx="218491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27998" y="29718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761168" y="38862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深夜便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69928" y="3995928"/>
            <a:ext cx="1544511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87591" y="38862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4,100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2761168" y="4800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幹線（4路線）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269928" y="4910328"/>
            <a:ext cx="113013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473210" y="48006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269928" y="2011680"/>
            <a:ext cx="0" cy="36576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61168" y="5715000"/>
            <a:ext cx="6943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761168" y="5788152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1便当たりの乗客　支線 1.2人／幹線 9.8人</a:t>
            </a:r>
            <a:endParaRPr lang="en-US" sz="14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予約型交通の試行で1日200人が新たに乗り、185人が乗らなくなった。差し引きの増加は15人にとどまり、減った分の4割は東部の定時便の利用者である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地区別の1日当たり利用者数の増減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（人／日、試行前1か月と試行後1か月の比較）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注）試行は東部・北部の2地区で2026年6月に開始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出所）予約型交通の試行の乗降記録を基に作成（名称・数値は架空の見本）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1488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＋200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880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増える分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−185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48006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減る分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5257800"/>
            <a:ext cx="210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5349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＋15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669728" y="3794760"/>
            <a:ext cx="703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91835" y="2478024"/>
            <a:ext cx="562810" cy="131673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0" name="Shape 17"/>
          <p:cNvSpPr/>
          <p:nvPr/>
        </p:nvSpPr>
        <p:spPr>
          <a:xfrm>
            <a:off x="3091835" y="3794760"/>
            <a:ext cx="562810" cy="43891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908955" y="218541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＋60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2908955" y="427024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−20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2669728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498859" y="2916936"/>
            <a:ext cx="562810" cy="8778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4498859" y="3794760"/>
            <a:ext cx="562810" cy="120700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315979" y="262432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＋40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4315979" y="5038344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076752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905883" y="3575304"/>
            <a:ext cx="562810" cy="21945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Shape 27"/>
          <p:cNvSpPr/>
          <p:nvPr/>
        </p:nvSpPr>
        <p:spPr>
          <a:xfrm>
            <a:off x="5905883" y="3794760"/>
            <a:ext cx="562810" cy="15361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723003" y="328269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＋10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723003" y="536752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−70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483776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7312907" y="2258568"/>
            <a:ext cx="562810" cy="153619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7312907" y="3794760"/>
            <a:ext cx="56281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130027" y="196596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＋70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7130027" y="416052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6890800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8719931" y="3355848"/>
            <a:ext cx="562810" cy="43891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0" name="Shape 37"/>
          <p:cNvSpPr/>
          <p:nvPr/>
        </p:nvSpPr>
        <p:spPr>
          <a:xfrm>
            <a:off x="8719931" y="3794760"/>
            <a:ext cx="562810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8537051" y="306324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8537051" y="437997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8297824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00848" y="5760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補足：基準線の上は新たに乗った人、下は乗らなくなった人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市の手続き420件のうちオンラインで完結するのは84件にとどまる。未着手の8割は福祉と税に集中しており、両部門から手を付ける必要がある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部門別・段階別の手続きの件数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（件、2026年9月時点、円の面積は件数に比例）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行政手続きの処理状況（2026年9月）を基に作成（名称・数値は架空の見本）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未着手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4552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試行中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2716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一部で運用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00880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オンラインで完結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790448" y="1920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37744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1964024" y="2371972"/>
            <a:ext cx="724168" cy="724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33912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952569" y="2578877"/>
            <a:ext cx="310358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33634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762685" y="2607353"/>
            <a:ext cx="253406" cy="25340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11798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567575" y="2630603"/>
            <a:ext cx="206905" cy="206905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9962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8790448" y="2377440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200848" y="3127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163824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税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15750" y="3210082"/>
            <a:ext cx="620715" cy="620715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682185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3966089" y="3378782"/>
            <a:ext cx="283316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33634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743084" y="3374136"/>
            <a:ext cx="292608" cy="29260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11798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7539151" y="3388563"/>
            <a:ext cx="263753" cy="26375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89962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790448" y="3163824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200848" y="39136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950208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184449" y="4165166"/>
            <a:ext cx="283316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255470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3970893" y="4169969"/>
            <a:ext cx="273710" cy="27371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33634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5725815" y="4143251"/>
            <a:ext cx="327146" cy="32714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611798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7454641" y="4090437"/>
            <a:ext cx="432773" cy="43277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933134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8790448" y="3950208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200848" y="47000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736592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2166677" y="4933777"/>
            <a:ext cx="318862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55470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3952569" y="4938029"/>
            <a:ext cx="310358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433634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5729957" y="4933777"/>
            <a:ext cx="318862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611798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7477486" y="4899666"/>
            <a:ext cx="387084" cy="38708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7910290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8790448" y="4736592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200" dirty="0"/>
          </a:p>
        </p:txBody>
      </p:sp>
      <p:sp>
        <p:nvSpPr>
          <p:cNvPr id="62" name="Shape 59"/>
          <p:cNvSpPr/>
          <p:nvPr/>
        </p:nvSpPr>
        <p:spPr>
          <a:xfrm>
            <a:off x="200848" y="555955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200848" y="561441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166388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344552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1200" dirty="0"/>
          </a:p>
        </p:txBody>
      </p:sp>
      <p:sp>
        <p:nvSpPr>
          <p:cNvPr id="66" name="Text 63"/>
          <p:cNvSpPr txBox="1"/>
          <p:nvPr/>
        </p:nvSpPr>
        <p:spPr>
          <a:xfrm>
            <a:off x="522716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1200" dirty="0"/>
          </a:p>
        </p:txBody>
      </p:sp>
      <p:sp>
        <p:nvSpPr>
          <p:cNvPr id="67" name="Text 64"/>
          <p:cNvSpPr txBox="1"/>
          <p:nvPr/>
        </p:nvSpPr>
        <p:spPr>
          <a:xfrm>
            <a:off x="700880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790448" y="561441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endParaRPr lang="en-US" sz="1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市内120の停留所のうち、上位1割の12か所で乗車の53%を占める。残る108か所の大半は1日10人未満で、乗降地点を集約する余地が大きい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停留所別の1日当たり乗車人数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（人、120停留所を多い順に並べたもの、2025年度）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注）乗車人数は2025年度の平日平均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6883" y="2377440"/>
            <a:ext cx="38222" cy="33832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257175" y="4107820"/>
            <a:ext cx="38222" cy="16529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307467" y="4676004"/>
            <a:ext cx="38222" cy="108471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357759" y="4947183"/>
            <a:ext cx="38222" cy="813537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408051" y="5115056"/>
            <a:ext cx="38222" cy="64566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458343" y="5218362"/>
            <a:ext cx="38222" cy="54235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508635" y="5295842"/>
            <a:ext cx="38222" cy="46487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558927" y="5360408"/>
            <a:ext cx="38222" cy="40031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609219" y="5399148"/>
            <a:ext cx="38222" cy="36157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659511" y="5437888"/>
            <a:ext cx="38222" cy="32283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709803" y="5463715"/>
            <a:ext cx="38222" cy="297005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760095" y="5489541"/>
            <a:ext cx="38222" cy="271179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810387" y="5502454"/>
            <a:ext cx="38222" cy="2582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860679" y="5528281"/>
            <a:ext cx="38222" cy="23243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910971" y="5541194"/>
            <a:ext cx="38222" cy="21952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Shape 24"/>
          <p:cNvSpPr/>
          <p:nvPr/>
        </p:nvSpPr>
        <p:spPr>
          <a:xfrm>
            <a:off x="961263" y="5554107"/>
            <a:ext cx="38222" cy="20661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1555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061847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1112139" y="5579934"/>
            <a:ext cx="38222" cy="1807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1162431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Shape 29"/>
          <p:cNvSpPr/>
          <p:nvPr/>
        </p:nvSpPr>
        <p:spPr>
          <a:xfrm>
            <a:off x="1212723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Shape 30"/>
          <p:cNvSpPr/>
          <p:nvPr/>
        </p:nvSpPr>
        <p:spPr>
          <a:xfrm>
            <a:off x="1263015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1313307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Shape 32"/>
          <p:cNvSpPr/>
          <p:nvPr/>
        </p:nvSpPr>
        <p:spPr>
          <a:xfrm>
            <a:off x="1363599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1413891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464183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1514475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Shape 36"/>
          <p:cNvSpPr/>
          <p:nvPr/>
        </p:nvSpPr>
        <p:spPr>
          <a:xfrm>
            <a:off x="1564767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0" name="Shape 37"/>
          <p:cNvSpPr/>
          <p:nvPr/>
        </p:nvSpPr>
        <p:spPr>
          <a:xfrm>
            <a:off x="1615059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Shape 38"/>
          <p:cNvSpPr/>
          <p:nvPr/>
        </p:nvSpPr>
        <p:spPr>
          <a:xfrm>
            <a:off x="1665351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1715643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1765935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816227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86651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1916811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967103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017395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2067687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11797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216827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221856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226885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2319147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2369439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41973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47002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52031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257060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262089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267119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272148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277177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282206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287235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92265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97294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302323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07352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12381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17411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322440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327469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332498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337527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342557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347586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352615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57644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62673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67703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372732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377761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382790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387819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392849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397878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402907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407936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412965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417995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23024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428053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433082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43811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44314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44817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45319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45822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46325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46828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331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47834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48337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48840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49343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498462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503491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508520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513549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518579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2" name="Shape 109"/>
          <p:cNvSpPr/>
          <p:nvPr/>
        </p:nvSpPr>
        <p:spPr>
          <a:xfrm>
            <a:off x="523608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3" name="Shape 110"/>
          <p:cNvSpPr/>
          <p:nvPr/>
        </p:nvSpPr>
        <p:spPr>
          <a:xfrm>
            <a:off x="528637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4" name="Shape 111"/>
          <p:cNvSpPr/>
          <p:nvPr/>
        </p:nvSpPr>
        <p:spPr>
          <a:xfrm>
            <a:off x="533666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5" name="Shape 112"/>
          <p:cNvSpPr/>
          <p:nvPr/>
        </p:nvSpPr>
        <p:spPr>
          <a:xfrm>
            <a:off x="538695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6" name="Shape 113"/>
          <p:cNvSpPr/>
          <p:nvPr/>
        </p:nvSpPr>
        <p:spPr>
          <a:xfrm>
            <a:off x="543725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7" name="Shape 114"/>
          <p:cNvSpPr/>
          <p:nvPr/>
        </p:nvSpPr>
        <p:spPr>
          <a:xfrm>
            <a:off x="548754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8" name="Shape 115"/>
          <p:cNvSpPr/>
          <p:nvPr/>
        </p:nvSpPr>
        <p:spPr>
          <a:xfrm>
            <a:off x="553783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9" name="Shape 116"/>
          <p:cNvSpPr/>
          <p:nvPr/>
        </p:nvSpPr>
        <p:spPr>
          <a:xfrm>
            <a:off x="558812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0" name="Shape 117"/>
          <p:cNvSpPr/>
          <p:nvPr/>
        </p:nvSpPr>
        <p:spPr>
          <a:xfrm>
            <a:off x="56384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1" name="Shape 118"/>
          <p:cNvSpPr/>
          <p:nvPr/>
        </p:nvSpPr>
        <p:spPr>
          <a:xfrm>
            <a:off x="56887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2" name="Shape 119"/>
          <p:cNvSpPr/>
          <p:nvPr/>
        </p:nvSpPr>
        <p:spPr>
          <a:xfrm>
            <a:off x="57390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3" name="Shape 120"/>
          <p:cNvSpPr/>
          <p:nvPr/>
        </p:nvSpPr>
        <p:spPr>
          <a:xfrm>
            <a:off x="57892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4" name="Shape 121"/>
          <p:cNvSpPr/>
          <p:nvPr/>
        </p:nvSpPr>
        <p:spPr>
          <a:xfrm>
            <a:off x="58395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5" name="Shape 122"/>
          <p:cNvSpPr/>
          <p:nvPr/>
        </p:nvSpPr>
        <p:spPr>
          <a:xfrm>
            <a:off x="58898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6" name="Shape 123"/>
          <p:cNvSpPr/>
          <p:nvPr/>
        </p:nvSpPr>
        <p:spPr>
          <a:xfrm>
            <a:off x="59401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7" name="Shape 124"/>
          <p:cNvSpPr/>
          <p:nvPr/>
        </p:nvSpPr>
        <p:spPr>
          <a:xfrm>
            <a:off x="59904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8" name="Shape 125"/>
          <p:cNvSpPr/>
          <p:nvPr/>
        </p:nvSpPr>
        <p:spPr>
          <a:xfrm>
            <a:off x="60407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9" name="Shape 126"/>
          <p:cNvSpPr/>
          <p:nvPr/>
        </p:nvSpPr>
        <p:spPr>
          <a:xfrm>
            <a:off x="60910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0" name="Shape 127"/>
          <p:cNvSpPr/>
          <p:nvPr/>
        </p:nvSpPr>
        <p:spPr>
          <a:xfrm>
            <a:off x="61413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1" name="Shape 128"/>
          <p:cNvSpPr/>
          <p:nvPr/>
        </p:nvSpPr>
        <p:spPr>
          <a:xfrm>
            <a:off x="61916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2" name="Shape 129"/>
          <p:cNvSpPr/>
          <p:nvPr/>
        </p:nvSpPr>
        <p:spPr>
          <a:xfrm>
            <a:off x="200848" y="5760720"/>
            <a:ext cx="60350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804352" y="2011680"/>
            <a:ext cx="0" cy="374904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134" name="Text 131"/>
          <p:cNvSpPr txBox="1"/>
          <p:nvPr/>
        </p:nvSpPr>
        <p:spPr>
          <a:xfrm>
            <a:off x="914080" y="2011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乗車の53%</a:t>
            </a:r>
            <a:endParaRPr lang="en-US" sz="1400" dirty="0"/>
          </a:p>
        </p:txBody>
      </p:sp>
      <p:sp>
        <p:nvSpPr>
          <p:cNvPr id="135" name="Text 132"/>
          <p:cNvSpPr txBox="1"/>
          <p:nvPr/>
        </p:nvSpPr>
        <p:spPr>
          <a:xfrm>
            <a:off x="200848" y="5806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多い順 →</a:t>
            </a:r>
            <a:endParaRPr lang="en-US" sz="1100" dirty="0"/>
          </a:p>
        </p:txBody>
      </p:sp>
      <p:sp>
        <p:nvSpPr>
          <p:cNvPr id="136" name="Text 133"/>
          <p:cNvSpPr txBox="1"/>
          <p:nvPr/>
        </p:nvSpPr>
        <p:spPr>
          <a:xfrm>
            <a:off x="6647368" y="1850760"/>
            <a:ext cx="305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37" name="Shape 134"/>
          <p:cNvSpPr/>
          <p:nvPr/>
        </p:nvSpPr>
        <p:spPr>
          <a:xfrm>
            <a:off x="6647368" y="2198232"/>
            <a:ext cx="3057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8" name="Text 135"/>
          <p:cNvSpPr txBox="1"/>
          <p:nvPr/>
        </p:nvSpPr>
        <p:spPr>
          <a:xfrm>
            <a:off x="6647368" y="228600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上位12か所（1割）で53%</a:t>
            </a:r>
            <a:endParaRPr lang="en-US" sz="1400" dirty="0"/>
          </a:p>
        </p:txBody>
      </p:sp>
      <p:sp>
        <p:nvSpPr>
          <p:cNvPr id="139" name="Text 136"/>
          <p:cNvSpPr txBox="1"/>
          <p:nvPr/>
        </p:nvSpPr>
        <p:spPr>
          <a:xfrm>
            <a:off x="6647368" y="265176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1日793人／全体1,501人</a:t>
            </a:r>
            <a:endParaRPr lang="en-US" sz="1400" dirty="0"/>
          </a:p>
        </p:txBody>
      </p:sp>
      <p:sp>
        <p:nvSpPr>
          <p:cNvPr id="140" name="Shape 137"/>
          <p:cNvSpPr/>
          <p:nvPr/>
        </p:nvSpPr>
        <p:spPr>
          <a:xfrm>
            <a:off x="6647368" y="331012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1" name="Text 138"/>
          <p:cNvSpPr txBox="1"/>
          <p:nvPr/>
        </p:nvSpPr>
        <p:spPr>
          <a:xfrm>
            <a:off x="6647368" y="347472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91か所は1日10人未満</a:t>
            </a:r>
            <a:endParaRPr lang="en-US" sz="1400" dirty="0"/>
          </a:p>
        </p:txBody>
      </p:sp>
      <p:sp>
        <p:nvSpPr>
          <p:cNvPr id="142" name="Text 139"/>
          <p:cNvSpPr txBox="1"/>
          <p:nvPr/>
        </p:nvSpPr>
        <p:spPr>
          <a:xfrm>
            <a:off x="6647368" y="384048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残る108か所の8割以上</a:t>
            </a:r>
            <a:endParaRPr lang="en-US" sz="1400" dirty="0"/>
          </a:p>
        </p:txBody>
      </p:sp>
      <p:sp>
        <p:nvSpPr>
          <p:cNvPr id="143" name="Shape 140"/>
          <p:cNvSpPr/>
          <p:nvPr/>
        </p:nvSpPr>
        <p:spPr>
          <a:xfrm>
            <a:off x="6647368" y="449884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6647368" y="466344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集約の候補</a:t>
            </a:r>
            <a:endParaRPr lang="en-US" sz="1400" dirty="0"/>
          </a:p>
        </p:txBody>
      </p:sp>
      <p:sp>
        <p:nvSpPr>
          <p:cNvPr id="145" name="Text 142"/>
          <p:cNvSpPr txBox="1"/>
          <p:nvPr/>
        </p:nvSpPr>
        <p:spPr>
          <a:xfrm>
            <a:off x="6647368" y="502920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10人未満の停留所を予約型の乗降地点にまとめる</a:t>
            </a:r>
            <a:endParaRPr lang="en-US" sz="14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移動支援の費用4.3億円の8割は、移動の手段を用意するメニューに向いている。負担を下げるメニューは費用が小さく、拡充の余地が大きい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移動支援のメニューと費用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出所）みなと市「決算書」（2025年度）を基に作成（名称・数値は架空の見本）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分類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898328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メニュー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641528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41808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423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移動の手段を用意する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00848" y="2807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340（80%）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788600" y="2478024"/>
            <a:ext cx="0" cy="131673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98328" y="24231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641528" y="24231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高齢者・通学の生徒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241808" y="242316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898328" y="2898648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98328" y="289864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コミュニティバス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641528" y="289864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全住民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241808" y="28986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2898328" y="3374136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898328" y="337413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福祉有償運送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641528" y="337413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241808" y="3374136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00848" y="394106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07822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移動の負担を下げる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44622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85（20%）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2788600" y="4133088"/>
            <a:ext cx="0" cy="1316736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898328" y="407822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運賃の割引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641528" y="407822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241808" y="4078224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2898328" y="4553712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898328" y="455371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641528" y="45537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免許を返納した人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241808" y="455371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2898328" y="5029200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898328" y="502920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通院の付添い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641528" y="50292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241808" y="502920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200848" y="564184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0848" y="570585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241808" y="570585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425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利用者が挙げる不便は、それぞれ別の原因から生じている。最も効くのは支線の時刻を幹線に合わせることで、費用を増やさずに乗継ぎの待ちを減らせる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利用者が感じる不便の原因と解決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（利用者アンケートの上位の不便、2026年5月）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注）不便の上位3つ（複数回答）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出所）みなと市「地域交通に関する住民アンケート」（2026年5月、n＝1,200）を基に作成（名称・数値は架空の見本）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課題（利用者の不便）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33152" y="1997521"/>
            <a:ext cx="70409" cy="140818"/>
          </a:xfrm>
          <a:custGeom>
            <a:avLst/>
            <a:gdLst/>
            <a:ahLst/>
            <a:cxnLst/>
            <a:rect l="l" t="t" r="r" b="b"/>
            <a:pathLst>
              <a:path w="70409" h="140818">
                <a:moveTo>
                  <a:pt x="0" y="0"/>
                </a:moveTo>
                <a:lnTo>
                  <a:pt x="70409" y="70409"/>
                </a:lnTo>
                <a:lnTo>
                  <a:pt x="0" y="1408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5" name="Shape 12"/>
          <p:cNvSpPr/>
          <p:nvPr/>
        </p:nvSpPr>
        <p:spPr>
          <a:xfrm>
            <a:off x="2685958" y="2002322"/>
            <a:ext cx="59047" cy="131216"/>
          </a:xfrm>
          <a:custGeom>
            <a:avLst/>
            <a:gdLst/>
            <a:ahLst/>
            <a:cxnLst/>
            <a:rect l="l" t="t" r="r" b="b"/>
            <a:pathLst>
              <a:path w="59047" h="131216">
                <a:moveTo>
                  <a:pt x="0" y="0"/>
                </a:moveTo>
                <a:lnTo>
                  <a:pt x="59047" y="65608"/>
                </a:lnTo>
                <a:lnTo>
                  <a:pt x="0" y="131216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440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原因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9440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76352" y="1997521"/>
            <a:ext cx="70409" cy="140818"/>
          </a:xfrm>
          <a:custGeom>
            <a:avLst/>
            <a:gdLst/>
            <a:ahLst/>
            <a:cxnLst/>
            <a:rect l="l" t="t" r="r" b="b"/>
            <a:pathLst>
              <a:path w="70409" h="140818">
                <a:moveTo>
                  <a:pt x="0" y="0"/>
                </a:moveTo>
                <a:lnTo>
                  <a:pt x="70409" y="70409"/>
                </a:lnTo>
                <a:lnTo>
                  <a:pt x="0" y="1408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5429158" y="2002322"/>
            <a:ext cx="59047" cy="131216"/>
          </a:xfrm>
          <a:custGeom>
            <a:avLst/>
            <a:gdLst/>
            <a:ahLst/>
            <a:cxnLst/>
            <a:rect l="l" t="t" r="r" b="b"/>
            <a:pathLst>
              <a:path w="59047" h="131216">
                <a:moveTo>
                  <a:pt x="0" y="0"/>
                </a:moveTo>
                <a:lnTo>
                  <a:pt x="59047" y="65608"/>
                </a:lnTo>
                <a:lnTo>
                  <a:pt x="0" y="131216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687248" y="18964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87248" y="2243952"/>
            <a:ext cx="246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21888" y="189648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追加の費用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8521888" y="224395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乗継ぎで30分以上待つ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29440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支線と幹線の時刻を別々に決めている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687248" y="2377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支線の発車を幹線の到着に合わせる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521888" y="2377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なし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電話の予約がつながらない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9440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予約を受ける回線が1つしかない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687248" y="3520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アプリと自動音声の予約を加える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521888" y="3520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年600万円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00848" y="4544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夕方の便が少ない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9440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運転士の勤務が日中に偏っている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687248" y="4663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勤務を2交代にして夕方の便を増やす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年900万円</a:t>
            </a:r>
            <a:endParaRPr lang="en-US" sz="12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2035年度までに需要は通院の増加などで18万回増えるが、人口減少などで31万回減る。差し引き13万回の減少を前提に計画すべきである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2035年度までの年間需要の増減要因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（万回／年、2025年度比、市の推計）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注）市の需要推計（2026年）による。万回未満は四捨五入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押し上げる要因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13008" y="1896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押し下げる要因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13008" y="2243952"/>
            <a:ext cx="3291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通院の増加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578288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00848" y="303580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免許の返納の増加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578288" y="3154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200848" y="381304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観光客の回復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578288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41300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人口の減少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790448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13008" y="303580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13008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790448" y="3154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413008" y="381304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13008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在宅勤務の定着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790448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00848" y="475488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413008" y="4754880"/>
            <a:ext cx="3291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57828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41300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79044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 rot="16200000">
            <a:off x="4449928" y="2331720"/>
            <a:ext cx="1005840" cy="9144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3812728" y="3291840"/>
            <a:ext cx="228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 rot="5400000">
            <a:off x="4449928" y="3794760"/>
            <a:ext cx="1005840" cy="9144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812728" y="4754880"/>
            <a:ext cx="228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00848" y="54406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32120"/>
            <a:ext cx="950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＋18 − 31 ＝ −13万回／年</a:t>
            </a:r>
            <a:endParaRPr lang="en-US" sz="12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4地区のうち東部だけが利用者と運賃収入の両方で大きく減った。他の3地区は運賃改定で減収を補えており、東部は別の要因で落ち込んだ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注）2020→2025年度の増減率。運賃は2023年4月に全地区で一律10%改定。名称・数値はすべて架空の見本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892488" y="14850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利用者数（%）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1892488" y="1832472"/>
            <a:ext cx="1600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75568" y="14850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運賃収入（%）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675568" y="1832472"/>
            <a:ext cx="1600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595808" y="1485000"/>
            <a:ext cx="410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595808" y="1832472"/>
            <a:ext cx="41090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9488" y="2051928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107372" y="2390256"/>
            <a:ext cx="777240" cy="31089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513012" y="23902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−24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084762" y="2390256"/>
            <a:ext cx="582930" cy="31089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490402" y="23902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595808" y="2051928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高齢化で通院の利用が減り、運賃改定でも収入を補えなかった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039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49488" y="3039480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690302" y="3377808"/>
            <a:ext cx="19431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095942" y="337780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667692" y="3377808"/>
            <a:ext cx="12954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842952" y="337780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595808" y="3039480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通学の減少を、運賃改定による増収が上回った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40270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9488" y="4027032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787457" y="4365360"/>
            <a:ext cx="97155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193097" y="43653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667692" y="4365360"/>
            <a:ext cx="19431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907722" y="43653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5595808" y="4027032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商業施設の新設で買物の利用が下げ止まった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200848" y="501458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49488" y="5014584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625532" y="5352912"/>
            <a:ext cx="25908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31172" y="535291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4667692" y="5352912"/>
            <a:ext cx="32385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745797" y="535291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5595808" y="5014584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人口減少の分だけ減ったが、収入はほぼ横ばい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884612" y="2051928"/>
            <a:ext cx="0" cy="3950208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667692" y="2051928"/>
            <a:ext cx="0" cy="3950208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pic>
        <p:nvPicPr>
          <p:cNvPr id="45" name="Image 0" descr="person-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136" y="2326248"/>
            <a:ext cx="438912" cy="438912"/>
          </a:xfrm>
          <a:prstGeom prst="rect">
            <a:avLst/>
          </a:prstGeom>
        </p:spPr>
      </p:pic>
      <p:pic>
        <p:nvPicPr>
          <p:cNvPr id="46" name="Image 1" descr="scho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36" y="3313800"/>
            <a:ext cx="438912" cy="438912"/>
          </a:xfrm>
          <a:prstGeom prst="rect">
            <a:avLst/>
          </a:prstGeom>
        </p:spPr>
      </p:pic>
      <p:pic>
        <p:nvPicPr>
          <p:cNvPr id="47" name="Image 2" descr="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136" y="4301352"/>
            <a:ext cx="438912" cy="438912"/>
          </a:xfrm>
          <a:prstGeom prst="rect">
            <a:avLst/>
          </a:prstGeom>
        </p:spPr>
      </p:pic>
      <p:pic>
        <p:nvPicPr>
          <p:cNvPr id="48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136" y="5288904"/>
            <a:ext cx="438912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目標の1,800トンは、燃料費の節約で費用を回収できる策だけで届く。それ以上の削減は単価が急に上がり、燃料電池バスは1トン5.8万円かかる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CO2削減策のコストカーブ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（幅＝削減量 t、高さ＝1t当たり費用 千円、2030年度）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注）削減単価＝（費用−燃料費の節約額）÷削減量。2030年度の試算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 交通政策課 資料を基に作成（名称・数値は架空の見本）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千円／t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5000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9718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59359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42153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8371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95792" y="4343400"/>
            <a:ext cx="966193" cy="559613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1378888" y="4903013"/>
            <a:ext cx="0" cy="91440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4488" y="4994453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エコドライブ研修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880273" y="4343400"/>
            <a:ext cx="350893" cy="373075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2" name="Shape 19"/>
          <p:cNvSpPr/>
          <p:nvPr/>
        </p:nvSpPr>
        <p:spPr>
          <a:xfrm>
            <a:off x="2055719" y="4716475"/>
            <a:ext cx="0" cy="676656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141319" y="5393131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車庫のLED化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249453" y="4343400"/>
            <a:ext cx="1704554" cy="18653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3101731" y="4529938"/>
            <a:ext cx="0" cy="38404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87331" y="491398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ハイブリッドバス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3972296" y="4343400"/>
            <a:ext cx="1335374" cy="6217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8" name="Shape 25"/>
          <p:cNvSpPr/>
          <p:nvPr/>
        </p:nvSpPr>
        <p:spPr>
          <a:xfrm>
            <a:off x="4639983" y="4405579"/>
            <a:ext cx="0" cy="91440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725583" y="4497019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屋根置き太陽光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325958" y="4219042"/>
            <a:ext cx="1458434" cy="12435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055175" y="3341218"/>
            <a:ext cx="0" cy="877824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140775" y="306689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EVバス（短距離）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802680" y="4063594"/>
            <a:ext cx="1089254" cy="2798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7347307" y="3770986"/>
            <a:ext cx="0" cy="29260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32907" y="349666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再エネ電力の購入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7910221" y="3690518"/>
            <a:ext cx="916969" cy="65288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8368706" y="3397910"/>
            <a:ext cx="0" cy="29260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951386" y="312359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EVバス（長距離）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8845479" y="2540203"/>
            <a:ext cx="621625" cy="1803197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6916095" y="2540203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燃料電池バス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886648" y="4343400"/>
            <a:ext cx="8589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316814" y="2170800"/>
            <a:ext cx="0" cy="354420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3" name="Text 40"/>
          <p:cNvSpPr txBox="1"/>
          <p:nvPr/>
        </p:nvSpPr>
        <p:spPr>
          <a:xfrm>
            <a:off x="5389966" y="2125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2030年の目標　1,800t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886648" y="5870448"/>
            <a:ext cx="858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86648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20888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3347851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982091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5809054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443294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8270258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904498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6961648" y="5559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累計の年間削減量（t-CO2）</a:t>
            </a:r>
            <a:endParaRPr lang="en-US" sz="14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矢印は「流れ」「計画」「やり取り」「合流」「循環」の意味だけで使い分ける。紺の矢印は1枚に1本までとし、それ以外はグレーの細線で描く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9448" y="2560320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流れの矢印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モノ・お金・データの流れ。線の上に流れるものを書く（Gray2、1pt）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29448" y="3163824"/>
            <a:ext cx="118872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強調の矢印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変化する流れ1本だけに使う（Navy、1.75pt）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9448" y="3767328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点線の矢印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将来の計画、目指す位置、間接的な関係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9448" y="437083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headEnd type="triangle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双方向の矢印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相互のやり取り。片方向で言えるなら片方向にする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9448" y="4773168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29448" y="4974336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78088" y="4974336"/>
            <a:ext cx="640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5" name="Text 32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合流の矢印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複数の要素が1つにまとまる。分岐はこの逆向き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49488" y="5321808"/>
            <a:ext cx="512064" cy="512064"/>
          </a:xfrm>
          <a:prstGeom prst="circularArrow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循環の矢印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繰り返し・好循環。循環の起点を1つ決めて示す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因果・順序・伸び・差・節目・区切りは、それぞれ決まった1つの図形で示す。囲みや塗りで区切らず、細い線と余白で要素を分ける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線と注釈の使い分け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0928" y="2399386"/>
            <a:ext cx="160934" cy="321869"/>
          </a:xfrm>
          <a:custGeom>
            <a:avLst/>
            <a:gdLst/>
            <a:ahLst/>
            <a:cxnLst/>
            <a:rect l="l" t="t" r="r" b="b"/>
            <a:pathLst>
              <a:path w="160934" h="321869">
                <a:moveTo>
                  <a:pt x="0" y="0"/>
                </a:moveTo>
                <a:lnTo>
                  <a:pt x="160934" y="160934"/>
                </a:lnTo>
                <a:lnTo>
                  <a:pt x="0" y="321869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7" name="Shape 14"/>
          <p:cNvSpPr/>
          <p:nvPr/>
        </p:nvSpPr>
        <p:spPr>
          <a:xfrm>
            <a:off x="961628" y="2410358"/>
            <a:ext cx="134965" cy="299923"/>
          </a:xfrm>
          <a:custGeom>
            <a:avLst/>
            <a:gdLst/>
            <a:ahLst/>
            <a:cxnLst/>
            <a:rect l="l" t="t" r="r" b="b"/>
            <a:pathLst>
              <a:path w="134965" h="299923">
                <a:moveTo>
                  <a:pt x="0" y="0"/>
                </a:moveTo>
                <a:lnTo>
                  <a:pt x="134965" y="149962"/>
                </a:lnTo>
                <a:lnTo>
                  <a:pt x="0" y="299923"/>
                </a:lnTo>
              </a:path>
            </a:pathLst>
          </a:custGeom>
          <a:ln w="3302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因果の三角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左右の間の強い因果。1枚に1つまで（グレーの三角＋線。HG_pptFMT の形）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448" y="2999232"/>
            <a:ext cx="457200" cy="329184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2" name="Shape 19"/>
          <p:cNvSpPr/>
          <p:nvPr/>
        </p:nvSpPr>
        <p:spPr>
          <a:xfrm>
            <a:off x="840928" y="2999232"/>
            <a:ext cx="457200" cy="329184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1252408" y="2999232"/>
            <a:ext cx="457200" cy="329184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矢羽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工程・段階の順序。今の段階だけNavyにする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29448" y="3630168"/>
            <a:ext cx="1188720" cy="27432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CAGRの矢印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時系列の伸び率の注釈。棒の上に斜めに置き、率を添える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32368" y="4114800"/>
            <a:ext cx="137160" cy="512064"/>
          </a:xfrm>
          <a:prstGeom prst="rightBracke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差分の括弧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2点の差を「+2.1倍」「−21pt」の形で示す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9448" y="4974336"/>
            <a:ext cx="11887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04936" y="4855464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節目・判断の時期。判断の内容を下に書く（文字色の◆）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9448" y="548640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29448" y="566928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区切りの細線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要素の区切り。囲みや塗りの代わりに使う（Gray1、0.75pt）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数値の符号は1つの意味に1つの書き方で統一する。負の数は「−」で書き、▲や△を符号に使わない。比率の差はpt、比較は倍で書く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数値の符号の書き方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25856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−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増減の符号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負の数は「−」で書く。▲・△は会計の「マイナス」と紛れるので使わない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▲ ▼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増減の向き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表の中で向きだけを示すときに使う。数値の符号の代わりにしない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46557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比率の差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「52%→46%」の差は「−6pt」と書く。「−6%」と書かない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倍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比較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「1.5倍」と書く。同じ資料の中で「150%」と混ぜない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期間・範囲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「2015–2025年度」「3–5件」。文中の範囲は「〜」を使う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変化の前後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「32→24本」。結論の「⇒」は使わず、言葉で書く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評価・該当・番号・注記の印は図形か決まった文字で書き、凡例で意味を定義する。該当なしは空欄にせず「―」を置き、推計値は（見込）で区別する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印と表記の使い分け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92288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040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040" y="2441448"/>
            <a:ext cx="237744" cy="237744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895792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5792" y="244144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7F7F7F"/>
          </a:solidFill>
          <a:ln/>
        </p:spPr>
      </p:sp>
      <p:sp>
        <p:nvSpPr>
          <p:cNvPr id="21" name="Shape 18"/>
          <p:cNvSpPr/>
          <p:nvPr/>
        </p:nvSpPr>
        <p:spPr>
          <a:xfrm>
            <a:off x="1197544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97544" y="2441448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7F7F7F"/>
          </a:solidFill>
          <a:ln/>
        </p:spPr>
      </p:sp>
      <p:sp>
        <p:nvSpPr>
          <p:cNvPr id="23" name="Shape 20"/>
          <p:cNvSpPr/>
          <p:nvPr/>
        </p:nvSpPr>
        <p:spPr>
          <a:xfrm>
            <a:off x="1499296" y="2441448"/>
            <a:ext cx="237744" cy="237744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ハーベイボール。凡例で基準を必ず定義する。信号色は使わない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該当の印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索引付きチェック表で使う。同じ表で○×と混ぜない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77504" y="362102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77504" y="3621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番号のバッジ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丸数字の文字ではなく図形で作る（環境で崩れない）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注）1.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注記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本文の肩番号と「注）1.」を対応させ、出所の上に書く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該当なし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空欄にせず「―」を置く。「0」と区別する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（見込）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推計値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実績と区別する。年度の後ろに付け、棒の色を淡くする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アイコンは関係図で主体や流れを示すために使い、飾りには使わない。人・組織と施設・地域の20種で、関係図の登場人物の大半を表せる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アイコン集（人・組織・施設・地域）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人・組織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人々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（user-check）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歩行者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（person-standing）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子育て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（baby）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（building-2）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行政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（landmark）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工場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（factory）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店舗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（store）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（briefcase）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施設・地域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病院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（hospital）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学校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（school）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宿泊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（hotel）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住まい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（house）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地点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（map-pin）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海外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（globe）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自然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（mountain）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農業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（tractor）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漁業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（fish）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飲食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（utensils）</a:t>
            </a:r>
            <a:endParaRPr lang="en-US" sz="1100" dirty="0"/>
          </a:p>
        </p:txBody>
      </p:sp>
      <p:pic>
        <p:nvPicPr>
          <p:cNvPr id="56" name="Image 0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user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person-stan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ab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building-2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land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factor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to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briefcas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ospit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schoo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hote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house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map-pi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glob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mountain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actor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fish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utensils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移動・物流とお金・数字のアイコンは、関係図の矢印に流れるものを示すときに使う。アイコンだけで意味を伝えず、必ず短い名前を下に添える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アイコン集（移動・物流・お金・数字）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（train-front）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自動車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（car）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物流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（truck）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航空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（plane）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海運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（ship）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荷物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（package）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経路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（route）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購買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（shopping-cart）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（accessibility）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お金・数字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（banknote）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支払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（wallet）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積立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（piggy-bank）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請求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（receipt）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統計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（chart-column）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推移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（chart-line）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（trending-up）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（trending-down）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公平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（scale）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法令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（gavel）</a:t>
            </a:r>
            <a:endParaRPr lang="en-US" sz="1100" dirty="0"/>
          </a:p>
        </p:txBody>
      </p:sp>
      <p:pic>
        <p:nvPicPr>
          <p:cNvPr id="56" name="Image 0" descr="train-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b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c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tru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pla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shi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pack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rou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hopping-car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accessibilit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banknot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walle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piggy-bank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receipt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chart-colum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hart-lin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trending-up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ending-down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scale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gavel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情報・技術と行為・状態のアイコンは、仕組みや取組の中身を示すときに使う。1枚に使う種類は6つまでとし、絵柄の太さと色をそろえる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アイコン集（情報・技術・行為・状態）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（database）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クラウド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（cloud）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スマホ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（smartphone）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PC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（laptop）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（bot）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連携基盤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（network）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文書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（file-text）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（search）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（lock）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連絡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（mail）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行為・状態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（handshake）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（messages-square）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（target）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着想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（lightbulb）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仕組み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（settings）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（clock）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日程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（calendar）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注意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（triangle-alert）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（circle-check）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（refresh-cw）</a:t>
            </a:r>
            <a:endParaRPr lang="en-US" sz="1100" dirty="0"/>
          </a:p>
        </p:txBody>
      </p:sp>
      <p:pic>
        <p:nvPicPr>
          <p:cNvPr id="56" name="Image 0" descr="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clo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smart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networ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file-tex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sear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loc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mai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andshak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messages-squar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targe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lightbulb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setting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lock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calendar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iangle-alert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circle-check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refresh-cw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環境・健康のアイコンは政策や取組の分野を示すときに使う。色はグレーを基本とし、変化する主体や注目する分野の1つだけを紺にする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アイコン集（環境・健康）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（leaf）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資源循環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（recycle）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（zap）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太陽光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（sun）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風力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（wind）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水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（droplet）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蓄電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（battery-charging）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育成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（sprout）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健康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（heart-pulse）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医療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（stethoscope）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使い方の例（紺は1つだけ）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471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4948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1755328" y="5093208"/>
            <a:ext cx="1965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3858448" y="46634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40124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864288" y="5093208"/>
            <a:ext cx="196596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696740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51020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938208" y="48006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補助金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4955728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運行サービス</a:t>
            </a:r>
            <a:endParaRPr lang="en-US" sz="1400" dirty="0"/>
          </a:p>
        </p:txBody>
      </p:sp>
      <p:pic>
        <p:nvPicPr>
          <p:cNvPr id="46" name="Image 0" descr="lea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47" name="Image 1" descr="recy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48" name="Image 2" descr="z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49" name="Image 3" descr="su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50" name="Image 4" descr="wi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51" name="Image 5" descr="dropl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52" name="Image 6" descr="battery-char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53" name="Image 7" descr="sprou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54" name="Image 8" descr="heart-puls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55" name="Image 9" descr="stethosc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56" name="Image 10" descr="landmark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368" y="4846320"/>
            <a:ext cx="502920" cy="502920"/>
          </a:xfrm>
          <a:prstGeom prst="rect">
            <a:avLst/>
          </a:prstGeom>
        </p:spPr>
      </p:pic>
      <p:pic>
        <p:nvPicPr>
          <p:cNvPr id="57" name="Image 11" descr="train-fron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41328" y="4846320"/>
            <a:ext cx="502920" cy="502920"/>
          </a:xfrm>
          <a:prstGeom prst="rect">
            <a:avLst/>
          </a:prstGeom>
        </p:spPr>
      </p:pic>
      <p:pic>
        <p:nvPicPr>
          <p:cNvPr id="58" name="Image 12" descr="user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50288" y="48463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箱は淡い塗りと上線の2種類を基本にし、濃い塗りは1枚に1か所だけ使う。矢印は強調する1つだけを紺、他はグレーで描く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パーツ集（文字・箱・矢印）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注）色は rules/slide-rules.md B-3 の指定色。図形はこのスライドからコピーして使う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出所）自作の書式（HG_pptFMT）のパーツ集を基に作成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文字の階層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451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見出し（14pt太字）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第1階層（14pt）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第2階層（14pt）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313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箱の4種類（左：紺、右：グレー）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366127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3798432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濃い塗り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389568" y="3798432"/>
            <a:ext cx="1097280" cy="42062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481008" y="379843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624008" y="3798432"/>
            <a:ext cx="1097280" cy="4206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15448" y="379843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32878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淡い塗り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1389568" y="4328784"/>
            <a:ext cx="1097280" cy="42062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481008" y="432878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624008" y="4328784"/>
            <a:ext cx="1097280" cy="4206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715448" y="432878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4859136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上線だけ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389568" y="4859136"/>
            <a:ext cx="1097280" cy="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481008" y="485913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624008" y="4859136"/>
            <a:ext cx="10972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715448" y="485913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200848" y="538948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枠線だけ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389568" y="5389488"/>
            <a:ext cx="1097280" cy="420624"/>
          </a:xfrm>
          <a:prstGeom prst="rec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481008" y="53894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624008" y="5389488"/>
            <a:ext cx="1097280" cy="420624"/>
          </a:xfrm>
          <a:prstGeom prst="rect">
            <a:avLst/>
          </a:prstGeom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715448" y="53894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904168" y="4328784"/>
            <a:ext cx="0" cy="950976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949888" y="4273920"/>
            <a:ext cx="274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eaVert"/>
          <a:lstStyle/>
          <a:p>
            <a:pPr indent="0" marL="0">
              <a:buNone/>
            </a:pPr>
            <a:r>
              <a:rPr lang="en-US" sz="11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補足：基本はこの2つ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4681408" y="19879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矢印（右2列は下向き）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4681408" y="2335392"/>
            <a:ext cx="2971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800280" y="2524673"/>
            <a:ext cx="184672" cy="279806"/>
          </a:xfrm>
          <a:custGeom>
            <a:avLst/>
            <a:gdLst/>
            <a:ahLst/>
            <a:cxnLst/>
            <a:rect l="l" t="t" r="r" b="b"/>
            <a:pathLst>
              <a:path w="184672" h="279806">
                <a:moveTo>
                  <a:pt x="0" y="0"/>
                </a:moveTo>
                <a:lnTo>
                  <a:pt x="84949" y="0"/>
                </a:lnTo>
                <a:lnTo>
                  <a:pt x="184672" y="139903"/>
                </a:lnTo>
                <a:lnTo>
                  <a:pt x="84949" y="279806"/>
                </a:lnTo>
                <a:lnTo>
                  <a:pt x="0" y="279806"/>
                </a:lnTo>
                <a:lnTo>
                  <a:pt x="99723" y="1399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2" name="Shape 39"/>
          <p:cNvSpPr/>
          <p:nvPr/>
        </p:nvSpPr>
        <p:spPr>
          <a:xfrm>
            <a:off x="4922163" y="2509128"/>
            <a:ext cx="205191" cy="310896"/>
          </a:xfrm>
          <a:custGeom>
            <a:avLst/>
            <a:gdLst/>
            <a:ahLst/>
            <a:cxnLst/>
            <a:rect l="l" t="t" r="r" b="b"/>
            <a:pathLst>
              <a:path w="205191" h="310896">
                <a:moveTo>
                  <a:pt x="0" y="0"/>
                </a:moveTo>
                <a:lnTo>
                  <a:pt x="94388" y="0"/>
                </a:lnTo>
                <a:lnTo>
                  <a:pt x="205191" y="155448"/>
                </a:lnTo>
                <a:lnTo>
                  <a:pt x="94388" y="310896"/>
                </a:lnTo>
                <a:lnTo>
                  <a:pt x="0" y="310896"/>
                </a:lnTo>
                <a:lnTo>
                  <a:pt x="110803" y="155448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5367208" y="2527782"/>
            <a:ext cx="136794" cy="273588"/>
          </a:xfrm>
          <a:custGeom>
            <a:avLst/>
            <a:gdLst/>
            <a:ahLst/>
            <a:cxnLst/>
            <a:rect l="l" t="t" r="r" b="b"/>
            <a:pathLst>
              <a:path w="136794" h="273588">
                <a:moveTo>
                  <a:pt x="0" y="0"/>
                </a:moveTo>
                <a:lnTo>
                  <a:pt x="136794" y="136794"/>
                </a:lnTo>
                <a:lnTo>
                  <a:pt x="0" y="27358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4" name="Shape 41"/>
          <p:cNvSpPr/>
          <p:nvPr/>
        </p:nvSpPr>
        <p:spPr>
          <a:xfrm>
            <a:off x="5469803" y="2537109"/>
            <a:ext cx="114721" cy="254935"/>
          </a:xfrm>
          <a:custGeom>
            <a:avLst/>
            <a:gdLst/>
            <a:ahLst/>
            <a:cxnLst/>
            <a:rect l="l" t="t" r="r" b="b"/>
            <a:pathLst>
              <a:path w="114721" h="254935">
                <a:moveTo>
                  <a:pt x="0" y="0"/>
                </a:moveTo>
                <a:lnTo>
                  <a:pt x="114721" y="127467"/>
                </a:lnTo>
                <a:lnTo>
                  <a:pt x="0" y="254935"/>
                </a:lnTo>
              </a:path>
            </a:pathLst>
          </a:custGeom>
          <a:ln w="28067">
            <a:solidFill>
              <a:srgbClr val="000F7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894816" y="2563992"/>
            <a:ext cx="279806" cy="184672"/>
          </a:xfrm>
          <a:custGeom>
            <a:avLst/>
            <a:gdLst/>
            <a:ahLst/>
            <a:cxnLst/>
            <a:rect l="l" t="t" r="r" b="b"/>
            <a:pathLst>
              <a:path w="279806" h="184672">
                <a:moveTo>
                  <a:pt x="0" y="0"/>
                </a:moveTo>
                <a:lnTo>
                  <a:pt x="0" y="84949"/>
                </a:lnTo>
                <a:lnTo>
                  <a:pt x="139903" y="184672"/>
                </a:lnTo>
                <a:lnTo>
                  <a:pt x="279806" y="84949"/>
                </a:lnTo>
                <a:lnTo>
                  <a:pt x="279806" y="0"/>
                </a:lnTo>
                <a:lnTo>
                  <a:pt x="139903" y="9972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6" name="Shape 43"/>
          <p:cNvSpPr/>
          <p:nvPr/>
        </p:nvSpPr>
        <p:spPr>
          <a:xfrm>
            <a:off x="5879272" y="2685876"/>
            <a:ext cx="310896" cy="205191"/>
          </a:xfrm>
          <a:custGeom>
            <a:avLst/>
            <a:gdLst/>
            <a:ahLst/>
            <a:cxnLst/>
            <a:rect l="l" t="t" r="r" b="b"/>
            <a:pathLst>
              <a:path w="310896" h="205191">
                <a:moveTo>
                  <a:pt x="0" y="0"/>
                </a:moveTo>
                <a:lnTo>
                  <a:pt x="0" y="94388"/>
                </a:lnTo>
                <a:lnTo>
                  <a:pt x="155448" y="205191"/>
                </a:lnTo>
                <a:lnTo>
                  <a:pt x="310896" y="94388"/>
                </a:lnTo>
                <a:lnTo>
                  <a:pt x="310896" y="0"/>
                </a:lnTo>
                <a:lnTo>
                  <a:pt x="155448" y="110803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47" name="Shape 44"/>
          <p:cNvSpPr/>
          <p:nvPr/>
        </p:nvSpPr>
        <p:spPr>
          <a:xfrm>
            <a:off x="6464853" y="2563992"/>
            <a:ext cx="273588" cy="136794"/>
          </a:xfrm>
          <a:custGeom>
            <a:avLst/>
            <a:gdLst/>
            <a:ahLst/>
            <a:cxnLst/>
            <a:rect l="l" t="t" r="r" b="b"/>
            <a:pathLst>
              <a:path w="273588" h="136794">
                <a:moveTo>
                  <a:pt x="0" y="0"/>
                </a:moveTo>
                <a:lnTo>
                  <a:pt x="136794" y="136794"/>
                </a:lnTo>
                <a:lnTo>
                  <a:pt x="273588" y="0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8" name="Shape 45"/>
          <p:cNvSpPr/>
          <p:nvPr/>
        </p:nvSpPr>
        <p:spPr>
          <a:xfrm>
            <a:off x="6474180" y="2666588"/>
            <a:ext cx="254935" cy="114721"/>
          </a:xfrm>
          <a:custGeom>
            <a:avLst/>
            <a:gdLst/>
            <a:ahLst/>
            <a:cxnLst/>
            <a:rect l="l" t="t" r="r" b="b"/>
            <a:pathLst>
              <a:path w="254935" h="114721">
                <a:moveTo>
                  <a:pt x="0" y="0"/>
                </a:moveTo>
                <a:lnTo>
                  <a:pt x="127467" y="114721"/>
                </a:lnTo>
                <a:lnTo>
                  <a:pt x="254935" y="0"/>
                </a:lnTo>
              </a:path>
            </a:pathLst>
          </a:custGeom>
          <a:ln w="28067">
            <a:solidFill>
              <a:srgbClr val="000F7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800280" y="3091601"/>
            <a:ext cx="184672" cy="279806"/>
          </a:xfrm>
          <a:custGeom>
            <a:avLst/>
            <a:gdLst/>
            <a:ahLst/>
            <a:cxnLst/>
            <a:rect l="l" t="t" r="r" b="b"/>
            <a:pathLst>
              <a:path w="184672" h="279806">
                <a:moveTo>
                  <a:pt x="0" y="0"/>
                </a:moveTo>
                <a:lnTo>
                  <a:pt x="84949" y="0"/>
                </a:lnTo>
                <a:lnTo>
                  <a:pt x="184672" y="139903"/>
                </a:lnTo>
                <a:lnTo>
                  <a:pt x="84949" y="279806"/>
                </a:lnTo>
                <a:lnTo>
                  <a:pt x="0" y="279806"/>
                </a:lnTo>
                <a:lnTo>
                  <a:pt x="99723" y="1399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0" name="Shape 47"/>
          <p:cNvSpPr/>
          <p:nvPr/>
        </p:nvSpPr>
        <p:spPr>
          <a:xfrm>
            <a:off x="4922163" y="3076056"/>
            <a:ext cx="205191" cy="310896"/>
          </a:xfrm>
          <a:custGeom>
            <a:avLst/>
            <a:gdLst/>
            <a:ahLst/>
            <a:cxnLst/>
            <a:rect l="l" t="t" r="r" b="b"/>
            <a:pathLst>
              <a:path w="205191" h="310896">
                <a:moveTo>
                  <a:pt x="0" y="0"/>
                </a:moveTo>
                <a:lnTo>
                  <a:pt x="94388" y="0"/>
                </a:lnTo>
                <a:lnTo>
                  <a:pt x="205191" y="155448"/>
                </a:lnTo>
                <a:lnTo>
                  <a:pt x="94388" y="310896"/>
                </a:lnTo>
                <a:lnTo>
                  <a:pt x="0" y="310896"/>
                </a:lnTo>
                <a:lnTo>
                  <a:pt x="110803" y="15544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1" name="Shape 48"/>
          <p:cNvSpPr/>
          <p:nvPr/>
        </p:nvSpPr>
        <p:spPr>
          <a:xfrm>
            <a:off x="5367208" y="3094710"/>
            <a:ext cx="136794" cy="273588"/>
          </a:xfrm>
          <a:custGeom>
            <a:avLst/>
            <a:gdLst/>
            <a:ahLst/>
            <a:cxnLst/>
            <a:rect l="l" t="t" r="r" b="b"/>
            <a:pathLst>
              <a:path w="136794" h="273588">
                <a:moveTo>
                  <a:pt x="0" y="0"/>
                </a:moveTo>
                <a:lnTo>
                  <a:pt x="136794" y="136794"/>
                </a:lnTo>
                <a:lnTo>
                  <a:pt x="0" y="27358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2" name="Shape 49"/>
          <p:cNvSpPr/>
          <p:nvPr/>
        </p:nvSpPr>
        <p:spPr>
          <a:xfrm>
            <a:off x="5469803" y="3104037"/>
            <a:ext cx="114721" cy="254935"/>
          </a:xfrm>
          <a:custGeom>
            <a:avLst/>
            <a:gdLst/>
            <a:ahLst/>
            <a:cxnLst/>
            <a:rect l="l" t="t" r="r" b="b"/>
            <a:pathLst>
              <a:path w="114721" h="254935">
                <a:moveTo>
                  <a:pt x="0" y="0"/>
                </a:moveTo>
                <a:lnTo>
                  <a:pt x="114721" y="127467"/>
                </a:lnTo>
                <a:lnTo>
                  <a:pt x="0" y="254935"/>
                </a:lnTo>
              </a:path>
            </a:pathLst>
          </a:custGeom>
          <a:ln w="28067">
            <a:solidFill>
              <a:srgbClr val="7F7F7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894816" y="3130920"/>
            <a:ext cx="279806" cy="184672"/>
          </a:xfrm>
          <a:custGeom>
            <a:avLst/>
            <a:gdLst/>
            <a:ahLst/>
            <a:cxnLst/>
            <a:rect l="l" t="t" r="r" b="b"/>
            <a:pathLst>
              <a:path w="279806" h="184672">
                <a:moveTo>
                  <a:pt x="0" y="0"/>
                </a:moveTo>
                <a:lnTo>
                  <a:pt x="0" y="84949"/>
                </a:lnTo>
                <a:lnTo>
                  <a:pt x="139903" y="184672"/>
                </a:lnTo>
                <a:lnTo>
                  <a:pt x="279806" y="84949"/>
                </a:lnTo>
                <a:lnTo>
                  <a:pt x="279806" y="0"/>
                </a:lnTo>
                <a:lnTo>
                  <a:pt x="139903" y="9972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4" name="Shape 51"/>
          <p:cNvSpPr/>
          <p:nvPr/>
        </p:nvSpPr>
        <p:spPr>
          <a:xfrm>
            <a:off x="5879272" y="3252804"/>
            <a:ext cx="310896" cy="205191"/>
          </a:xfrm>
          <a:custGeom>
            <a:avLst/>
            <a:gdLst/>
            <a:ahLst/>
            <a:cxnLst/>
            <a:rect l="l" t="t" r="r" b="b"/>
            <a:pathLst>
              <a:path w="310896" h="205191">
                <a:moveTo>
                  <a:pt x="0" y="0"/>
                </a:moveTo>
                <a:lnTo>
                  <a:pt x="0" y="94388"/>
                </a:lnTo>
                <a:lnTo>
                  <a:pt x="155448" y="205191"/>
                </a:lnTo>
                <a:lnTo>
                  <a:pt x="310896" y="94388"/>
                </a:lnTo>
                <a:lnTo>
                  <a:pt x="310896" y="0"/>
                </a:lnTo>
                <a:lnTo>
                  <a:pt x="155448" y="1108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5" name="Shape 52"/>
          <p:cNvSpPr/>
          <p:nvPr/>
        </p:nvSpPr>
        <p:spPr>
          <a:xfrm>
            <a:off x="6464853" y="3130920"/>
            <a:ext cx="273588" cy="136794"/>
          </a:xfrm>
          <a:custGeom>
            <a:avLst/>
            <a:gdLst/>
            <a:ahLst/>
            <a:cxnLst/>
            <a:rect l="l" t="t" r="r" b="b"/>
            <a:pathLst>
              <a:path w="273588" h="136794">
                <a:moveTo>
                  <a:pt x="0" y="0"/>
                </a:moveTo>
                <a:lnTo>
                  <a:pt x="136794" y="136794"/>
                </a:lnTo>
                <a:lnTo>
                  <a:pt x="273588" y="0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6" name="Shape 53"/>
          <p:cNvSpPr/>
          <p:nvPr/>
        </p:nvSpPr>
        <p:spPr>
          <a:xfrm>
            <a:off x="6474180" y="3233516"/>
            <a:ext cx="254935" cy="114721"/>
          </a:xfrm>
          <a:custGeom>
            <a:avLst/>
            <a:gdLst/>
            <a:ahLst/>
            <a:cxnLst/>
            <a:rect l="l" t="t" r="r" b="b"/>
            <a:pathLst>
              <a:path w="254935" h="114721">
                <a:moveTo>
                  <a:pt x="0" y="0"/>
                </a:moveTo>
                <a:lnTo>
                  <a:pt x="127467" y="114721"/>
                </a:lnTo>
                <a:lnTo>
                  <a:pt x="254935" y="0"/>
                </a:lnTo>
              </a:path>
            </a:pathLst>
          </a:custGeom>
          <a:ln w="28067">
            <a:solidFill>
              <a:srgbClr val="7F7F7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800280" y="3642984"/>
            <a:ext cx="310896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8" name="Shape 55"/>
          <p:cNvSpPr/>
          <p:nvPr/>
        </p:nvSpPr>
        <p:spPr>
          <a:xfrm>
            <a:off x="4928493" y="3711381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367208" y="3642984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0" name="Shape 57"/>
          <p:cNvSpPr/>
          <p:nvPr/>
        </p:nvSpPr>
        <p:spPr>
          <a:xfrm>
            <a:off x="5495421" y="3711381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800280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CCCCC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367208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000F7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414775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000F78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994840" y="249084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二重の矢羽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6994840" y="305776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三角＋線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6994840" y="362469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</a:t>
            </a:r>
            <a:endParaRPr lang="en-US" sz="1100" dirty="0"/>
          </a:p>
        </p:txBody>
      </p:sp>
      <p:sp>
        <p:nvSpPr>
          <p:cNvPr id="67" name="Text 64"/>
          <p:cNvSpPr txBox="1"/>
          <p:nvPr/>
        </p:nvSpPr>
        <p:spPr>
          <a:xfrm>
            <a:off x="6994840" y="4191624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</a:t>
            </a:r>
            <a:endParaRPr lang="en-US" sz="1100" dirty="0"/>
          </a:p>
        </p:txBody>
      </p:sp>
      <p:sp>
        <p:nvSpPr>
          <p:cNvPr id="68" name="Shape 65"/>
          <p:cNvSpPr/>
          <p:nvPr/>
        </p:nvSpPr>
        <p:spPr>
          <a:xfrm>
            <a:off x="8110408" y="2673720"/>
            <a:ext cx="15944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8201848" y="2746872"/>
            <a:ext cx="145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補足：確認事項・ポイント等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100" dirty="0"/>
          </a:p>
        </p:txBody>
      </p:sp>
      <p:sp>
        <p:nvSpPr>
          <p:cNvPr id="70" name="Shape 67"/>
          <p:cNvSpPr/>
          <p:nvPr/>
        </p:nvSpPr>
        <p:spPr>
          <a:xfrm>
            <a:off x="7790368" y="2445120"/>
            <a:ext cx="320040" cy="2743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110408" y="3725280"/>
            <a:ext cx="15944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8201848" y="3798432"/>
            <a:ext cx="145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補足：確認事項・ポイント等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100" dirty="0"/>
          </a:p>
        </p:txBody>
      </p:sp>
      <p:sp>
        <p:nvSpPr>
          <p:cNvPr id="73" name="Shape 70"/>
          <p:cNvSpPr/>
          <p:nvPr/>
        </p:nvSpPr>
        <p:spPr>
          <a:xfrm>
            <a:off x="7790368" y="3496680"/>
            <a:ext cx="320040" cy="2743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7790368" y="4502520"/>
            <a:ext cx="191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補足：図の該当箇所から細線を引く（1枚に2つまで）</a:t>
            </a:r>
            <a:endParaRPr lang="en-US" sz="1100" dirty="0"/>
          </a:p>
        </p:txBody>
      </p:sp>
      <p:sp>
        <p:nvSpPr>
          <p:cNvPr id="75" name="Text 72"/>
          <p:cNvSpPr txBox="1"/>
          <p:nvPr/>
        </p:nvSpPr>
        <p:spPr>
          <a:xfrm>
            <a:off x="4681408" y="5096880"/>
            <a:ext cx="502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使い分け</a:t>
            </a:r>
            <a:endParaRPr lang="en-US" sz="1400" dirty="0"/>
          </a:p>
        </p:txBody>
      </p:sp>
      <p:sp>
        <p:nvSpPr>
          <p:cNvPr id="76" name="Shape 73"/>
          <p:cNvSpPr/>
          <p:nvPr/>
        </p:nvSpPr>
        <p:spPr>
          <a:xfrm>
            <a:off x="4681408" y="5444352"/>
            <a:ext cx="5023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681408" y="5554080"/>
            <a:ext cx="502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紺の濃い塗り（白文字）は、立てたい1点に1か所だけ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比べる相手・区分の箱は淡い塗りか上線にする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塗りと枠線は重ねない（rules H-3）</a:t>
            </a:r>
            <a:endParaRPr lang="en-US" sz="14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番号・演算子・状態の印は文字を打たずに図形で作り、紺を基本、比べる相手はグレーにする。1枚で使う形は1種類にそろえる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パーツ集（番号・演算子・状態の印）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注）図形はこのスライドからコピーして使う。数字は Arial の白抜き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出所）自作の書式（HG_pptFMT）のパーツ集を基に作成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番号（左：紺、右：グレー）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四角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92288" y="2810880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9228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336" y="2810880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7633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92288" y="3249792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9228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6336" y="3249792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7633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92288" y="3688704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9228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6336" y="3688704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7633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292288" y="4127616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228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76336" y="4127616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7633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16096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ひし形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252408" y="2810880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5240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1636456" y="2810880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63645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1252408" y="3249792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25240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1636456" y="3249792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63645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1252408" y="3688704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125240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1636456" y="3688704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63645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1252408" y="4127616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125240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1636456" y="4127616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63645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212108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2212528" y="2810880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221252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2596576" y="281088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259657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2212528" y="3249792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21252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2596576" y="324979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259657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2212528" y="3688704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221252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2596576" y="368870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259657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2212528" y="41276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221252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2596576" y="412761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259657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346028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演算子（計算式・T15）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46028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460288" y="2536560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3460288" y="2536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3871768" y="2536560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足す</a:t>
            </a:r>
            <a:endParaRPr lang="en-US" sz="1400" dirty="0"/>
          </a:p>
        </p:txBody>
      </p:sp>
      <p:sp>
        <p:nvSpPr>
          <p:cNvPr id="70" name="Shape 67"/>
          <p:cNvSpPr/>
          <p:nvPr/>
        </p:nvSpPr>
        <p:spPr>
          <a:xfrm>
            <a:off x="4952848" y="2536560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4952848" y="2536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1400" dirty="0"/>
          </a:p>
        </p:txBody>
      </p:sp>
      <p:sp>
        <p:nvSpPr>
          <p:cNvPr id="72" name="Text 69"/>
          <p:cNvSpPr txBox="1"/>
          <p:nvPr/>
        </p:nvSpPr>
        <p:spPr>
          <a:xfrm>
            <a:off x="5364328" y="2536560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引く</a:t>
            </a:r>
            <a:endParaRPr lang="en-US" sz="1400" dirty="0"/>
          </a:p>
        </p:txBody>
      </p:sp>
      <p:sp>
        <p:nvSpPr>
          <p:cNvPr id="73" name="Shape 70"/>
          <p:cNvSpPr/>
          <p:nvPr/>
        </p:nvSpPr>
        <p:spPr>
          <a:xfrm>
            <a:off x="3460288" y="3103488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3460288" y="3103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3871768" y="3103488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掛ける</a:t>
            </a:r>
            <a:endParaRPr lang="en-US" sz="1400" dirty="0"/>
          </a:p>
        </p:txBody>
      </p:sp>
      <p:sp>
        <p:nvSpPr>
          <p:cNvPr id="76" name="Shape 73"/>
          <p:cNvSpPr/>
          <p:nvPr/>
        </p:nvSpPr>
        <p:spPr>
          <a:xfrm>
            <a:off x="4952848" y="3103488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4952848" y="3103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÷</a:t>
            </a:r>
            <a:endParaRPr lang="en-US" sz="1400" dirty="0"/>
          </a:p>
        </p:txBody>
      </p:sp>
      <p:sp>
        <p:nvSpPr>
          <p:cNvPr id="78" name="Text 75"/>
          <p:cNvSpPr txBox="1"/>
          <p:nvPr/>
        </p:nvSpPr>
        <p:spPr>
          <a:xfrm>
            <a:off x="5364328" y="3103488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割る</a:t>
            </a:r>
            <a:endParaRPr lang="en-US" sz="1400" dirty="0"/>
          </a:p>
        </p:txBody>
      </p:sp>
      <p:sp>
        <p:nvSpPr>
          <p:cNvPr id="79" name="Shape 76"/>
          <p:cNvSpPr/>
          <p:nvPr/>
        </p:nvSpPr>
        <p:spPr>
          <a:xfrm>
            <a:off x="3460288" y="3670416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3460288" y="3670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1400" dirty="0"/>
          </a:p>
        </p:txBody>
      </p:sp>
      <p:sp>
        <p:nvSpPr>
          <p:cNvPr id="81" name="Text 78"/>
          <p:cNvSpPr txBox="1"/>
          <p:nvPr/>
        </p:nvSpPr>
        <p:spPr>
          <a:xfrm>
            <a:off x="3871768" y="3670416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等しい</a:t>
            </a:r>
            <a:endParaRPr lang="en-US" sz="1400" dirty="0"/>
          </a:p>
        </p:txBody>
      </p:sp>
      <p:sp>
        <p:nvSpPr>
          <p:cNvPr id="82" name="Shape 79"/>
          <p:cNvSpPr/>
          <p:nvPr/>
        </p:nvSpPr>
        <p:spPr>
          <a:xfrm>
            <a:off x="4952848" y="3670416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3" name="Text 80"/>
          <p:cNvSpPr txBox="1"/>
          <p:nvPr/>
        </p:nvSpPr>
        <p:spPr>
          <a:xfrm>
            <a:off x="4952848" y="3670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≒</a:t>
            </a:r>
            <a:endParaRPr lang="en-US" sz="1400" dirty="0"/>
          </a:p>
        </p:txBody>
      </p:sp>
      <p:sp>
        <p:nvSpPr>
          <p:cNvPr id="84" name="Text 81"/>
          <p:cNvSpPr txBox="1"/>
          <p:nvPr/>
        </p:nvSpPr>
        <p:spPr>
          <a:xfrm>
            <a:off x="5364328" y="3670416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ほぼ等しい</a:t>
            </a:r>
            <a:endParaRPr lang="en-US" sz="1400" dirty="0"/>
          </a:p>
        </p:txBody>
      </p:sp>
      <p:sp>
        <p:nvSpPr>
          <p:cNvPr id="85" name="Text 82"/>
          <p:cNvSpPr txBox="1"/>
          <p:nvPr/>
        </p:nvSpPr>
        <p:spPr>
          <a:xfrm>
            <a:off x="671972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状態の印</a:t>
            </a:r>
            <a:endParaRPr lang="en-US" sz="1400" dirty="0"/>
          </a:p>
        </p:txBody>
      </p:sp>
      <p:sp>
        <p:nvSpPr>
          <p:cNvPr id="86" name="Shape 83"/>
          <p:cNvSpPr/>
          <p:nvPr/>
        </p:nvSpPr>
        <p:spPr>
          <a:xfrm>
            <a:off x="671972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719728" y="2490840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8" name="Text 85"/>
          <p:cNvSpPr txBox="1"/>
          <p:nvPr/>
        </p:nvSpPr>
        <p:spPr>
          <a:xfrm>
            <a:off x="6719728" y="2490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</a:t>
            </a:r>
            <a:endParaRPr lang="en-US" sz="1300" dirty="0"/>
          </a:p>
        </p:txBody>
      </p:sp>
      <p:sp>
        <p:nvSpPr>
          <p:cNvPr id="89" name="Text 86"/>
          <p:cNvSpPr txBox="1"/>
          <p:nvPr/>
        </p:nvSpPr>
        <p:spPr>
          <a:xfrm>
            <a:off x="7131208" y="2490840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完了・該当</a:t>
            </a:r>
            <a:endParaRPr lang="en-US" sz="1400" dirty="0"/>
          </a:p>
        </p:txBody>
      </p:sp>
      <p:sp>
        <p:nvSpPr>
          <p:cNvPr id="90" name="Shape 87"/>
          <p:cNvSpPr/>
          <p:nvPr/>
        </p:nvSpPr>
        <p:spPr>
          <a:xfrm>
            <a:off x="6719728" y="2911464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1" name="Text 88"/>
          <p:cNvSpPr txBox="1"/>
          <p:nvPr/>
        </p:nvSpPr>
        <p:spPr>
          <a:xfrm>
            <a:off x="6719728" y="2911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↑</a:t>
            </a:r>
            <a:endParaRPr lang="en-US" sz="1300" dirty="0"/>
          </a:p>
        </p:txBody>
      </p:sp>
      <p:sp>
        <p:nvSpPr>
          <p:cNvPr id="92" name="Text 89"/>
          <p:cNvSpPr txBox="1"/>
          <p:nvPr/>
        </p:nvSpPr>
        <p:spPr>
          <a:xfrm>
            <a:off x="7131208" y="2911464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増える・上がる</a:t>
            </a:r>
            <a:endParaRPr lang="en-US" sz="1400" dirty="0"/>
          </a:p>
        </p:txBody>
      </p:sp>
      <p:sp>
        <p:nvSpPr>
          <p:cNvPr id="93" name="Shape 90"/>
          <p:cNvSpPr/>
          <p:nvPr/>
        </p:nvSpPr>
        <p:spPr>
          <a:xfrm>
            <a:off x="6719728" y="3332088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4" name="Text 91"/>
          <p:cNvSpPr txBox="1"/>
          <p:nvPr/>
        </p:nvSpPr>
        <p:spPr>
          <a:xfrm>
            <a:off x="6719728" y="3332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↓</a:t>
            </a:r>
            <a:endParaRPr lang="en-US" sz="1300" dirty="0"/>
          </a:p>
        </p:txBody>
      </p:sp>
      <p:sp>
        <p:nvSpPr>
          <p:cNvPr id="95" name="Text 92"/>
          <p:cNvSpPr txBox="1"/>
          <p:nvPr/>
        </p:nvSpPr>
        <p:spPr>
          <a:xfrm>
            <a:off x="7131208" y="3332088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減る・下がる</a:t>
            </a:r>
            <a:endParaRPr lang="en-US" sz="1400" dirty="0"/>
          </a:p>
        </p:txBody>
      </p:sp>
      <p:sp>
        <p:nvSpPr>
          <p:cNvPr id="96" name="Shape 93"/>
          <p:cNvSpPr/>
          <p:nvPr/>
        </p:nvSpPr>
        <p:spPr>
          <a:xfrm>
            <a:off x="6719728" y="3752712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6719728" y="3752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？</a:t>
            </a:r>
            <a:endParaRPr lang="en-US" sz="1300" dirty="0"/>
          </a:p>
        </p:txBody>
      </p:sp>
      <p:sp>
        <p:nvSpPr>
          <p:cNvPr id="98" name="Text 95"/>
          <p:cNvSpPr txBox="1"/>
          <p:nvPr/>
        </p:nvSpPr>
        <p:spPr>
          <a:xfrm>
            <a:off x="7131208" y="3752712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未確認・論点</a:t>
            </a:r>
            <a:endParaRPr lang="en-US" sz="1400" dirty="0"/>
          </a:p>
        </p:txBody>
      </p:sp>
      <p:sp>
        <p:nvSpPr>
          <p:cNvPr id="99" name="Shape 96"/>
          <p:cNvSpPr/>
          <p:nvPr/>
        </p:nvSpPr>
        <p:spPr>
          <a:xfrm>
            <a:off x="6719728" y="4173336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6719728" y="4173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</a:t>
            </a:r>
            <a:endParaRPr lang="en-US" sz="1300" dirty="0"/>
          </a:p>
        </p:txBody>
      </p:sp>
      <p:sp>
        <p:nvSpPr>
          <p:cNvPr id="101" name="Text 98"/>
          <p:cNvSpPr txBox="1"/>
          <p:nvPr/>
        </p:nvSpPr>
        <p:spPr>
          <a:xfrm>
            <a:off x="7131208" y="4173336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次へ・移行</a:t>
            </a:r>
            <a:endParaRPr lang="en-US" sz="1400" dirty="0"/>
          </a:p>
        </p:txBody>
      </p:sp>
      <p:sp>
        <p:nvSpPr>
          <p:cNvPr id="102" name="Text 99"/>
          <p:cNvSpPr txBox="1"/>
          <p:nvPr/>
        </p:nvSpPr>
        <p:spPr>
          <a:xfrm>
            <a:off x="7131208" y="4621392"/>
            <a:ext cx="252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循環（P45）</a:t>
            </a:r>
            <a:endParaRPr lang="en-US" sz="1400" dirty="0"/>
          </a:p>
        </p:txBody>
      </p:sp>
      <p:sp>
        <p:nvSpPr>
          <p:cNvPr id="103" name="Text 100"/>
          <p:cNvSpPr txBox="1"/>
          <p:nvPr/>
        </p:nvSpPr>
        <p:spPr>
          <a:xfrm>
            <a:off x="200848" y="4959720"/>
            <a:ext cx="950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使い分け</a:t>
            </a:r>
            <a:endParaRPr lang="en-US" sz="1400" dirty="0"/>
          </a:p>
        </p:txBody>
      </p:sp>
      <p:sp>
        <p:nvSpPr>
          <p:cNvPr id="104" name="Shape 101"/>
          <p:cNvSpPr/>
          <p:nvPr/>
        </p:nvSpPr>
        <p:spPr>
          <a:xfrm>
            <a:off x="200848" y="53071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200848" y="5389488"/>
            <a:ext cx="950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番号は後のページで参照するときだけ振る。並列の項目には振らない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番号の形（四角・ひし形・丸）は1つの資料で1種類にそろえ、強調する番号だけ紺にする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状態の印は凡例で意味を書き、信号機の3色（赤・黄・緑）にしない</a:t>
            </a:r>
            <a:endParaRPr lang="en-US" sz="1400" dirty="0"/>
          </a:p>
        </p:txBody>
      </p:sp>
      <p:pic>
        <p:nvPicPr>
          <p:cNvPr id="106" name="Image 0" descr="refresh-c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9728" y="462139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目次は番号と章名を縦の線とともに1列に並べ、右に各章で答える問いを添える。章扉では該当する章だけを紺・太字にする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92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49488" y="157644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78088" y="1576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481008" y="15764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321488" y="179589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49488" y="262800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78088" y="26280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6280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321488" y="284745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49488" y="367956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78088" y="36795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481008" y="3679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321488" y="389901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49488" y="473112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78088" y="47311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481008" y="4731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321488" y="495057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構成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報告書の構成は章番号と章名を淡い帯で示し、右に各章の要点を1行で添える。帯の色は全章で同じにし、強調には使わない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530720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1" name="Shape 8"/>
          <p:cNvSpPr/>
          <p:nvPr/>
        </p:nvSpPr>
        <p:spPr>
          <a:xfrm>
            <a:off x="310576" y="1530720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29448" y="15307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32368" y="153072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687248" y="1622160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152512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310576" y="2152512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29448" y="215251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932368" y="215251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687248" y="2243952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2774304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10576" y="2774304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29448" y="277430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32368" y="277430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687248" y="2865744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396096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310576" y="3396096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29448" y="3396096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932368" y="3396096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687248" y="3487536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017888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10576" y="4017888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29448" y="4017888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932368" y="4017888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5687248" y="4109328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639680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310576" y="4639680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29448" y="46396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932368" y="463968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5687248" y="4731120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5261472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10576" y="5261472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429448" y="526147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932368" y="526147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5687248" y="5352912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背景と目的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背景と目的は左右に並べ、左の背景から右の目的が導かれることを中央の矢印で示す。目的は検討で答える1〜2点に絞って書く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94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3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　背景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31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2033640"/>
            <a:ext cx="4431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272888" y="1485000"/>
            <a:ext cx="443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　目的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272888" y="1832472"/>
            <a:ext cx="4431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72888" y="2033640"/>
            <a:ext cx="4431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952848" y="2033640"/>
            <a:ext cx="0" cy="40233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815688" y="386244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4928817" y="3922790"/>
            <a:ext cx="64520" cy="153619"/>
          </a:xfrm>
          <a:custGeom>
            <a:avLst/>
            <a:gdLst/>
            <a:ahLst/>
            <a:cxnLst/>
            <a:rect l="l" t="t" r="r" b="b"/>
            <a:pathLst>
              <a:path w="64520" h="153619">
                <a:moveTo>
                  <a:pt x="0" y="0"/>
                </a:moveTo>
                <a:lnTo>
                  <a:pt x="64520" y="76810"/>
                </a:lnTo>
                <a:lnTo>
                  <a:pt x="0" y="153619"/>
                </a:lnTo>
              </a:path>
            </a:pathLst>
          </a:custGeom>
          <a:ln w="13716">
            <a:solidFill>
              <a:srgbClr val="FFFFFF"/>
            </a:solidFill>
            <a:prstDash val="solid"/>
          </a:ln>
        </p:spPr>
      </p:sp>
      <p:pic>
        <p:nvPicPr>
          <p:cNvPr id="19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848" y="1503288"/>
            <a:ext cx="292608" cy="292608"/>
          </a:xfrm>
          <a:prstGeom prst="rect">
            <a:avLst/>
          </a:prstGeom>
        </p:spPr>
      </p:pic>
      <p:pic>
        <p:nvPicPr>
          <p:cNvPr id="20" name="Image 1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888" y="150328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ゴール・アジェンダ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会議資料の冒頭では本日のゴールを先に示し、その下に議題を番号付きで並べる。各議題には、その場で決めることを1行添える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95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9504000" cy="11887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3768" y="15947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本日のゴール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03768" y="1987920"/>
            <a:ext cx="877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96485" y="2728584"/>
            <a:ext cx="312725" cy="206398"/>
          </a:xfrm>
          <a:custGeom>
            <a:avLst/>
            <a:gdLst/>
            <a:ahLst/>
            <a:cxnLst/>
            <a:rect l="l" t="t" r="r" b="b"/>
            <a:pathLst>
              <a:path w="312725" h="206398">
                <a:moveTo>
                  <a:pt x="0" y="0"/>
                </a:moveTo>
                <a:lnTo>
                  <a:pt x="0" y="94943"/>
                </a:lnTo>
                <a:lnTo>
                  <a:pt x="156362" y="206398"/>
                </a:lnTo>
                <a:lnTo>
                  <a:pt x="312725" y="94943"/>
                </a:lnTo>
                <a:lnTo>
                  <a:pt x="312725" y="0"/>
                </a:lnTo>
                <a:lnTo>
                  <a:pt x="156362" y="11145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9112" y="2864807"/>
            <a:ext cx="347472" cy="229332"/>
          </a:xfrm>
          <a:custGeom>
            <a:avLst/>
            <a:gdLst/>
            <a:ahLst/>
            <a:cxnLst/>
            <a:rect l="l" t="t" r="r" b="b"/>
            <a:pathLst>
              <a:path w="347472" h="229332">
                <a:moveTo>
                  <a:pt x="0" y="0"/>
                </a:moveTo>
                <a:lnTo>
                  <a:pt x="0" y="105492"/>
                </a:lnTo>
                <a:lnTo>
                  <a:pt x="173736" y="229332"/>
                </a:lnTo>
                <a:lnTo>
                  <a:pt x="347472" y="105492"/>
                </a:lnTo>
                <a:lnTo>
                  <a:pt x="347472" y="0"/>
                </a:lnTo>
                <a:lnTo>
                  <a:pt x="173736" y="123839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200848" y="3176640"/>
            <a:ext cx="9504000" cy="29041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3768" y="32863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本日のアジェンダ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03768" y="374356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03768" y="3743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069528" y="3743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52408" y="409104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03768" y="456652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03768" y="4566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069528" y="4566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52408" y="491400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03768" y="538948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03768" y="5389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69528" y="5389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252408" y="573696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pic>
        <p:nvPicPr>
          <p:cNvPr id="29" name="Image 0" descr="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008" y="1594728"/>
            <a:ext cx="292608" cy="292608"/>
          </a:xfrm>
          <a:prstGeom prst="rect">
            <a:avLst/>
          </a:prstGeom>
        </p:spPr>
      </p:pic>
      <p:pic>
        <p:nvPicPr>
          <p:cNvPr id="30" name="Image 1" descr="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08" y="328636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表の基本形は表頭の下に線を1本引き、行の間を細い線で区切る。表頭・表側には色を使わず、目立たせたい所だけ着色する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87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969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300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631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2288" y="23994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6638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969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7300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7631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1126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92288" y="31492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6638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969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7300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7631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8624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2288" y="38990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638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6969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300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7631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612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92288" y="46488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16638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6969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7300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631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3620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92288" y="53986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6638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6969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7300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7631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表側（左端の列）で行の区分を立てたいときだけ、表側をグレーで塗る。塗るのは表側の1列だけにし、表頭と中のマスは塗らない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87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969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300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631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371968"/>
            <a:ext cx="1298448" cy="3712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3994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6638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969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7300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7631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572448" y="3112632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92288" y="31492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6638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6969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300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7631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572448" y="386244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92288" y="38990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6638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969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7300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7631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572448" y="4612248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46488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638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6969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7300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7631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572448" y="5362056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92288" y="53986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6638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6969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57300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7631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表頭が2段になるときは、上の段の見出しを下の段の列にまたがせ、その下に細い線を引いて束ねる範囲を示す。線は束ねる列の幅だけにする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638648" y="1987920"/>
            <a:ext cx="406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30088" y="2317104"/>
            <a:ext cx="388332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92288" y="237196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6638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6969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7300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631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7194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2288" y="278344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6638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6969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300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7631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4601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49668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6638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6969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7300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631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1733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92288" y="420991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6638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969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7300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7631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4886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92288" y="492314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16638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6969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7300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7631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599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92288" y="563637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6638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36969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7300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77631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大分類をグレーの塊で左に置き、中段に項目名の枠、右に説明を並べる。枠は項目名の入力欄として使い、強調には使わない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828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66808" y="1987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166808" y="2335392"/>
            <a:ext cx="2103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98528" y="1987920"/>
            <a:ext cx="520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498528" y="2335392"/>
            <a:ext cx="5206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490840"/>
            <a:ext cx="1828800" cy="17922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536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66808" y="2536560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258248" y="2536560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498528" y="2600568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498528" y="3076056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166808" y="3158352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58248" y="3158352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498528" y="3222360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4498528" y="3697848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166808" y="3780144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258248" y="3780144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98528" y="3844152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498528" y="4319640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356216"/>
            <a:ext cx="1828800" cy="17922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92288" y="440193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166808" y="4401936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258248" y="4401936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498528" y="4465944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498528" y="4941432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166808" y="5023728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258248" y="5023728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498528" y="5087736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498528" y="5563224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2166808" y="5645520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258248" y="5645520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4498528" y="5709528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グループに分けた項目に番号を振るときは、左に区分名と括弧の線を置き、番号付きの行を並べる。番号は後で参照するときだけ振る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252408" y="1987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252408" y="2335392"/>
            <a:ext cx="1737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26928" y="19879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126928" y="2335392"/>
            <a:ext cx="19202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75768" y="1987920"/>
            <a:ext cx="442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275768" y="2335392"/>
            <a:ext cx="4429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490840"/>
            <a:ext cx="8229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142680" y="2536560"/>
            <a:ext cx="0" cy="1700784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252408" y="2536560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1325560" y="2660004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325560" y="26600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636456" y="2536560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3126928" y="2536560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218368" y="253656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275768" y="2600568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275768" y="3076056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252408" y="3158352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325560" y="3281796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325560" y="32817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636456" y="3158352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3126928" y="3158352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18368" y="3158352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275768" y="3222360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275768" y="3697848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252408" y="3780144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325560" y="3903588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325560" y="39035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1636456" y="3780144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126928" y="3780144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218368" y="3780144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5275768" y="3844152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5275768" y="4319640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356216"/>
            <a:ext cx="8229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142680" y="4401936"/>
            <a:ext cx="0" cy="1700784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252408" y="4401936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325560" y="452538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1325560" y="45253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1636456" y="4401936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3126928" y="4401936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18368" y="4401936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5275768" y="4465944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275768" y="4941432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252408" y="5023728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325560" y="5147172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1325560" y="51471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636456" y="5023728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3126928" y="5023728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3218368" y="5023728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5275768" y="5087736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5275768" y="5563224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252408" y="5645520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1325560" y="5768964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1325560" y="57689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636456" y="5645520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126928" y="5645520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3218368" y="564552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5275768" y="5709528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表（数値）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数値の表は半角数字・3桁区切りで右にそろえ、線は行の間だけに引く。強調したい数値だけを紺にし、文字を一段大きくする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8956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2897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46838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50779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54720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8661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2602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66543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239940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42897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46838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0779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54720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58661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62602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66543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0760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11263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38956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42897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46838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50779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54720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58661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62602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66543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378928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82586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38956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42897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46838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50779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554720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658661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762602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66543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00848" y="45025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53909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138956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42897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346838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450779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554720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658661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9" name="Text 56"/>
          <p:cNvSpPr txBox="1"/>
          <p:nvPr/>
        </p:nvSpPr>
        <p:spPr>
          <a:xfrm>
            <a:off x="762602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866543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200848" y="5215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200848" y="525232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138956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242897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5" name="Text 62"/>
          <p:cNvSpPr txBox="1"/>
          <p:nvPr/>
        </p:nvSpPr>
        <p:spPr>
          <a:xfrm>
            <a:off x="346838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6" name="Text 63"/>
          <p:cNvSpPr txBox="1"/>
          <p:nvPr/>
        </p:nvSpPr>
        <p:spPr>
          <a:xfrm>
            <a:off x="450779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554720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658661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762602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866543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工程×観点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工程を列、観点を行に置く表では、列見出しを矢印の線で左から右へつなぎ、工程の順番を示す。各マスは2〜3行に収める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43528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43528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8759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398759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0704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0704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5935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675935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7880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97880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3111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953111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472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279840" y="2518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3524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48100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25276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02452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389568" y="3569832"/>
            <a:ext cx="8315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3615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279840" y="3661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00848" y="4667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48100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25276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02452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389568" y="4712832"/>
            <a:ext cx="8315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4758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1279840" y="4804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00848" y="5810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48100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25276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702452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工程×観点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行を大分類で束ねるときは、左に区分名と縦の線を置き、行の名前をグレーの塊で示す。列見出しは工程の矢印の線にする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44112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44112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5815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465815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7760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87760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09463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709463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408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1408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3111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953111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472552"/>
            <a:ext cx="8229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115248" y="2518272"/>
            <a:ext cx="0" cy="1673352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206688" y="2509128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206688" y="250912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48684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92332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35980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395408" y="3057768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206688" y="3112632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06688" y="311263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48684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92332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35980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395408" y="3661272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206688" y="3716136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206688" y="3716136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248684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92332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35980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395408" y="4264776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283064"/>
            <a:ext cx="8229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115248" y="4328784"/>
            <a:ext cx="0" cy="1673352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206688" y="4319640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206688" y="4319640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248684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492332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35980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395408" y="4868280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206688" y="4923144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1206688" y="4923144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48684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492332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735980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2395408" y="5471784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206688" y="5526648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1206688" y="552664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248684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492332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735980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フローチャート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縦の工程フローでは左に工程を上から下へ並べ、右に各工程の中身を書く。強調したい工程だけを淡い紺で塗り、他はグレーにする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87920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 rot="10800000">
            <a:off x="200848" y="276516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19879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33640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938208" y="2948040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3012048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 rot="10800000">
            <a:off x="200848" y="3789288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00848" y="301204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938208" y="3057768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938208" y="3972168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00848" y="4036176"/>
            <a:ext cx="1463040" cy="78638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3" name="Shape 20"/>
          <p:cNvSpPr/>
          <p:nvPr/>
        </p:nvSpPr>
        <p:spPr>
          <a:xfrm rot="10800000">
            <a:off x="200848" y="4813416"/>
            <a:ext cx="1463040" cy="137160"/>
          </a:xfrm>
          <a:prstGeom prst="triangle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0848" y="4036176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938208" y="4081896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1938208" y="4996296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00848" y="5060304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 rot="10800000">
            <a:off x="200848" y="5837544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5060304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938208" y="5106024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フローチャート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工程ごとに観点が2つあるときは、右側を2列に分けて列の上に見出しと線を置く。強調する工程の行だけ文字を紺・太字にする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38208" y="1987920"/>
            <a:ext cx="374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938208" y="2335392"/>
            <a:ext cx="3746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58688" y="1987920"/>
            <a:ext cx="374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958688" y="2335392"/>
            <a:ext cx="3746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0848" y="24451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4"/>
          <p:cNvSpPr/>
          <p:nvPr/>
        </p:nvSpPr>
        <p:spPr>
          <a:xfrm rot="10800000">
            <a:off x="200848" y="31309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445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938208" y="24908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958688" y="24908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938208" y="33046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958688" y="33046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00848" y="33595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 rot="10800000">
            <a:off x="200848" y="40453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00848" y="33595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938208" y="34052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958688" y="34052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938208" y="42190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958688" y="42190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00848" y="4273920"/>
            <a:ext cx="1463040" cy="69494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1" name="Shape 28"/>
          <p:cNvSpPr/>
          <p:nvPr/>
        </p:nvSpPr>
        <p:spPr>
          <a:xfrm rot="10800000">
            <a:off x="200848" y="4959720"/>
            <a:ext cx="1463040" cy="137160"/>
          </a:xfrm>
          <a:prstGeom prst="triangle">
            <a:avLst/>
          </a:prstGeom>
          <a:solidFill>
            <a:srgbClr val="C1DDF1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4273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938208" y="43196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958688" y="43196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938208" y="51334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958688" y="51334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00848" y="51883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 rot="10800000">
            <a:off x="200848" y="58741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0848" y="51883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1938208" y="52340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958688" y="52340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計算式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計算式は上段に項と演算子を並べ、下段に各項の定義と出所を書く。算定値の箱だけを淡い紺にし、項の箱は同じ色にそろえる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算定式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4509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各項の説明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298128" y="1942200"/>
            <a:ext cx="0" cy="4434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43528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43528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項1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23112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23112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3528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62792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62792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項2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2376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2376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62792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82056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20568" y="2006208"/>
            <a:ext cx="1691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項3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049168" y="2330820"/>
            <a:ext cx="1234440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820568" y="2353680"/>
            <a:ext cx="1691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項4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61640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1640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82056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013208" y="1987920"/>
            <a:ext cx="16916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01320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算定値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01320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435288" y="3222360"/>
            <a:ext cx="826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ツリー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ツリーは左から右へ分解し、同じ階層の箱を同じ大きさにそろえる。親から子への線は親の右端から出し、交差させずに直角で結ぶ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554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66808" y="19879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166808" y="2335392"/>
            <a:ext cx="2743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321488" y="1987920"/>
            <a:ext cx="438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321488" y="2335392"/>
            <a:ext cx="438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490840"/>
            <a:ext cx="1554480" cy="35442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5822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66808" y="2490840"/>
            <a:ext cx="2743200" cy="14173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258248" y="256399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938208" y="31995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321488" y="249084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2928" y="249084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38608" y="269658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321488" y="299376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12928" y="299376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38608" y="319950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321488" y="349668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12928" y="349668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38608" y="370242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910008" y="31995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138608" y="2696580"/>
            <a:ext cx="0" cy="100584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166808" y="4091040"/>
            <a:ext cx="2743200" cy="91440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258248" y="416419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938208" y="454824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321488" y="409104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12928" y="409104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138608" y="429678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321488" y="459396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12928" y="459396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5138608" y="479970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10008" y="454824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138608" y="4296780"/>
            <a:ext cx="0" cy="5029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166808" y="5188320"/>
            <a:ext cx="2743200" cy="8467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258248" y="526147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1938208" y="56116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321488" y="5188320"/>
            <a:ext cx="4383360" cy="37764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412928" y="5188320"/>
            <a:ext cx="4200480" cy="3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5138608" y="537714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321488" y="5657400"/>
            <a:ext cx="4383360" cy="37764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412928" y="5657400"/>
            <a:ext cx="4200480" cy="3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138608" y="584622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910008" y="56116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138608" y="5377140"/>
            <a:ext cx="0" cy="4690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755328" y="426294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938208" y="3199500"/>
            <a:ext cx="0" cy="24121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課題・打手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課題と打手を整理するときは、左に課題をグレーの塊で置き、矢羽で右の打手の2列に結ぶ。1つの課題に打手を1行で対応させる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828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486848" y="1987920"/>
            <a:ext cx="721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486848" y="2335392"/>
            <a:ext cx="7218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0848" y="249084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2288" y="256399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課題／事象1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102800" y="294273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2199360" y="295151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486848" y="25365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315648" y="249084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98528" y="253656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486848" y="3652128"/>
            <a:ext cx="7218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00848" y="372528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92288" y="379843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課題／事象2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102800" y="417717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27" name="Shape 24"/>
          <p:cNvSpPr/>
          <p:nvPr/>
        </p:nvSpPr>
        <p:spPr>
          <a:xfrm>
            <a:off x="2199360" y="418595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486848" y="3771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315648" y="372528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498528" y="377100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486848" y="4886568"/>
            <a:ext cx="7218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95972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92288" y="503287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課題／事象3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102800" y="541161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2199360" y="542039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486848" y="50054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315648" y="495972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498528" y="500544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課題とアクション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課題とアクションのように左右が対になる内容は、中央の縦線で分け、見出しの線の交点に丸を置いて左から右への関係を示す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461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4614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90008" y="1987920"/>
            <a:ext cx="461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90008" y="2335392"/>
            <a:ext cx="4614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843120" y="222566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52848" y="2445120"/>
            <a:ext cx="0" cy="3589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582280"/>
            <a:ext cx="434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227168" y="2582280"/>
            <a:ext cx="434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前提と検討事項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前提情報と、それを踏まえた検討事項を左右に置き、左の見出しの線を右の欄へ矢印でつなぐ。右の欄は縦の線で左と区切る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024496"/>
            <a:ext cx="475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53680"/>
            <a:ext cx="4889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998568" y="2152512"/>
            <a:ext cx="4706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998568" y="2152512"/>
            <a:ext cx="0" cy="38825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72888" y="2243952"/>
            <a:ext cx="438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536560"/>
            <a:ext cx="4477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272888" y="2673720"/>
            <a:ext cx="4386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事実と示唆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事実の図を左に大きく置き、右の帯に示唆を2〜3点書く。帯の左端に矢印を置き、左の事実から示唆を導いたことを示す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6715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6715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816720"/>
            <a:ext cx="671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（グラフ・表を置く）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5989320"/>
            <a:ext cx="6715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235968" y="1896480"/>
            <a:ext cx="2468880" cy="41842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18848" y="1987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464568" y="2993760"/>
            <a:ext cx="2103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080520" y="3856032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7208733" y="3924429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コメント・文書引用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発言や文書を引用するときは、上に示唆を書き、その根拠となる引用を下の枠に入れる。枠の右下に発言者か出所を必ず書く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4569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9084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2829168"/>
            <a:ext cx="456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補足説明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3405240"/>
            <a:ext cx="4569120" cy="2629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2288" y="3423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612328" y="3953880"/>
            <a:ext cx="392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75168" y="5349240"/>
            <a:ext cx="379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 or 発言者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267048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5135728" y="198792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135728" y="2335392"/>
            <a:ext cx="4569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35728" y="249084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135728" y="2829168"/>
            <a:ext cx="456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補足説明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35728" y="3405240"/>
            <a:ext cx="4569120" cy="2629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227168" y="3423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5547208" y="3953880"/>
            <a:ext cx="392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410048" y="5349240"/>
            <a:ext cx="379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 or 発言者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201928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完成例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146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架空の地方鉄道「みなと鉄道」の運営形態の見直し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338328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56616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型の見本を組み合わせて、表紙から判断事項までを通した24枚の完成例。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メッセージラインのつながり、章の切り替え、エグゼクティブサマリーと本文の対応を確かめるための手本として使う。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路線・数値はすべて架空。数値は互いに整合するよう設計している。</a:t>
            </a:r>
            <a:endParaRPr lang="en-US" sz="14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103120"/>
            <a:ext cx="64008" cy="13716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2103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みなと鉄道の持続可能な運営形態について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上下分離への移行に関する検討結果（最終報告）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7548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2026年10月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みなと鉄道沿線地域公共交通活性化協議会　事務局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744728" y="365760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みなと鉄道の赤字は10年で2.5倍の年5.2億円に拡大した。上下分離に移行すれば、自治体の実質負担は年2.2億円に抑えられる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注）赤字は営業損失（2024年度決算）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出所）みなと鉄道「決算書」（各年度）を基に作成（架空の完成例）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輸送人員は10年で25%減り、年158万人となった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通学の減少が大きく、沿線人口は2050年までに3割減る見通し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赤字は10年で3.1億円増え、年5.2億円に拡大した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増加分の6割は運賃収入の減少。黒字化には輸送人員1.6倍が必要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3案のうち上下分離が、負担と利便性の両面で最も優れる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自治体の実質負担は年2.2億円で、現行の補填の3分の1にとどまる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上下分離（案B）を基本方針とし、2026年度に法定協議会を設けて実施計画を策定する。2028年4月の移行を目指し、並行して増収策で鉄道会社の収支を黒字にする</a:t>
            </a:r>
            <a:endParaRPr lang="en-US" sz="14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本報告は「どの運営形態を選ぶべきか」に4章で答える。結論を左右するのは第3章の運営形態の比較であり、ここに最も紙幅を割く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本報告の構成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114</a:t>
            </a:r>
            <a:endParaRPr lang="en-US" sz="900" dirty="0"/>
          </a:p>
        </p:txBody>
      </p:sp>
      <p:graphicFrame>
        <p:nvGraphicFramePr>
          <p:cNvPr id="1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65184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章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答える問い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主な分析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ページ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　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利用と沿線はどう変わったか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輸送人員・利用者構成・人口推計・住民アンケート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　課題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なぜ赤字が拡大したか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要因分解・費用比較・計算ロジック・感度分析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10–14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　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どの運営形態を選ぶべきか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3案の評価・上下分離の仕組み・負担比較・増収策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15–19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4　実行計画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いつ何を決め、何をするか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ロードマップ・効果・リスク・判断事項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20–24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結論は、ヒアリング32件、住民アンケート1,200件、10年分の運行・決算データの3つの調査に基づき、定量と定性の両面で裏付けている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出所）関係者ヒアリング（2026年4〜6月、32件）、沿線住民アンケート（2026年5月）を基に作成（架空の完成例）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沿線3市・県・事業者・学校・利用者団体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第2章・第3章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沿線住民アンケート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無作為抽出の3,000人に郵送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第1章（存続の意向）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運行・決算データ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駅別乗降・定期券種別・費目別決算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2014〜2024年度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第1章・第2章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第1章では、利用と沿線の変化を示す。輸送人員は減り続けているが、住民の約7割は存続を望んでおり、廃止は選択肢になりにくい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輸送人員は10年で25%減り、2024年度は158万人となった。2020年度の落ち込みから回復しつつあるが、減少は構造的である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（万人、2014–2024年度）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注）輸送人員は定期・定期外の合計。2020年度は感染症の影響を含む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出所）みなと鉄道「鉄道統計年報」提出資料（各年度）を基に作成（架空の完成例）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117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6257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023808" y="2377440"/>
            <a:ext cx="47548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1298128" y="2011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−2.8%（10年で−25%）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10年で52万人減った（−25%）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2014年度の210万人から2024年度は158万人へ。年平均で2.8%ずつ減っている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感染症前の水準には戻らない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2020年度の131万人から持ち直したが、2024年度の158万人は2018年度（186万人）を15%下回る</a:t>
            </a:r>
            <a:endParaRPr lang="en-US" sz="12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通学の比率は10年で6ポイント下がり、通院・買物と観光が増えた。少子化で通学は今後も減るため、日中の利用を伸ばす転換が要る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目的別の利用者構成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（%、2014年度と2024年度）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注）利用目的は駅での聞き取り調査（各年度10月の平日）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出所）みなと鉄道 利用実態調査を基に作成（架空の完成例）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118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02336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315648" y="22402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315648" y="2697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通院・買物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315648" y="34290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通勤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315648" y="47091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504368" y="4709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−6pt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504368" y="2240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5504368" y="26974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通学は10年で6pt下がった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通学の利用は2014年度の109万人から2024年度は73万人へ。沿線の高校生の減少による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日中の通院・買物と観光が伸びた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通院・買物も観光も＋4pt。日中の便を増やせば、さらに伸ばせる余地がある</a:t>
            </a:r>
            <a:endParaRPr lang="en-US" sz="12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輸送人員は基本シナリオでも2045年度に118万人まで減り、楽観シナリオでも1割以上減る。利用の自然回復には期待できない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注）路線・数値はすべて架空の完成例。2025年度は推計の起点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出所）架空の将来人口推計を基に作成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輸送人員の見通し（万人、2025–2045年度（予測））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486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4663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 140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 118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389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 95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961568" y="1485000"/>
            <a:ext cx="374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各シナリオの前提（2045年度）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961568" y="1832472"/>
            <a:ext cx="3743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61568" y="1965960"/>
          <a:ext cx="37432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14440"/>
                <a:gridCol w="1414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961568" y="4526280"/>
            <a:ext cx="3743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961568" y="4663440"/>
            <a:ext cx="374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沿線人口は2020年の8.4万人から、2045年に6.3万人へ減る（基本）</a:t>
            </a:r>
            <a:endParaRPr lang="en-US" sz="14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沿線住民の68%が存続を望み、10〜20代と70代以上では7割を超える。日常の足として必要とする層が明確で、廃止は合意を得にくい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「みなと鉄道は存続すべきだと思うか」への回答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注）設問「みなと鉄道を今後も残すべきだと思いますか」。無回答を除く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出所）沿線住民アンケート（2026年5月、n＝1,200）を基に作成（架空の完成例）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120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625788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886648" y="1984248"/>
            <a:ext cx="164592" cy="1645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106104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2258248" y="1984248"/>
            <a:ext cx="164592" cy="16459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2477704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3629848" y="1984248"/>
            <a:ext cx="164592" cy="16459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3849304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001448" y="1984248"/>
            <a:ext cx="164592" cy="164592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220904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存続を望むのは68%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「そう思う」41%と「ややそう思う」27%の計。「そう思わない」は14%にとどまる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10〜20代と70代以上は7割以上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通学と通院で日常的に使う層。この2つの層の足を確保できるかが、合意の前提になる</a:t>
            </a:r>
            <a:endParaRPr lang="en-US" sz="12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第2章では、赤字が10年で2.5倍に拡大した要因を示す。主因は運賃収入の減少であり、費用削減だけでは黒字化できない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赤字は10年で3.1億円増えて年5.2億円となり、増加分の6割は運賃収入の減少による。修繕費も0.8億円増え、施設の老朽化が重い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（億円、2014年度→2024年度）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注）営業損失の増減を費目別に分解。運賃収入の減少は損失の増加要因として表示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出所）みなと鉄道「決算書」（2014・2024年度）を基に作成（架空の完成例）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4295851"/>
            <a:ext cx="868680" cy="119054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83728" y="4003243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656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252408" y="4295851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636456" y="3218688"/>
            <a:ext cx="868680" cy="1077163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36456" y="292608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＋1.9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49929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505136" y="3218688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2889184" y="2765146"/>
            <a:ext cx="868680" cy="45354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889184" y="247253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752024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757864" y="276514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4141912" y="2481682"/>
            <a:ext cx="868680" cy="283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141912" y="218907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＋0.5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004752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10592" y="2481682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5394640" y="2368296"/>
            <a:ext cx="868680" cy="1133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394640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257480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263320" y="236829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6647368" y="2368296"/>
            <a:ext cx="868680" cy="1700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47368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1020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516048" y="2538374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6" name="Shape 33"/>
          <p:cNvSpPr/>
          <p:nvPr/>
        </p:nvSpPr>
        <p:spPr>
          <a:xfrm>
            <a:off x="7900096" y="2538374"/>
            <a:ext cx="868680" cy="294802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900096" y="224576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76293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4864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1人当たりの営業費用は937円で、同規模の地方鉄道の平均620円の1.5倍に達する。利用の減少に費用の削減が追いついていない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注）1人当たり営業費用＝営業費用÷輸送人員。平均は営業距離20〜40kmの10社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出所）国土交通省「鉄道統計年報」（2024年度）を基に作成（架空の完成例）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937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9836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437 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9836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 円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39836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 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同規模10社の平均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50148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 円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50148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69900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50148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69900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 円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×1.5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200848" y="5257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3492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差317円の6割は人件費と修繕費（＋107円、＋83円）による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00848" y="576072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補足：1人当たり営業費用＝営業費用÷輸送人員（2024年度）。平均は営業距離20〜40kmの10社の単純平均</a:t>
            </a:r>
            <a:endParaRPr lang="en-US" sz="11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赤字5.2億円は、運賃収入8.1億円が費用14.8億円を大きく下回るためである。黒字化には輸送人員を現在の1.6倍に増やす必要がある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注）平均運賃＝運賃収入÷輸送人員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出所）みなと鉄道「決算書」（2024年度）を基に作成（架空の完成例）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34968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4112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営業収益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44112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9.6億円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08704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49852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8996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996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14.8億円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21836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15248" y="33375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3611880"/>
            <a:ext cx="141732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922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158万人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6181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029648" y="3611880"/>
            <a:ext cx="14173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1210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平均運賃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1210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513円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34469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3858448" y="3611880"/>
            <a:ext cx="12801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949888" y="37033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運輸雑収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949888" y="4023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1.5億円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9140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7428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498528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6720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595808" y="3429000"/>
            <a:ext cx="410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費用の内訳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595808" y="3749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42468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6.9億円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5595808" y="407822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8424688" y="407822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3.2億円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95808" y="44074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424688" y="44074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2.1億円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595808" y="47365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424688" y="473659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1.4億円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5595808" y="506577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424688" y="50657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1.2億円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00848" y="56235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黒字化に必要な輸送人員：＋101万人（現在の1.6倍）</a:t>
            </a:r>
            <a:endParaRPr lang="en-US" sz="14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収支を最も左右するのは輸送人員で、10%の変動で0.8億円動く。人件費も0.7億円と大きく、利用の維持と要員の見直しを同時に進める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各前提が10%変動したときの営業損益の変化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（億円、基本ケース＝−5.2億円）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注）各前提を基本ケース（営業損失5.2億円）から±10%動かし、他は固定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出所）みなと鉄道「決算書」（2024年度）を基に試算（架空の完成例）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94700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悪化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549244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6141568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817724" y="22860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−0.81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79612" y="22860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933292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6141568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201772" y="30358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−0.69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95564" y="30358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＋0.69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17440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6141568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385920" y="378561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211416" y="378561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＋0.32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469484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141568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737964" y="453542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−0.21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859372" y="453542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＋0.21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693512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6141568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961992" y="528523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−0.14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635344" y="52852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＋0.14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14156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227168" y="6080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 −5.2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20084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補足：輸送人員の変動は運賃収入に比例すると仮定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第3章では、3つの運営形態を比べ、上下分離を推奨する理由を示す。上下分離は自治体の実質負担が最も小さく、鉄道の利便性も保てる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上下分離は4基準のうち公的負担・利便性・持続性の3つで最も高い。実現性の課題である3市の負担割合は、協議会の調整で解決できる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注）路線・数値はすべて架空の完成例。公的負担は2030年度の自治体の実質負担で評価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127</a:t>
            </a:r>
            <a:endParaRPr lang="en-US" sz="900" dirty="0"/>
          </a:p>
        </p:txBody>
      </p:sp>
      <p:graphicFrame>
        <p:nvGraphicFramePr>
          <p:cNvPr id="1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84248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94560"/>
                <a:gridCol w="2194560"/>
                <a:gridCol w="237168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案A　現行維持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（赤字を補填）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案B　上下分離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案C　BRT転換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公的負担の小ささ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利便性（速さ・定時性）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実現性（合意・手続き）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将来の持続性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138608" y="1938528"/>
            <a:ext cx="2194560" cy="41148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上下分離では県と3市が線路・駅を保有し、会社は運行に専念する。施設の費用5.3億円が自治体に移り、会社は使用料1.0億円を払う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上下分離の仕組み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（2028年度以降）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注）国の補助は施設費用と使用料の差額の2分の1と仮定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出所）国土交通省「鉄道事業再構築事業」の制度資料を基に作成（架空の完成例）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04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8372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132768" y="2148840"/>
            <a:ext cx="1051560" cy="10515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670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施設を保有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4926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33316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674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運行に専念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6930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33168" y="4434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67408" y="4782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93088" y="5532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121088" y="2670048"/>
            <a:ext cx="196596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1938208" y="2286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 2.1億円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230048" y="2514600"/>
            <a:ext cx="205740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7" name="Text 24"/>
          <p:cNvSpPr txBox="1"/>
          <p:nvPr/>
        </p:nvSpPr>
        <p:spPr>
          <a:xfrm>
            <a:off x="5047168" y="213055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線路・駅を貸す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287448" y="2880360"/>
            <a:ext cx="-201168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5047168" y="29443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 1.0億円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854376" y="3246120"/>
            <a:ext cx="0" cy="114300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8018968" y="3611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126928" y="36576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施設の費用 5.3億円を負担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51206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自治体の実質負担＝5.3−1.0−2.1＝2.2億円／年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4864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補足：国の補助は施設費用の差額の2分の1と仮定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2030年度の自治体の実質負担は、現行維持の6.3億円に対し上下分離は2.2億円と最も小さい。BRT転換より鉄道の利便性も保てる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注）実質負担＝自治体の支出−国の補助。2030年度の試算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出所）みなと市・沿線3市の試算を基に作成（架空の完成例）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65836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058848" y="45262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現行維持の約3分の1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058848" y="48463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−4.1億円／年</a:t>
            </a:r>
            <a:endParaRPr lang="en-US" sz="20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5つの増収策で年1.0億円の増収が見込め、上下分離後の会社の収支は0.9億円の赤字から黒字に転じる。最大は運賃改定の0.4億円である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増収策ごとの効果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注）増収額は2030年度の年額。施策の間の重複は除いた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出所）みなと鉄道 増収策の検討資料を基に作成（架空の完成例）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130</a:t>
            </a:r>
            <a:endParaRPr lang="en-US" sz="900" dirty="0"/>
          </a:p>
        </p:txBody>
      </p:sp>
      <p:graphicFrame>
        <p:nvGraphicFramePr>
          <p:cNvPr id="1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  <a:gridCol w="3200400"/>
                <a:gridCol w="1371600"/>
                <a:gridCol w="127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開始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運賃の5%改定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観光列車と周遊券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駅のパーク＆ライド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沿線企業の通勤定期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904168" y="2487168"/>
            <a:ext cx="2743200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3904168" y="3035808"/>
            <a:ext cx="20574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3904168" y="3584448"/>
            <a:ext cx="10287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3904168" y="4133088"/>
            <a:ext cx="6858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3904168" y="4681728"/>
            <a:ext cx="342900" cy="237744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第4章では、2028年4月の移行までの工程・効果・リスクと判断事項を示す。最初の判断点は2027年3月の協議会での合意である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移行は3段階で進め、2028年4月に上下分離へ移る。2027年3月の協議会で3市の負担割合に合意できれば、国の認定申請に進める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（2026–2028年度）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注）◆は判断の時期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出所）沿線地域公共交通活性化協議会 事務局資料を基に作成（架空の完成例）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2428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3159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次へ進む条件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9286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001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段階1　計画をつくる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2026年度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法定協議会を設置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再構築実施計画を策定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315968"/>
            <a:ext cx="20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3市の負担割合に合意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段階2　移行を準備する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国の認定を申請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施設の譲渡契約を締結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国の認定を得る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県・みなと鉄道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段階3　移行する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2028年4月〜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上下分離で運行開始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増収策を本格実施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会社の収支が黒字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434840"/>
            <a:ext cx="310896" cy="310896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73328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判断点：2027年3月の協議会で負担割合に合意できれば、国の認定申請に進む</a:t>
            </a:r>
            <a:endParaRPr lang="en-US" sz="14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上下分離と増収策で、2030年度に自治体の実質負担は年4.1億円減り、会社の収支は黒字に転じる。運行本数も1日44本を維持できる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（2030年度、現行維持との比較）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注）現行維持との比較。輸送人員は基本シナリオ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出所）みなと市・沿線3市の試算を基に作成（架空の完成例）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2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6.3 → 2.2億円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補足：上下分離と国の補助による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668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会社の営業収支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668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68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 → ＋0.1億円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補足：施設費用の移管と増収策による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44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44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本／日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44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 → 44本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補足：現行の本数を維持する前提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20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＋4%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20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（2030年度）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20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148 → 154万人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補足：基本シナリオとの比較</a:t>
            </a:r>
            <a:endParaRPr lang="en-US" sz="11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最大のリスクは国の補助が得られないことで、その場合は実質負担が4.3億円に増える。2026年度中に国と協議し、認定の見通しを確かめる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注）影響額は2030年度の自治体の実質負担への影響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出所）事務局の試算を基に作成（架空の完成例）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134</a:t>
            </a:r>
            <a:endParaRPr lang="en-US" sz="900" dirty="0"/>
          </a:p>
        </p:txBody>
      </p:sp>
      <p:graphicFrame>
        <p:nvGraphicFramePr>
          <p:cNvPr id="1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対応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国の補助が得られない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2026年度末までに認定の見通しが立たない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国と事前協議を重ね、計画を補強する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沿線3市の負担割合で合意できない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2027年1月の幹事会で案がまとまらない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県が調整案を示す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運賃改定に利用者が反発する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パブリックコメントで反対が過半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通学定期の家族割と同時に実施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修繕費が想定を上回る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橋りょう点検で大規模補修が必要と判明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補修計画を前倒しで精査する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本日は、上下分離を基本方針とし、2026年度に協議会を設けることをご判断いただきたい。決定すれば2028年4月の移行に間に合う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135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00848" y="1485000"/>
            <a:ext cx="840672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852608" y="1485000"/>
            <a:ext cx="557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上下分離（案B）を基本方針とし、2026年6月に法定協議会を設置すること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0576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案A　現行維持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166808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6.3億円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041328" y="278892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10576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案B　上下分離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166808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2.2億円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041328" y="37490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10576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案C　BRT転換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166808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2.4億円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041328" y="47091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中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国の補助は施設費用差額の2分の1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線路使用料は年1.0億円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負担割合は協議会で決める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2026年6月　法定協議会を設置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2027年3月　負担割合を合意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　上下分離で運行開始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137</Slides>
  <Notes>137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137</vt:i4>
      </vt:variant>
    </vt:vector>
  </HeadingPairs>
  <TitlesOfParts>
    <vt:vector size="1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パターン見本デッキ</dc:title>
  <dc:subject>PptxGenJS Presentation</dc:subject>
  <dc:creator>PptxGenJS</dc:creator>
  <cp:lastModifiedBy>PptxGenJS</cp:lastModifiedBy>
  <cp:revision>1</cp:revision>
  <dcterms:created xsi:type="dcterms:W3CDTF">2026-10-28T23:38:59Z</dcterms:created>
  <dcterms:modified xsi:type="dcterms:W3CDTF">2026-10-28T23:38:59Z</dcterms:modified>
</cp:coreProperties>
</file>