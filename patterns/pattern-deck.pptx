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70代以上の77%が存続を望む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「そう思う」と「ややそう思う」の計。若い世代ほど低く、10〜20代は62%にとどまる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反対は全体の13%にとどまる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存続の是非ではなく、どの形で維持するかが議論の中心になる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0964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708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777" y="2350008"/>
            <a:ext cx="184343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4208" y="2350008"/>
            <a:ext cx="166786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74977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117793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30692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420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211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4720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14166" y="3849624"/>
            <a:ext cx="79004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4208" y="3849624"/>
            <a:ext cx="65836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836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0829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65296" y="4599432"/>
            <a:ext cx="43891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4208" y="4599432"/>
            <a:ext cx="39502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279496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49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84752" y="5349240"/>
            <a:ext cx="2194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4404208" y="5349240"/>
            <a:ext cx="175565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9895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2549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420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7268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利用者数の±10%で収支が約4,000万円動く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下振れ−42・上振れ＋38百万円で、2位の運賃単価（±25）の1.6倍に当たる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試行で利用者数を確かめてから投資する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2地区の試行（2027年）で継続利用率80%以上を確かめ、本格投資の判断の基準にする（P47）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78817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78817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178817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178817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37550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375508" y="2267712"/>
            <a:ext cx="145017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337550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337550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96283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6283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496283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496283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減り続けているのは東部だけ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東部は10年で70万人から41万人に減った（−41%）。他の3地区は横ばいか増加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東部では通学の利用が半分になった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沿線の高校の統合（2016年）以降、東部の通学の利用は10年で半分に減った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402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2300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30048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230048" y="4892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0084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10年で4億円増え、12億円になった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増加の40千万円のうち39千万円が通院の送迎による。買物の支援と外出の付添いは横ばい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通院の送迎は5倍になった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10千万円から49千万円へ。予約型交通に置き換えると、送迎の費用の半分を減らせる見込み（試算）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959032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151056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499296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69132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910088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0000" y="2514600"/>
            <a:ext cx="1728216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96776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468560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425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65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910088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24592" y="2971800"/>
            <a:ext cx="98755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20704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2633152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849304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13023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910088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13112" y="3429000"/>
            <a:ext cx="90525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12692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221672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35552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71875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008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136072" y="3886200"/>
            <a:ext cx="82296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67592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044632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09619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54171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10088" y="3657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2806888" y="4343400"/>
            <a:ext cx="7406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456112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71544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684712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21252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910088" y="4114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041328" y="48006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525960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94988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7545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344696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5910088" y="4572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2560000" y="5257800"/>
            <a:ext cx="49377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62336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468560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190936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965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5910088" y="5029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4781992" y="5715000"/>
            <a:ext cx="3291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019736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4690552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24833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4187632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5910088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東部の下げ幅は21pt、8地域で最大</a:t>
            </a:r>
            <a:endParaRPr lang="en-US" sz="1400" dirty="0"/>
          </a:p>
        </p:txBody>
      </p:sp>
      <p:sp>
        <p:nvSpPr>
          <p:cNvPr id="83" name="Text 8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8地域の平均の下げ幅は10pt。東部はその2倍で、2位の北部（−12pt）も大きく上回る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利用率の高い市街地ほど減りにくい</a:t>
            </a:r>
            <a:endParaRPr lang="en-US" sz="1400" dirty="0"/>
          </a:p>
        </p:txBody>
      </p:sp>
      <p:sp>
        <p:nvSpPr>
          <p:cNvPr id="86" name="Text 8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市街地は58%から54%（−4pt）。運行本数の多い地区ほど利用が保たれている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5623560"/>
            <a:ext cx="568756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168" y="2916936"/>
            <a:ext cx="5687568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14096" y="2606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608" y="2794406"/>
            <a:ext cx="420624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5168" y="2501798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1116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2056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88400" y="3742639"/>
            <a:ext cx="420624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96960" y="3450031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3295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776920" y="3802718"/>
            <a:ext cx="621792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4384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10192" y="4115714"/>
            <a:ext cx="420624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718752" y="382310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65474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flipV="1">
            <a:off x="1398712" y="3219809"/>
            <a:ext cx="621792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5640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130232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431984" y="4986223"/>
            <a:ext cx="420624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340544" y="4693615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27653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 flipV="1">
            <a:off x="2020504" y="2973424"/>
            <a:ext cx="621792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87432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3053776" y="5110582"/>
            <a:ext cx="420624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962336" y="481797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898328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 flipV="1">
            <a:off x="2642296" y="2775115"/>
            <a:ext cx="621792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09224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3675568" y="5203850"/>
            <a:ext cx="420624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84128" y="491124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2012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 flipV="1">
            <a:off x="3264088" y="2612861"/>
            <a:ext cx="621792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31016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4297360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205920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14191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 flipV="1">
            <a:off x="3885880" y="2480655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45280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19152" y="5343754"/>
            <a:ext cx="42062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827712" y="505114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76370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 flipV="1">
            <a:off x="4507672" y="2372486"/>
            <a:ext cx="621792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74600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5540944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449504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538549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 flipV="1">
            <a:off x="5129464" y="2240280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696392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995688" y="1783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上位3種類で苦情の71%を占める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遅延182件・接続121件・情報提供97件。いずれも運行の遅れと案内の不足から生じている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3つに対策を絞れば苦情の大半が減る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遅延と接続は接続ダイヤの見直し（P78）、情報提供は車内と停留所の表示で手当てできる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270008" y="1874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29648" y="2194560"/>
            <a:ext cx="31089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300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69067" y="2962656"/>
            <a:ext cx="143012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9062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6144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270008" y="2862072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48873" y="3730752"/>
            <a:ext cx="870509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1564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36144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270008" y="3630168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97590" y="4498848"/>
            <a:ext cx="373075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31564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36144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5270008" y="4398264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467542" y="5266944"/>
            <a:ext cx="23317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31564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6144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0008" y="5166360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アプリを知った人の12%が予約まで至る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20,000人のうち初回予約は2,400人。2回目以降も使い続けるのは1,500人（7.5%）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最大の離脱は登録から初回予約の間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移行率は43%で5段階の中で最も低い。初回の予約の手順を3つに減らす（P51）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5577840"/>
            <a:ext cx="5522976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3712464"/>
            <a:ext cx="548640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048" y="3419856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60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61552" y="2468880"/>
            <a:ext cx="548640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61552" y="217627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7011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865056" y="2779776"/>
            <a:ext cx="548640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65056" y="2487168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77361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468560" y="4023360"/>
            <a:ext cx="548640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68560" y="373075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37712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072064" y="4645152"/>
            <a:ext cx="548640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072064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980624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675568" y="4645152"/>
            <a:ext cx="548640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75568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8412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79072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79072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18763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82576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882576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9113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080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486080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946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106457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2179609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675568" y="4187952"/>
            <a:ext cx="235915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492688" y="384048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中央値は2.4km、9集落は5km以上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42集落の2割が駅から5km以上離れ、歩いて駅に行けない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平均の3.2kmでは遠い集落が見えない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遠い9集落の住民は約1,400人。予約型交通の乗降地点を、まずここに置く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2026-10-28T23:31:42Z</dcterms:created>
  <dcterms:modified xsi:type="dcterms:W3CDTF">2026-10-28T23:31:42Z</dcterms:modified>
</cp:coreProperties>
</file>