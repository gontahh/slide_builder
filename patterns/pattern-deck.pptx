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注）収支は運行補助を含まない営業収支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年度の延べ利用者数　2. 2019年度に運行区域を3地区に拡大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355528" y="2286000"/>
            <a:ext cx="2606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578288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区域を広げた2019年度から伸びが加速した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2015→2019年度は年3.7%、2019→2025年度は年6.7%。拡大した3地区が増加の7割を占める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支線の転換先として受け止められる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支線12路線の利用者は年4.8万人で、予約型の6.5万人の4分の3に当たる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注）利用回数＝年間利用者数÷住民数。類似市は人口10〜20万人の8市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上位3市の平均より9回少ない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上位3市の平均は23回、みなと市は14回。8市の平均（16回）も下回る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差は運行本数で説明できる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上位3市は人口千人当たりの1日運行本数が、みなと市の1.8倍（P08）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注）利用目的は乗車時の聞き取り調査（各年度10月の平日1週間）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5720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64288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864288" y="3063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864288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64288" y="5120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864288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通院は10年で＋17pt、最も伸びた目的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通院の利用者は年62万人から93万人に増えた。70歳以上の人口が2割増えたことが主因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通学は−12pt、生徒数の減少が続く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沿線の高校生は10年で3割減った。2035年度には通学の割合が20%を下回る見込み（推計）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注）人口減少の影響＝2015年度の1人当たり利用回数×人口の減少数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473" y="2157984"/>
            <a:ext cx="632188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1473" y="1865376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21264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13661" y="2157984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344807" y="2157984"/>
            <a:ext cx="632188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344807" y="1865376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84599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976995" y="2816352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1420068" y="5669280"/>
            <a:ext cx="481667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420068" y="5669280"/>
            <a:ext cx="4816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308141" y="2816352"/>
            <a:ext cx="632188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08141" y="2523744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47933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40329" y="3028950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2383402" y="5669280"/>
            <a:ext cx="481667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83402" y="5669280"/>
            <a:ext cx="4816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271476" y="2905506"/>
            <a:ext cx="632188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71476" y="2612898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211267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903664" y="2905506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3346736" y="5669280"/>
            <a:ext cx="481667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346736" y="5669280"/>
            <a:ext cx="4816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4234810" y="2905506"/>
            <a:ext cx="632188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234810" y="2612898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74601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866998" y="2994660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4310070" y="5669280"/>
            <a:ext cx="481667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310070" y="5669280"/>
            <a:ext cx="4816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5198144" y="2994660"/>
            <a:ext cx="632188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198144" y="2702052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137936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21264" y="5669280"/>
            <a:ext cx="963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人口の減少だけで96万人減った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1人当たりの利用回数が同じでも、人口が減った分だけで10年で96万人減る計算になる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通院の増加では補えない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通院は＋18万人と伸びたが、通学の減少（−31万人）の半分強にとどまる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注）移動回数は1日当たり。バス以外の分担率はパーソントリップ調査による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288" y="5696712"/>
            <a:ext cx="2198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491114" y="5696712"/>
            <a:ext cx="14658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956998" y="5696712"/>
            <a:ext cx="12215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28829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28829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8829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28829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通院は移動の45%、バスの分担率は15%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通院の移動は年620万回で、バスが運ぶのは93万回。残りの8割強は車と送迎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家族の送迎が通院の25%を担う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送迎する家族の6割が「負担が大きい」と回答した（アンケート、n＝1,200）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運行本数は平日1日の合計　2. 類似市は人口10〜20万人の11市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00848" y="5806440"/>
            <a:ext cx="625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（縦軸：1人当たり年間利用回数（回）　横軸：人口千人当たりの1日運行本数（本））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本数と利用回数の相関は強い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相関係数は0.97。千人当たりの本数が10本多いと、利用は年4回多い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みなと市は同規模の市より年5回少ない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本数は32本で11市の中位だが、利用は14回にとどまる。路線が利用の多い地区に合っていない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注）全国は乗合バス事業者の合計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出所）国土交通省「自動車輸送統計年報」（各年）を基に作成（名称・数値は架空の見本）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5257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504368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 104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504368" y="2971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 97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504368" y="41605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 78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（−26pt）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2020年の落ち込みから戻っていない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全国と類似市は2021年以降に持ち直したが、みなと市は減り続けた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全国との差は10年で26ptに開いた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差の半分（12pt）は2020年以降の5年で開いた。減便が利用離れを招いている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注）幹線は1日30便以上の4路線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注）重複費用は2025年度の決算額を業務別に配分した試算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注）判断点の基準値は試行の結果で見直す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注）単価の影響＝利用者数を2015年度に固定したときの運賃収入の差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138479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1056" y="3429000"/>
            <a:ext cx="126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15685" y="2423160"/>
            <a:ext cx="1445001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175894" y="2423160"/>
            <a:ext cx="13245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115685" y="4434840"/>
            <a:ext cx="1445001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175894" y="4434840"/>
            <a:ext cx="13245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687665" y="3611880"/>
            <a:ext cx="3010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222979" y="1920240"/>
            <a:ext cx="2167502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83187" y="1920240"/>
            <a:ext cx="2047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222979" y="2697480"/>
            <a:ext cx="216750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83187" y="2697480"/>
            <a:ext cx="2047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22979" y="4114800"/>
            <a:ext cx="216750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83187" y="4114800"/>
            <a:ext cx="2047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22979" y="4983480"/>
            <a:ext cx="216750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283187" y="4983480"/>
            <a:ext cx="20470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85641" y="3712464"/>
            <a:ext cx="265022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850663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850663" y="2706624"/>
            <a:ext cx="265022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585641" y="3712464"/>
            <a:ext cx="265022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850663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850663" y="4718304"/>
            <a:ext cx="265022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0687" y="2706624"/>
            <a:ext cx="33114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91833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91833" y="2203704"/>
            <a:ext cx="33114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560687" y="2706624"/>
            <a:ext cx="33114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891833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891833" y="2980944"/>
            <a:ext cx="33114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560687" y="4718304"/>
            <a:ext cx="33114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891833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891833" y="4398264"/>
            <a:ext cx="33114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560687" y="4718304"/>
            <a:ext cx="33114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91833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891833" y="5266944"/>
            <a:ext cx="33114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利用者数の減少で0.9億円減った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減少1.1億円の8割。単価の変化による減少は0.2億円にとどまる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通学定期の減少が最大の要因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利用者数による減少0.9億円のうち0.5億円。高齢者の外出の減少（0.4億円）を上回る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注）効果は赤字の削減額（年）、実現性は2年以内に着手できるかで評価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030642" y="1965960"/>
            <a:ext cx="222771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802932" y="3931920"/>
            <a:ext cx="445542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30642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57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57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2932" y="5971032"/>
            <a:ext cx="903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355227" y="5971032"/>
            <a:ext cx="903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120955" y="2057400"/>
            <a:ext cx="1806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93244" y="2057400"/>
            <a:ext cx="1806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93244" y="5532120"/>
            <a:ext cx="1806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120955" y="5532120"/>
            <a:ext cx="1806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572517" y="2606040"/>
            <a:ext cx="120417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735080" y="255117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211267" y="320040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373830" y="314553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164182" y="265176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326745" y="259689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45849" y="338328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808412" y="332841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52101" y="466344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614663" y="460857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224390" y="493776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386953" y="488289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予約型への転換と幹線の増便が右上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効果は赤字の削減額、実現性は2年以内に着手できるかで評価した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自動運転と企業送迎は中期の課題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効果は大きいが、制度と相手先の調整に3年以上かかる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注）評価の基準は参考資料（p.24）に記載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6257880" cy="914400"/>
        </p:xfrm>
        <a:graphic>
          <a:graphicData uri="http://schemas.openxmlformats.org/drawingml/2006/table">
            <a:tbl>
              <a:tblPr/>
              <a:tblGrid>
                <a:gridCol w="1204168"/>
                <a:gridCol w="1204168"/>
                <a:gridCol w="1445001"/>
                <a:gridCol w="1204168"/>
                <a:gridCol w="1200375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2609183" y="1965960"/>
            <a:ext cx="1445001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予約型への転換は4基準中3つで最高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効果・費用・実現性で最も高い。リスクだけが「中」にとどまる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リスクは段階導入で抑えられる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2地区で試行し、継続利用率80%以上を確かめてから全支線に広げる（P47）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注）人口・利用者数はA町の公表値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出所）A町「地域公共交通計画」（2025年）を基に作成（名称・数値は架空の見本）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注）設問「今後もバスを残すべきだと思いますか」。無回答を除く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70代以上の77%が存続を望む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「そう思う」と「ややそう思う」の計。若い世代ほど低く、10〜20代は62%にとどまる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反対は全体の13%にとどまる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存続の是非ではなく、どの形で維持するかが議論の中心になる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注）効果は2030年度時点の試算。CO₂は軽油の使用量から換算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1160" y="1965960"/>
            <a:ext cx="13838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61056" y="2423160"/>
            <a:ext cx="144405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1160" y="3291840"/>
            <a:ext cx="13838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1369" y="3794760"/>
            <a:ext cx="126342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1160" y="3931920"/>
            <a:ext cx="13838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61056" y="4224528"/>
            <a:ext cx="14440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91160" y="4800600"/>
            <a:ext cx="13838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76531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855630" y="1965960"/>
            <a:ext cx="13838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825526" y="2423160"/>
            <a:ext cx="144405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1855630" y="3291840"/>
            <a:ext cx="13838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915839" y="3794760"/>
            <a:ext cx="126342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55630" y="3931920"/>
            <a:ext cx="13838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825526" y="4224528"/>
            <a:ext cx="14440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855630" y="4800600"/>
            <a:ext cx="13838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32978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0100" y="1965960"/>
            <a:ext cx="13838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389996" y="2423160"/>
            <a:ext cx="144405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3420100" y="3291840"/>
            <a:ext cx="13838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80309" y="3794760"/>
            <a:ext cx="126342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20100" y="3931920"/>
            <a:ext cx="13838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3389996" y="4224528"/>
            <a:ext cx="14440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20100" y="4800600"/>
            <a:ext cx="13838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89425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84570" y="1965960"/>
            <a:ext cx="13838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954466" y="2423160"/>
            <a:ext cx="144405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4984570" y="3291840"/>
            <a:ext cx="13838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044779" y="3794760"/>
            <a:ext cx="126342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984570" y="3931920"/>
            <a:ext cx="13838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4954466" y="4224528"/>
            <a:ext cx="14440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84570" y="4800600"/>
            <a:ext cx="13838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収支の改善が最も大きい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赤字4.2億円が2.1億円に半減する。予約型への転換と幹線の増便の効果を合わせた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利用者は342万人に増える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幹線の増便で通勤・通学の利用が戻る。CO₂は年1,200t減る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4" name="Shape 31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注）効果は赤字の削減額（年）。重複は除いて合計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注）所要日数は2025年度の申請120件の平均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福祉課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注）人口は国立社会保障・人口問題研究所の推計（2023年）を基に補正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注）各前提を基本ケースから±10%動かし、他は固定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0964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708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60777" y="2350008"/>
            <a:ext cx="184343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4208" y="2350008"/>
            <a:ext cx="166786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74977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117793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30692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420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6211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4720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14166" y="3849624"/>
            <a:ext cx="79004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4208" y="3849624"/>
            <a:ext cx="65836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836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10829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65296" y="4599432"/>
            <a:ext cx="43891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4208" y="4599432"/>
            <a:ext cx="39502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279496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449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84752" y="5349240"/>
            <a:ext cx="2194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4404208" y="5349240"/>
            <a:ext cx="175565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9895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62549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40420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7268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利用者数の±10%で収支が約4,000万円動く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下振れ−42・上振れ＋38百万円で、2位の運賃単価（±25）の1.6倍に当たる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試行で利用者数を確かめてから投資する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2地区の試行（2027年）で継続利用率80%以上を確かめ、本格投資の判断の基準にする（P47）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2025年度決算　2. 単価＝運賃収入÷利用者数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注）各観点の評価基準は参考資料（p.26）に記載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78817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78817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178817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178817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37550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375508" y="2267712"/>
            <a:ext cx="145017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337550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337550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96283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96283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496283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496283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減り続けているのは東部だけ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東部は10年で70万人から41万人に減った（−41%）。他の3地区は横ばいか増加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東部では通学の利用が半分になった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沿線の高校の統合（2016年）以降、東部の通学の利用は10年で半分に減った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注）目指す姿は「地域公共交通計画」（2026年）の目標値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6257880" cy="914400"/>
        </p:xfrm>
        <a:graphic>
          <a:graphicData uri="http://schemas.openxmlformats.org/drawingml/2006/table">
            <a:tbl>
              <a:tblPr/>
              <a:tblGrid>
                <a:gridCol w="2167502"/>
                <a:gridCol w="1083751"/>
                <a:gridCol w="1083751"/>
                <a:gridCol w="192287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1便当たりの乗車人数は目標まで＋67%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現状の1.2人を2030年度に2.0人へ。3つの観点の中で差が最も大きい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乗車人数が増えれば運賃の割合も上がる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運賃で賄う割合61%→80%の差の大半は、1便当たりの乗車人数の増加で埋まる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注）効果は2030年度時点の年額。打ち手の間の重複は除いた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6257880" cy="914400"/>
        </p:xfrm>
        <a:graphic>
          <a:graphicData uri="http://schemas.openxmlformats.org/drawingml/2006/table">
            <a:tbl>
              <a:tblPr/>
              <a:tblGrid>
                <a:gridCol w="1986877"/>
                <a:gridCol w="602084"/>
                <a:gridCol w="1926669"/>
                <a:gridCol w="842917"/>
                <a:gridCol w="899333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2880121" y="2514600"/>
            <a:ext cx="1715939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2880121" y="3118104"/>
            <a:ext cx="45758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2880121" y="3721608"/>
            <a:ext cx="34318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2880121" y="4325112"/>
            <a:ext cx="11439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2880121" y="4928616"/>
            <a:ext cx="11439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予約型への転換で年1.5億円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5つの打ち手の効果2.4億円の6割。着手は2027年度、確度は中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残りの4つは確度が高いが小さい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運転士の再配置0.4億円、予約センターの一本化0.3億円など。合わせて0.9億円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注）1人当たり運行費用＝年間運行費用÷年間利用者数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7676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276769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27676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27676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276769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2045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246037" y="3767328"/>
            <a:ext cx="7225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2045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246037" y="4270248"/>
            <a:ext cx="7225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691038" y="1530720"/>
            <a:ext cx="27676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91038" y="1878192"/>
            <a:ext cx="276769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91038" y="1965960"/>
            <a:ext cx="27676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691038" y="3337560"/>
            <a:ext cx="27676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91038" y="3675888"/>
            <a:ext cx="276769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91038" y="3767328"/>
            <a:ext cx="2045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736227" y="3767328"/>
            <a:ext cx="7225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691038" y="4270248"/>
            <a:ext cx="2045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6227" y="4270248"/>
            <a:ext cx="7225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968537" y="2240280"/>
            <a:ext cx="7225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625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625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1人当たり運行費用は類似市の1.6倍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みなと市369円、類似市の平均231円。10年前の差は69円で、倍に広がった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人件費は255円対152円。運転士1人当たりの乗客の少なさが原因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注）設問「バスがなくなった場合、代わりの移動手段はありますか」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注）2035年度は人口推計と利用率の見通しによる予測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注）市の一般会計からの支出（委託料・補助金）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出所）みなと市「決算書」（各年度）を基に作成（名称・数値は架空の見本）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402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23004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230048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230048" y="4892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0084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10年で4億円増え、12億円になった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増加の40千万円のうち39千万円が通院の送迎による。買物の支援と外出の付添いは横ばい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通院の送迎は5倍になった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10千万円から49千万円へ。予約型交通に置き換えると、送迎の費用の半分を減らせる見込み（試算）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業務調査（2025年）を基に作成（名称・数値は架空の見本）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Text 35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注）付加価値＝売上高−外部購入費。市内の交通事業者3社の合計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出所）事業者3社の決算資料を基に作成（名称・数値は架空の見本）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323826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1473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61056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652031" y="5138928"/>
            <a:ext cx="301042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1434361" y="2011680"/>
            <a:ext cx="1323826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14986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4569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885545" y="5010912"/>
            <a:ext cx="301042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2667875" y="2011680"/>
            <a:ext cx="1323826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48500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28083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119058" y="4754880"/>
            <a:ext cx="301042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3901388" y="2011680"/>
            <a:ext cx="1323826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082013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961596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4352572" y="5074920"/>
            <a:ext cx="301042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5134902" y="2011680"/>
            <a:ext cx="1323826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15527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95110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5586085" y="3794760"/>
            <a:ext cx="301042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47458" y="5486400"/>
            <a:ext cx="1384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運行管理・予約で付加価値の50%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路線の計画8%、車両の調達12%、運行20%、案内・販売10%に対し最大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市内の事業者は運行に偏る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3社の売上の8割が運行の受託。予約と運行管理は市外の事業者に委ねている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注）継続利用率＝試行の3か月目に2回以上利用した登録者の割合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出所）国土交通省・総務省の公表資料を基に作成（名称・数値は架空の見本）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注）画面は開発中のもの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注）世帯数は住民基本台帳と運転免許の保有データを突き合わせた推計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住民基本台帳（2026年5月）を基に作成（名称・数値は架空の見本）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注）発言は趣旨を変えない範囲で要約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注）設問「バスの利用に満足していますか」の「満足」「やや満足」の計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注）類似市は人口10〜20万人の8市の平均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0470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308141" y="1920240"/>
            <a:ext cx="481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2047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308141" y="2377440"/>
            <a:ext cx="481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970434" y="2496312"/>
            <a:ext cx="2360169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2047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308141" y="2834640"/>
            <a:ext cx="481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970434" y="2953512"/>
            <a:ext cx="2001929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2047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308141" y="3291840"/>
            <a:ext cx="481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970434" y="3410712"/>
            <a:ext cx="1053647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2047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308141" y="3749040"/>
            <a:ext cx="481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970434" y="3867912"/>
            <a:ext cx="185441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2047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308141" y="4206240"/>
            <a:ext cx="481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970434" y="4325112"/>
            <a:ext cx="2191585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2047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308141" y="4663440"/>
            <a:ext cx="481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970434" y="4782312"/>
            <a:ext cx="1601543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2047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308141" y="5120640"/>
            <a:ext cx="481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2970434" y="5239512"/>
            <a:ext cx="1917637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2047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308141" y="5577840"/>
            <a:ext cx="481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2970434" y="5696712"/>
            <a:ext cx="174905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5077727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4716477" y="6126480"/>
            <a:ext cx="7225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8指標のうち6つで平均を下回る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平均を上回るのは運行本数（112）と停留所までの近さ（104）だけ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1便当たりの乗車人数は平均の半分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指数50で8指標の中で最も低い。本数は多いが、1便に乗る人が少ない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注）各事例の詳細は参考資料（p.24〜34）に記載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出所）各自治体の地域公共交通計画を基に作成（名称・数値は架空の見本）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579079" y="1874520"/>
            <a:ext cx="812813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66266" y="1874520"/>
            <a:ext cx="81281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579079" y="1874520"/>
            <a:ext cx="81281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91892" y="1874520"/>
            <a:ext cx="81281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204706" y="1874520"/>
            <a:ext cx="81281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017519" y="1874520"/>
            <a:ext cx="81281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950749" y="1874520"/>
            <a:ext cx="507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15654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66266" y="2377440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579079" y="2377440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391892" y="2377440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017519" y="2377440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950749" y="2377440"/>
            <a:ext cx="5079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15654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579079" y="2889504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4204706" y="2889504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5950749" y="2889504"/>
            <a:ext cx="5079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15654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766266" y="3401568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2579079" y="3401568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3391892" y="3401568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950749" y="3401568"/>
            <a:ext cx="5079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15654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766266" y="3913632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204706" y="3913632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5017519" y="3913632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5950749" y="3913632"/>
            <a:ext cx="5079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15654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579079" y="4425696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3391892" y="4425696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017519" y="4425696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5950749" y="4425696"/>
            <a:ext cx="5079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15654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1766266" y="4937760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2579079" y="4937760"/>
            <a:ext cx="81281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5950749" y="4937760"/>
            <a:ext cx="5079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1565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1766266" y="5495544"/>
            <a:ext cx="8128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2579079" y="5495544"/>
            <a:ext cx="8128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3391892" y="5495544"/>
            <a:ext cx="8128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4204706" y="5495544"/>
            <a:ext cx="8128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5017519" y="5495544"/>
            <a:ext cx="8128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5事例が専任の調整役を置いている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6事例のうち資金の手当ては4事例、拠点は3事例。調整役が最も共通している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体制の詳細は参考資料で確かめる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各事例の体制と人数はp.24〜34。調整役の人件費は1人年600万円程度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注）概算費用は用地取得費を除く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0536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0536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314703" y="2258568"/>
            <a:ext cx="39135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1778307" y="1901952"/>
            <a:ext cx="10536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778307" y="2084832"/>
            <a:ext cx="10536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892163" y="2258568"/>
            <a:ext cx="39135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355767" y="1901952"/>
            <a:ext cx="10536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355767" y="2084832"/>
            <a:ext cx="10536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469623" y="2258568"/>
            <a:ext cx="39135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933227" y="1901952"/>
            <a:ext cx="10536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33227" y="2084832"/>
            <a:ext cx="10536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963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525432" y="2606040"/>
            <a:ext cx="963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09183" y="2606040"/>
            <a:ext cx="963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2934" y="2606040"/>
            <a:ext cx="963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776685" y="2606040"/>
            <a:ext cx="15052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1324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525432" y="299008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09183" y="299008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2934" y="299008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76685" y="2990088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1324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1525432" y="335584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609183" y="335584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2934" y="335584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776685" y="3355848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625788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1324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525432" y="372160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609183" y="372160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2934" y="372160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776685" y="3721608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1324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1525432" y="408736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2609183" y="408736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3692934" y="408736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4776685" y="4087368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1324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1525432" y="445312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609183" y="445312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3692934" y="445312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4776685" y="4453128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1324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1525432" y="481888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2609183" y="481888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3692934" y="481888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4776685" y="4818888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1324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1525432" y="518464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2609183" y="518464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692934" y="518464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4776685" y="5184648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1324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1525432" y="555040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2609183" y="555040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692934" y="5550408"/>
            <a:ext cx="9633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4776685" y="5550408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62578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3条件をすべて満たすのは2か所</a:t>
            </a:r>
            <a:endParaRPr lang="en-US" sz="1400" dirty="0"/>
          </a:p>
        </p:txBody>
      </p:sp>
      <p:sp>
        <p:nvSpPr>
          <p:cNvPr id="80" name="Text 77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8候補から用地で5か所、接続で3か所、費用で2か所に絞った</a:t>
            </a:r>
            <a:endParaRPr lang="en-US" sz="1200" dirty="0"/>
          </a:p>
        </p:txBody>
      </p:sp>
      <p:sp>
        <p:nvSpPr>
          <p:cNvPr id="81" name="Shape 78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費用の低い候補3を第一候補とする</a:t>
            </a:r>
            <a:endParaRPr lang="en-US" sz="1400" dirty="0"/>
          </a:p>
        </p:txBody>
      </p:sp>
      <p:sp>
        <p:nvSpPr>
          <p:cNvPr id="83" name="Text 80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概算費用は候補3が9億円、候補6が11億円で、差は2億円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注）利用率＝通勤・通学・通院の移動に占める公共交通の割合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出所）沿線パーソントリップ調査（2015年、2025年）を基に作成（名称・数値は架空の見本）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959032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151056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499296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691320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910088" y="1901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560000" y="2514600"/>
            <a:ext cx="1728216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96776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468560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425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65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910088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724592" y="2971800"/>
            <a:ext cx="98755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620704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2633152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849304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130232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910088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13112" y="3429000"/>
            <a:ext cx="90525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12692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221672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35552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1718752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910088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136072" y="3886200"/>
            <a:ext cx="82296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67592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044632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09619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54171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910088" y="3657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2806888" y="4343400"/>
            <a:ext cx="7406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456112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71544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3684712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221252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5910088" y="4114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041328" y="48006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525960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94988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7545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344696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5910088" y="4572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2560000" y="5257800"/>
            <a:ext cx="49377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62336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468560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190936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965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5910088" y="5029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4781992" y="5715000"/>
            <a:ext cx="3291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019736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4690552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24833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4187632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5910088" y="5486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東部の下げ幅は21pt、8地域で最大</a:t>
            </a:r>
            <a:endParaRPr lang="en-US" sz="1400" dirty="0"/>
          </a:p>
        </p:txBody>
      </p:sp>
      <p:sp>
        <p:nvSpPr>
          <p:cNvPr id="83" name="Text 8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8地域の平均の下げ幅は10pt。東部はその2倍で、2位の北部（−12pt）も大きく上回る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利用率の高い市街地ほど減りにくい</a:t>
            </a:r>
            <a:endParaRPr lang="en-US" sz="1400" dirty="0"/>
          </a:p>
        </p:txBody>
      </p:sp>
      <p:sp>
        <p:nvSpPr>
          <p:cNvPr id="86" name="Text 8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市街地は58%から54%（−4pt）。運行本数の多い地区ほど利用が保たれている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出所）沿線パーソントリップ調査（2015年、2025年）を基に作成（名称・数値は架空の見本）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525432" y="1901952"/>
            <a:ext cx="9633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054185" y="1901952"/>
            <a:ext cx="9633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7099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35852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007099" y="2472538"/>
            <a:ext cx="2528752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64953" y="2649931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4493706" y="2408530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51369" y="2567635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26164" y="2326234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7099" y="4584802"/>
            <a:ext cx="2528752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964953" y="4520794"/>
            <a:ext cx="84292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4493706" y="5003597"/>
            <a:ext cx="84292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51369" y="4438498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626164" y="4921301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7099" y="5007254"/>
            <a:ext cx="2528752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964953" y="4943246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493706" y="5486400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51369" y="4860950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626164" y="5497373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7099" y="5248656"/>
            <a:ext cx="2528752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964953" y="5184648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4493706" y="5305349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51369" y="5135270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626164" y="5223053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007099" y="4765853"/>
            <a:ext cx="2528752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964953" y="5607101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4493706" y="4701845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51369" y="5524805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626164" y="4619549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10年で順位を上げたのは送迎だけ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送迎は3%から18%へ5位から2位に上がった。家族の負担で移動を支えている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鉄道は21%から13%に下がった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2位から3位へ。バスも14%から5%に下がり、公共交通の合計は35%から18%に半減した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注）目標は2026年度の年間目標を上期分に按分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450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766266" y="1920240"/>
            <a:ext cx="32512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84664" y="1920240"/>
            <a:ext cx="1174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766266" y="2523744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1766266" y="2596896"/>
            <a:ext cx="260100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5643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194351" y="2377440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916852" y="2377440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766266" y="3145536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1766266" y="3218688"/>
            <a:ext cx="2682284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75643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4351" y="2999232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16852" y="2999232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766266" y="3767328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1766266" y="3840480"/>
            <a:ext cx="222169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4475643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94351" y="3621024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916852" y="3621024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766266" y="4389120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1766266" y="4462272"/>
            <a:ext cx="216750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4475643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194351" y="4242816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916852" y="4242816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766266" y="5010912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1766266" y="5084064"/>
            <a:ext cx="121922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4475643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194351" y="4864608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5916852" y="4864608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766266" y="5632704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1766266" y="5705856"/>
            <a:ext cx="1625627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475643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194351" y="5486400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916852" y="5486400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234810" y="6108192"/>
            <a:ext cx="481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担い手の確保は目標の45%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目標20人に対し9人。他の5つのKPIは60〜99%で、遅れはここに集中している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下期は採用と研修に予算を寄せる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運転士の養成費の補助を始め、上期の残り予算を充てる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注）2025年度に受け付けた苦情563件（電話・窓口・メール）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苦情記録を基に作成（名称・数値は架空の見本）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5623560"/>
            <a:ext cx="568756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5168" y="2916936"/>
            <a:ext cx="5687568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614096" y="2606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608" y="2794406"/>
            <a:ext cx="420624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5168" y="2501798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1116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22056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88400" y="3742639"/>
            <a:ext cx="420624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96960" y="3450031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3295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flipV="1">
            <a:off x="776920" y="3802718"/>
            <a:ext cx="621792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4384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10192" y="4115714"/>
            <a:ext cx="420624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718752" y="382310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65474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 flipV="1">
            <a:off x="1398712" y="3219809"/>
            <a:ext cx="621792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5640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130232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431984" y="4986223"/>
            <a:ext cx="420624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2340544" y="4693615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27653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 flipV="1">
            <a:off x="2020504" y="2973424"/>
            <a:ext cx="621792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87432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3053776" y="5110582"/>
            <a:ext cx="420624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962336" y="481797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898328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 flipV="1">
            <a:off x="2642296" y="2775115"/>
            <a:ext cx="621792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09224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3675568" y="5203850"/>
            <a:ext cx="420624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584128" y="491124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52012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 flipV="1">
            <a:off x="3264088" y="2612861"/>
            <a:ext cx="621792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831016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4297360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4205920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14191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 flipV="1">
            <a:off x="3885880" y="2480655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45280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19152" y="5343754"/>
            <a:ext cx="42062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4827712" y="505114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76370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 flipV="1">
            <a:off x="4507672" y="2372486"/>
            <a:ext cx="621792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74600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5540944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449504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538549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 flipV="1">
            <a:off x="5129464" y="2240280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696392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4995688" y="1783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上位3種類で苦情の71%を占める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遅延182件・接続121件・情報提供97件。いずれも運行の遅れと案内の不足から生じている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3つに対策を絞れば苦情の大半が減る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遅延と接続は接続ダイヤの見直し（P78）、情報提供は車内と停留所の表示で手当てできる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注）アプリを知った人は広報の到達数（推計）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出所）予約アプリの利用ログ（2026年4〜9月）を基に作成（名称・数値は架空の見本）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270008" y="18745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29648" y="2194560"/>
            <a:ext cx="31089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300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869067" y="2962656"/>
            <a:ext cx="143012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9062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6144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270008" y="2862072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48873" y="3730752"/>
            <a:ext cx="870509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1564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36144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270008" y="3630168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97590" y="4498848"/>
            <a:ext cx="373075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31564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36144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5270008" y="4398264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467542" y="5266944"/>
            <a:ext cx="23317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31564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6144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0008" y="5166360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アプリを知った人の12%が予約まで至る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20,000人のうち初回予約は2,400人。2回目以降も使い続けるのは1,500人（7.5%）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最大の離脱は登録から初回予約の間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移行率は43%で5段階の中で最も低い。初回の予約の手順を3つに減らす（P51）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注）距離は集落の中心から最寄り駅までの道路距離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出所）沿線集落の位置データ（2025年）を基に作成（名称・数値は架空の見本）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5577840"/>
            <a:ext cx="5522976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3712464"/>
            <a:ext cx="548640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048" y="3419856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60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61552" y="2468880"/>
            <a:ext cx="548640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261552" y="217627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7011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865056" y="2779776"/>
            <a:ext cx="548640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65056" y="2487168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77361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468560" y="4023360"/>
            <a:ext cx="548640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68560" y="373075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37712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072064" y="4645152"/>
            <a:ext cx="548640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072064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980624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675568" y="4645152"/>
            <a:ext cx="548640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675568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8412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279072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79072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18763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882576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882576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9113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080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486080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946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106457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2179609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675568" y="4187952"/>
            <a:ext cx="2359152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492688" y="384048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中央値は2.4km、9集落は5km以上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42集落の2割が駅から5km以上離れ、歩いて駅に行けない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平均の3.2kmでは遠い集落が見えない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遠い9集落の住民は約1,400人。予約型交通の乗降地点を、まずここに置く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出所）通院する高齢者へのヒアリング（2026年5月、20件）を基に作成（名称・数値は架空の見本）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7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8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39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0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1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2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社史・みなと市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注）町の負担は2030年度の試算。補助制度は現行のものを前提とした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注）1便当たりの赤字＝路線区分の赤字÷年間便数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注）試行は東部・北部の2地区で2026年6月に開始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出所）予約型交通の試行の乗降記録を基に作成（名称・数値は架空の見本）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14450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14450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14450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14450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1384793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144500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826474" y="3794760"/>
            <a:ext cx="4632253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4409" y="2478024"/>
            <a:ext cx="37058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2104409" y="3794760"/>
            <a:ext cx="37058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983993" y="2185416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83993" y="4270248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826474" y="5760720"/>
            <a:ext cx="9264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030860" y="2916936"/>
            <a:ext cx="37058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030860" y="3794760"/>
            <a:ext cx="37058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910443" y="2624328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910443" y="5038344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752925" y="5760720"/>
            <a:ext cx="9264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3957311" y="3575304"/>
            <a:ext cx="37058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957311" y="3794760"/>
            <a:ext cx="37058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836894" y="3282696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36894" y="5367528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679376" y="5760720"/>
            <a:ext cx="9264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4883761" y="2258568"/>
            <a:ext cx="37058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4883761" y="3794760"/>
            <a:ext cx="3705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63345" y="1965960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763345" y="4160520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605826" y="5760720"/>
            <a:ext cx="9264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810212" y="3355848"/>
            <a:ext cx="37058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5810212" y="3794760"/>
            <a:ext cx="37058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689795" y="3063240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689795" y="4379976"/>
            <a:ext cx="6114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532277" y="5760720"/>
            <a:ext cx="9264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14450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乗った人と乗らなくなった人がほぼ同数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新たに乗った200人に対し、乗らなくなった人は185人。差し引きは＋15人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減った分の4割は東部の定時便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東部は−70人で最大。定時便をやめた区間の利用者が予約型に移っていない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行政手続きの処理状況（2026年9月）を基に作成（名称・数値は架空の見本）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633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64182" y="1920240"/>
            <a:ext cx="11731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337297" y="1920240"/>
            <a:ext cx="11731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510413" y="1920240"/>
            <a:ext cx="11731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83528" y="1920240"/>
            <a:ext cx="11731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856644" y="1920240"/>
            <a:ext cx="60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9633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361806" y="2371972"/>
            <a:ext cx="476826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868736" y="2587752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671157" y="2578877"/>
            <a:ext cx="204354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23855" y="2587752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863022" y="2607353"/>
            <a:ext cx="166854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096971" y="2587752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051447" y="2630603"/>
            <a:ext cx="136236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270086" y="2587752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856644" y="2377440"/>
            <a:ext cx="6020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9633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395865" y="3210082"/>
            <a:ext cx="408708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834677" y="3374136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680060" y="3378782"/>
            <a:ext cx="186549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923855" y="3374136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3850116" y="3374136"/>
            <a:ext cx="192667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096971" y="3374136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32731" y="3388563"/>
            <a:ext cx="173668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270086" y="3374136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856644" y="3163824"/>
            <a:ext cx="6020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9633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06944" y="4165166"/>
            <a:ext cx="186549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750740" y="4160520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2683222" y="4169969"/>
            <a:ext cx="180223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923855" y="4160520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3838745" y="4143251"/>
            <a:ext cx="215408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4096971" y="4160520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977086" y="4090437"/>
            <a:ext cx="284958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292148" y="4160520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856644" y="3950208"/>
            <a:ext cx="6020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9633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1495242" y="4933777"/>
            <a:ext cx="209954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750740" y="4946904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671157" y="4938029"/>
            <a:ext cx="204354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923855" y="4946904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3841473" y="4933777"/>
            <a:ext cx="209954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4096971" y="4946904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992128" y="4899666"/>
            <a:ext cx="25487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277106" y="4946904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5856644" y="4736592"/>
            <a:ext cx="6020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9633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164182" y="5614416"/>
            <a:ext cx="87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2337297" y="5614416"/>
            <a:ext cx="87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3510413" y="5614416"/>
            <a:ext cx="87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4683528" y="5614416"/>
            <a:ext cx="87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5856644" y="5614416"/>
            <a:ext cx="60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200" dirty="0"/>
          </a:p>
        </p:txBody>
      </p:sp>
      <p:sp>
        <p:nvSpPr>
          <p:cNvPr id="69" name="Shape 66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オンラインで完結するのは420件中84件</a:t>
            </a:r>
            <a:endParaRPr lang="en-US" sz="1400" dirty="0"/>
          </a:p>
        </p:txBody>
      </p:sp>
      <p:sp>
        <p:nvSpPr>
          <p:cNvPr id="71" name="Text 68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全体の2割。未着手の204件のうち8割（170件）が福祉と税の手続き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福祉と税から着手する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福祉98件・税72件が「未着手」。申請の多い上位20件から先に電子化する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注）乗車人数は2025年度の平日平均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出所）みなと市「決算書」（2025年度）を基に作成（名称・数値は架空の見本）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6256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976995" y="1920240"/>
            <a:ext cx="18062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783247" y="1920240"/>
            <a:ext cx="1565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95393" y="1920240"/>
            <a:ext cx="9633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15052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904745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976995" y="2423160"/>
            <a:ext cx="1806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783247" y="2423160"/>
            <a:ext cx="15654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95393" y="2423160"/>
            <a:ext cx="9633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976995" y="2898648"/>
            <a:ext cx="448173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976995" y="2898648"/>
            <a:ext cx="1806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783247" y="2898648"/>
            <a:ext cx="15654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95393" y="2898648"/>
            <a:ext cx="9633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976995" y="3374136"/>
            <a:ext cx="448173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976995" y="3374136"/>
            <a:ext cx="1806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783247" y="3374136"/>
            <a:ext cx="15654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495393" y="3374136"/>
            <a:ext cx="9633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15052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15052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904745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976995" y="4078224"/>
            <a:ext cx="1806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783247" y="4078224"/>
            <a:ext cx="15654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495393" y="4078224"/>
            <a:ext cx="9633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976995" y="4553712"/>
            <a:ext cx="448173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976995" y="4553712"/>
            <a:ext cx="1806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783247" y="4553712"/>
            <a:ext cx="15654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495393" y="4553712"/>
            <a:ext cx="9633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976995" y="5029200"/>
            <a:ext cx="448173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976995" y="5029200"/>
            <a:ext cx="1806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783247" y="5029200"/>
            <a:ext cx="15654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495393" y="5029200"/>
            <a:ext cx="9633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16256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5495393" y="5705856"/>
            <a:ext cx="9633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手段を用意するメニューが8割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予約型交通180、コミュニティバス120、福祉有償運送40で計340百万円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負担を下げるメニューは85百万円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運賃の割引50、タクシー券20、通院の付添い15。対象を広げても費用の増加は小さい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注）不便の上位3つ（複数回答）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注）市の需要推計（2026年）による。万回未満は四捨五入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1675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16750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1226" y="1896480"/>
            <a:ext cx="21675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1226" y="2243952"/>
            <a:ext cx="2167502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1565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766266" y="2377440"/>
            <a:ext cx="60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216750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1565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766266" y="3154680"/>
            <a:ext cx="60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216750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1565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66266" y="3931920"/>
            <a:ext cx="60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291226" y="2377440"/>
            <a:ext cx="1565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856644" y="2377440"/>
            <a:ext cx="60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91226" y="3035808"/>
            <a:ext cx="216750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291226" y="3154680"/>
            <a:ext cx="1565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856644" y="3154680"/>
            <a:ext cx="60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291226" y="3813048"/>
            <a:ext cx="216750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91226" y="3931920"/>
            <a:ext cx="1565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56644" y="3931920"/>
            <a:ext cx="60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216750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1226" y="4754880"/>
            <a:ext cx="216750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60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766266" y="4828032"/>
            <a:ext cx="60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291226" y="4828032"/>
            <a:ext cx="60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56644" y="4828032"/>
            <a:ext cx="60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2998641" y="2331720"/>
            <a:ext cx="662292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579079" y="3291840"/>
            <a:ext cx="15014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2998641" y="3794760"/>
            <a:ext cx="662292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579079" y="4754880"/>
            <a:ext cx="15014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6257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押し上げ要因は計＋18万回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通院の増加＋9、免許の返納の増加＋6、観光客の回復＋3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押し下げ要因は計−31万回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人口の減少−19、通学の減少−8、在宅勤務の定着−4。差し引き−13万回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注）削減単価＝（費用−燃料費の節約額）÷削減量。2030年度の試算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注）赤字は営業損失（2024年度決算）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出所）みなと鉄道「決算書」（各年度）を基に作成（架空の完成例）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出所）関係者ヒアリング（2026年4〜6月、32件）、沿線住民アンケート（2026年5月）を基に作成（架空の完成例）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注）輸送人員は定期・定期外の合計。2020年度は感染症の影響を含む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出所）みなと鉄道「鉄道統計年報」提出資料（各年度）を基に作成（架空の完成例）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257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023808" y="2377440"/>
            <a:ext cx="4754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129812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10年で52万人減った（−25%）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2014年度の210万人から2024年度は158万人へ。年平均で2.8%ずつ減っている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感染症前の水準には戻らない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2020年度の131万人から持ち直したが、2024年度の158万人は2018年度（186万人）を15%下回る</a:t>
            </a:r>
            <a:endParaRPr lang="en-US" sz="12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注）利用目的は駅での聞き取り調査（各年度10月の平日）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利用実態調査を基に作成（架空の完成例）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0233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315648" y="22402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315648" y="2697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315648" y="34290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315648" y="47091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504368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04368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504368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通学は10年で6pt下がった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通学の利用は2014年度の109万人から2024年度は73万人へ。沿線の高校生の減少による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日中の通院・買物と観光が伸びた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通院・買物も観光も＋4pt。日中の便を増やせば、さらに伸ばせる余地がある</a:t>
            </a:r>
            <a:endParaRPr lang="en-US" sz="12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注）設問「みなと鉄道を今後も残すべきだと思いますか」。無回答を除く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出所）沿線住民アンケート（2026年5月、n＝1,200）を基に作成（架空の完成例）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存続を望むのは68%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「そう思う」41%と「ややそう思う」27%の計。「そう思わない」は14%にとどまる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10〜20代と70代以上は7割以上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通学と通院で日常的に使う層。この2つの層の足を確保できるかが、合意の前提になる</a:t>
            </a:r>
            <a:endParaRPr lang="en-US" sz="12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注）営業損失の増減を費目別に分解。運賃収入の減少は損失の増加要因として表示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出所）みなと鉄道「決算書」（2014・2024年度）を基に作成（架空の完成例）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注）1人当たり営業費用＝営業費用÷輸送人員。平均は営業距離20〜40kmの10社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出所）国土交通省「鉄道統計年報」（2024年度）を基に作成（架空の完成例）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注）平均運賃＝運賃収入÷輸送人員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出所）みなと鉄道「決算書」（2024年度）を基に作成（架空の完成例）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注）各前提を基本ケース（営業損失5.2億円）から±10%動かし、他は固定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出所）みなと鉄道「決算書」（2024年度）を基に試算（架空の完成例）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注）国の補助は施設費用と使用料の差額の2分の1と仮定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出所）国土交通省「鉄道事業再構築事業」の制度資料を基に作成（架空の完成例）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注）実質負担＝自治体の支出−国の補助。2030年度の試算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出所）みなと市・沿線3市の試算を基に作成（架空の完成例）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注）増収額は2030年度の年額。施策の間の重複は除いた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増収策の検討資料を基に作成（架空の完成例）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出所）沿線地域公共交通活性化協議会 事務局資料を基に作成（架空の完成例）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注）現行維持との比較。輸送人員は基本シナリオ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出所）みなと市・沿線3市の試算を基に作成（架空の完成例）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注）影響額は2030年度の自治体の実質負担への影響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出所）事務局の試算を基に作成（架空の完成例）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2026-10-28T23:47:34Z</dcterms:created>
  <dcterms:modified xsi:type="dcterms:W3CDTF">2026-10-28T23:47:34Z</dcterms:modified>
</cp:coreProperties>
</file>