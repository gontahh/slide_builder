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区域拡大前</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3.8</c:v>
                </c:pt>
                <c:pt idx="1">
                  <c:v>4.1</c:v>
                </c:pt>
                <c:pt idx="2">
                  <c:v>4.4</c:v>
                </c:pt>
                <c:pt idx="3">
                  <c:v>0</c:v>
                </c:pt>
                <c:pt idx="4">
                  <c:v>0</c:v>
                </c:pt>
                <c:pt idx="5">
                  <c:v>0</c:v>
                </c:pt>
              </c:numCache>
            </c:numRef>
          </c:val>
        </c:ser>
        <c:ser>
          <c:idx val="1"/>
          <c:order val="1"/>
          <c:tx>
            <c:strRef>
              <c:f>Sheet1!$C$1</c:f>
              <c:strCache>
                <c:ptCount val="1"/>
                <c:pt idx="0">
                  <c:v>区域拡大後</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5</c:v>
                </c:pt>
                <c:pt idx="4">
                  <c:v>5.7</c:v>
                </c:pt>
                <c:pt idx="5">
                  <c:v>6.5</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Sheet1!$B$2:$B$9</c:f>
              <c:numCache>
                <c:formatCode>General</c:formatCode>
                <c:ptCount val="8"/>
                <c:pt idx="0">
                  <c:v>8</c:v>
                </c:pt>
                <c:pt idx="1">
                  <c:v>10</c:v>
                </c:pt>
                <c:pt idx="2">
                  <c:v>12</c:v>
                </c:pt>
                <c:pt idx="3">
                  <c:v>0</c:v>
                </c:pt>
                <c:pt idx="4">
                  <c:v>17</c:v>
                </c:pt>
                <c:pt idx="5">
                  <c:v>21</c:v>
                </c:pt>
                <c:pt idx="6">
                  <c:v>23</c:v>
                </c:pt>
                <c:pt idx="7">
                  <c:v>26</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H市</c:v>
                  </c:pt>
                  <c:pt idx="1">
                    <c:v>G市</c:v>
                  </c:pt>
                  <c:pt idx="2">
                    <c:v>F市</c:v>
                  </c:pt>
                  <c:pt idx="3">
                    <c:v>みなと市</c:v>
                  </c:pt>
                  <c:pt idx="4">
                    <c:v>D市</c:v>
                  </c:pt>
                  <c:pt idx="5">
                    <c:v>C市</c:v>
                  </c:pt>
                  <c:pt idx="6">
                    <c:v>B市</c:v>
                  </c:pt>
                  <c:pt idx="7">
                    <c:v>A市</c:v>
                  </c:pt>
                </c:lvl>
              </c:multiLvlStrCache>
            </c:multiLvlStrRef>
          </c:cat>
          <c:val>
            <c:numRef>
              <c:f>Sheet1!$C$2:$C$9</c:f>
              <c:numCache>
                <c:formatCode>General</c:formatCode>
                <c:ptCount val="8"/>
                <c:pt idx="0">
                  <c:v>0</c:v>
                </c:pt>
                <c:pt idx="1">
                  <c:v>0</c:v>
                </c:pt>
                <c:pt idx="2">
                  <c:v>0</c:v>
                </c:pt>
                <c:pt idx="3">
                  <c:v>14</c:v>
                </c:pt>
                <c:pt idx="4">
                  <c:v>0</c:v>
                </c:pt>
                <c:pt idx="5">
                  <c:v>0</c:v>
                </c:pt>
                <c:pt idx="6">
                  <c:v>0</c:v>
                </c:pt>
                <c:pt idx="7">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通院</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類似市</c:v>
                </c:pt>
              </c:strCache>
            </c:strRef>
          </c:tx>
          <c:spPr>
            <a:solidFill>
              <a:srgbClr val="CCCCCC"/>
            </a:solidFill>
            <a:ln>
              <a:noFill/>
            </a:ln>
            <a:effectLst/>
          </c:spPr>
          <c:marker>
            <c:symbol val="circle"/>
            <c:size val="11"/>
            <c:spPr>
              <a:solidFill>
                <a:srgbClr val="CCCCCC"/>
              </a:solidFill>
              <a:ln w="9525" cap="flat">
                <a:solidFill>
                  <a:srgbClr val="CCCCCC"/>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8</c:v>
                </c:pt>
                <c:pt idx="1">
                  <c:v>12</c:v>
                </c:pt>
                <c:pt idx="2">
                  <c:v>11</c:v>
                </c:pt>
                <c:pt idx="3">
                  <c:v>16</c:v>
                </c:pt>
                <c:pt idx="4">
                  <c:v>17</c:v>
                </c:pt>
                <c:pt idx="5">
                  <c:v>21</c:v>
                </c:pt>
                <c:pt idx="6">
                  <c:v>19</c:v>
                </c:pt>
                <c:pt idx="7">
                  <c:v>25</c:v>
                </c:pt>
                <c:pt idx="8">
                  <c:v>24</c:v>
                </c:pt>
                <c:pt idx="9">
                  <c:v>28</c:v>
                </c:pt>
                <c:pt idx="10">
                  <c:v/>
                </c:pt>
              </c:numCache>
            </c:numRef>
          </c:yVal>
          <c:smooth val="0"/>
        </c:ser>
        <c:ser>
          <c:idx val="1"/>
          <c:order val="1"/>
          <c:tx>
            <c:strRef>
              <c:f>Sheet1!$C$1</c:f>
              <c:strCache>
                <c:ptCount val="1"/>
                <c:pt idx="0">
                  <c:v>みなと市</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14</c:v>
                </c:pt>
              </c:numCache>
            </c:numRef>
          </c:yVal>
          <c:smooth val="0"/>
        </c:ser>
        <c:dLbls>
          <c:numFmt formatCode="General"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valAx>
      <c:valAx>
        <c:axId val="2094734552"/>
        <c:scaling>
          <c:orientation val="minMax"/>
          <c:max val="30"/>
          <c:min val="0"/>
        </c:scaling>
        <c:delete val="0"/>
        <c:axPos val="l"/>
        <c:numFmt formatCode="General" sourceLinked="0"/>
        <c:majorTickMark val="none"/>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類似市</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みなと市</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5</c:v>
                </c:pt>
                <c:pt idx="1">
                  <c:v>5.6</c:v>
                </c:pt>
                <c:pt idx="2">
                  <c:v>6.1</c:v>
                </c:pt>
                <c:pt idx="3">
                  <c:v>6.3</c:v>
                </c:pt>
                <c:pt idx="4">
                  <c:v>6.4</c:v>
                </c:pt>
                <c:pt idx="5">
                  <c:v>6.5</c:v>
                </c:pt>
              </c:numCache>
            </c:numRef>
          </c:val>
        </c:ser>
        <c:dLbls>
          <c:numFmt formatCode="0.0" sourceLinked="0"/>
          <c:txPr>
            <a:bodyPr/>
            <a:lstStyle/>
            <a:p>
              <a:pPr>
                <a:defRPr b="0" i="0" strike="noStrike" sz="1200" u="none">
                  <a:solidFill>
                    <a:srgbClr val="3F3F3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55</c:v>
                </c:pt>
                <c:pt idx="1">
                  <c:v>50</c:v>
                </c:pt>
                <c:pt idx="2">
                  <c:v>44</c:v>
                </c:pt>
                <c:pt idx="3">
                  <c:v>40</c:v>
                </c:pt>
                <c:pt idx="4">
                  <c:v>52</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22</c:v>
                </c:pt>
                <c:pt idx="2">
                  <c:v>25</c:v>
                </c:pt>
                <c:pt idx="3">
                  <c:v>22</c:v>
                </c:pt>
                <c:pt idx="4">
                  <c:v>20</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13</c:v>
                </c:pt>
                <c:pt idx="1">
                  <c:v>16</c:v>
                </c:pt>
                <c:pt idx="2">
                  <c:v>17</c:v>
                </c:pt>
                <c:pt idx="3">
                  <c:v>20</c:v>
                </c:pt>
                <c:pt idx="4">
                  <c:v>15</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10</c:v>
                </c:pt>
                <c:pt idx="1">
                  <c:v>12</c:v>
                </c:pt>
                <c:pt idx="2">
                  <c:v>14</c:v>
                </c:pt>
                <c:pt idx="3">
                  <c:v>18</c:v>
                </c:pt>
                <c:pt idx="4">
                  <c:v>13</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Sheet1!$B$2:$B$5</c:f>
              <c:numCache>
                <c:formatCode>General</c:formatCode>
                <c:ptCount val="4"/>
                <c:pt idx="0">
                  <c:v>0</c:v>
                </c:pt>
                <c:pt idx="1">
                  <c:v>0.6</c:v>
                </c:pt>
                <c:pt idx="2">
                  <c:v>0.4</c:v>
                </c:pt>
                <c:pt idx="3">
                  <c:v>0.3</c:v>
                </c:pt>
              </c:numCache>
            </c:numRef>
          </c:val>
        </c:ser>
        <c:ser>
          <c:idx val="1"/>
          <c:order val="1"/>
          <c:tx>
            <c:strRef>
              <c:f>Sheet1!$C$1</c:f>
              <c:strCache>
                <c:ptCount val="1"/>
                <c:pt idx="0">
                  <c:v>注目</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支線（12路線）</c:v>
                  </c:pt>
                  <c:pt idx="1">
                    <c:v>幹線（4路線）</c:v>
                  </c:pt>
                  <c:pt idx="2">
                    <c:v>循環線</c:v>
                  </c:pt>
                  <c:pt idx="3">
                    <c:v>深夜便</c:v>
                  </c:pt>
                </c:lvl>
              </c:multiLvlStrCache>
            </c:multiLvlStrRef>
          </c:cat>
          <c:val>
            <c:numRef>
              <c:f>Sheet1!$C$2:$C$5</c:f>
              <c:numCache>
                <c:formatCode>General</c:formatCode>
                <c:ptCount val="4"/>
                <c:pt idx="0">
                  <c:v>2.9</c:v>
                </c:pt>
                <c:pt idx="1">
                  <c:v>0</c:v>
                </c:pt>
                <c:pt idx="2">
                  <c:v>0</c:v>
                </c:pt>
                <c:pt idx="3">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北部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西部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東部</c:v>
                </c:pt>
              </c:strCache>
            </c:strRef>
          </c:tx>
          <c:spPr>
            <a:solidFill>
              <a:srgbClr val="000F78"/>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中央部</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買物の支援</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外出の付添い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通院の送迎</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80代以上</c:v>
                  </c:pt>
                  <c:pt idx="1">
                    <c:v>70代</c:v>
                  </c:pt>
                  <c:pt idx="2">
                    <c:v>60代</c:v>
                  </c:pt>
                  <c:pt idx="3">
                    <c:v>〜50代</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CCCCCC"/>
            </a:solidFill>
            <a:ln w="25400" cap="flat">
              <a:solidFill>
                <a:srgbClr val="CCCCCC"/>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CCCCCC"/>
              </a:solidFill>
              <a:ln w="9525" cap="flat">
                <a:solidFill>
                  <a:srgbClr val="CCCCCC"/>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200" u="none">
                  <a:solidFill>
                    <a:srgbClr val="3F3F3F"/>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37</c:v>
                </c:pt>
                <c:pt idx="2">
                  <c:v>35</c:v>
                </c:pt>
                <c:pt idx="3">
                  <c:v>48</c:v>
                </c:pt>
                <c:pt idx="4">
                  <c:v>41</c:v>
                </c:pt>
              </c:numCache>
            </c:numRef>
          </c:val>
        </c:ser>
        <c:ser>
          <c:idx val="1"/>
          <c:order val="1"/>
          <c:tx>
            <c:strRef>
              <c:f>Sheet1!$C$1</c:f>
              <c:strCache>
                <c:ptCount val="1"/>
                <c:pt idx="0">
                  <c:v>ややそう思う</c:v>
                </c:pt>
              </c:strCache>
            </c:strRef>
          </c:tx>
          <c:spPr>
            <a:solidFill>
              <a:srgbClr val="7F7F7F"/>
            </a:solidFill>
            <a:effectLst/>
          </c:spPr>
          <c:invertIfNegative val="0"/>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29</c:v>
                </c:pt>
                <c:pt idx="1">
                  <c:v>28</c:v>
                </c:pt>
                <c:pt idx="2">
                  <c:v>27</c:v>
                </c:pt>
                <c:pt idx="3">
                  <c:v>22</c:v>
                </c:pt>
                <c:pt idx="4">
                  <c:v>27</c:v>
                </c:pt>
              </c:numCache>
            </c:numRef>
          </c:val>
        </c:ser>
        <c:ser>
          <c:idx val="2"/>
          <c:order val="2"/>
          <c:tx>
            <c:strRef>
              <c:f>Sheet1!$D$1</c:f>
              <c:strCache>
                <c:ptCount val="1"/>
                <c:pt idx="0">
                  <c:v>どちらでもない</c:v>
                </c:pt>
              </c:strCache>
            </c:strRef>
          </c:tx>
          <c:spPr>
            <a:solidFill>
              <a:srgbClr val="CCCCCC"/>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15</c:v>
                </c:pt>
                <c:pt idx="1">
                  <c:v>20</c:v>
                </c:pt>
                <c:pt idx="2">
                  <c:v>22</c:v>
                </c:pt>
                <c:pt idx="3">
                  <c:v>16</c:v>
                </c:pt>
                <c:pt idx="4">
                  <c:v>18</c:v>
                </c:pt>
              </c:numCache>
            </c:numRef>
          </c:val>
        </c:ser>
        <c:ser>
          <c:idx val="3"/>
          <c:order val="3"/>
          <c:tx>
            <c:strRef>
              <c:f>Sheet1!$E$1</c:f>
              <c:strCache>
                <c:ptCount val="1"/>
                <c:pt idx="0">
                  <c:v>そう思わない</c:v>
                </c:pt>
              </c:strCache>
            </c:strRef>
          </c:tx>
          <c:spPr>
            <a:solidFill>
              <a:srgbClr val="E0EEF8"/>
            </a:solidFill>
            <a:effectLst/>
          </c:spPr>
          <c:invertIfNegative val="0"/>
          <c:dLbls>
            <c:numFmt formatCode="#,##0" sourceLinked="0"/>
            <c:txPr>
              <a:bodyPr/>
              <a:lstStyle/>
              <a:p>
                <a:pPr>
                  <a:defRPr b="0" i="0" strike="noStrike" sz="1200" u="none">
                    <a:solidFill>
                      <a:srgbClr val="3F3F3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CCCCCC"/>
            </a:solidFill>
            <a:effectLst/>
          </c:spPr>
          <c:invertIfNegative val="0"/>
          <c:dLbls>
            <c:numFmt formatCode="0.0;;" sourceLinked="0"/>
            <c:txPr>
              <a:bodyPr/>
              <a:lstStyle/>
              <a:p>
                <a:pPr>
                  <a:defRPr b="0" i="0" strike="noStrike" sz="1200" u="none">
                    <a:solidFill>
                      <a:srgbClr val="3F3F3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200" u="none">
                  <a:solidFill>
                    <a:srgbClr val="FFFFFF"/>
                  </a:solidFill>
                  <a:latin typeface="Arial"/>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CCCCCC"/>
            </a:solidFill>
            <a:prstDash val="solid"/>
            <a:round/>
          </a:ln>
        </c:spPr>
        <c:txPr>
          <a:bodyPr/>
          <a:lstStyle/>
          <a:p>
            <a:pPr>
              <a:defRPr sz="1200" b="0" i="0" u="none" strike="noStrike">
                <a:solidFill>
                  <a:srgbClr val="3F3F3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使う場面：デッキ冒頭。各章のメッセージラインを太字1行＋根拠の数字1行に要約し、最後の提言だけを紺にする。行は本文の章と1対1に対応させる。
差し替え：章ごとの結論文・根拠の数字・提言。
作法：提言は塗りの箱で囲まず、紺の線と紺の文字で立てる（塗りに枠線を重ねない）。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使う場面：目次、各章の扉。当該章だけ紺・太字、他はグレー。目次は1列で並べる。
差し替え：章名。
参考ページID：MCK01-p8、BCG01-p10、MCK04-p3（画像はPCの参照ライブラリ/pages/）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使う場面：時系列の増減を示す。期間が少ない（〜10本）場合。言いたい期間の棒だけ紺、成長率を紺の注釈で1つだけ。
差し替え：系列データ（グラフ用シート）、成長率の値と範囲、見出し。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使う場面：構成の変化。系列は5つ以内、グレーの濃淡で塗り分け、注目の1系列だけ紺。系列名は凡例でなく右端に直接書く。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Gray2、要因はGray1、最大要因だけ紺。増減は「＋」「−」で示し、赤緑で塗り分けない。棒は図形で作図（編集可能）。要因の下に「全体の増減に占める割合」を丸の印で並べると、どの要因が効いているかが数字で読める（MCK04-p13）。割合の合計は100%になるよう検算する。
差し替え：要因名・値・割合。棒の高さは値に比例させて調整する。
参考ページID：MCK04-p13、MCK04-p17（画像はPCの参照ライブラリ/pages/）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差し替え：区分の幅（規模比）と分担率。対象の区画だけ紺。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使う場面：2変数の関係。注目点だけ紺、他はグレー。軸の名前と単位を必ず書く。
差し替え：X・Yの値、注目点。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使う場面：チャートから読み取るべき点が2〜3ある場合。チャート上の番号とキーメッセージ欄の番号を同じ図形のバッジで対応させる。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左右の見出しの線の高さと、行の高さ・上端をそろえる。結論側（右）だけ紺。
差し替え：左右の見出しと中身。
作法：項目を箱で囲まない。行の区切りは細い線、左右の対応は同じ行の高さで示す（H-1）。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 templates/icons/ の線画（アイコン集を参照）を使い、紺にするのは変化する主体だけ。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使う場面：手順、スケジュール、段階的な実行。段階を矢羽で列見出しにし、左の行見出し（期間・取組・判断の基準・担い手）で中身を並べる。今回決める段階・判断点だけ紺。判断点は◆で示す。
差し替え：フェーズ名・期間・主な取組・判断の基準・担い手。
作法：矢羽の下に別内容を積まず、矢羽と1対1の列で書く（下半分を空けない）。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使う場面：要因の分解、論点整理。左から右へ。演算子（×＋）を明記。効いている枝だけ紺。線は交差させず、曲がりは1回まで。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使う場面：2軸での優先順位付け、ポジショニング。軸の名前と両端の意味、4つの象限それぞれの「どうするか」を書く。推奨象限だけ紺。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使う場面：選択肢・事例の構造的な比較。評価はハーベイボール（グレー）。推奨する列だけ紺の細枠。表は4列4行程度まで。使った段階はすべて凡例で定義する。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使う場面：先行事例の紹介。左に概要（背景・取組・体制・成功の鍵）、右に成果の数値。事例は「誰が作ったか・扱う規模・範囲・使っている人数」を入れる。成果の数値だけ紺。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使う場面：アンケート結果。属性別の行を横の100%積上げで。設問文・n数・調査時期を必ず記載。注目の回答だけ紺。凡例はグラフの上に1行で置く。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使う場面：主要な数値の並び（KPI）。3〜4個まで。最も言いたい数値だけ紺。各数値に「現状→目標」と算定の前提を添え、下半分を空けない。
差し替え：指標名・数値・現状と目標・前提。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同じ行に置く）。解決の列だけ紺。「Situation」などの枠組みの名前は紙面に出さない。
差し替え：各段の見出しと根拠2点。
作法：項目を箱で囲まず、見出しの線と行の線で組む。段の間の三角は見出しの行に1つずつ。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差し替え：課題、打ち手、効果の目安。
作法：課題と打ち手を箱で囲まず、行で対応させる。課題→打ち手の向きは見出しの行に三角を1つだけ置いて示し、行ごとに矢印を繰り返さない。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使う場面：工程・手順・変遷を左から右へ。4〜6工程。今回決める工程・最も重要な工程だけ紺。各工程の下に、期間・何をするか・誰がするか・終わりの条件を、工程と1対1の列で書く。
差し替え：工程名、期間、内容、担当、条件。
作法：矢羽の下に別の内容を積まない。下半分を空けず、行見出しで中身を並べる。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使う場面：作業ごとの期間と順序。全体の完了時期を決める作業（クリティカルパス）だけ紺。節目は◆で示す。作業は8行程度まで。時間のマスは等幅にし、バーは実際の開始・終了の位置に置く。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参考ページID：MCK04-p26、MCK05-p5（画像はPCの参照ライブラリ/pages/）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使う場面：結論の数字がどの数字の掛け算・足し算で決まるかを示す。演算子（＝×−＋）を明記し、各箱に値を書く。値は検算表と一致させる。動かすべきドライバーだけ紺。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作法：「決めていただきたいこと」は淡い紺の帯で立てるが、帯に枠線を重ねない（塗りか枠のどちらか一方）。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使う場面：2つの数値の対比だけで主張が伝わる場合。数値は大きく、算定の前提と内訳を下に添える。言いたい側の数値だけ紺。
差し替え：2つの数値、単位、内訳、前提。
作法：数値の下を空けない。比べる2つの数値の内訳を同じ行立てで並べ、差がどこにあるかを示す。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使う場面：割合を「100人中◯人」で直感的に示す。100個の点で表し、該当する点だけ紺。割合が1桁や90%台なら棒グラフの方がよい。右に内訳を添えて下を空けない。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参考ページID：MCK02-p14、MCK04-p30（画像はPCの参照ライブラリ/pages/）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使う場面：施策（行）×年度（列）で、いつ何をするかを示す。ガント（P25）より粗い計画向け。各セルは短い動詞句。鍵になるセルだけ淡い紺の面で立てる。
差し替え：施策、年度、取組。
作法：セルを1つずつ箱で囲まない。行の線と列の点線で区切り、立てるのは1か所だけ（H-1・H-4）。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作法：4つの枠を箱で囲まない。各欄を「区分＋見出しの線」で始め、数字・説明・出所を同じ位置にそろえる（H-1）。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使う場面：冒頭で、結論がどの調査に基づくかを示し、信頼性を担保する。件数・期間・対象を数字で書き、各調査を本資料のどこで使ったかを添える。最も重い調査だけ紺。
差し替え：調査名、件数、期間、対象、使った箇所。
作法：数字の下を空けない。対象・時期・使った章を行見出しで並べる。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作法：画像を入れる予定の灰色の面は作業中だけ。相手に出す版には残さない。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縦帯に読み取りと示唆を集約する。公開資料（MCK02-p9、MCK04-p9・p17・p27）に多い構成。帯は2〜3つの段に分け、各段を「太字の一文（言いたいこと）＋本文2〜3行（根拠・例）」で書く。段の間は細い線で区切る。帯の中で紺にするのは結論の段の太字だけ。
差し替え：図のデータ、帯の各段。
参考ページID：MCK04-p9、MCK04-p17（画像はPCの参照ライブラリ/pages/）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パターンID：P56
使う場面：会議資料の冒頭で、議題ごとの時間と狙いを示す。時間・議題・内容・資料の4列に、時間の配分を横棒で添える。山場の議題の行だけ紺の淡色。合計時間で締める。
参考ページID：MCK01-p90（画像はPCの参照ライブラリ/pages/）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パターンID：P57
使う場面：左に目的、右に設計上の工夫を置き、英字バッジで「どの工夫がどの目的に効くか」を対応させる。最も重い目的と、それに効く工夫のバッジだけ紺。工夫は動詞で書く。
参考ページID：MCK01-p89（画像はPCの参照ライブラリ/pages/）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パターンID：P58
使う場面：事例×枠組みの表に、該当するセルだけ印を付け、右端に詳細ページの番号を入れる。読み手は表で全体を見て、気になる事例だけ参考資料へ飛べる。最も多くの事例に共通する列だけ紺。
参考ページID：BCG01-p28（画像はPCの参照ライブラリ/pages/）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パターンID：P59
使う場面：候補を条件で順に落としていく過程を、1枚の表で見せる。条件を外れた行は文字をグレーにし、外れた条件のセルに×を置く。残った候補のうち推奨の行だけ紺。上に絞り込みの件数を矢印で示す。
参考ページID：BCG01-p12（画像はPCの参照ライブラリ/pages/）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パターンID：P60
使う場面：2時点（または2群）の差を、行ごとに点と線で示す。差の大きい順に並べ、変化の向きが一目で分かる。両端の値を点の外側に書く。注目する行だけ紺、他はグレー（前の時点は淡く、後の時点は濃く）。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パターンID：P61
使う場面：2時点の値と順位の入れ替わりを示す。左右に時点を置き、項目ごとに線で結ぶ。項目名と値は線の両端に直接書く（凡例は使わない）。注目する1本だけ紺の太線、他はグレーの細線。項目は5〜8本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パターンID：P62
使う場面：複数のKPIの実績を目標と並べて示す。淡いグレーの帯を目標までの長さ、濃い棒を実績、黒い縦線を目標値とする。達成率の数値を右に書く。最も遅れているKPIの棒だけ紺。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パターンID：P63
使う場面：多数の要因のうち少数が大半を占めることを示す。件数の降順に棒を並べ、累積構成比を折れ線で重ね、80%などの目安に点線を引く。対策を絞る上位の棒だけ紺。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パターンID：P64
使う場面：段階ごとに人数が減る過程を示し、どこで最も離れるかを特定する。棒は中央にそろえて段階順に積み、段階の間に移行率を書く。最も移行率の低い段階だけ紺。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パターンID：P65
使う場面：平均だけでは伝わらない、ばらつきや偏りを示す。階級ごとの件数を隙間の狭い縦棒で並べ、中央値（または平均）を縦の点線で示す。注目する階級だけ紺。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パターンID：P66
使う場面：利用者の行動を段階ごとに追い、各段階の接点・不満・打ち手を行で並べる。満足度の線で山と谷を見せる。不満が最も強い段階の列だけ紺の細枠。行は3〜4、段階は4〜6まで。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パターンID：P67
使う場面：意思決定・事務局・実行チームの関係と役割を示す。上下は指揮の関係、点線は助言の関係。各箱に役割を1行、主な構成員を1行書く。新設・変更する組織だけ紺。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パターンID：P68
使う場面：フェーズ（列）×作業の流れ（行）で、いつ何をするかを示す。各セルの棒に短い動詞句を書き、フェーズの境目の判断点を◆で示す。完了時期を決める作業の棒だけ紺。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パターンID：P69
使う場面：出来事の順番と間隔を示す。横の時間軸に年の目盛りを置き、出来事を上下交互に短く書く。期間のある出来事は軸の上に帯で示す。最も重要な出来事だけ紺の大きな点。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パターンID：P70
使う場面：選択肢を同じ項目の並びでカードにし、横に見比べられるようにする。項目の行は全カードで高さをそろえ、最も言いたい数値を大きく書く。推奨のカードだけ紺の枠と「推奨」の見出し。
参考ページID：MCK04-p6（画像はPCの参照ライブラリ/pages/）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パターンID：P71
使う場面：関係者を影響力（縦）と関心（横）の2軸に置き、誰をどう巻き込むかを示す。象限の名前を四隅に書き、動かしたい関係者には目指す位置への点線矢印を付ける。最優先の関係者だけ紺。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パターンID：P72
使う場面：全体マップ・イシューツリー・エグゼクティブサマリーで番号を振った論点を、各論のページで受けるとき。左1/4に「番号＋区分名＋この1枚の主張」、右3/4に根拠の図を置く。番号と区分名は一覧のページと一字一句そろえる。
差し替え：番号、区分名、主張、右の図。
作法：左のパネルを濃い塗りの箱にしない。紺の大きな番号と、パネルと図の間の紺の縦線で区切る（塗りの面を増やさない）。主張はメッセージラインの言い換えでなく、その根拠の一点を書く。
参考ページID：JNB01-p11（画像はPCの参照ライブラリ/pages/）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パターンID：P73
使う場面：項目ごとに増える分と減る分の両方があり、総量の差し引きだけでは中身が見えないとき。基準線の上に増える分、下に減る分を描き、左端に増減それぞれの合計を大きく置く。注目の1本だけ紺。
差し替え：項目、増加・減少の値、合計。
作法：増減を赤と緑で塗り分けない（＋−の符号と位置で示す）。合計は検算する。
参考ページID：JNB01-p23、MCK04-p31（画像はPCの参照ライブラリ/pages/）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パターンID：P74
使う場面：行（部門・地域）×列（段階）の件数を、円の面積で一覧にする。どの段階に件数が溜まっているかを一目で見せる。注目の円だけ紺。行と列の合計を端に置く。
差し替え：行・列の名前、件数。
作法：円の直径でなく面積を件数に比例させる。円の横に数字を書き、凡例に頼らない。
参考ページID：JNB01-p16（画像はPCの参照ライブラリ/pages/）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パターンID：P75
使う場面：項目が数十〜数百あり、少数の上位に量が集中している（裾が長く伸びる）ことを示す。全項目を多い順の細い棒で並べ、上位の区切りに線を引いて、その割合を注記する。上位の棒だけ紺。
差し替え：項目の値（多い順）、区切りの位置、注記。
作法：項目名は書かない（数が多く読めない）。読ませるのは形と区切りの注記。右に読み取りを置く。
参考ページID：JNB01-p17（画像はPCの参照ライブラリ/pages/）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パターンID：P76
使う場面：行を大分類で束ね、その中に小分類の行を入れ子にする一覧。大分類ごとの小計を添え、大分類どうしの比較を読ませる。注目の大分類だけ紺。
差し替え：大分類、メニュー、対象、費用。
作法：大分類を濃い塗りの箱にしない。大分類の名前と小計を左に置き、その範囲を縦の線で括る。大分類の間に全幅の線を1本、行の間は細い線（H-5）。
参考ページID：JNB01-p44（画像はPCの参照ライブラリ/pages/）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パターンID：P77
使う場面：課題ごとに原因を1段挟んで解決を示す。課題と解決を直接つなぐと「なぜその解決か」が飛ぶときに使う。行は課題ごと、列は課題・原因・解決。最も効く解決の行だけ紺。
差し替え：課題、原因、解決、費用。
作法：課題→原因→解決の向きは見出しの行に三角を1つずつ置いて示し、行ごとに矢印を繰り返さない。原因は「未達の事実」でなく仕組みを書く。
参考ページID：JNB01-p51（画像はPCの参照ライブラリ/pages/）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パターンID：P78
使う場面：同じ量を押し上げる要因と押し下げる要因が同時に働き、差し引きの向きを示したいとき。左に押し上げ要因、右に押し下げ要因を並べ、中央に向きの異なる矢羽を置く。差し引きを下に1行で書く。差し引きを決める側の合計だけ紺。
差し替え：要因、値、合計。
作法：要因の値は同じ単位・同じ期間でそろえ、合計を検算する。赤と緑で塗り分けない。
参考ページID：JNB01-p20（画像はPCの参照ライブラリ/pages/）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パターンID：P79
使う場面：同じ2〜3つの指標を、地区・部門などの行ごとに並べて比べ、行ごとの読み取りを右に添えるとき。行の見出し（アイコン＋名前）、指標ごとの小さな棒の列、読み取りの列を、行の区切り線でそろえる。公開資料（MCK04-p10・p11・p12）に多い構成。注目の1行だけ紺。
差し替え：行（地区）、指標、値、読み取り。
作法：指標の列ごとに基準線（0）と目盛りの縮尺をそろえ、値は棒の先に直接書く。読み取りは1行につき2行以内で、図の値と食い違うことを書かない。
参考ページID：MCK04-p10、MCK04-p12（画像はPCの参照ライブラリ/pages/）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パターンID：P80
使う場面：多数の打ち手を「どれだけ減らせるか（量）」と「1単位当たりいくらか（単価）」の両方で比べ、安い順に積み上げて、目標までに必要な打ち手と費用を示すとき。排出削減のコストカーブ（MACC）として公開資料（MCK04-p7・p15・p16）に多い。単価の安い順に左から並べ、棒の幅を量、高さを単価にする。
差し替え：打ち手、削減量、単価、目標の位置。
作法：0の線を必ず引き、0より下（費用が戻る打ち手）と上を分ける。目標の位置は縦の点線で示す。ラベルは棒の上下に引き出し線で付け、主な打ち手だけに絞る。棒の色は打ち手の種類で塗り分けず、注目の打ち手だけ紺。
参考ページID：MCK04-p7、MCK04-p15（画像はPCの参照ライブラリ/pages/）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記号集①。関連する型：P12 ポンチ絵、P45 循環サイクル、P47 分岐と判断、P71 関係者マップ。
図形はこのスライドからコピーして使う。色・太さの決まりは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記号集②。関連する型：P03 縦棒＋CAGR、P13 プロセス、P21 前提→帰結、P24 矢羽、P25 ガント、P60 ダンベル。
図形はこのスライドからコピーして使う。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記号集③。関連する型：P03 CAGR、P05 構成比、P06 ウォーターフォール、P29 計算ロジック、P36 差の表。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記号集④。関連する型：P16 評価表、P10 チャート＋キーメッセージ欄、P58 索引付きチェック表、P03 見通し。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1/4。関連する型：P12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2/4。関連する型：P12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3/4。関連する型：P12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4/4。関連する型：P12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パーツ集①（自作の書式 HG_pptFMT のパーツ集を指定色で描き直したもの）。関連する型：P11、P22、P23、T13、T17。
元の書式の赤・オレンジの箱は、指定色（rules B-3）に無いため入れていない。悪化・未達の強調は反対色の文字（#D73232）で示す。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パーツ集②。関連する型：P10、P29、P51、P57、T04、T09、T15。
丸数字（①）の文字は環境で崩れるため使わず、このスライドの図形をコピーする。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テンプレートID：T01
使う場面：目次、章扉（該当章だけ紺・太字）。対応する型：P02、P34。
本文が10枚以下なら目次・章扉は置かない（rules B-5）。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テンプレートID：T02
使う場面：報告書・提案書の冒頭の構成。対応する型：P34（全体マップ）。
章が8つを超えるなら、章を束ね直す。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テンプレートID：T03
使う場面：検討の冒頭で背景と目的を示す。対応する型：P21（前提→帰結）。
左右の見出しの線の高さをそろえる（rules H-10）。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テンプレートID：T04
使う場面：会議資料の冒頭。対応する型：P56（時間配分付きアジェンダ）。
ゴールは「何が決まれば終わりか」を書く。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テンプレートID：T05
使う場面：比較・一覧の表の基本。対応する型：P16、P36、P50。
行＝項目、列＝観点。最終行の下には線を引かない（rules H-5）。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テンプレートID：T06
使う場面：行の区分名を立てたい表。対応する型：P31、P55。
表側の塗りはGray1（#CCCCCC）。表頭は塗らない。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テンプレートID：T07
使う場面：列を束ねる見出しがある表（年度×区分など）。対応する型：P44。
上の段の線は、束ねる列の幅だけに引く。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テンプレートID：T08
使う場面：大分類×項目の一覧（制度・施策の棚卸し）。対応する型：P76（入れ子行の行列）。
枠線の箱は項目名の欄だけ（rules H-1 の例外：依頼者の書式）。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テンプレートID：T09
使う場面：番号で他のページから参照する項目の一覧。対応する型：P58、P72。
番号の図形は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テンプレートID：T10
使う場面：数値の一覧。対応する型：P37、P55。
単位は見出しの括弧書きにまとめ、セルに単位を繰り返さない。西暦・年度には3桁区切りを付けない。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テンプレートID：T11
使う場面：工程（段階）ごとに観点別の中身を書く。対応する型：P13、P24、P43。
強調する工程があれば、その列の見出しの文字だけ紺にする。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テンプレートID：T12
使う場面：大分類×小分類×工程の3段の整理。対応する型：P43、P76。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テンプレートID：T13
使う場面：工程・手順と、その中身・説明。対応する型：P24（横の矢羽）、P51。
強調しないときは全工程をグレーにする。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テンプレートID：T14
使う場面：工程×2観点（課題と打ち手、現状と目指す姿など）。対応する型：P43、P66。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テンプレートID：T15
使う場面：試算の算式を示す。対応する型：P29（計算ロジック）。
各項の値は検算表と一致させる（rules D-4）。演算子は S06 からコピーする。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テンプレートID：T16
使う場面：論点・要因の分解。対応する型：P14（ロジックツリー）、P35（イシューツリー）。
分解は抜け漏れ・重複なく、3階層まで（rules C-3）。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テンプレートID：T17
使う場面：課題ごとの打手、事象ごとの対応。対応する型：P23（課題と打ち手の対応）、P77。
打手の左列に打手の名前、右列に中身を書く。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テンプレートID：T18
使う場面：課題と行動、事実と政策など、A→Bの関係。対応する型：P21、P23。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テンプレートID：T19
使う場面：前提情報と検討事項、事実とそれを踏まえた対応。対応する型：P21（前提→帰結）。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テンプレートID：T20
使う場面：グラフ・表から示唆を導く。対応する型：P21、P54（図＋右側の示唆帯）。
帯の中で紺にするのは結論の一文だけ。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テンプレートID：T21
使う場面：ヒアリングの発言、文書・法令の引用。対応する型：P53（現場の声）。
発言者は属性で示し、個人名は出さない（rules D-3）。引用は自分の主張が主、引用が従（著作権法32条）。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検算：14.8億円÷158万人＝937円、937÷620＝1.51。内訳 6.9億÷158万＝437、3.2億÷158万＝203、残り297。差 107＋83＝190（317の60%）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userDrawn="1">
          <p15:clr>
            <a:srgbClr val="F26B43"/>
          </p15:clr>
        </p15:guide>
        <p15:guide id="2" orient="horz" pos="935" userDrawn="1">
          <p15:clr>
            <a:srgbClr val="F26B43"/>
          </p15:clr>
        </p15:guide>
        <p15:guide id="3" pos="127" userDrawn="1">
          <p15:clr>
            <a:srgbClr val="F26B43"/>
          </p15:clr>
        </p15:guide>
        <p15:guide id="4" pos="6113" userDrawn="1">
          <p15:clr>
            <a:srgbClr val="F26B43"/>
          </p15:clr>
        </p15:guide>
        <p15:guide id="5"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charts/chart10.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slideLayout" Target="../slideLayouts/slideLayout1.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image" Target="../media/image-86-4.png"/><Relationship Id="rId5" Type="http://schemas.openxmlformats.org/officeDocument/2006/relationships/image" Target="../media/image-86-5.png"/><Relationship Id="rId6" Type="http://schemas.openxmlformats.org/officeDocument/2006/relationships/image" Target="../media/image-86-6.png"/><Relationship Id="rId7" Type="http://schemas.openxmlformats.org/officeDocument/2006/relationships/image" Target="../media/image-86-7.png"/><Relationship Id="rId8" Type="http://schemas.openxmlformats.org/officeDocument/2006/relationships/image" Target="../media/image-86-8.png"/><Relationship Id="rId9" Type="http://schemas.openxmlformats.org/officeDocument/2006/relationships/image" Target="../media/image-86-9.png"/><Relationship Id="rId10" Type="http://schemas.openxmlformats.org/officeDocument/2006/relationships/image" Target="../media/image-86-10.png"/><Relationship Id="rId11" Type="http://schemas.openxmlformats.org/officeDocument/2006/relationships/image" Target="../media/image-86-11.png"/><Relationship Id="rId12" Type="http://schemas.openxmlformats.org/officeDocument/2006/relationships/image" Target="../media/image-86-12.png"/><Relationship Id="rId13" Type="http://schemas.openxmlformats.org/officeDocument/2006/relationships/image" Target="../media/image-86-13.png"/><Relationship Id="rId14" Type="http://schemas.openxmlformats.org/officeDocument/2006/relationships/image" Target="../media/image-86-14.png"/><Relationship Id="rId15" Type="http://schemas.openxmlformats.org/officeDocument/2006/relationships/image" Target="../media/image-86-15.png"/><Relationship Id="rId16" Type="http://schemas.openxmlformats.org/officeDocument/2006/relationships/image" Target="../media/image-86-16.png"/><Relationship Id="rId17" Type="http://schemas.openxmlformats.org/officeDocument/2006/relationships/image" Target="../media/image-86-17.png"/><Relationship Id="rId18" Type="http://schemas.openxmlformats.org/officeDocument/2006/relationships/image" Target="../media/image-86-18.png"/><Relationship Id="rId19" Type="http://schemas.openxmlformats.org/officeDocument/2006/relationships/image" Target="../media/image-86-19.png"/><Relationship Id="rId20" Type="http://schemas.openxmlformats.org/officeDocument/2006/relationships/image" Target="../media/image-86-20.png"/><Relationship Id="rId21" Type="http://schemas.openxmlformats.org/officeDocument/2006/relationships/slideLayout" Target="../slideLayouts/slideLayout1.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image" Target="../media/image-87-5.png"/><Relationship Id="rId6" Type="http://schemas.openxmlformats.org/officeDocument/2006/relationships/image" Target="../media/image-87-6.png"/><Relationship Id="rId7" Type="http://schemas.openxmlformats.org/officeDocument/2006/relationships/image" Target="../media/image-87-7.png"/><Relationship Id="rId8" Type="http://schemas.openxmlformats.org/officeDocument/2006/relationships/image" Target="../media/image-87-8.png"/><Relationship Id="rId9" Type="http://schemas.openxmlformats.org/officeDocument/2006/relationships/image" Target="../media/image-87-9.png"/><Relationship Id="rId10" Type="http://schemas.openxmlformats.org/officeDocument/2006/relationships/image" Target="../media/image-87-10.png"/><Relationship Id="rId11" Type="http://schemas.openxmlformats.org/officeDocument/2006/relationships/image" Target="../media/image-87-11.png"/><Relationship Id="rId12" Type="http://schemas.openxmlformats.org/officeDocument/2006/relationships/image" Target="../media/image-87-12.png"/><Relationship Id="rId13" Type="http://schemas.openxmlformats.org/officeDocument/2006/relationships/image" Target="../media/image-87-13.png"/><Relationship Id="rId14" Type="http://schemas.openxmlformats.org/officeDocument/2006/relationships/image" Target="../media/image-87-14.png"/><Relationship Id="rId15" Type="http://schemas.openxmlformats.org/officeDocument/2006/relationships/image" Target="../media/image-87-15.png"/><Relationship Id="rId16" Type="http://schemas.openxmlformats.org/officeDocument/2006/relationships/image" Target="../media/image-87-16.png"/><Relationship Id="rId17" Type="http://schemas.openxmlformats.org/officeDocument/2006/relationships/image" Target="../media/image-87-17.png"/><Relationship Id="rId18" Type="http://schemas.openxmlformats.org/officeDocument/2006/relationships/image" Target="../media/image-87-18.png"/><Relationship Id="rId19" Type="http://schemas.openxmlformats.org/officeDocument/2006/relationships/image" Target="../media/image-87-19.png"/><Relationship Id="rId20" Type="http://schemas.openxmlformats.org/officeDocument/2006/relationships/image" Target="../media/image-87-20.png"/><Relationship Id="rId21" Type="http://schemas.openxmlformats.org/officeDocument/2006/relationships/slideLayout" Target="../slideLayouts/slideLayout1.xml"/><Relationship Id="rId2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image" Target="../media/image-88-4.png"/><Relationship Id="rId5" Type="http://schemas.openxmlformats.org/officeDocument/2006/relationships/image" Target="../media/image-88-5.png"/><Relationship Id="rId6" Type="http://schemas.openxmlformats.org/officeDocument/2006/relationships/image" Target="../media/image-88-6.png"/><Relationship Id="rId7" Type="http://schemas.openxmlformats.org/officeDocument/2006/relationships/image" Target="../media/image-88-7.png"/><Relationship Id="rId8" Type="http://schemas.openxmlformats.org/officeDocument/2006/relationships/image" Target="../media/image-88-8.png"/><Relationship Id="rId9" Type="http://schemas.openxmlformats.org/officeDocument/2006/relationships/image" Target="../media/image-88-9.png"/><Relationship Id="rId10" Type="http://schemas.openxmlformats.org/officeDocument/2006/relationships/image" Target="../media/image-88-10.png"/><Relationship Id="rId11" Type="http://schemas.openxmlformats.org/officeDocument/2006/relationships/image" Target="../media/image-88-11.png"/><Relationship Id="rId12" Type="http://schemas.openxmlformats.org/officeDocument/2006/relationships/image" Target="../media/image-88-12.png"/><Relationship Id="rId13" Type="http://schemas.openxmlformats.org/officeDocument/2006/relationships/image" Target="../media/image-88-13.png"/><Relationship Id="rId14" Type="http://schemas.openxmlformats.org/officeDocument/2006/relationships/image" Target="../media/image-88-14.png"/><Relationship Id="rId15" Type="http://schemas.openxmlformats.org/officeDocument/2006/relationships/image" Target="../media/image-88-15.png"/><Relationship Id="rId16" Type="http://schemas.openxmlformats.org/officeDocument/2006/relationships/image" Target="../media/image-88-16.png"/><Relationship Id="rId17" Type="http://schemas.openxmlformats.org/officeDocument/2006/relationships/image" Target="../media/image-88-17.png"/><Relationship Id="rId18" Type="http://schemas.openxmlformats.org/officeDocument/2006/relationships/image" Target="../media/image-88-18.png"/><Relationship Id="rId19" Type="http://schemas.openxmlformats.org/officeDocument/2006/relationships/image" Target="../media/image-88-19.png"/><Relationship Id="rId20" Type="http://schemas.openxmlformats.org/officeDocument/2006/relationships/image" Target="../media/image-88-20.png"/><Relationship Id="rId21" Type="http://schemas.openxmlformats.org/officeDocument/2006/relationships/slideLayout" Target="../slideLayouts/slideLayout1.xml"/><Relationship Id="rId2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image" Target="../media/image-89-6.png"/><Relationship Id="rId7" Type="http://schemas.openxmlformats.org/officeDocument/2006/relationships/image" Target="../media/image-89-7.png"/><Relationship Id="rId8" Type="http://schemas.openxmlformats.org/officeDocument/2006/relationships/image" Target="../media/image-89-8.png"/><Relationship Id="rId9" Type="http://schemas.openxmlformats.org/officeDocument/2006/relationships/image" Target="../media/image-89-9.png"/><Relationship Id="rId10" Type="http://schemas.openxmlformats.org/officeDocument/2006/relationships/image" Target="../media/image-89-10.png"/><Relationship Id="rId11" Type="http://schemas.openxmlformats.org/officeDocument/2006/relationships/image" Target="../media/image-89-11.png"/><Relationship Id="rId12" Type="http://schemas.openxmlformats.org/officeDocument/2006/relationships/image" Target="../media/image-89-12.png"/><Relationship Id="rId13" Type="http://schemas.openxmlformats.org/officeDocument/2006/relationships/image" Target="../media/image-89-13.png"/><Relationship Id="rId14" Type="http://schemas.openxmlformats.org/officeDocument/2006/relationships/slideLayout" Target="../slideLayouts/slideLayout1.xml"/><Relationship Id="rId1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chart" Target="../charts/chart16.xml"/><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chart" Target="../charts/chart17.xml"/><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chart" Target="../charts/chart18.xml"/><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chart" Target="../charts/chart19.xml"/><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chart" Target="../charts/chart20.xml"/><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2971800"/>
            <a:ext cx="8412480" cy="502920"/>
          </a:xfrm>
          <a:prstGeom prst="rect">
            <a:avLst/>
          </a:prstGeom>
          <a:noFill/>
          <a:ln/>
        </p:spPr>
        <p:txBody>
          <a:bodyPr wrap="square" lIns="0" tIns="0" rIns="0" bIns="0" rtlCol="0" anchor="t"/>
          <a:lstStyle/>
          <a:p>
            <a:pPr indent="0" marL="0">
              <a:buNone/>
            </a:pPr>
            <a:r>
              <a:rPr lang="en-US" sz="1600" dirty="0">
                <a:solidFill>
                  <a:srgbClr val="3F3F3F"/>
                </a:solidFill>
                <a:latin typeface="Yu Gothic UI" pitchFamily="34" charset="0"/>
                <a:ea typeface="Yu Gothic UI" pitchFamily="34" charset="-122"/>
                <a:cs typeface="Yu Gothic UI" pitchFamily="34" charset="-120"/>
              </a:rPr>
              <a:t>consulting-slide-builder 用　80の型（P01〜P80）＋記号集・アイコン集・テンプレート集＋通しの完成例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使い方：伝えたいことを先に決め、合う型を選んで中身を差し替える。各スライドのノートに、パターンID・使う場面・差し替える箇所を記載。</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名称・数値はすべて架空の見本（架空の「みなと市」のバス事業など）。成果物に残さないこと。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CCCCC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みなと市のバス事業は利用減で年4.2億円の赤字にある。支線の予約型交通への転換と幹線の増便を組み合わせ、2030年度までに赤字を半減すべきである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注）収支は運行補助を含まない営業収支。利用者数は年度の延べ人数で、定期券の利用は1か月を40回として換算した。赤字の見込みは2026年度予算を基にした試算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a:t>
            </a:r>
            <a:endParaRPr lang="en-US" sz="900" dirty="0"/>
          </a:p>
        </p:txBody>
      </p:sp>
      <p:sp>
        <p:nvSpPr>
          <p:cNvPr id="10" name="Shape 19"/>
          <p:cNvSpPr/>
          <p:nvPr/>
        </p:nvSpPr>
        <p:spPr>
          <a:xfrm>
            <a:off x="200848" y="5047488"/>
            <a:ext cx="9504000" cy="822960"/>
          </a:xfrm>
          <a:prstGeom prst="rect">
            <a:avLst/>
          </a:prstGeom>
          <a:solidFill>
            <a:srgbClr val="E0EEF8"/>
          </a:solidFill>
          <a:ln/>
        </p:spPr>
      </p:sp>
      <p:sp>
        <p:nvSpPr>
          <p:cNvPr id="11" name="Text 7"/>
          <p:cNvSpPr txBox="1"/>
          <p:nvPr/>
        </p:nvSpPr>
        <p:spPr>
          <a:xfrm>
            <a:off x="200848" y="1572768"/>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2"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利用者は10年で30%減り、赤字は年4.2億円に拡大した</a:t>
            </a:r>
            <a:endParaRPr lang="en-US" sz="1400" dirty="0"/>
          </a:p>
        </p:txBody>
      </p:sp>
      <p:sp>
        <p:nvSpPr>
          <p:cNvPr id="13"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根拠：年間利用者数 412万人→290万人、赤字 1.8億円→4.2億円（2015→2025年度）</a:t>
            </a:r>
            <a:endParaRPr lang="en-US" sz="1400" dirty="0"/>
          </a:p>
        </p:txBody>
      </p:sp>
      <p:sp>
        <p:nvSpPr>
          <p:cNvPr id="14" name="Shape 10"/>
          <p:cNvSpPr/>
          <p:nvPr/>
        </p:nvSpPr>
        <p:spPr>
          <a:xfrm>
            <a:off x="200848" y="2569464"/>
            <a:ext cx="9504000" cy="0"/>
          </a:xfrm>
          <a:prstGeom prst="line">
            <a:avLst/>
          </a:prstGeom>
          <a:noFill/>
          <a:ln w="9525">
            <a:solidFill>
              <a:srgbClr val="CCCCCC"/>
            </a:solidFill>
            <a:prstDash val="solid"/>
          </a:ln>
        </p:spPr>
      </p:sp>
      <p:sp>
        <p:nvSpPr>
          <p:cNvPr id="15" name="Text 11"/>
          <p:cNvSpPr txBox="1"/>
          <p:nvPr/>
        </p:nvSpPr>
        <p:spPr>
          <a:xfrm>
            <a:off x="200848" y="2734056"/>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6"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赤字の7割は、利用の少ない支線12路線で生じている</a:t>
            </a:r>
            <a:endParaRPr lang="en-US" sz="1400" dirty="0"/>
          </a:p>
        </p:txBody>
      </p:sp>
      <p:sp>
        <p:nvSpPr>
          <p:cNvPr id="17"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根拠：路線別収支の分解で、支線の赤字は2.9億円</a:t>
            </a:r>
            <a:endParaRPr lang="en-US" sz="1400" dirty="0"/>
          </a:p>
        </p:txBody>
      </p:sp>
      <p:sp>
        <p:nvSpPr>
          <p:cNvPr id="18" name="Shape 14"/>
          <p:cNvSpPr/>
          <p:nvPr/>
        </p:nvSpPr>
        <p:spPr>
          <a:xfrm>
            <a:off x="200848" y="3730752"/>
            <a:ext cx="9504000" cy="0"/>
          </a:xfrm>
          <a:prstGeom prst="line">
            <a:avLst/>
          </a:prstGeom>
          <a:noFill/>
          <a:ln w="9525">
            <a:solidFill>
              <a:srgbClr val="CCCCCC"/>
            </a:solidFill>
            <a:prstDash val="solid"/>
          </a:ln>
        </p:spPr>
      </p:sp>
      <p:sp>
        <p:nvSpPr>
          <p:cNvPr id="19" name="Text 15"/>
          <p:cNvSpPr txBox="1"/>
          <p:nvPr/>
        </p:nvSpPr>
        <p:spPr>
          <a:xfrm>
            <a:off x="200848" y="3895344"/>
            <a:ext cx="1005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20"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支線の予約型交通への転換が、効果と実現性の両面で最も優れる</a:t>
            </a:r>
            <a:endParaRPr lang="en-US" sz="1400" dirty="0"/>
          </a:p>
        </p:txBody>
      </p:sp>
      <p:sp>
        <p:nvSpPr>
          <p:cNvPr id="21"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根拠：4つの選択肢を4基準で評価し、4基準中3基準で最上位</a:t>
            </a:r>
            <a:endParaRPr lang="en-US" sz="1400" dirty="0"/>
          </a:p>
        </p:txBody>
      </p:sp>
      <p:sp>
        <p:nvSpPr>
          <p:cNvPr id="22" name="Shape 18"/>
          <p:cNvSpPr/>
          <p:nvPr/>
        </p:nvSpPr>
        <p:spPr>
          <a:xfrm>
            <a:off x="200848" y="5047488"/>
            <a:ext cx="9504000" cy="0"/>
          </a:xfrm>
          <a:prstGeom prst="line">
            <a:avLst/>
          </a:prstGeom>
          <a:noFill/>
          <a:ln w="19050">
            <a:solidFill>
              <a:srgbClr val="000F78"/>
            </a:solidFill>
            <a:prstDash val="solid"/>
          </a:ln>
        </p:spPr>
      </p:sp>
      <p:sp>
        <p:nvSpPr>
          <p:cNvPr id="23" name="Text 20"/>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支線12路線を2027年度から順次予約型交通に転換し、浮いた運転士で幹線を1時間3本に増やす。初年度に推進室を設け、収支と利用者数を四半期ごとに管理する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本資料はバス事業の赤字にどう対処するかに答えるため、現状・課題・打ち手・実行計画の順に示す。本章では赤字が膨らむ要因を明らかにする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a:t>
            </a:r>
            <a:endParaRPr lang="en-US" sz="900" dirty="0"/>
          </a:p>
        </p:txBody>
      </p:sp>
      <p:sp>
        <p:nvSpPr>
          <p:cNvPr id="9" name="Text 6"/>
          <p:cNvSpPr txBox="1"/>
          <p:nvPr/>
        </p:nvSpPr>
        <p:spPr>
          <a:xfrm>
            <a:off x="475168" y="169164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1298128"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現状：バスの利用と収支の推移</a:t>
            </a:r>
            <a:endParaRPr lang="en-US" sz="1600" dirty="0"/>
          </a:p>
        </p:txBody>
      </p:sp>
      <p:sp>
        <p:nvSpPr>
          <p:cNvPr id="11" name="Shape 8"/>
          <p:cNvSpPr/>
          <p:nvPr/>
        </p:nvSpPr>
        <p:spPr>
          <a:xfrm>
            <a:off x="475168" y="2331720"/>
            <a:ext cx="8955360" cy="0"/>
          </a:xfrm>
          <a:prstGeom prst="line">
            <a:avLst/>
          </a:prstGeom>
          <a:noFill/>
          <a:ln w="9525">
            <a:solidFill>
              <a:srgbClr val="CCCCCC"/>
            </a:solidFill>
            <a:prstDash val="solid"/>
          </a:ln>
        </p:spPr>
      </p:sp>
      <p:sp>
        <p:nvSpPr>
          <p:cNvPr id="12" name="Text 9"/>
          <p:cNvSpPr txBox="1"/>
          <p:nvPr/>
        </p:nvSpPr>
        <p:spPr>
          <a:xfrm>
            <a:off x="475168"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3" name="Text 10"/>
          <p:cNvSpPr txBox="1"/>
          <p:nvPr/>
        </p:nvSpPr>
        <p:spPr>
          <a:xfrm>
            <a:off x="1298128"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課題：赤字が膨らむ要因</a:t>
            </a:r>
            <a:endParaRPr lang="en-US" sz="1600" dirty="0"/>
          </a:p>
        </p:txBody>
      </p:sp>
      <p:sp>
        <p:nvSpPr>
          <p:cNvPr id="14" name="Shape 11"/>
          <p:cNvSpPr/>
          <p:nvPr/>
        </p:nvSpPr>
        <p:spPr>
          <a:xfrm>
            <a:off x="475168" y="3154680"/>
            <a:ext cx="8955360" cy="0"/>
          </a:xfrm>
          <a:prstGeom prst="line">
            <a:avLst/>
          </a:prstGeom>
          <a:noFill/>
          <a:ln w="9525">
            <a:solidFill>
              <a:srgbClr val="CCCCCC"/>
            </a:solidFill>
            <a:prstDash val="solid"/>
          </a:ln>
        </p:spPr>
      </p:sp>
      <p:sp>
        <p:nvSpPr>
          <p:cNvPr id="15" name="Text 12"/>
          <p:cNvSpPr txBox="1"/>
          <p:nvPr/>
        </p:nvSpPr>
        <p:spPr>
          <a:xfrm>
            <a:off x="475168" y="333756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03</a:t>
            </a:r>
            <a:endParaRPr lang="en-US" sz="2000" dirty="0"/>
          </a:p>
        </p:txBody>
      </p:sp>
      <p:sp>
        <p:nvSpPr>
          <p:cNvPr id="16" name="Text 13"/>
          <p:cNvSpPr txBox="1"/>
          <p:nvPr/>
        </p:nvSpPr>
        <p:spPr>
          <a:xfrm>
            <a:off x="1298128"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7" name="Shape 14"/>
          <p:cNvSpPr/>
          <p:nvPr/>
        </p:nvSpPr>
        <p:spPr>
          <a:xfrm>
            <a:off x="475168" y="3977640"/>
            <a:ext cx="8955360" cy="0"/>
          </a:xfrm>
          <a:prstGeom prst="line">
            <a:avLst/>
          </a:prstGeom>
          <a:noFill/>
          <a:ln w="9525">
            <a:solidFill>
              <a:srgbClr val="CCCCCC"/>
            </a:solidFill>
            <a:prstDash val="solid"/>
          </a:ln>
        </p:spPr>
      </p:sp>
      <p:sp>
        <p:nvSpPr>
          <p:cNvPr id="18" name="Text 15"/>
          <p:cNvSpPr txBox="1"/>
          <p:nvPr/>
        </p:nvSpPr>
        <p:spPr>
          <a:xfrm>
            <a:off x="475168" y="416052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04</a:t>
            </a:r>
            <a:endParaRPr lang="en-US" sz="2000" dirty="0"/>
          </a:p>
        </p:txBody>
      </p:sp>
      <p:sp>
        <p:nvSpPr>
          <p:cNvPr id="19" name="Text 16"/>
          <p:cNvSpPr txBox="1"/>
          <p:nvPr/>
        </p:nvSpPr>
        <p:spPr>
          <a:xfrm>
            <a:off x="1298128"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実行計画：転換の手順と体制</a:t>
            </a:r>
            <a:endParaRPr lang="en-US" sz="1600" dirty="0"/>
          </a:p>
        </p:txBody>
      </p:sp>
      <p:sp>
        <p:nvSpPr>
          <p:cNvPr id="20" name="Shape 17"/>
          <p:cNvSpPr/>
          <p:nvPr/>
        </p:nvSpPr>
        <p:spPr>
          <a:xfrm>
            <a:off x="475168" y="4800600"/>
            <a:ext cx="8955360" cy="0"/>
          </a:xfrm>
          <a:prstGeom prst="line">
            <a:avLst/>
          </a:prstGeom>
          <a:noFill/>
          <a:ln w="9525">
            <a:solidFill>
              <a:srgbClr val="CCCCCC"/>
            </a:solidFill>
            <a:prstDash val="solid"/>
          </a:ln>
        </p:spPr>
      </p:sp>
      <p:sp>
        <p:nvSpPr>
          <p:cNvPr id="21" name="Text 18"/>
          <p:cNvSpPr txBox="1"/>
          <p:nvPr/>
        </p:nvSpPr>
        <p:spPr>
          <a:xfrm>
            <a:off x="475168" y="4983480"/>
            <a:ext cx="640080" cy="457200"/>
          </a:xfrm>
          <a:prstGeom prst="rect">
            <a:avLst/>
          </a:prstGeom>
          <a:noFill/>
          <a:ln/>
        </p:spPr>
        <p:txBody>
          <a:bodyPr wrap="square" lIns="0" tIns="0" rIns="0" bIns="0" rtlCol="0" anchor="ctr"/>
          <a:lstStyle/>
          <a:p>
            <a:pPr indent="0" marL="0">
              <a:buNone/>
            </a:pPr>
            <a:r>
              <a:rPr lang="en-US" sz="2000" b="1" dirty="0">
                <a:solidFill>
                  <a:srgbClr val="CCCCCC"/>
                </a:solidFill>
                <a:latin typeface="Arial" pitchFamily="34" charset="0"/>
                <a:ea typeface="Arial" pitchFamily="34" charset="-122"/>
                <a:cs typeface="Arial" pitchFamily="34" charset="-120"/>
              </a:rPr>
              <a:t>05</a:t>
            </a:r>
            <a:endParaRPr lang="en-US" sz="2000" dirty="0"/>
          </a:p>
        </p:txBody>
      </p:sp>
      <p:sp>
        <p:nvSpPr>
          <p:cNvPr id="22" name="Text 19"/>
          <p:cNvSpPr txBox="1"/>
          <p:nvPr/>
        </p:nvSpPr>
        <p:spPr>
          <a:xfrm>
            <a:off x="1298128"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予約型交通の利用者数は運行区域を広げた2019年度以降に年6.7%で増え、6.5万人に達した。支線の転換先として需要を受け止められる水準にある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年度の延べ利用者数　2. 2019年度に運行区域を3地区に拡大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00848" y="233172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355528" y="2286000"/>
            <a:ext cx="2606040" cy="0"/>
          </a:xfrm>
          <a:prstGeom prst="line">
            <a:avLst/>
          </a:prstGeom>
          <a:noFill/>
          <a:ln w="15875">
            <a:solidFill>
              <a:srgbClr val="000F78"/>
            </a:solidFill>
            <a:prstDash val="solid"/>
            <a:tailEnd type="triangle"/>
          </a:ln>
        </p:spPr>
      </p:sp>
      <p:sp>
        <p:nvSpPr>
          <p:cNvPr id="14" name="Text 10"/>
          <p:cNvSpPr txBox="1"/>
          <p:nvPr/>
        </p:nvSpPr>
        <p:spPr>
          <a:xfrm>
            <a:off x="2578288" y="1901952"/>
            <a:ext cx="402336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＋6.7%（2019→2025年度）</a:t>
            </a:r>
            <a:endParaRPr lang="en-US" sz="12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区域を広げた2019年度から伸びが加速した</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2015→2019年度は年3.7%、2019→2025年度は年6.7%。拡大した3地区が増加の7割を占める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支線の転換先として受け止められる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支線12路線の利用者は年4.8万人で、予約型の6.5万人の4分の3に当たる</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みなと市の住民1人当たりのバス利用は年14回で、類似8市の中で5位にとどまる。上位3市との差は運行本数で説明でき、増便の余地が大きい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住民1人当たりの年間バス利用回数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（回、類似8市、2025年度）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注）利用回数＝年間利用者数÷住民数。類似市は人口10〜20万人の8市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00848" y="1874520"/>
          <a:ext cx="6257880" cy="42519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上位3市の平均より9回少ない</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上位3市の平均は23回、みなと市は14回。8市の平均（16回）も下回る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差は運行本数で説明できる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上位3市は人口千人当たりの1日運行本数が、みなと市の1.8倍（P08）</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バス利用者に占める通院目的の割合は、10年で15%から32%へ17ポイント上がった。今後の路線は、病院への接続を軸に組み立てる必要がある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目的別のバス利用者の構成比</a:t>
            </a:r>
            <a:pPr indent="0" marL="0">
              <a:buNone/>
            </a:pPr>
            <a:r>
              <a:rPr lang="en-US" sz="1100" dirty="0">
                <a:solidFill>
                  <a:srgbClr val="3F3F3F"/>
                </a:solidFill>
                <a:latin typeface="Yu Gothic UI" pitchFamily="34" charset="0"/>
                <a:ea typeface="Yu Gothic UI" pitchFamily="34" charset="-122"/>
                <a:cs typeface="Yu Gothic UI" pitchFamily="34" charset="-120"/>
              </a:rPr>
              <a:t>　（%、2015・2020・2025年度）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注）利用目的は乗車時の聞き取り調査（各年度10月の平日1週間）</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00848" y="1874520"/>
          <a:ext cx="457200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64288" y="233172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14" name="Text 10"/>
          <p:cNvSpPr txBox="1"/>
          <p:nvPr/>
        </p:nvSpPr>
        <p:spPr>
          <a:xfrm>
            <a:off x="4864288" y="3063240"/>
            <a:ext cx="82296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a:t>
            </a:r>
            <a:endParaRPr lang="en-US" sz="1200" dirty="0"/>
          </a:p>
        </p:txBody>
      </p:sp>
      <p:sp>
        <p:nvSpPr>
          <p:cNvPr id="15" name="Text 11"/>
          <p:cNvSpPr txBox="1"/>
          <p:nvPr/>
        </p:nvSpPr>
        <p:spPr>
          <a:xfrm>
            <a:off x="4864288" y="406908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a:t>
            </a:r>
            <a:endParaRPr lang="en-US" sz="1200" dirty="0"/>
          </a:p>
        </p:txBody>
      </p:sp>
      <p:sp>
        <p:nvSpPr>
          <p:cNvPr id="16" name="Text 12"/>
          <p:cNvSpPr txBox="1"/>
          <p:nvPr/>
        </p:nvSpPr>
        <p:spPr>
          <a:xfrm>
            <a:off x="4864288" y="5120640"/>
            <a:ext cx="82296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4864288" y="3337560"/>
            <a:ext cx="91440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＋17pt</a:t>
            </a:r>
            <a:endParaRPr lang="en-US" sz="1200" dirty="0"/>
          </a:p>
        </p:txBody>
      </p:sp>
      <p:sp>
        <p:nvSpPr>
          <p:cNvPr id="18" name="Shape 14"/>
          <p:cNvSpPr/>
          <p:nvPr/>
        </p:nvSpPr>
        <p:spPr>
          <a:xfrm>
            <a:off x="6687328" y="1874520"/>
            <a:ext cx="3017520" cy="4251960"/>
          </a:xfrm>
          <a:prstGeom prst="rect">
            <a:avLst/>
          </a:prstGeom>
          <a:solidFill>
            <a:srgbClr val="E0EEF8"/>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通院は10年で＋17pt、最も伸びた目的</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通院の利用者は年62万人から93万人に増えた。70歳以上の人口が2割増えたことが主因</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通学は−12pt、生徒数の減少が続く</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沿線の高校生は10年で3割減った。2035年度には通学の割合が20%を下回る見込み（推計）</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年間利用者数は10年で412万人から290万人に減り、減少の約8割は人口減少による。人口が減り続ける以上、路線網の維持だけを目標にはできない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年間利用者数の増減要因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注）人口減少の影響＝2015年度の1人当たり利用回数×人口の減少数。通学・通院の増減は目的別の聞き取り調査の構成比で配分し、残りを「その他」とした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381473" y="2157984"/>
            <a:ext cx="632188" cy="2825496"/>
          </a:xfrm>
          <a:prstGeom prst="rect">
            <a:avLst/>
          </a:prstGeom>
          <a:solidFill>
            <a:srgbClr val="7F7F7F"/>
          </a:solidFill>
          <a:ln/>
        </p:spPr>
      </p:sp>
      <p:sp>
        <p:nvSpPr>
          <p:cNvPr id="13" name="Text 10"/>
          <p:cNvSpPr txBox="1"/>
          <p:nvPr/>
        </p:nvSpPr>
        <p:spPr>
          <a:xfrm>
            <a:off x="381473" y="1865376"/>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412</a:t>
            </a:r>
            <a:endParaRPr lang="en-US" sz="1400" dirty="0"/>
          </a:p>
        </p:txBody>
      </p:sp>
      <p:sp>
        <p:nvSpPr>
          <p:cNvPr id="14" name="Text 11"/>
          <p:cNvSpPr txBox="1"/>
          <p:nvPr/>
        </p:nvSpPr>
        <p:spPr>
          <a:xfrm>
            <a:off x="321264"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5" name="Shape 12"/>
          <p:cNvSpPr/>
          <p:nvPr/>
        </p:nvSpPr>
        <p:spPr>
          <a:xfrm>
            <a:off x="1013661" y="2157984"/>
            <a:ext cx="331146" cy="0"/>
          </a:xfrm>
          <a:prstGeom prst="line">
            <a:avLst/>
          </a:prstGeom>
          <a:noFill/>
          <a:ln w="6350">
            <a:solidFill>
              <a:srgbClr val="CCCCCC"/>
            </a:solidFill>
            <a:prstDash val="dash"/>
          </a:ln>
        </p:spPr>
      </p:sp>
      <p:sp>
        <p:nvSpPr>
          <p:cNvPr id="16" name="Shape 13"/>
          <p:cNvSpPr/>
          <p:nvPr/>
        </p:nvSpPr>
        <p:spPr>
          <a:xfrm>
            <a:off x="1344807" y="2157984"/>
            <a:ext cx="632188" cy="658368"/>
          </a:xfrm>
          <a:prstGeom prst="rect">
            <a:avLst/>
          </a:prstGeom>
          <a:solidFill>
            <a:srgbClr val="000F78"/>
          </a:solidFill>
          <a:ln/>
        </p:spPr>
      </p:sp>
      <p:sp>
        <p:nvSpPr>
          <p:cNvPr id="17" name="Text 14"/>
          <p:cNvSpPr txBox="1"/>
          <p:nvPr/>
        </p:nvSpPr>
        <p:spPr>
          <a:xfrm>
            <a:off x="1344807" y="1865376"/>
            <a:ext cx="96012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−96</a:t>
            </a:r>
            <a:endParaRPr lang="en-US" sz="1400" dirty="0"/>
          </a:p>
        </p:txBody>
      </p:sp>
      <p:sp>
        <p:nvSpPr>
          <p:cNvPr id="18" name="Text 15"/>
          <p:cNvSpPr txBox="1"/>
          <p:nvPr/>
        </p:nvSpPr>
        <p:spPr>
          <a:xfrm>
            <a:off x="1284599"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人口減少</a:t>
            </a:r>
            <a:endParaRPr lang="en-US" sz="1400" dirty="0"/>
          </a:p>
        </p:txBody>
      </p:sp>
      <p:sp>
        <p:nvSpPr>
          <p:cNvPr id="19" name="Shape 16"/>
          <p:cNvSpPr/>
          <p:nvPr/>
        </p:nvSpPr>
        <p:spPr>
          <a:xfrm>
            <a:off x="1976995" y="2816352"/>
            <a:ext cx="331146" cy="0"/>
          </a:xfrm>
          <a:prstGeom prst="line">
            <a:avLst/>
          </a:prstGeom>
          <a:noFill/>
          <a:ln w="6350">
            <a:solidFill>
              <a:srgbClr val="CCCCCC"/>
            </a:solidFill>
            <a:prstDash val="dash"/>
          </a:ln>
        </p:spPr>
      </p:sp>
      <p:sp>
        <p:nvSpPr>
          <p:cNvPr id="20" name="Shape 17"/>
          <p:cNvSpPr/>
          <p:nvPr/>
        </p:nvSpPr>
        <p:spPr>
          <a:xfrm>
            <a:off x="1420068" y="5669280"/>
            <a:ext cx="481667" cy="310896"/>
          </a:xfrm>
          <a:prstGeom prst="ellipse">
            <a:avLst/>
          </a:prstGeom>
          <a:solidFill>
            <a:srgbClr val="7F7F7F"/>
          </a:solidFill>
          <a:ln/>
        </p:spPr>
      </p:sp>
      <p:sp>
        <p:nvSpPr>
          <p:cNvPr id="21" name="Text 18"/>
          <p:cNvSpPr txBox="1"/>
          <p:nvPr/>
        </p:nvSpPr>
        <p:spPr>
          <a:xfrm>
            <a:off x="1420068"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79%</a:t>
            </a:r>
            <a:endParaRPr lang="en-US" sz="1400" dirty="0"/>
          </a:p>
        </p:txBody>
      </p:sp>
      <p:sp>
        <p:nvSpPr>
          <p:cNvPr id="22" name="Shape 19"/>
          <p:cNvSpPr/>
          <p:nvPr/>
        </p:nvSpPr>
        <p:spPr>
          <a:xfrm>
            <a:off x="2308141" y="2816352"/>
            <a:ext cx="632188" cy="212598"/>
          </a:xfrm>
          <a:prstGeom prst="rect">
            <a:avLst/>
          </a:prstGeom>
          <a:solidFill>
            <a:srgbClr val="CCCCCC"/>
          </a:solidFill>
          <a:ln/>
        </p:spPr>
      </p:sp>
      <p:sp>
        <p:nvSpPr>
          <p:cNvPr id="23" name="Text 20"/>
          <p:cNvSpPr txBox="1"/>
          <p:nvPr/>
        </p:nvSpPr>
        <p:spPr>
          <a:xfrm>
            <a:off x="2308141" y="2523744"/>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−31</a:t>
            </a:r>
            <a:endParaRPr lang="en-US" sz="1400" dirty="0"/>
          </a:p>
        </p:txBody>
      </p:sp>
      <p:sp>
        <p:nvSpPr>
          <p:cNvPr id="24" name="Text 21"/>
          <p:cNvSpPr txBox="1"/>
          <p:nvPr/>
        </p:nvSpPr>
        <p:spPr>
          <a:xfrm>
            <a:off x="2247933"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25" name="Shape 22"/>
          <p:cNvSpPr/>
          <p:nvPr/>
        </p:nvSpPr>
        <p:spPr>
          <a:xfrm>
            <a:off x="2940329" y="3028950"/>
            <a:ext cx="331146" cy="0"/>
          </a:xfrm>
          <a:prstGeom prst="line">
            <a:avLst/>
          </a:prstGeom>
          <a:noFill/>
          <a:ln w="6350">
            <a:solidFill>
              <a:srgbClr val="CCCCCC"/>
            </a:solidFill>
            <a:prstDash val="dash"/>
          </a:ln>
        </p:spPr>
      </p:sp>
      <p:sp>
        <p:nvSpPr>
          <p:cNvPr id="26" name="Shape 23"/>
          <p:cNvSpPr/>
          <p:nvPr/>
        </p:nvSpPr>
        <p:spPr>
          <a:xfrm>
            <a:off x="2383402" y="5669280"/>
            <a:ext cx="481667" cy="310896"/>
          </a:xfrm>
          <a:prstGeom prst="ellipse">
            <a:avLst/>
          </a:prstGeom>
          <a:solidFill>
            <a:srgbClr val="7F7F7F"/>
          </a:solidFill>
          <a:ln/>
        </p:spPr>
      </p:sp>
      <p:sp>
        <p:nvSpPr>
          <p:cNvPr id="27" name="Text 24"/>
          <p:cNvSpPr txBox="1"/>
          <p:nvPr/>
        </p:nvSpPr>
        <p:spPr>
          <a:xfrm>
            <a:off x="2383402"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28" name="Shape 25"/>
          <p:cNvSpPr/>
          <p:nvPr/>
        </p:nvSpPr>
        <p:spPr>
          <a:xfrm>
            <a:off x="3271476" y="2905506"/>
            <a:ext cx="632188" cy="123444"/>
          </a:xfrm>
          <a:prstGeom prst="rect">
            <a:avLst/>
          </a:prstGeom>
          <a:solidFill>
            <a:srgbClr val="CCCCCC"/>
          </a:solidFill>
          <a:ln/>
        </p:spPr>
      </p:sp>
      <p:sp>
        <p:nvSpPr>
          <p:cNvPr id="29" name="Text 26"/>
          <p:cNvSpPr txBox="1"/>
          <p:nvPr/>
        </p:nvSpPr>
        <p:spPr>
          <a:xfrm>
            <a:off x="3271476" y="2612898"/>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＋18</a:t>
            </a:r>
            <a:endParaRPr lang="en-US" sz="1400" dirty="0"/>
          </a:p>
        </p:txBody>
      </p:sp>
      <p:sp>
        <p:nvSpPr>
          <p:cNvPr id="30" name="Text 27"/>
          <p:cNvSpPr txBox="1"/>
          <p:nvPr/>
        </p:nvSpPr>
        <p:spPr>
          <a:xfrm>
            <a:off x="3211267"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通院の</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31" name="Shape 28"/>
          <p:cNvSpPr/>
          <p:nvPr/>
        </p:nvSpPr>
        <p:spPr>
          <a:xfrm>
            <a:off x="3903664" y="2905506"/>
            <a:ext cx="331146" cy="0"/>
          </a:xfrm>
          <a:prstGeom prst="line">
            <a:avLst/>
          </a:prstGeom>
          <a:noFill/>
          <a:ln w="6350">
            <a:solidFill>
              <a:srgbClr val="CCCCCC"/>
            </a:solidFill>
            <a:prstDash val="dash"/>
          </a:ln>
        </p:spPr>
      </p:sp>
      <p:sp>
        <p:nvSpPr>
          <p:cNvPr id="32" name="Shape 29"/>
          <p:cNvSpPr/>
          <p:nvPr/>
        </p:nvSpPr>
        <p:spPr>
          <a:xfrm>
            <a:off x="3346736" y="5669280"/>
            <a:ext cx="481667" cy="310896"/>
          </a:xfrm>
          <a:prstGeom prst="ellipse">
            <a:avLst/>
          </a:prstGeom>
          <a:solidFill>
            <a:srgbClr val="7F7F7F"/>
          </a:solidFill>
          <a:ln/>
        </p:spPr>
      </p:sp>
      <p:sp>
        <p:nvSpPr>
          <p:cNvPr id="33" name="Text 30"/>
          <p:cNvSpPr txBox="1"/>
          <p:nvPr/>
        </p:nvSpPr>
        <p:spPr>
          <a:xfrm>
            <a:off x="3346736"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34" name="Shape 31"/>
          <p:cNvSpPr/>
          <p:nvPr/>
        </p:nvSpPr>
        <p:spPr>
          <a:xfrm>
            <a:off x="4234810" y="2905506"/>
            <a:ext cx="632188" cy="89154"/>
          </a:xfrm>
          <a:prstGeom prst="rect">
            <a:avLst/>
          </a:prstGeom>
          <a:solidFill>
            <a:srgbClr val="CCCCCC"/>
          </a:solidFill>
          <a:ln/>
        </p:spPr>
      </p:sp>
      <p:sp>
        <p:nvSpPr>
          <p:cNvPr id="35" name="Text 32"/>
          <p:cNvSpPr txBox="1"/>
          <p:nvPr/>
        </p:nvSpPr>
        <p:spPr>
          <a:xfrm>
            <a:off x="4234810" y="2612898"/>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−13</a:t>
            </a:r>
            <a:endParaRPr lang="en-US" sz="1400" dirty="0"/>
          </a:p>
        </p:txBody>
      </p:sp>
      <p:sp>
        <p:nvSpPr>
          <p:cNvPr id="36" name="Text 33"/>
          <p:cNvSpPr txBox="1"/>
          <p:nvPr/>
        </p:nvSpPr>
        <p:spPr>
          <a:xfrm>
            <a:off x="4174601"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7" name="Shape 34"/>
          <p:cNvSpPr/>
          <p:nvPr/>
        </p:nvSpPr>
        <p:spPr>
          <a:xfrm>
            <a:off x="4866998" y="2994660"/>
            <a:ext cx="331146" cy="0"/>
          </a:xfrm>
          <a:prstGeom prst="line">
            <a:avLst/>
          </a:prstGeom>
          <a:noFill/>
          <a:ln w="6350">
            <a:solidFill>
              <a:srgbClr val="CCCCCC"/>
            </a:solidFill>
            <a:prstDash val="dash"/>
          </a:ln>
        </p:spPr>
      </p:sp>
      <p:sp>
        <p:nvSpPr>
          <p:cNvPr id="38" name="Shape 35"/>
          <p:cNvSpPr/>
          <p:nvPr/>
        </p:nvSpPr>
        <p:spPr>
          <a:xfrm>
            <a:off x="4310070" y="5669280"/>
            <a:ext cx="481667" cy="310896"/>
          </a:xfrm>
          <a:prstGeom prst="ellipse">
            <a:avLst/>
          </a:prstGeom>
          <a:solidFill>
            <a:srgbClr val="7F7F7F"/>
          </a:solidFill>
          <a:ln/>
        </p:spPr>
      </p:sp>
      <p:sp>
        <p:nvSpPr>
          <p:cNvPr id="39" name="Text 36"/>
          <p:cNvSpPr txBox="1"/>
          <p:nvPr/>
        </p:nvSpPr>
        <p:spPr>
          <a:xfrm>
            <a:off x="4310070" y="5669280"/>
            <a:ext cx="73152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11%</a:t>
            </a:r>
            <a:endParaRPr lang="en-US" sz="1400" dirty="0"/>
          </a:p>
        </p:txBody>
      </p:sp>
      <p:sp>
        <p:nvSpPr>
          <p:cNvPr id="40" name="Shape 37"/>
          <p:cNvSpPr/>
          <p:nvPr/>
        </p:nvSpPr>
        <p:spPr>
          <a:xfrm>
            <a:off x="5198144" y="2994660"/>
            <a:ext cx="632188" cy="1988820"/>
          </a:xfrm>
          <a:prstGeom prst="rect">
            <a:avLst/>
          </a:prstGeom>
          <a:solidFill>
            <a:srgbClr val="7F7F7F"/>
          </a:solidFill>
          <a:ln/>
        </p:spPr>
      </p:sp>
      <p:sp>
        <p:nvSpPr>
          <p:cNvPr id="41" name="Text 38"/>
          <p:cNvSpPr txBox="1"/>
          <p:nvPr/>
        </p:nvSpPr>
        <p:spPr>
          <a:xfrm>
            <a:off x="5198144" y="2702052"/>
            <a:ext cx="96012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a:t>
            </a:r>
            <a:endParaRPr lang="en-US" sz="1400" dirty="0"/>
          </a:p>
        </p:txBody>
      </p:sp>
      <p:sp>
        <p:nvSpPr>
          <p:cNvPr id="42" name="Text 39"/>
          <p:cNvSpPr txBox="1"/>
          <p:nvPr/>
        </p:nvSpPr>
        <p:spPr>
          <a:xfrm>
            <a:off x="5137936" y="505663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43" name="Text 40"/>
          <p:cNvSpPr txBox="1"/>
          <p:nvPr/>
        </p:nvSpPr>
        <p:spPr>
          <a:xfrm>
            <a:off x="321264" y="5669280"/>
            <a:ext cx="1463040" cy="31089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減少に占める割合</a:t>
            </a:r>
            <a:endParaRPr lang="en-US" sz="1400" dirty="0"/>
          </a:p>
        </p:txBody>
      </p:sp>
      <p:sp>
        <p:nvSpPr>
          <p:cNvPr id="44" name="Shape 41"/>
          <p:cNvSpPr/>
          <p:nvPr/>
        </p:nvSpPr>
        <p:spPr>
          <a:xfrm>
            <a:off x="200848" y="4983480"/>
            <a:ext cx="6257880" cy="0"/>
          </a:xfrm>
          <a:prstGeom prst="line">
            <a:avLst/>
          </a:prstGeom>
          <a:noFill/>
          <a:ln w="9525">
            <a:solidFill>
              <a:srgbClr val="CCCCCC"/>
            </a:solidFill>
            <a:prstDash val="solid"/>
          </a:ln>
        </p:spPr>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人口の減少だけで96万人減った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1人当たりの利用回数が同じでも、人口が減った分だけで10年で96万人減る計算になる。減少の大半は人口構造で決まり、運行の工夫では止められない。人口は今後も年1%前後減り続ける</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通院の増加では補えない</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通院は＋18万人と伸びたが、通学の減少（−31万人）の半分強にとどまる。通院の伸びは高齢化に伴うもので、今後も続く見込みである。需要の減少を前提に、路線網を組み直す必要がある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沿線の移動の45%を占める通院で、みなとバスの分担率は15%にとどまる。最も大きな移動目的での存在感の低さが、利用減の根本にある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目的別の移動回数と交通手段の分担率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（幅＝移動回数の構成比、高さ＝分担率、2025年度）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注）移動回数は1日当たり。バス以外の分担率はパーソントリップ調査による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292288" y="1965960"/>
            <a:ext cx="2198826" cy="1280160"/>
          </a:xfrm>
          <a:prstGeom prst="rect">
            <a:avLst/>
          </a:prstGeom>
          <a:solidFill>
            <a:srgbClr val="7F7F7F"/>
          </a:solidFill>
          <a:ln w="19050">
            <a:solidFill>
              <a:srgbClr val="FFFFFF"/>
            </a:solidFill>
            <a:prstDash val="solid"/>
          </a:ln>
        </p:spPr>
      </p:sp>
      <p:sp>
        <p:nvSpPr>
          <p:cNvPr id="13" name="Text 10"/>
          <p:cNvSpPr txBox="1"/>
          <p:nvPr/>
        </p:nvSpPr>
        <p:spPr>
          <a:xfrm>
            <a:off x="292288" y="1965960"/>
            <a:ext cx="2198826" cy="128016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292288" y="3246120"/>
            <a:ext cx="2198826" cy="914400"/>
          </a:xfrm>
          <a:prstGeom prst="rect">
            <a:avLst/>
          </a:prstGeom>
          <a:solidFill>
            <a:srgbClr val="CCCCCC"/>
          </a:solidFill>
          <a:ln w="19050">
            <a:solidFill>
              <a:srgbClr val="FFFFFF"/>
            </a:solidFill>
            <a:prstDash val="solid"/>
          </a:ln>
        </p:spPr>
      </p:sp>
      <p:sp>
        <p:nvSpPr>
          <p:cNvPr id="15" name="Text 12"/>
          <p:cNvSpPr txBox="1"/>
          <p:nvPr/>
        </p:nvSpPr>
        <p:spPr>
          <a:xfrm>
            <a:off x="292288" y="324612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292288" y="4160520"/>
            <a:ext cx="2198826" cy="548640"/>
          </a:xfrm>
          <a:prstGeom prst="rect">
            <a:avLst/>
          </a:prstGeom>
          <a:solidFill>
            <a:srgbClr val="000F78"/>
          </a:solidFill>
          <a:ln w="19050">
            <a:solidFill>
              <a:srgbClr val="FFFFFF"/>
            </a:solidFill>
            <a:prstDash val="solid"/>
          </a:ln>
        </p:spPr>
      </p:sp>
      <p:sp>
        <p:nvSpPr>
          <p:cNvPr id="17" name="Text 14"/>
          <p:cNvSpPr txBox="1"/>
          <p:nvPr/>
        </p:nvSpPr>
        <p:spPr>
          <a:xfrm>
            <a:off x="292288" y="4160520"/>
            <a:ext cx="219882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292288" y="4709160"/>
            <a:ext cx="2198826" cy="914400"/>
          </a:xfrm>
          <a:prstGeom prst="rect">
            <a:avLst/>
          </a:prstGeom>
          <a:solidFill>
            <a:srgbClr val="E0EEF8"/>
          </a:solidFill>
          <a:ln w="19050">
            <a:solidFill>
              <a:srgbClr val="FFFFFF"/>
            </a:solidFill>
            <a:prstDash val="solid"/>
          </a:ln>
        </p:spPr>
      </p:sp>
      <p:sp>
        <p:nvSpPr>
          <p:cNvPr id="19" name="Text 16"/>
          <p:cNvSpPr txBox="1"/>
          <p:nvPr/>
        </p:nvSpPr>
        <p:spPr>
          <a:xfrm>
            <a:off x="292288" y="4709160"/>
            <a:ext cx="2198826" cy="91440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292288" y="5696712"/>
            <a:ext cx="2198826"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通院（45%）</a:t>
            </a:r>
            <a:endParaRPr lang="en-US" sz="1400" dirty="0"/>
          </a:p>
        </p:txBody>
      </p:sp>
      <p:sp>
        <p:nvSpPr>
          <p:cNvPr id="21" name="Shape 18"/>
          <p:cNvSpPr/>
          <p:nvPr/>
        </p:nvSpPr>
        <p:spPr>
          <a:xfrm>
            <a:off x="2491114" y="1965960"/>
            <a:ext cx="1465884" cy="731520"/>
          </a:xfrm>
          <a:prstGeom prst="rect">
            <a:avLst/>
          </a:prstGeom>
          <a:solidFill>
            <a:srgbClr val="7F7F7F"/>
          </a:solidFill>
          <a:ln w="19050">
            <a:solidFill>
              <a:srgbClr val="FFFFFF"/>
            </a:solidFill>
            <a:prstDash val="solid"/>
          </a:ln>
        </p:spPr>
      </p:sp>
      <p:sp>
        <p:nvSpPr>
          <p:cNvPr id="22" name="Text 19"/>
          <p:cNvSpPr txBox="1"/>
          <p:nvPr/>
        </p:nvSpPr>
        <p:spPr>
          <a:xfrm>
            <a:off x="2491114" y="1965960"/>
            <a:ext cx="1465884" cy="73152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2491114" y="2697480"/>
            <a:ext cx="1465884" cy="1097280"/>
          </a:xfrm>
          <a:prstGeom prst="rect">
            <a:avLst/>
          </a:prstGeom>
          <a:solidFill>
            <a:srgbClr val="CCCCCC"/>
          </a:solidFill>
          <a:ln w="19050">
            <a:solidFill>
              <a:srgbClr val="FFFFFF"/>
            </a:solidFill>
            <a:prstDash val="solid"/>
          </a:ln>
        </p:spPr>
      </p:sp>
      <p:sp>
        <p:nvSpPr>
          <p:cNvPr id="24" name="Text 21"/>
          <p:cNvSpPr txBox="1"/>
          <p:nvPr/>
        </p:nvSpPr>
        <p:spPr>
          <a:xfrm>
            <a:off x="2491114" y="2697480"/>
            <a:ext cx="1465884" cy="109728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2491114" y="3794760"/>
            <a:ext cx="1465884" cy="1097280"/>
          </a:xfrm>
          <a:prstGeom prst="rect">
            <a:avLst/>
          </a:prstGeom>
          <a:solidFill>
            <a:srgbClr val="000F78"/>
          </a:solidFill>
          <a:ln w="19050">
            <a:solidFill>
              <a:srgbClr val="FFFFFF"/>
            </a:solidFill>
            <a:prstDash val="solid"/>
          </a:ln>
        </p:spPr>
      </p:sp>
      <p:sp>
        <p:nvSpPr>
          <p:cNvPr id="26" name="Text 23"/>
          <p:cNvSpPr txBox="1"/>
          <p:nvPr/>
        </p:nvSpPr>
        <p:spPr>
          <a:xfrm>
            <a:off x="2491114" y="3794760"/>
            <a:ext cx="1465884"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2491114" y="4892040"/>
            <a:ext cx="1465884" cy="731520"/>
          </a:xfrm>
          <a:prstGeom prst="rect">
            <a:avLst/>
          </a:prstGeom>
          <a:solidFill>
            <a:srgbClr val="E0EEF8"/>
          </a:solidFill>
          <a:ln w="19050">
            <a:solidFill>
              <a:srgbClr val="FFFFFF"/>
            </a:solidFill>
            <a:prstDash val="solid"/>
          </a:ln>
        </p:spPr>
      </p:sp>
      <p:sp>
        <p:nvSpPr>
          <p:cNvPr id="28" name="Text 25"/>
          <p:cNvSpPr txBox="1"/>
          <p:nvPr/>
        </p:nvSpPr>
        <p:spPr>
          <a:xfrm>
            <a:off x="2491114" y="4892040"/>
            <a:ext cx="1465884"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2491114" y="5696712"/>
            <a:ext cx="146588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通学（30%）</a:t>
            </a:r>
            <a:endParaRPr lang="en-US" sz="1400" dirty="0"/>
          </a:p>
        </p:txBody>
      </p:sp>
      <p:sp>
        <p:nvSpPr>
          <p:cNvPr id="30" name="Shape 27"/>
          <p:cNvSpPr/>
          <p:nvPr/>
        </p:nvSpPr>
        <p:spPr>
          <a:xfrm>
            <a:off x="3956998" y="1965960"/>
            <a:ext cx="1221570" cy="1463040"/>
          </a:xfrm>
          <a:prstGeom prst="rect">
            <a:avLst/>
          </a:prstGeom>
          <a:solidFill>
            <a:srgbClr val="7F7F7F"/>
          </a:solidFill>
          <a:ln w="19050">
            <a:solidFill>
              <a:srgbClr val="FFFFFF"/>
            </a:solidFill>
            <a:prstDash val="solid"/>
          </a:ln>
        </p:spPr>
      </p:sp>
      <p:sp>
        <p:nvSpPr>
          <p:cNvPr id="31" name="Text 28"/>
          <p:cNvSpPr txBox="1"/>
          <p:nvPr/>
        </p:nvSpPr>
        <p:spPr>
          <a:xfrm>
            <a:off x="3956998" y="1965960"/>
            <a:ext cx="1221570" cy="146304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3956998" y="3429000"/>
            <a:ext cx="1221570" cy="731520"/>
          </a:xfrm>
          <a:prstGeom prst="rect">
            <a:avLst/>
          </a:prstGeom>
          <a:solidFill>
            <a:srgbClr val="CCCCCC"/>
          </a:solidFill>
          <a:ln w="19050">
            <a:solidFill>
              <a:srgbClr val="FFFFFF"/>
            </a:solidFill>
            <a:prstDash val="solid"/>
          </a:ln>
        </p:spPr>
      </p:sp>
      <p:sp>
        <p:nvSpPr>
          <p:cNvPr id="33" name="Text 30"/>
          <p:cNvSpPr txBox="1"/>
          <p:nvPr/>
        </p:nvSpPr>
        <p:spPr>
          <a:xfrm>
            <a:off x="3956998" y="3429000"/>
            <a:ext cx="122157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3956998" y="4160520"/>
            <a:ext cx="1221570" cy="914400"/>
          </a:xfrm>
          <a:prstGeom prst="rect">
            <a:avLst/>
          </a:prstGeom>
          <a:solidFill>
            <a:srgbClr val="000F78"/>
          </a:solidFill>
          <a:ln w="19050">
            <a:solidFill>
              <a:srgbClr val="FFFFFF"/>
            </a:solidFill>
            <a:prstDash val="solid"/>
          </a:ln>
        </p:spPr>
      </p:sp>
      <p:sp>
        <p:nvSpPr>
          <p:cNvPr id="35" name="Text 32"/>
          <p:cNvSpPr txBox="1"/>
          <p:nvPr/>
        </p:nvSpPr>
        <p:spPr>
          <a:xfrm>
            <a:off x="3956998" y="4160520"/>
            <a:ext cx="122157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3956998" y="5074920"/>
            <a:ext cx="1221570" cy="548640"/>
          </a:xfrm>
          <a:prstGeom prst="rect">
            <a:avLst/>
          </a:prstGeom>
          <a:solidFill>
            <a:srgbClr val="E0EEF8"/>
          </a:solidFill>
          <a:ln w="19050">
            <a:solidFill>
              <a:srgbClr val="FFFFFF"/>
            </a:solidFill>
            <a:prstDash val="solid"/>
          </a:ln>
        </p:spPr>
      </p:sp>
      <p:sp>
        <p:nvSpPr>
          <p:cNvPr id="37" name="Text 34"/>
          <p:cNvSpPr txBox="1"/>
          <p:nvPr/>
        </p:nvSpPr>
        <p:spPr>
          <a:xfrm>
            <a:off x="3956998" y="5074920"/>
            <a:ext cx="1221570" cy="54864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3956998" y="5696712"/>
            <a:ext cx="122157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買物（25%）</a:t>
            </a:r>
            <a:endParaRPr lang="en-US" sz="1400" dirty="0"/>
          </a:p>
        </p:txBody>
      </p:sp>
      <p:sp>
        <p:nvSpPr>
          <p:cNvPr id="39" name="Text 36"/>
          <p:cNvSpPr txBox="1"/>
          <p:nvPr/>
        </p:nvSpPr>
        <p:spPr>
          <a:xfrm>
            <a:off x="5288296" y="245059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自家用車</a:t>
            </a:r>
            <a:endParaRPr lang="en-US" sz="1200" dirty="0"/>
          </a:p>
        </p:txBody>
      </p:sp>
      <p:sp>
        <p:nvSpPr>
          <p:cNvPr id="40" name="Text 37"/>
          <p:cNvSpPr txBox="1"/>
          <p:nvPr/>
        </p:nvSpPr>
        <p:spPr>
          <a:xfrm>
            <a:off x="5288296" y="3547872"/>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家族の送迎</a:t>
            </a:r>
            <a:endParaRPr lang="en-US" sz="1200" dirty="0"/>
          </a:p>
        </p:txBody>
      </p:sp>
      <p:sp>
        <p:nvSpPr>
          <p:cNvPr id="41" name="Text 38"/>
          <p:cNvSpPr txBox="1"/>
          <p:nvPr/>
        </p:nvSpPr>
        <p:spPr>
          <a:xfrm>
            <a:off x="5288296" y="4279392"/>
            <a:ext cx="123444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みなとバス</a:t>
            </a:r>
            <a:endParaRPr lang="en-US" sz="1200" dirty="0"/>
          </a:p>
        </p:txBody>
      </p:sp>
      <p:sp>
        <p:nvSpPr>
          <p:cNvPr id="42" name="Text 39"/>
          <p:cNvSpPr txBox="1"/>
          <p:nvPr/>
        </p:nvSpPr>
        <p:spPr>
          <a:xfrm>
            <a:off x="5288296" y="5047488"/>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タクシー</a:t>
            </a:r>
            <a:endParaRPr lang="en-US" sz="12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通院は移動の45%、バスの分担率は15%</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通院の移動は年620万回で、バスが運ぶのは93万回。残りの8割強は車と送迎</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家族の送迎が通院の25%を担う</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送迎する家族の6割が「負担が大きい」と回答した（アンケート、n＝1,200）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運行本数と1人当たりの利用回数には強い正の相関があり、みなと市は同規模の市より利用が少ない。本数を増やせば、利用も底上げできる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人口当たりの運行本数と1人当たりの年間利用回数</a:t>
            </a:r>
            <a:pPr indent="0" marL="0">
              <a:buNone/>
            </a:pPr>
            <a:r>
              <a:rPr lang="en-US" sz="1100" dirty="0">
                <a:solidFill>
                  <a:srgbClr val="3F3F3F"/>
                </a:solidFill>
                <a:latin typeface="Yu Gothic UI" pitchFamily="34" charset="0"/>
                <a:ea typeface="Yu Gothic UI" pitchFamily="34" charset="-122"/>
                <a:cs typeface="Yu Gothic UI" pitchFamily="34" charset="-120"/>
              </a:rPr>
              <a:t>　（n＝11市、2025年度）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運行本数は平日1日の合計　2. 類似市は人口10〜20万人の11市</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00848" y="1874520"/>
          <a:ext cx="6257880" cy="3886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200848" y="5806440"/>
            <a:ext cx="625788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（縦軸：1人当たり年間利用回数（回）　横軸：人口千人当たりの1日運行本数（本））</a:t>
            </a:r>
            <a:endParaRPr lang="en-US" sz="1100" dirty="0"/>
          </a:p>
        </p:txBody>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本数と利用回数の相関は強い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相関係数は0.97。千人当たりの本数が10本多いと、利用は年4回多い</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みなと市は同規模の市より年5回少ない</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本数は32本で11市の中位だが、利用は14回にとどまる。路線が利用の多い地区に合っていない</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みなと市のバス利用は2015年以降一貫して減り、2025年には全国平均を26ポイント下回った。他市並みに戻すには、路線網の構造から見直す必要がある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1人当たりバス利用回数の推移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（2015年＝100、2015–2025年）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注）全国は乗合バス事業者の合計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出所）国土交通省「自動車輸送統計年報」（各年）を基に作成（名称・数値は架空の見本）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00848" y="1874520"/>
          <a:ext cx="525780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504368" y="233172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 104</a:t>
            </a:r>
            <a:endParaRPr lang="en-US" sz="1200" dirty="0"/>
          </a:p>
        </p:txBody>
      </p:sp>
      <p:sp>
        <p:nvSpPr>
          <p:cNvPr id="14" name="Text 10"/>
          <p:cNvSpPr txBox="1"/>
          <p:nvPr/>
        </p:nvSpPr>
        <p:spPr>
          <a:xfrm>
            <a:off x="5504368" y="2971800"/>
            <a:ext cx="10058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類似市 97</a:t>
            </a:r>
            <a:endParaRPr lang="en-US" sz="1200" dirty="0"/>
          </a:p>
        </p:txBody>
      </p:sp>
      <p:sp>
        <p:nvSpPr>
          <p:cNvPr id="15" name="Text 11"/>
          <p:cNvSpPr txBox="1"/>
          <p:nvPr/>
        </p:nvSpPr>
        <p:spPr>
          <a:xfrm>
            <a:off x="5504368" y="4160520"/>
            <a:ext cx="1005840" cy="5486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みなと市 78</a:t>
            </a:r>
            <a:endParaRPr lang="en-US" sz="1200" dirty="0"/>
          </a:p>
          <a:p>
            <a:pPr indent="0" marL="0">
              <a:buNone/>
            </a:pPr>
            <a:r>
              <a:rPr lang="en-US" sz="1200" b="1" dirty="0">
                <a:solidFill>
                  <a:srgbClr val="000F78"/>
                </a:solidFill>
                <a:latin typeface="Yu Gothic UI" pitchFamily="34" charset="0"/>
                <a:ea typeface="Yu Gothic UI" pitchFamily="34" charset="-122"/>
                <a:cs typeface="Yu Gothic UI" pitchFamily="34" charset="-120"/>
              </a:rPr>
              <a:t>（−26pt）</a:t>
            </a:r>
            <a:endParaRPr lang="en-US" sz="1200" dirty="0"/>
          </a:p>
        </p:txBody>
      </p:sp>
      <p:sp>
        <p:nvSpPr>
          <p:cNvPr id="16" name="Shape 12"/>
          <p:cNvSpPr/>
          <p:nvPr/>
        </p:nvSpPr>
        <p:spPr>
          <a:xfrm>
            <a:off x="6687328" y="1874520"/>
            <a:ext cx="3017520" cy="4251960"/>
          </a:xfrm>
          <a:prstGeom prst="rect">
            <a:avLst/>
          </a:prstGeom>
          <a:solidFill>
            <a:srgbClr val="E0EEF8"/>
          </a:solidFill>
          <a:ln/>
        </p:spPr>
      </p:sp>
      <p:sp>
        <p:nvSpPr>
          <p:cNvPr id="17" name="Text 1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2020年の落ち込みから戻っていない</a:t>
            </a:r>
            <a:endParaRPr lang="en-US" sz="1400" dirty="0"/>
          </a:p>
        </p:txBody>
      </p:sp>
      <p:sp>
        <p:nvSpPr>
          <p:cNvPr id="18" name="Text 1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全国と類似市は2021年以降に持ち直したが、みなと市は減り続けた</a:t>
            </a:r>
            <a:endParaRPr lang="en-US" sz="1200" dirty="0"/>
          </a:p>
        </p:txBody>
      </p:sp>
      <p:sp>
        <p:nvSpPr>
          <p:cNvPr id="19" name="Shape 15"/>
          <p:cNvSpPr/>
          <p:nvPr/>
        </p:nvSpPr>
        <p:spPr>
          <a:xfrm>
            <a:off x="6870208" y="3936492"/>
            <a:ext cx="2651760" cy="0"/>
          </a:xfrm>
          <a:prstGeom prst="line">
            <a:avLst/>
          </a:prstGeom>
          <a:noFill/>
          <a:ln w="9525">
            <a:solidFill>
              <a:srgbClr val="CCCCCC"/>
            </a:solidFill>
            <a:prstDash val="solid"/>
          </a:ln>
        </p:spPr>
      </p:sp>
      <p:sp>
        <p:nvSpPr>
          <p:cNvPr id="20" name="Text 1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全国との差は10年で26ptに開いた</a:t>
            </a:r>
            <a:endParaRPr lang="en-US" sz="1400" dirty="0"/>
          </a:p>
        </p:txBody>
      </p:sp>
      <p:sp>
        <p:nvSpPr>
          <p:cNvPr id="21" name="Text 1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差の半分（12pt）は2020年以降の5年で開いた。減便が利用離れを招いている</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幹線の運賃収入の伸びは2021年度以降に年0.8%まで鈍った。鈍化の原因は運転士の不足と家族の送迎の増加であり、いずれも市単独では解消できない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幹線の運賃収入の推移</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注）幹線は1日30便以上の4路線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00848" y="2286000"/>
          <a:ext cx="5486400"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273552" y="1920240"/>
            <a:ext cx="292608" cy="292608"/>
          </a:xfrm>
          <a:prstGeom prst="ellipse">
            <a:avLst/>
          </a:prstGeom>
          <a:solidFill>
            <a:srgbClr val="7F7F7F"/>
          </a:solidFill>
          <a:ln w="12700">
            <a:solidFill>
              <a:srgbClr val="3F3F3F"/>
            </a:solidFill>
            <a:prstDash val="solid"/>
          </a:ln>
        </p:spPr>
      </p:sp>
      <p:sp>
        <p:nvSpPr>
          <p:cNvPr id="14" name="Text 10"/>
          <p:cNvSpPr txBox="1"/>
          <p:nvPr/>
        </p:nvSpPr>
        <p:spPr>
          <a:xfrm>
            <a:off x="3273552" y="1920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4142232" y="1920240"/>
            <a:ext cx="292608" cy="292608"/>
          </a:xfrm>
          <a:prstGeom prst="ellipse">
            <a:avLst/>
          </a:prstGeom>
          <a:solidFill>
            <a:srgbClr val="FFFFFF"/>
          </a:solidFill>
          <a:ln w="12700">
            <a:solidFill>
              <a:srgbClr val="3F3F3F"/>
            </a:solidFill>
            <a:prstDash val="solid"/>
          </a:ln>
        </p:spPr>
      </p:sp>
      <p:sp>
        <p:nvSpPr>
          <p:cNvPr id="16" name="Text 12"/>
          <p:cNvSpPr txBox="1"/>
          <p:nvPr/>
        </p:nvSpPr>
        <p:spPr>
          <a:xfrm>
            <a:off x="4142232"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5001768" y="1920240"/>
            <a:ext cx="292608" cy="292608"/>
          </a:xfrm>
          <a:prstGeom prst="ellipse">
            <a:avLst/>
          </a:prstGeom>
          <a:solidFill>
            <a:srgbClr val="FFFFFF"/>
          </a:solidFill>
          <a:ln w="12700">
            <a:solidFill>
              <a:srgbClr val="3F3F3F"/>
            </a:solidFill>
            <a:prstDash val="solid"/>
          </a:ln>
        </p:spPr>
      </p:sp>
      <p:sp>
        <p:nvSpPr>
          <p:cNvPr id="18" name="Text 14"/>
          <p:cNvSpPr txBox="1"/>
          <p:nvPr/>
        </p:nvSpPr>
        <p:spPr>
          <a:xfrm>
            <a:off x="5001768" y="19202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9514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2021年度以降の伸びは年0.8%（それまでは年5.1%）</a:t>
            </a:r>
            <a:endParaRPr lang="en-US" sz="1400" dirty="0"/>
          </a:p>
        </p:txBody>
      </p:sp>
      <p:sp>
        <p:nvSpPr>
          <p:cNvPr id="23" name="Shape 19"/>
          <p:cNvSpPr/>
          <p:nvPr/>
        </p:nvSpPr>
        <p:spPr>
          <a:xfrm>
            <a:off x="6172200" y="3063240"/>
            <a:ext cx="3532648" cy="0"/>
          </a:xfrm>
          <a:prstGeom prst="line">
            <a:avLst/>
          </a:prstGeom>
          <a:noFill/>
          <a:ln w="9525">
            <a:solidFill>
              <a:srgbClr val="CCCCCC"/>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3F3F3F"/>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運転士の不足</a:t>
            </a:r>
            <a:endParaRPr lang="en-US" sz="1400" dirty="0"/>
          </a:p>
        </p:txBody>
      </p:sp>
      <p:sp>
        <p:nvSpPr>
          <p:cNvPr id="27" name="Text 23"/>
          <p:cNvSpPr txBox="1"/>
          <p:nvPr/>
        </p:nvSpPr>
        <p:spPr>
          <a:xfrm>
            <a:off x="6583680" y="362102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必要数の15%が欠員で、増便ができない</a:t>
            </a:r>
            <a:endParaRPr lang="en-US" sz="1400" dirty="0"/>
          </a:p>
        </p:txBody>
      </p:sp>
      <p:sp>
        <p:nvSpPr>
          <p:cNvPr id="28" name="Shape 24"/>
          <p:cNvSpPr/>
          <p:nvPr/>
        </p:nvSpPr>
        <p:spPr>
          <a:xfrm>
            <a:off x="6172200" y="4389120"/>
            <a:ext cx="3532648" cy="0"/>
          </a:xfrm>
          <a:prstGeom prst="line">
            <a:avLst/>
          </a:prstGeom>
          <a:noFill/>
          <a:ln w="9525">
            <a:solidFill>
              <a:srgbClr val="CCCCCC"/>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3F3F3F"/>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家族の送迎の増加</a:t>
            </a:r>
            <a:endParaRPr lang="en-US" sz="1400" dirty="0"/>
          </a:p>
        </p:txBody>
      </p:sp>
      <p:sp>
        <p:nvSpPr>
          <p:cNvPr id="32" name="Text 28"/>
          <p:cNvSpPr txBox="1"/>
          <p:nvPr/>
        </p:nvSpPr>
        <p:spPr>
          <a:xfrm>
            <a:off x="6583680" y="4946904"/>
            <a:ext cx="3017520" cy="56692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通院の移動の25%を家族の送迎が担う</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市とバス会社が予約受付や運行管理を別々に担い、重複する費用が年6,800万円生じている。窓口と管理を一元化すれば、重複の8割を削減できる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注）重複費用は2025年度の決算額を業務別に配分した試算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00848" y="1485000"/>
            <a:ext cx="429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現状：業務別の重複費用（万円／年）</a:t>
            </a:r>
            <a:endParaRPr lang="en-US" sz="1400" dirty="0"/>
          </a:p>
        </p:txBody>
      </p:sp>
      <p:sp>
        <p:nvSpPr>
          <p:cNvPr id="11" name="Shape 8"/>
          <p:cNvSpPr/>
          <p:nvPr/>
        </p:nvSpPr>
        <p:spPr>
          <a:xfrm>
            <a:off x="200848" y="1832472"/>
            <a:ext cx="4297680" cy="0"/>
          </a:xfrm>
          <a:prstGeom prst="line">
            <a:avLst/>
          </a:prstGeom>
          <a:noFill/>
          <a:ln w="12700">
            <a:solidFill>
              <a:srgbClr val="7F7F7F"/>
            </a:solidFill>
            <a:prstDash val="solid"/>
          </a:ln>
        </p:spPr>
      </p:sp>
      <p:sp>
        <p:nvSpPr>
          <p:cNvPr id="12" name="Text 9"/>
          <p:cNvSpPr txBox="1"/>
          <p:nvPr/>
        </p:nvSpPr>
        <p:spPr>
          <a:xfrm>
            <a:off x="5047168" y="1485000"/>
            <a:ext cx="4657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一元化後の姿</a:t>
            </a:r>
            <a:endParaRPr lang="en-US" sz="1400" dirty="0"/>
          </a:p>
        </p:txBody>
      </p:sp>
      <p:sp>
        <p:nvSpPr>
          <p:cNvPr id="13" name="Shape 10"/>
          <p:cNvSpPr/>
          <p:nvPr/>
        </p:nvSpPr>
        <p:spPr>
          <a:xfrm>
            <a:off x="5047168" y="1832472"/>
            <a:ext cx="4657680" cy="0"/>
          </a:xfrm>
          <a:prstGeom prst="line">
            <a:avLst/>
          </a:prstGeom>
          <a:noFill/>
          <a:ln w="15875">
            <a:solidFill>
              <a:srgbClr val="3F3F3F"/>
            </a:solidFill>
            <a:prstDash val="solid"/>
          </a:ln>
        </p:spPr>
      </p:sp>
      <p:sp>
        <p:nvSpPr>
          <p:cNvPr id="14" name="Text 11"/>
          <p:cNvSpPr txBox="1"/>
          <p:nvPr/>
        </p:nvSpPr>
        <p:spPr>
          <a:xfrm>
            <a:off x="200848" y="2033640"/>
            <a:ext cx="132588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予約受付</a:t>
            </a:r>
            <a:endParaRPr lang="en-US" sz="1400" dirty="0"/>
          </a:p>
        </p:txBody>
      </p:sp>
      <p:sp>
        <p:nvSpPr>
          <p:cNvPr id="15" name="Shape 12"/>
          <p:cNvSpPr/>
          <p:nvPr/>
        </p:nvSpPr>
        <p:spPr>
          <a:xfrm>
            <a:off x="1618168" y="2285100"/>
            <a:ext cx="2253996" cy="274320"/>
          </a:xfrm>
          <a:prstGeom prst="rect">
            <a:avLst/>
          </a:prstGeom>
          <a:solidFill>
            <a:srgbClr val="000F78"/>
          </a:solidFill>
          <a:ln/>
        </p:spPr>
      </p:sp>
      <p:sp>
        <p:nvSpPr>
          <p:cNvPr id="16" name="Text 13"/>
          <p:cNvSpPr txBox="1"/>
          <p:nvPr/>
        </p:nvSpPr>
        <p:spPr>
          <a:xfrm>
            <a:off x="3945316" y="2033640"/>
            <a:ext cx="731520" cy="7772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2,900</a:t>
            </a:r>
            <a:endParaRPr lang="en-US" sz="1200" dirty="0"/>
          </a:p>
        </p:txBody>
      </p:sp>
      <p:sp>
        <p:nvSpPr>
          <p:cNvPr id="17" name="Text 14"/>
          <p:cNvSpPr txBox="1"/>
          <p:nvPr/>
        </p:nvSpPr>
        <p:spPr>
          <a:xfrm>
            <a:off x="5047168" y="2033640"/>
            <a:ext cx="374328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市とバス会社の窓口を予約センターに統合</a:t>
            </a:r>
            <a:endParaRPr lang="en-US" sz="1400" dirty="0"/>
          </a:p>
        </p:txBody>
      </p:sp>
      <p:sp>
        <p:nvSpPr>
          <p:cNvPr id="18" name="Text 15"/>
          <p:cNvSpPr txBox="1"/>
          <p:nvPr/>
        </p:nvSpPr>
        <p:spPr>
          <a:xfrm>
            <a:off x="8836168" y="2033640"/>
            <a:ext cx="868680" cy="7772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−2,600</a:t>
            </a:r>
            <a:endParaRPr lang="en-US" sz="1200" dirty="0"/>
          </a:p>
        </p:txBody>
      </p:sp>
      <p:sp>
        <p:nvSpPr>
          <p:cNvPr id="19" name="Shape 16"/>
          <p:cNvSpPr/>
          <p:nvPr/>
        </p:nvSpPr>
        <p:spPr>
          <a:xfrm>
            <a:off x="200848" y="2902320"/>
            <a:ext cx="4297680" cy="0"/>
          </a:xfrm>
          <a:prstGeom prst="line">
            <a:avLst/>
          </a:prstGeom>
          <a:noFill/>
          <a:ln w="9525">
            <a:solidFill>
              <a:srgbClr val="CCCCCC"/>
            </a:solidFill>
            <a:prstDash val="solid"/>
          </a:ln>
        </p:spPr>
      </p:sp>
      <p:sp>
        <p:nvSpPr>
          <p:cNvPr id="20" name="Shape 17"/>
          <p:cNvSpPr/>
          <p:nvPr/>
        </p:nvSpPr>
        <p:spPr>
          <a:xfrm>
            <a:off x="5047168" y="2902320"/>
            <a:ext cx="4657680" cy="0"/>
          </a:xfrm>
          <a:prstGeom prst="line">
            <a:avLst/>
          </a:prstGeom>
          <a:noFill/>
          <a:ln w="9525">
            <a:solidFill>
              <a:srgbClr val="CCCCCC"/>
            </a:solidFill>
            <a:prstDash val="solid"/>
          </a:ln>
        </p:spPr>
      </p:sp>
      <p:sp>
        <p:nvSpPr>
          <p:cNvPr id="21" name="Text 18"/>
          <p:cNvSpPr txBox="1"/>
          <p:nvPr/>
        </p:nvSpPr>
        <p:spPr>
          <a:xfrm>
            <a:off x="200848" y="299376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運行管理</a:t>
            </a:r>
            <a:endParaRPr lang="en-US" sz="1400" dirty="0"/>
          </a:p>
        </p:txBody>
      </p:sp>
      <p:sp>
        <p:nvSpPr>
          <p:cNvPr id="22" name="Shape 19"/>
          <p:cNvSpPr/>
          <p:nvPr/>
        </p:nvSpPr>
        <p:spPr>
          <a:xfrm>
            <a:off x="1618168" y="3245220"/>
            <a:ext cx="1632204" cy="274320"/>
          </a:xfrm>
          <a:prstGeom prst="rect">
            <a:avLst/>
          </a:prstGeom>
          <a:solidFill>
            <a:srgbClr val="CCCCCC"/>
          </a:solidFill>
          <a:ln/>
        </p:spPr>
      </p:sp>
      <p:sp>
        <p:nvSpPr>
          <p:cNvPr id="23" name="Text 20"/>
          <p:cNvSpPr txBox="1"/>
          <p:nvPr/>
        </p:nvSpPr>
        <p:spPr>
          <a:xfrm>
            <a:off x="3323524" y="299376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2,100</a:t>
            </a:r>
            <a:endParaRPr lang="en-US" sz="1200" dirty="0"/>
          </a:p>
        </p:txBody>
      </p:sp>
      <p:sp>
        <p:nvSpPr>
          <p:cNvPr id="24" name="Text 21"/>
          <p:cNvSpPr txBox="1"/>
          <p:nvPr/>
        </p:nvSpPr>
        <p:spPr>
          <a:xfrm>
            <a:off x="5047168" y="299376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配車と運転士の管理をバス会社に一本化</a:t>
            </a:r>
            <a:endParaRPr lang="en-US" sz="1400" dirty="0"/>
          </a:p>
        </p:txBody>
      </p:sp>
      <p:sp>
        <p:nvSpPr>
          <p:cNvPr id="25" name="Text 22"/>
          <p:cNvSpPr txBox="1"/>
          <p:nvPr/>
        </p:nvSpPr>
        <p:spPr>
          <a:xfrm>
            <a:off x="8836168" y="299376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−1,900</a:t>
            </a:r>
            <a:endParaRPr lang="en-US" sz="1200" dirty="0"/>
          </a:p>
        </p:txBody>
      </p:sp>
      <p:sp>
        <p:nvSpPr>
          <p:cNvPr id="26" name="Shape 23"/>
          <p:cNvSpPr/>
          <p:nvPr/>
        </p:nvSpPr>
        <p:spPr>
          <a:xfrm>
            <a:off x="200848" y="3862440"/>
            <a:ext cx="4297680" cy="0"/>
          </a:xfrm>
          <a:prstGeom prst="line">
            <a:avLst/>
          </a:prstGeom>
          <a:noFill/>
          <a:ln w="9525">
            <a:solidFill>
              <a:srgbClr val="CCCCCC"/>
            </a:solidFill>
            <a:prstDash val="solid"/>
          </a:ln>
        </p:spPr>
      </p:sp>
      <p:sp>
        <p:nvSpPr>
          <p:cNvPr id="27" name="Shape 24"/>
          <p:cNvSpPr/>
          <p:nvPr/>
        </p:nvSpPr>
        <p:spPr>
          <a:xfrm>
            <a:off x="5047168" y="3862440"/>
            <a:ext cx="4657680" cy="0"/>
          </a:xfrm>
          <a:prstGeom prst="line">
            <a:avLst/>
          </a:prstGeom>
          <a:noFill/>
          <a:ln w="9525">
            <a:solidFill>
              <a:srgbClr val="CCCCCC"/>
            </a:solidFill>
            <a:prstDash val="solid"/>
          </a:ln>
        </p:spPr>
      </p:sp>
      <p:sp>
        <p:nvSpPr>
          <p:cNvPr id="28" name="Text 25"/>
          <p:cNvSpPr txBox="1"/>
          <p:nvPr/>
        </p:nvSpPr>
        <p:spPr>
          <a:xfrm>
            <a:off x="200848" y="395388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問合せ対応</a:t>
            </a:r>
            <a:endParaRPr lang="en-US" sz="1400" dirty="0"/>
          </a:p>
        </p:txBody>
      </p:sp>
      <p:sp>
        <p:nvSpPr>
          <p:cNvPr id="29" name="Shape 26"/>
          <p:cNvSpPr/>
          <p:nvPr/>
        </p:nvSpPr>
        <p:spPr>
          <a:xfrm>
            <a:off x="1618168" y="4205340"/>
            <a:ext cx="932688" cy="274320"/>
          </a:xfrm>
          <a:prstGeom prst="rect">
            <a:avLst/>
          </a:prstGeom>
          <a:solidFill>
            <a:srgbClr val="CCCCCC"/>
          </a:solidFill>
          <a:ln/>
        </p:spPr>
      </p:sp>
      <p:sp>
        <p:nvSpPr>
          <p:cNvPr id="30" name="Text 27"/>
          <p:cNvSpPr txBox="1"/>
          <p:nvPr/>
        </p:nvSpPr>
        <p:spPr>
          <a:xfrm>
            <a:off x="2624008" y="395388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1,200</a:t>
            </a:r>
            <a:endParaRPr lang="en-US" sz="1200" dirty="0"/>
          </a:p>
        </p:txBody>
      </p:sp>
      <p:sp>
        <p:nvSpPr>
          <p:cNvPr id="31" name="Text 28"/>
          <p:cNvSpPr txBox="1"/>
          <p:nvPr/>
        </p:nvSpPr>
        <p:spPr>
          <a:xfrm>
            <a:off x="5047168" y="395388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問合せも予約センターで一括して受ける</a:t>
            </a:r>
            <a:endParaRPr lang="en-US" sz="1400" dirty="0"/>
          </a:p>
        </p:txBody>
      </p:sp>
      <p:sp>
        <p:nvSpPr>
          <p:cNvPr id="32" name="Text 29"/>
          <p:cNvSpPr txBox="1"/>
          <p:nvPr/>
        </p:nvSpPr>
        <p:spPr>
          <a:xfrm>
            <a:off x="8836168" y="395388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−900</a:t>
            </a:r>
            <a:endParaRPr lang="en-US" sz="1200" dirty="0"/>
          </a:p>
        </p:txBody>
      </p:sp>
      <p:sp>
        <p:nvSpPr>
          <p:cNvPr id="33" name="Shape 30"/>
          <p:cNvSpPr/>
          <p:nvPr/>
        </p:nvSpPr>
        <p:spPr>
          <a:xfrm>
            <a:off x="200848" y="4822560"/>
            <a:ext cx="4297680" cy="0"/>
          </a:xfrm>
          <a:prstGeom prst="line">
            <a:avLst/>
          </a:prstGeom>
          <a:noFill/>
          <a:ln w="9525">
            <a:solidFill>
              <a:srgbClr val="CCCCCC"/>
            </a:solidFill>
            <a:prstDash val="solid"/>
          </a:ln>
        </p:spPr>
      </p:sp>
      <p:sp>
        <p:nvSpPr>
          <p:cNvPr id="34" name="Shape 31"/>
          <p:cNvSpPr/>
          <p:nvPr/>
        </p:nvSpPr>
        <p:spPr>
          <a:xfrm>
            <a:off x="5047168" y="4822560"/>
            <a:ext cx="4657680" cy="0"/>
          </a:xfrm>
          <a:prstGeom prst="line">
            <a:avLst/>
          </a:prstGeom>
          <a:noFill/>
          <a:ln w="9525">
            <a:solidFill>
              <a:srgbClr val="CCCCCC"/>
            </a:solidFill>
            <a:prstDash val="solid"/>
          </a:ln>
        </p:spPr>
      </p:sp>
      <p:sp>
        <p:nvSpPr>
          <p:cNvPr id="35" name="Text 32"/>
          <p:cNvSpPr txBox="1"/>
          <p:nvPr/>
        </p:nvSpPr>
        <p:spPr>
          <a:xfrm>
            <a:off x="200848" y="4914000"/>
            <a:ext cx="13258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広報</a:t>
            </a:r>
            <a:endParaRPr lang="en-US" sz="1400" dirty="0"/>
          </a:p>
        </p:txBody>
      </p:sp>
      <p:sp>
        <p:nvSpPr>
          <p:cNvPr id="36" name="Shape 33"/>
          <p:cNvSpPr/>
          <p:nvPr/>
        </p:nvSpPr>
        <p:spPr>
          <a:xfrm>
            <a:off x="1618168" y="5165460"/>
            <a:ext cx="466344" cy="274320"/>
          </a:xfrm>
          <a:prstGeom prst="rect">
            <a:avLst/>
          </a:prstGeom>
          <a:solidFill>
            <a:srgbClr val="CCCCCC"/>
          </a:solidFill>
          <a:ln/>
        </p:spPr>
      </p:sp>
      <p:sp>
        <p:nvSpPr>
          <p:cNvPr id="37" name="Text 34"/>
          <p:cNvSpPr txBox="1"/>
          <p:nvPr/>
        </p:nvSpPr>
        <p:spPr>
          <a:xfrm>
            <a:off x="2157664" y="4914000"/>
            <a:ext cx="731520" cy="7772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600</a:t>
            </a:r>
            <a:endParaRPr lang="en-US" sz="1200" dirty="0"/>
          </a:p>
        </p:txBody>
      </p:sp>
      <p:sp>
        <p:nvSpPr>
          <p:cNvPr id="38" name="Text 35"/>
          <p:cNvSpPr txBox="1"/>
          <p:nvPr/>
        </p:nvSpPr>
        <p:spPr>
          <a:xfrm>
            <a:off x="5047168" y="4914000"/>
            <a:ext cx="374328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市の広報誌に集約（費用は現状維持）</a:t>
            </a:r>
            <a:endParaRPr lang="en-US" sz="1400" dirty="0"/>
          </a:p>
        </p:txBody>
      </p:sp>
      <p:sp>
        <p:nvSpPr>
          <p:cNvPr id="39" name="Text 36"/>
          <p:cNvSpPr txBox="1"/>
          <p:nvPr/>
        </p:nvSpPr>
        <p:spPr>
          <a:xfrm>
            <a:off x="8836168" y="4914000"/>
            <a:ext cx="868680" cy="7772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0" name="Shape 37"/>
          <p:cNvSpPr/>
          <p:nvPr/>
        </p:nvSpPr>
        <p:spPr>
          <a:xfrm>
            <a:off x="4626544" y="3651671"/>
            <a:ext cx="130759" cy="261518"/>
          </a:xfrm>
          <a:custGeom>
            <a:avLst/>
            <a:gdLst/>
            <a:ahLst/>
            <a:cxnLst/>
            <a:rect l="l" t="t" r="r" b="b"/>
            <a:pathLst>
              <a:path w="130759" h="261518">
                <a:moveTo>
                  <a:pt x="0" y="0"/>
                </a:moveTo>
                <a:lnTo>
                  <a:pt x="130759" y="130759"/>
                </a:lnTo>
                <a:lnTo>
                  <a:pt x="0" y="261518"/>
                </a:lnTo>
                <a:close/>
              </a:path>
            </a:pathLst>
          </a:custGeom>
          <a:solidFill>
            <a:srgbClr val="7F7F7F"/>
          </a:solidFill>
          <a:ln/>
        </p:spPr>
      </p:sp>
      <p:sp>
        <p:nvSpPr>
          <p:cNvPr id="41" name="Shape 38"/>
          <p:cNvSpPr/>
          <p:nvPr/>
        </p:nvSpPr>
        <p:spPr>
          <a:xfrm>
            <a:off x="4724613" y="3660586"/>
            <a:ext cx="109659" cy="243688"/>
          </a:xfrm>
          <a:custGeom>
            <a:avLst/>
            <a:gdLst/>
            <a:ahLst/>
            <a:cxnLst/>
            <a:rect l="l" t="t" r="r" b="b"/>
            <a:pathLst>
              <a:path w="109659" h="243688">
                <a:moveTo>
                  <a:pt x="0" y="0"/>
                </a:moveTo>
                <a:lnTo>
                  <a:pt x="109659" y="121844"/>
                </a:lnTo>
                <a:lnTo>
                  <a:pt x="0" y="243688"/>
                </a:lnTo>
              </a:path>
            </a:pathLst>
          </a:custGeom>
          <a:ln w="26829">
            <a:solidFill>
              <a:srgbClr val="7F7F7F"/>
            </a:solidFill>
            <a:prstDash val="solid"/>
          </a:ln>
        </p:spPr>
      </p:sp>
      <p:sp>
        <p:nvSpPr>
          <p:cNvPr id="42" name="Text 39"/>
          <p:cNvSpPr txBox="1"/>
          <p:nvPr/>
        </p:nvSpPr>
        <p:spPr>
          <a:xfrm>
            <a:off x="200848" y="5855832"/>
            <a:ext cx="429768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合計　6,800</a:t>
            </a:r>
            <a:endParaRPr lang="en-US" sz="1200" dirty="0"/>
          </a:p>
        </p:txBody>
      </p:sp>
      <p:sp>
        <p:nvSpPr>
          <p:cNvPr id="43" name="Text 40"/>
          <p:cNvSpPr txBox="1"/>
          <p:nvPr/>
        </p:nvSpPr>
        <p:spPr>
          <a:xfrm>
            <a:off x="5047168" y="5855832"/>
            <a:ext cx="4657680" cy="292608"/>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削減　−5,400（79%）</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新しい仕組みでは予約センターが市と交通事業者の間に入り、予約と委託料の流れを一本化する。利用者は1つの窓口で、すべての便を予約できる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CCCCCC"/>
            </a:solidFill>
            <a:prstDash val="solid"/>
          </a:ln>
        </p:spPr>
      </p:sp>
      <p:sp>
        <p:nvSpPr>
          <p:cNvPr id="13" name="Text 10"/>
          <p:cNvSpPr txBox="1"/>
          <p:nvPr/>
        </p:nvSpPr>
        <p:spPr>
          <a:xfrm>
            <a:off x="36576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4" name="Shape 11"/>
          <p:cNvSpPr/>
          <p:nvPr/>
        </p:nvSpPr>
        <p:spPr>
          <a:xfrm>
            <a:off x="4434840" y="2194560"/>
            <a:ext cx="1005840" cy="1005840"/>
          </a:xfrm>
          <a:prstGeom prst="ellipse">
            <a:avLst/>
          </a:prstGeom>
          <a:solidFill>
            <a:srgbClr val="FFFFFF"/>
          </a:solidFill>
          <a:ln w="25400">
            <a:solidFill>
              <a:srgbClr val="000F78"/>
            </a:solidFill>
            <a:prstDash val="solid"/>
          </a:ln>
        </p:spPr>
      </p:sp>
      <p:sp>
        <p:nvSpPr>
          <p:cNvPr id="15" name="Text 12"/>
          <p:cNvSpPr txBox="1"/>
          <p:nvPr/>
        </p:nvSpPr>
        <p:spPr>
          <a:xfrm>
            <a:off x="3886200" y="3273552"/>
            <a:ext cx="21031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予約センター</a:t>
            </a:r>
            <a:endParaRPr lang="en-US" sz="1400" dirty="0"/>
          </a:p>
        </p:txBody>
      </p:sp>
      <p:sp>
        <p:nvSpPr>
          <p:cNvPr id="16" name="Shape 13"/>
          <p:cNvSpPr/>
          <p:nvPr/>
        </p:nvSpPr>
        <p:spPr>
          <a:xfrm>
            <a:off x="7955280" y="2651760"/>
            <a:ext cx="1005840" cy="1005840"/>
          </a:xfrm>
          <a:prstGeom prst="ellipse">
            <a:avLst/>
          </a:prstGeom>
          <a:solidFill>
            <a:srgbClr val="FFFFFF"/>
          </a:solidFill>
          <a:ln w="12700">
            <a:solidFill>
              <a:srgbClr val="CCCCCC"/>
            </a:solidFill>
            <a:prstDash val="solid"/>
          </a:ln>
        </p:spPr>
      </p:sp>
      <p:sp>
        <p:nvSpPr>
          <p:cNvPr id="17" name="Text 14"/>
          <p:cNvSpPr txBox="1"/>
          <p:nvPr/>
        </p:nvSpPr>
        <p:spPr>
          <a:xfrm>
            <a:off x="7406640" y="373075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交通事業者</a:t>
            </a:r>
            <a:endParaRPr lang="en-US" sz="1400" dirty="0"/>
          </a:p>
        </p:txBody>
      </p:sp>
      <p:sp>
        <p:nvSpPr>
          <p:cNvPr id="18" name="Shape 15"/>
          <p:cNvSpPr/>
          <p:nvPr/>
        </p:nvSpPr>
        <p:spPr>
          <a:xfrm>
            <a:off x="4434840" y="4572000"/>
            <a:ext cx="1005840" cy="1005840"/>
          </a:xfrm>
          <a:prstGeom prst="ellipse">
            <a:avLst/>
          </a:prstGeom>
          <a:solidFill>
            <a:srgbClr val="FFFFFF"/>
          </a:solidFill>
          <a:ln w="12700">
            <a:solidFill>
              <a:srgbClr val="CCCCCC"/>
            </a:solidFill>
            <a:prstDash val="solid"/>
          </a:ln>
        </p:spPr>
      </p:sp>
      <p:sp>
        <p:nvSpPr>
          <p:cNvPr id="19" name="Text 16"/>
          <p:cNvSpPr txBox="1"/>
          <p:nvPr/>
        </p:nvSpPr>
        <p:spPr>
          <a:xfrm>
            <a:off x="3886200" y="5650992"/>
            <a:ext cx="210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0" name="Shape 17"/>
          <p:cNvSpPr/>
          <p:nvPr/>
        </p:nvSpPr>
        <p:spPr>
          <a:xfrm>
            <a:off x="2011680" y="3108960"/>
            <a:ext cx="2331720" cy="-320040"/>
          </a:xfrm>
          <a:prstGeom prst="line">
            <a:avLst/>
          </a:prstGeom>
          <a:noFill/>
          <a:ln w="22225">
            <a:solidFill>
              <a:srgbClr val="000F78"/>
            </a:solidFill>
            <a:prstDash val="solid"/>
            <a:tailEnd type="triangle"/>
          </a:ln>
        </p:spPr>
      </p:sp>
      <p:sp>
        <p:nvSpPr>
          <p:cNvPr id="21" name="Text 18"/>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委託料</a:t>
            </a:r>
            <a:endParaRPr lang="en-US" sz="1400" dirty="0"/>
          </a:p>
        </p:txBody>
      </p:sp>
      <p:sp>
        <p:nvSpPr>
          <p:cNvPr id="22" name="Shape 19"/>
          <p:cNvSpPr/>
          <p:nvPr/>
        </p:nvSpPr>
        <p:spPr>
          <a:xfrm>
            <a:off x="5532120" y="2788920"/>
            <a:ext cx="2331720" cy="320040"/>
          </a:xfrm>
          <a:prstGeom prst="line">
            <a:avLst/>
          </a:prstGeom>
          <a:noFill/>
          <a:ln w="22225">
            <a:solidFill>
              <a:srgbClr val="000F78"/>
            </a:solidFill>
            <a:prstDash val="solid"/>
            <a:tailEnd type="triangle"/>
          </a:ln>
        </p:spPr>
      </p:sp>
      <p:sp>
        <p:nvSpPr>
          <p:cNvPr id="23" name="Text 20"/>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予約データ</a:t>
            </a:r>
            <a:endParaRPr lang="en-US" sz="1400" dirty="0"/>
          </a:p>
        </p:txBody>
      </p:sp>
      <p:sp>
        <p:nvSpPr>
          <p:cNvPr id="24" name="Shape 21"/>
          <p:cNvSpPr/>
          <p:nvPr/>
        </p:nvSpPr>
        <p:spPr>
          <a:xfrm>
            <a:off x="4937760" y="4114800"/>
            <a:ext cx="0" cy="411480"/>
          </a:xfrm>
          <a:prstGeom prst="line">
            <a:avLst/>
          </a:prstGeom>
          <a:noFill/>
          <a:ln w="12700">
            <a:solidFill>
              <a:srgbClr val="7F7F7F"/>
            </a:solidFill>
            <a:prstDash val="solid"/>
            <a:tailEnd type="triangle"/>
          </a:ln>
        </p:spPr>
      </p:sp>
      <p:sp>
        <p:nvSpPr>
          <p:cNvPr id="25" name="Text 22"/>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a:t>
            </a:r>
            <a:endParaRPr lang="en-US" sz="1400" dirty="0"/>
          </a:p>
        </p:txBody>
      </p:sp>
      <p:pic>
        <p:nvPicPr>
          <p:cNvPr id="26" name="Image 0" descr="building-2">    </p:cNvPr>
          <p:cNvPicPr>
            <a:picLocks noChangeAspect="1"/>
          </p:cNvPicPr>
          <p:nvPr/>
        </p:nvPicPr>
        <p:blipFill>
          <a:blip r:embed="rId1"/>
          <a:stretch>
            <a:fillRect/>
          </a:stretch>
        </p:blipFill>
        <p:spPr>
          <a:xfrm>
            <a:off x="1143000" y="2880360"/>
            <a:ext cx="548640" cy="548640"/>
          </a:xfrm>
          <a:prstGeom prst="rect">
            <a:avLst/>
          </a:prstGeom>
        </p:spPr>
      </p:pic>
      <p:pic>
        <p:nvPicPr>
          <p:cNvPr id="27" name="Image 1" descr="network">    </p:cNvPr>
          <p:cNvPicPr>
            <a:picLocks noChangeAspect="1"/>
          </p:cNvPicPr>
          <p:nvPr/>
        </p:nvPicPr>
        <p:blipFill>
          <a:blip r:embed="rId2"/>
          <a:stretch>
            <a:fillRect/>
          </a:stretch>
        </p:blipFill>
        <p:spPr>
          <a:xfrm>
            <a:off x="4663440" y="2423160"/>
            <a:ext cx="548640" cy="548640"/>
          </a:xfrm>
          <a:prstGeom prst="rect">
            <a:avLst/>
          </a:prstGeom>
        </p:spPr>
      </p:pic>
      <p:pic>
        <p:nvPicPr>
          <p:cNvPr id="28" name="Image 2" descr="bus">    </p:cNvPr>
          <p:cNvPicPr>
            <a:picLocks noChangeAspect="1"/>
          </p:cNvPicPr>
          <p:nvPr/>
        </p:nvPicPr>
        <p:blipFill>
          <a:blip r:embed="rId3"/>
          <a:stretch>
            <a:fillRect/>
          </a:stretch>
        </p:blipFill>
        <p:spPr>
          <a:xfrm>
            <a:off x="8183880" y="2880360"/>
            <a:ext cx="548640" cy="548640"/>
          </a:xfrm>
          <a:prstGeom prst="rect">
            <a:avLst/>
          </a:prstGeom>
        </p:spPr>
      </p:pic>
      <p:pic>
        <p:nvPicPr>
          <p:cNvPr id="29" name="Image 3" descr="users">    </p:cNvPr>
          <p:cNvPicPr>
            <a:picLocks noChangeAspect="1"/>
          </p:cNvPicPr>
          <p:nvPr/>
        </p:nvPicPr>
        <p:blipFill>
          <a:blip r:embed="rId4"/>
          <a:stretch>
            <a:fillRect/>
          </a:stretch>
        </p:blipFill>
        <p:spPr>
          <a:xfrm>
            <a:off x="4663440" y="4800600"/>
            <a:ext cx="54864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転換は2地区での検証から始め、2030年度に全支線で予約型交通に移る。最初の判断点は2027年度末で、利用者の8割が使い続ければ拡大に移る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（2027〜2030年度）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注）判断点の基準値は試行の結果で見直す</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14</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601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334256"/>
            <a:ext cx="9504000" cy="0"/>
          </a:xfrm>
          <a:prstGeom prst="line">
            <a:avLst/>
          </a:prstGeom>
          <a:noFill/>
          <a:ln w="9525">
            <a:solidFill>
              <a:srgbClr val="CCCCCC"/>
            </a:solidFill>
            <a:prstDash val="solid"/>
          </a:ln>
        </p:spPr>
      </p:sp>
      <p:sp>
        <p:nvSpPr>
          <p:cNvPr id="16" name="Text 13"/>
          <p:cNvSpPr txBox="1"/>
          <p:nvPr/>
        </p:nvSpPr>
        <p:spPr>
          <a:xfrm>
            <a:off x="200848" y="440740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判断の基準</a:t>
            </a:r>
            <a:endParaRPr lang="en-US" sz="1400" dirty="0"/>
          </a:p>
        </p:txBody>
      </p:sp>
      <p:sp>
        <p:nvSpPr>
          <p:cNvPr id="17" name="Shape 14"/>
          <p:cNvSpPr/>
          <p:nvPr/>
        </p:nvSpPr>
        <p:spPr>
          <a:xfrm>
            <a:off x="200848" y="5111496"/>
            <a:ext cx="9504000" cy="0"/>
          </a:xfrm>
          <a:prstGeom prst="line">
            <a:avLst/>
          </a:prstGeom>
          <a:noFill/>
          <a:ln w="9525">
            <a:solidFill>
              <a:srgbClr val="CCCCCC"/>
            </a:solidFill>
            <a:prstDash val="solid"/>
          </a:ln>
        </p:spPr>
      </p:sp>
      <p:sp>
        <p:nvSpPr>
          <p:cNvPr id="18" name="Text 15"/>
          <p:cNvSpPr txBox="1"/>
          <p:nvPr/>
        </p:nvSpPr>
        <p:spPr>
          <a:xfrm>
            <a:off x="200848" y="518464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検証</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2027年度</a:t>
            </a:r>
            <a:endParaRPr lang="en-US" sz="1200" dirty="0"/>
          </a:p>
        </p:txBody>
      </p:sp>
      <p:sp>
        <p:nvSpPr>
          <p:cNvPr id="22" name="Text 19"/>
          <p:cNvSpPr txBox="1"/>
          <p:nvPr/>
        </p:nvSpPr>
        <p:spPr>
          <a:xfrm>
            <a:off x="170960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2地区で予約型を試行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利用と費用を測る</a:t>
            </a:r>
            <a:endParaRPr lang="en-US" sz="1400" dirty="0"/>
          </a:p>
        </p:txBody>
      </p:sp>
      <p:sp>
        <p:nvSpPr>
          <p:cNvPr id="23" name="Text 20"/>
          <p:cNvSpPr txBox="1"/>
          <p:nvPr/>
        </p:nvSpPr>
        <p:spPr>
          <a:xfrm>
            <a:off x="1709608" y="4407408"/>
            <a:ext cx="20554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24" name="Text 21"/>
          <p:cNvSpPr txBox="1"/>
          <p:nvPr/>
        </p:nvSpPr>
        <p:spPr>
          <a:xfrm>
            <a:off x="170960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みなと市・バス会社</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拡大</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2028〜29年度</a:t>
            </a:r>
            <a:endParaRPr lang="en-US" sz="1200" dirty="0"/>
          </a:p>
        </p:txBody>
      </p:sp>
      <p:sp>
        <p:nvSpPr>
          <p:cNvPr id="28" name="Text 25"/>
          <p:cNvSpPr txBox="1"/>
          <p:nvPr/>
        </p:nvSpPr>
        <p:spPr>
          <a:xfrm>
            <a:off x="445088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支線を6路線ずつ転換</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運転士を幹線へ再配置</a:t>
            </a:r>
            <a:endParaRPr lang="en-US" sz="1400" dirty="0"/>
          </a:p>
        </p:txBody>
      </p:sp>
      <p:sp>
        <p:nvSpPr>
          <p:cNvPr id="29" name="Text 26"/>
          <p:cNvSpPr txBox="1"/>
          <p:nvPr/>
        </p:nvSpPr>
        <p:spPr>
          <a:xfrm>
            <a:off x="445088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1便当たり乗車 2.0人以上</a:t>
            </a:r>
            <a:endParaRPr lang="en-US" sz="1400" dirty="0"/>
          </a:p>
        </p:txBody>
      </p:sp>
      <p:sp>
        <p:nvSpPr>
          <p:cNvPr id="30" name="Text 27"/>
          <p:cNvSpPr txBox="1"/>
          <p:nvPr/>
        </p:nvSpPr>
        <p:spPr>
          <a:xfrm>
            <a:off x="445088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バス会社・予約センター</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本格展開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2030年度〜</a:t>
            </a:r>
            <a:endParaRPr lang="en-US" sz="1200" dirty="0"/>
          </a:p>
        </p:txBody>
      </p:sp>
      <p:sp>
        <p:nvSpPr>
          <p:cNvPr id="34" name="Text 31"/>
          <p:cNvSpPr txBox="1"/>
          <p:nvPr/>
        </p:nvSpPr>
        <p:spPr>
          <a:xfrm>
            <a:off x="7192168" y="3310128"/>
            <a:ext cx="2421240" cy="9601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全12支線で運行</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5" name="Text 32"/>
          <p:cNvSpPr txBox="1"/>
          <p:nvPr/>
        </p:nvSpPr>
        <p:spPr>
          <a:xfrm>
            <a:off x="7192168" y="4407408"/>
            <a:ext cx="2421240"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 2.1億円以下</a:t>
            </a:r>
            <a:endParaRPr lang="en-US" sz="1400" dirty="0"/>
          </a:p>
        </p:txBody>
      </p:sp>
      <p:sp>
        <p:nvSpPr>
          <p:cNvPr id="36" name="Text 33"/>
          <p:cNvSpPr txBox="1"/>
          <p:nvPr/>
        </p:nvSpPr>
        <p:spPr>
          <a:xfrm>
            <a:off x="7192168" y="518464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37" name="Shape 34"/>
          <p:cNvSpPr/>
          <p:nvPr/>
        </p:nvSpPr>
        <p:spPr>
          <a:xfrm>
            <a:off x="3883960" y="4590288"/>
            <a:ext cx="310896" cy="310896"/>
          </a:xfrm>
          <a:prstGeom prst="diamond">
            <a:avLst/>
          </a:prstGeom>
          <a:solidFill>
            <a:srgbClr val="7F7F7F"/>
          </a:solidFill>
          <a:ln/>
        </p:spPr>
      </p:sp>
      <p:sp>
        <p:nvSpPr>
          <p:cNvPr id="38" name="Text 35"/>
          <p:cNvSpPr txBox="1"/>
          <p:nvPr/>
        </p:nvSpPr>
        <p:spPr>
          <a:xfrm>
            <a:off x="1618168" y="591616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判断点：2027年度末に、継続利用率で拡大の可否を決める</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運賃収入の減少1.1億円のうち8割は、利用者数の減少で説明できる。中でも通学定期の減少の寄与が最も大きく、対策の優先度が最も高い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運賃収入の減少の要因分解</a:t>
            </a:r>
            <a:pPr indent="0" marL="0">
              <a:buNone/>
            </a:pPr>
            <a:r>
              <a:rPr lang="en-US" sz="1100" dirty="0">
                <a:solidFill>
                  <a:srgbClr val="3F3F3F"/>
                </a:solidFill>
                <a:latin typeface="Yu Gothic UI" pitchFamily="34" charset="0"/>
                <a:ea typeface="Yu Gothic UI" pitchFamily="34" charset="-122"/>
                <a:cs typeface="Yu Gothic UI" pitchFamily="34" charset="-120"/>
              </a:rPr>
              <a:t>　（億円、2015→2025年度）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注）単価の影響＝利用者数を2015年度に固定したときの運賃収入の差。利用者数の影響は単価を2015年度に固定して算出し、両者の交差分は利用者数の影響に含めた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00848" y="3429000"/>
            <a:ext cx="1384793" cy="566928"/>
          </a:xfrm>
          <a:prstGeom prst="rect">
            <a:avLst/>
          </a:prstGeom>
          <a:solidFill>
            <a:srgbClr val="FFFFFF"/>
          </a:solidFill>
          <a:ln w="9525">
            <a:solidFill>
              <a:srgbClr val="7F7F7F"/>
            </a:solidFill>
            <a:prstDash val="solid"/>
          </a:ln>
        </p:spPr>
      </p:sp>
      <p:sp>
        <p:nvSpPr>
          <p:cNvPr id="13" name="Text 10"/>
          <p:cNvSpPr txBox="1"/>
          <p:nvPr/>
        </p:nvSpPr>
        <p:spPr>
          <a:xfrm>
            <a:off x="261056" y="3429000"/>
            <a:ext cx="12643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 −1.1</a:t>
            </a:r>
            <a:endParaRPr lang="en-US" sz="1400" dirty="0"/>
          </a:p>
        </p:txBody>
      </p:sp>
      <p:sp>
        <p:nvSpPr>
          <p:cNvPr id="14" name="Shape 11"/>
          <p:cNvSpPr/>
          <p:nvPr/>
        </p:nvSpPr>
        <p:spPr>
          <a:xfrm>
            <a:off x="2115685" y="2423160"/>
            <a:ext cx="1445001" cy="566928"/>
          </a:xfrm>
          <a:prstGeom prst="rect">
            <a:avLst/>
          </a:prstGeom>
          <a:solidFill>
            <a:srgbClr val="FFFFFF"/>
          </a:solidFill>
          <a:ln w="22225">
            <a:solidFill>
              <a:srgbClr val="000F78"/>
            </a:solidFill>
            <a:prstDash val="solid"/>
          </a:ln>
        </p:spPr>
      </p:sp>
      <p:sp>
        <p:nvSpPr>
          <p:cNvPr id="15" name="Text 12"/>
          <p:cNvSpPr txBox="1"/>
          <p:nvPr/>
        </p:nvSpPr>
        <p:spPr>
          <a:xfrm>
            <a:off x="2175894" y="2423160"/>
            <a:ext cx="13245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 −0.9</a:t>
            </a:r>
            <a:endParaRPr lang="en-US" sz="1400" dirty="0"/>
          </a:p>
        </p:txBody>
      </p:sp>
      <p:sp>
        <p:nvSpPr>
          <p:cNvPr id="16" name="Shape 13"/>
          <p:cNvSpPr/>
          <p:nvPr/>
        </p:nvSpPr>
        <p:spPr>
          <a:xfrm>
            <a:off x="2115685" y="4434840"/>
            <a:ext cx="1445001" cy="566928"/>
          </a:xfrm>
          <a:prstGeom prst="rect">
            <a:avLst/>
          </a:prstGeom>
          <a:solidFill>
            <a:srgbClr val="FFFFFF"/>
          </a:solidFill>
          <a:ln w="9525">
            <a:solidFill>
              <a:srgbClr val="7F7F7F"/>
            </a:solidFill>
            <a:prstDash val="solid"/>
          </a:ln>
        </p:spPr>
      </p:sp>
      <p:sp>
        <p:nvSpPr>
          <p:cNvPr id="17" name="Text 14"/>
          <p:cNvSpPr txBox="1"/>
          <p:nvPr/>
        </p:nvSpPr>
        <p:spPr>
          <a:xfrm>
            <a:off x="2175894" y="4434840"/>
            <a:ext cx="13245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 −0.2</a:t>
            </a:r>
            <a:endParaRPr lang="en-US" sz="1400" dirty="0"/>
          </a:p>
        </p:txBody>
      </p:sp>
      <p:sp>
        <p:nvSpPr>
          <p:cNvPr id="18" name="Text 15"/>
          <p:cNvSpPr txBox="1"/>
          <p:nvPr/>
        </p:nvSpPr>
        <p:spPr>
          <a:xfrm>
            <a:off x="2687665" y="3611880"/>
            <a:ext cx="457200" cy="36576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4222979" y="1920240"/>
            <a:ext cx="2167502" cy="566928"/>
          </a:xfrm>
          <a:prstGeom prst="rect">
            <a:avLst/>
          </a:prstGeom>
          <a:solidFill>
            <a:srgbClr val="FFFFFF"/>
          </a:solidFill>
          <a:ln w="22225">
            <a:solidFill>
              <a:srgbClr val="000F78"/>
            </a:solidFill>
            <a:prstDash val="solid"/>
          </a:ln>
        </p:spPr>
      </p:sp>
      <p:sp>
        <p:nvSpPr>
          <p:cNvPr id="20" name="Text 17"/>
          <p:cNvSpPr txBox="1"/>
          <p:nvPr/>
        </p:nvSpPr>
        <p:spPr>
          <a:xfrm>
            <a:off x="4283187" y="1920240"/>
            <a:ext cx="2047085"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通学定期の減少 −0.5</a:t>
            </a:r>
            <a:endParaRPr lang="en-US" sz="1400" dirty="0"/>
          </a:p>
        </p:txBody>
      </p:sp>
      <p:sp>
        <p:nvSpPr>
          <p:cNvPr id="21" name="Shape 18"/>
          <p:cNvSpPr/>
          <p:nvPr/>
        </p:nvSpPr>
        <p:spPr>
          <a:xfrm>
            <a:off x="4222979" y="2697480"/>
            <a:ext cx="2167502" cy="566928"/>
          </a:xfrm>
          <a:prstGeom prst="rect">
            <a:avLst/>
          </a:prstGeom>
          <a:solidFill>
            <a:srgbClr val="FFFFFF"/>
          </a:solidFill>
          <a:ln w="9525">
            <a:solidFill>
              <a:srgbClr val="7F7F7F"/>
            </a:solidFill>
            <a:prstDash val="solid"/>
          </a:ln>
        </p:spPr>
      </p:sp>
      <p:sp>
        <p:nvSpPr>
          <p:cNvPr id="22" name="Text 19"/>
          <p:cNvSpPr txBox="1"/>
          <p:nvPr/>
        </p:nvSpPr>
        <p:spPr>
          <a:xfrm>
            <a:off x="4283187" y="2697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高齢者の外出減 −0.4</a:t>
            </a:r>
            <a:endParaRPr lang="en-US" sz="1400" dirty="0"/>
          </a:p>
        </p:txBody>
      </p:sp>
      <p:sp>
        <p:nvSpPr>
          <p:cNvPr id="23" name="Shape 20"/>
          <p:cNvSpPr/>
          <p:nvPr/>
        </p:nvSpPr>
        <p:spPr>
          <a:xfrm>
            <a:off x="4222979" y="4114800"/>
            <a:ext cx="2167502" cy="566928"/>
          </a:xfrm>
          <a:prstGeom prst="rect">
            <a:avLst/>
          </a:prstGeom>
          <a:solidFill>
            <a:srgbClr val="FFFFFF"/>
          </a:solidFill>
          <a:ln w="9525">
            <a:solidFill>
              <a:srgbClr val="7F7F7F"/>
            </a:solidFill>
            <a:prstDash val="solid"/>
          </a:ln>
        </p:spPr>
      </p:sp>
      <p:sp>
        <p:nvSpPr>
          <p:cNvPr id="24" name="Text 21"/>
          <p:cNvSpPr txBox="1"/>
          <p:nvPr/>
        </p:nvSpPr>
        <p:spPr>
          <a:xfrm>
            <a:off x="4283187" y="411480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割引の拡大 −0.15</a:t>
            </a:r>
            <a:endParaRPr lang="en-US" sz="1400" dirty="0"/>
          </a:p>
        </p:txBody>
      </p:sp>
      <p:sp>
        <p:nvSpPr>
          <p:cNvPr id="25" name="Shape 22"/>
          <p:cNvSpPr/>
          <p:nvPr/>
        </p:nvSpPr>
        <p:spPr>
          <a:xfrm>
            <a:off x="4222979" y="4983480"/>
            <a:ext cx="2167502" cy="566928"/>
          </a:xfrm>
          <a:prstGeom prst="rect">
            <a:avLst/>
          </a:prstGeom>
          <a:solidFill>
            <a:srgbClr val="FFFFFF"/>
          </a:solidFill>
          <a:ln w="9525">
            <a:solidFill>
              <a:srgbClr val="7F7F7F"/>
            </a:solidFill>
            <a:prstDash val="solid"/>
          </a:ln>
        </p:spPr>
      </p:sp>
      <p:sp>
        <p:nvSpPr>
          <p:cNvPr id="26" name="Text 23"/>
          <p:cNvSpPr txBox="1"/>
          <p:nvPr/>
        </p:nvSpPr>
        <p:spPr>
          <a:xfrm>
            <a:off x="4283187" y="4983480"/>
            <a:ext cx="2047085"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乗継ぎ割引 −0.05</a:t>
            </a:r>
            <a:endParaRPr lang="en-US" sz="1400" dirty="0"/>
          </a:p>
        </p:txBody>
      </p:sp>
      <p:sp>
        <p:nvSpPr>
          <p:cNvPr id="27" name="Shape 24"/>
          <p:cNvSpPr/>
          <p:nvPr/>
        </p:nvSpPr>
        <p:spPr>
          <a:xfrm>
            <a:off x="1585641" y="3712464"/>
            <a:ext cx="265022" cy="0"/>
          </a:xfrm>
          <a:prstGeom prst="line">
            <a:avLst/>
          </a:prstGeom>
          <a:noFill/>
          <a:ln w="12700">
            <a:solidFill>
              <a:srgbClr val="000F78"/>
            </a:solidFill>
            <a:prstDash val="solid"/>
          </a:ln>
        </p:spPr>
      </p:sp>
      <p:sp>
        <p:nvSpPr>
          <p:cNvPr id="28" name="Shape 25"/>
          <p:cNvSpPr/>
          <p:nvPr/>
        </p:nvSpPr>
        <p:spPr>
          <a:xfrm>
            <a:off x="1850663" y="2706624"/>
            <a:ext cx="0" cy="1005840"/>
          </a:xfrm>
          <a:prstGeom prst="line">
            <a:avLst/>
          </a:prstGeom>
          <a:noFill/>
          <a:ln w="12700">
            <a:solidFill>
              <a:srgbClr val="000F78"/>
            </a:solidFill>
            <a:prstDash val="solid"/>
          </a:ln>
        </p:spPr>
      </p:sp>
      <p:sp>
        <p:nvSpPr>
          <p:cNvPr id="29" name="Shape 26"/>
          <p:cNvSpPr/>
          <p:nvPr/>
        </p:nvSpPr>
        <p:spPr>
          <a:xfrm>
            <a:off x="1850663" y="2706624"/>
            <a:ext cx="265022" cy="0"/>
          </a:xfrm>
          <a:prstGeom prst="line">
            <a:avLst/>
          </a:prstGeom>
          <a:noFill/>
          <a:ln w="12700">
            <a:solidFill>
              <a:srgbClr val="000F78"/>
            </a:solidFill>
            <a:prstDash val="solid"/>
          </a:ln>
        </p:spPr>
      </p:sp>
      <p:sp>
        <p:nvSpPr>
          <p:cNvPr id="30" name="Shape 27"/>
          <p:cNvSpPr/>
          <p:nvPr/>
        </p:nvSpPr>
        <p:spPr>
          <a:xfrm>
            <a:off x="1585641" y="3712464"/>
            <a:ext cx="265022" cy="0"/>
          </a:xfrm>
          <a:prstGeom prst="line">
            <a:avLst/>
          </a:prstGeom>
          <a:noFill/>
          <a:ln w="12700">
            <a:solidFill>
              <a:srgbClr val="CCCCCC"/>
            </a:solidFill>
            <a:prstDash val="solid"/>
          </a:ln>
        </p:spPr>
      </p:sp>
      <p:sp>
        <p:nvSpPr>
          <p:cNvPr id="31" name="Shape 28"/>
          <p:cNvSpPr/>
          <p:nvPr/>
        </p:nvSpPr>
        <p:spPr>
          <a:xfrm>
            <a:off x="1850663" y="3712464"/>
            <a:ext cx="0" cy="1005840"/>
          </a:xfrm>
          <a:prstGeom prst="line">
            <a:avLst/>
          </a:prstGeom>
          <a:noFill/>
          <a:ln w="12700">
            <a:solidFill>
              <a:srgbClr val="CCCCCC"/>
            </a:solidFill>
            <a:prstDash val="solid"/>
          </a:ln>
        </p:spPr>
      </p:sp>
      <p:sp>
        <p:nvSpPr>
          <p:cNvPr id="32" name="Shape 29"/>
          <p:cNvSpPr/>
          <p:nvPr/>
        </p:nvSpPr>
        <p:spPr>
          <a:xfrm>
            <a:off x="1850663" y="4718304"/>
            <a:ext cx="265022" cy="0"/>
          </a:xfrm>
          <a:prstGeom prst="line">
            <a:avLst/>
          </a:prstGeom>
          <a:noFill/>
          <a:ln w="12700">
            <a:solidFill>
              <a:srgbClr val="CCCCCC"/>
            </a:solidFill>
            <a:prstDash val="solid"/>
          </a:ln>
        </p:spPr>
      </p:sp>
      <p:sp>
        <p:nvSpPr>
          <p:cNvPr id="33" name="Shape 30"/>
          <p:cNvSpPr/>
          <p:nvPr/>
        </p:nvSpPr>
        <p:spPr>
          <a:xfrm>
            <a:off x="3560687" y="2706624"/>
            <a:ext cx="331146" cy="0"/>
          </a:xfrm>
          <a:prstGeom prst="line">
            <a:avLst/>
          </a:prstGeom>
          <a:noFill/>
          <a:ln w="12700">
            <a:solidFill>
              <a:srgbClr val="000F78"/>
            </a:solidFill>
            <a:prstDash val="solid"/>
          </a:ln>
        </p:spPr>
      </p:sp>
      <p:sp>
        <p:nvSpPr>
          <p:cNvPr id="34" name="Shape 31"/>
          <p:cNvSpPr/>
          <p:nvPr/>
        </p:nvSpPr>
        <p:spPr>
          <a:xfrm>
            <a:off x="3891833" y="2203704"/>
            <a:ext cx="0" cy="502920"/>
          </a:xfrm>
          <a:prstGeom prst="line">
            <a:avLst/>
          </a:prstGeom>
          <a:noFill/>
          <a:ln w="12700">
            <a:solidFill>
              <a:srgbClr val="000F78"/>
            </a:solidFill>
            <a:prstDash val="solid"/>
          </a:ln>
        </p:spPr>
      </p:sp>
      <p:sp>
        <p:nvSpPr>
          <p:cNvPr id="35" name="Shape 32"/>
          <p:cNvSpPr/>
          <p:nvPr/>
        </p:nvSpPr>
        <p:spPr>
          <a:xfrm>
            <a:off x="3891833" y="2203704"/>
            <a:ext cx="331146" cy="0"/>
          </a:xfrm>
          <a:prstGeom prst="line">
            <a:avLst/>
          </a:prstGeom>
          <a:noFill/>
          <a:ln w="12700">
            <a:solidFill>
              <a:srgbClr val="000F78"/>
            </a:solidFill>
            <a:prstDash val="solid"/>
          </a:ln>
        </p:spPr>
      </p:sp>
      <p:sp>
        <p:nvSpPr>
          <p:cNvPr id="36" name="Shape 33"/>
          <p:cNvSpPr/>
          <p:nvPr/>
        </p:nvSpPr>
        <p:spPr>
          <a:xfrm>
            <a:off x="3560687" y="2706624"/>
            <a:ext cx="331146" cy="0"/>
          </a:xfrm>
          <a:prstGeom prst="line">
            <a:avLst/>
          </a:prstGeom>
          <a:noFill/>
          <a:ln w="12700">
            <a:solidFill>
              <a:srgbClr val="CCCCCC"/>
            </a:solidFill>
            <a:prstDash val="solid"/>
          </a:ln>
        </p:spPr>
      </p:sp>
      <p:sp>
        <p:nvSpPr>
          <p:cNvPr id="37" name="Shape 34"/>
          <p:cNvSpPr/>
          <p:nvPr/>
        </p:nvSpPr>
        <p:spPr>
          <a:xfrm>
            <a:off x="3891833" y="2706624"/>
            <a:ext cx="0" cy="274320"/>
          </a:xfrm>
          <a:prstGeom prst="line">
            <a:avLst/>
          </a:prstGeom>
          <a:noFill/>
          <a:ln w="12700">
            <a:solidFill>
              <a:srgbClr val="CCCCCC"/>
            </a:solidFill>
            <a:prstDash val="solid"/>
          </a:ln>
        </p:spPr>
      </p:sp>
      <p:sp>
        <p:nvSpPr>
          <p:cNvPr id="38" name="Shape 35"/>
          <p:cNvSpPr/>
          <p:nvPr/>
        </p:nvSpPr>
        <p:spPr>
          <a:xfrm>
            <a:off x="3891833" y="2980944"/>
            <a:ext cx="331146" cy="0"/>
          </a:xfrm>
          <a:prstGeom prst="line">
            <a:avLst/>
          </a:prstGeom>
          <a:noFill/>
          <a:ln w="12700">
            <a:solidFill>
              <a:srgbClr val="CCCCCC"/>
            </a:solidFill>
            <a:prstDash val="solid"/>
          </a:ln>
        </p:spPr>
      </p:sp>
      <p:sp>
        <p:nvSpPr>
          <p:cNvPr id="39" name="Shape 36"/>
          <p:cNvSpPr/>
          <p:nvPr/>
        </p:nvSpPr>
        <p:spPr>
          <a:xfrm>
            <a:off x="3560687" y="4718304"/>
            <a:ext cx="331146" cy="0"/>
          </a:xfrm>
          <a:prstGeom prst="line">
            <a:avLst/>
          </a:prstGeom>
          <a:noFill/>
          <a:ln w="12700">
            <a:solidFill>
              <a:srgbClr val="CCCCCC"/>
            </a:solidFill>
            <a:prstDash val="solid"/>
          </a:ln>
        </p:spPr>
      </p:sp>
      <p:sp>
        <p:nvSpPr>
          <p:cNvPr id="40" name="Shape 37"/>
          <p:cNvSpPr/>
          <p:nvPr/>
        </p:nvSpPr>
        <p:spPr>
          <a:xfrm>
            <a:off x="3891833" y="4398264"/>
            <a:ext cx="0" cy="320040"/>
          </a:xfrm>
          <a:prstGeom prst="line">
            <a:avLst/>
          </a:prstGeom>
          <a:noFill/>
          <a:ln w="12700">
            <a:solidFill>
              <a:srgbClr val="CCCCCC"/>
            </a:solidFill>
            <a:prstDash val="solid"/>
          </a:ln>
        </p:spPr>
      </p:sp>
      <p:sp>
        <p:nvSpPr>
          <p:cNvPr id="41" name="Shape 38"/>
          <p:cNvSpPr/>
          <p:nvPr/>
        </p:nvSpPr>
        <p:spPr>
          <a:xfrm>
            <a:off x="3891833" y="4398264"/>
            <a:ext cx="331146" cy="0"/>
          </a:xfrm>
          <a:prstGeom prst="line">
            <a:avLst/>
          </a:prstGeom>
          <a:noFill/>
          <a:ln w="12700">
            <a:solidFill>
              <a:srgbClr val="CCCCCC"/>
            </a:solidFill>
            <a:prstDash val="solid"/>
          </a:ln>
        </p:spPr>
      </p:sp>
      <p:sp>
        <p:nvSpPr>
          <p:cNvPr id="42" name="Shape 39"/>
          <p:cNvSpPr/>
          <p:nvPr/>
        </p:nvSpPr>
        <p:spPr>
          <a:xfrm>
            <a:off x="3560687" y="4718304"/>
            <a:ext cx="331146" cy="0"/>
          </a:xfrm>
          <a:prstGeom prst="line">
            <a:avLst/>
          </a:prstGeom>
          <a:noFill/>
          <a:ln w="12700">
            <a:solidFill>
              <a:srgbClr val="CCCCCC"/>
            </a:solidFill>
            <a:prstDash val="solid"/>
          </a:ln>
        </p:spPr>
      </p:sp>
      <p:sp>
        <p:nvSpPr>
          <p:cNvPr id="43" name="Shape 40"/>
          <p:cNvSpPr/>
          <p:nvPr/>
        </p:nvSpPr>
        <p:spPr>
          <a:xfrm>
            <a:off x="3891833" y="4718304"/>
            <a:ext cx="0" cy="548640"/>
          </a:xfrm>
          <a:prstGeom prst="line">
            <a:avLst/>
          </a:prstGeom>
          <a:noFill/>
          <a:ln w="12700">
            <a:solidFill>
              <a:srgbClr val="CCCCCC"/>
            </a:solidFill>
            <a:prstDash val="solid"/>
          </a:ln>
        </p:spPr>
      </p:sp>
      <p:sp>
        <p:nvSpPr>
          <p:cNvPr id="44" name="Shape 41"/>
          <p:cNvSpPr/>
          <p:nvPr/>
        </p:nvSpPr>
        <p:spPr>
          <a:xfrm>
            <a:off x="3891833" y="5266944"/>
            <a:ext cx="331146" cy="0"/>
          </a:xfrm>
          <a:prstGeom prst="line">
            <a:avLst/>
          </a:prstGeom>
          <a:noFill/>
          <a:ln w="12700">
            <a:solidFill>
              <a:srgbClr val="CCCCCC"/>
            </a:solidFill>
            <a:prstDash val="solid"/>
          </a:ln>
        </p:spPr>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利用者数の減少で0.9億円減った</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減少1.1億円の8割。単価の変化による減少は0.2億円にとどまる。運賃の改定より、乗る人を増やす打ち手が効く。単価を上げても、乗る人が減れば収入は戻らない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通学定期の減少が最大の要因</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利用者数による減少0.9億円のうち0.5億円。高齢者の外出の減少（0.4億円）を上回る。生徒数の減少は続くため、通学定期の回復は見込みにくい。通学に頼らない需要を、通院と買物で掘り起こす</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検討した打ち手のうち効果も実現性も高いのは、支線の予約型交通への転換と幹線の増便である。まずこの2つに資源を集中し、残りは中期の課題とする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3F3F3F"/>
                </a:solidFill>
                <a:latin typeface="Yu Gothic UI" pitchFamily="34" charset="0"/>
                <a:ea typeface="Yu Gothic UI" pitchFamily="34" charset="-122"/>
                <a:cs typeface="Yu Gothic UI" pitchFamily="34" charset="-120"/>
              </a:rPr>
              <a:t>　（縦軸：赤字の削減効果、横軸：2年以内の実現性）</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注）効果は赤字の削減額（年）、実現性は2年以内に着手できるかで評価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3030642" y="1965960"/>
            <a:ext cx="2227710" cy="1965960"/>
          </a:xfrm>
          <a:prstGeom prst="rect">
            <a:avLst/>
          </a:prstGeom>
          <a:solidFill>
            <a:srgbClr val="C1DDF1"/>
          </a:solidFill>
          <a:ln/>
        </p:spPr>
      </p:sp>
      <p:sp>
        <p:nvSpPr>
          <p:cNvPr id="13" name="Shape 10"/>
          <p:cNvSpPr/>
          <p:nvPr/>
        </p:nvSpPr>
        <p:spPr>
          <a:xfrm>
            <a:off x="802932" y="3931920"/>
            <a:ext cx="4455421" cy="0"/>
          </a:xfrm>
          <a:prstGeom prst="line">
            <a:avLst/>
          </a:prstGeom>
          <a:noFill/>
          <a:ln w="12700">
            <a:solidFill>
              <a:srgbClr val="7F7F7F"/>
            </a:solidFill>
            <a:prstDash val="solid"/>
          </a:ln>
        </p:spPr>
      </p:sp>
      <p:sp>
        <p:nvSpPr>
          <p:cNvPr id="14" name="Shape 11"/>
          <p:cNvSpPr/>
          <p:nvPr/>
        </p:nvSpPr>
        <p:spPr>
          <a:xfrm>
            <a:off x="3030642" y="1965960"/>
            <a:ext cx="0" cy="3931920"/>
          </a:xfrm>
          <a:prstGeom prst="line">
            <a:avLst/>
          </a:prstGeom>
          <a:noFill/>
          <a:ln w="12700">
            <a:solidFill>
              <a:srgbClr val="7F7F7F"/>
            </a:solidFill>
            <a:prstDash val="solid"/>
          </a:ln>
        </p:spPr>
      </p:sp>
      <p:sp>
        <p:nvSpPr>
          <p:cNvPr id="15" name="Text 12"/>
          <p:cNvSpPr txBox="1"/>
          <p:nvPr/>
        </p:nvSpPr>
        <p:spPr>
          <a:xfrm>
            <a:off x="200848" y="19659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00848" y="5623560"/>
            <a:ext cx="868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802932" y="5971032"/>
            <a:ext cx="13716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4355227" y="5971032"/>
            <a:ext cx="13716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3120955" y="2057400"/>
            <a:ext cx="27432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893244" y="205740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中期で準備</a:t>
            </a:r>
            <a:endParaRPr lang="en-US" sz="1400" dirty="0"/>
          </a:p>
        </p:txBody>
      </p:sp>
      <p:sp>
        <p:nvSpPr>
          <p:cNvPr id="21" name="Text 18"/>
          <p:cNvSpPr txBox="1"/>
          <p:nvPr/>
        </p:nvSpPr>
        <p:spPr>
          <a:xfrm>
            <a:off x="893244" y="553212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見送り</a:t>
            </a:r>
            <a:endParaRPr lang="en-US" sz="1400" dirty="0"/>
          </a:p>
        </p:txBody>
      </p:sp>
      <p:sp>
        <p:nvSpPr>
          <p:cNvPr id="22" name="Text 19"/>
          <p:cNvSpPr txBox="1"/>
          <p:nvPr/>
        </p:nvSpPr>
        <p:spPr>
          <a:xfrm>
            <a:off x="3120955" y="5532120"/>
            <a:ext cx="27432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手が空けば実施</a:t>
            </a:r>
            <a:endParaRPr lang="en-US" sz="1400" dirty="0"/>
          </a:p>
        </p:txBody>
      </p:sp>
      <p:sp>
        <p:nvSpPr>
          <p:cNvPr id="23" name="Shape 20"/>
          <p:cNvSpPr/>
          <p:nvPr/>
        </p:nvSpPr>
        <p:spPr>
          <a:xfrm>
            <a:off x="3572517" y="2606040"/>
            <a:ext cx="120417" cy="182880"/>
          </a:xfrm>
          <a:prstGeom prst="ellipse">
            <a:avLst/>
          </a:prstGeom>
          <a:solidFill>
            <a:srgbClr val="000F78"/>
          </a:solidFill>
          <a:ln/>
        </p:spPr>
      </p:sp>
      <p:sp>
        <p:nvSpPr>
          <p:cNvPr id="24" name="Text 21"/>
          <p:cNvSpPr txBox="1"/>
          <p:nvPr/>
        </p:nvSpPr>
        <p:spPr>
          <a:xfrm>
            <a:off x="3735080" y="2551176"/>
            <a:ext cx="20116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支線の予約型転換</a:t>
            </a:r>
            <a:endParaRPr lang="en-US" sz="1400" dirty="0"/>
          </a:p>
        </p:txBody>
      </p:sp>
      <p:sp>
        <p:nvSpPr>
          <p:cNvPr id="25" name="Shape 22"/>
          <p:cNvSpPr/>
          <p:nvPr/>
        </p:nvSpPr>
        <p:spPr>
          <a:xfrm>
            <a:off x="3211267" y="3200400"/>
            <a:ext cx="120417" cy="182880"/>
          </a:xfrm>
          <a:prstGeom prst="ellipse">
            <a:avLst/>
          </a:prstGeom>
          <a:solidFill>
            <a:srgbClr val="7F7F7F"/>
          </a:solidFill>
          <a:ln/>
        </p:spPr>
      </p:sp>
      <p:sp>
        <p:nvSpPr>
          <p:cNvPr id="26" name="Text 23"/>
          <p:cNvSpPr txBox="1"/>
          <p:nvPr/>
        </p:nvSpPr>
        <p:spPr>
          <a:xfrm>
            <a:off x="3373830" y="3145536"/>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幹線の増便</a:t>
            </a:r>
            <a:endParaRPr lang="en-US" sz="1400" dirty="0"/>
          </a:p>
        </p:txBody>
      </p:sp>
      <p:sp>
        <p:nvSpPr>
          <p:cNvPr id="27" name="Shape 24"/>
          <p:cNvSpPr/>
          <p:nvPr/>
        </p:nvSpPr>
        <p:spPr>
          <a:xfrm>
            <a:off x="1164182" y="2651760"/>
            <a:ext cx="120417" cy="182880"/>
          </a:xfrm>
          <a:prstGeom prst="ellipse">
            <a:avLst/>
          </a:prstGeom>
          <a:solidFill>
            <a:srgbClr val="7F7F7F"/>
          </a:solidFill>
          <a:ln/>
        </p:spPr>
      </p:sp>
      <p:sp>
        <p:nvSpPr>
          <p:cNvPr id="28" name="Text 25"/>
          <p:cNvSpPr txBox="1"/>
          <p:nvPr/>
        </p:nvSpPr>
        <p:spPr>
          <a:xfrm>
            <a:off x="1326745" y="259689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自動運転の導入</a:t>
            </a:r>
            <a:endParaRPr lang="en-US" sz="1400" dirty="0"/>
          </a:p>
        </p:txBody>
      </p:sp>
      <p:sp>
        <p:nvSpPr>
          <p:cNvPr id="29" name="Shape 26"/>
          <p:cNvSpPr/>
          <p:nvPr/>
        </p:nvSpPr>
        <p:spPr>
          <a:xfrm>
            <a:off x="1645849" y="3383280"/>
            <a:ext cx="120417" cy="182880"/>
          </a:xfrm>
          <a:prstGeom prst="ellipse">
            <a:avLst/>
          </a:prstGeom>
          <a:solidFill>
            <a:srgbClr val="7F7F7F"/>
          </a:solidFill>
          <a:ln/>
        </p:spPr>
      </p:sp>
      <p:sp>
        <p:nvSpPr>
          <p:cNvPr id="30" name="Text 27"/>
          <p:cNvSpPr txBox="1"/>
          <p:nvPr/>
        </p:nvSpPr>
        <p:spPr>
          <a:xfrm>
            <a:off x="1808412" y="332841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企業送迎との統合</a:t>
            </a:r>
            <a:endParaRPr lang="en-US" sz="1400" dirty="0"/>
          </a:p>
        </p:txBody>
      </p:sp>
      <p:sp>
        <p:nvSpPr>
          <p:cNvPr id="31" name="Shape 28"/>
          <p:cNvSpPr/>
          <p:nvPr/>
        </p:nvSpPr>
        <p:spPr>
          <a:xfrm>
            <a:off x="3452101" y="4663440"/>
            <a:ext cx="120417" cy="182880"/>
          </a:xfrm>
          <a:prstGeom prst="ellipse">
            <a:avLst/>
          </a:prstGeom>
          <a:solidFill>
            <a:srgbClr val="7F7F7F"/>
          </a:solidFill>
          <a:ln/>
        </p:spPr>
      </p:sp>
      <p:sp>
        <p:nvSpPr>
          <p:cNvPr id="32" name="Text 29"/>
          <p:cNvSpPr txBox="1"/>
          <p:nvPr/>
        </p:nvSpPr>
        <p:spPr>
          <a:xfrm>
            <a:off x="3614663" y="460857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運賃の見直し</a:t>
            </a:r>
            <a:endParaRPr lang="en-US" sz="1400" dirty="0"/>
          </a:p>
        </p:txBody>
      </p:sp>
      <p:sp>
        <p:nvSpPr>
          <p:cNvPr id="33" name="Shape 30"/>
          <p:cNvSpPr/>
          <p:nvPr/>
        </p:nvSpPr>
        <p:spPr>
          <a:xfrm>
            <a:off x="1224390" y="4937760"/>
            <a:ext cx="120417" cy="182880"/>
          </a:xfrm>
          <a:prstGeom prst="ellipse">
            <a:avLst/>
          </a:prstGeom>
          <a:solidFill>
            <a:srgbClr val="7F7F7F"/>
          </a:solidFill>
          <a:ln/>
        </p:spPr>
      </p:sp>
      <p:sp>
        <p:nvSpPr>
          <p:cNvPr id="34" name="Text 31"/>
          <p:cNvSpPr txBox="1"/>
          <p:nvPr/>
        </p:nvSpPr>
        <p:spPr>
          <a:xfrm>
            <a:off x="1386953" y="4882896"/>
            <a:ext cx="201168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p>
        </p:txBody>
      </p:sp>
      <p:sp>
        <p:nvSpPr>
          <p:cNvPr id="35" name="Shape 32"/>
          <p:cNvSpPr/>
          <p:nvPr/>
        </p:nvSpPr>
        <p:spPr>
          <a:xfrm>
            <a:off x="6687328" y="1874520"/>
            <a:ext cx="3017520" cy="4251960"/>
          </a:xfrm>
          <a:prstGeom prst="rect">
            <a:avLst/>
          </a:prstGeom>
          <a:solidFill>
            <a:srgbClr val="E0EEF8"/>
          </a:solidFill>
          <a:ln/>
        </p:spPr>
      </p:sp>
      <p:sp>
        <p:nvSpPr>
          <p:cNvPr id="36" name="Text 3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予約型への転換と幹線の増便が右上</a:t>
            </a:r>
            <a:endParaRPr lang="en-US" sz="1400" dirty="0"/>
          </a:p>
        </p:txBody>
      </p:sp>
      <p:sp>
        <p:nvSpPr>
          <p:cNvPr id="37" name="Text 3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効果は赤字の削減額、実現性は2年以内に着手できるかで評価した。この2つで効果の7割を占め、初年度から着手できる。2案に予算と人員を優先して配分する</a:t>
            </a:r>
            <a:endParaRPr lang="en-US" sz="1200" dirty="0"/>
          </a:p>
        </p:txBody>
      </p:sp>
      <p:sp>
        <p:nvSpPr>
          <p:cNvPr id="38" name="Shape 35"/>
          <p:cNvSpPr/>
          <p:nvPr/>
        </p:nvSpPr>
        <p:spPr>
          <a:xfrm>
            <a:off x="6870208" y="3936492"/>
            <a:ext cx="2651760" cy="0"/>
          </a:xfrm>
          <a:prstGeom prst="line">
            <a:avLst/>
          </a:prstGeom>
          <a:noFill/>
          <a:ln w="9525">
            <a:solidFill>
              <a:srgbClr val="CCCCCC"/>
            </a:solidFill>
            <a:prstDash val="solid"/>
          </a:ln>
        </p:spPr>
      </p:sp>
      <p:sp>
        <p:nvSpPr>
          <p:cNvPr id="39" name="Text 3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自動運転と企業送迎は中期の課題</a:t>
            </a:r>
            <a:endParaRPr lang="en-US" sz="1400" dirty="0"/>
          </a:p>
        </p:txBody>
      </p:sp>
      <p:sp>
        <p:nvSpPr>
          <p:cNvPr id="40" name="Text 3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効果は大きいが、制度と相手先の調整に3年以上かかる。いずれも検討は今から始め、2028年度以降の導入を目指す。まず庁内に検討の担当を置き、相手先との協議を始める</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4つの選択肢を4基準で評価すると、予約型交通への転換が効果・費用・実現性で最も高い。リスク面の弱点は段階導入で補えるため、転換を推奨する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支線の扱いの選択肢の評価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注）評価の基準は参考資料（p.24）に記載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00848" y="2011680"/>
          <a:ext cx="6257880" cy="914400"/>
        </p:xfrm>
        <a:graphic>
          <a:graphicData uri="http://schemas.openxmlformats.org/drawingml/2006/table">
            <a:tbl>
              <a:tblPr/>
              <a:tblGrid>
                <a:gridCol w="1204168"/>
                <a:gridCol w="1204168"/>
                <a:gridCol w="1445001"/>
                <a:gridCol w="1204168"/>
                <a:gridCol w="1200375"/>
              </a:tblGrid>
              <a:tr h="5029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民間へ委託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609183" y="1965960"/>
            <a:ext cx="1445001" cy="402336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予約型への転換は4基準中3つで最高</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効果・費用・実現性で最も高い。リスクだけが「中」にとどまる。費用は他の3案の半分以下で、2年以内に始められる。運転士を幹線に回せる点も、他の案にない利点である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リスクは段階導入で抑えられる</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2地区で試行し、継続利用率80%以上を確かめてから全支線に広げる（P47）。基準に届かなければ、定時便に戻せる形で契約を結ぶ。試行の費用は、国の実証事業の補助で賄える見込みである</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A町は支線を予約型交通に切り替え、3年で利用者数を38%増やした。成功の鍵は病院と商業施設を乗降地点に組み込んだことで、みなと市でも再現できる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事例：A町の予約型交通（人口2.8万人）</a:t>
            </a:r>
            <a:pPr indent="0" marL="0">
              <a:buNone/>
            </a:pPr>
            <a:r>
              <a:rPr lang="en-US" sz="1100" dirty="0">
                <a:solidFill>
                  <a:srgbClr val="3F3F3F"/>
                </a:solidFill>
                <a:latin typeface="Yu Gothic UI" pitchFamily="34" charset="0"/>
                <a:ea typeface="Yu Gothic UI" pitchFamily="34" charset="-122"/>
                <a:cs typeface="Yu Gothic UI" pitchFamily="34" charset="-120"/>
              </a:rPr>
              <a:t>　（2022年度〜）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注）人口・利用者数はA町の公表値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出所）A町「地域公共交通計画」（2025年）を基に作成（名称・数値は架空の見本）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18</a:t>
            </a:r>
            <a:endParaRPr lang="en-US" sz="900" dirty="0"/>
          </a:p>
        </p:txBody>
      </p:sp>
      <p:sp>
        <p:nvSpPr>
          <p:cNvPr id="12" name="Shape 20"/>
          <p:cNvSpPr/>
          <p:nvPr/>
        </p:nvSpPr>
        <p:spPr>
          <a:xfrm>
            <a:off x="200848" y="4892040"/>
            <a:ext cx="5394960" cy="822960"/>
          </a:xfrm>
          <a:prstGeom prst="rect">
            <a:avLst/>
          </a:prstGeom>
          <a:solidFill>
            <a:srgbClr val="E0EEF8"/>
          </a:solidFill>
          <a:ln/>
        </p:spPr>
      </p:sp>
      <p:sp>
        <p:nvSpPr>
          <p:cNvPr id="13" name="Text 9"/>
          <p:cNvSpPr txBox="1"/>
          <p:nvPr/>
        </p:nvSpPr>
        <p:spPr>
          <a:xfrm>
            <a:off x="200848" y="196596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背景</a:t>
            </a:r>
            <a:endParaRPr lang="en-US" sz="1400" dirty="0"/>
          </a:p>
        </p:txBody>
      </p:sp>
      <p:sp>
        <p:nvSpPr>
          <p:cNvPr id="14" name="Text 10"/>
          <p:cNvSpPr txBox="1"/>
          <p:nvPr/>
        </p:nvSpPr>
        <p:spPr>
          <a:xfrm>
            <a:off x="1481008" y="196596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路線バス4路線の利用が10年で半減した</a:t>
            </a:r>
            <a:endParaRPr lang="en-US" sz="1400" dirty="0"/>
          </a:p>
        </p:txBody>
      </p:sp>
      <p:sp>
        <p:nvSpPr>
          <p:cNvPr id="15" name="Shape 11"/>
          <p:cNvSpPr/>
          <p:nvPr/>
        </p:nvSpPr>
        <p:spPr>
          <a:xfrm>
            <a:off x="200848" y="2807208"/>
            <a:ext cx="5394960" cy="0"/>
          </a:xfrm>
          <a:prstGeom prst="line">
            <a:avLst/>
          </a:prstGeom>
          <a:noFill/>
          <a:ln w="9525">
            <a:solidFill>
              <a:srgbClr val="CCCCCC"/>
            </a:solidFill>
            <a:prstDash val="solid"/>
          </a:ln>
        </p:spPr>
      </p:sp>
      <p:sp>
        <p:nvSpPr>
          <p:cNvPr id="16" name="Text 12"/>
          <p:cNvSpPr txBox="1"/>
          <p:nvPr/>
        </p:nvSpPr>
        <p:spPr>
          <a:xfrm>
            <a:off x="200848" y="297180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p>
        </p:txBody>
      </p:sp>
      <p:sp>
        <p:nvSpPr>
          <p:cNvPr id="17" name="Text 13"/>
          <p:cNvSpPr txBox="1"/>
          <p:nvPr/>
        </p:nvSpPr>
        <p:spPr>
          <a:xfrm>
            <a:off x="1481008" y="297180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4路線を予約型交通に切り替え、乗降地点を120か所に増やした</a:t>
            </a:r>
            <a:endParaRPr lang="en-US" sz="1400" dirty="0"/>
          </a:p>
        </p:txBody>
      </p:sp>
      <p:sp>
        <p:nvSpPr>
          <p:cNvPr id="18" name="Shape 14"/>
          <p:cNvSpPr/>
          <p:nvPr/>
        </p:nvSpPr>
        <p:spPr>
          <a:xfrm>
            <a:off x="200848" y="3813048"/>
            <a:ext cx="5394960" cy="0"/>
          </a:xfrm>
          <a:prstGeom prst="line">
            <a:avLst/>
          </a:prstGeom>
          <a:noFill/>
          <a:ln w="9525">
            <a:solidFill>
              <a:srgbClr val="CCCCCC"/>
            </a:solidFill>
            <a:prstDash val="solid"/>
          </a:ln>
        </p:spPr>
      </p:sp>
      <p:sp>
        <p:nvSpPr>
          <p:cNvPr id="19" name="Text 15"/>
          <p:cNvSpPr txBox="1"/>
          <p:nvPr/>
        </p:nvSpPr>
        <p:spPr>
          <a:xfrm>
            <a:off x="200848" y="397764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a:t>
            </a:r>
            <a:endParaRPr lang="en-US" sz="1400" dirty="0"/>
          </a:p>
        </p:txBody>
      </p:sp>
      <p:sp>
        <p:nvSpPr>
          <p:cNvPr id="20" name="Text 16"/>
          <p:cNvSpPr txBox="1"/>
          <p:nvPr/>
        </p:nvSpPr>
        <p:spPr>
          <a:xfrm>
            <a:off x="1481008" y="3977640"/>
            <a:ext cx="411480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町が運行を委託し、地元のタクシー2社が運行を担う</a:t>
            </a:r>
            <a:endParaRPr lang="en-US" sz="1400" dirty="0"/>
          </a:p>
        </p:txBody>
      </p:sp>
      <p:sp>
        <p:nvSpPr>
          <p:cNvPr id="21" name="Shape 17"/>
          <p:cNvSpPr/>
          <p:nvPr/>
        </p:nvSpPr>
        <p:spPr>
          <a:xfrm>
            <a:off x="200848" y="4818888"/>
            <a:ext cx="5394960" cy="0"/>
          </a:xfrm>
          <a:prstGeom prst="line">
            <a:avLst/>
          </a:prstGeom>
          <a:noFill/>
          <a:ln w="9525">
            <a:solidFill>
              <a:srgbClr val="CCCCCC"/>
            </a:solidFill>
            <a:prstDash val="solid"/>
          </a:ln>
        </p:spPr>
      </p:sp>
      <p:sp>
        <p:nvSpPr>
          <p:cNvPr id="22" name="Text 18"/>
          <p:cNvSpPr txBox="1"/>
          <p:nvPr/>
        </p:nvSpPr>
        <p:spPr>
          <a:xfrm>
            <a:off x="200848" y="4983480"/>
            <a:ext cx="118872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成功の鍵</a:t>
            </a:r>
            <a:endParaRPr lang="en-US" sz="1400" dirty="0"/>
          </a:p>
        </p:txBody>
      </p:sp>
      <p:sp>
        <p:nvSpPr>
          <p:cNvPr id="23" name="Text 19"/>
          <p:cNvSpPr txBox="1"/>
          <p:nvPr/>
        </p:nvSpPr>
        <p:spPr>
          <a:xfrm>
            <a:off x="1481008" y="4983480"/>
            <a:ext cx="411480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運行前に病院と商業施設を乗降地点に組み込んだ</a:t>
            </a:r>
            <a:endParaRPr lang="en-US" sz="1400" dirty="0"/>
          </a:p>
        </p:txBody>
      </p:sp>
      <p:sp>
        <p:nvSpPr>
          <p:cNvPr id="24" name="Text 21"/>
          <p:cNvSpPr txBox="1"/>
          <p:nvPr/>
        </p:nvSpPr>
        <p:spPr>
          <a:xfrm>
            <a:off x="6053008" y="1874520"/>
            <a:ext cx="3651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成果（2021→2024年度）</a:t>
            </a:r>
            <a:endParaRPr lang="en-US" sz="1400" dirty="0"/>
          </a:p>
        </p:txBody>
      </p:sp>
      <p:sp>
        <p:nvSpPr>
          <p:cNvPr id="25" name="Shape 22"/>
          <p:cNvSpPr/>
          <p:nvPr/>
        </p:nvSpPr>
        <p:spPr>
          <a:xfrm>
            <a:off x="6053008" y="2221992"/>
            <a:ext cx="3651840" cy="0"/>
          </a:xfrm>
          <a:prstGeom prst="line">
            <a:avLst/>
          </a:prstGeom>
          <a:noFill/>
          <a:ln w="15875">
            <a:solidFill>
              <a:srgbClr val="3F3F3F"/>
            </a:solidFill>
            <a:prstDash val="solid"/>
          </a:ln>
        </p:spPr>
      </p:sp>
      <p:sp>
        <p:nvSpPr>
          <p:cNvPr id="26" name="Text 23"/>
          <p:cNvSpPr txBox="1"/>
          <p:nvPr/>
        </p:nvSpPr>
        <p:spPr>
          <a:xfrm>
            <a:off x="6053008" y="25146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年間利用者数</a:t>
            </a:r>
            <a:endParaRPr lang="en-US" sz="1400" dirty="0"/>
          </a:p>
        </p:txBody>
      </p:sp>
      <p:sp>
        <p:nvSpPr>
          <p:cNvPr id="27" name="Text 24"/>
          <p:cNvSpPr txBox="1"/>
          <p:nvPr/>
        </p:nvSpPr>
        <p:spPr>
          <a:xfrm>
            <a:off x="6053008" y="2834640"/>
            <a:ext cx="3651840" cy="731520"/>
          </a:xfrm>
          <a:prstGeom prst="rect">
            <a:avLst/>
          </a:prstGeom>
          <a:noFill/>
          <a:ln/>
        </p:spPr>
        <p:txBody>
          <a:bodyPr wrap="square" lIns="0" tIns="0" rIns="0" bIns="0" rtlCol="0" anchor="t"/>
          <a:lstStyle/>
          <a:p>
            <a:pPr indent="0" marL="0">
              <a:buNone/>
            </a:pPr>
            <a:r>
              <a:rPr lang="en-US" sz="3600" b="1" dirty="0">
                <a:solidFill>
                  <a:srgbClr val="000F78"/>
                </a:solidFill>
                <a:latin typeface="Arial" pitchFamily="34" charset="0"/>
                <a:ea typeface="Arial" pitchFamily="34" charset="-122"/>
                <a:cs typeface="Arial" pitchFamily="34" charset="-120"/>
              </a:rPr>
              <a:t>＋38%</a:t>
            </a:r>
            <a:endParaRPr lang="en-US" sz="3600" dirty="0"/>
          </a:p>
        </p:txBody>
      </p:sp>
      <p:sp>
        <p:nvSpPr>
          <p:cNvPr id="28" name="Text 25"/>
          <p:cNvSpPr txBox="1"/>
          <p:nvPr/>
        </p:nvSpPr>
        <p:spPr>
          <a:xfrm>
            <a:off x="6053008" y="361188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1.9万人 → 2.6万人</a:t>
            </a:r>
            <a:endParaRPr lang="en-US" sz="1400" dirty="0"/>
          </a:p>
        </p:txBody>
      </p:sp>
      <p:sp>
        <p:nvSpPr>
          <p:cNvPr id="29" name="Shape 26"/>
          <p:cNvSpPr/>
          <p:nvPr/>
        </p:nvSpPr>
        <p:spPr>
          <a:xfrm>
            <a:off x="6053008" y="4160520"/>
            <a:ext cx="3651840" cy="0"/>
          </a:xfrm>
          <a:prstGeom prst="line">
            <a:avLst/>
          </a:prstGeom>
          <a:noFill/>
          <a:ln w="9525">
            <a:solidFill>
              <a:srgbClr val="CCCCCC"/>
            </a:solidFill>
            <a:prstDash val="solid"/>
          </a:ln>
        </p:spPr>
      </p:sp>
      <p:sp>
        <p:nvSpPr>
          <p:cNvPr id="30" name="Text 27"/>
          <p:cNvSpPr txBox="1"/>
          <p:nvPr/>
        </p:nvSpPr>
        <p:spPr>
          <a:xfrm>
            <a:off x="6053008" y="43434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1便当たりの運行費用</a:t>
            </a:r>
            <a:endParaRPr lang="en-US" sz="1400" dirty="0"/>
          </a:p>
        </p:txBody>
      </p:sp>
      <p:sp>
        <p:nvSpPr>
          <p:cNvPr id="31" name="Text 28"/>
          <p:cNvSpPr txBox="1"/>
          <p:nvPr/>
        </p:nvSpPr>
        <p:spPr>
          <a:xfrm>
            <a:off x="6053008" y="4663440"/>
            <a:ext cx="3651840" cy="548640"/>
          </a:xfrm>
          <a:prstGeom prst="rect">
            <a:avLst/>
          </a:prstGeom>
          <a:noFill/>
          <a:ln/>
        </p:spPr>
        <p:txBody>
          <a:bodyPr wrap="square" lIns="0" tIns="0" rIns="0" bIns="0" rtlCol="0" anchor="t"/>
          <a:lstStyle/>
          <a:p>
            <a:pPr indent="0" marL="0">
              <a:buNone/>
            </a:pPr>
            <a:r>
              <a:rPr lang="en-US" sz="2800" b="1" dirty="0">
                <a:solidFill>
                  <a:srgbClr val="3F3F3F"/>
                </a:solidFill>
                <a:latin typeface="Arial" pitchFamily="34" charset="0"/>
                <a:ea typeface="Arial" pitchFamily="34" charset="-122"/>
                <a:cs typeface="Arial" pitchFamily="34" charset="-120"/>
              </a:rPr>
              <a:t>−24%</a:t>
            </a:r>
            <a:endParaRPr lang="en-US" sz="2800" dirty="0"/>
          </a:p>
        </p:txBody>
      </p:sp>
      <p:sp>
        <p:nvSpPr>
          <p:cNvPr id="32" name="Text 29"/>
          <p:cNvSpPr txBox="1"/>
          <p:nvPr/>
        </p:nvSpPr>
        <p:spPr>
          <a:xfrm>
            <a:off x="6053008" y="5257800"/>
            <a:ext cx="3651840" cy="274320"/>
          </a:xfrm>
          <a:prstGeom prst="rect">
            <a:avLst/>
          </a:prstGeom>
          <a:noFill/>
          <a:ln/>
        </p:spPr>
        <p:txBody>
          <a:bodyPr wrap="square" lIns="0" tIns="0" rIns="0" bIns="0" rtlCol="0" anchor="t"/>
          <a:lstStyle/>
          <a:p>
            <a:pPr indent="0" marL="0">
              <a:buNone/>
            </a:pPr>
            <a:r>
              <a:rPr lang="en-US" sz="1400" dirty="0">
                <a:solidFill>
                  <a:srgbClr val="3F3F3F"/>
                </a:solidFill>
                <a:latin typeface="Arial" pitchFamily="34" charset="0"/>
                <a:ea typeface="Arial" pitchFamily="34" charset="-122"/>
                <a:cs typeface="Arial" pitchFamily="34" charset="-120"/>
              </a:rPr>
              <a:t>8,300円 → 6,300円</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住民の72%がバスの存続を望み、70代以上では77%に達する。存続の是非より、どう維持するかを議論すべき段階にある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バスを今後も残すべきと思うか</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注）設問「今後もバスを残すべきだと思いますか」。無回答を除く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000F78"/>
          </a:solidFill>
          <a:ln/>
        </p:spPr>
      </p:sp>
      <p:sp>
        <p:nvSpPr>
          <p:cNvPr id="14" name="Text 10"/>
          <p:cNvSpPr txBox="1"/>
          <p:nvPr/>
        </p:nvSpPr>
        <p:spPr>
          <a:xfrm>
            <a:off x="1106104" y="1929384"/>
            <a:ext cx="123444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7F7F7F"/>
          </a:solidFill>
          <a:ln/>
        </p:spPr>
      </p:sp>
      <p:sp>
        <p:nvSpPr>
          <p:cNvPr id="16" name="Text 12"/>
          <p:cNvSpPr txBox="1"/>
          <p:nvPr/>
        </p:nvSpPr>
        <p:spPr>
          <a:xfrm>
            <a:off x="24777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CCCCCC"/>
          </a:solidFill>
          <a:ln/>
        </p:spPr>
      </p:sp>
      <p:sp>
        <p:nvSpPr>
          <p:cNvPr id="18" name="Text 14"/>
          <p:cNvSpPr txBox="1"/>
          <p:nvPr/>
        </p:nvSpPr>
        <p:spPr>
          <a:xfrm>
            <a:off x="38493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E0EEF8"/>
          </a:solidFill>
          <a:ln/>
        </p:spPr>
      </p:sp>
      <p:sp>
        <p:nvSpPr>
          <p:cNvPr id="20" name="Text 16"/>
          <p:cNvSpPr txBox="1"/>
          <p:nvPr/>
        </p:nvSpPr>
        <p:spPr>
          <a:xfrm>
            <a:off x="5220904" y="1929384"/>
            <a:ext cx="123444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E0EEF8"/>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70代以上の77%が存続を望む</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「そう思う」と「ややそう思う」の計。若い世代ほど低く、10〜20代は62%にとどまる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反対は全体の13%にとどまる</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存続の是非ではなく、どの形で維持するかが議論の中心になる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赤字の半減に向け、収入・費用・体制の3領域で施策を提言する。効果の大きい予約型への転換と運転士の再配置は、2027年度に着手する必要がある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20</a:t>
            </a:r>
            <a:endParaRPr lang="en-US" sz="900" dirty="0"/>
          </a:p>
        </p:txBody>
      </p:sp>
      <p:sp>
        <p:nvSpPr>
          <p:cNvPr id="12" name="Shape 11"/>
          <p:cNvSpPr/>
          <p:nvPr/>
        </p:nvSpPr>
        <p:spPr>
          <a:xfrm>
            <a:off x="2624008" y="3419856"/>
            <a:ext cx="7080840" cy="914400"/>
          </a:xfrm>
          <a:prstGeom prst="rect">
            <a:avLst/>
          </a:prstGeom>
          <a:solidFill>
            <a:srgbClr val="E0EEF8"/>
          </a:solidFill>
          <a:ln/>
        </p:spPr>
      </p:sp>
      <p:sp>
        <p:nvSpPr>
          <p:cNvPr id="13" name="Text 9"/>
          <p:cNvSpPr txBox="1"/>
          <p:nvPr/>
        </p:nvSpPr>
        <p:spPr>
          <a:xfrm>
            <a:off x="200848" y="1920240"/>
            <a:ext cx="8223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4" name="Shape 10"/>
          <p:cNvSpPr/>
          <p:nvPr/>
        </p:nvSpPr>
        <p:spPr>
          <a:xfrm>
            <a:off x="200848" y="2267712"/>
            <a:ext cx="8223840" cy="0"/>
          </a:xfrm>
          <a:prstGeom prst="line">
            <a:avLst/>
          </a:prstGeom>
          <a:noFill/>
          <a:ln w="12700">
            <a:solidFill>
              <a:srgbClr val="7F7F7F"/>
            </a:solidFill>
            <a:prstDash val="solid"/>
          </a:ln>
        </p:spPr>
      </p:sp>
      <p:sp>
        <p:nvSpPr>
          <p:cNvPr id="15" name="Text 12"/>
          <p:cNvSpPr txBox="1"/>
          <p:nvPr/>
        </p:nvSpPr>
        <p:spPr>
          <a:xfrm>
            <a:off x="8516128" y="1920240"/>
            <a:ext cx="118872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着手時期</a:t>
            </a:r>
            <a:endParaRPr lang="en-US" sz="1400" dirty="0"/>
          </a:p>
        </p:txBody>
      </p:sp>
      <p:sp>
        <p:nvSpPr>
          <p:cNvPr id="16" name="Shape 13"/>
          <p:cNvSpPr/>
          <p:nvPr/>
        </p:nvSpPr>
        <p:spPr>
          <a:xfrm>
            <a:off x="8516128" y="2267712"/>
            <a:ext cx="1188720" cy="0"/>
          </a:xfrm>
          <a:prstGeom prst="line">
            <a:avLst/>
          </a:prstGeom>
          <a:noFill/>
          <a:ln w="12700">
            <a:solidFill>
              <a:srgbClr val="7F7F7F"/>
            </a:solidFill>
            <a:prstDash val="solid"/>
          </a:ln>
        </p:spPr>
      </p:sp>
      <p:sp>
        <p:nvSpPr>
          <p:cNvPr id="17" name="Text 14"/>
          <p:cNvSpPr txBox="1"/>
          <p:nvPr/>
        </p:nvSpPr>
        <p:spPr>
          <a:xfrm>
            <a:off x="200848" y="2395728"/>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収入を増やす</a:t>
            </a:r>
            <a:endParaRPr lang="en-US" sz="1400" dirty="0"/>
          </a:p>
        </p:txBody>
      </p:sp>
      <p:sp>
        <p:nvSpPr>
          <p:cNvPr id="18" name="Text 15"/>
          <p:cNvSpPr txBox="1"/>
          <p:nvPr/>
        </p:nvSpPr>
        <p:spPr>
          <a:xfrm>
            <a:off x="2669728" y="239572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1-1</a:t>
            </a:r>
            <a:endParaRPr lang="en-US" sz="1400" dirty="0"/>
          </a:p>
        </p:txBody>
      </p:sp>
      <p:sp>
        <p:nvSpPr>
          <p:cNvPr id="19" name="Text 16"/>
          <p:cNvSpPr txBox="1"/>
          <p:nvPr/>
        </p:nvSpPr>
        <p:spPr>
          <a:xfrm>
            <a:off x="3264088" y="239572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幹線を1時間3本に増やす</a:t>
            </a:r>
            <a:endParaRPr lang="en-US" sz="1400" dirty="0"/>
          </a:p>
        </p:txBody>
      </p:sp>
      <p:sp>
        <p:nvSpPr>
          <p:cNvPr id="20" name="Text 17"/>
          <p:cNvSpPr txBox="1"/>
          <p:nvPr/>
        </p:nvSpPr>
        <p:spPr>
          <a:xfrm>
            <a:off x="8516128" y="239572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1" name="Text 18"/>
          <p:cNvSpPr txBox="1"/>
          <p:nvPr/>
        </p:nvSpPr>
        <p:spPr>
          <a:xfrm>
            <a:off x="2669728" y="2871216"/>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p>
        </p:txBody>
      </p:sp>
      <p:sp>
        <p:nvSpPr>
          <p:cNvPr id="22" name="Text 19"/>
          <p:cNvSpPr txBox="1"/>
          <p:nvPr/>
        </p:nvSpPr>
        <p:spPr>
          <a:xfrm>
            <a:off x="3264088" y="2871216"/>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通院向けの定額乗車券を出す</a:t>
            </a:r>
            <a:endParaRPr lang="en-US" sz="1400" dirty="0"/>
          </a:p>
        </p:txBody>
      </p:sp>
      <p:sp>
        <p:nvSpPr>
          <p:cNvPr id="23" name="Text 20"/>
          <p:cNvSpPr txBox="1"/>
          <p:nvPr/>
        </p:nvSpPr>
        <p:spPr>
          <a:xfrm>
            <a:off x="8516128" y="2871216"/>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2028年度</a:t>
            </a:r>
            <a:endParaRPr lang="en-US" sz="1400" dirty="0"/>
          </a:p>
        </p:txBody>
      </p:sp>
      <p:sp>
        <p:nvSpPr>
          <p:cNvPr id="24" name="Shape 21"/>
          <p:cNvSpPr/>
          <p:nvPr/>
        </p:nvSpPr>
        <p:spPr>
          <a:xfrm>
            <a:off x="200848" y="3310128"/>
            <a:ext cx="9504000" cy="0"/>
          </a:xfrm>
          <a:prstGeom prst="line">
            <a:avLst/>
          </a:prstGeom>
          <a:noFill/>
          <a:ln w="9525">
            <a:solidFill>
              <a:srgbClr val="CCCCCC"/>
            </a:solidFill>
            <a:prstDash val="solid"/>
          </a:ln>
        </p:spPr>
      </p:sp>
      <p:sp>
        <p:nvSpPr>
          <p:cNvPr id="25" name="Text 22"/>
          <p:cNvSpPr txBox="1"/>
          <p:nvPr/>
        </p:nvSpPr>
        <p:spPr>
          <a:xfrm>
            <a:off x="200848" y="3456432"/>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費用を抑える</a:t>
            </a:r>
            <a:endParaRPr lang="en-US" sz="1400" dirty="0"/>
          </a:p>
        </p:txBody>
      </p:sp>
      <p:sp>
        <p:nvSpPr>
          <p:cNvPr id="26" name="Text 23"/>
          <p:cNvSpPr txBox="1"/>
          <p:nvPr/>
        </p:nvSpPr>
        <p:spPr>
          <a:xfrm>
            <a:off x="2669728" y="3456432"/>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7" name="Text 24"/>
          <p:cNvSpPr txBox="1"/>
          <p:nvPr/>
        </p:nvSpPr>
        <p:spPr>
          <a:xfrm>
            <a:off x="3264088" y="3456432"/>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8" name="Text 25"/>
          <p:cNvSpPr txBox="1"/>
          <p:nvPr/>
        </p:nvSpPr>
        <p:spPr>
          <a:xfrm>
            <a:off x="8516128" y="3456432"/>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29" name="Text 26"/>
          <p:cNvSpPr txBox="1"/>
          <p:nvPr/>
        </p:nvSpPr>
        <p:spPr>
          <a:xfrm>
            <a:off x="2669728" y="3931920"/>
            <a:ext cx="548640" cy="36576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2-2</a:t>
            </a:r>
            <a:endParaRPr lang="en-US" sz="1400" dirty="0"/>
          </a:p>
        </p:txBody>
      </p:sp>
      <p:sp>
        <p:nvSpPr>
          <p:cNvPr id="30" name="Text 27"/>
          <p:cNvSpPr txBox="1"/>
          <p:nvPr/>
        </p:nvSpPr>
        <p:spPr>
          <a:xfrm>
            <a:off x="3264088" y="3931920"/>
            <a:ext cx="4754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運転士を支線から幹線へ再配置する</a:t>
            </a:r>
            <a:endParaRPr lang="en-US" sz="1400" dirty="0"/>
          </a:p>
        </p:txBody>
      </p:sp>
      <p:sp>
        <p:nvSpPr>
          <p:cNvPr id="31" name="Text 28"/>
          <p:cNvSpPr txBox="1"/>
          <p:nvPr/>
        </p:nvSpPr>
        <p:spPr>
          <a:xfrm>
            <a:off x="8516128" y="3931920"/>
            <a:ext cx="1188720" cy="365760"/>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2027年度</a:t>
            </a:r>
            <a:endParaRPr lang="en-US" sz="1400" dirty="0"/>
          </a:p>
        </p:txBody>
      </p:sp>
      <p:sp>
        <p:nvSpPr>
          <p:cNvPr id="32" name="Text 29"/>
          <p:cNvSpPr txBox="1"/>
          <p:nvPr/>
        </p:nvSpPr>
        <p:spPr>
          <a:xfrm>
            <a:off x="2669728" y="4407408"/>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2-3</a:t>
            </a:r>
            <a:endParaRPr lang="en-US" sz="1400" dirty="0"/>
          </a:p>
        </p:txBody>
      </p:sp>
      <p:sp>
        <p:nvSpPr>
          <p:cNvPr id="33" name="Text 30"/>
          <p:cNvSpPr txBox="1"/>
          <p:nvPr/>
        </p:nvSpPr>
        <p:spPr>
          <a:xfrm>
            <a:off x="3264088" y="4407408"/>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車両の更新を小型車に切り替える</a:t>
            </a:r>
            <a:endParaRPr lang="en-US" sz="1400" dirty="0"/>
          </a:p>
        </p:txBody>
      </p:sp>
      <p:sp>
        <p:nvSpPr>
          <p:cNvPr id="34" name="Text 31"/>
          <p:cNvSpPr txBox="1"/>
          <p:nvPr/>
        </p:nvSpPr>
        <p:spPr>
          <a:xfrm>
            <a:off x="8516128" y="4407408"/>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2029年度</a:t>
            </a:r>
            <a:endParaRPr lang="en-US" sz="1400" dirty="0"/>
          </a:p>
        </p:txBody>
      </p:sp>
      <p:sp>
        <p:nvSpPr>
          <p:cNvPr id="35" name="Shape 32"/>
          <p:cNvSpPr/>
          <p:nvPr/>
        </p:nvSpPr>
        <p:spPr>
          <a:xfrm>
            <a:off x="200848" y="4846320"/>
            <a:ext cx="9504000" cy="0"/>
          </a:xfrm>
          <a:prstGeom prst="line">
            <a:avLst/>
          </a:prstGeom>
          <a:noFill/>
          <a:ln w="9525">
            <a:solidFill>
              <a:srgbClr val="CCCCCC"/>
            </a:solidFill>
            <a:prstDash val="solid"/>
          </a:ln>
        </p:spPr>
      </p:sp>
      <p:sp>
        <p:nvSpPr>
          <p:cNvPr id="36" name="Text 33"/>
          <p:cNvSpPr txBox="1"/>
          <p:nvPr/>
        </p:nvSpPr>
        <p:spPr>
          <a:xfrm>
            <a:off x="200848" y="499262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体制を整える</a:t>
            </a:r>
            <a:endParaRPr lang="en-US" sz="1400" dirty="0"/>
          </a:p>
        </p:txBody>
      </p:sp>
      <p:sp>
        <p:nvSpPr>
          <p:cNvPr id="37" name="Text 34"/>
          <p:cNvSpPr txBox="1"/>
          <p:nvPr/>
        </p:nvSpPr>
        <p:spPr>
          <a:xfrm>
            <a:off x="2669728" y="4992624"/>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3-1</a:t>
            </a:r>
            <a:endParaRPr lang="en-US" sz="1400" dirty="0"/>
          </a:p>
        </p:txBody>
      </p:sp>
      <p:sp>
        <p:nvSpPr>
          <p:cNvPr id="38" name="Text 35"/>
          <p:cNvSpPr txBox="1"/>
          <p:nvPr/>
        </p:nvSpPr>
        <p:spPr>
          <a:xfrm>
            <a:off x="3264088" y="4992624"/>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市に交通の推進室を設ける</a:t>
            </a:r>
            <a:endParaRPr lang="en-US" sz="1400" dirty="0"/>
          </a:p>
        </p:txBody>
      </p:sp>
      <p:sp>
        <p:nvSpPr>
          <p:cNvPr id="39" name="Text 36"/>
          <p:cNvSpPr txBox="1"/>
          <p:nvPr/>
        </p:nvSpPr>
        <p:spPr>
          <a:xfrm>
            <a:off x="8516128" y="4992624"/>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
        <p:nvSpPr>
          <p:cNvPr id="40" name="Text 37"/>
          <p:cNvSpPr txBox="1"/>
          <p:nvPr/>
        </p:nvSpPr>
        <p:spPr>
          <a:xfrm>
            <a:off x="2669728" y="5468112"/>
            <a:ext cx="548640" cy="365760"/>
          </a:xfrm>
          <a:prstGeom prst="rect">
            <a:avLst/>
          </a:prstGeom>
          <a:noFill/>
          <a:ln/>
        </p:spPr>
        <p:txBody>
          <a:bodyPr wrap="square" lIns="0" tIns="0" rIns="0" bIns="0" rtlCol="0" anchor="ctr"/>
          <a:lstStyle/>
          <a:p>
            <a:pPr indent="0" marL="0">
              <a:buNone/>
            </a:pPr>
            <a:r>
              <a:rPr lang="en-US" sz="1400" b="1" dirty="0">
                <a:solidFill>
                  <a:srgbClr val="3F3F3F"/>
                </a:solidFill>
                <a:latin typeface="Arial" pitchFamily="34" charset="0"/>
                <a:ea typeface="Arial" pitchFamily="34" charset="-122"/>
                <a:cs typeface="Arial" pitchFamily="34" charset="-120"/>
              </a:rPr>
              <a:t>3-2</a:t>
            </a:r>
            <a:endParaRPr lang="en-US" sz="1400" dirty="0"/>
          </a:p>
        </p:txBody>
      </p:sp>
      <p:sp>
        <p:nvSpPr>
          <p:cNvPr id="41" name="Text 38"/>
          <p:cNvSpPr txBox="1"/>
          <p:nvPr/>
        </p:nvSpPr>
        <p:spPr>
          <a:xfrm>
            <a:off x="3264088" y="5468112"/>
            <a:ext cx="4754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収支と利用者数を四半期ごとに管理する</a:t>
            </a:r>
            <a:endParaRPr lang="en-US" sz="1400" dirty="0"/>
          </a:p>
        </p:txBody>
      </p:sp>
      <p:sp>
        <p:nvSpPr>
          <p:cNvPr id="42" name="Text 39"/>
          <p:cNvSpPr txBox="1"/>
          <p:nvPr/>
        </p:nvSpPr>
        <p:spPr>
          <a:xfrm>
            <a:off x="8516128" y="5468112"/>
            <a:ext cx="1188720" cy="365760"/>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2027年度</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施策をすべて実行すると、2030年度の収支は年2.1億円改善し、利用者数も18%増える。収支の改善が最も大きく、事業の自立が視野に入る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（2030年度時点、2025年度比）</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注）効果は2030年度時点の試算で、施策の間の重複は除いた。CO₂は軽油の使用量から換算（1L当たり2.58kg）。利用者数は基本シナリオの人口推計を前提とした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291160" y="1965960"/>
            <a:ext cx="210168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＋2.1</a:t>
            </a:r>
            <a:endParaRPr lang="en-US" sz="3200" dirty="0"/>
          </a:p>
        </p:txBody>
      </p:sp>
      <p:sp>
        <p:nvSpPr>
          <p:cNvPr id="14" name="Text 11"/>
          <p:cNvSpPr txBox="1"/>
          <p:nvPr/>
        </p:nvSpPr>
        <p:spPr>
          <a:xfrm>
            <a:off x="29116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9116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17" name="Text 14"/>
          <p:cNvSpPr txBox="1"/>
          <p:nvPr/>
        </p:nvSpPr>
        <p:spPr>
          <a:xfrm>
            <a:off x="261056" y="4224528"/>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Arial" pitchFamily="34" charset="0"/>
                <a:ea typeface="Arial" pitchFamily="34" charset="-122"/>
                <a:cs typeface="Arial" pitchFamily="34" charset="-120"/>
              </a:rPr>
              <a:t>−4.2 → −2.1億円</a:t>
            </a:r>
            <a:endParaRPr lang="en-US" sz="1400" dirty="0"/>
          </a:p>
        </p:txBody>
      </p:sp>
      <p:sp>
        <p:nvSpPr>
          <p:cNvPr id="18" name="Text 15"/>
          <p:cNvSpPr txBox="1"/>
          <p:nvPr/>
        </p:nvSpPr>
        <p:spPr>
          <a:xfrm>
            <a:off x="29116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補足：予約型への転換と幹線の増便の効果を合算</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55630" y="1965960"/>
            <a:ext cx="21016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＋18</a:t>
            </a:r>
            <a:endParaRPr lang="en-US" sz="3200" dirty="0"/>
          </a:p>
        </p:txBody>
      </p:sp>
      <p:sp>
        <p:nvSpPr>
          <p:cNvPr id="22" name="Text 19"/>
          <p:cNvSpPr txBox="1"/>
          <p:nvPr/>
        </p:nvSpPr>
        <p:spPr>
          <a:xfrm>
            <a:off x="185563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5563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25" name="Text 22"/>
          <p:cNvSpPr txBox="1"/>
          <p:nvPr/>
        </p:nvSpPr>
        <p:spPr>
          <a:xfrm>
            <a:off x="1825526" y="4224528"/>
            <a:ext cx="2193120"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290 → 342万人</a:t>
            </a:r>
            <a:endParaRPr lang="en-US" sz="1400" dirty="0"/>
          </a:p>
        </p:txBody>
      </p:sp>
      <p:sp>
        <p:nvSpPr>
          <p:cNvPr id="26" name="Text 23"/>
          <p:cNvSpPr txBox="1"/>
          <p:nvPr/>
        </p:nvSpPr>
        <p:spPr>
          <a:xfrm>
            <a:off x="185563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補足：幹線の増便による利用の増加を含む</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420100" y="1965960"/>
            <a:ext cx="21016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CO₂排出量</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−1,200</a:t>
            </a:r>
            <a:endParaRPr lang="en-US" sz="3200" dirty="0"/>
          </a:p>
        </p:txBody>
      </p:sp>
      <p:sp>
        <p:nvSpPr>
          <p:cNvPr id="30" name="Text 27"/>
          <p:cNvSpPr txBox="1"/>
          <p:nvPr/>
        </p:nvSpPr>
        <p:spPr>
          <a:xfrm>
            <a:off x="3420100" y="3291840"/>
            <a:ext cx="21016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t／年</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420100" y="3931920"/>
            <a:ext cx="21016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33" name="Text 30"/>
          <p:cNvSpPr txBox="1"/>
          <p:nvPr/>
        </p:nvSpPr>
        <p:spPr>
          <a:xfrm>
            <a:off x="3389996" y="4224528"/>
            <a:ext cx="2193120"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5,400 → 4,200t</a:t>
            </a:r>
            <a:endParaRPr lang="en-US" sz="1400" dirty="0"/>
          </a:p>
        </p:txBody>
      </p:sp>
      <p:sp>
        <p:nvSpPr>
          <p:cNvPr id="34" name="Text 31"/>
          <p:cNvSpPr txBox="1"/>
          <p:nvPr/>
        </p:nvSpPr>
        <p:spPr>
          <a:xfrm>
            <a:off x="342010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補足：車両の小型化と走行距離の短縮による</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84570" y="1965960"/>
            <a:ext cx="1474157"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運転士の余力</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＋14</a:t>
            </a:r>
            <a:endParaRPr lang="en-US" sz="3200" dirty="0"/>
          </a:p>
        </p:txBody>
      </p:sp>
      <p:sp>
        <p:nvSpPr>
          <p:cNvPr id="38" name="Text 35"/>
          <p:cNvSpPr txBox="1"/>
          <p:nvPr/>
        </p:nvSpPr>
        <p:spPr>
          <a:xfrm>
            <a:off x="4984570" y="3291840"/>
            <a:ext cx="1474157"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84570" y="3931920"/>
            <a:ext cx="1474157"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現状 → 目標</a:t>
            </a:r>
            <a:endParaRPr lang="en-US" sz="1100" dirty="0"/>
          </a:p>
        </p:txBody>
      </p:sp>
      <p:sp>
        <p:nvSpPr>
          <p:cNvPr id="41" name="Text 38"/>
          <p:cNvSpPr txBox="1"/>
          <p:nvPr/>
        </p:nvSpPr>
        <p:spPr>
          <a:xfrm>
            <a:off x="4954466" y="4224528"/>
            <a:ext cx="1504262" cy="320040"/>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欠員15% → 充足</a:t>
            </a:r>
            <a:endParaRPr lang="en-US" sz="1400" dirty="0"/>
          </a:p>
        </p:txBody>
      </p:sp>
      <p:sp>
        <p:nvSpPr>
          <p:cNvPr id="42" name="Text 39"/>
          <p:cNvSpPr txBox="1"/>
          <p:nvPr/>
        </p:nvSpPr>
        <p:spPr>
          <a:xfrm>
            <a:off x="4984570" y="4800600"/>
            <a:ext cx="1383845" cy="82296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補足：支線から幹線への再配置による</a:t>
            </a:r>
            <a:endParaRPr lang="en-US" sz="11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収支の改善が最も大きい</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赤字4.2億円が2.1億円に半減する。予約型への転換と幹線の増便の効果を合わせた。2つの施策で、改善額の8割を占める。残りの赤字2.1億円は、市の補助で賄える水準である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利用者は342万人に増える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幹線の増便で通勤・通学の利用が戻る。CO₂は年1,200t減る。利用の増加は、運賃収入の増加として収支も押し上げる。運転士は14人の余力が生まれ、欠員を埋められる</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赤字4.2億円の7割は支線12路線で生じている。対策の対象を支線に絞れば、限られた予算でも赤字を大きく減らせる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00848" y="1485000"/>
            <a:ext cx="44805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路線区分別の赤字（億円、2025年度）</a:t>
            </a:r>
            <a:endParaRPr lang="en-US" sz="1400" dirty="0"/>
          </a:p>
        </p:txBody>
      </p:sp>
      <p:sp>
        <p:nvSpPr>
          <p:cNvPr id="11" name="Shape 8"/>
          <p:cNvSpPr/>
          <p:nvPr/>
        </p:nvSpPr>
        <p:spPr>
          <a:xfrm>
            <a:off x="200848" y="1832472"/>
            <a:ext cx="4480560" cy="0"/>
          </a:xfrm>
          <a:prstGeom prst="line">
            <a:avLst/>
          </a:prstGeom>
          <a:noFill/>
          <a:ln w="12700">
            <a:solidFill>
              <a:srgbClr val="7F7F7F"/>
            </a:solidFill>
            <a:prstDash val="solid"/>
          </a:ln>
        </p:spPr>
      </p:sp>
      <p:graphicFrame>
        <p:nvGraphicFramePr>
          <p:cNvPr id="12" name="Chart 0" descr=""/>
          <p:cNvGraphicFramePr/>
          <p:nvPr/>
        </p:nvGraphicFramePr>
        <p:xfrm>
          <a:off x="200848"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4791136" y="3588106"/>
            <a:ext cx="160934" cy="321869"/>
          </a:xfrm>
          <a:custGeom>
            <a:avLst/>
            <a:gdLst/>
            <a:ahLst/>
            <a:cxnLst/>
            <a:rect l="l" t="t" r="r" b="b"/>
            <a:pathLst>
              <a:path w="160934" h="321869">
                <a:moveTo>
                  <a:pt x="0" y="0"/>
                </a:moveTo>
                <a:lnTo>
                  <a:pt x="160934" y="160934"/>
                </a:lnTo>
                <a:lnTo>
                  <a:pt x="0" y="321869"/>
                </a:lnTo>
                <a:close/>
              </a:path>
            </a:pathLst>
          </a:custGeom>
          <a:solidFill>
            <a:srgbClr val="7F7F7F"/>
          </a:solidFill>
          <a:ln/>
        </p:spPr>
      </p:sp>
      <p:sp>
        <p:nvSpPr>
          <p:cNvPr id="14" name="Shape 10"/>
          <p:cNvSpPr/>
          <p:nvPr/>
        </p:nvSpPr>
        <p:spPr>
          <a:xfrm>
            <a:off x="4911836" y="3599078"/>
            <a:ext cx="134965" cy="299923"/>
          </a:xfrm>
          <a:custGeom>
            <a:avLst/>
            <a:gdLst/>
            <a:ahLst/>
            <a:cxnLst/>
            <a:rect l="l" t="t" r="r" b="b"/>
            <a:pathLst>
              <a:path w="134965" h="299923">
                <a:moveTo>
                  <a:pt x="0" y="0"/>
                </a:moveTo>
                <a:lnTo>
                  <a:pt x="134965" y="149962"/>
                </a:lnTo>
                <a:lnTo>
                  <a:pt x="0" y="299923"/>
                </a:lnTo>
              </a:path>
            </a:pathLst>
          </a:custGeom>
          <a:ln w="33020">
            <a:solidFill>
              <a:srgbClr val="7F7F7F"/>
            </a:solidFill>
            <a:prstDash val="solid"/>
          </a:ln>
        </p:spPr>
      </p:sp>
      <p:sp>
        <p:nvSpPr>
          <p:cNvPr id="15" name="Text 11"/>
          <p:cNvSpPr txBox="1"/>
          <p:nvPr/>
        </p:nvSpPr>
        <p:spPr>
          <a:xfrm>
            <a:off x="5367208" y="1485000"/>
            <a:ext cx="4337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6" name="Shape 12"/>
          <p:cNvSpPr/>
          <p:nvPr/>
        </p:nvSpPr>
        <p:spPr>
          <a:xfrm>
            <a:off x="5367208" y="1832472"/>
            <a:ext cx="4337640" cy="0"/>
          </a:xfrm>
          <a:prstGeom prst="line">
            <a:avLst/>
          </a:prstGeom>
          <a:noFill/>
          <a:ln w="15875">
            <a:solidFill>
              <a:srgbClr val="3F3F3F"/>
            </a:solidFill>
            <a:prstDash val="solid"/>
          </a:ln>
        </p:spPr>
      </p:sp>
      <p:sp>
        <p:nvSpPr>
          <p:cNvPr id="17" name="Text 13"/>
          <p:cNvSpPr txBox="1"/>
          <p:nvPr/>
        </p:nvSpPr>
        <p:spPr>
          <a:xfrm>
            <a:off x="5367208" y="196596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8" name="Text 14"/>
          <p:cNvSpPr txBox="1"/>
          <p:nvPr/>
        </p:nvSpPr>
        <p:spPr>
          <a:xfrm>
            <a:off x="5687248" y="196596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赤字の7割は支線</a:t>
            </a:r>
            <a:endParaRPr lang="en-US" sz="1400" dirty="0"/>
          </a:p>
        </p:txBody>
      </p:sp>
      <p:sp>
        <p:nvSpPr>
          <p:cNvPr id="19" name="Text 15"/>
          <p:cNvSpPr txBox="1"/>
          <p:nvPr/>
        </p:nvSpPr>
        <p:spPr>
          <a:xfrm>
            <a:off x="5687248" y="233172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支線12路線だけで年2.9億円の赤字</a:t>
            </a:r>
            <a:endParaRPr lang="en-US" sz="1400" dirty="0"/>
          </a:p>
        </p:txBody>
      </p:sp>
      <p:sp>
        <p:nvSpPr>
          <p:cNvPr id="20" name="Shape 16"/>
          <p:cNvSpPr/>
          <p:nvPr/>
        </p:nvSpPr>
        <p:spPr>
          <a:xfrm>
            <a:off x="5367208" y="3044952"/>
            <a:ext cx="4337640" cy="0"/>
          </a:xfrm>
          <a:prstGeom prst="line">
            <a:avLst/>
          </a:prstGeom>
          <a:noFill/>
          <a:ln w="9525">
            <a:solidFill>
              <a:srgbClr val="CCCCCC"/>
            </a:solidFill>
            <a:prstDash val="solid"/>
          </a:ln>
        </p:spPr>
      </p:sp>
      <p:sp>
        <p:nvSpPr>
          <p:cNvPr id="21" name="Text 17"/>
          <p:cNvSpPr txBox="1"/>
          <p:nvPr/>
        </p:nvSpPr>
        <p:spPr>
          <a:xfrm>
            <a:off x="5367208" y="329184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2" name="Text 18"/>
          <p:cNvSpPr txBox="1"/>
          <p:nvPr/>
        </p:nvSpPr>
        <p:spPr>
          <a:xfrm>
            <a:off x="5687248" y="329184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幹線・循環線の赤字は小さい</a:t>
            </a:r>
            <a:endParaRPr lang="en-US" sz="1400" dirty="0"/>
          </a:p>
        </p:txBody>
      </p:sp>
      <p:sp>
        <p:nvSpPr>
          <p:cNvPr id="23" name="Text 19"/>
          <p:cNvSpPr txBox="1"/>
          <p:nvPr/>
        </p:nvSpPr>
        <p:spPr>
          <a:xfrm>
            <a:off x="5687248" y="365760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合わせて年1.3億円で、急ぐ必要は小さい</a:t>
            </a:r>
            <a:endParaRPr lang="en-US" sz="1400" dirty="0"/>
          </a:p>
        </p:txBody>
      </p:sp>
      <p:sp>
        <p:nvSpPr>
          <p:cNvPr id="24" name="Shape 20"/>
          <p:cNvSpPr/>
          <p:nvPr/>
        </p:nvSpPr>
        <p:spPr>
          <a:xfrm>
            <a:off x="5367208" y="4370832"/>
            <a:ext cx="4337640" cy="0"/>
          </a:xfrm>
          <a:prstGeom prst="line">
            <a:avLst/>
          </a:prstGeom>
          <a:noFill/>
          <a:ln w="9525">
            <a:solidFill>
              <a:srgbClr val="CCCCCC"/>
            </a:solidFill>
            <a:prstDash val="solid"/>
          </a:ln>
        </p:spPr>
      </p:sp>
      <p:sp>
        <p:nvSpPr>
          <p:cNvPr id="25" name="Text 21"/>
          <p:cNvSpPr txBox="1"/>
          <p:nvPr/>
        </p:nvSpPr>
        <p:spPr>
          <a:xfrm>
            <a:off x="5367208" y="4617720"/>
            <a:ext cx="274320" cy="292608"/>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6" name="Text 22"/>
          <p:cNvSpPr txBox="1"/>
          <p:nvPr/>
        </p:nvSpPr>
        <p:spPr>
          <a:xfrm>
            <a:off x="5687248" y="4617720"/>
            <a:ext cx="40176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対象を支線に絞る</a:t>
            </a:r>
            <a:endParaRPr lang="en-US" sz="1400" dirty="0"/>
          </a:p>
        </p:txBody>
      </p:sp>
      <p:sp>
        <p:nvSpPr>
          <p:cNvPr id="27" name="Text 23"/>
          <p:cNvSpPr txBox="1"/>
          <p:nvPr/>
        </p:nvSpPr>
        <p:spPr>
          <a:xfrm>
            <a:off x="5687248" y="4983480"/>
            <a:ext cx="401760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転換費用1.2億円で赤字を半減できる</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バス事業を支えてきた通学需要は、生徒数の減少で崩れつつある。支線を予約型交通に転換すれば、5年で赤字を半減できる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0084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0084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00848" y="2216520"/>
            <a:ext cx="2985120" cy="0"/>
          </a:xfrm>
          <a:prstGeom prst="line">
            <a:avLst/>
          </a:prstGeom>
          <a:noFill/>
          <a:ln w="12700">
            <a:solidFill>
              <a:srgbClr val="7F7F7F"/>
            </a:solidFill>
            <a:prstDash val="solid"/>
          </a:ln>
        </p:spPr>
      </p:sp>
      <p:sp>
        <p:nvSpPr>
          <p:cNvPr id="13" name="Text 10"/>
          <p:cNvSpPr txBox="1"/>
          <p:nvPr/>
        </p:nvSpPr>
        <p:spPr>
          <a:xfrm>
            <a:off x="20084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2088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通学の需要で、幹線も支線も乗客を確保できた</a:t>
            </a:r>
            <a:endParaRPr lang="en-US" sz="1400" dirty="0"/>
          </a:p>
        </p:txBody>
      </p:sp>
      <p:sp>
        <p:nvSpPr>
          <p:cNvPr id="15" name="Shape 12"/>
          <p:cNvSpPr/>
          <p:nvPr/>
        </p:nvSpPr>
        <p:spPr>
          <a:xfrm>
            <a:off x="200848" y="3560688"/>
            <a:ext cx="2985120" cy="0"/>
          </a:xfrm>
          <a:prstGeom prst="line">
            <a:avLst/>
          </a:prstGeom>
          <a:noFill/>
          <a:ln w="9525">
            <a:solidFill>
              <a:srgbClr val="CCCCCC"/>
            </a:solidFill>
            <a:prstDash val="solid"/>
          </a:ln>
        </p:spPr>
      </p:sp>
      <p:sp>
        <p:nvSpPr>
          <p:cNvPr id="16" name="Text 13"/>
          <p:cNvSpPr txBox="1"/>
          <p:nvPr/>
        </p:nvSpPr>
        <p:spPr>
          <a:xfrm>
            <a:off x="20084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17" name="Text 14"/>
          <p:cNvSpPr txBox="1"/>
          <p:nvPr/>
        </p:nvSpPr>
        <p:spPr>
          <a:xfrm>
            <a:off x="52088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運賃収入で費用の8割を賄えた</a:t>
            </a:r>
            <a:endParaRPr lang="en-US" sz="1400" dirty="0"/>
          </a:p>
        </p:txBody>
      </p:sp>
      <p:sp>
        <p:nvSpPr>
          <p:cNvPr id="18" name="Shape 15"/>
          <p:cNvSpPr/>
          <p:nvPr/>
        </p:nvSpPr>
        <p:spPr>
          <a:xfrm>
            <a:off x="200848" y="4859136"/>
            <a:ext cx="2985120" cy="0"/>
          </a:xfrm>
          <a:prstGeom prst="line">
            <a:avLst/>
          </a:prstGeom>
          <a:noFill/>
          <a:ln w="9525">
            <a:solidFill>
              <a:srgbClr val="CCCCCC"/>
            </a:solidFill>
            <a:prstDash val="solid"/>
          </a:ln>
        </p:spPr>
      </p:sp>
      <p:sp>
        <p:nvSpPr>
          <p:cNvPr id="19" name="Text 16"/>
          <p:cNvSpPr txBox="1"/>
          <p:nvPr/>
        </p:nvSpPr>
        <p:spPr>
          <a:xfrm>
            <a:off x="20084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52088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市の補助は年1億円で足りていた</a:t>
            </a:r>
            <a:endParaRPr lang="en-US" sz="1400" dirty="0"/>
          </a:p>
        </p:txBody>
      </p:sp>
      <p:sp>
        <p:nvSpPr>
          <p:cNvPr id="21" name="Shape 18"/>
          <p:cNvSpPr/>
          <p:nvPr/>
        </p:nvSpPr>
        <p:spPr>
          <a:xfrm>
            <a:off x="3231688" y="1771664"/>
            <a:ext cx="90526" cy="181051"/>
          </a:xfrm>
          <a:custGeom>
            <a:avLst/>
            <a:gdLst/>
            <a:ahLst/>
            <a:cxnLst/>
            <a:rect l="l" t="t" r="r" b="b"/>
            <a:pathLst>
              <a:path w="90526" h="181051">
                <a:moveTo>
                  <a:pt x="0" y="0"/>
                </a:moveTo>
                <a:lnTo>
                  <a:pt x="90526" y="90526"/>
                </a:lnTo>
                <a:lnTo>
                  <a:pt x="0" y="181051"/>
                </a:lnTo>
                <a:close/>
              </a:path>
            </a:pathLst>
          </a:custGeom>
          <a:solidFill>
            <a:srgbClr val="7F7F7F"/>
          </a:solidFill>
          <a:ln/>
        </p:spPr>
      </p:sp>
      <p:sp>
        <p:nvSpPr>
          <p:cNvPr id="22" name="Shape 19"/>
          <p:cNvSpPr/>
          <p:nvPr/>
        </p:nvSpPr>
        <p:spPr>
          <a:xfrm>
            <a:off x="3299582" y="1777837"/>
            <a:ext cx="75918" cy="168707"/>
          </a:xfrm>
          <a:custGeom>
            <a:avLst/>
            <a:gdLst/>
            <a:ahLst/>
            <a:cxnLst/>
            <a:rect l="l" t="t" r="r" b="b"/>
            <a:pathLst>
              <a:path w="75918" h="168707">
                <a:moveTo>
                  <a:pt x="0" y="0"/>
                </a:moveTo>
                <a:lnTo>
                  <a:pt x="75918" y="84353"/>
                </a:lnTo>
                <a:lnTo>
                  <a:pt x="0" y="168707"/>
                </a:lnTo>
              </a:path>
            </a:pathLst>
          </a:custGeom>
          <a:ln w="22225">
            <a:solidFill>
              <a:srgbClr val="7F7F7F"/>
            </a:solidFill>
            <a:prstDash val="solid"/>
          </a:ln>
        </p:spPr>
      </p:sp>
      <p:sp>
        <p:nvSpPr>
          <p:cNvPr id="23" name="Text 20"/>
          <p:cNvSpPr txBox="1"/>
          <p:nvPr/>
        </p:nvSpPr>
        <p:spPr>
          <a:xfrm>
            <a:off x="346028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課題</a:t>
            </a:r>
            <a:endParaRPr lang="en-US" sz="1800" dirty="0"/>
          </a:p>
        </p:txBody>
      </p:sp>
      <p:sp>
        <p:nvSpPr>
          <p:cNvPr id="24" name="Text 21"/>
          <p:cNvSpPr txBox="1"/>
          <p:nvPr/>
        </p:nvSpPr>
        <p:spPr>
          <a:xfrm>
            <a:off x="346028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前提が崩れた原因</a:t>
            </a:r>
            <a:endParaRPr lang="en-US" sz="1400" dirty="0"/>
          </a:p>
        </p:txBody>
      </p:sp>
      <p:sp>
        <p:nvSpPr>
          <p:cNvPr id="25" name="Shape 22"/>
          <p:cNvSpPr/>
          <p:nvPr/>
        </p:nvSpPr>
        <p:spPr>
          <a:xfrm>
            <a:off x="3460288" y="2216520"/>
            <a:ext cx="2985120" cy="0"/>
          </a:xfrm>
          <a:prstGeom prst="line">
            <a:avLst/>
          </a:prstGeom>
          <a:noFill/>
          <a:ln w="12700">
            <a:solidFill>
              <a:srgbClr val="7F7F7F"/>
            </a:solidFill>
            <a:prstDash val="solid"/>
          </a:ln>
        </p:spPr>
      </p:sp>
      <p:sp>
        <p:nvSpPr>
          <p:cNvPr id="26" name="Text 23"/>
          <p:cNvSpPr txBox="1"/>
          <p:nvPr/>
        </p:nvSpPr>
        <p:spPr>
          <a:xfrm>
            <a:off x="3460288" y="2490840"/>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7" name="Text 24"/>
          <p:cNvSpPr txBox="1"/>
          <p:nvPr/>
        </p:nvSpPr>
        <p:spPr>
          <a:xfrm>
            <a:off x="3780328" y="2490840"/>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生徒数が10年で35%減り、支線の乗客が半減した</a:t>
            </a:r>
            <a:endParaRPr lang="en-US" sz="1400" dirty="0"/>
          </a:p>
        </p:txBody>
      </p:sp>
      <p:sp>
        <p:nvSpPr>
          <p:cNvPr id="28" name="Shape 25"/>
          <p:cNvSpPr/>
          <p:nvPr/>
        </p:nvSpPr>
        <p:spPr>
          <a:xfrm>
            <a:off x="3460288" y="3560688"/>
            <a:ext cx="2985120" cy="0"/>
          </a:xfrm>
          <a:prstGeom prst="line">
            <a:avLst/>
          </a:prstGeom>
          <a:noFill/>
          <a:ln w="9525">
            <a:solidFill>
              <a:srgbClr val="CCCCCC"/>
            </a:solidFill>
            <a:prstDash val="solid"/>
          </a:ln>
        </p:spPr>
      </p:sp>
      <p:sp>
        <p:nvSpPr>
          <p:cNvPr id="29" name="Text 26"/>
          <p:cNvSpPr txBox="1"/>
          <p:nvPr/>
        </p:nvSpPr>
        <p:spPr>
          <a:xfrm>
            <a:off x="346028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30" name="Text 27"/>
          <p:cNvSpPr txBox="1"/>
          <p:nvPr/>
        </p:nvSpPr>
        <p:spPr>
          <a:xfrm>
            <a:off x="3780328" y="3789288"/>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運転士の賃金上昇で、費用が年1.1億円増えた</a:t>
            </a:r>
            <a:endParaRPr lang="en-US" sz="1400" dirty="0"/>
          </a:p>
        </p:txBody>
      </p:sp>
      <p:sp>
        <p:nvSpPr>
          <p:cNvPr id="31" name="Shape 28"/>
          <p:cNvSpPr/>
          <p:nvPr/>
        </p:nvSpPr>
        <p:spPr>
          <a:xfrm>
            <a:off x="3460288" y="4859136"/>
            <a:ext cx="2985120" cy="0"/>
          </a:xfrm>
          <a:prstGeom prst="line">
            <a:avLst/>
          </a:prstGeom>
          <a:noFill/>
          <a:ln w="9525">
            <a:solidFill>
              <a:srgbClr val="CCCCCC"/>
            </a:solidFill>
            <a:prstDash val="solid"/>
          </a:ln>
        </p:spPr>
      </p:sp>
      <p:sp>
        <p:nvSpPr>
          <p:cNvPr id="32" name="Text 29"/>
          <p:cNvSpPr txBox="1"/>
          <p:nvPr/>
        </p:nvSpPr>
        <p:spPr>
          <a:xfrm>
            <a:off x="346028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3" name="Text 30"/>
          <p:cNvSpPr txBox="1"/>
          <p:nvPr/>
        </p:nvSpPr>
        <p:spPr>
          <a:xfrm>
            <a:off x="3780328" y="5087736"/>
            <a:ext cx="2619360" cy="93268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赤字が補助の上限を年3.2億円上回った</a:t>
            </a:r>
            <a:endParaRPr lang="en-US" sz="1400" dirty="0"/>
          </a:p>
        </p:txBody>
      </p:sp>
      <p:sp>
        <p:nvSpPr>
          <p:cNvPr id="34" name="Shape 31"/>
          <p:cNvSpPr/>
          <p:nvPr/>
        </p:nvSpPr>
        <p:spPr>
          <a:xfrm>
            <a:off x="6491128" y="1771664"/>
            <a:ext cx="90526" cy="181051"/>
          </a:xfrm>
          <a:custGeom>
            <a:avLst/>
            <a:gdLst/>
            <a:ahLst/>
            <a:cxnLst/>
            <a:rect l="l" t="t" r="r" b="b"/>
            <a:pathLst>
              <a:path w="90526" h="181051">
                <a:moveTo>
                  <a:pt x="0" y="0"/>
                </a:moveTo>
                <a:lnTo>
                  <a:pt x="90526" y="90526"/>
                </a:lnTo>
                <a:lnTo>
                  <a:pt x="0" y="181051"/>
                </a:lnTo>
                <a:close/>
              </a:path>
            </a:pathLst>
          </a:custGeom>
          <a:solidFill>
            <a:srgbClr val="7F7F7F"/>
          </a:solidFill>
          <a:ln/>
        </p:spPr>
      </p:sp>
      <p:sp>
        <p:nvSpPr>
          <p:cNvPr id="35" name="Shape 32"/>
          <p:cNvSpPr/>
          <p:nvPr/>
        </p:nvSpPr>
        <p:spPr>
          <a:xfrm>
            <a:off x="6559022" y="1777837"/>
            <a:ext cx="75918" cy="168707"/>
          </a:xfrm>
          <a:custGeom>
            <a:avLst/>
            <a:gdLst/>
            <a:ahLst/>
            <a:cxnLst/>
            <a:rect l="l" t="t" r="r" b="b"/>
            <a:pathLst>
              <a:path w="75918" h="168707">
                <a:moveTo>
                  <a:pt x="0" y="0"/>
                </a:moveTo>
                <a:lnTo>
                  <a:pt x="75918" y="84353"/>
                </a:lnTo>
                <a:lnTo>
                  <a:pt x="0" y="168707"/>
                </a:lnTo>
              </a:path>
            </a:pathLst>
          </a:custGeom>
          <a:ln w="22225">
            <a:solidFill>
              <a:srgbClr val="7F7F7F"/>
            </a:solidFill>
            <a:prstDash val="solid"/>
          </a:ln>
        </p:spPr>
      </p:sp>
      <p:sp>
        <p:nvSpPr>
          <p:cNvPr id="36" name="Text 33"/>
          <p:cNvSpPr txBox="1"/>
          <p:nvPr/>
        </p:nvSpPr>
        <p:spPr>
          <a:xfrm>
            <a:off x="6719728" y="1485000"/>
            <a:ext cx="2985120" cy="365760"/>
          </a:xfrm>
          <a:prstGeom prst="rect">
            <a:avLst/>
          </a:prstGeom>
          <a:noFill/>
          <a:ln/>
        </p:spPr>
        <p:txBody>
          <a:bodyPr wrap="square" lIns="0" tIns="0" rIns="0" bIns="0" rtlCol="0" anchor="t"/>
          <a:lstStyle/>
          <a:p>
            <a:pPr indent="0" marL="0">
              <a:buNone/>
            </a:pPr>
            <a:r>
              <a:rPr lang="en-US" sz="1800" b="1" dirty="0">
                <a:solidFill>
                  <a:srgbClr val="3F3F3F"/>
                </a:solidFill>
                <a:latin typeface="Yu Gothic UI" pitchFamily="34" charset="0"/>
                <a:ea typeface="Yu Gothic UI" pitchFamily="34" charset="-122"/>
                <a:cs typeface="Yu Gothic UI" pitchFamily="34" charset="-120"/>
              </a:rPr>
              <a:t>解決</a:t>
            </a:r>
            <a:endParaRPr lang="en-US" sz="1800" dirty="0"/>
          </a:p>
        </p:txBody>
      </p:sp>
      <p:sp>
        <p:nvSpPr>
          <p:cNvPr id="37" name="Text 34"/>
          <p:cNvSpPr txBox="1"/>
          <p:nvPr/>
        </p:nvSpPr>
        <p:spPr>
          <a:xfrm>
            <a:off x="6719728" y="1869048"/>
            <a:ext cx="298512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とるべき打ち手</a:t>
            </a:r>
            <a:endParaRPr lang="en-US" sz="1400" dirty="0"/>
          </a:p>
        </p:txBody>
      </p:sp>
      <p:sp>
        <p:nvSpPr>
          <p:cNvPr id="38" name="Shape 35"/>
          <p:cNvSpPr/>
          <p:nvPr/>
        </p:nvSpPr>
        <p:spPr>
          <a:xfrm>
            <a:off x="6719728" y="2216520"/>
            <a:ext cx="2985120" cy="0"/>
          </a:xfrm>
          <a:prstGeom prst="line">
            <a:avLst/>
          </a:prstGeom>
          <a:noFill/>
          <a:ln w="15875">
            <a:solidFill>
              <a:srgbClr val="3F3F3F"/>
            </a:solidFill>
            <a:prstDash val="solid"/>
          </a:ln>
        </p:spPr>
      </p:sp>
      <p:sp>
        <p:nvSpPr>
          <p:cNvPr id="39" name="Text 36"/>
          <p:cNvSpPr txBox="1"/>
          <p:nvPr/>
        </p:nvSpPr>
        <p:spPr>
          <a:xfrm>
            <a:off x="6719728" y="2490840"/>
            <a:ext cx="27432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40" name="Text 37"/>
          <p:cNvSpPr txBox="1"/>
          <p:nvPr/>
        </p:nvSpPr>
        <p:spPr>
          <a:xfrm>
            <a:off x="7039768" y="2490840"/>
            <a:ext cx="2619360" cy="93268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支線を予約型交通に転換し、需要に合わせて運ぶ</a:t>
            </a:r>
            <a:endParaRPr lang="en-US" sz="1400" dirty="0"/>
          </a:p>
        </p:txBody>
      </p:sp>
      <p:sp>
        <p:nvSpPr>
          <p:cNvPr id="41" name="Shape 38"/>
          <p:cNvSpPr/>
          <p:nvPr/>
        </p:nvSpPr>
        <p:spPr>
          <a:xfrm>
            <a:off x="6719728" y="3560688"/>
            <a:ext cx="2985120" cy="0"/>
          </a:xfrm>
          <a:prstGeom prst="line">
            <a:avLst/>
          </a:prstGeom>
          <a:noFill/>
          <a:ln w="9525">
            <a:solidFill>
              <a:srgbClr val="CCCCCC"/>
            </a:solidFill>
            <a:prstDash val="solid"/>
          </a:ln>
        </p:spPr>
      </p:sp>
      <p:sp>
        <p:nvSpPr>
          <p:cNvPr id="42" name="Text 39"/>
          <p:cNvSpPr txBox="1"/>
          <p:nvPr/>
        </p:nvSpPr>
        <p:spPr>
          <a:xfrm>
            <a:off x="6719728" y="3789288"/>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43" name="Text 40"/>
          <p:cNvSpPr txBox="1"/>
          <p:nvPr/>
        </p:nvSpPr>
        <p:spPr>
          <a:xfrm>
            <a:off x="7039768" y="3789288"/>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運転士を幹線に集め、1人当たりの乗客を増やす</a:t>
            </a:r>
            <a:endParaRPr lang="en-US" sz="1400" dirty="0"/>
          </a:p>
        </p:txBody>
      </p:sp>
      <p:sp>
        <p:nvSpPr>
          <p:cNvPr id="44" name="Shape 41"/>
          <p:cNvSpPr/>
          <p:nvPr/>
        </p:nvSpPr>
        <p:spPr>
          <a:xfrm>
            <a:off x="6719728" y="4859136"/>
            <a:ext cx="2985120" cy="0"/>
          </a:xfrm>
          <a:prstGeom prst="line">
            <a:avLst/>
          </a:prstGeom>
          <a:noFill/>
          <a:ln w="9525">
            <a:solidFill>
              <a:srgbClr val="CCCCCC"/>
            </a:solidFill>
            <a:prstDash val="solid"/>
          </a:ln>
        </p:spPr>
      </p:sp>
      <p:sp>
        <p:nvSpPr>
          <p:cNvPr id="45" name="Text 42"/>
          <p:cNvSpPr txBox="1"/>
          <p:nvPr/>
        </p:nvSpPr>
        <p:spPr>
          <a:xfrm>
            <a:off x="6719728" y="5087736"/>
            <a:ext cx="27432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6" name="Text 43"/>
          <p:cNvSpPr txBox="1"/>
          <p:nvPr/>
        </p:nvSpPr>
        <p:spPr>
          <a:xfrm>
            <a:off x="7039768" y="5087736"/>
            <a:ext cx="2619360" cy="93268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補助を転換費用に充て、5年で赤字を半減する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課題ごとに打ち手を対応させると、効果が最も大きいのは支線の予約型交通への転換である。他の打ち手より先に、ここへ資源を集中すべきである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課題と打ち手の対応</a:t>
            </a:r>
            <a:pPr indent="0" marL="0">
              <a:buNone/>
            </a:pPr>
            <a:r>
              <a:rPr lang="en-US" sz="1100" dirty="0">
                <a:solidFill>
                  <a:srgbClr val="3F3F3F"/>
                </a:solidFill>
                <a:latin typeface="Yu Gothic UI" pitchFamily="34" charset="0"/>
                <a:ea typeface="Yu Gothic UI" pitchFamily="34" charset="-122"/>
                <a:cs typeface="Yu Gothic UI" pitchFamily="34" charset="-120"/>
              </a:rPr>
              <a:t>　（効果は赤字の削減額、億円／年）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注）効果は赤字の削減額（年）。重複は除いて合計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24</a:t>
            </a:r>
            <a:endParaRPr lang="en-US" sz="900" dirty="0"/>
          </a:p>
        </p:txBody>
      </p:sp>
      <p:sp>
        <p:nvSpPr>
          <p:cNvPr id="12" name="Text 9"/>
          <p:cNvSpPr txBox="1"/>
          <p:nvPr/>
        </p:nvSpPr>
        <p:spPr>
          <a:xfrm>
            <a:off x="200848" y="196596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13432"/>
            <a:ext cx="2528752" cy="0"/>
          </a:xfrm>
          <a:prstGeom prst="line">
            <a:avLst/>
          </a:prstGeom>
          <a:noFill/>
          <a:ln w="12700">
            <a:solidFill>
              <a:srgbClr val="7F7F7F"/>
            </a:solidFill>
            <a:prstDash val="solid"/>
          </a:ln>
        </p:spPr>
      </p:sp>
      <p:sp>
        <p:nvSpPr>
          <p:cNvPr id="14" name="Text 11"/>
          <p:cNvSpPr txBox="1"/>
          <p:nvPr/>
        </p:nvSpPr>
        <p:spPr>
          <a:xfrm>
            <a:off x="3090850" y="1965960"/>
            <a:ext cx="3367877"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3090850" y="2313432"/>
            <a:ext cx="2528752" cy="0"/>
          </a:xfrm>
          <a:prstGeom prst="line">
            <a:avLst/>
          </a:prstGeom>
          <a:noFill/>
          <a:ln w="12700">
            <a:solidFill>
              <a:srgbClr val="7F7F7F"/>
            </a:solidFill>
            <a:prstDash val="solid"/>
          </a:ln>
        </p:spPr>
      </p:sp>
      <p:sp>
        <p:nvSpPr>
          <p:cNvPr id="16" name="Text 13"/>
          <p:cNvSpPr txBox="1"/>
          <p:nvPr/>
        </p:nvSpPr>
        <p:spPr>
          <a:xfrm>
            <a:off x="5679811" y="1965960"/>
            <a:ext cx="778916"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p>
        </p:txBody>
      </p:sp>
      <p:sp>
        <p:nvSpPr>
          <p:cNvPr id="17" name="Shape 14"/>
          <p:cNvSpPr/>
          <p:nvPr/>
        </p:nvSpPr>
        <p:spPr>
          <a:xfrm>
            <a:off x="5679811" y="2313432"/>
            <a:ext cx="778916" cy="0"/>
          </a:xfrm>
          <a:prstGeom prst="line">
            <a:avLst/>
          </a:prstGeom>
          <a:noFill/>
          <a:ln w="12700">
            <a:solidFill>
              <a:srgbClr val="7F7F7F"/>
            </a:solidFill>
            <a:prstDash val="solid"/>
          </a:ln>
        </p:spPr>
      </p:sp>
      <p:sp>
        <p:nvSpPr>
          <p:cNvPr id="18" name="Shape 15"/>
          <p:cNvSpPr/>
          <p:nvPr/>
        </p:nvSpPr>
        <p:spPr>
          <a:xfrm>
            <a:off x="2837975" y="2052828"/>
            <a:ext cx="66229" cy="201168"/>
          </a:xfrm>
          <a:custGeom>
            <a:avLst/>
            <a:gdLst/>
            <a:ahLst/>
            <a:cxnLst/>
            <a:rect l="l" t="t" r="r" b="b"/>
            <a:pathLst>
              <a:path w="66229" h="201168">
                <a:moveTo>
                  <a:pt x="0" y="0"/>
                </a:moveTo>
                <a:lnTo>
                  <a:pt x="100584" y="100584"/>
                </a:lnTo>
                <a:lnTo>
                  <a:pt x="0" y="201168"/>
                </a:lnTo>
                <a:close/>
              </a:path>
            </a:pathLst>
          </a:custGeom>
          <a:solidFill>
            <a:srgbClr val="7F7F7F"/>
          </a:solidFill>
          <a:ln/>
        </p:spPr>
      </p:sp>
      <p:sp>
        <p:nvSpPr>
          <p:cNvPr id="19" name="Shape 16"/>
          <p:cNvSpPr/>
          <p:nvPr/>
        </p:nvSpPr>
        <p:spPr>
          <a:xfrm>
            <a:off x="2887647" y="2059686"/>
            <a:ext cx="55542" cy="187452"/>
          </a:xfrm>
          <a:custGeom>
            <a:avLst/>
            <a:gdLst/>
            <a:ahLst/>
            <a:cxnLst/>
            <a:rect l="l" t="t" r="r" b="b"/>
            <a:pathLst>
              <a:path w="55542" h="187452">
                <a:moveTo>
                  <a:pt x="0" y="0"/>
                </a:moveTo>
                <a:lnTo>
                  <a:pt x="84353" y="93726"/>
                </a:lnTo>
                <a:lnTo>
                  <a:pt x="0" y="187452"/>
                </a:lnTo>
              </a:path>
            </a:pathLst>
          </a:custGeom>
          <a:ln w="22225">
            <a:solidFill>
              <a:srgbClr val="7F7F7F"/>
            </a:solidFill>
            <a:prstDash val="solid"/>
          </a:ln>
        </p:spPr>
      </p:sp>
      <p:sp>
        <p:nvSpPr>
          <p:cNvPr id="20" name="Text 17"/>
          <p:cNvSpPr txBox="1"/>
          <p:nvPr/>
        </p:nvSpPr>
        <p:spPr>
          <a:xfrm>
            <a:off x="200848" y="2468880"/>
            <a:ext cx="180625" cy="9144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a:t>
            </a:r>
            <a:endParaRPr lang="en-US" sz="1200" dirty="0"/>
          </a:p>
        </p:txBody>
      </p:sp>
      <p:sp>
        <p:nvSpPr>
          <p:cNvPr id="21" name="Text 18"/>
          <p:cNvSpPr txBox="1"/>
          <p:nvPr/>
        </p:nvSpPr>
        <p:spPr>
          <a:xfrm>
            <a:off x="411577" y="2468880"/>
            <a:ext cx="2318023"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通学需要の減少で、支線の乗客が半減した</a:t>
            </a:r>
            <a:endParaRPr lang="en-US" sz="1400" dirty="0"/>
          </a:p>
        </p:txBody>
      </p:sp>
      <p:sp>
        <p:nvSpPr>
          <p:cNvPr id="22" name="Text 19"/>
          <p:cNvSpPr txBox="1"/>
          <p:nvPr/>
        </p:nvSpPr>
        <p:spPr>
          <a:xfrm>
            <a:off x="3090850" y="2468880"/>
            <a:ext cx="2528752"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支線12路線を予約型交通に転換する</a:t>
            </a:r>
            <a:endParaRPr lang="en-US" sz="1400" dirty="0"/>
          </a:p>
        </p:txBody>
      </p:sp>
      <p:sp>
        <p:nvSpPr>
          <p:cNvPr id="23" name="Text 20"/>
          <p:cNvSpPr txBox="1"/>
          <p:nvPr/>
        </p:nvSpPr>
        <p:spPr>
          <a:xfrm>
            <a:off x="5679811" y="246888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1.6</a:t>
            </a:r>
            <a:endParaRPr lang="en-US" sz="2000" dirty="0"/>
          </a:p>
        </p:txBody>
      </p:sp>
      <p:sp>
        <p:nvSpPr>
          <p:cNvPr id="24" name="Shape 21"/>
          <p:cNvSpPr/>
          <p:nvPr/>
        </p:nvSpPr>
        <p:spPr>
          <a:xfrm>
            <a:off x="200848" y="3474720"/>
            <a:ext cx="6257880" cy="0"/>
          </a:xfrm>
          <a:prstGeom prst="line">
            <a:avLst/>
          </a:prstGeom>
          <a:noFill/>
          <a:ln w="9525">
            <a:solidFill>
              <a:srgbClr val="CCCCCC"/>
            </a:solidFill>
            <a:prstDash val="solid"/>
          </a:ln>
        </p:spPr>
      </p:sp>
      <p:sp>
        <p:nvSpPr>
          <p:cNvPr id="25" name="Text 22"/>
          <p:cNvSpPr txBox="1"/>
          <p:nvPr/>
        </p:nvSpPr>
        <p:spPr>
          <a:xfrm>
            <a:off x="200848" y="3566160"/>
            <a:ext cx="180625"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411577" y="3566160"/>
            <a:ext cx="2318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運転士の不足で、幹線を増便できない</a:t>
            </a:r>
            <a:endParaRPr lang="en-US" sz="1400" dirty="0"/>
          </a:p>
        </p:txBody>
      </p:sp>
      <p:sp>
        <p:nvSpPr>
          <p:cNvPr id="27" name="Text 24"/>
          <p:cNvSpPr txBox="1"/>
          <p:nvPr/>
        </p:nvSpPr>
        <p:spPr>
          <a:xfrm>
            <a:off x="3090850" y="3566160"/>
            <a:ext cx="2528752"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支線の運転士を幹線へ再配置する</a:t>
            </a:r>
            <a:endParaRPr lang="en-US" sz="1400" dirty="0"/>
          </a:p>
        </p:txBody>
      </p:sp>
      <p:sp>
        <p:nvSpPr>
          <p:cNvPr id="28" name="Text 25"/>
          <p:cNvSpPr txBox="1"/>
          <p:nvPr/>
        </p:nvSpPr>
        <p:spPr>
          <a:xfrm>
            <a:off x="5679811" y="356616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0.5</a:t>
            </a:r>
            <a:endParaRPr lang="en-US" sz="2000" dirty="0"/>
          </a:p>
        </p:txBody>
      </p:sp>
      <p:sp>
        <p:nvSpPr>
          <p:cNvPr id="29" name="Shape 26"/>
          <p:cNvSpPr/>
          <p:nvPr/>
        </p:nvSpPr>
        <p:spPr>
          <a:xfrm>
            <a:off x="200848" y="4572000"/>
            <a:ext cx="6257880" cy="0"/>
          </a:xfrm>
          <a:prstGeom prst="line">
            <a:avLst/>
          </a:prstGeom>
          <a:noFill/>
          <a:ln w="9525">
            <a:solidFill>
              <a:srgbClr val="CCCCCC"/>
            </a:solidFill>
            <a:prstDash val="solid"/>
          </a:ln>
        </p:spPr>
      </p:sp>
      <p:sp>
        <p:nvSpPr>
          <p:cNvPr id="30" name="Text 27"/>
          <p:cNvSpPr txBox="1"/>
          <p:nvPr/>
        </p:nvSpPr>
        <p:spPr>
          <a:xfrm>
            <a:off x="200848" y="4663440"/>
            <a:ext cx="180625" cy="91440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1" name="Text 28"/>
          <p:cNvSpPr txBox="1"/>
          <p:nvPr/>
        </p:nvSpPr>
        <p:spPr>
          <a:xfrm>
            <a:off x="411577" y="4663440"/>
            <a:ext cx="2318023"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予約と案内が事業者ごとに分かれている</a:t>
            </a:r>
            <a:endParaRPr lang="en-US" sz="1400" dirty="0"/>
          </a:p>
        </p:txBody>
      </p:sp>
      <p:sp>
        <p:nvSpPr>
          <p:cNvPr id="32" name="Text 29"/>
          <p:cNvSpPr txBox="1"/>
          <p:nvPr/>
        </p:nvSpPr>
        <p:spPr>
          <a:xfrm>
            <a:off x="3090850" y="4663440"/>
            <a:ext cx="2528752"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予約センターで窓口を一本化する</a:t>
            </a:r>
            <a:endParaRPr lang="en-US" sz="1400" dirty="0"/>
          </a:p>
        </p:txBody>
      </p:sp>
      <p:sp>
        <p:nvSpPr>
          <p:cNvPr id="33" name="Text 30"/>
          <p:cNvSpPr txBox="1"/>
          <p:nvPr/>
        </p:nvSpPr>
        <p:spPr>
          <a:xfrm>
            <a:off x="5679811" y="4663440"/>
            <a:ext cx="778916" cy="914400"/>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0.3</a:t>
            </a:r>
            <a:endParaRPr lang="en-US" sz="2000" dirty="0"/>
          </a:p>
        </p:txBody>
      </p:sp>
      <p:sp>
        <p:nvSpPr>
          <p:cNvPr id="34" name="Text 31"/>
          <p:cNvSpPr txBox="1"/>
          <p:nvPr/>
        </p:nvSpPr>
        <p:spPr>
          <a:xfrm>
            <a:off x="3090850" y="5760720"/>
            <a:ext cx="3367877"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合計　2.4</a:t>
            </a:r>
            <a:endParaRPr lang="en-US" sz="1200" dirty="0"/>
          </a:p>
        </p:txBody>
      </p:sp>
      <p:sp>
        <p:nvSpPr>
          <p:cNvPr id="35" name="Shape 32"/>
          <p:cNvSpPr/>
          <p:nvPr/>
        </p:nvSpPr>
        <p:spPr>
          <a:xfrm>
            <a:off x="6687328" y="1874520"/>
            <a:ext cx="3017520" cy="4251960"/>
          </a:xfrm>
          <a:prstGeom prst="rect">
            <a:avLst/>
          </a:prstGeom>
          <a:solidFill>
            <a:srgbClr val="E0EEF8"/>
          </a:solidFill>
          <a:ln/>
        </p:spPr>
      </p:sp>
      <p:sp>
        <p:nvSpPr>
          <p:cNvPr id="36" name="Text 3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予約型への転換で効果の3分の2</a:t>
            </a:r>
            <a:endParaRPr lang="en-US" sz="1400" dirty="0"/>
          </a:p>
        </p:txBody>
      </p:sp>
      <p:sp>
        <p:nvSpPr>
          <p:cNvPr id="37" name="Text 3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赤字の削減2.4億円のうち1.6億円。通学需要の減少という最大の課題に直接応える。転換を他の打ち手より先に進めるべきである</a:t>
            </a:r>
            <a:endParaRPr lang="en-US" sz="1200" dirty="0"/>
          </a:p>
        </p:txBody>
      </p:sp>
      <p:sp>
        <p:nvSpPr>
          <p:cNvPr id="38" name="Shape 35"/>
          <p:cNvSpPr/>
          <p:nvPr/>
        </p:nvSpPr>
        <p:spPr>
          <a:xfrm>
            <a:off x="6870208" y="3936492"/>
            <a:ext cx="2651760" cy="0"/>
          </a:xfrm>
          <a:prstGeom prst="line">
            <a:avLst/>
          </a:prstGeom>
          <a:noFill/>
          <a:ln w="9525">
            <a:solidFill>
              <a:srgbClr val="CCCCCC"/>
            </a:solidFill>
            <a:prstDash val="solid"/>
          </a:ln>
        </p:spPr>
      </p:sp>
      <p:sp>
        <p:nvSpPr>
          <p:cNvPr id="39" name="Text 3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残る2つは転換の効果を広げる</a:t>
            </a:r>
            <a:endParaRPr lang="en-US" sz="1400" dirty="0"/>
          </a:p>
        </p:txBody>
      </p:sp>
      <p:sp>
        <p:nvSpPr>
          <p:cNvPr id="40" name="Text 3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運転士の再配置0.5億円は転換で浮いた人員を使う。窓口の一本化0.3億円は予約型の利用を支える。3つの打ち手は互いに効果を強め合う関係にある</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導入は1年で進め、利用者に影響が出るのは2027年1月の試行からである。12月までに車両と運転士を揃えることが、計画どおり進む条件となる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導入の工程</a:t>
            </a:r>
            <a:pPr indent="0" marL="0">
              <a:buNone/>
            </a:pPr>
            <a:r>
              <a:rPr lang="en-US" sz="1100" dirty="0">
                <a:solidFill>
                  <a:srgbClr val="3F3F3F"/>
                </a:solidFill>
                <a:latin typeface="Yu Gothic UI" pitchFamily="34" charset="0"/>
                <a:ea typeface="Yu Gothic UI" pitchFamily="34" charset="-122"/>
                <a:cs typeface="Yu Gothic UI" pitchFamily="34" charset="-120"/>
              </a:rPr>
              <a:t>　（2026年4月〜2027年4月）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25</a:t>
            </a:r>
            <a:endParaRPr lang="en-US" sz="900" dirty="0"/>
          </a:p>
        </p:txBody>
      </p:sp>
      <p:sp>
        <p:nvSpPr>
          <p:cNvPr id="12" name="Text 9"/>
          <p:cNvSpPr txBox="1"/>
          <p:nvPr/>
        </p:nvSpPr>
        <p:spPr>
          <a:xfrm>
            <a:off x="200848" y="271576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209544"/>
            <a:ext cx="9504000" cy="0"/>
          </a:xfrm>
          <a:prstGeom prst="line">
            <a:avLst/>
          </a:prstGeom>
          <a:noFill/>
          <a:ln w="9525">
            <a:solidFill>
              <a:srgbClr val="CCCCCC"/>
            </a:solidFill>
            <a:prstDash val="solid"/>
          </a:ln>
        </p:spPr>
      </p:sp>
      <p:sp>
        <p:nvSpPr>
          <p:cNvPr id="14" name="Text 11"/>
          <p:cNvSpPr txBox="1"/>
          <p:nvPr/>
        </p:nvSpPr>
        <p:spPr>
          <a:xfrm>
            <a:off x="200848" y="3264408"/>
            <a:ext cx="1097280"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やること</a:t>
            </a:r>
            <a:endParaRPr lang="en-US" sz="1400" dirty="0"/>
          </a:p>
        </p:txBody>
      </p:sp>
      <p:sp>
        <p:nvSpPr>
          <p:cNvPr id="15" name="Shape 12"/>
          <p:cNvSpPr/>
          <p:nvPr/>
        </p:nvSpPr>
        <p:spPr>
          <a:xfrm>
            <a:off x="200848" y="4123944"/>
            <a:ext cx="9504000" cy="0"/>
          </a:xfrm>
          <a:prstGeom prst="line">
            <a:avLst/>
          </a:prstGeom>
          <a:noFill/>
          <a:ln w="9525">
            <a:solidFill>
              <a:srgbClr val="CCCCCC"/>
            </a:solidFill>
            <a:prstDash val="solid"/>
          </a:ln>
        </p:spPr>
      </p:sp>
      <p:sp>
        <p:nvSpPr>
          <p:cNvPr id="16" name="Text 13"/>
          <p:cNvSpPr txBox="1"/>
          <p:nvPr/>
        </p:nvSpPr>
        <p:spPr>
          <a:xfrm>
            <a:off x="200848" y="417880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担当</a:t>
            </a:r>
            <a:endParaRPr lang="en-US" sz="1400" dirty="0"/>
          </a:p>
        </p:txBody>
      </p:sp>
      <p:sp>
        <p:nvSpPr>
          <p:cNvPr id="17" name="Shape 14"/>
          <p:cNvSpPr/>
          <p:nvPr/>
        </p:nvSpPr>
        <p:spPr>
          <a:xfrm>
            <a:off x="200848" y="4672584"/>
            <a:ext cx="9504000" cy="0"/>
          </a:xfrm>
          <a:prstGeom prst="line">
            <a:avLst/>
          </a:prstGeom>
          <a:noFill/>
          <a:ln w="9525">
            <a:solidFill>
              <a:srgbClr val="CCCCCC"/>
            </a:solidFill>
            <a:prstDash val="solid"/>
          </a:ln>
        </p:spPr>
      </p:sp>
      <p:sp>
        <p:nvSpPr>
          <p:cNvPr id="18" name="Text 15"/>
          <p:cNvSpPr txBox="1"/>
          <p:nvPr/>
        </p:nvSpPr>
        <p:spPr>
          <a:xfrm>
            <a:off x="200848" y="4727448"/>
            <a:ext cx="109728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終わりの条件</a:t>
            </a:r>
            <a:endParaRPr lang="en-US" sz="1400" dirty="0"/>
          </a:p>
        </p:txBody>
      </p:sp>
      <p:sp>
        <p:nvSpPr>
          <p:cNvPr id="19" name="Shape 16"/>
          <p:cNvSpPr/>
          <p:nvPr/>
        </p:nvSpPr>
        <p:spPr>
          <a:xfrm>
            <a:off x="1343848" y="1938528"/>
            <a:ext cx="1781928" cy="566928"/>
          </a:xfrm>
          <a:prstGeom prst="homePlate">
            <a:avLst/>
          </a:prstGeom>
          <a:solidFill>
            <a:srgbClr val="CCCCCC"/>
          </a:solidFill>
          <a:ln/>
        </p:spPr>
      </p:sp>
      <p:sp>
        <p:nvSpPr>
          <p:cNvPr id="20" name="Text 17"/>
          <p:cNvSpPr txBox="1"/>
          <p:nvPr/>
        </p:nvSpPr>
        <p:spPr>
          <a:xfrm>
            <a:off x="1599880"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　現状把握</a:t>
            </a:r>
            <a:endParaRPr lang="en-US" sz="1400" dirty="0"/>
          </a:p>
        </p:txBody>
      </p:sp>
      <p:sp>
        <p:nvSpPr>
          <p:cNvPr id="21" name="Text 18"/>
          <p:cNvSpPr txBox="1"/>
          <p:nvPr/>
        </p:nvSpPr>
        <p:spPr>
          <a:xfrm>
            <a:off x="1453576"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4〜6月</a:t>
            </a:r>
            <a:endParaRPr lang="en-US" sz="1400" dirty="0"/>
          </a:p>
        </p:txBody>
      </p:sp>
      <p:sp>
        <p:nvSpPr>
          <p:cNvPr id="22" name="Text 19"/>
          <p:cNvSpPr txBox="1"/>
          <p:nvPr/>
        </p:nvSpPr>
        <p:spPr>
          <a:xfrm>
            <a:off x="1453576"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乗降データで利用の実態を調べる</a:t>
            </a:r>
            <a:endParaRPr lang="en-US" sz="1400" dirty="0"/>
          </a:p>
        </p:txBody>
      </p:sp>
      <p:sp>
        <p:nvSpPr>
          <p:cNvPr id="23" name="Text 20"/>
          <p:cNvSpPr txBox="1"/>
          <p:nvPr/>
        </p:nvSpPr>
        <p:spPr>
          <a:xfrm>
            <a:off x="1453576"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 交通政策課</a:t>
            </a:r>
            <a:endParaRPr lang="en-US" sz="1400" dirty="0"/>
          </a:p>
        </p:txBody>
      </p:sp>
      <p:sp>
        <p:nvSpPr>
          <p:cNvPr id="24" name="Text 21"/>
          <p:cNvSpPr txBox="1"/>
          <p:nvPr/>
        </p:nvSpPr>
        <p:spPr>
          <a:xfrm>
            <a:off x="1453576"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支線ごとの需要が分かる</a:t>
            </a:r>
            <a:endParaRPr lang="en-US" sz="1400" dirty="0"/>
          </a:p>
        </p:txBody>
      </p:sp>
      <p:sp>
        <p:nvSpPr>
          <p:cNvPr id="25" name="Shape 22"/>
          <p:cNvSpPr/>
          <p:nvPr/>
        </p:nvSpPr>
        <p:spPr>
          <a:xfrm>
            <a:off x="2988616" y="1938528"/>
            <a:ext cx="1781928" cy="566928"/>
          </a:xfrm>
          <a:prstGeom prst="chevron">
            <a:avLst/>
          </a:prstGeom>
          <a:solidFill>
            <a:srgbClr val="CCCCCC"/>
          </a:solidFill>
          <a:ln/>
        </p:spPr>
      </p:sp>
      <p:sp>
        <p:nvSpPr>
          <p:cNvPr id="26" name="Text 23"/>
          <p:cNvSpPr txBox="1"/>
          <p:nvPr/>
        </p:nvSpPr>
        <p:spPr>
          <a:xfrm>
            <a:off x="3244648"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　設計</a:t>
            </a:r>
            <a:endParaRPr lang="en-US" sz="1400" dirty="0"/>
          </a:p>
        </p:txBody>
      </p:sp>
      <p:sp>
        <p:nvSpPr>
          <p:cNvPr id="27" name="Text 24"/>
          <p:cNvSpPr txBox="1"/>
          <p:nvPr/>
        </p:nvSpPr>
        <p:spPr>
          <a:xfrm>
            <a:off x="3098344"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7〜9月</a:t>
            </a:r>
            <a:endParaRPr lang="en-US" sz="1400" dirty="0"/>
          </a:p>
        </p:txBody>
      </p:sp>
      <p:sp>
        <p:nvSpPr>
          <p:cNvPr id="28" name="Text 25"/>
          <p:cNvSpPr txBox="1"/>
          <p:nvPr/>
        </p:nvSpPr>
        <p:spPr>
          <a:xfrm>
            <a:off x="3098344"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運行区域と予約のルールを決める</a:t>
            </a:r>
            <a:endParaRPr lang="en-US" sz="1400" dirty="0"/>
          </a:p>
        </p:txBody>
      </p:sp>
      <p:sp>
        <p:nvSpPr>
          <p:cNvPr id="29" name="Text 26"/>
          <p:cNvSpPr txBox="1"/>
          <p:nvPr/>
        </p:nvSpPr>
        <p:spPr>
          <a:xfrm>
            <a:off x="3098344"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30" name="Text 27"/>
          <p:cNvSpPr txBox="1"/>
          <p:nvPr/>
        </p:nvSpPr>
        <p:spPr>
          <a:xfrm>
            <a:off x="3098344"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協議会で承認される</a:t>
            </a:r>
            <a:endParaRPr lang="en-US" sz="1400" dirty="0"/>
          </a:p>
        </p:txBody>
      </p:sp>
      <p:sp>
        <p:nvSpPr>
          <p:cNvPr id="31" name="Shape 28"/>
          <p:cNvSpPr/>
          <p:nvPr/>
        </p:nvSpPr>
        <p:spPr>
          <a:xfrm>
            <a:off x="4633384" y="1938528"/>
            <a:ext cx="1781928" cy="566928"/>
          </a:xfrm>
          <a:prstGeom prst="chevron">
            <a:avLst/>
          </a:prstGeom>
          <a:solidFill>
            <a:srgbClr val="CCCCCC"/>
          </a:solidFill>
          <a:ln/>
        </p:spPr>
      </p:sp>
      <p:sp>
        <p:nvSpPr>
          <p:cNvPr id="32" name="Text 29"/>
          <p:cNvSpPr txBox="1"/>
          <p:nvPr/>
        </p:nvSpPr>
        <p:spPr>
          <a:xfrm>
            <a:off x="4889416"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　準備</a:t>
            </a:r>
            <a:endParaRPr lang="en-US" sz="1400" dirty="0"/>
          </a:p>
        </p:txBody>
      </p:sp>
      <p:sp>
        <p:nvSpPr>
          <p:cNvPr id="33" name="Text 30"/>
          <p:cNvSpPr txBox="1"/>
          <p:nvPr/>
        </p:nvSpPr>
        <p:spPr>
          <a:xfrm>
            <a:off x="4743112"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10〜12月</a:t>
            </a:r>
            <a:endParaRPr lang="en-US" sz="1400" dirty="0"/>
          </a:p>
        </p:txBody>
      </p:sp>
      <p:sp>
        <p:nvSpPr>
          <p:cNvPr id="34" name="Text 31"/>
          <p:cNvSpPr txBox="1"/>
          <p:nvPr/>
        </p:nvSpPr>
        <p:spPr>
          <a:xfrm>
            <a:off x="4743112"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車両と運転士を用意する</a:t>
            </a:r>
            <a:endParaRPr lang="en-US" sz="1400" dirty="0"/>
          </a:p>
        </p:txBody>
      </p:sp>
      <p:sp>
        <p:nvSpPr>
          <p:cNvPr id="35" name="Text 32"/>
          <p:cNvSpPr txBox="1"/>
          <p:nvPr/>
        </p:nvSpPr>
        <p:spPr>
          <a:xfrm>
            <a:off x="4743112"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36" name="Text 33"/>
          <p:cNvSpPr txBox="1"/>
          <p:nvPr/>
        </p:nvSpPr>
        <p:spPr>
          <a:xfrm>
            <a:off x="4743112" y="4727448"/>
            <a:ext cx="1461888"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車両8台と運転士10人</a:t>
            </a:r>
            <a:endParaRPr lang="en-US" sz="1400" dirty="0"/>
          </a:p>
        </p:txBody>
      </p:sp>
      <p:sp>
        <p:nvSpPr>
          <p:cNvPr id="37" name="Shape 34"/>
          <p:cNvSpPr/>
          <p:nvPr/>
        </p:nvSpPr>
        <p:spPr>
          <a:xfrm>
            <a:off x="6278152" y="1938528"/>
            <a:ext cx="1781928" cy="566928"/>
          </a:xfrm>
          <a:prstGeom prst="chevron">
            <a:avLst/>
          </a:prstGeom>
          <a:solidFill>
            <a:srgbClr val="000F78"/>
          </a:solidFill>
          <a:ln/>
        </p:spPr>
      </p:sp>
      <p:sp>
        <p:nvSpPr>
          <p:cNvPr id="38" name="Text 35"/>
          <p:cNvSpPr txBox="1"/>
          <p:nvPr/>
        </p:nvSpPr>
        <p:spPr>
          <a:xfrm>
            <a:off x="6534184" y="1938528"/>
            <a:ext cx="1324728"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39" name="Text 36"/>
          <p:cNvSpPr txBox="1"/>
          <p:nvPr/>
        </p:nvSpPr>
        <p:spPr>
          <a:xfrm>
            <a:off x="6387880"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2027年1〜3月</a:t>
            </a:r>
            <a:endParaRPr lang="en-US" sz="1400" dirty="0"/>
          </a:p>
        </p:txBody>
      </p:sp>
      <p:sp>
        <p:nvSpPr>
          <p:cNvPr id="40" name="Text 37"/>
          <p:cNvSpPr txBox="1"/>
          <p:nvPr/>
        </p:nvSpPr>
        <p:spPr>
          <a:xfrm>
            <a:off x="6387880" y="3264408"/>
            <a:ext cx="1461888" cy="8229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2地区で予約型を試す</a:t>
            </a:r>
            <a:endParaRPr lang="en-US" sz="1400" dirty="0"/>
          </a:p>
        </p:txBody>
      </p:sp>
      <p:sp>
        <p:nvSpPr>
          <p:cNvPr id="41" name="Text 38"/>
          <p:cNvSpPr txBox="1"/>
          <p:nvPr/>
        </p:nvSpPr>
        <p:spPr>
          <a:xfrm>
            <a:off x="6387880"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42" name="Text 39"/>
          <p:cNvSpPr txBox="1"/>
          <p:nvPr/>
        </p:nvSpPr>
        <p:spPr>
          <a:xfrm>
            <a:off x="6387880"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継続利用率80%以上</a:t>
            </a:r>
            <a:endParaRPr lang="en-US" sz="1400" dirty="0"/>
          </a:p>
        </p:txBody>
      </p:sp>
      <p:sp>
        <p:nvSpPr>
          <p:cNvPr id="43" name="Shape 40"/>
          <p:cNvSpPr/>
          <p:nvPr/>
        </p:nvSpPr>
        <p:spPr>
          <a:xfrm>
            <a:off x="7922920" y="1938528"/>
            <a:ext cx="1781928" cy="566928"/>
          </a:xfrm>
          <a:prstGeom prst="chevron">
            <a:avLst/>
          </a:prstGeom>
          <a:solidFill>
            <a:srgbClr val="CCCCCC"/>
          </a:solidFill>
          <a:ln/>
        </p:spPr>
      </p:sp>
      <p:sp>
        <p:nvSpPr>
          <p:cNvPr id="44" name="Text 41"/>
          <p:cNvSpPr txBox="1"/>
          <p:nvPr/>
        </p:nvSpPr>
        <p:spPr>
          <a:xfrm>
            <a:off x="8178952" y="1938528"/>
            <a:ext cx="1324728"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　本格運用</a:t>
            </a:r>
            <a:endParaRPr lang="en-US" sz="1400" dirty="0"/>
          </a:p>
        </p:txBody>
      </p:sp>
      <p:sp>
        <p:nvSpPr>
          <p:cNvPr id="45" name="Text 42"/>
          <p:cNvSpPr txBox="1"/>
          <p:nvPr/>
        </p:nvSpPr>
        <p:spPr>
          <a:xfrm>
            <a:off x="8032648" y="271576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2027年4月〜</a:t>
            </a:r>
            <a:endParaRPr lang="en-US" sz="1400" dirty="0"/>
          </a:p>
        </p:txBody>
      </p:sp>
      <p:sp>
        <p:nvSpPr>
          <p:cNvPr id="46" name="Text 43"/>
          <p:cNvSpPr txBox="1"/>
          <p:nvPr/>
        </p:nvSpPr>
        <p:spPr>
          <a:xfrm>
            <a:off x="8032648" y="3264408"/>
            <a:ext cx="1461888" cy="8229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支線に順次広げる</a:t>
            </a:r>
            <a:endParaRPr lang="en-US" sz="1400" dirty="0"/>
          </a:p>
        </p:txBody>
      </p:sp>
      <p:sp>
        <p:nvSpPr>
          <p:cNvPr id="47" name="Text 44"/>
          <p:cNvSpPr txBox="1"/>
          <p:nvPr/>
        </p:nvSpPr>
        <p:spPr>
          <a:xfrm>
            <a:off x="8032648" y="4178808"/>
            <a:ext cx="1461888" cy="5029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市・バス会社</a:t>
            </a:r>
            <a:endParaRPr lang="en-US" sz="1400" dirty="0"/>
          </a:p>
        </p:txBody>
      </p:sp>
      <p:sp>
        <p:nvSpPr>
          <p:cNvPr id="48" name="Text 45"/>
          <p:cNvSpPr txBox="1"/>
          <p:nvPr/>
        </p:nvSpPr>
        <p:spPr>
          <a:xfrm>
            <a:off x="8032648" y="4727448"/>
            <a:ext cx="1461888" cy="6858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9" name="Text 46"/>
          <p:cNvSpPr txBox="1"/>
          <p:nvPr/>
        </p:nvSpPr>
        <p:spPr>
          <a:xfrm>
            <a:off x="200848" y="5687568"/>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試行の開始条件：12月末までに車両8台と運転士10人を揃えること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全体の完了時期は、最も長い予約システムの整備で決まる。整備に着手する6月までに予算を確定できるかが、計画の成否を分ける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3F3F3F"/>
                </a:solidFill>
                <a:latin typeface="Yu Gothic UI" pitchFamily="34" charset="0"/>
                <a:ea typeface="Yu Gothic UI" pitchFamily="34" charset="-122"/>
                <a:cs typeface="Yu Gothic UI" pitchFamily="34" charset="-120"/>
              </a:rPr>
              <a:t>　（2026年度）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1886683"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2267686"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2267686" y="2240280"/>
            <a:ext cx="0" cy="3566160"/>
          </a:xfrm>
          <a:prstGeom prst="line">
            <a:avLst/>
          </a:prstGeom>
          <a:noFill/>
          <a:ln w="9525">
            <a:solidFill>
              <a:srgbClr val="E0EEF8"/>
            </a:solidFill>
            <a:prstDash val="solid"/>
          </a:ln>
        </p:spPr>
      </p:sp>
      <p:sp>
        <p:nvSpPr>
          <p:cNvPr id="15" name="Text 12"/>
          <p:cNvSpPr txBox="1"/>
          <p:nvPr/>
        </p:nvSpPr>
        <p:spPr>
          <a:xfrm>
            <a:off x="2648690"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2648690" y="2240280"/>
            <a:ext cx="0" cy="3566160"/>
          </a:xfrm>
          <a:prstGeom prst="line">
            <a:avLst/>
          </a:prstGeom>
          <a:noFill/>
          <a:ln w="9525">
            <a:solidFill>
              <a:srgbClr val="E0EEF8"/>
            </a:solidFill>
            <a:prstDash val="solid"/>
          </a:ln>
        </p:spPr>
      </p:sp>
      <p:sp>
        <p:nvSpPr>
          <p:cNvPr id="17" name="Text 14"/>
          <p:cNvSpPr txBox="1"/>
          <p:nvPr/>
        </p:nvSpPr>
        <p:spPr>
          <a:xfrm>
            <a:off x="3029694"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3029694" y="2240280"/>
            <a:ext cx="0" cy="3566160"/>
          </a:xfrm>
          <a:prstGeom prst="line">
            <a:avLst/>
          </a:prstGeom>
          <a:noFill/>
          <a:ln w="9525">
            <a:solidFill>
              <a:srgbClr val="E0EEF8"/>
            </a:solidFill>
            <a:prstDash val="solid"/>
          </a:ln>
        </p:spPr>
      </p:sp>
      <p:sp>
        <p:nvSpPr>
          <p:cNvPr id="19" name="Text 16"/>
          <p:cNvSpPr txBox="1"/>
          <p:nvPr/>
        </p:nvSpPr>
        <p:spPr>
          <a:xfrm>
            <a:off x="3410698"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3410698" y="2240280"/>
            <a:ext cx="0" cy="3566160"/>
          </a:xfrm>
          <a:prstGeom prst="line">
            <a:avLst/>
          </a:prstGeom>
          <a:noFill/>
          <a:ln w="9525">
            <a:solidFill>
              <a:srgbClr val="E0EEF8"/>
            </a:solidFill>
            <a:prstDash val="solid"/>
          </a:ln>
        </p:spPr>
      </p:sp>
      <p:sp>
        <p:nvSpPr>
          <p:cNvPr id="21" name="Text 18"/>
          <p:cNvSpPr txBox="1"/>
          <p:nvPr/>
        </p:nvSpPr>
        <p:spPr>
          <a:xfrm>
            <a:off x="3791701"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3791701" y="2240280"/>
            <a:ext cx="0" cy="3566160"/>
          </a:xfrm>
          <a:prstGeom prst="line">
            <a:avLst/>
          </a:prstGeom>
          <a:noFill/>
          <a:ln w="9525">
            <a:solidFill>
              <a:srgbClr val="E0EEF8"/>
            </a:solidFill>
            <a:prstDash val="solid"/>
          </a:ln>
        </p:spPr>
      </p:sp>
      <p:sp>
        <p:nvSpPr>
          <p:cNvPr id="23" name="Text 20"/>
          <p:cNvSpPr txBox="1"/>
          <p:nvPr/>
        </p:nvSpPr>
        <p:spPr>
          <a:xfrm>
            <a:off x="4172705"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4172705" y="2240280"/>
            <a:ext cx="0" cy="3566160"/>
          </a:xfrm>
          <a:prstGeom prst="line">
            <a:avLst/>
          </a:prstGeom>
          <a:noFill/>
          <a:ln w="9525">
            <a:solidFill>
              <a:srgbClr val="E0EEF8"/>
            </a:solidFill>
            <a:prstDash val="solid"/>
          </a:ln>
        </p:spPr>
      </p:sp>
      <p:sp>
        <p:nvSpPr>
          <p:cNvPr id="25" name="Text 22"/>
          <p:cNvSpPr txBox="1"/>
          <p:nvPr/>
        </p:nvSpPr>
        <p:spPr>
          <a:xfrm>
            <a:off x="4553709"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4553709" y="2240280"/>
            <a:ext cx="0" cy="3566160"/>
          </a:xfrm>
          <a:prstGeom prst="line">
            <a:avLst/>
          </a:prstGeom>
          <a:noFill/>
          <a:ln w="9525">
            <a:solidFill>
              <a:srgbClr val="E0EEF8"/>
            </a:solidFill>
            <a:prstDash val="solid"/>
          </a:ln>
        </p:spPr>
      </p:sp>
      <p:sp>
        <p:nvSpPr>
          <p:cNvPr id="27" name="Text 24"/>
          <p:cNvSpPr txBox="1"/>
          <p:nvPr/>
        </p:nvSpPr>
        <p:spPr>
          <a:xfrm>
            <a:off x="4934713"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4934713" y="2240280"/>
            <a:ext cx="0" cy="3566160"/>
          </a:xfrm>
          <a:prstGeom prst="line">
            <a:avLst/>
          </a:prstGeom>
          <a:noFill/>
          <a:ln w="9525">
            <a:solidFill>
              <a:srgbClr val="E0EEF8"/>
            </a:solidFill>
            <a:prstDash val="solid"/>
          </a:ln>
        </p:spPr>
      </p:sp>
      <p:sp>
        <p:nvSpPr>
          <p:cNvPr id="29" name="Text 26"/>
          <p:cNvSpPr txBox="1"/>
          <p:nvPr/>
        </p:nvSpPr>
        <p:spPr>
          <a:xfrm>
            <a:off x="5315716"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5315716" y="2240280"/>
            <a:ext cx="0" cy="3566160"/>
          </a:xfrm>
          <a:prstGeom prst="line">
            <a:avLst/>
          </a:prstGeom>
          <a:noFill/>
          <a:ln w="9525">
            <a:solidFill>
              <a:srgbClr val="E0EEF8"/>
            </a:solidFill>
            <a:prstDash val="solid"/>
          </a:ln>
        </p:spPr>
      </p:sp>
      <p:sp>
        <p:nvSpPr>
          <p:cNvPr id="31" name="Text 28"/>
          <p:cNvSpPr txBox="1"/>
          <p:nvPr/>
        </p:nvSpPr>
        <p:spPr>
          <a:xfrm>
            <a:off x="5696720" y="1920240"/>
            <a:ext cx="5786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5696720" y="2240280"/>
            <a:ext cx="0" cy="3566160"/>
          </a:xfrm>
          <a:prstGeom prst="line">
            <a:avLst/>
          </a:prstGeom>
          <a:noFill/>
          <a:ln w="9525">
            <a:solidFill>
              <a:srgbClr val="E0EEF8"/>
            </a:solidFill>
            <a:prstDash val="solid"/>
          </a:ln>
        </p:spPr>
      </p:sp>
      <p:sp>
        <p:nvSpPr>
          <p:cNvPr id="33" name="Text 30"/>
          <p:cNvSpPr txBox="1"/>
          <p:nvPr/>
        </p:nvSpPr>
        <p:spPr>
          <a:xfrm>
            <a:off x="6077724" y="1920240"/>
            <a:ext cx="381004"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6077724" y="2240280"/>
            <a:ext cx="0" cy="3566160"/>
          </a:xfrm>
          <a:prstGeom prst="line">
            <a:avLst/>
          </a:prstGeom>
          <a:noFill/>
          <a:ln w="9525">
            <a:solidFill>
              <a:srgbClr val="E0EEF8"/>
            </a:solidFill>
            <a:prstDash val="solid"/>
          </a:ln>
        </p:spPr>
      </p:sp>
      <p:sp>
        <p:nvSpPr>
          <p:cNvPr id="35" name="Shape 32"/>
          <p:cNvSpPr/>
          <p:nvPr/>
        </p:nvSpPr>
        <p:spPr>
          <a:xfrm>
            <a:off x="200848" y="2240280"/>
            <a:ext cx="6257880" cy="0"/>
          </a:xfrm>
          <a:prstGeom prst="line">
            <a:avLst/>
          </a:prstGeom>
          <a:noFill/>
          <a:ln w="12700">
            <a:solidFill>
              <a:srgbClr val="7F7F7F"/>
            </a:solidFill>
            <a:prstDash val="solid"/>
          </a:ln>
        </p:spPr>
      </p:sp>
      <p:sp>
        <p:nvSpPr>
          <p:cNvPr id="36" name="Text 33"/>
          <p:cNvSpPr txBox="1"/>
          <p:nvPr/>
        </p:nvSpPr>
        <p:spPr>
          <a:xfrm>
            <a:off x="200848" y="237744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p>
        </p:txBody>
      </p:sp>
      <p:sp>
        <p:nvSpPr>
          <p:cNvPr id="37" name="Shape 34"/>
          <p:cNvSpPr/>
          <p:nvPr/>
        </p:nvSpPr>
        <p:spPr>
          <a:xfrm>
            <a:off x="1904745" y="2450592"/>
            <a:ext cx="1106886" cy="237744"/>
          </a:xfrm>
          <a:prstGeom prst="rect">
            <a:avLst/>
          </a:prstGeom>
          <a:solidFill>
            <a:srgbClr val="CCCCCC"/>
          </a:solidFill>
          <a:ln/>
        </p:spPr>
      </p:sp>
      <p:sp>
        <p:nvSpPr>
          <p:cNvPr id="38" name="Shape 35"/>
          <p:cNvSpPr/>
          <p:nvPr/>
        </p:nvSpPr>
        <p:spPr>
          <a:xfrm>
            <a:off x="200848" y="2852928"/>
            <a:ext cx="6257880" cy="0"/>
          </a:xfrm>
          <a:prstGeom prst="line">
            <a:avLst/>
          </a:prstGeom>
          <a:noFill/>
          <a:ln w="9525">
            <a:solidFill>
              <a:srgbClr val="E0EEF8"/>
            </a:solidFill>
            <a:prstDash val="solid"/>
          </a:ln>
        </p:spPr>
      </p:sp>
      <p:sp>
        <p:nvSpPr>
          <p:cNvPr id="39" name="Text 36"/>
          <p:cNvSpPr txBox="1"/>
          <p:nvPr/>
        </p:nvSpPr>
        <p:spPr>
          <a:xfrm>
            <a:off x="200848" y="2944368"/>
            <a:ext cx="2468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予約システムの整備</a:t>
            </a:r>
            <a:endParaRPr lang="en-US" sz="1400" dirty="0"/>
          </a:p>
        </p:txBody>
      </p:sp>
      <p:sp>
        <p:nvSpPr>
          <p:cNvPr id="40" name="Shape 37"/>
          <p:cNvSpPr/>
          <p:nvPr/>
        </p:nvSpPr>
        <p:spPr>
          <a:xfrm>
            <a:off x="2666753" y="3017520"/>
            <a:ext cx="3011905" cy="237744"/>
          </a:xfrm>
          <a:prstGeom prst="rect">
            <a:avLst/>
          </a:prstGeom>
          <a:solidFill>
            <a:srgbClr val="000F78"/>
          </a:solidFill>
          <a:ln/>
        </p:spPr>
      </p:sp>
      <p:sp>
        <p:nvSpPr>
          <p:cNvPr id="41" name="Shape 38"/>
          <p:cNvSpPr/>
          <p:nvPr/>
        </p:nvSpPr>
        <p:spPr>
          <a:xfrm>
            <a:off x="200848" y="3419856"/>
            <a:ext cx="6257880" cy="0"/>
          </a:xfrm>
          <a:prstGeom prst="line">
            <a:avLst/>
          </a:prstGeom>
          <a:noFill/>
          <a:ln w="9525">
            <a:solidFill>
              <a:srgbClr val="E0EEF8"/>
            </a:solidFill>
            <a:prstDash val="solid"/>
          </a:ln>
        </p:spPr>
      </p:sp>
      <p:sp>
        <p:nvSpPr>
          <p:cNvPr id="42" name="Text 39"/>
          <p:cNvSpPr txBox="1"/>
          <p:nvPr/>
        </p:nvSpPr>
        <p:spPr>
          <a:xfrm>
            <a:off x="200848" y="3511296"/>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p>
        </p:txBody>
      </p:sp>
      <p:sp>
        <p:nvSpPr>
          <p:cNvPr id="43" name="Shape 40"/>
          <p:cNvSpPr/>
          <p:nvPr/>
        </p:nvSpPr>
        <p:spPr>
          <a:xfrm>
            <a:off x="2285749" y="3584448"/>
            <a:ext cx="1868894" cy="237744"/>
          </a:xfrm>
          <a:prstGeom prst="rect">
            <a:avLst/>
          </a:prstGeom>
          <a:solidFill>
            <a:srgbClr val="CCCCCC"/>
          </a:solidFill>
          <a:ln/>
        </p:spPr>
      </p:sp>
      <p:sp>
        <p:nvSpPr>
          <p:cNvPr id="44" name="Shape 41"/>
          <p:cNvSpPr/>
          <p:nvPr/>
        </p:nvSpPr>
        <p:spPr>
          <a:xfrm>
            <a:off x="200848" y="3986784"/>
            <a:ext cx="6257880" cy="0"/>
          </a:xfrm>
          <a:prstGeom prst="line">
            <a:avLst/>
          </a:prstGeom>
          <a:noFill/>
          <a:ln w="9525">
            <a:solidFill>
              <a:srgbClr val="E0EEF8"/>
            </a:solidFill>
            <a:prstDash val="solid"/>
          </a:ln>
        </p:spPr>
      </p:sp>
      <p:sp>
        <p:nvSpPr>
          <p:cNvPr id="45" name="Text 42"/>
          <p:cNvSpPr txBox="1"/>
          <p:nvPr/>
        </p:nvSpPr>
        <p:spPr>
          <a:xfrm>
            <a:off x="200848" y="4078224"/>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p>
        </p:txBody>
      </p:sp>
      <p:sp>
        <p:nvSpPr>
          <p:cNvPr id="46" name="Shape 43"/>
          <p:cNvSpPr/>
          <p:nvPr/>
        </p:nvSpPr>
        <p:spPr>
          <a:xfrm>
            <a:off x="3809764" y="4151376"/>
            <a:ext cx="1106886" cy="237744"/>
          </a:xfrm>
          <a:prstGeom prst="rect">
            <a:avLst/>
          </a:prstGeom>
          <a:solidFill>
            <a:srgbClr val="CCCCCC"/>
          </a:solidFill>
          <a:ln/>
        </p:spPr>
      </p:sp>
      <p:sp>
        <p:nvSpPr>
          <p:cNvPr id="47" name="Shape 44"/>
          <p:cNvSpPr/>
          <p:nvPr/>
        </p:nvSpPr>
        <p:spPr>
          <a:xfrm>
            <a:off x="200848" y="4553712"/>
            <a:ext cx="6257880" cy="0"/>
          </a:xfrm>
          <a:prstGeom prst="line">
            <a:avLst/>
          </a:prstGeom>
          <a:noFill/>
          <a:ln w="9525">
            <a:solidFill>
              <a:srgbClr val="E0EEF8"/>
            </a:solidFill>
            <a:prstDash val="solid"/>
          </a:ln>
        </p:spPr>
      </p:sp>
      <p:sp>
        <p:nvSpPr>
          <p:cNvPr id="48" name="Text 45"/>
          <p:cNvSpPr txBox="1"/>
          <p:nvPr/>
        </p:nvSpPr>
        <p:spPr>
          <a:xfrm>
            <a:off x="200848" y="4645152"/>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2地区での試行</a:t>
            </a:r>
            <a:endParaRPr lang="en-US" sz="1400" dirty="0"/>
          </a:p>
        </p:txBody>
      </p:sp>
      <p:sp>
        <p:nvSpPr>
          <p:cNvPr id="49" name="Shape 46"/>
          <p:cNvSpPr/>
          <p:nvPr/>
        </p:nvSpPr>
        <p:spPr>
          <a:xfrm>
            <a:off x="5333779" y="4718304"/>
            <a:ext cx="1106886" cy="237744"/>
          </a:xfrm>
          <a:prstGeom prst="rect">
            <a:avLst/>
          </a:prstGeom>
          <a:solidFill>
            <a:srgbClr val="CCCCCC"/>
          </a:solidFill>
          <a:ln/>
        </p:spPr>
      </p:sp>
      <p:sp>
        <p:nvSpPr>
          <p:cNvPr id="50" name="Shape 47"/>
          <p:cNvSpPr/>
          <p:nvPr/>
        </p:nvSpPr>
        <p:spPr>
          <a:xfrm>
            <a:off x="200848" y="5120640"/>
            <a:ext cx="6257880" cy="0"/>
          </a:xfrm>
          <a:prstGeom prst="line">
            <a:avLst/>
          </a:prstGeom>
          <a:noFill/>
          <a:ln w="9525">
            <a:solidFill>
              <a:srgbClr val="E0EEF8"/>
            </a:solidFill>
            <a:prstDash val="solid"/>
          </a:ln>
        </p:spPr>
      </p:sp>
      <p:sp>
        <p:nvSpPr>
          <p:cNvPr id="51" name="Text 48"/>
          <p:cNvSpPr txBox="1"/>
          <p:nvPr/>
        </p:nvSpPr>
        <p:spPr>
          <a:xfrm>
            <a:off x="200848" y="5212080"/>
            <a:ext cx="2468880" cy="36576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効果の検証</a:t>
            </a:r>
            <a:endParaRPr lang="en-US" sz="1400" dirty="0"/>
          </a:p>
        </p:txBody>
      </p:sp>
      <p:sp>
        <p:nvSpPr>
          <p:cNvPr id="52" name="Shape 49"/>
          <p:cNvSpPr/>
          <p:nvPr/>
        </p:nvSpPr>
        <p:spPr>
          <a:xfrm>
            <a:off x="5714783" y="5285232"/>
            <a:ext cx="725882" cy="237744"/>
          </a:xfrm>
          <a:prstGeom prst="rect">
            <a:avLst/>
          </a:prstGeom>
          <a:solidFill>
            <a:srgbClr val="CCCCCC"/>
          </a:solidFill>
          <a:ln/>
        </p:spPr>
      </p:sp>
      <p:sp>
        <p:nvSpPr>
          <p:cNvPr id="53" name="Shape 50"/>
          <p:cNvSpPr/>
          <p:nvPr/>
        </p:nvSpPr>
        <p:spPr>
          <a:xfrm>
            <a:off x="4088413" y="5833872"/>
            <a:ext cx="168583" cy="256032"/>
          </a:xfrm>
          <a:prstGeom prst="diamond">
            <a:avLst/>
          </a:prstGeom>
          <a:solidFill>
            <a:srgbClr val="7F7F7F"/>
          </a:solidFill>
          <a:ln/>
        </p:spPr>
      </p:sp>
      <p:sp>
        <p:nvSpPr>
          <p:cNvPr id="54" name="Text 51"/>
          <p:cNvSpPr txBox="1"/>
          <p:nvPr/>
        </p:nvSpPr>
        <p:spPr>
          <a:xfrm>
            <a:off x="3185287" y="5852160"/>
            <a:ext cx="128016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協議の合意</a:t>
            </a:r>
            <a:endParaRPr lang="en-US" sz="1400" dirty="0"/>
          </a:p>
        </p:txBody>
      </p:sp>
      <p:sp>
        <p:nvSpPr>
          <p:cNvPr id="55" name="Shape 52"/>
          <p:cNvSpPr/>
          <p:nvPr/>
        </p:nvSpPr>
        <p:spPr>
          <a:xfrm>
            <a:off x="6290144" y="5833872"/>
            <a:ext cx="168583" cy="256032"/>
          </a:xfrm>
          <a:prstGeom prst="diamond">
            <a:avLst/>
          </a:prstGeom>
          <a:solidFill>
            <a:srgbClr val="7F7F7F"/>
          </a:solidFill>
          <a:ln/>
        </p:spPr>
      </p:sp>
      <p:sp>
        <p:nvSpPr>
          <p:cNvPr id="56" name="Text 53"/>
          <p:cNvSpPr txBox="1"/>
          <p:nvPr/>
        </p:nvSpPr>
        <p:spPr>
          <a:xfrm>
            <a:off x="5387018" y="5852160"/>
            <a:ext cx="1071709"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本格運用の判断</a:t>
            </a:r>
            <a:endParaRPr lang="en-US" sz="1400" dirty="0"/>
          </a:p>
        </p:txBody>
      </p:sp>
      <p:sp>
        <p:nvSpPr>
          <p:cNvPr id="57" name="Shape 54"/>
          <p:cNvSpPr/>
          <p:nvPr/>
        </p:nvSpPr>
        <p:spPr>
          <a:xfrm>
            <a:off x="6687328" y="1874520"/>
            <a:ext cx="3017520" cy="4251960"/>
          </a:xfrm>
          <a:prstGeom prst="rect">
            <a:avLst/>
          </a:prstGeom>
          <a:solidFill>
            <a:srgbClr val="E0EEF8"/>
          </a:solidFill>
          <a:ln/>
        </p:spPr>
      </p:sp>
      <p:sp>
        <p:nvSpPr>
          <p:cNvPr id="58" name="Text 5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予約システムの整備が最も長く、9か月かかる</a:t>
            </a:r>
            <a:endParaRPr lang="en-US" sz="1400" dirty="0"/>
          </a:p>
        </p:txBody>
      </p:sp>
      <p:sp>
        <p:nvSpPr>
          <p:cNvPr id="59" name="Text 5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6月に着手しなければ、1月の試行開始に間に合わない。他の作業は整備の進み具合に合わせて組んでいる。協議と規程の改定は、整備と並行して進める</a:t>
            </a:r>
            <a:endParaRPr lang="en-US" sz="1200" dirty="0"/>
          </a:p>
        </p:txBody>
      </p:sp>
      <p:sp>
        <p:nvSpPr>
          <p:cNvPr id="60" name="Shape 57"/>
          <p:cNvSpPr/>
          <p:nvPr/>
        </p:nvSpPr>
        <p:spPr>
          <a:xfrm>
            <a:off x="6870208" y="3936492"/>
            <a:ext cx="2651760" cy="0"/>
          </a:xfrm>
          <a:prstGeom prst="line">
            <a:avLst/>
          </a:prstGeom>
          <a:noFill/>
          <a:ln w="9525">
            <a:solidFill>
              <a:srgbClr val="CCCCCC"/>
            </a:solidFill>
            <a:prstDash val="solid"/>
          </a:ln>
        </p:spPr>
      </p:sp>
      <p:sp>
        <p:nvSpPr>
          <p:cNvPr id="61" name="Text 5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6月までに予算の確定が要る</a:t>
            </a:r>
            <a:endParaRPr lang="en-US" sz="1400" dirty="0"/>
          </a:p>
        </p:txBody>
      </p:sp>
      <p:sp>
        <p:nvSpPr>
          <p:cNvPr id="62" name="Text 5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整備費は補正予算で計上する。議会の承認が7月にずれると、試行の開始は2か月遅れる。予算の確定を、次の議会での最優先の案件とする</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利用登録の手続きは完了まで平均18日かかり、遅れの大半はバス会社での確認待ちで生じている。ここが手続きを短くする焦点となる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利用登録の手続きの流れ</a:t>
            </a:r>
            <a:pPr indent="0" marL="0">
              <a:buNone/>
            </a:pPr>
            <a:r>
              <a:rPr lang="en-US" sz="1100" dirty="0">
                <a:solidFill>
                  <a:srgbClr val="3F3F3F"/>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注）所要日数は2025年度の申請120件の平均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福祉課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00848" y="1920240"/>
            <a:ext cx="6257880" cy="1325880"/>
          </a:xfrm>
          <a:prstGeom prst="rect">
            <a:avLst/>
          </a:prstGeom>
          <a:solidFill>
            <a:srgbClr val="E0EEF8"/>
          </a:solidFill>
          <a:ln/>
        </p:spPr>
      </p:sp>
      <p:sp>
        <p:nvSpPr>
          <p:cNvPr id="13" name="Text 10"/>
          <p:cNvSpPr txBox="1"/>
          <p:nvPr/>
        </p:nvSpPr>
        <p:spPr>
          <a:xfrm>
            <a:off x="261056" y="192024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00848" y="3246120"/>
            <a:ext cx="6257880" cy="0"/>
          </a:xfrm>
          <a:prstGeom prst="line">
            <a:avLst/>
          </a:prstGeom>
          <a:noFill/>
          <a:ln w="9525">
            <a:solidFill>
              <a:srgbClr val="CCCCCC"/>
            </a:solidFill>
            <a:prstDash val="solid"/>
          </a:ln>
        </p:spPr>
      </p:sp>
      <p:sp>
        <p:nvSpPr>
          <p:cNvPr id="15" name="Text 12"/>
          <p:cNvSpPr txBox="1"/>
          <p:nvPr/>
        </p:nvSpPr>
        <p:spPr>
          <a:xfrm>
            <a:off x="261056" y="324612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市の窓口</a:t>
            </a:r>
            <a:endParaRPr lang="en-US" sz="1400" dirty="0"/>
          </a:p>
        </p:txBody>
      </p:sp>
      <p:sp>
        <p:nvSpPr>
          <p:cNvPr id="16" name="Shape 13"/>
          <p:cNvSpPr/>
          <p:nvPr/>
        </p:nvSpPr>
        <p:spPr>
          <a:xfrm>
            <a:off x="200848" y="4572000"/>
            <a:ext cx="6257880" cy="0"/>
          </a:xfrm>
          <a:prstGeom prst="line">
            <a:avLst/>
          </a:prstGeom>
          <a:noFill/>
          <a:ln w="9525">
            <a:solidFill>
              <a:srgbClr val="CCCCCC"/>
            </a:solidFill>
            <a:prstDash val="solid"/>
          </a:ln>
        </p:spPr>
      </p:sp>
      <p:sp>
        <p:nvSpPr>
          <p:cNvPr id="17" name="Shape 14"/>
          <p:cNvSpPr/>
          <p:nvPr/>
        </p:nvSpPr>
        <p:spPr>
          <a:xfrm>
            <a:off x="200848" y="4572000"/>
            <a:ext cx="6257880" cy="1325880"/>
          </a:xfrm>
          <a:prstGeom prst="rect">
            <a:avLst/>
          </a:prstGeom>
          <a:solidFill>
            <a:srgbClr val="E0EEF8"/>
          </a:solidFill>
          <a:ln/>
        </p:spPr>
      </p:sp>
      <p:sp>
        <p:nvSpPr>
          <p:cNvPr id="18" name="Text 15"/>
          <p:cNvSpPr txBox="1"/>
          <p:nvPr/>
        </p:nvSpPr>
        <p:spPr>
          <a:xfrm>
            <a:off x="261056" y="4572000"/>
            <a:ext cx="782709" cy="13258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バス会社</a:t>
            </a:r>
            <a:endParaRPr lang="en-US" sz="1400" dirty="0"/>
          </a:p>
        </p:txBody>
      </p:sp>
      <p:sp>
        <p:nvSpPr>
          <p:cNvPr id="19" name="Shape 16"/>
          <p:cNvSpPr/>
          <p:nvPr/>
        </p:nvSpPr>
        <p:spPr>
          <a:xfrm>
            <a:off x="200848" y="1920240"/>
            <a:ext cx="6257880" cy="0"/>
          </a:xfrm>
          <a:prstGeom prst="line">
            <a:avLst/>
          </a:prstGeom>
          <a:noFill/>
          <a:ln w="12700">
            <a:solidFill>
              <a:srgbClr val="7F7F7F"/>
            </a:solidFill>
            <a:prstDash val="solid"/>
          </a:ln>
        </p:spPr>
      </p:sp>
      <p:sp>
        <p:nvSpPr>
          <p:cNvPr id="20" name="Shape 17"/>
          <p:cNvSpPr/>
          <p:nvPr/>
        </p:nvSpPr>
        <p:spPr>
          <a:xfrm>
            <a:off x="1103973" y="1920240"/>
            <a:ext cx="0" cy="3977640"/>
          </a:xfrm>
          <a:prstGeom prst="line">
            <a:avLst/>
          </a:prstGeom>
          <a:noFill/>
          <a:ln w="9525">
            <a:solidFill>
              <a:srgbClr val="CCCCCC"/>
            </a:solidFill>
            <a:prstDash val="solid"/>
          </a:ln>
        </p:spPr>
      </p:sp>
      <p:sp>
        <p:nvSpPr>
          <p:cNvPr id="21" name="Shape 18"/>
          <p:cNvSpPr/>
          <p:nvPr/>
        </p:nvSpPr>
        <p:spPr>
          <a:xfrm>
            <a:off x="1194286" y="2263140"/>
            <a:ext cx="752605" cy="640080"/>
          </a:xfrm>
          <a:prstGeom prst="rect">
            <a:avLst/>
          </a:prstGeom>
          <a:solidFill>
            <a:srgbClr val="FFFFFF"/>
          </a:solidFill>
          <a:ln w="9525">
            <a:solidFill>
              <a:srgbClr val="7F7F7F"/>
            </a:solidFill>
            <a:prstDash val="solid"/>
          </a:ln>
        </p:spPr>
      </p:sp>
      <p:sp>
        <p:nvSpPr>
          <p:cNvPr id="22" name="Text 19"/>
          <p:cNvSpPr txBox="1"/>
          <p:nvPr/>
        </p:nvSpPr>
        <p:spPr>
          <a:xfrm>
            <a:off x="1224390" y="226314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申請</a:t>
            </a:r>
            <a:endParaRPr lang="en-US" sz="1400" dirty="0"/>
          </a:p>
        </p:txBody>
      </p:sp>
      <p:sp>
        <p:nvSpPr>
          <p:cNvPr id="23" name="Shape 20"/>
          <p:cNvSpPr/>
          <p:nvPr/>
        </p:nvSpPr>
        <p:spPr>
          <a:xfrm>
            <a:off x="1946891" y="2583180"/>
            <a:ext cx="45156" cy="0"/>
          </a:xfrm>
          <a:prstGeom prst="line">
            <a:avLst/>
          </a:prstGeom>
          <a:noFill/>
          <a:ln w="12700">
            <a:solidFill>
              <a:srgbClr val="7F7F7F"/>
            </a:solidFill>
            <a:prstDash val="solid"/>
          </a:ln>
        </p:spPr>
      </p:sp>
      <p:sp>
        <p:nvSpPr>
          <p:cNvPr id="24" name="Shape 21"/>
          <p:cNvSpPr/>
          <p:nvPr/>
        </p:nvSpPr>
        <p:spPr>
          <a:xfrm>
            <a:off x="1992047" y="2583180"/>
            <a:ext cx="0" cy="1325880"/>
          </a:xfrm>
          <a:prstGeom prst="line">
            <a:avLst/>
          </a:prstGeom>
          <a:noFill/>
          <a:ln w="12700">
            <a:solidFill>
              <a:srgbClr val="7F7F7F"/>
            </a:solidFill>
            <a:prstDash val="solid"/>
          </a:ln>
        </p:spPr>
      </p:sp>
      <p:sp>
        <p:nvSpPr>
          <p:cNvPr id="25" name="Shape 22"/>
          <p:cNvSpPr/>
          <p:nvPr/>
        </p:nvSpPr>
        <p:spPr>
          <a:xfrm>
            <a:off x="1992047" y="3909060"/>
            <a:ext cx="45156" cy="0"/>
          </a:xfrm>
          <a:prstGeom prst="line">
            <a:avLst/>
          </a:prstGeom>
          <a:noFill/>
          <a:ln w="12700">
            <a:solidFill>
              <a:srgbClr val="7F7F7F"/>
            </a:solidFill>
            <a:prstDash val="solid"/>
            <a:tailEnd type="triangle"/>
          </a:ln>
        </p:spPr>
      </p:sp>
      <p:sp>
        <p:nvSpPr>
          <p:cNvPr id="26" name="Shape 23"/>
          <p:cNvSpPr/>
          <p:nvPr/>
        </p:nvSpPr>
        <p:spPr>
          <a:xfrm>
            <a:off x="2037204" y="3589020"/>
            <a:ext cx="752605" cy="640080"/>
          </a:xfrm>
          <a:prstGeom prst="rect">
            <a:avLst/>
          </a:prstGeom>
          <a:solidFill>
            <a:srgbClr val="FFFFFF"/>
          </a:solidFill>
          <a:ln w="9525">
            <a:solidFill>
              <a:srgbClr val="7F7F7F"/>
            </a:solidFill>
            <a:prstDash val="solid"/>
          </a:ln>
        </p:spPr>
      </p:sp>
      <p:sp>
        <p:nvSpPr>
          <p:cNvPr id="27" name="Text 24"/>
          <p:cNvSpPr txBox="1"/>
          <p:nvPr/>
        </p:nvSpPr>
        <p:spPr>
          <a:xfrm>
            <a:off x="2067308" y="358902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a:t>
            </a:r>
            <a:endParaRPr lang="en-US" sz="1400" dirty="0"/>
          </a:p>
        </p:txBody>
      </p:sp>
      <p:sp>
        <p:nvSpPr>
          <p:cNvPr id="28" name="Shape 25"/>
          <p:cNvSpPr/>
          <p:nvPr/>
        </p:nvSpPr>
        <p:spPr>
          <a:xfrm>
            <a:off x="2789808" y="3909060"/>
            <a:ext cx="45156" cy="0"/>
          </a:xfrm>
          <a:prstGeom prst="line">
            <a:avLst/>
          </a:prstGeom>
          <a:noFill/>
          <a:ln w="12700">
            <a:solidFill>
              <a:srgbClr val="7F7F7F"/>
            </a:solidFill>
            <a:prstDash val="solid"/>
          </a:ln>
        </p:spPr>
      </p:sp>
      <p:sp>
        <p:nvSpPr>
          <p:cNvPr id="29" name="Shape 26"/>
          <p:cNvSpPr/>
          <p:nvPr/>
        </p:nvSpPr>
        <p:spPr>
          <a:xfrm>
            <a:off x="2834965" y="3909060"/>
            <a:ext cx="0" cy="1325880"/>
          </a:xfrm>
          <a:prstGeom prst="line">
            <a:avLst/>
          </a:prstGeom>
          <a:noFill/>
          <a:ln w="12700">
            <a:solidFill>
              <a:srgbClr val="7F7F7F"/>
            </a:solidFill>
            <a:prstDash val="solid"/>
          </a:ln>
        </p:spPr>
      </p:sp>
      <p:sp>
        <p:nvSpPr>
          <p:cNvPr id="30" name="Shape 27"/>
          <p:cNvSpPr/>
          <p:nvPr/>
        </p:nvSpPr>
        <p:spPr>
          <a:xfrm>
            <a:off x="2834965" y="5234940"/>
            <a:ext cx="45156" cy="0"/>
          </a:xfrm>
          <a:prstGeom prst="line">
            <a:avLst/>
          </a:prstGeom>
          <a:noFill/>
          <a:ln w="12700">
            <a:solidFill>
              <a:srgbClr val="7F7F7F"/>
            </a:solidFill>
            <a:prstDash val="solid"/>
            <a:tailEnd type="triangle"/>
          </a:ln>
        </p:spPr>
      </p:sp>
      <p:sp>
        <p:nvSpPr>
          <p:cNvPr id="31" name="Shape 28"/>
          <p:cNvSpPr/>
          <p:nvPr/>
        </p:nvSpPr>
        <p:spPr>
          <a:xfrm>
            <a:off x="2880121" y="4914900"/>
            <a:ext cx="752605" cy="640080"/>
          </a:xfrm>
          <a:prstGeom prst="rect">
            <a:avLst/>
          </a:prstGeom>
          <a:solidFill>
            <a:srgbClr val="FFFFFF"/>
          </a:solidFill>
          <a:ln w="22225">
            <a:solidFill>
              <a:srgbClr val="000F78"/>
            </a:solidFill>
            <a:prstDash val="solid"/>
          </a:ln>
        </p:spPr>
      </p:sp>
      <p:sp>
        <p:nvSpPr>
          <p:cNvPr id="32" name="Text 29"/>
          <p:cNvSpPr txBox="1"/>
          <p:nvPr/>
        </p:nvSpPr>
        <p:spPr>
          <a:xfrm>
            <a:off x="2910225" y="4914900"/>
            <a:ext cx="692396"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3" name="Shape 30"/>
          <p:cNvSpPr/>
          <p:nvPr/>
        </p:nvSpPr>
        <p:spPr>
          <a:xfrm>
            <a:off x="3632726" y="5234940"/>
            <a:ext cx="45156" cy="0"/>
          </a:xfrm>
          <a:prstGeom prst="line">
            <a:avLst/>
          </a:prstGeom>
          <a:noFill/>
          <a:ln w="12700">
            <a:solidFill>
              <a:srgbClr val="7F7F7F"/>
            </a:solidFill>
            <a:prstDash val="solid"/>
          </a:ln>
        </p:spPr>
      </p:sp>
      <p:sp>
        <p:nvSpPr>
          <p:cNvPr id="34" name="Shape 31"/>
          <p:cNvSpPr/>
          <p:nvPr/>
        </p:nvSpPr>
        <p:spPr>
          <a:xfrm>
            <a:off x="3677882" y="3909060"/>
            <a:ext cx="0" cy="1325880"/>
          </a:xfrm>
          <a:prstGeom prst="line">
            <a:avLst/>
          </a:prstGeom>
          <a:noFill/>
          <a:ln w="12700">
            <a:solidFill>
              <a:srgbClr val="7F7F7F"/>
            </a:solidFill>
            <a:prstDash val="solid"/>
          </a:ln>
        </p:spPr>
      </p:sp>
      <p:sp>
        <p:nvSpPr>
          <p:cNvPr id="35" name="Shape 32"/>
          <p:cNvSpPr/>
          <p:nvPr/>
        </p:nvSpPr>
        <p:spPr>
          <a:xfrm>
            <a:off x="3677882" y="3909060"/>
            <a:ext cx="45156" cy="0"/>
          </a:xfrm>
          <a:prstGeom prst="line">
            <a:avLst/>
          </a:prstGeom>
          <a:noFill/>
          <a:ln w="12700">
            <a:solidFill>
              <a:srgbClr val="7F7F7F"/>
            </a:solidFill>
            <a:prstDash val="solid"/>
            <a:tailEnd type="triangle"/>
          </a:ln>
        </p:spPr>
      </p:sp>
      <p:sp>
        <p:nvSpPr>
          <p:cNvPr id="36" name="Shape 33"/>
          <p:cNvSpPr/>
          <p:nvPr/>
        </p:nvSpPr>
        <p:spPr>
          <a:xfrm>
            <a:off x="3723038" y="3589020"/>
            <a:ext cx="752605" cy="640080"/>
          </a:xfrm>
          <a:prstGeom prst="rect">
            <a:avLst/>
          </a:prstGeom>
          <a:solidFill>
            <a:srgbClr val="FFFFFF"/>
          </a:solidFill>
          <a:ln w="9525">
            <a:solidFill>
              <a:srgbClr val="7F7F7F"/>
            </a:solidFill>
            <a:prstDash val="solid"/>
          </a:ln>
        </p:spPr>
      </p:sp>
      <p:sp>
        <p:nvSpPr>
          <p:cNvPr id="37" name="Text 34"/>
          <p:cNvSpPr txBox="1"/>
          <p:nvPr/>
        </p:nvSpPr>
        <p:spPr>
          <a:xfrm>
            <a:off x="3753143" y="358902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補正の依頼</a:t>
            </a:r>
            <a:endParaRPr lang="en-US" sz="1400" dirty="0"/>
          </a:p>
        </p:txBody>
      </p:sp>
      <p:sp>
        <p:nvSpPr>
          <p:cNvPr id="38" name="Shape 35"/>
          <p:cNvSpPr/>
          <p:nvPr/>
        </p:nvSpPr>
        <p:spPr>
          <a:xfrm>
            <a:off x="4475643" y="3909060"/>
            <a:ext cx="45156" cy="0"/>
          </a:xfrm>
          <a:prstGeom prst="line">
            <a:avLst/>
          </a:prstGeom>
          <a:noFill/>
          <a:ln w="12700">
            <a:solidFill>
              <a:srgbClr val="7F7F7F"/>
            </a:solidFill>
            <a:prstDash val="solid"/>
          </a:ln>
        </p:spPr>
      </p:sp>
      <p:sp>
        <p:nvSpPr>
          <p:cNvPr id="39" name="Shape 36"/>
          <p:cNvSpPr/>
          <p:nvPr/>
        </p:nvSpPr>
        <p:spPr>
          <a:xfrm>
            <a:off x="4520800" y="2583180"/>
            <a:ext cx="0" cy="1325880"/>
          </a:xfrm>
          <a:prstGeom prst="line">
            <a:avLst/>
          </a:prstGeom>
          <a:noFill/>
          <a:ln w="12700">
            <a:solidFill>
              <a:srgbClr val="7F7F7F"/>
            </a:solidFill>
            <a:prstDash val="solid"/>
          </a:ln>
        </p:spPr>
      </p:sp>
      <p:sp>
        <p:nvSpPr>
          <p:cNvPr id="40" name="Shape 37"/>
          <p:cNvSpPr/>
          <p:nvPr/>
        </p:nvSpPr>
        <p:spPr>
          <a:xfrm>
            <a:off x="4520800" y="2583180"/>
            <a:ext cx="45156" cy="0"/>
          </a:xfrm>
          <a:prstGeom prst="line">
            <a:avLst/>
          </a:prstGeom>
          <a:noFill/>
          <a:ln w="12700">
            <a:solidFill>
              <a:srgbClr val="7F7F7F"/>
            </a:solidFill>
            <a:prstDash val="solid"/>
            <a:tailEnd type="triangle"/>
          </a:ln>
        </p:spPr>
      </p:sp>
      <p:sp>
        <p:nvSpPr>
          <p:cNvPr id="41" name="Shape 38"/>
          <p:cNvSpPr/>
          <p:nvPr/>
        </p:nvSpPr>
        <p:spPr>
          <a:xfrm>
            <a:off x="4565956" y="2263140"/>
            <a:ext cx="752605" cy="640080"/>
          </a:xfrm>
          <a:prstGeom prst="rect">
            <a:avLst/>
          </a:prstGeom>
          <a:solidFill>
            <a:srgbClr val="FFFFFF"/>
          </a:solidFill>
          <a:ln w="9525">
            <a:solidFill>
              <a:srgbClr val="7F7F7F"/>
            </a:solidFill>
            <a:prstDash val="solid"/>
          </a:ln>
        </p:spPr>
      </p:sp>
      <p:sp>
        <p:nvSpPr>
          <p:cNvPr id="42" name="Text 39"/>
          <p:cNvSpPr txBox="1"/>
          <p:nvPr/>
        </p:nvSpPr>
        <p:spPr>
          <a:xfrm>
            <a:off x="4596060" y="226314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書類の再提出</a:t>
            </a:r>
            <a:endParaRPr lang="en-US" sz="1400" dirty="0"/>
          </a:p>
        </p:txBody>
      </p:sp>
      <p:sp>
        <p:nvSpPr>
          <p:cNvPr id="43" name="Shape 40"/>
          <p:cNvSpPr/>
          <p:nvPr/>
        </p:nvSpPr>
        <p:spPr>
          <a:xfrm>
            <a:off x="5318561" y="2583180"/>
            <a:ext cx="45156" cy="0"/>
          </a:xfrm>
          <a:prstGeom prst="line">
            <a:avLst/>
          </a:prstGeom>
          <a:noFill/>
          <a:ln w="12700">
            <a:solidFill>
              <a:srgbClr val="7F7F7F"/>
            </a:solidFill>
            <a:prstDash val="solid"/>
          </a:ln>
        </p:spPr>
      </p:sp>
      <p:sp>
        <p:nvSpPr>
          <p:cNvPr id="44" name="Shape 41"/>
          <p:cNvSpPr/>
          <p:nvPr/>
        </p:nvSpPr>
        <p:spPr>
          <a:xfrm>
            <a:off x="5363717" y="2583180"/>
            <a:ext cx="0" cy="2651760"/>
          </a:xfrm>
          <a:prstGeom prst="line">
            <a:avLst/>
          </a:prstGeom>
          <a:noFill/>
          <a:ln w="12700">
            <a:solidFill>
              <a:srgbClr val="7F7F7F"/>
            </a:solidFill>
            <a:prstDash val="solid"/>
          </a:ln>
        </p:spPr>
      </p:sp>
      <p:sp>
        <p:nvSpPr>
          <p:cNvPr id="45" name="Shape 42"/>
          <p:cNvSpPr/>
          <p:nvPr/>
        </p:nvSpPr>
        <p:spPr>
          <a:xfrm>
            <a:off x="5363717" y="5234940"/>
            <a:ext cx="45156" cy="0"/>
          </a:xfrm>
          <a:prstGeom prst="line">
            <a:avLst/>
          </a:prstGeom>
          <a:noFill/>
          <a:ln w="12700">
            <a:solidFill>
              <a:srgbClr val="7F7F7F"/>
            </a:solidFill>
            <a:prstDash val="solid"/>
            <a:tailEnd type="triangle"/>
          </a:ln>
        </p:spPr>
      </p:sp>
      <p:sp>
        <p:nvSpPr>
          <p:cNvPr id="46" name="Shape 43"/>
          <p:cNvSpPr/>
          <p:nvPr/>
        </p:nvSpPr>
        <p:spPr>
          <a:xfrm>
            <a:off x="5408873" y="4914900"/>
            <a:ext cx="752605" cy="640080"/>
          </a:xfrm>
          <a:prstGeom prst="rect">
            <a:avLst/>
          </a:prstGeom>
          <a:solidFill>
            <a:srgbClr val="FFFFFF"/>
          </a:solidFill>
          <a:ln w="9525">
            <a:solidFill>
              <a:srgbClr val="7F7F7F"/>
            </a:solidFill>
            <a:prstDash val="solid"/>
          </a:ln>
        </p:spPr>
      </p:sp>
      <p:sp>
        <p:nvSpPr>
          <p:cNvPr id="47" name="Text 44"/>
          <p:cNvSpPr txBox="1"/>
          <p:nvPr/>
        </p:nvSpPr>
        <p:spPr>
          <a:xfrm>
            <a:off x="5438978" y="4914900"/>
            <a:ext cx="692396" cy="64008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48" name="Text 45"/>
          <p:cNvSpPr txBox="1"/>
          <p:nvPr/>
        </p:nvSpPr>
        <p:spPr>
          <a:xfrm>
            <a:off x="2699496"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平均11日</a:t>
            </a:r>
            <a:endParaRPr lang="en-US" sz="1400" dirty="0"/>
          </a:p>
        </p:txBody>
      </p:sp>
      <p:sp>
        <p:nvSpPr>
          <p:cNvPr id="49" name="Shape 46"/>
          <p:cNvSpPr/>
          <p:nvPr/>
        </p:nvSpPr>
        <p:spPr>
          <a:xfrm>
            <a:off x="6687328" y="1874520"/>
            <a:ext cx="3017520" cy="4251960"/>
          </a:xfrm>
          <a:prstGeom prst="rect">
            <a:avLst/>
          </a:prstGeom>
          <a:solidFill>
            <a:srgbClr val="E0EEF8"/>
          </a:solidFill>
          <a:ln/>
        </p:spPr>
      </p:sp>
      <p:sp>
        <p:nvSpPr>
          <p:cNvPr id="50" name="Text 4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18日のうち11日はバス会社の確認待ち</a:t>
            </a:r>
            <a:endParaRPr lang="en-US" sz="1400" dirty="0"/>
          </a:p>
        </p:txBody>
      </p:sp>
      <p:sp>
        <p:nvSpPr>
          <p:cNvPr id="51" name="Text 4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市の窓口での受付と補正は合わせて7日で、残りの6割がバス会社での内容の確認に費やされている。確認の担当はバス会社に1人しかいない</a:t>
            </a:r>
            <a:endParaRPr lang="en-US" sz="1200" dirty="0"/>
          </a:p>
        </p:txBody>
      </p:sp>
      <p:sp>
        <p:nvSpPr>
          <p:cNvPr id="52" name="Shape 49"/>
          <p:cNvSpPr/>
          <p:nvPr/>
        </p:nvSpPr>
        <p:spPr>
          <a:xfrm>
            <a:off x="6870208" y="3936492"/>
            <a:ext cx="2651760" cy="0"/>
          </a:xfrm>
          <a:prstGeom prst="line">
            <a:avLst/>
          </a:prstGeom>
          <a:noFill/>
          <a:ln w="9525">
            <a:solidFill>
              <a:srgbClr val="CCCCCC"/>
            </a:solidFill>
            <a:prstDash val="solid"/>
          </a:ln>
        </p:spPr>
      </p:sp>
      <p:sp>
        <p:nvSpPr>
          <p:cNvPr id="53" name="Text 5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確認を市の窓口に移せば1週間で済む</a:t>
            </a:r>
            <a:endParaRPr lang="en-US" sz="1400" dirty="0"/>
          </a:p>
        </p:txBody>
      </p:sp>
      <p:sp>
        <p:nvSpPr>
          <p:cNvPr id="54" name="Text 5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確認の項目は住所と障害の区分の2つだけで、市の台帳で照合できる。書類の再提出も窓口で済む。利用者の待ち時間は、平均18日から7日に縮む</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利用者数は基本シナリオでも2050年度に3割以上減る。どのシナリオでも維持に必要な水準を下回り、今の路線網の見直しは避けられない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注）人口は国立社会保障・人口問題研究所の推計（2023年）を基に補正</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28</a:t>
            </a:r>
            <a:endParaRPr lang="en-US" sz="900" dirty="0"/>
          </a:p>
        </p:txBody>
      </p:sp>
      <p:sp>
        <p:nvSpPr>
          <p:cNvPr id="10" name="Shape 15"/>
          <p:cNvSpPr/>
          <p:nvPr/>
        </p:nvSpPr>
        <p:spPr>
          <a:xfrm>
            <a:off x="5870128" y="4617720"/>
            <a:ext cx="3834720" cy="731520"/>
          </a:xfrm>
          <a:prstGeom prst="rect">
            <a:avLst/>
          </a:prstGeom>
          <a:solidFill>
            <a:srgbClr val="E0EEF8"/>
          </a:solidFill>
          <a:ln/>
        </p:spPr>
      </p:sp>
      <p:sp>
        <p:nvSpPr>
          <p:cNvPr id="11" name="Shape 14"/>
          <p:cNvSpPr/>
          <p:nvPr/>
        </p:nvSpPr>
        <p:spPr>
          <a:xfrm>
            <a:off x="5870128" y="3063240"/>
            <a:ext cx="3834720" cy="640080"/>
          </a:xfrm>
          <a:prstGeom prst="rect">
            <a:avLst/>
          </a:prstGeom>
          <a:solidFill>
            <a:srgbClr val="E0EEF8"/>
          </a:solidFill>
          <a:ln/>
        </p:spPr>
      </p:sp>
      <p:sp>
        <p:nvSpPr>
          <p:cNvPr id="12" name="Text 7"/>
          <p:cNvSpPr txBox="1"/>
          <p:nvPr/>
        </p:nvSpPr>
        <p:spPr>
          <a:xfrm>
            <a:off x="200848" y="1485000"/>
            <a:ext cx="5394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利用者数の見通し（2025年度＝100、2050年度まで予測）</a:t>
            </a:r>
            <a:endParaRPr lang="en-US" sz="1400" dirty="0"/>
          </a:p>
        </p:txBody>
      </p:sp>
      <p:sp>
        <p:nvSpPr>
          <p:cNvPr id="13" name="Shape 8"/>
          <p:cNvSpPr/>
          <p:nvPr/>
        </p:nvSpPr>
        <p:spPr>
          <a:xfrm>
            <a:off x="200848" y="1832472"/>
            <a:ext cx="5394960" cy="0"/>
          </a:xfrm>
          <a:prstGeom prst="line">
            <a:avLst/>
          </a:prstGeom>
          <a:noFill/>
          <a:ln w="12700">
            <a:solidFill>
              <a:srgbClr val="7F7F7F"/>
            </a:solidFill>
            <a:prstDash val="solid"/>
          </a:ln>
        </p:spPr>
      </p:sp>
      <p:graphicFrame>
        <p:nvGraphicFramePr>
          <p:cNvPr id="14" name="Chart 0" descr=""/>
          <p:cNvGraphicFramePr/>
          <p:nvPr/>
        </p:nvGraphicFramePr>
        <p:xfrm>
          <a:off x="200848" y="192024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15" name="Text 9"/>
          <p:cNvSpPr txBox="1"/>
          <p:nvPr/>
        </p:nvSpPr>
        <p:spPr>
          <a:xfrm>
            <a:off x="4818568" y="251460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p>
        </p:txBody>
      </p:sp>
      <p:sp>
        <p:nvSpPr>
          <p:cNvPr id="16" name="Text 10"/>
          <p:cNvSpPr txBox="1"/>
          <p:nvPr/>
        </p:nvSpPr>
        <p:spPr>
          <a:xfrm>
            <a:off x="4818568"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7" name="Text 11"/>
          <p:cNvSpPr txBox="1"/>
          <p:nvPr/>
        </p:nvSpPr>
        <p:spPr>
          <a:xfrm>
            <a:off x="4818568" y="4160520"/>
            <a:ext cx="7772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p>
        </p:txBody>
      </p:sp>
      <p:sp>
        <p:nvSpPr>
          <p:cNvPr id="18" name="Text 12"/>
          <p:cNvSpPr txBox="1"/>
          <p:nvPr/>
        </p:nvSpPr>
        <p:spPr>
          <a:xfrm>
            <a:off x="5870128" y="1485000"/>
            <a:ext cx="38347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各シナリオの前提（2050年度）</a:t>
            </a:r>
            <a:endParaRPr lang="en-US" sz="1400" dirty="0"/>
          </a:p>
        </p:txBody>
      </p:sp>
      <p:sp>
        <p:nvSpPr>
          <p:cNvPr id="19" name="Shape 13"/>
          <p:cNvSpPr/>
          <p:nvPr/>
        </p:nvSpPr>
        <p:spPr>
          <a:xfrm>
            <a:off x="5870128" y="1832472"/>
            <a:ext cx="3834720" cy="0"/>
          </a:xfrm>
          <a:prstGeom prst="line">
            <a:avLst/>
          </a:prstGeom>
          <a:noFill/>
          <a:ln w="12700">
            <a:solidFill>
              <a:srgbClr val="7F7F7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870128" y="1965960"/>
          <a:ext cx="3834720" cy="914400"/>
        </p:xfrm>
        <a:graphic>
          <a:graphicData uri="http://schemas.openxmlformats.org/drawingml/2006/table">
            <a:tbl>
              <a:tblPr/>
              <a:tblGrid>
                <a:gridCol w="914400"/>
                <a:gridCol w="1460160"/>
                <a:gridCol w="146016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−17%</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21" name="Text 16"/>
          <p:cNvSpPr txBox="1"/>
          <p:nvPr/>
        </p:nvSpPr>
        <p:spPr>
          <a:xfrm>
            <a:off x="5870128" y="4663440"/>
            <a:ext cx="383472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今の路線網の維持には、2025年度比80以上の利用者数が要る</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収支を最も左右する前提は利用者数で、±10%の変動で収支が年4,000万円前後動く。本格投資の前に、利用者数を試行で確かめるべきである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（百万円／年、基本ケース＝−210）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注）各前提を基本ケースから±10%動かし、他は固定した。基本ケースは2030年度の赤字2.1億円。前提どうしの連動（利用者数と運賃収入など）は考慮していない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2209648" y="1874520"/>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4587088" y="1874520"/>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00848" y="2286000"/>
            <a:ext cx="2103120" cy="457200"/>
          </a:xfrm>
          <a:prstGeom prst="rect">
            <a:avLst/>
          </a:prstGeom>
          <a:noFill/>
          <a:ln/>
        </p:spPr>
        <p:txBody>
          <a:bodyPr wrap="square" lIns="0" tIns="0" rIns="0" bIns="0" rtlCol="0" anchor="ctr"/>
          <a:lstStyle/>
          <a:p>
            <a:pPr indent="0" marL="0">
              <a:buNone/>
            </a:pPr>
            <a:r>
              <a:rPr lang="en-US" sz="1200" b="1" dirty="0">
                <a:solidFill>
                  <a:srgbClr val="000F78"/>
                </a:solidFill>
                <a:latin typeface="Yu Gothic UI" pitchFamily="34" charset="0"/>
                <a:ea typeface="Yu Gothic UI" pitchFamily="34" charset="-122"/>
                <a:cs typeface="Yu Gothic UI" pitchFamily="34" charset="-120"/>
              </a:rPr>
              <a:t>利用者数</a:t>
            </a:r>
            <a:endParaRPr lang="en-US" sz="1200" dirty="0"/>
          </a:p>
        </p:txBody>
      </p:sp>
      <p:sp>
        <p:nvSpPr>
          <p:cNvPr id="15" name="Shape 12"/>
          <p:cNvSpPr/>
          <p:nvPr/>
        </p:nvSpPr>
        <p:spPr>
          <a:xfrm>
            <a:off x="2560777" y="2350008"/>
            <a:ext cx="1843430" cy="329184"/>
          </a:xfrm>
          <a:prstGeom prst="rect">
            <a:avLst/>
          </a:prstGeom>
          <a:solidFill>
            <a:srgbClr val="000F78"/>
          </a:solidFill>
          <a:ln/>
        </p:spPr>
      </p:sp>
      <p:sp>
        <p:nvSpPr>
          <p:cNvPr id="16" name="Shape 13"/>
          <p:cNvSpPr/>
          <p:nvPr/>
        </p:nvSpPr>
        <p:spPr>
          <a:xfrm>
            <a:off x="4404208" y="2350008"/>
            <a:ext cx="1667866" cy="329184"/>
          </a:xfrm>
          <a:prstGeom prst="rect">
            <a:avLst/>
          </a:prstGeom>
          <a:solidFill>
            <a:srgbClr val="000F78"/>
          </a:solidFill>
          <a:ln/>
        </p:spPr>
      </p:sp>
      <p:sp>
        <p:nvSpPr>
          <p:cNvPr id="17" name="Text 14"/>
          <p:cNvSpPr txBox="1"/>
          <p:nvPr/>
        </p:nvSpPr>
        <p:spPr>
          <a:xfrm>
            <a:off x="1874977" y="2286000"/>
            <a:ext cx="64008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−42</a:t>
            </a:r>
            <a:endParaRPr lang="en-US" sz="1200" dirty="0"/>
          </a:p>
        </p:txBody>
      </p:sp>
      <p:sp>
        <p:nvSpPr>
          <p:cNvPr id="18" name="Text 15"/>
          <p:cNvSpPr txBox="1"/>
          <p:nvPr/>
        </p:nvSpPr>
        <p:spPr>
          <a:xfrm>
            <a:off x="6117793" y="2286000"/>
            <a:ext cx="640080"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＋38</a:t>
            </a:r>
            <a:endParaRPr lang="en-US" sz="1200" dirty="0"/>
          </a:p>
        </p:txBody>
      </p:sp>
      <p:sp>
        <p:nvSpPr>
          <p:cNvPr id="19" name="Text 16"/>
          <p:cNvSpPr txBox="1"/>
          <p:nvPr/>
        </p:nvSpPr>
        <p:spPr>
          <a:xfrm>
            <a:off x="200848" y="3035808"/>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運賃単価</a:t>
            </a:r>
            <a:endParaRPr lang="en-US" sz="1200" dirty="0"/>
          </a:p>
        </p:txBody>
      </p:sp>
      <p:sp>
        <p:nvSpPr>
          <p:cNvPr id="20" name="Shape 17"/>
          <p:cNvSpPr/>
          <p:nvPr/>
        </p:nvSpPr>
        <p:spPr>
          <a:xfrm>
            <a:off x="3306928" y="3099816"/>
            <a:ext cx="1097280" cy="329184"/>
          </a:xfrm>
          <a:prstGeom prst="rect">
            <a:avLst/>
          </a:prstGeom>
          <a:solidFill>
            <a:srgbClr val="CCCCCC"/>
          </a:solidFill>
          <a:ln/>
        </p:spPr>
      </p:sp>
      <p:sp>
        <p:nvSpPr>
          <p:cNvPr id="21" name="Shape 18"/>
          <p:cNvSpPr/>
          <p:nvPr/>
        </p:nvSpPr>
        <p:spPr>
          <a:xfrm>
            <a:off x="4404208" y="3099816"/>
            <a:ext cx="1097280" cy="329184"/>
          </a:xfrm>
          <a:prstGeom prst="rect">
            <a:avLst/>
          </a:prstGeom>
          <a:solidFill>
            <a:srgbClr val="CCCCCC"/>
          </a:solidFill>
          <a:ln/>
        </p:spPr>
      </p:sp>
      <p:sp>
        <p:nvSpPr>
          <p:cNvPr id="22" name="Text 19"/>
          <p:cNvSpPr txBox="1"/>
          <p:nvPr/>
        </p:nvSpPr>
        <p:spPr>
          <a:xfrm>
            <a:off x="2621128" y="3035808"/>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3" name="Text 20"/>
          <p:cNvSpPr txBox="1"/>
          <p:nvPr/>
        </p:nvSpPr>
        <p:spPr>
          <a:xfrm>
            <a:off x="5547208" y="3035808"/>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24" name="Text 21"/>
          <p:cNvSpPr txBox="1"/>
          <p:nvPr/>
        </p:nvSpPr>
        <p:spPr>
          <a:xfrm>
            <a:off x="200848" y="3785616"/>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運転士の人件費</a:t>
            </a:r>
            <a:endParaRPr lang="en-US" sz="1200" dirty="0"/>
          </a:p>
        </p:txBody>
      </p:sp>
      <p:sp>
        <p:nvSpPr>
          <p:cNvPr id="25" name="Shape 22"/>
          <p:cNvSpPr/>
          <p:nvPr/>
        </p:nvSpPr>
        <p:spPr>
          <a:xfrm>
            <a:off x="3614166" y="3849624"/>
            <a:ext cx="790042" cy="329184"/>
          </a:xfrm>
          <a:prstGeom prst="rect">
            <a:avLst/>
          </a:prstGeom>
          <a:solidFill>
            <a:srgbClr val="CCCCCC"/>
          </a:solidFill>
          <a:ln/>
        </p:spPr>
      </p:sp>
      <p:sp>
        <p:nvSpPr>
          <p:cNvPr id="26" name="Shape 23"/>
          <p:cNvSpPr/>
          <p:nvPr/>
        </p:nvSpPr>
        <p:spPr>
          <a:xfrm>
            <a:off x="4404208" y="3849624"/>
            <a:ext cx="658368" cy="329184"/>
          </a:xfrm>
          <a:prstGeom prst="rect">
            <a:avLst/>
          </a:prstGeom>
          <a:solidFill>
            <a:srgbClr val="CCCCCC"/>
          </a:solidFill>
          <a:ln/>
        </p:spPr>
      </p:sp>
      <p:sp>
        <p:nvSpPr>
          <p:cNvPr id="27" name="Text 24"/>
          <p:cNvSpPr txBox="1"/>
          <p:nvPr/>
        </p:nvSpPr>
        <p:spPr>
          <a:xfrm>
            <a:off x="2928366" y="3785616"/>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8" name="Text 25"/>
          <p:cNvSpPr txBox="1"/>
          <p:nvPr/>
        </p:nvSpPr>
        <p:spPr>
          <a:xfrm>
            <a:off x="5108296" y="3785616"/>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29" name="Text 26"/>
          <p:cNvSpPr txBox="1"/>
          <p:nvPr/>
        </p:nvSpPr>
        <p:spPr>
          <a:xfrm>
            <a:off x="200848" y="4535424"/>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燃料費</a:t>
            </a:r>
            <a:endParaRPr lang="en-US" sz="1200" dirty="0"/>
          </a:p>
        </p:txBody>
      </p:sp>
      <p:sp>
        <p:nvSpPr>
          <p:cNvPr id="30" name="Shape 27"/>
          <p:cNvSpPr/>
          <p:nvPr/>
        </p:nvSpPr>
        <p:spPr>
          <a:xfrm>
            <a:off x="3965296" y="4599432"/>
            <a:ext cx="438912" cy="329184"/>
          </a:xfrm>
          <a:prstGeom prst="rect">
            <a:avLst/>
          </a:prstGeom>
          <a:solidFill>
            <a:srgbClr val="CCCCCC"/>
          </a:solidFill>
          <a:ln/>
        </p:spPr>
      </p:sp>
      <p:sp>
        <p:nvSpPr>
          <p:cNvPr id="31" name="Shape 28"/>
          <p:cNvSpPr/>
          <p:nvPr/>
        </p:nvSpPr>
        <p:spPr>
          <a:xfrm>
            <a:off x="4404208" y="4599432"/>
            <a:ext cx="395021" cy="329184"/>
          </a:xfrm>
          <a:prstGeom prst="rect">
            <a:avLst/>
          </a:prstGeom>
          <a:solidFill>
            <a:srgbClr val="CCCCCC"/>
          </a:solidFill>
          <a:ln/>
        </p:spPr>
      </p:sp>
      <p:sp>
        <p:nvSpPr>
          <p:cNvPr id="32" name="Text 29"/>
          <p:cNvSpPr txBox="1"/>
          <p:nvPr/>
        </p:nvSpPr>
        <p:spPr>
          <a:xfrm>
            <a:off x="3279496" y="4535424"/>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3" name="Text 30"/>
          <p:cNvSpPr txBox="1"/>
          <p:nvPr/>
        </p:nvSpPr>
        <p:spPr>
          <a:xfrm>
            <a:off x="4844948" y="4535424"/>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34" name="Text 31"/>
          <p:cNvSpPr txBox="1"/>
          <p:nvPr/>
        </p:nvSpPr>
        <p:spPr>
          <a:xfrm>
            <a:off x="200848" y="5285232"/>
            <a:ext cx="2103120" cy="457200"/>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35" name="Shape 32"/>
          <p:cNvSpPr/>
          <p:nvPr/>
        </p:nvSpPr>
        <p:spPr>
          <a:xfrm>
            <a:off x="4184752" y="5349240"/>
            <a:ext cx="219456" cy="329184"/>
          </a:xfrm>
          <a:prstGeom prst="rect">
            <a:avLst/>
          </a:prstGeom>
          <a:solidFill>
            <a:srgbClr val="CCCCCC"/>
          </a:solidFill>
          <a:ln/>
        </p:spPr>
      </p:sp>
      <p:sp>
        <p:nvSpPr>
          <p:cNvPr id="36" name="Shape 33"/>
          <p:cNvSpPr/>
          <p:nvPr/>
        </p:nvSpPr>
        <p:spPr>
          <a:xfrm>
            <a:off x="4404208" y="5349240"/>
            <a:ext cx="175565" cy="329184"/>
          </a:xfrm>
          <a:prstGeom prst="rect">
            <a:avLst/>
          </a:prstGeom>
          <a:solidFill>
            <a:srgbClr val="CCCCCC"/>
          </a:solidFill>
          <a:ln/>
        </p:spPr>
      </p:sp>
      <p:sp>
        <p:nvSpPr>
          <p:cNvPr id="37" name="Text 34"/>
          <p:cNvSpPr txBox="1"/>
          <p:nvPr/>
        </p:nvSpPr>
        <p:spPr>
          <a:xfrm>
            <a:off x="3498952" y="5285232"/>
            <a:ext cx="64008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38" name="Text 35"/>
          <p:cNvSpPr txBox="1"/>
          <p:nvPr/>
        </p:nvSpPr>
        <p:spPr>
          <a:xfrm>
            <a:off x="4625492" y="5285232"/>
            <a:ext cx="64008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9" name="Shape 36"/>
          <p:cNvSpPr/>
          <p:nvPr/>
        </p:nvSpPr>
        <p:spPr>
          <a:xfrm>
            <a:off x="4404208" y="2148840"/>
            <a:ext cx="0" cy="3886200"/>
          </a:xfrm>
          <a:prstGeom prst="line">
            <a:avLst/>
          </a:prstGeom>
          <a:noFill/>
          <a:ln w="12700">
            <a:solidFill>
              <a:srgbClr val="7F7F7F"/>
            </a:solidFill>
            <a:prstDash val="solid"/>
          </a:ln>
        </p:spPr>
      </p:sp>
      <p:sp>
        <p:nvSpPr>
          <p:cNvPr id="40" name="Text 37"/>
          <p:cNvSpPr txBox="1"/>
          <p:nvPr/>
        </p:nvSpPr>
        <p:spPr>
          <a:xfrm>
            <a:off x="3672688" y="6080760"/>
            <a:ext cx="146304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基本ケース</a:t>
            </a:r>
            <a:endParaRPr lang="en-US" sz="1200" dirty="0"/>
          </a:p>
        </p:txBody>
      </p:sp>
      <p:sp>
        <p:nvSpPr>
          <p:cNvPr id="41" name="Shape 38"/>
          <p:cNvSpPr/>
          <p:nvPr/>
        </p:nvSpPr>
        <p:spPr>
          <a:xfrm>
            <a:off x="6687328" y="1874520"/>
            <a:ext cx="3017520" cy="4251960"/>
          </a:xfrm>
          <a:prstGeom prst="rect">
            <a:avLst/>
          </a:prstGeom>
          <a:solidFill>
            <a:srgbClr val="E0EEF8"/>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利用者数の±10%で収支が約4,000万円動く</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下振れ−42・上振れ＋38百万円で、2位の運賃単価（±25）の1.6倍に当たる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試行で利用者数を確かめてから投資する</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2地区の試行（2027年）で継続利用率80%以上を確かめ、本格投資の判断の基準にする（P47）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赤字4.2億円は、利用者数×単価で決まる収入が費用を下回るためである。単価を据え置くなら、黒字化には利用者数を188万人増やす必要がある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 2025年度決算　2. 単価＝運賃収入÷利用者数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00848"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292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292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−4.2億円</a:t>
            </a:r>
            <a:endParaRPr lang="en-US" sz="1800" dirty="0"/>
          </a:p>
        </p:txBody>
      </p:sp>
      <p:sp>
        <p:nvSpPr>
          <p:cNvPr id="15" name="Text 12"/>
          <p:cNvSpPr txBox="1"/>
          <p:nvPr/>
        </p:nvSpPr>
        <p:spPr>
          <a:xfrm>
            <a:off x="2029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86848"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578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578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6.5億円</a:t>
            </a:r>
            <a:endParaRPr lang="en-US" sz="1800" dirty="0"/>
          </a:p>
        </p:txBody>
      </p:sp>
      <p:sp>
        <p:nvSpPr>
          <p:cNvPr id="19" name="Text 16"/>
          <p:cNvSpPr txBox="1"/>
          <p:nvPr/>
        </p:nvSpPr>
        <p:spPr>
          <a:xfrm>
            <a:off x="4315648" y="210312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772848"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864288" y="219456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864288" y="251460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10.7億円</a:t>
            </a:r>
            <a:endParaRPr lang="en-US" sz="1800" dirty="0"/>
          </a:p>
        </p:txBody>
      </p:sp>
      <p:sp>
        <p:nvSpPr>
          <p:cNvPr id="23" name="Shape 20"/>
          <p:cNvSpPr/>
          <p:nvPr/>
        </p:nvSpPr>
        <p:spPr>
          <a:xfrm>
            <a:off x="3401248" y="3017520"/>
            <a:ext cx="0" cy="457200"/>
          </a:xfrm>
          <a:prstGeom prst="line">
            <a:avLst/>
          </a:prstGeom>
          <a:noFill/>
          <a:ln w="9525">
            <a:solidFill>
              <a:srgbClr val="CCCCCC"/>
            </a:solidFill>
            <a:prstDash val="solid"/>
          </a:ln>
        </p:spPr>
      </p:sp>
      <p:sp>
        <p:nvSpPr>
          <p:cNvPr id="24" name="Shape 21"/>
          <p:cNvSpPr/>
          <p:nvPr/>
        </p:nvSpPr>
        <p:spPr>
          <a:xfrm>
            <a:off x="749488"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840928"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840928"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Arial" pitchFamily="34" charset="0"/>
                <a:ea typeface="Arial" pitchFamily="34" charset="-122"/>
                <a:cs typeface="Arial" pitchFamily="34" charset="-120"/>
              </a:rPr>
              <a:t>290万人</a:t>
            </a:r>
            <a:endParaRPr lang="en-US" sz="1800" dirty="0"/>
          </a:p>
        </p:txBody>
      </p:sp>
      <p:sp>
        <p:nvSpPr>
          <p:cNvPr id="27" name="Text 24"/>
          <p:cNvSpPr txBox="1"/>
          <p:nvPr/>
        </p:nvSpPr>
        <p:spPr>
          <a:xfrm>
            <a:off x="257828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035488"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126928" y="3749040"/>
            <a:ext cx="16459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126928" y="4069080"/>
            <a:ext cx="164592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224円</a:t>
            </a:r>
            <a:endParaRPr lang="en-US" sz="1800" dirty="0"/>
          </a:p>
        </p:txBody>
      </p:sp>
      <p:sp>
        <p:nvSpPr>
          <p:cNvPr id="31" name="Shape 28"/>
          <p:cNvSpPr/>
          <p:nvPr/>
        </p:nvSpPr>
        <p:spPr>
          <a:xfrm>
            <a:off x="1663888" y="3474720"/>
            <a:ext cx="2286000" cy="0"/>
          </a:xfrm>
          <a:prstGeom prst="line">
            <a:avLst/>
          </a:prstGeom>
          <a:noFill/>
          <a:ln w="9525">
            <a:solidFill>
              <a:srgbClr val="CCCCCC"/>
            </a:solidFill>
            <a:prstDash val="solid"/>
          </a:ln>
        </p:spPr>
      </p:sp>
      <p:sp>
        <p:nvSpPr>
          <p:cNvPr id="32" name="Shape 29"/>
          <p:cNvSpPr/>
          <p:nvPr/>
        </p:nvSpPr>
        <p:spPr>
          <a:xfrm>
            <a:off x="1663888" y="3474720"/>
            <a:ext cx="0" cy="182880"/>
          </a:xfrm>
          <a:prstGeom prst="line">
            <a:avLst/>
          </a:prstGeom>
          <a:noFill/>
          <a:ln w="9525">
            <a:solidFill>
              <a:srgbClr val="CCCCCC"/>
            </a:solidFill>
            <a:prstDash val="solid"/>
          </a:ln>
        </p:spPr>
      </p:sp>
      <p:sp>
        <p:nvSpPr>
          <p:cNvPr id="33" name="Shape 30"/>
          <p:cNvSpPr/>
          <p:nvPr/>
        </p:nvSpPr>
        <p:spPr>
          <a:xfrm>
            <a:off x="3949888" y="3474720"/>
            <a:ext cx="0" cy="182880"/>
          </a:xfrm>
          <a:prstGeom prst="line">
            <a:avLst/>
          </a:prstGeom>
          <a:noFill/>
          <a:ln w="9525">
            <a:solidFill>
              <a:srgbClr val="CCCCCC"/>
            </a:solidFill>
            <a:prstDash val="solid"/>
          </a:ln>
        </p:spPr>
      </p:sp>
      <p:sp>
        <p:nvSpPr>
          <p:cNvPr id="34" name="Shape 31"/>
          <p:cNvSpPr/>
          <p:nvPr/>
        </p:nvSpPr>
        <p:spPr>
          <a:xfrm>
            <a:off x="5687248" y="3017520"/>
            <a:ext cx="0" cy="457200"/>
          </a:xfrm>
          <a:prstGeom prst="line">
            <a:avLst/>
          </a:prstGeom>
          <a:noFill/>
          <a:ln w="9525">
            <a:solidFill>
              <a:srgbClr val="CCCCCC"/>
            </a:solidFill>
            <a:prstDash val="solid"/>
          </a:ln>
        </p:spPr>
      </p:sp>
      <p:sp>
        <p:nvSpPr>
          <p:cNvPr id="35" name="Shape 32"/>
          <p:cNvSpPr/>
          <p:nvPr/>
        </p:nvSpPr>
        <p:spPr>
          <a:xfrm>
            <a:off x="5047168"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13860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13860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7.4億円</a:t>
            </a:r>
            <a:endParaRPr lang="en-US" sz="1800" dirty="0"/>
          </a:p>
        </p:txBody>
      </p:sp>
      <p:sp>
        <p:nvSpPr>
          <p:cNvPr id="38" name="Text 35"/>
          <p:cNvSpPr txBox="1"/>
          <p:nvPr/>
        </p:nvSpPr>
        <p:spPr>
          <a:xfrm>
            <a:off x="6510208" y="3657600"/>
            <a:ext cx="45720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6967408"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058848" y="3749040"/>
            <a:ext cx="128016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41" name="Text 38"/>
          <p:cNvSpPr txBox="1"/>
          <p:nvPr/>
        </p:nvSpPr>
        <p:spPr>
          <a:xfrm>
            <a:off x="7058848" y="4069080"/>
            <a:ext cx="128016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3.3億円</a:t>
            </a:r>
            <a:endParaRPr lang="en-US" sz="1800" dirty="0"/>
          </a:p>
        </p:txBody>
      </p:sp>
      <p:sp>
        <p:nvSpPr>
          <p:cNvPr id="42" name="Shape 39"/>
          <p:cNvSpPr/>
          <p:nvPr/>
        </p:nvSpPr>
        <p:spPr>
          <a:xfrm>
            <a:off x="5778688" y="3474720"/>
            <a:ext cx="2194560" cy="0"/>
          </a:xfrm>
          <a:prstGeom prst="line">
            <a:avLst/>
          </a:prstGeom>
          <a:noFill/>
          <a:ln w="9525">
            <a:solidFill>
              <a:srgbClr val="CCCCCC"/>
            </a:solidFill>
            <a:prstDash val="solid"/>
          </a:ln>
        </p:spPr>
      </p:sp>
      <p:sp>
        <p:nvSpPr>
          <p:cNvPr id="43" name="Shape 40"/>
          <p:cNvSpPr/>
          <p:nvPr/>
        </p:nvSpPr>
        <p:spPr>
          <a:xfrm>
            <a:off x="5778688" y="3474720"/>
            <a:ext cx="0" cy="182880"/>
          </a:xfrm>
          <a:prstGeom prst="line">
            <a:avLst/>
          </a:prstGeom>
          <a:noFill/>
          <a:ln w="9525">
            <a:solidFill>
              <a:srgbClr val="CCCCCC"/>
            </a:solidFill>
            <a:prstDash val="solid"/>
          </a:ln>
        </p:spPr>
      </p:sp>
      <p:sp>
        <p:nvSpPr>
          <p:cNvPr id="44" name="Shape 41"/>
          <p:cNvSpPr/>
          <p:nvPr/>
        </p:nvSpPr>
        <p:spPr>
          <a:xfrm>
            <a:off x="7973248" y="3474720"/>
            <a:ext cx="0" cy="182880"/>
          </a:xfrm>
          <a:prstGeom prst="line">
            <a:avLst/>
          </a:prstGeom>
          <a:noFill/>
          <a:ln w="9525">
            <a:solidFill>
              <a:srgbClr val="CCCCCC"/>
            </a:solidFill>
            <a:prstDash val="solid"/>
          </a:ln>
        </p:spPr>
      </p:sp>
      <p:sp>
        <p:nvSpPr>
          <p:cNvPr id="45" name="Shape 42"/>
          <p:cNvSpPr/>
          <p:nvPr/>
        </p:nvSpPr>
        <p:spPr>
          <a:xfrm>
            <a:off x="200848" y="4892040"/>
            <a:ext cx="9504000" cy="0"/>
          </a:xfrm>
          <a:prstGeom prst="line">
            <a:avLst/>
          </a:prstGeom>
          <a:noFill/>
          <a:ln w="9525">
            <a:solidFill>
              <a:srgbClr val="CCCCCC"/>
            </a:solidFill>
            <a:prstDash val="solid"/>
          </a:ln>
        </p:spPr>
      </p:sp>
      <p:sp>
        <p:nvSpPr>
          <p:cNvPr id="46" name="Text 43"/>
          <p:cNvSpPr txBox="1"/>
          <p:nvPr/>
        </p:nvSpPr>
        <p:spPr>
          <a:xfrm>
            <a:off x="200848" y="5029200"/>
            <a:ext cx="9504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黒字化に必要な利用者数：＋188万人（4.2億円÷224円。単価据え置きの場合）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最も影響が大きいリスクは、予約型の利用者が想定を下回ることである。兆候を試行の初月から毎月確かめ、発生時はすぐ定時便に戻せるよう備える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31</a:t>
            </a:r>
            <a:endParaRPr lang="en-US" sz="900" dirty="0"/>
          </a:p>
        </p:txBody>
      </p:sp>
      <p:sp>
        <p:nvSpPr>
          <p:cNvPr id="12" name="Shape 9"/>
          <p:cNvSpPr/>
          <p:nvPr/>
        </p:nvSpPr>
        <p:spPr>
          <a:xfrm>
            <a:off x="200848" y="2377440"/>
            <a:ext cx="6257880" cy="914400"/>
          </a:xfrm>
          <a:prstGeom prst="rect">
            <a:avLst/>
          </a:prstGeom>
          <a:solidFill>
            <a:srgbClr val="E0EEF8"/>
          </a:solidFill>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806252"/>
                <a:gridCol w="1986877"/>
                <a:gridCol w="602084"/>
                <a:gridCol w="1862667"/>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一部の地区を定時便に戻す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委託先の調達を見直す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市長名で協議を申し入れる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タクシー事業者に委託する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最大のリスクは利用者が想定を下回ること</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月次の利用者数が計画の90%を下回れば兆候とみなす。試行の初月から毎月確かめる。兆候が2か月続けば、定時便に戻す判断をする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どのリスクにも、事前に打ち手を決めておく</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定時便への切り戻しや委託先の見直しなど、判断の基準と担い手を試行の前に合意する。影響度の大きいリスクから、月1回の会議で点検する</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東部は需要・採算・担い手のいずれも弱く、6地区の中で課題が最も集中している。支援の優先順位は、東部を最上位に置くべきである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地区別・観点別の状況</a:t>
            </a:r>
            <a:pPr indent="0" marL="0">
              <a:buNone/>
            </a:pPr>
            <a:r>
              <a:rPr lang="en-US" sz="1100" dirty="0">
                <a:solidFill>
                  <a:srgbClr val="3F3F3F"/>
                </a:solidFill>
                <a:latin typeface="Yu Gothic UI" pitchFamily="34" charset="0"/>
                <a:ea typeface="Yu Gothic UI" pitchFamily="34" charset="-122"/>
                <a:cs typeface="Yu Gothic UI" pitchFamily="34" charset="-120"/>
              </a:rPr>
              <a:t>　（色が濃いほど課題が大きい、2025年度）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注）各観点の評価基準は参考資料（p.26）に記載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846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2989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132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275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418768" y="1965960"/>
            <a:ext cx="114300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00848" y="237744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8" name="Shape 15"/>
          <p:cNvSpPr/>
          <p:nvPr/>
        </p:nvSpPr>
        <p:spPr>
          <a:xfrm>
            <a:off x="1874200" y="2404872"/>
            <a:ext cx="1088136" cy="548640"/>
          </a:xfrm>
          <a:prstGeom prst="rect">
            <a:avLst/>
          </a:prstGeom>
          <a:solidFill>
            <a:srgbClr val="E0EEF8"/>
          </a:solidFill>
          <a:ln/>
        </p:spPr>
      </p:sp>
      <p:sp>
        <p:nvSpPr>
          <p:cNvPr id="19" name="Shape 16"/>
          <p:cNvSpPr/>
          <p:nvPr/>
        </p:nvSpPr>
        <p:spPr>
          <a:xfrm>
            <a:off x="3017200" y="2404872"/>
            <a:ext cx="1088136" cy="548640"/>
          </a:xfrm>
          <a:prstGeom prst="rect">
            <a:avLst/>
          </a:prstGeom>
          <a:solidFill>
            <a:srgbClr val="E0EEF8"/>
          </a:solidFill>
          <a:ln/>
        </p:spPr>
      </p:sp>
      <p:sp>
        <p:nvSpPr>
          <p:cNvPr id="20" name="Shape 17"/>
          <p:cNvSpPr/>
          <p:nvPr/>
        </p:nvSpPr>
        <p:spPr>
          <a:xfrm>
            <a:off x="4160200" y="2404872"/>
            <a:ext cx="1088136" cy="548640"/>
          </a:xfrm>
          <a:prstGeom prst="rect">
            <a:avLst/>
          </a:prstGeom>
          <a:solidFill>
            <a:srgbClr val="CCCCCC"/>
          </a:solidFill>
          <a:ln/>
        </p:spPr>
      </p:sp>
      <p:sp>
        <p:nvSpPr>
          <p:cNvPr id="21" name="Shape 18"/>
          <p:cNvSpPr/>
          <p:nvPr/>
        </p:nvSpPr>
        <p:spPr>
          <a:xfrm>
            <a:off x="5303200" y="2404872"/>
            <a:ext cx="1088136" cy="548640"/>
          </a:xfrm>
          <a:prstGeom prst="rect">
            <a:avLst/>
          </a:prstGeom>
          <a:solidFill>
            <a:srgbClr val="E0EEF8"/>
          </a:solidFill>
          <a:ln/>
        </p:spPr>
      </p:sp>
      <p:sp>
        <p:nvSpPr>
          <p:cNvPr id="22" name="Shape 19"/>
          <p:cNvSpPr/>
          <p:nvPr/>
        </p:nvSpPr>
        <p:spPr>
          <a:xfrm>
            <a:off x="6446200" y="2404872"/>
            <a:ext cx="1088136" cy="548640"/>
          </a:xfrm>
          <a:prstGeom prst="rect">
            <a:avLst/>
          </a:prstGeom>
          <a:solidFill>
            <a:srgbClr val="E0EEF8"/>
          </a:solidFill>
          <a:ln/>
        </p:spPr>
      </p:sp>
      <p:sp>
        <p:nvSpPr>
          <p:cNvPr id="23" name="Text 20"/>
          <p:cNvSpPr txBox="1"/>
          <p:nvPr/>
        </p:nvSpPr>
        <p:spPr>
          <a:xfrm>
            <a:off x="200848" y="2980944"/>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4" name="Shape 21"/>
          <p:cNvSpPr/>
          <p:nvPr/>
        </p:nvSpPr>
        <p:spPr>
          <a:xfrm>
            <a:off x="1874200" y="3008376"/>
            <a:ext cx="1088136" cy="548640"/>
          </a:xfrm>
          <a:prstGeom prst="rect">
            <a:avLst/>
          </a:prstGeom>
          <a:solidFill>
            <a:srgbClr val="CCCCCC"/>
          </a:solidFill>
          <a:ln/>
        </p:spPr>
      </p:sp>
      <p:sp>
        <p:nvSpPr>
          <p:cNvPr id="25" name="Shape 22"/>
          <p:cNvSpPr/>
          <p:nvPr/>
        </p:nvSpPr>
        <p:spPr>
          <a:xfrm>
            <a:off x="3017200" y="3008376"/>
            <a:ext cx="1088136" cy="548640"/>
          </a:xfrm>
          <a:prstGeom prst="rect">
            <a:avLst/>
          </a:prstGeom>
          <a:solidFill>
            <a:srgbClr val="E0EEF8"/>
          </a:solidFill>
          <a:ln/>
        </p:spPr>
      </p:sp>
      <p:sp>
        <p:nvSpPr>
          <p:cNvPr id="26" name="Shape 23"/>
          <p:cNvSpPr/>
          <p:nvPr/>
        </p:nvSpPr>
        <p:spPr>
          <a:xfrm>
            <a:off x="4160200" y="3008376"/>
            <a:ext cx="1088136" cy="548640"/>
          </a:xfrm>
          <a:prstGeom prst="rect">
            <a:avLst/>
          </a:prstGeom>
          <a:solidFill>
            <a:srgbClr val="E0EEF8"/>
          </a:solidFill>
          <a:ln/>
        </p:spPr>
      </p:sp>
      <p:sp>
        <p:nvSpPr>
          <p:cNvPr id="27" name="Shape 24"/>
          <p:cNvSpPr/>
          <p:nvPr/>
        </p:nvSpPr>
        <p:spPr>
          <a:xfrm>
            <a:off x="5303200" y="3008376"/>
            <a:ext cx="1088136" cy="548640"/>
          </a:xfrm>
          <a:prstGeom prst="rect">
            <a:avLst/>
          </a:prstGeom>
          <a:solidFill>
            <a:srgbClr val="CCCCCC"/>
          </a:solidFill>
          <a:ln/>
        </p:spPr>
      </p:sp>
      <p:sp>
        <p:nvSpPr>
          <p:cNvPr id="28" name="Shape 25"/>
          <p:cNvSpPr/>
          <p:nvPr/>
        </p:nvSpPr>
        <p:spPr>
          <a:xfrm>
            <a:off x="6446200" y="3008376"/>
            <a:ext cx="1088136" cy="548640"/>
          </a:xfrm>
          <a:prstGeom prst="rect">
            <a:avLst/>
          </a:prstGeom>
          <a:solidFill>
            <a:srgbClr val="E0EEF8"/>
          </a:solidFill>
          <a:ln/>
        </p:spPr>
      </p:sp>
      <p:sp>
        <p:nvSpPr>
          <p:cNvPr id="29" name="Text 26"/>
          <p:cNvSpPr txBox="1"/>
          <p:nvPr/>
        </p:nvSpPr>
        <p:spPr>
          <a:xfrm>
            <a:off x="200848" y="3584448"/>
            <a:ext cx="155448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0" name="Shape 27"/>
          <p:cNvSpPr/>
          <p:nvPr/>
        </p:nvSpPr>
        <p:spPr>
          <a:xfrm>
            <a:off x="1874200" y="3611880"/>
            <a:ext cx="1088136" cy="548640"/>
          </a:xfrm>
          <a:prstGeom prst="rect">
            <a:avLst/>
          </a:prstGeom>
          <a:solidFill>
            <a:srgbClr val="7F7F7F"/>
          </a:solidFill>
          <a:ln/>
        </p:spPr>
      </p:sp>
      <p:sp>
        <p:nvSpPr>
          <p:cNvPr id="31" name="Shape 28"/>
          <p:cNvSpPr/>
          <p:nvPr/>
        </p:nvSpPr>
        <p:spPr>
          <a:xfrm>
            <a:off x="3017200" y="3611880"/>
            <a:ext cx="1088136" cy="548640"/>
          </a:xfrm>
          <a:prstGeom prst="rect">
            <a:avLst/>
          </a:prstGeom>
          <a:solidFill>
            <a:srgbClr val="7F7F7F"/>
          </a:solidFill>
          <a:ln/>
        </p:spPr>
      </p:sp>
      <p:sp>
        <p:nvSpPr>
          <p:cNvPr id="32" name="Shape 29"/>
          <p:cNvSpPr/>
          <p:nvPr/>
        </p:nvSpPr>
        <p:spPr>
          <a:xfrm>
            <a:off x="4160200" y="3611880"/>
            <a:ext cx="1088136" cy="548640"/>
          </a:xfrm>
          <a:prstGeom prst="rect">
            <a:avLst/>
          </a:prstGeom>
          <a:solidFill>
            <a:srgbClr val="7F7F7F"/>
          </a:solidFill>
          <a:ln/>
        </p:spPr>
      </p:sp>
      <p:sp>
        <p:nvSpPr>
          <p:cNvPr id="33" name="Shape 30"/>
          <p:cNvSpPr/>
          <p:nvPr/>
        </p:nvSpPr>
        <p:spPr>
          <a:xfrm>
            <a:off x="5303200" y="3611880"/>
            <a:ext cx="1088136" cy="548640"/>
          </a:xfrm>
          <a:prstGeom prst="rect">
            <a:avLst/>
          </a:prstGeom>
          <a:solidFill>
            <a:srgbClr val="CCCCCC"/>
          </a:solidFill>
          <a:ln/>
        </p:spPr>
      </p:sp>
      <p:sp>
        <p:nvSpPr>
          <p:cNvPr id="34" name="Shape 31"/>
          <p:cNvSpPr/>
          <p:nvPr/>
        </p:nvSpPr>
        <p:spPr>
          <a:xfrm>
            <a:off x="6446200" y="3611880"/>
            <a:ext cx="1088136" cy="548640"/>
          </a:xfrm>
          <a:prstGeom prst="rect">
            <a:avLst/>
          </a:prstGeom>
          <a:solidFill>
            <a:srgbClr val="CCCCCC"/>
          </a:solidFill>
          <a:ln/>
        </p:spPr>
      </p:sp>
      <p:sp>
        <p:nvSpPr>
          <p:cNvPr id="35" name="Text 32"/>
          <p:cNvSpPr txBox="1"/>
          <p:nvPr/>
        </p:nvSpPr>
        <p:spPr>
          <a:xfrm>
            <a:off x="200848" y="4187952"/>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6" name="Shape 33"/>
          <p:cNvSpPr/>
          <p:nvPr/>
        </p:nvSpPr>
        <p:spPr>
          <a:xfrm>
            <a:off x="1874200" y="4215384"/>
            <a:ext cx="1088136" cy="548640"/>
          </a:xfrm>
          <a:prstGeom prst="rect">
            <a:avLst/>
          </a:prstGeom>
          <a:solidFill>
            <a:srgbClr val="E0EEF8"/>
          </a:solidFill>
          <a:ln/>
        </p:spPr>
      </p:sp>
      <p:sp>
        <p:nvSpPr>
          <p:cNvPr id="37" name="Shape 34"/>
          <p:cNvSpPr/>
          <p:nvPr/>
        </p:nvSpPr>
        <p:spPr>
          <a:xfrm>
            <a:off x="3017200" y="4215384"/>
            <a:ext cx="1088136" cy="548640"/>
          </a:xfrm>
          <a:prstGeom prst="rect">
            <a:avLst/>
          </a:prstGeom>
          <a:solidFill>
            <a:srgbClr val="CCCCCC"/>
          </a:solidFill>
          <a:ln/>
        </p:spPr>
      </p:sp>
      <p:sp>
        <p:nvSpPr>
          <p:cNvPr id="38" name="Shape 35"/>
          <p:cNvSpPr/>
          <p:nvPr/>
        </p:nvSpPr>
        <p:spPr>
          <a:xfrm>
            <a:off x="4160200" y="4215384"/>
            <a:ext cx="1088136" cy="548640"/>
          </a:xfrm>
          <a:prstGeom prst="rect">
            <a:avLst/>
          </a:prstGeom>
          <a:solidFill>
            <a:srgbClr val="E0EEF8"/>
          </a:solidFill>
          <a:ln/>
        </p:spPr>
      </p:sp>
      <p:sp>
        <p:nvSpPr>
          <p:cNvPr id="39" name="Shape 36"/>
          <p:cNvSpPr/>
          <p:nvPr/>
        </p:nvSpPr>
        <p:spPr>
          <a:xfrm>
            <a:off x="5303200" y="4215384"/>
            <a:ext cx="1088136" cy="548640"/>
          </a:xfrm>
          <a:prstGeom prst="rect">
            <a:avLst/>
          </a:prstGeom>
          <a:solidFill>
            <a:srgbClr val="E0EEF8"/>
          </a:solidFill>
          <a:ln/>
        </p:spPr>
      </p:sp>
      <p:sp>
        <p:nvSpPr>
          <p:cNvPr id="40" name="Shape 37"/>
          <p:cNvSpPr/>
          <p:nvPr/>
        </p:nvSpPr>
        <p:spPr>
          <a:xfrm>
            <a:off x="6446200" y="4215384"/>
            <a:ext cx="1088136" cy="548640"/>
          </a:xfrm>
          <a:prstGeom prst="rect">
            <a:avLst/>
          </a:prstGeom>
          <a:solidFill>
            <a:srgbClr val="CCCCCC"/>
          </a:solidFill>
          <a:ln/>
        </p:spPr>
      </p:sp>
      <p:sp>
        <p:nvSpPr>
          <p:cNvPr id="41" name="Text 38"/>
          <p:cNvSpPr txBox="1"/>
          <p:nvPr/>
        </p:nvSpPr>
        <p:spPr>
          <a:xfrm>
            <a:off x="200848" y="4791456"/>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2" name="Shape 39"/>
          <p:cNvSpPr/>
          <p:nvPr/>
        </p:nvSpPr>
        <p:spPr>
          <a:xfrm>
            <a:off x="1874200" y="4818888"/>
            <a:ext cx="1088136" cy="548640"/>
          </a:xfrm>
          <a:prstGeom prst="rect">
            <a:avLst/>
          </a:prstGeom>
          <a:solidFill>
            <a:srgbClr val="CCCCCC"/>
          </a:solidFill>
          <a:ln/>
        </p:spPr>
      </p:sp>
      <p:sp>
        <p:nvSpPr>
          <p:cNvPr id="43" name="Shape 40"/>
          <p:cNvSpPr/>
          <p:nvPr/>
        </p:nvSpPr>
        <p:spPr>
          <a:xfrm>
            <a:off x="3017200" y="4818888"/>
            <a:ext cx="1088136" cy="548640"/>
          </a:xfrm>
          <a:prstGeom prst="rect">
            <a:avLst/>
          </a:prstGeom>
          <a:solidFill>
            <a:srgbClr val="CCCCCC"/>
          </a:solidFill>
          <a:ln/>
        </p:spPr>
      </p:sp>
      <p:sp>
        <p:nvSpPr>
          <p:cNvPr id="44" name="Shape 41"/>
          <p:cNvSpPr/>
          <p:nvPr/>
        </p:nvSpPr>
        <p:spPr>
          <a:xfrm>
            <a:off x="4160200" y="4818888"/>
            <a:ext cx="1088136" cy="548640"/>
          </a:xfrm>
          <a:prstGeom prst="rect">
            <a:avLst/>
          </a:prstGeom>
          <a:solidFill>
            <a:srgbClr val="E0EEF8"/>
          </a:solidFill>
          <a:ln/>
        </p:spPr>
      </p:sp>
      <p:sp>
        <p:nvSpPr>
          <p:cNvPr id="45" name="Shape 42"/>
          <p:cNvSpPr/>
          <p:nvPr/>
        </p:nvSpPr>
        <p:spPr>
          <a:xfrm>
            <a:off x="5303200" y="4818888"/>
            <a:ext cx="1088136" cy="548640"/>
          </a:xfrm>
          <a:prstGeom prst="rect">
            <a:avLst/>
          </a:prstGeom>
          <a:solidFill>
            <a:srgbClr val="7F7F7F"/>
          </a:solidFill>
          <a:ln/>
        </p:spPr>
      </p:sp>
      <p:sp>
        <p:nvSpPr>
          <p:cNvPr id="46" name="Shape 43"/>
          <p:cNvSpPr/>
          <p:nvPr/>
        </p:nvSpPr>
        <p:spPr>
          <a:xfrm>
            <a:off x="6446200" y="4818888"/>
            <a:ext cx="1088136" cy="548640"/>
          </a:xfrm>
          <a:prstGeom prst="rect">
            <a:avLst/>
          </a:prstGeom>
          <a:solidFill>
            <a:srgbClr val="E0EEF8"/>
          </a:solidFill>
          <a:ln/>
        </p:spPr>
      </p:sp>
      <p:sp>
        <p:nvSpPr>
          <p:cNvPr id="47" name="Text 44"/>
          <p:cNvSpPr txBox="1"/>
          <p:nvPr/>
        </p:nvSpPr>
        <p:spPr>
          <a:xfrm>
            <a:off x="200848" y="5394960"/>
            <a:ext cx="15544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48" name="Shape 45"/>
          <p:cNvSpPr/>
          <p:nvPr/>
        </p:nvSpPr>
        <p:spPr>
          <a:xfrm>
            <a:off x="1874200" y="5422392"/>
            <a:ext cx="1088136" cy="548640"/>
          </a:xfrm>
          <a:prstGeom prst="rect">
            <a:avLst/>
          </a:prstGeom>
          <a:solidFill>
            <a:srgbClr val="E0EEF8"/>
          </a:solidFill>
          <a:ln/>
        </p:spPr>
      </p:sp>
      <p:sp>
        <p:nvSpPr>
          <p:cNvPr id="49" name="Shape 46"/>
          <p:cNvSpPr/>
          <p:nvPr/>
        </p:nvSpPr>
        <p:spPr>
          <a:xfrm>
            <a:off x="3017200" y="5422392"/>
            <a:ext cx="1088136" cy="548640"/>
          </a:xfrm>
          <a:prstGeom prst="rect">
            <a:avLst/>
          </a:prstGeom>
          <a:solidFill>
            <a:srgbClr val="E0EEF8"/>
          </a:solidFill>
          <a:ln/>
        </p:spPr>
      </p:sp>
      <p:sp>
        <p:nvSpPr>
          <p:cNvPr id="50" name="Shape 47"/>
          <p:cNvSpPr/>
          <p:nvPr/>
        </p:nvSpPr>
        <p:spPr>
          <a:xfrm>
            <a:off x="4160200" y="5422392"/>
            <a:ext cx="1088136" cy="548640"/>
          </a:xfrm>
          <a:prstGeom prst="rect">
            <a:avLst/>
          </a:prstGeom>
          <a:solidFill>
            <a:srgbClr val="CCCCCC"/>
          </a:solidFill>
          <a:ln/>
        </p:spPr>
      </p:sp>
      <p:sp>
        <p:nvSpPr>
          <p:cNvPr id="51" name="Shape 48"/>
          <p:cNvSpPr/>
          <p:nvPr/>
        </p:nvSpPr>
        <p:spPr>
          <a:xfrm>
            <a:off x="5303200" y="5422392"/>
            <a:ext cx="1088136" cy="548640"/>
          </a:xfrm>
          <a:prstGeom prst="rect">
            <a:avLst/>
          </a:prstGeom>
          <a:solidFill>
            <a:srgbClr val="CCCCCC"/>
          </a:solidFill>
          <a:ln/>
        </p:spPr>
      </p:sp>
      <p:sp>
        <p:nvSpPr>
          <p:cNvPr id="52" name="Shape 49"/>
          <p:cNvSpPr/>
          <p:nvPr/>
        </p:nvSpPr>
        <p:spPr>
          <a:xfrm>
            <a:off x="6446200" y="5422392"/>
            <a:ext cx="1088136" cy="548640"/>
          </a:xfrm>
          <a:prstGeom prst="rect">
            <a:avLst/>
          </a:prstGeom>
          <a:solidFill>
            <a:srgbClr val="E0EEF8"/>
          </a:solidFill>
          <a:ln/>
        </p:spPr>
      </p:sp>
      <p:sp>
        <p:nvSpPr>
          <p:cNvPr id="53" name="Shape 50"/>
          <p:cNvSpPr/>
          <p:nvPr/>
        </p:nvSpPr>
        <p:spPr>
          <a:xfrm>
            <a:off x="200848" y="3566160"/>
            <a:ext cx="7360920" cy="640080"/>
          </a:xfrm>
          <a:prstGeom prst="rect">
            <a:avLst/>
          </a:prstGeom>
          <a:ln w="22225">
            <a:solidFill>
              <a:srgbClr val="000F78"/>
            </a:solidFill>
            <a:prstDash val="solid"/>
          </a:ln>
        </p:spPr>
      </p:sp>
      <p:sp>
        <p:nvSpPr>
          <p:cNvPr id="54" name="Text 51"/>
          <p:cNvSpPr txBox="1"/>
          <p:nvPr/>
        </p:nvSpPr>
        <p:spPr>
          <a:xfrm>
            <a:off x="8018968" y="196596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凡例</a:t>
            </a:r>
            <a:endParaRPr lang="en-US" sz="1400" dirty="0"/>
          </a:p>
        </p:txBody>
      </p:sp>
      <p:sp>
        <p:nvSpPr>
          <p:cNvPr id="55" name="Shape 52"/>
          <p:cNvSpPr/>
          <p:nvPr/>
        </p:nvSpPr>
        <p:spPr>
          <a:xfrm>
            <a:off x="8018968" y="2313432"/>
            <a:ext cx="1685880" cy="0"/>
          </a:xfrm>
          <a:prstGeom prst="line">
            <a:avLst/>
          </a:prstGeom>
          <a:noFill/>
          <a:ln w="12700">
            <a:solidFill>
              <a:srgbClr val="7F7F7F"/>
            </a:solidFill>
            <a:prstDash val="solid"/>
          </a:ln>
        </p:spPr>
      </p:sp>
      <p:sp>
        <p:nvSpPr>
          <p:cNvPr id="56" name="Shape 53"/>
          <p:cNvSpPr/>
          <p:nvPr/>
        </p:nvSpPr>
        <p:spPr>
          <a:xfrm>
            <a:off x="8018968" y="2514600"/>
            <a:ext cx="320040" cy="274320"/>
          </a:xfrm>
          <a:prstGeom prst="rect">
            <a:avLst/>
          </a:prstGeom>
          <a:solidFill>
            <a:srgbClr val="7F7F7F"/>
          </a:solidFill>
          <a:ln/>
        </p:spPr>
      </p:sp>
      <p:sp>
        <p:nvSpPr>
          <p:cNvPr id="57" name="Text 54"/>
          <p:cNvSpPr txBox="1"/>
          <p:nvPr/>
        </p:nvSpPr>
        <p:spPr>
          <a:xfrm>
            <a:off x="8430448" y="24871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大</a:t>
            </a:r>
            <a:endParaRPr lang="en-US" sz="1400" dirty="0"/>
          </a:p>
        </p:txBody>
      </p:sp>
      <p:sp>
        <p:nvSpPr>
          <p:cNvPr id="58" name="Shape 55"/>
          <p:cNvSpPr/>
          <p:nvPr/>
        </p:nvSpPr>
        <p:spPr>
          <a:xfrm>
            <a:off x="8018968" y="2971800"/>
            <a:ext cx="320040" cy="274320"/>
          </a:xfrm>
          <a:prstGeom prst="rect">
            <a:avLst/>
          </a:prstGeom>
          <a:solidFill>
            <a:srgbClr val="CCCCCC"/>
          </a:solidFill>
          <a:ln/>
        </p:spPr>
      </p:sp>
      <p:sp>
        <p:nvSpPr>
          <p:cNvPr id="59" name="Text 56"/>
          <p:cNvSpPr txBox="1"/>
          <p:nvPr/>
        </p:nvSpPr>
        <p:spPr>
          <a:xfrm>
            <a:off x="8430448" y="29443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中</a:t>
            </a:r>
            <a:endParaRPr lang="en-US" sz="1400" dirty="0"/>
          </a:p>
        </p:txBody>
      </p:sp>
      <p:sp>
        <p:nvSpPr>
          <p:cNvPr id="60" name="Shape 57"/>
          <p:cNvSpPr/>
          <p:nvPr/>
        </p:nvSpPr>
        <p:spPr>
          <a:xfrm>
            <a:off x="8018968" y="3429000"/>
            <a:ext cx="320040" cy="274320"/>
          </a:xfrm>
          <a:prstGeom prst="rect">
            <a:avLst/>
          </a:prstGeom>
          <a:solidFill>
            <a:srgbClr val="E0EEF8"/>
          </a:solidFill>
          <a:ln/>
        </p:spPr>
      </p:sp>
      <p:sp>
        <p:nvSpPr>
          <p:cNvPr id="61" name="Text 58"/>
          <p:cNvSpPr txBox="1"/>
          <p:nvPr/>
        </p:nvSpPr>
        <p:spPr>
          <a:xfrm>
            <a:off x="8430448" y="3401568"/>
            <a:ext cx="1274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課題 小</a:t>
            </a:r>
            <a:endParaRPr lang="en-US" sz="1400" dirty="0"/>
          </a:p>
        </p:txBody>
      </p:sp>
      <p:sp>
        <p:nvSpPr>
          <p:cNvPr id="62" name="Text 59"/>
          <p:cNvSpPr txBox="1"/>
          <p:nvPr/>
        </p:nvSpPr>
        <p:spPr>
          <a:xfrm>
            <a:off x="8018968" y="3886200"/>
            <a:ext cx="1685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63" name="Shape 60"/>
          <p:cNvSpPr/>
          <p:nvPr/>
        </p:nvSpPr>
        <p:spPr>
          <a:xfrm>
            <a:off x="8018968" y="4233672"/>
            <a:ext cx="1685880" cy="0"/>
          </a:xfrm>
          <a:prstGeom prst="line">
            <a:avLst/>
          </a:prstGeom>
          <a:noFill/>
          <a:ln w="15875">
            <a:solidFill>
              <a:srgbClr val="3F3F3F"/>
            </a:solidFill>
            <a:prstDash val="solid"/>
          </a:ln>
        </p:spPr>
      </p:sp>
      <p:sp>
        <p:nvSpPr>
          <p:cNvPr id="64" name="Text 61"/>
          <p:cNvSpPr txBox="1"/>
          <p:nvPr/>
        </p:nvSpPr>
        <p:spPr>
          <a:xfrm>
            <a:off x="8018968" y="4389120"/>
            <a:ext cx="1685880" cy="8686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本日は支線の扱いについて、予約型交通への転換の採用をご判断いただきたい。転換案は費用と効果の釣り合いが最も良く、2028年度に効果が出る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33</a:t>
            </a:r>
            <a:endParaRPr lang="en-US" sz="900" dirty="0"/>
          </a:p>
        </p:txBody>
      </p:sp>
      <p:sp>
        <p:nvSpPr>
          <p:cNvPr id="9" name="Shape 6"/>
          <p:cNvSpPr/>
          <p:nvPr/>
        </p:nvSpPr>
        <p:spPr>
          <a:xfrm>
            <a:off x="200848" y="1485000"/>
            <a:ext cx="868104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84640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支線12路線を予約型交通に転換し、2027年4月に1地区目の試行を始めること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現状維持</a:t>
            </a:r>
            <a:endParaRPr lang="en-US" sz="1400" dirty="0"/>
          </a:p>
        </p:txBody>
      </p:sp>
      <p:sp>
        <p:nvSpPr>
          <p:cNvPr id="15" name="Text 12"/>
          <p:cNvSpPr txBox="1"/>
          <p:nvPr/>
        </p:nvSpPr>
        <p:spPr>
          <a:xfrm>
            <a:off x="1846768" y="278892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路線と便数を変えない</a:t>
            </a:r>
            <a:endParaRPr lang="en-US" sz="1400" dirty="0"/>
          </a:p>
        </p:txBody>
      </p:sp>
      <p:sp>
        <p:nvSpPr>
          <p:cNvPr id="16" name="Text 13"/>
          <p:cNvSpPr txBox="1"/>
          <p:nvPr/>
        </p:nvSpPr>
        <p:spPr>
          <a:xfrm>
            <a:off x="3812728" y="278892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小／効果 小</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予約型へ転換（推奨）</a:t>
            </a:r>
            <a:endParaRPr lang="en-US" sz="1400" dirty="0"/>
          </a:p>
        </p:txBody>
      </p:sp>
      <p:sp>
        <p:nvSpPr>
          <p:cNvPr id="19" name="Text 16"/>
          <p:cNvSpPr txBox="1"/>
          <p:nvPr/>
        </p:nvSpPr>
        <p:spPr>
          <a:xfrm>
            <a:off x="1846768" y="3749040"/>
            <a:ext cx="1920240" cy="77724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支線を予約型交通にする</a:t>
            </a:r>
            <a:endParaRPr lang="en-US" sz="1400" dirty="0"/>
          </a:p>
        </p:txBody>
      </p:sp>
      <p:sp>
        <p:nvSpPr>
          <p:cNvPr id="20" name="Text 17"/>
          <p:cNvSpPr txBox="1"/>
          <p:nvPr/>
        </p:nvSpPr>
        <p:spPr>
          <a:xfrm>
            <a:off x="3812728" y="3749040"/>
            <a:ext cx="15087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50876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路線の廃止</a:t>
            </a:r>
            <a:endParaRPr lang="en-US" sz="1400" dirty="0"/>
          </a:p>
        </p:txBody>
      </p:sp>
      <p:sp>
        <p:nvSpPr>
          <p:cNvPr id="23" name="Text 20"/>
          <p:cNvSpPr txBox="1"/>
          <p:nvPr/>
        </p:nvSpPr>
        <p:spPr>
          <a:xfrm>
            <a:off x="1846768" y="4709160"/>
            <a:ext cx="192024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支線をやめ通院は補助で対応</a:t>
            </a:r>
            <a:endParaRPr lang="en-US" sz="1400" dirty="0"/>
          </a:p>
        </p:txBody>
      </p:sp>
      <p:sp>
        <p:nvSpPr>
          <p:cNvPr id="24" name="Text 21"/>
          <p:cNvSpPr txBox="1"/>
          <p:nvPr/>
        </p:nvSpPr>
        <p:spPr>
          <a:xfrm>
            <a:off x="3812728" y="4709160"/>
            <a:ext cx="15087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費用 大／効果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転換費用は5年で1.2億円まで</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協議会で事業者3社が合意すること</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効果の算定方法は参考資料p.24</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2026年12月　推進室の立ち上げ</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2027年4月　1地区目の試行開始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2027年10月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バスの利用者が減り続けているのは4地区中で東部だけで、他は横ばいか増加である。東部に固有の要因を特定する必要がある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地区別の年間利用者数の推移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（万人、2015–2025年度、縦軸はすべて同じ目盛り）</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0084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13" name="Shape 10"/>
          <p:cNvSpPr/>
          <p:nvPr/>
        </p:nvSpPr>
        <p:spPr>
          <a:xfrm>
            <a:off x="200848" y="2267712"/>
            <a:ext cx="1450170" cy="0"/>
          </a:xfrm>
          <a:prstGeom prst="line">
            <a:avLst/>
          </a:prstGeom>
          <a:noFill/>
          <a:ln w="12700">
            <a:solidFill>
              <a:srgbClr val="7F7F7F"/>
            </a:solidFill>
            <a:prstDash val="solid"/>
          </a:ln>
        </p:spPr>
      </p:sp>
      <p:graphicFrame>
        <p:nvGraphicFramePr>
          <p:cNvPr id="14" name="Chart 0" descr=""/>
          <p:cNvGraphicFramePr/>
          <p:nvPr/>
        </p:nvGraphicFramePr>
        <p:xfrm>
          <a:off x="200848" y="2377440"/>
          <a:ext cx="1450170" cy="32461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20084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＋6</a:t>
            </a:r>
            <a:endParaRPr lang="en-US" sz="1200" dirty="0"/>
          </a:p>
        </p:txBody>
      </p:sp>
      <p:sp>
        <p:nvSpPr>
          <p:cNvPr id="16" name="Text 12"/>
          <p:cNvSpPr txBox="1"/>
          <p:nvPr/>
        </p:nvSpPr>
        <p:spPr>
          <a:xfrm>
            <a:off x="178817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17" name="Shape 13"/>
          <p:cNvSpPr/>
          <p:nvPr/>
        </p:nvSpPr>
        <p:spPr>
          <a:xfrm>
            <a:off x="1788178" y="2267712"/>
            <a:ext cx="1450170" cy="0"/>
          </a:xfrm>
          <a:prstGeom prst="line">
            <a:avLst/>
          </a:prstGeom>
          <a:noFill/>
          <a:ln w="12700">
            <a:solidFill>
              <a:srgbClr val="7F7F7F"/>
            </a:solidFill>
            <a:prstDash val="solid"/>
          </a:ln>
        </p:spPr>
      </p:sp>
      <p:graphicFrame>
        <p:nvGraphicFramePr>
          <p:cNvPr id="18" name="Chart 1" descr=""/>
          <p:cNvGraphicFramePr/>
          <p:nvPr/>
        </p:nvGraphicFramePr>
        <p:xfrm>
          <a:off x="1788178" y="2377440"/>
          <a:ext cx="1450170" cy="3246120"/>
        </p:xfrm>
        <a:graphic xmlns:a="http://schemas.openxmlformats.org/drawingml/2006/main">
          <a:graphicData uri="http://schemas.openxmlformats.org/drawingml/2006/chart">
            <c:chart xmlns:c="http://schemas.openxmlformats.org/drawingml/2006/chart" r:id="rId2"/>
          </a:graphicData>
        </a:graphic>
      </p:graphicFrame>
      <p:sp>
        <p:nvSpPr>
          <p:cNvPr id="19" name="Text 14"/>
          <p:cNvSpPr txBox="1"/>
          <p:nvPr/>
        </p:nvSpPr>
        <p:spPr>
          <a:xfrm>
            <a:off x="178817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＋3</a:t>
            </a:r>
            <a:endParaRPr lang="en-US" sz="1200" dirty="0"/>
          </a:p>
        </p:txBody>
      </p:sp>
      <p:sp>
        <p:nvSpPr>
          <p:cNvPr id="20" name="Text 15"/>
          <p:cNvSpPr txBox="1"/>
          <p:nvPr/>
        </p:nvSpPr>
        <p:spPr>
          <a:xfrm>
            <a:off x="337550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21" name="Shape 16"/>
          <p:cNvSpPr/>
          <p:nvPr/>
        </p:nvSpPr>
        <p:spPr>
          <a:xfrm>
            <a:off x="3375508" y="2267712"/>
            <a:ext cx="1450170" cy="0"/>
          </a:xfrm>
          <a:prstGeom prst="line">
            <a:avLst/>
          </a:prstGeom>
          <a:noFill/>
          <a:ln w="15875">
            <a:solidFill>
              <a:srgbClr val="3F3F3F"/>
            </a:solidFill>
            <a:prstDash val="solid"/>
          </a:ln>
        </p:spPr>
      </p:sp>
      <p:graphicFrame>
        <p:nvGraphicFramePr>
          <p:cNvPr id="22" name="Chart 2" descr=""/>
          <p:cNvGraphicFramePr/>
          <p:nvPr/>
        </p:nvGraphicFramePr>
        <p:xfrm>
          <a:off x="3375508" y="2377440"/>
          <a:ext cx="1450170" cy="3246120"/>
        </p:xfrm>
        <a:graphic xmlns:a="http://schemas.openxmlformats.org/drawingml/2006/main">
          <a:graphicData uri="http://schemas.openxmlformats.org/drawingml/2006/chart">
            <c:chart xmlns:c="http://schemas.openxmlformats.org/drawingml/2006/chart" r:id="rId3"/>
          </a:graphicData>
        </a:graphic>
      </p:graphicFrame>
      <p:sp>
        <p:nvSpPr>
          <p:cNvPr id="23" name="Text 17"/>
          <p:cNvSpPr txBox="1"/>
          <p:nvPr/>
        </p:nvSpPr>
        <p:spPr>
          <a:xfrm>
            <a:off x="3375508" y="5669280"/>
            <a:ext cx="1450170" cy="32004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10年で −29</a:t>
            </a:r>
            <a:endParaRPr lang="en-US" sz="1200" dirty="0"/>
          </a:p>
        </p:txBody>
      </p:sp>
      <p:sp>
        <p:nvSpPr>
          <p:cNvPr id="24" name="Text 18"/>
          <p:cNvSpPr txBox="1"/>
          <p:nvPr/>
        </p:nvSpPr>
        <p:spPr>
          <a:xfrm>
            <a:off x="4962838" y="1920240"/>
            <a:ext cx="145017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25" name="Shape 19"/>
          <p:cNvSpPr/>
          <p:nvPr/>
        </p:nvSpPr>
        <p:spPr>
          <a:xfrm>
            <a:off x="4962838" y="2267712"/>
            <a:ext cx="1450170" cy="0"/>
          </a:xfrm>
          <a:prstGeom prst="line">
            <a:avLst/>
          </a:prstGeom>
          <a:noFill/>
          <a:ln w="12700">
            <a:solidFill>
              <a:srgbClr val="7F7F7F"/>
            </a:solidFill>
            <a:prstDash val="solid"/>
          </a:ln>
        </p:spPr>
      </p:sp>
      <p:graphicFrame>
        <p:nvGraphicFramePr>
          <p:cNvPr id="26" name="Chart 3" descr=""/>
          <p:cNvGraphicFramePr/>
          <p:nvPr/>
        </p:nvGraphicFramePr>
        <p:xfrm>
          <a:off x="4962838" y="2377440"/>
          <a:ext cx="1450170" cy="3246120"/>
        </p:xfrm>
        <a:graphic xmlns:a="http://schemas.openxmlformats.org/drawingml/2006/main">
          <a:graphicData uri="http://schemas.openxmlformats.org/drawingml/2006/chart">
            <c:chart xmlns:c="http://schemas.openxmlformats.org/drawingml/2006/chart" r:id="rId4"/>
          </a:graphicData>
        </a:graphic>
      </p:graphicFrame>
      <p:sp>
        <p:nvSpPr>
          <p:cNvPr id="27" name="Text 20"/>
          <p:cNvSpPr txBox="1"/>
          <p:nvPr/>
        </p:nvSpPr>
        <p:spPr>
          <a:xfrm>
            <a:off x="4962838" y="5669280"/>
            <a:ext cx="145017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10年で ＋12</a:t>
            </a:r>
            <a:endParaRPr lang="en-US" sz="1200" dirty="0"/>
          </a:p>
        </p:txBody>
      </p:sp>
      <p:sp>
        <p:nvSpPr>
          <p:cNvPr id="28" name="Shape 21"/>
          <p:cNvSpPr/>
          <p:nvPr/>
        </p:nvSpPr>
        <p:spPr>
          <a:xfrm>
            <a:off x="6687328" y="1874520"/>
            <a:ext cx="3017520" cy="4251960"/>
          </a:xfrm>
          <a:prstGeom prst="rect">
            <a:avLst/>
          </a:prstGeom>
          <a:solidFill>
            <a:srgbClr val="E0EEF8"/>
          </a:solidFill>
          <a:ln/>
        </p:spPr>
      </p:sp>
      <p:sp>
        <p:nvSpPr>
          <p:cNvPr id="29" name="Text 2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減り続けているのは東部だけ</a:t>
            </a:r>
            <a:endParaRPr lang="en-US" sz="1400" dirty="0"/>
          </a:p>
        </p:txBody>
      </p:sp>
      <p:sp>
        <p:nvSpPr>
          <p:cNvPr id="30" name="Text 2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東部は10年で70万人から41万人に減った（−41%）。他の3地区は横ばいか増加</a:t>
            </a:r>
            <a:endParaRPr lang="en-US" sz="1200" dirty="0"/>
          </a:p>
        </p:txBody>
      </p:sp>
      <p:sp>
        <p:nvSpPr>
          <p:cNvPr id="31" name="Shape 24"/>
          <p:cNvSpPr/>
          <p:nvPr/>
        </p:nvSpPr>
        <p:spPr>
          <a:xfrm>
            <a:off x="6870208" y="3936492"/>
            <a:ext cx="2651760" cy="0"/>
          </a:xfrm>
          <a:prstGeom prst="line">
            <a:avLst/>
          </a:prstGeom>
          <a:noFill/>
          <a:ln w="9525">
            <a:solidFill>
              <a:srgbClr val="CCCCCC"/>
            </a:solidFill>
            <a:prstDash val="solid"/>
          </a:ln>
        </p:spPr>
      </p:sp>
      <p:sp>
        <p:nvSpPr>
          <p:cNvPr id="32" name="Text 2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東部では通学の利用が半分になった</a:t>
            </a:r>
            <a:endParaRPr lang="en-US" sz="1400" dirty="0"/>
          </a:p>
        </p:txBody>
      </p:sp>
      <p:sp>
        <p:nvSpPr>
          <p:cNvPr id="33" name="Text 2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沿線の高校の統合（2016年）以降、東部の通学の利用は10年で半分に減った</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本資料は4つの論点に、論点ごとに現状・課題・打ち手の順で答える。最も重要なのは論点3の支線の扱いであり、第3章で詳しく扱う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35</a:t>
            </a:r>
            <a:endParaRPr lang="en-US" sz="900" dirty="0"/>
          </a:p>
        </p:txBody>
      </p:sp>
      <p:sp>
        <p:nvSpPr>
          <p:cNvPr id="11" name="Text 8"/>
          <p:cNvSpPr txBox="1"/>
          <p:nvPr/>
        </p:nvSpPr>
        <p:spPr>
          <a:xfrm>
            <a:off x="200848" y="1920240"/>
            <a:ext cx="32918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a:t>
            </a:r>
            <a:endParaRPr lang="en-US" sz="1400" dirty="0"/>
          </a:p>
        </p:txBody>
      </p:sp>
      <p:sp>
        <p:nvSpPr>
          <p:cNvPr id="12" name="Text 9"/>
          <p:cNvSpPr txBox="1"/>
          <p:nvPr/>
        </p:nvSpPr>
        <p:spPr>
          <a:xfrm>
            <a:off x="349268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56340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634128" y="1920240"/>
            <a:ext cx="20707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00848" y="2267712"/>
            <a:ext cx="9504000" cy="0"/>
          </a:xfrm>
          <a:prstGeom prst="line">
            <a:avLst/>
          </a:prstGeom>
          <a:noFill/>
          <a:ln w="12700">
            <a:solidFill>
              <a:srgbClr val="7F7F7F"/>
            </a:solidFill>
            <a:prstDash val="solid"/>
          </a:ln>
        </p:spPr>
      </p:sp>
      <p:sp>
        <p:nvSpPr>
          <p:cNvPr id="16" name="Text 13"/>
          <p:cNvSpPr txBox="1"/>
          <p:nvPr/>
        </p:nvSpPr>
        <p:spPr>
          <a:xfrm>
            <a:off x="292288" y="239572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利用はどこまで減るか</a:t>
            </a:r>
            <a:endParaRPr lang="en-US" sz="1400" dirty="0"/>
          </a:p>
        </p:txBody>
      </p:sp>
      <p:sp>
        <p:nvSpPr>
          <p:cNvPr id="17" name="Text 14"/>
          <p:cNvSpPr txBox="1"/>
          <p:nvPr/>
        </p:nvSpPr>
        <p:spPr>
          <a:xfrm>
            <a:off x="349268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p.4–6</a:t>
            </a:r>
            <a:endParaRPr lang="en-US" sz="1200" dirty="0"/>
          </a:p>
        </p:txBody>
      </p:sp>
      <p:sp>
        <p:nvSpPr>
          <p:cNvPr id="18" name="Text 15"/>
          <p:cNvSpPr txBox="1"/>
          <p:nvPr/>
        </p:nvSpPr>
        <p:spPr>
          <a:xfrm>
            <a:off x="556340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p.7–8</a:t>
            </a:r>
            <a:endParaRPr lang="en-US" sz="1200" dirty="0"/>
          </a:p>
        </p:txBody>
      </p:sp>
      <p:sp>
        <p:nvSpPr>
          <p:cNvPr id="19" name="Text 16"/>
          <p:cNvSpPr txBox="1"/>
          <p:nvPr/>
        </p:nvSpPr>
        <p:spPr>
          <a:xfrm>
            <a:off x="7634128" y="239572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p.9</a:t>
            </a:r>
            <a:endParaRPr lang="en-US" sz="1200" dirty="0"/>
          </a:p>
        </p:txBody>
      </p:sp>
      <p:sp>
        <p:nvSpPr>
          <p:cNvPr id="20" name="Shape 17"/>
          <p:cNvSpPr/>
          <p:nvPr/>
        </p:nvSpPr>
        <p:spPr>
          <a:xfrm>
            <a:off x="200848" y="3127248"/>
            <a:ext cx="9504000" cy="0"/>
          </a:xfrm>
          <a:prstGeom prst="line">
            <a:avLst/>
          </a:prstGeom>
          <a:noFill/>
          <a:ln w="9525">
            <a:solidFill>
              <a:srgbClr val="CCCCCC"/>
            </a:solidFill>
            <a:prstDash val="solid"/>
          </a:ln>
        </p:spPr>
      </p:sp>
      <p:sp>
        <p:nvSpPr>
          <p:cNvPr id="21" name="Text 18"/>
          <p:cNvSpPr txBox="1"/>
          <p:nvPr/>
        </p:nvSpPr>
        <p:spPr>
          <a:xfrm>
            <a:off x="292288" y="326440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論点2　赤字の原因はどこにあるか</a:t>
            </a:r>
            <a:endParaRPr lang="en-US" sz="1400" dirty="0"/>
          </a:p>
        </p:txBody>
      </p:sp>
      <p:sp>
        <p:nvSpPr>
          <p:cNvPr id="22" name="Text 19"/>
          <p:cNvSpPr txBox="1"/>
          <p:nvPr/>
        </p:nvSpPr>
        <p:spPr>
          <a:xfrm>
            <a:off x="349268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p.10–11</a:t>
            </a:r>
            <a:endParaRPr lang="en-US" sz="1200" dirty="0"/>
          </a:p>
        </p:txBody>
      </p:sp>
      <p:sp>
        <p:nvSpPr>
          <p:cNvPr id="23" name="Text 20"/>
          <p:cNvSpPr txBox="1"/>
          <p:nvPr/>
        </p:nvSpPr>
        <p:spPr>
          <a:xfrm>
            <a:off x="556340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p.12</a:t>
            </a:r>
            <a:endParaRPr lang="en-US" sz="1200" dirty="0"/>
          </a:p>
        </p:txBody>
      </p:sp>
      <p:sp>
        <p:nvSpPr>
          <p:cNvPr id="24" name="Text 21"/>
          <p:cNvSpPr txBox="1"/>
          <p:nvPr/>
        </p:nvSpPr>
        <p:spPr>
          <a:xfrm>
            <a:off x="7634128" y="326440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p.13</a:t>
            </a:r>
            <a:endParaRPr lang="en-US" sz="1200" dirty="0"/>
          </a:p>
        </p:txBody>
      </p:sp>
      <p:sp>
        <p:nvSpPr>
          <p:cNvPr id="25" name="Shape 22"/>
          <p:cNvSpPr/>
          <p:nvPr/>
        </p:nvSpPr>
        <p:spPr>
          <a:xfrm>
            <a:off x="200848" y="3995928"/>
            <a:ext cx="9504000" cy="0"/>
          </a:xfrm>
          <a:prstGeom prst="line">
            <a:avLst/>
          </a:prstGeom>
          <a:noFill/>
          <a:ln w="9525">
            <a:solidFill>
              <a:srgbClr val="CCCCCC"/>
            </a:solidFill>
            <a:prstDash val="solid"/>
          </a:ln>
        </p:spPr>
      </p:sp>
      <p:sp>
        <p:nvSpPr>
          <p:cNvPr id="26" name="Shape 23"/>
          <p:cNvSpPr/>
          <p:nvPr/>
        </p:nvSpPr>
        <p:spPr>
          <a:xfrm>
            <a:off x="200848" y="4059936"/>
            <a:ext cx="9504000" cy="731520"/>
          </a:xfrm>
          <a:prstGeom prst="rect">
            <a:avLst/>
          </a:prstGeom>
          <a:solidFill>
            <a:srgbClr val="C1DDF1"/>
          </a:solidFill>
          <a:ln/>
        </p:spPr>
      </p:sp>
      <p:sp>
        <p:nvSpPr>
          <p:cNvPr id="27" name="Text 24"/>
          <p:cNvSpPr txBox="1"/>
          <p:nvPr/>
        </p:nvSpPr>
        <p:spPr>
          <a:xfrm>
            <a:off x="292288" y="4133088"/>
            <a:ext cx="310896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支線をどう扱うか</a:t>
            </a:r>
            <a:endParaRPr lang="en-US" sz="1400" dirty="0"/>
          </a:p>
        </p:txBody>
      </p:sp>
      <p:sp>
        <p:nvSpPr>
          <p:cNvPr id="28" name="Text 25"/>
          <p:cNvSpPr txBox="1"/>
          <p:nvPr/>
        </p:nvSpPr>
        <p:spPr>
          <a:xfrm>
            <a:off x="349268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p.14–16</a:t>
            </a:r>
            <a:endParaRPr lang="en-US" sz="1200" dirty="0"/>
          </a:p>
        </p:txBody>
      </p:sp>
      <p:sp>
        <p:nvSpPr>
          <p:cNvPr id="29" name="Text 26"/>
          <p:cNvSpPr txBox="1"/>
          <p:nvPr/>
        </p:nvSpPr>
        <p:spPr>
          <a:xfrm>
            <a:off x="556340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p.17–19</a:t>
            </a:r>
            <a:endParaRPr lang="en-US" sz="1200" dirty="0"/>
          </a:p>
        </p:txBody>
      </p:sp>
      <p:sp>
        <p:nvSpPr>
          <p:cNvPr id="30" name="Text 27"/>
          <p:cNvSpPr txBox="1"/>
          <p:nvPr/>
        </p:nvSpPr>
        <p:spPr>
          <a:xfrm>
            <a:off x="7634128" y="4133088"/>
            <a:ext cx="2070720" cy="585216"/>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p.20–22</a:t>
            </a:r>
            <a:endParaRPr lang="en-US" sz="1200" dirty="0"/>
          </a:p>
        </p:txBody>
      </p:sp>
      <p:sp>
        <p:nvSpPr>
          <p:cNvPr id="31" name="Shape 28"/>
          <p:cNvSpPr/>
          <p:nvPr/>
        </p:nvSpPr>
        <p:spPr>
          <a:xfrm>
            <a:off x="200848" y="4864608"/>
            <a:ext cx="9504000" cy="0"/>
          </a:xfrm>
          <a:prstGeom prst="line">
            <a:avLst/>
          </a:prstGeom>
          <a:noFill/>
          <a:ln w="9525">
            <a:solidFill>
              <a:srgbClr val="CCCCCC"/>
            </a:solidFill>
            <a:prstDash val="solid"/>
          </a:ln>
        </p:spPr>
      </p:sp>
      <p:sp>
        <p:nvSpPr>
          <p:cNvPr id="32" name="Text 29"/>
          <p:cNvSpPr txBox="1"/>
          <p:nvPr/>
        </p:nvSpPr>
        <p:spPr>
          <a:xfrm>
            <a:off x="292288" y="5001768"/>
            <a:ext cx="3108960" cy="585216"/>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論点4　誰がどう運営するか</a:t>
            </a:r>
            <a:endParaRPr lang="en-US" sz="1400" dirty="0"/>
          </a:p>
        </p:txBody>
      </p:sp>
      <p:sp>
        <p:nvSpPr>
          <p:cNvPr id="33" name="Text 30"/>
          <p:cNvSpPr txBox="1"/>
          <p:nvPr/>
        </p:nvSpPr>
        <p:spPr>
          <a:xfrm>
            <a:off x="349268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p.23</a:t>
            </a:r>
            <a:endParaRPr lang="en-US" sz="1200" dirty="0"/>
          </a:p>
        </p:txBody>
      </p:sp>
      <p:sp>
        <p:nvSpPr>
          <p:cNvPr id="34" name="Text 31"/>
          <p:cNvSpPr txBox="1"/>
          <p:nvPr/>
        </p:nvSpPr>
        <p:spPr>
          <a:xfrm>
            <a:off x="556340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35" name="Text 32"/>
          <p:cNvSpPr txBox="1"/>
          <p:nvPr/>
        </p:nvSpPr>
        <p:spPr>
          <a:xfrm>
            <a:off x="7634128" y="5001768"/>
            <a:ext cx="2070720" cy="585216"/>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p.25</a:t>
            </a:r>
            <a:endParaRPr lang="en-US" sz="1200" dirty="0"/>
          </a:p>
        </p:txBody>
      </p:sp>
      <p:sp>
        <p:nvSpPr>
          <p:cNvPr id="36" name="Text 33"/>
          <p:cNvSpPr txBox="1"/>
          <p:nvPr/>
        </p:nvSpPr>
        <p:spPr>
          <a:xfrm>
            <a:off x="200848" y="5897880"/>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注）網かけは最も重要な論点</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「支線を残すべきか」には需要・費用・担い手の3つを確かめれば答えられる。答えを最も左右するのは需要であり、調査の資源をここに厚く配分する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00848" y="3566160"/>
            <a:ext cx="1384793" cy="914400"/>
          </a:xfrm>
          <a:prstGeom prst="rect">
            <a:avLst/>
          </a:prstGeom>
          <a:solidFill>
            <a:srgbClr val="FFFFFF"/>
          </a:solidFill>
          <a:ln w="9525">
            <a:solidFill>
              <a:srgbClr val="CCCCCC"/>
            </a:solidFill>
            <a:prstDash val="solid"/>
          </a:ln>
        </p:spPr>
      </p:sp>
      <p:sp>
        <p:nvSpPr>
          <p:cNvPr id="13" name="Text 10"/>
          <p:cNvSpPr txBox="1"/>
          <p:nvPr/>
        </p:nvSpPr>
        <p:spPr>
          <a:xfrm>
            <a:off x="291160" y="3566160"/>
            <a:ext cx="1204168"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支線を</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残すべきか</a:t>
            </a:r>
            <a:endParaRPr lang="en-US" sz="1400" dirty="0"/>
          </a:p>
        </p:txBody>
      </p:sp>
      <p:sp>
        <p:nvSpPr>
          <p:cNvPr id="14" name="Text 11"/>
          <p:cNvSpPr txBox="1"/>
          <p:nvPr/>
        </p:nvSpPr>
        <p:spPr>
          <a:xfrm>
            <a:off x="2007099" y="1920240"/>
            <a:ext cx="2926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答えを決める論点</a:t>
            </a:r>
            <a:endParaRPr lang="en-US" sz="1400" dirty="0"/>
          </a:p>
        </p:txBody>
      </p:sp>
      <p:sp>
        <p:nvSpPr>
          <p:cNvPr id="15" name="Shape 12"/>
          <p:cNvSpPr/>
          <p:nvPr/>
        </p:nvSpPr>
        <p:spPr>
          <a:xfrm>
            <a:off x="2007099" y="2267712"/>
            <a:ext cx="1926669" cy="0"/>
          </a:xfrm>
          <a:prstGeom prst="line">
            <a:avLst/>
          </a:prstGeom>
          <a:noFill/>
          <a:ln w="12700">
            <a:solidFill>
              <a:srgbClr val="7F7F7F"/>
            </a:solidFill>
            <a:prstDash val="solid"/>
          </a:ln>
        </p:spPr>
      </p:sp>
      <p:sp>
        <p:nvSpPr>
          <p:cNvPr id="16" name="Text 13"/>
          <p:cNvSpPr txBox="1"/>
          <p:nvPr/>
        </p:nvSpPr>
        <p:spPr>
          <a:xfrm>
            <a:off x="4114393" y="1920240"/>
            <a:ext cx="2344335"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確かめ方</a:t>
            </a:r>
            <a:endParaRPr lang="en-US" sz="1400" dirty="0"/>
          </a:p>
        </p:txBody>
      </p:sp>
      <p:sp>
        <p:nvSpPr>
          <p:cNvPr id="17" name="Shape 14"/>
          <p:cNvSpPr/>
          <p:nvPr/>
        </p:nvSpPr>
        <p:spPr>
          <a:xfrm>
            <a:off x="4114393" y="2267712"/>
            <a:ext cx="2344335" cy="0"/>
          </a:xfrm>
          <a:prstGeom prst="line">
            <a:avLst/>
          </a:prstGeom>
          <a:noFill/>
          <a:ln w="12700">
            <a:solidFill>
              <a:srgbClr val="7F7F7F"/>
            </a:solidFill>
            <a:prstDash val="solid"/>
          </a:ln>
        </p:spPr>
      </p:sp>
      <p:sp>
        <p:nvSpPr>
          <p:cNvPr id="18" name="Shape 15"/>
          <p:cNvSpPr/>
          <p:nvPr/>
        </p:nvSpPr>
        <p:spPr>
          <a:xfrm>
            <a:off x="2007099" y="2377440"/>
            <a:ext cx="1926669" cy="914400"/>
          </a:xfrm>
          <a:prstGeom prst="rect">
            <a:avLst/>
          </a:prstGeom>
          <a:solidFill>
            <a:srgbClr val="FFFFFF"/>
          </a:solidFill>
          <a:ln w="19050">
            <a:solidFill>
              <a:srgbClr val="000F78"/>
            </a:solidFill>
            <a:prstDash val="solid"/>
          </a:ln>
        </p:spPr>
      </p:sp>
      <p:sp>
        <p:nvSpPr>
          <p:cNvPr id="19" name="Text 16"/>
          <p:cNvSpPr txBox="1"/>
          <p:nvPr/>
        </p:nvSpPr>
        <p:spPr>
          <a:xfrm>
            <a:off x="2097412" y="2377440"/>
            <a:ext cx="1746043"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20" name="Shape 17"/>
          <p:cNvSpPr/>
          <p:nvPr/>
        </p:nvSpPr>
        <p:spPr>
          <a:xfrm>
            <a:off x="1585641" y="4023360"/>
            <a:ext cx="210729" cy="0"/>
          </a:xfrm>
          <a:prstGeom prst="line">
            <a:avLst/>
          </a:prstGeom>
          <a:noFill/>
          <a:ln w="9525">
            <a:solidFill>
              <a:srgbClr val="CCCCCC"/>
            </a:solidFill>
            <a:prstDash val="solid"/>
          </a:ln>
        </p:spPr>
      </p:sp>
      <p:sp>
        <p:nvSpPr>
          <p:cNvPr id="21" name="Shape 18"/>
          <p:cNvSpPr/>
          <p:nvPr/>
        </p:nvSpPr>
        <p:spPr>
          <a:xfrm>
            <a:off x="1796370" y="2834640"/>
            <a:ext cx="0" cy="2377440"/>
          </a:xfrm>
          <a:prstGeom prst="line">
            <a:avLst/>
          </a:prstGeom>
          <a:noFill/>
          <a:ln w="9525">
            <a:solidFill>
              <a:srgbClr val="CCCCCC"/>
            </a:solidFill>
            <a:prstDash val="solid"/>
          </a:ln>
        </p:spPr>
      </p:sp>
      <p:sp>
        <p:nvSpPr>
          <p:cNvPr id="22" name="Shape 19"/>
          <p:cNvSpPr/>
          <p:nvPr/>
        </p:nvSpPr>
        <p:spPr>
          <a:xfrm>
            <a:off x="1796370" y="2834640"/>
            <a:ext cx="210729" cy="0"/>
          </a:xfrm>
          <a:prstGeom prst="line">
            <a:avLst/>
          </a:prstGeom>
          <a:noFill/>
          <a:ln w="15875">
            <a:solidFill>
              <a:srgbClr val="000F78"/>
            </a:solidFill>
            <a:prstDash val="solid"/>
          </a:ln>
        </p:spPr>
      </p:sp>
      <p:sp>
        <p:nvSpPr>
          <p:cNvPr id="23" name="Text 20"/>
          <p:cNvSpPr txBox="1"/>
          <p:nvPr/>
        </p:nvSpPr>
        <p:spPr>
          <a:xfrm>
            <a:off x="4114393" y="2377440"/>
            <a:ext cx="2344335"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人口推計×利用率で2050年までを試算</a:t>
            </a:r>
            <a:endParaRPr lang="en-US" sz="1400" dirty="0"/>
          </a:p>
        </p:txBody>
      </p:sp>
      <p:sp>
        <p:nvSpPr>
          <p:cNvPr id="24" name="Shape 21"/>
          <p:cNvSpPr/>
          <p:nvPr/>
        </p:nvSpPr>
        <p:spPr>
          <a:xfrm>
            <a:off x="4114393" y="3429000"/>
            <a:ext cx="2344335" cy="0"/>
          </a:xfrm>
          <a:prstGeom prst="line">
            <a:avLst/>
          </a:prstGeom>
          <a:noFill/>
          <a:ln w="9525">
            <a:solidFill>
              <a:srgbClr val="CCCCCC"/>
            </a:solidFill>
            <a:prstDash val="solid"/>
          </a:ln>
        </p:spPr>
      </p:sp>
      <p:sp>
        <p:nvSpPr>
          <p:cNvPr id="25" name="Shape 22"/>
          <p:cNvSpPr/>
          <p:nvPr/>
        </p:nvSpPr>
        <p:spPr>
          <a:xfrm>
            <a:off x="2007099" y="3566160"/>
            <a:ext cx="1926669" cy="914400"/>
          </a:xfrm>
          <a:prstGeom prst="rect">
            <a:avLst/>
          </a:prstGeom>
          <a:solidFill>
            <a:srgbClr val="FFFFFF"/>
          </a:solidFill>
          <a:ln w="9525">
            <a:solidFill>
              <a:srgbClr val="CCCCCC"/>
            </a:solidFill>
            <a:prstDash val="solid"/>
          </a:ln>
        </p:spPr>
      </p:sp>
      <p:sp>
        <p:nvSpPr>
          <p:cNvPr id="26" name="Text 23"/>
          <p:cNvSpPr txBox="1"/>
          <p:nvPr/>
        </p:nvSpPr>
        <p:spPr>
          <a:xfrm>
            <a:off x="2097412" y="3566160"/>
            <a:ext cx="1746043"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費用は賄えるか</a:t>
            </a:r>
            <a:endParaRPr lang="en-US" sz="1400" dirty="0"/>
          </a:p>
        </p:txBody>
      </p:sp>
      <p:sp>
        <p:nvSpPr>
          <p:cNvPr id="27" name="Shape 24"/>
          <p:cNvSpPr/>
          <p:nvPr/>
        </p:nvSpPr>
        <p:spPr>
          <a:xfrm>
            <a:off x="1585641" y="4023360"/>
            <a:ext cx="210729" cy="0"/>
          </a:xfrm>
          <a:prstGeom prst="line">
            <a:avLst/>
          </a:prstGeom>
          <a:noFill/>
          <a:ln w="9525">
            <a:solidFill>
              <a:srgbClr val="CCCCCC"/>
            </a:solidFill>
            <a:prstDash val="solid"/>
          </a:ln>
        </p:spPr>
      </p:sp>
      <p:sp>
        <p:nvSpPr>
          <p:cNvPr id="28" name="Shape 25"/>
          <p:cNvSpPr/>
          <p:nvPr/>
        </p:nvSpPr>
        <p:spPr>
          <a:xfrm>
            <a:off x="1796370" y="2834640"/>
            <a:ext cx="0" cy="2377440"/>
          </a:xfrm>
          <a:prstGeom prst="line">
            <a:avLst/>
          </a:prstGeom>
          <a:noFill/>
          <a:ln w="9525">
            <a:solidFill>
              <a:srgbClr val="CCCCCC"/>
            </a:solidFill>
            <a:prstDash val="solid"/>
          </a:ln>
        </p:spPr>
      </p:sp>
      <p:sp>
        <p:nvSpPr>
          <p:cNvPr id="29" name="Shape 26"/>
          <p:cNvSpPr/>
          <p:nvPr/>
        </p:nvSpPr>
        <p:spPr>
          <a:xfrm>
            <a:off x="1796370" y="4023360"/>
            <a:ext cx="210729" cy="0"/>
          </a:xfrm>
          <a:prstGeom prst="line">
            <a:avLst/>
          </a:prstGeom>
          <a:noFill/>
          <a:ln w="9525">
            <a:solidFill>
              <a:srgbClr val="CCCCCC"/>
            </a:solidFill>
            <a:prstDash val="solid"/>
          </a:ln>
        </p:spPr>
      </p:sp>
      <p:sp>
        <p:nvSpPr>
          <p:cNvPr id="30" name="Text 27"/>
          <p:cNvSpPr txBox="1"/>
          <p:nvPr/>
        </p:nvSpPr>
        <p:spPr>
          <a:xfrm>
            <a:off x="4114393" y="3566160"/>
            <a:ext cx="2344335"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費目別の10年推移と他市の単価を比較</a:t>
            </a:r>
            <a:endParaRPr lang="en-US" sz="1400" dirty="0"/>
          </a:p>
        </p:txBody>
      </p:sp>
      <p:sp>
        <p:nvSpPr>
          <p:cNvPr id="31" name="Shape 28"/>
          <p:cNvSpPr/>
          <p:nvPr/>
        </p:nvSpPr>
        <p:spPr>
          <a:xfrm>
            <a:off x="4114393" y="4617720"/>
            <a:ext cx="2344335" cy="0"/>
          </a:xfrm>
          <a:prstGeom prst="line">
            <a:avLst/>
          </a:prstGeom>
          <a:noFill/>
          <a:ln w="9525">
            <a:solidFill>
              <a:srgbClr val="CCCCCC"/>
            </a:solidFill>
            <a:prstDash val="solid"/>
          </a:ln>
        </p:spPr>
      </p:sp>
      <p:sp>
        <p:nvSpPr>
          <p:cNvPr id="32" name="Shape 29"/>
          <p:cNvSpPr/>
          <p:nvPr/>
        </p:nvSpPr>
        <p:spPr>
          <a:xfrm>
            <a:off x="2007099" y="4754880"/>
            <a:ext cx="1926669" cy="914400"/>
          </a:xfrm>
          <a:prstGeom prst="rect">
            <a:avLst/>
          </a:prstGeom>
          <a:solidFill>
            <a:srgbClr val="FFFFFF"/>
          </a:solidFill>
          <a:ln w="9525">
            <a:solidFill>
              <a:srgbClr val="CCCCCC"/>
            </a:solidFill>
            <a:prstDash val="solid"/>
          </a:ln>
        </p:spPr>
      </p:sp>
      <p:sp>
        <p:nvSpPr>
          <p:cNvPr id="33" name="Text 30"/>
          <p:cNvSpPr txBox="1"/>
          <p:nvPr/>
        </p:nvSpPr>
        <p:spPr>
          <a:xfrm>
            <a:off x="2097412" y="4754880"/>
            <a:ext cx="1746043" cy="9144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担い手を確保できるか</a:t>
            </a:r>
            <a:endParaRPr lang="en-US" sz="1400" dirty="0"/>
          </a:p>
        </p:txBody>
      </p:sp>
      <p:sp>
        <p:nvSpPr>
          <p:cNvPr id="34" name="Shape 31"/>
          <p:cNvSpPr/>
          <p:nvPr/>
        </p:nvSpPr>
        <p:spPr>
          <a:xfrm>
            <a:off x="1585641" y="4023360"/>
            <a:ext cx="210729" cy="0"/>
          </a:xfrm>
          <a:prstGeom prst="line">
            <a:avLst/>
          </a:prstGeom>
          <a:noFill/>
          <a:ln w="9525">
            <a:solidFill>
              <a:srgbClr val="CCCCCC"/>
            </a:solidFill>
            <a:prstDash val="solid"/>
          </a:ln>
        </p:spPr>
      </p:sp>
      <p:sp>
        <p:nvSpPr>
          <p:cNvPr id="35" name="Shape 32"/>
          <p:cNvSpPr/>
          <p:nvPr/>
        </p:nvSpPr>
        <p:spPr>
          <a:xfrm>
            <a:off x="1796370" y="2834640"/>
            <a:ext cx="0" cy="2377440"/>
          </a:xfrm>
          <a:prstGeom prst="line">
            <a:avLst/>
          </a:prstGeom>
          <a:noFill/>
          <a:ln w="9525">
            <a:solidFill>
              <a:srgbClr val="CCCCCC"/>
            </a:solidFill>
            <a:prstDash val="solid"/>
          </a:ln>
        </p:spPr>
      </p:sp>
      <p:sp>
        <p:nvSpPr>
          <p:cNvPr id="36" name="Shape 33"/>
          <p:cNvSpPr/>
          <p:nvPr/>
        </p:nvSpPr>
        <p:spPr>
          <a:xfrm>
            <a:off x="1796370" y="5212080"/>
            <a:ext cx="210729" cy="0"/>
          </a:xfrm>
          <a:prstGeom prst="line">
            <a:avLst/>
          </a:prstGeom>
          <a:noFill/>
          <a:ln w="9525">
            <a:solidFill>
              <a:srgbClr val="CCCCCC"/>
            </a:solidFill>
            <a:prstDash val="solid"/>
          </a:ln>
        </p:spPr>
      </p:sp>
      <p:sp>
        <p:nvSpPr>
          <p:cNvPr id="37" name="Text 34"/>
          <p:cNvSpPr txBox="1"/>
          <p:nvPr/>
        </p:nvSpPr>
        <p:spPr>
          <a:xfrm>
            <a:off x="4114393" y="4754880"/>
            <a:ext cx="2344335"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事業者と運転士へのヒアリング（20件）</a:t>
            </a:r>
            <a:endParaRPr lang="en-US" sz="1400" dirty="0"/>
          </a:p>
        </p:txBody>
      </p:sp>
      <p:sp>
        <p:nvSpPr>
          <p:cNvPr id="38" name="Shape 35"/>
          <p:cNvSpPr/>
          <p:nvPr/>
        </p:nvSpPr>
        <p:spPr>
          <a:xfrm>
            <a:off x="6687328" y="1874520"/>
            <a:ext cx="3017520" cy="4251960"/>
          </a:xfrm>
          <a:prstGeom prst="rect">
            <a:avLst/>
          </a:prstGeom>
          <a:solidFill>
            <a:srgbClr val="E0EEF8"/>
          </a:solidFill>
          <a:ln/>
        </p:spPr>
      </p:sp>
      <p:sp>
        <p:nvSpPr>
          <p:cNvPr id="39" name="Text 3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需要が答えを最も左右する</a:t>
            </a:r>
            <a:endParaRPr lang="en-US" sz="1400" dirty="0"/>
          </a:p>
        </p:txBody>
      </p:sp>
      <p:sp>
        <p:nvSpPr>
          <p:cNvPr id="40" name="Text 3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需要が維持できなければ、費用と担い手を確保しても支線は残せない。調査の資源の半分を需要に充てる。需要は、人口推計と利用率から2050年まで試算する</a:t>
            </a:r>
            <a:endParaRPr lang="en-US" sz="1200" dirty="0"/>
          </a:p>
        </p:txBody>
      </p:sp>
      <p:sp>
        <p:nvSpPr>
          <p:cNvPr id="41" name="Shape 38"/>
          <p:cNvSpPr/>
          <p:nvPr/>
        </p:nvSpPr>
        <p:spPr>
          <a:xfrm>
            <a:off x="6870208" y="3936492"/>
            <a:ext cx="2651760" cy="0"/>
          </a:xfrm>
          <a:prstGeom prst="line">
            <a:avLst/>
          </a:prstGeom>
          <a:noFill/>
          <a:ln w="9525">
            <a:solidFill>
              <a:srgbClr val="CCCCCC"/>
            </a:solidFill>
            <a:prstDash val="solid"/>
          </a:ln>
        </p:spPr>
      </p:sp>
      <p:sp>
        <p:nvSpPr>
          <p:cNvPr id="42" name="Text 3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費用と担い手は既存の資料で確かめる</a:t>
            </a:r>
            <a:endParaRPr lang="en-US" sz="1400" dirty="0"/>
          </a:p>
        </p:txBody>
      </p:sp>
      <p:sp>
        <p:nvSpPr>
          <p:cNvPr id="43" name="Text 4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費目別の推移は決算書、担い手は事業者と運転士へのヒアリング20件で確かめられる。2つの論点の確認は、2か月で終えられる</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3つの観点すべてで目指す姿との差があり、最も大きいのは1便当たりの乗車人数の差である。この差を埋める打ち手を最優先で講じるべきである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3F3F3F"/>
                </a:solidFill>
                <a:latin typeface="Yu Gothic UI" pitchFamily="34" charset="0"/>
                <a:ea typeface="Yu Gothic UI" pitchFamily="34" charset="-122"/>
                <a:cs typeface="Yu Gothic UI" pitchFamily="34" charset="-120"/>
              </a:rPr>
              <a:t>　（2025年度時点、目指す姿は2030年度）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注）目指す姿は「地域公共交通計画」（2026年）の目標値</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6257880" cy="914400"/>
        </p:xfrm>
        <a:graphic>
          <a:graphicData uri="http://schemas.openxmlformats.org/drawingml/2006/table">
            <a:tbl>
              <a:tblPr/>
              <a:tblGrid>
                <a:gridCol w="2167502"/>
                <a:gridCol w="1083751"/>
                <a:gridCol w="1083751"/>
                <a:gridCol w="1922876"/>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目指す姿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1便当たりの乗車人数（人）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b="1" dirty="0">
                          <a:solidFill>
                            <a:srgbClr val="000F78"/>
                          </a:solidFill>
                          <a:latin typeface="Arial" pitchFamily="34" charset="0"/>
                          <a:ea typeface="Arial" pitchFamily="34" charset="-122"/>
                          <a:cs typeface="Arial" pitchFamily="34" charset="-120"/>
                        </a:rPr>
                        <a:t>＋0.8（＋67%）</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＋19pt</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10972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運転士の欠員（人）</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800" dirty="0">
                          <a:solidFill>
                            <a:srgbClr val="3F3F3F"/>
                          </a:solidFill>
                          <a:latin typeface="Arial" pitchFamily="34" charset="0"/>
                          <a:ea typeface="Arial" pitchFamily="34" charset="-122"/>
                          <a:cs typeface="Arial" pitchFamily="34" charset="-120"/>
                        </a:rPr>
                        <a:t>−15</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1便当たりの乗車人数は目標まで＋67%</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現状の1.2人を2030年度に2.0人へ。3つの観点の中で差が最も大きい。本数を増やすより、1便に乗る人を増やすことが先決である。目標の2.0人は、類似市の平均と同じ水準である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乗車人数が増えれば運賃の割合も上がる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運賃で賄う割合61%→80%の差の大半は、1便当たりの乗車人数の増加で埋まる。乗車人数の目標を、施策の進み具合を測る第一の指標とする。残りの差は、運賃の改定と定期券の見直しで埋める</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5つの打ち手で年2.4億円の収支改善が見込め、その6割を予約型交通への転換が占める。転換の実現性が、全体の成否を決める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注）効果は2030年度時点の年額で、打ち手の間の重複は除いた。確度は、他市での実績がある打ち手を「高」、試行の結果を待つ打ち手を「中」とした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986877"/>
                <a:gridCol w="602084"/>
                <a:gridCol w="1926669"/>
                <a:gridCol w="842917"/>
                <a:gridCol w="899333"/>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支線の予約型交通への転換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運転士の再配置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予約センターの一本化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通院向け定額乗車券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車両の小型化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2029年度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2880121" y="2514600"/>
            <a:ext cx="1715939" cy="237744"/>
          </a:xfrm>
          <a:prstGeom prst="rect">
            <a:avLst/>
          </a:prstGeom>
          <a:solidFill>
            <a:srgbClr val="000F78"/>
          </a:solidFill>
          <a:ln/>
        </p:spPr>
      </p:sp>
      <p:sp>
        <p:nvSpPr>
          <p:cNvPr id="14" name="Shape 10"/>
          <p:cNvSpPr/>
          <p:nvPr/>
        </p:nvSpPr>
        <p:spPr>
          <a:xfrm>
            <a:off x="2880121" y="3118104"/>
            <a:ext cx="457584" cy="237744"/>
          </a:xfrm>
          <a:prstGeom prst="rect">
            <a:avLst/>
          </a:prstGeom>
          <a:solidFill>
            <a:srgbClr val="CCCCCC"/>
          </a:solidFill>
          <a:ln/>
        </p:spPr>
      </p:sp>
      <p:sp>
        <p:nvSpPr>
          <p:cNvPr id="15" name="Shape 11"/>
          <p:cNvSpPr/>
          <p:nvPr/>
        </p:nvSpPr>
        <p:spPr>
          <a:xfrm>
            <a:off x="2880121" y="3721608"/>
            <a:ext cx="343188" cy="237744"/>
          </a:xfrm>
          <a:prstGeom prst="rect">
            <a:avLst/>
          </a:prstGeom>
          <a:solidFill>
            <a:srgbClr val="CCCCCC"/>
          </a:solidFill>
          <a:ln/>
        </p:spPr>
      </p:sp>
      <p:sp>
        <p:nvSpPr>
          <p:cNvPr id="16" name="Shape 12"/>
          <p:cNvSpPr/>
          <p:nvPr/>
        </p:nvSpPr>
        <p:spPr>
          <a:xfrm>
            <a:off x="2880121" y="4325112"/>
            <a:ext cx="114396" cy="237744"/>
          </a:xfrm>
          <a:prstGeom prst="rect">
            <a:avLst/>
          </a:prstGeom>
          <a:solidFill>
            <a:srgbClr val="CCCCCC"/>
          </a:solidFill>
          <a:ln/>
        </p:spPr>
      </p:sp>
      <p:sp>
        <p:nvSpPr>
          <p:cNvPr id="17" name="Shape 13"/>
          <p:cNvSpPr/>
          <p:nvPr/>
        </p:nvSpPr>
        <p:spPr>
          <a:xfrm>
            <a:off x="2880121" y="4928616"/>
            <a:ext cx="114396" cy="237744"/>
          </a:xfrm>
          <a:prstGeom prst="rect">
            <a:avLst/>
          </a:prstGeom>
          <a:solidFill>
            <a:srgbClr val="CCCCCC"/>
          </a:solidFill>
          <a:ln/>
        </p:spPr>
      </p:sp>
      <p:sp>
        <p:nvSpPr>
          <p:cNvPr id="18" name="Shape 14"/>
          <p:cNvSpPr/>
          <p:nvPr/>
        </p:nvSpPr>
        <p:spPr>
          <a:xfrm>
            <a:off x="6687328" y="1874520"/>
            <a:ext cx="3017520" cy="4251960"/>
          </a:xfrm>
          <a:prstGeom prst="rect">
            <a:avLst/>
          </a:prstGeom>
          <a:solidFill>
            <a:srgbClr val="E0EEF8"/>
          </a:solidFill>
          <a:ln/>
        </p:spPr>
      </p:sp>
      <p:sp>
        <p:nvSpPr>
          <p:cNvPr id="19" name="Text 15"/>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予約型への転換で年1.5億円</a:t>
            </a:r>
            <a:endParaRPr lang="en-US" sz="1400" dirty="0"/>
          </a:p>
        </p:txBody>
      </p:sp>
      <p:sp>
        <p:nvSpPr>
          <p:cNvPr id="20" name="Text 16"/>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5つの打ち手の効果2.4億円の6割。着手は2027年度、確度は中。最大の打ち手の成否が、計画全体の達成を左右する。試行の結果を見て、2028年度の拡大を判断する</a:t>
            </a:r>
            <a:endParaRPr lang="en-US" sz="1200" dirty="0"/>
          </a:p>
        </p:txBody>
      </p:sp>
      <p:sp>
        <p:nvSpPr>
          <p:cNvPr id="21" name="Shape 17"/>
          <p:cNvSpPr/>
          <p:nvPr/>
        </p:nvSpPr>
        <p:spPr>
          <a:xfrm>
            <a:off x="6870208" y="3936492"/>
            <a:ext cx="2651760" cy="0"/>
          </a:xfrm>
          <a:prstGeom prst="line">
            <a:avLst/>
          </a:prstGeom>
          <a:noFill/>
          <a:ln w="9525">
            <a:solidFill>
              <a:srgbClr val="CCCCCC"/>
            </a:solidFill>
            <a:prstDash val="solid"/>
          </a:ln>
        </p:spPr>
      </p:sp>
      <p:sp>
        <p:nvSpPr>
          <p:cNvPr id="22" name="Text 18"/>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残りの4つは確度が高いが小さい</a:t>
            </a:r>
            <a:endParaRPr lang="en-US" sz="1400" dirty="0"/>
          </a:p>
        </p:txBody>
      </p:sp>
      <p:sp>
        <p:nvSpPr>
          <p:cNvPr id="23" name="Text 19"/>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運転士の再配置0.4億円、予約センターの一本化0.3億円など。合わせて0.9億円。いずれも2026年度中に始められ、計画の下支えになる。4つを先に進め、転換の準備期間の赤字を抑える</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みなと市の利用者1人当たりの運行費用は類似市の1.6倍で、差は10年で倍に広がった。規模では説明できず、運営方法に原因がある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注）1人当たり運行費用＝年間運行費用÷年間利用者数。類似市は人口10〜20万人で、市が運行を委託する8市の単純平均。車両・燃料には減価償却費を含む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00848" y="1530720"/>
            <a:ext cx="42033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みなと市</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369</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13" name="Text 10"/>
          <p:cNvSpPr txBox="1"/>
          <p:nvPr/>
        </p:nvSpPr>
        <p:spPr>
          <a:xfrm>
            <a:off x="200848" y="3337560"/>
            <a:ext cx="42033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3106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246037" y="3767328"/>
            <a:ext cx="1097280"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255 円</a:t>
            </a:r>
            <a:endParaRPr lang="en-US" sz="1200" dirty="0"/>
          </a:p>
        </p:txBody>
      </p:sp>
      <p:sp>
        <p:nvSpPr>
          <p:cNvPr id="17" name="Text 14"/>
          <p:cNvSpPr txBox="1"/>
          <p:nvPr/>
        </p:nvSpPr>
        <p:spPr>
          <a:xfrm>
            <a:off x="200848" y="4270248"/>
            <a:ext cx="3106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18" name="Text 15"/>
          <p:cNvSpPr txBox="1"/>
          <p:nvPr/>
        </p:nvSpPr>
        <p:spPr>
          <a:xfrm>
            <a:off x="2246037" y="4270248"/>
            <a:ext cx="109728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114 円</a:t>
            </a:r>
            <a:endParaRPr lang="en-US" sz="1200" dirty="0"/>
          </a:p>
        </p:txBody>
      </p:sp>
      <p:sp>
        <p:nvSpPr>
          <p:cNvPr id="19" name="Text 16"/>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類似市の平均</a:t>
            </a:r>
            <a:endParaRPr lang="en-US" sz="1400" dirty="0"/>
          </a:p>
        </p:txBody>
      </p:sp>
      <p:sp>
        <p:nvSpPr>
          <p:cNvPr id="20" name="Shape 17"/>
          <p:cNvSpPr/>
          <p:nvPr/>
        </p:nvSpPr>
        <p:spPr>
          <a:xfrm>
            <a:off x="3691038" y="1878192"/>
            <a:ext cx="2767690" cy="0"/>
          </a:xfrm>
          <a:prstGeom prst="line">
            <a:avLst/>
          </a:prstGeom>
          <a:noFill/>
          <a:ln w="12700">
            <a:solidFill>
              <a:srgbClr val="7F7F7F"/>
            </a:solidFill>
            <a:prstDash val="solid"/>
          </a:ln>
        </p:spPr>
      </p:sp>
      <p:sp>
        <p:nvSpPr>
          <p:cNvPr id="21" name="Text 18"/>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231</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200" dirty="0"/>
          </a:p>
        </p:txBody>
      </p:sp>
      <p:sp>
        <p:nvSpPr>
          <p:cNvPr id="22" name="Text 19"/>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3" name="Shape 20"/>
          <p:cNvSpPr/>
          <p:nvPr/>
        </p:nvSpPr>
        <p:spPr>
          <a:xfrm>
            <a:off x="3691038" y="3675888"/>
            <a:ext cx="2767690" cy="0"/>
          </a:xfrm>
          <a:prstGeom prst="line">
            <a:avLst/>
          </a:prstGeom>
          <a:noFill/>
          <a:ln w="9525">
            <a:solidFill>
              <a:srgbClr val="CCCCCC"/>
            </a:solidFill>
            <a:prstDash val="solid"/>
          </a:ln>
        </p:spPr>
      </p:sp>
      <p:sp>
        <p:nvSpPr>
          <p:cNvPr id="24" name="Text 21"/>
          <p:cNvSpPr txBox="1"/>
          <p:nvPr/>
        </p:nvSpPr>
        <p:spPr>
          <a:xfrm>
            <a:off x="3691038" y="3767328"/>
            <a:ext cx="276769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5" name="Text 22"/>
          <p:cNvSpPr txBox="1"/>
          <p:nvPr/>
        </p:nvSpPr>
        <p:spPr>
          <a:xfrm>
            <a:off x="5736227" y="376732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152 円</a:t>
            </a:r>
            <a:endParaRPr lang="en-US" sz="1200" dirty="0"/>
          </a:p>
        </p:txBody>
      </p:sp>
      <p:sp>
        <p:nvSpPr>
          <p:cNvPr id="26" name="Text 23"/>
          <p:cNvSpPr txBox="1"/>
          <p:nvPr/>
        </p:nvSpPr>
        <p:spPr>
          <a:xfrm>
            <a:off x="3691038" y="4270248"/>
            <a:ext cx="276769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車両・燃料</a:t>
            </a:r>
            <a:endParaRPr lang="en-US" sz="1400" dirty="0"/>
          </a:p>
        </p:txBody>
      </p:sp>
      <p:sp>
        <p:nvSpPr>
          <p:cNvPr id="27" name="Text 24"/>
          <p:cNvSpPr txBox="1"/>
          <p:nvPr/>
        </p:nvSpPr>
        <p:spPr>
          <a:xfrm>
            <a:off x="5736227" y="4270248"/>
            <a:ext cx="722501"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79 円</a:t>
            </a:r>
            <a:endParaRPr lang="en-US" sz="1200" dirty="0"/>
          </a:p>
        </p:txBody>
      </p:sp>
      <p:sp>
        <p:nvSpPr>
          <p:cNvPr id="28" name="Text 25"/>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×1.6</a:t>
            </a:r>
            <a:endParaRPr lang="en-US" sz="2200" dirty="0"/>
          </a:p>
        </p:txBody>
      </p:sp>
      <p:sp>
        <p:nvSpPr>
          <p:cNvPr id="29" name="Shape 26"/>
          <p:cNvSpPr/>
          <p:nvPr/>
        </p:nvSpPr>
        <p:spPr>
          <a:xfrm>
            <a:off x="200848" y="4983480"/>
            <a:ext cx="6257880" cy="0"/>
          </a:xfrm>
          <a:prstGeom prst="line">
            <a:avLst/>
          </a:prstGeom>
          <a:noFill/>
          <a:ln w="9525">
            <a:solidFill>
              <a:srgbClr val="CCCCCC"/>
            </a:solidFill>
            <a:prstDash val="solid"/>
          </a:ln>
        </p:spPr>
      </p:sp>
      <p:sp>
        <p:nvSpPr>
          <p:cNvPr id="30" name="Text 27"/>
          <p:cNvSpPr txBox="1"/>
          <p:nvPr/>
        </p:nvSpPr>
        <p:spPr>
          <a:xfrm>
            <a:off x="200848" y="51206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差の7割は人件費（運転士1人当たりの乗客数の少なさ）による</a:t>
            </a:r>
            <a:endParaRPr lang="en-US" sz="1400" dirty="0"/>
          </a:p>
        </p:txBody>
      </p:sp>
      <p:sp>
        <p:nvSpPr>
          <p:cNvPr id="31" name="Text 28"/>
          <p:cNvSpPr txBox="1"/>
          <p:nvPr/>
        </p:nvSpPr>
        <p:spPr>
          <a:xfrm>
            <a:off x="200848" y="557784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補足：1人当たり運行費用＝年間運行費用÷年間利用者数。2025年度決算ベース</a:t>
            </a:r>
            <a:endParaRPr lang="en-US" sz="1100" dirty="0"/>
          </a:p>
        </p:txBody>
      </p:sp>
      <p:sp>
        <p:nvSpPr>
          <p:cNvPr id="32" name="Shape 29"/>
          <p:cNvSpPr/>
          <p:nvPr/>
        </p:nvSpPr>
        <p:spPr>
          <a:xfrm>
            <a:off x="6687328" y="1874520"/>
            <a:ext cx="3017520" cy="4251960"/>
          </a:xfrm>
          <a:prstGeom prst="rect">
            <a:avLst/>
          </a:prstGeom>
          <a:solidFill>
            <a:srgbClr val="E0EEF8"/>
          </a:solidFill>
          <a:ln/>
        </p:spPr>
      </p:sp>
      <p:sp>
        <p:nvSpPr>
          <p:cNvPr id="33" name="Text 3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1人当たり運行費用は類似市の1.6倍</a:t>
            </a:r>
            <a:endParaRPr lang="en-US" sz="1400" dirty="0"/>
          </a:p>
        </p:txBody>
      </p:sp>
      <p:sp>
        <p:nvSpPr>
          <p:cNvPr id="34" name="Text 3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みなと市369円、類似市の平均231円。10年前の差は69円で、倍に広がった。費用の水準が、類似市から年々離れている。このまま差が広がれば、市の補助の上限を超える</a:t>
            </a:r>
            <a:endParaRPr lang="en-US" sz="1200" dirty="0"/>
          </a:p>
        </p:txBody>
      </p:sp>
      <p:sp>
        <p:nvSpPr>
          <p:cNvPr id="35" name="Shape 32"/>
          <p:cNvSpPr/>
          <p:nvPr/>
        </p:nvSpPr>
        <p:spPr>
          <a:xfrm>
            <a:off x="6870208" y="3936492"/>
            <a:ext cx="2651760" cy="0"/>
          </a:xfrm>
          <a:prstGeom prst="line">
            <a:avLst/>
          </a:prstGeom>
          <a:noFill/>
          <a:ln w="9525">
            <a:solidFill>
              <a:srgbClr val="CCCCCC"/>
            </a:solidFill>
            <a:prstDash val="solid"/>
          </a:ln>
        </p:spPr>
      </p:sp>
      <p:sp>
        <p:nvSpPr>
          <p:cNvPr id="36" name="Text 3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差の7割は人件費</a:t>
            </a:r>
            <a:endParaRPr lang="en-US" sz="1400" dirty="0"/>
          </a:p>
        </p:txBody>
      </p:sp>
      <p:sp>
        <p:nvSpPr>
          <p:cNvPr id="37" name="Text 3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人件費は255円対152円。運転士1人当たりの乗客の少なさが原因。路線を集約して1便当たりの乗客を増やせば、差は縮まる。車両・燃料の差は35円と小さく、急ぐ必要は小さい</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利用者の10人に3人は代わりの移動手段を持たず、その多くは高校生と高齢者である。この層には生活の前提であり、単純な廃止は選べない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注）設問「バスがなくなった場合、代わりの移動手段はありますか」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475168" y="2011680"/>
            <a:ext cx="256032" cy="256032"/>
          </a:xfrm>
          <a:prstGeom prst="ellipse">
            <a:avLst/>
          </a:prstGeom>
          <a:solidFill>
            <a:srgbClr val="000F78"/>
          </a:solidFill>
          <a:ln/>
        </p:spPr>
      </p:sp>
      <p:sp>
        <p:nvSpPr>
          <p:cNvPr id="13" name="Shape 10"/>
          <p:cNvSpPr/>
          <p:nvPr/>
        </p:nvSpPr>
        <p:spPr>
          <a:xfrm>
            <a:off x="859216" y="2011680"/>
            <a:ext cx="256032" cy="256032"/>
          </a:xfrm>
          <a:prstGeom prst="ellipse">
            <a:avLst/>
          </a:prstGeom>
          <a:solidFill>
            <a:srgbClr val="000F78"/>
          </a:solidFill>
          <a:ln/>
        </p:spPr>
      </p:sp>
      <p:sp>
        <p:nvSpPr>
          <p:cNvPr id="14" name="Shape 11"/>
          <p:cNvSpPr/>
          <p:nvPr/>
        </p:nvSpPr>
        <p:spPr>
          <a:xfrm>
            <a:off x="1243264" y="2011680"/>
            <a:ext cx="256032" cy="256032"/>
          </a:xfrm>
          <a:prstGeom prst="ellipse">
            <a:avLst/>
          </a:prstGeom>
          <a:solidFill>
            <a:srgbClr val="000F78"/>
          </a:solidFill>
          <a:ln/>
        </p:spPr>
      </p:sp>
      <p:sp>
        <p:nvSpPr>
          <p:cNvPr id="15" name="Shape 12"/>
          <p:cNvSpPr/>
          <p:nvPr/>
        </p:nvSpPr>
        <p:spPr>
          <a:xfrm>
            <a:off x="1627312" y="2011680"/>
            <a:ext cx="256032" cy="256032"/>
          </a:xfrm>
          <a:prstGeom prst="ellipse">
            <a:avLst/>
          </a:prstGeom>
          <a:solidFill>
            <a:srgbClr val="000F78"/>
          </a:solidFill>
          <a:ln/>
        </p:spPr>
      </p:sp>
      <p:sp>
        <p:nvSpPr>
          <p:cNvPr id="16" name="Shape 13"/>
          <p:cNvSpPr/>
          <p:nvPr/>
        </p:nvSpPr>
        <p:spPr>
          <a:xfrm>
            <a:off x="2011360" y="2011680"/>
            <a:ext cx="256032" cy="256032"/>
          </a:xfrm>
          <a:prstGeom prst="ellipse">
            <a:avLst/>
          </a:prstGeom>
          <a:solidFill>
            <a:srgbClr val="000F78"/>
          </a:solidFill>
          <a:ln/>
        </p:spPr>
      </p:sp>
      <p:sp>
        <p:nvSpPr>
          <p:cNvPr id="17" name="Shape 14"/>
          <p:cNvSpPr/>
          <p:nvPr/>
        </p:nvSpPr>
        <p:spPr>
          <a:xfrm>
            <a:off x="2395408" y="2011680"/>
            <a:ext cx="256032" cy="256032"/>
          </a:xfrm>
          <a:prstGeom prst="ellipse">
            <a:avLst/>
          </a:prstGeom>
          <a:solidFill>
            <a:srgbClr val="000F78"/>
          </a:solidFill>
          <a:ln/>
        </p:spPr>
      </p:sp>
      <p:sp>
        <p:nvSpPr>
          <p:cNvPr id="18" name="Shape 15"/>
          <p:cNvSpPr/>
          <p:nvPr/>
        </p:nvSpPr>
        <p:spPr>
          <a:xfrm>
            <a:off x="2779456" y="2011680"/>
            <a:ext cx="256032" cy="256032"/>
          </a:xfrm>
          <a:prstGeom prst="ellipse">
            <a:avLst/>
          </a:prstGeom>
          <a:solidFill>
            <a:srgbClr val="000F78"/>
          </a:solidFill>
          <a:ln/>
        </p:spPr>
      </p:sp>
      <p:sp>
        <p:nvSpPr>
          <p:cNvPr id="19" name="Shape 16"/>
          <p:cNvSpPr/>
          <p:nvPr/>
        </p:nvSpPr>
        <p:spPr>
          <a:xfrm>
            <a:off x="3163504" y="2011680"/>
            <a:ext cx="256032" cy="256032"/>
          </a:xfrm>
          <a:prstGeom prst="ellipse">
            <a:avLst/>
          </a:prstGeom>
          <a:solidFill>
            <a:srgbClr val="000F78"/>
          </a:solidFill>
          <a:ln/>
        </p:spPr>
      </p:sp>
      <p:sp>
        <p:nvSpPr>
          <p:cNvPr id="20" name="Shape 17"/>
          <p:cNvSpPr/>
          <p:nvPr/>
        </p:nvSpPr>
        <p:spPr>
          <a:xfrm>
            <a:off x="3547552" y="2011680"/>
            <a:ext cx="256032" cy="256032"/>
          </a:xfrm>
          <a:prstGeom prst="ellipse">
            <a:avLst/>
          </a:prstGeom>
          <a:solidFill>
            <a:srgbClr val="000F78"/>
          </a:solidFill>
          <a:ln/>
        </p:spPr>
      </p:sp>
      <p:sp>
        <p:nvSpPr>
          <p:cNvPr id="21" name="Shape 18"/>
          <p:cNvSpPr/>
          <p:nvPr/>
        </p:nvSpPr>
        <p:spPr>
          <a:xfrm>
            <a:off x="3931600" y="2011680"/>
            <a:ext cx="256032" cy="256032"/>
          </a:xfrm>
          <a:prstGeom prst="ellipse">
            <a:avLst/>
          </a:prstGeom>
          <a:solidFill>
            <a:srgbClr val="000F78"/>
          </a:solidFill>
          <a:ln/>
        </p:spPr>
      </p:sp>
      <p:sp>
        <p:nvSpPr>
          <p:cNvPr id="22" name="Shape 19"/>
          <p:cNvSpPr/>
          <p:nvPr/>
        </p:nvSpPr>
        <p:spPr>
          <a:xfrm>
            <a:off x="475168" y="2395728"/>
            <a:ext cx="256032" cy="256032"/>
          </a:xfrm>
          <a:prstGeom prst="ellipse">
            <a:avLst/>
          </a:prstGeom>
          <a:solidFill>
            <a:srgbClr val="000F78"/>
          </a:solidFill>
          <a:ln/>
        </p:spPr>
      </p:sp>
      <p:sp>
        <p:nvSpPr>
          <p:cNvPr id="23" name="Shape 20"/>
          <p:cNvSpPr/>
          <p:nvPr/>
        </p:nvSpPr>
        <p:spPr>
          <a:xfrm>
            <a:off x="859216" y="2395728"/>
            <a:ext cx="256032" cy="256032"/>
          </a:xfrm>
          <a:prstGeom prst="ellipse">
            <a:avLst/>
          </a:prstGeom>
          <a:solidFill>
            <a:srgbClr val="000F78"/>
          </a:solidFill>
          <a:ln/>
        </p:spPr>
      </p:sp>
      <p:sp>
        <p:nvSpPr>
          <p:cNvPr id="24" name="Shape 21"/>
          <p:cNvSpPr/>
          <p:nvPr/>
        </p:nvSpPr>
        <p:spPr>
          <a:xfrm>
            <a:off x="1243264" y="2395728"/>
            <a:ext cx="256032" cy="256032"/>
          </a:xfrm>
          <a:prstGeom prst="ellipse">
            <a:avLst/>
          </a:prstGeom>
          <a:solidFill>
            <a:srgbClr val="000F78"/>
          </a:solidFill>
          <a:ln/>
        </p:spPr>
      </p:sp>
      <p:sp>
        <p:nvSpPr>
          <p:cNvPr id="25" name="Shape 22"/>
          <p:cNvSpPr/>
          <p:nvPr/>
        </p:nvSpPr>
        <p:spPr>
          <a:xfrm>
            <a:off x="1627312" y="2395728"/>
            <a:ext cx="256032" cy="256032"/>
          </a:xfrm>
          <a:prstGeom prst="ellipse">
            <a:avLst/>
          </a:prstGeom>
          <a:solidFill>
            <a:srgbClr val="000F78"/>
          </a:solidFill>
          <a:ln/>
        </p:spPr>
      </p:sp>
      <p:sp>
        <p:nvSpPr>
          <p:cNvPr id="26" name="Shape 23"/>
          <p:cNvSpPr/>
          <p:nvPr/>
        </p:nvSpPr>
        <p:spPr>
          <a:xfrm>
            <a:off x="2011360" y="2395728"/>
            <a:ext cx="256032" cy="256032"/>
          </a:xfrm>
          <a:prstGeom prst="ellipse">
            <a:avLst/>
          </a:prstGeom>
          <a:solidFill>
            <a:srgbClr val="000F78"/>
          </a:solidFill>
          <a:ln/>
        </p:spPr>
      </p:sp>
      <p:sp>
        <p:nvSpPr>
          <p:cNvPr id="27" name="Shape 24"/>
          <p:cNvSpPr/>
          <p:nvPr/>
        </p:nvSpPr>
        <p:spPr>
          <a:xfrm>
            <a:off x="2395408" y="2395728"/>
            <a:ext cx="256032" cy="256032"/>
          </a:xfrm>
          <a:prstGeom prst="ellipse">
            <a:avLst/>
          </a:prstGeom>
          <a:solidFill>
            <a:srgbClr val="000F78"/>
          </a:solidFill>
          <a:ln/>
        </p:spPr>
      </p:sp>
      <p:sp>
        <p:nvSpPr>
          <p:cNvPr id="28" name="Shape 25"/>
          <p:cNvSpPr/>
          <p:nvPr/>
        </p:nvSpPr>
        <p:spPr>
          <a:xfrm>
            <a:off x="2779456" y="2395728"/>
            <a:ext cx="256032" cy="256032"/>
          </a:xfrm>
          <a:prstGeom prst="ellipse">
            <a:avLst/>
          </a:prstGeom>
          <a:solidFill>
            <a:srgbClr val="000F78"/>
          </a:solidFill>
          <a:ln/>
        </p:spPr>
      </p:sp>
      <p:sp>
        <p:nvSpPr>
          <p:cNvPr id="29" name="Shape 26"/>
          <p:cNvSpPr/>
          <p:nvPr/>
        </p:nvSpPr>
        <p:spPr>
          <a:xfrm>
            <a:off x="3163504" y="2395728"/>
            <a:ext cx="256032" cy="256032"/>
          </a:xfrm>
          <a:prstGeom prst="ellipse">
            <a:avLst/>
          </a:prstGeom>
          <a:solidFill>
            <a:srgbClr val="000F78"/>
          </a:solidFill>
          <a:ln/>
        </p:spPr>
      </p:sp>
      <p:sp>
        <p:nvSpPr>
          <p:cNvPr id="30" name="Shape 27"/>
          <p:cNvSpPr/>
          <p:nvPr/>
        </p:nvSpPr>
        <p:spPr>
          <a:xfrm>
            <a:off x="3547552" y="2395728"/>
            <a:ext cx="256032" cy="256032"/>
          </a:xfrm>
          <a:prstGeom prst="ellipse">
            <a:avLst/>
          </a:prstGeom>
          <a:solidFill>
            <a:srgbClr val="000F78"/>
          </a:solidFill>
          <a:ln/>
        </p:spPr>
      </p:sp>
      <p:sp>
        <p:nvSpPr>
          <p:cNvPr id="31" name="Shape 28"/>
          <p:cNvSpPr/>
          <p:nvPr/>
        </p:nvSpPr>
        <p:spPr>
          <a:xfrm>
            <a:off x="3931600" y="2395728"/>
            <a:ext cx="256032" cy="256032"/>
          </a:xfrm>
          <a:prstGeom prst="ellipse">
            <a:avLst/>
          </a:prstGeom>
          <a:solidFill>
            <a:srgbClr val="000F78"/>
          </a:solidFill>
          <a:ln/>
        </p:spPr>
      </p:sp>
      <p:sp>
        <p:nvSpPr>
          <p:cNvPr id="32" name="Shape 29"/>
          <p:cNvSpPr/>
          <p:nvPr/>
        </p:nvSpPr>
        <p:spPr>
          <a:xfrm>
            <a:off x="475168" y="2779776"/>
            <a:ext cx="256032" cy="256032"/>
          </a:xfrm>
          <a:prstGeom prst="ellipse">
            <a:avLst/>
          </a:prstGeom>
          <a:solidFill>
            <a:srgbClr val="000F78"/>
          </a:solidFill>
          <a:ln/>
        </p:spPr>
      </p:sp>
      <p:sp>
        <p:nvSpPr>
          <p:cNvPr id="33" name="Shape 30"/>
          <p:cNvSpPr/>
          <p:nvPr/>
        </p:nvSpPr>
        <p:spPr>
          <a:xfrm>
            <a:off x="859216" y="2779776"/>
            <a:ext cx="256032" cy="256032"/>
          </a:xfrm>
          <a:prstGeom prst="ellipse">
            <a:avLst/>
          </a:prstGeom>
          <a:solidFill>
            <a:srgbClr val="000F78"/>
          </a:solidFill>
          <a:ln/>
        </p:spPr>
      </p:sp>
      <p:sp>
        <p:nvSpPr>
          <p:cNvPr id="34" name="Shape 31"/>
          <p:cNvSpPr/>
          <p:nvPr/>
        </p:nvSpPr>
        <p:spPr>
          <a:xfrm>
            <a:off x="1243264" y="2779776"/>
            <a:ext cx="256032" cy="256032"/>
          </a:xfrm>
          <a:prstGeom prst="ellipse">
            <a:avLst/>
          </a:prstGeom>
          <a:solidFill>
            <a:srgbClr val="000F78"/>
          </a:solidFill>
          <a:ln/>
        </p:spPr>
      </p:sp>
      <p:sp>
        <p:nvSpPr>
          <p:cNvPr id="35" name="Shape 32"/>
          <p:cNvSpPr/>
          <p:nvPr/>
        </p:nvSpPr>
        <p:spPr>
          <a:xfrm>
            <a:off x="1627312" y="2779776"/>
            <a:ext cx="256032" cy="256032"/>
          </a:xfrm>
          <a:prstGeom prst="ellipse">
            <a:avLst/>
          </a:prstGeom>
          <a:solidFill>
            <a:srgbClr val="000F78"/>
          </a:solidFill>
          <a:ln/>
        </p:spPr>
      </p:sp>
      <p:sp>
        <p:nvSpPr>
          <p:cNvPr id="36" name="Shape 33"/>
          <p:cNvSpPr/>
          <p:nvPr/>
        </p:nvSpPr>
        <p:spPr>
          <a:xfrm>
            <a:off x="2011360" y="2779776"/>
            <a:ext cx="256032" cy="256032"/>
          </a:xfrm>
          <a:prstGeom prst="ellipse">
            <a:avLst/>
          </a:prstGeom>
          <a:solidFill>
            <a:srgbClr val="000F78"/>
          </a:solidFill>
          <a:ln/>
        </p:spPr>
      </p:sp>
      <p:sp>
        <p:nvSpPr>
          <p:cNvPr id="37" name="Shape 34"/>
          <p:cNvSpPr/>
          <p:nvPr/>
        </p:nvSpPr>
        <p:spPr>
          <a:xfrm>
            <a:off x="2395408" y="2779776"/>
            <a:ext cx="256032" cy="256032"/>
          </a:xfrm>
          <a:prstGeom prst="ellipse">
            <a:avLst/>
          </a:prstGeom>
          <a:solidFill>
            <a:srgbClr val="000F78"/>
          </a:solidFill>
          <a:ln/>
        </p:spPr>
      </p:sp>
      <p:sp>
        <p:nvSpPr>
          <p:cNvPr id="38" name="Shape 35"/>
          <p:cNvSpPr/>
          <p:nvPr/>
        </p:nvSpPr>
        <p:spPr>
          <a:xfrm>
            <a:off x="2779456" y="2779776"/>
            <a:ext cx="256032" cy="256032"/>
          </a:xfrm>
          <a:prstGeom prst="ellipse">
            <a:avLst/>
          </a:prstGeom>
          <a:solidFill>
            <a:srgbClr val="000F78"/>
          </a:solidFill>
          <a:ln/>
        </p:spPr>
      </p:sp>
      <p:sp>
        <p:nvSpPr>
          <p:cNvPr id="39" name="Shape 36"/>
          <p:cNvSpPr/>
          <p:nvPr/>
        </p:nvSpPr>
        <p:spPr>
          <a:xfrm>
            <a:off x="3163504" y="2779776"/>
            <a:ext cx="256032" cy="256032"/>
          </a:xfrm>
          <a:prstGeom prst="ellipse">
            <a:avLst/>
          </a:prstGeom>
          <a:solidFill>
            <a:srgbClr val="000F78"/>
          </a:solidFill>
          <a:ln/>
        </p:spPr>
      </p:sp>
      <p:sp>
        <p:nvSpPr>
          <p:cNvPr id="40" name="Shape 37"/>
          <p:cNvSpPr/>
          <p:nvPr/>
        </p:nvSpPr>
        <p:spPr>
          <a:xfrm>
            <a:off x="3547552" y="2779776"/>
            <a:ext cx="256032" cy="256032"/>
          </a:xfrm>
          <a:prstGeom prst="ellipse">
            <a:avLst/>
          </a:prstGeom>
          <a:solidFill>
            <a:srgbClr val="000F78"/>
          </a:solidFill>
          <a:ln/>
        </p:spPr>
      </p:sp>
      <p:sp>
        <p:nvSpPr>
          <p:cNvPr id="41" name="Shape 38"/>
          <p:cNvSpPr/>
          <p:nvPr/>
        </p:nvSpPr>
        <p:spPr>
          <a:xfrm>
            <a:off x="3931600" y="2779776"/>
            <a:ext cx="256032" cy="256032"/>
          </a:xfrm>
          <a:prstGeom prst="ellipse">
            <a:avLst/>
          </a:prstGeom>
          <a:solidFill>
            <a:srgbClr val="000F78"/>
          </a:solidFill>
          <a:ln/>
        </p:spPr>
      </p:sp>
      <p:sp>
        <p:nvSpPr>
          <p:cNvPr id="42" name="Shape 39"/>
          <p:cNvSpPr/>
          <p:nvPr/>
        </p:nvSpPr>
        <p:spPr>
          <a:xfrm>
            <a:off x="475168" y="3163824"/>
            <a:ext cx="256032" cy="256032"/>
          </a:xfrm>
          <a:prstGeom prst="ellipse">
            <a:avLst/>
          </a:prstGeom>
          <a:solidFill>
            <a:srgbClr val="CCCCCC"/>
          </a:solidFill>
          <a:ln/>
        </p:spPr>
      </p:sp>
      <p:sp>
        <p:nvSpPr>
          <p:cNvPr id="43" name="Shape 40"/>
          <p:cNvSpPr/>
          <p:nvPr/>
        </p:nvSpPr>
        <p:spPr>
          <a:xfrm>
            <a:off x="859216" y="3163824"/>
            <a:ext cx="256032" cy="256032"/>
          </a:xfrm>
          <a:prstGeom prst="ellipse">
            <a:avLst/>
          </a:prstGeom>
          <a:solidFill>
            <a:srgbClr val="CCCCCC"/>
          </a:solidFill>
          <a:ln/>
        </p:spPr>
      </p:sp>
      <p:sp>
        <p:nvSpPr>
          <p:cNvPr id="44" name="Shape 41"/>
          <p:cNvSpPr/>
          <p:nvPr/>
        </p:nvSpPr>
        <p:spPr>
          <a:xfrm>
            <a:off x="1243264" y="3163824"/>
            <a:ext cx="256032" cy="256032"/>
          </a:xfrm>
          <a:prstGeom prst="ellipse">
            <a:avLst/>
          </a:prstGeom>
          <a:solidFill>
            <a:srgbClr val="CCCCCC"/>
          </a:solidFill>
          <a:ln/>
        </p:spPr>
      </p:sp>
      <p:sp>
        <p:nvSpPr>
          <p:cNvPr id="45" name="Shape 42"/>
          <p:cNvSpPr/>
          <p:nvPr/>
        </p:nvSpPr>
        <p:spPr>
          <a:xfrm>
            <a:off x="1627312" y="3163824"/>
            <a:ext cx="256032" cy="256032"/>
          </a:xfrm>
          <a:prstGeom prst="ellipse">
            <a:avLst/>
          </a:prstGeom>
          <a:solidFill>
            <a:srgbClr val="CCCCCC"/>
          </a:solidFill>
          <a:ln/>
        </p:spPr>
      </p:sp>
      <p:sp>
        <p:nvSpPr>
          <p:cNvPr id="46" name="Shape 43"/>
          <p:cNvSpPr/>
          <p:nvPr/>
        </p:nvSpPr>
        <p:spPr>
          <a:xfrm>
            <a:off x="2011360" y="3163824"/>
            <a:ext cx="256032" cy="256032"/>
          </a:xfrm>
          <a:prstGeom prst="ellipse">
            <a:avLst/>
          </a:prstGeom>
          <a:solidFill>
            <a:srgbClr val="CCCCCC"/>
          </a:solidFill>
          <a:ln/>
        </p:spPr>
      </p:sp>
      <p:sp>
        <p:nvSpPr>
          <p:cNvPr id="47" name="Shape 44"/>
          <p:cNvSpPr/>
          <p:nvPr/>
        </p:nvSpPr>
        <p:spPr>
          <a:xfrm>
            <a:off x="2395408" y="3163824"/>
            <a:ext cx="256032" cy="256032"/>
          </a:xfrm>
          <a:prstGeom prst="ellipse">
            <a:avLst/>
          </a:prstGeom>
          <a:solidFill>
            <a:srgbClr val="CCCCCC"/>
          </a:solidFill>
          <a:ln/>
        </p:spPr>
      </p:sp>
      <p:sp>
        <p:nvSpPr>
          <p:cNvPr id="48" name="Shape 45"/>
          <p:cNvSpPr/>
          <p:nvPr/>
        </p:nvSpPr>
        <p:spPr>
          <a:xfrm>
            <a:off x="2779456" y="3163824"/>
            <a:ext cx="256032" cy="256032"/>
          </a:xfrm>
          <a:prstGeom prst="ellipse">
            <a:avLst/>
          </a:prstGeom>
          <a:solidFill>
            <a:srgbClr val="CCCCCC"/>
          </a:solidFill>
          <a:ln/>
        </p:spPr>
      </p:sp>
      <p:sp>
        <p:nvSpPr>
          <p:cNvPr id="49" name="Shape 46"/>
          <p:cNvSpPr/>
          <p:nvPr/>
        </p:nvSpPr>
        <p:spPr>
          <a:xfrm>
            <a:off x="3163504" y="3163824"/>
            <a:ext cx="256032" cy="256032"/>
          </a:xfrm>
          <a:prstGeom prst="ellipse">
            <a:avLst/>
          </a:prstGeom>
          <a:solidFill>
            <a:srgbClr val="CCCCCC"/>
          </a:solidFill>
          <a:ln/>
        </p:spPr>
      </p:sp>
      <p:sp>
        <p:nvSpPr>
          <p:cNvPr id="50" name="Shape 47"/>
          <p:cNvSpPr/>
          <p:nvPr/>
        </p:nvSpPr>
        <p:spPr>
          <a:xfrm>
            <a:off x="3547552" y="3163824"/>
            <a:ext cx="256032" cy="256032"/>
          </a:xfrm>
          <a:prstGeom prst="ellipse">
            <a:avLst/>
          </a:prstGeom>
          <a:solidFill>
            <a:srgbClr val="CCCCCC"/>
          </a:solidFill>
          <a:ln/>
        </p:spPr>
      </p:sp>
      <p:sp>
        <p:nvSpPr>
          <p:cNvPr id="51" name="Shape 48"/>
          <p:cNvSpPr/>
          <p:nvPr/>
        </p:nvSpPr>
        <p:spPr>
          <a:xfrm>
            <a:off x="3931600" y="3163824"/>
            <a:ext cx="256032" cy="256032"/>
          </a:xfrm>
          <a:prstGeom prst="ellipse">
            <a:avLst/>
          </a:prstGeom>
          <a:solidFill>
            <a:srgbClr val="CCCCCC"/>
          </a:solidFill>
          <a:ln/>
        </p:spPr>
      </p:sp>
      <p:sp>
        <p:nvSpPr>
          <p:cNvPr id="52" name="Shape 49"/>
          <p:cNvSpPr/>
          <p:nvPr/>
        </p:nvSpPr>
        <p:spPr>
          <a:xfrm>
            <a:off x="475168" y="3547872"/>
            <a:ext cx="256032" cy="256032"/>
          </a:xfrm>
          <a:prstGeom prst="ellipse">
            <a:avLst/>
          </a:prstGeom>
          <a:solidFill>
            <a:srgbClr val="CCCCCC"/>
          </a:solidFill>
          <a:ln/>
        </p:spPr>
      </p:sp>
      <p:sp>
        <p:nvSpPr>
          <p:cNvPr id="53" name="Shape 50"/>
          <p:cNvSpPr/>
          <p:nvPr/>
        </p:nvSpPr>
        <p:spPr>
          <a:xfrm>
            <a:off x="859216" y="3547872"/>
            <a:ext cx="256032" cy="256032"/>
          </a:xfrm>
          <a:prstGeom prst="ellipse">
            <a:avLst/>
          </a:prstGeom>
          <a:solidFill>
            <a:srgbClr val="CCCCCC"/>
          </a:solidFill>
          <a:ln/>
        </p:spPr>
      </p:sp>
      <p:sp>
        <p:nvSpPr>
          <p:cNvPr id="54" name="Shape 51"/>
          <p:cNvSpPr/>
          <p:nvPr/>
        </p:nvSpPr>
        <p:spPr>
          <a:xfrm>
            <a:off x="1243264" y="3547872"/>
            <a:ext cx="256032" cy="256032"/>
          </a:xfrm>
          <a:prstGeom prst="ellipse">
            <a:avLst/>
          </a:prstGeom>
          <a:solidFill>
            <a:srgbClr val="CCCCCC"/>
          </a:solidFill>
          <a:ln/>
        </p:spPr>
      </p:sp>
      <p:sp>
        <p:nvSpPr>
          <p:cNvPr id="55" name="Shape 52"/>
          <p:cNvSpPr/>
          <p:nvPr/>
        </p:nvSpPr>
        <p:spPr>
          <a:xfrm>
            <a:off x="1627312" y="3547872"/>
            <a:ext cx="256032" cy="256032"/>
          </a:xfrm>
          <a:prstGeom prst="ellipse">
            <a:avLst/>
          </a:prstGeom>
          <a:solidFill>
            <a:srgbClr val="CCCCCC"/>
          </a:solidFill>
          <a:ln/>
        </p:spPr>
      </p:sp>
      <p:sp>
        <p:nvSpPr>
          <p:cNvPr id="56" name="Shape 53"/>
          <p:cNvSpPr/>
          <p:nvPr/>
        </p:nvSpPr>
        <p:spPr>
          <a:xfrm>
            <a:off x="2011360" y="3547872"/>
            <a:ext cx="256032" cy="256032"/>
          </a:xfrm>
          <a:prstGeom prst="ellipse">
            <a:avLst/>
          </a:prstGeom>
          <a:solidFill>
            <a:srgbClr val="CCCCCC"/>
          </a:solidFill>
          <a:ln/>
        </p:spPr>
      </p:sp>
      <p:sp>
        <p:nvSpPr>
          <p:cNvPr id="57" name="Shape 54"/>
          <p:cNvSpPr/>
          <p:nvPr/>
        </p:nvSpPr>
        <p:spPr>
          <a:xfrm>
            <a:off x="2395408" y="3547872"/>
            <a:ext cx="256032" cy="256032"/>
          </a:xfrm>
          <a:prstGeom prst="ellipse">
            <a:avLst/>
          </a:prstGeom>
          <a:solidFill>
            <a:srgbClr val="CCCCCC"/>
          </a:solidFill>
          <a:ln/>
        </p:spPr>
      </p:sp>
      <p:sp>
        <p:nvSpPr>
          <p:cNvPr id="58" name="Shape 55"/>
          <p:cNvSpPr/>
          <p:nvPr/>
        </p:nvSpPr>
        <p:spPr>
          <a:xfrm>
            <a:off x="2779456" y="3547872"/>
            <a:ext cx="256032" cy="256032"/>
          </a:xfrm>
          <a:prstGeom prst="ellipse">
            <a:avLst/>
          </a:prstGeom>
          <a:solidFill>
            <a:srgbClr val="CCCCCC"/>
          </a:solidFill>
          <a:ln/>
        </p:spPr>
      </p:sp>
      <p:sp>
        <p:nvSpPr>
          <p:cNvPr id="59" name="Shape 56"/>
          <p:cNvSpPr/>
          <p:nvPr/>
        </p:nvSpPr>
        <p:spPr>
          <a:xfrm>
            <a:off x="3163504" y="3547872"/>
            <a:ext cx="256032" cy="256032"/>
          </a:xfrm>
          <a:prstGeom prst="ellipse">
            <a:avLst/>
          </a:prstGeom>
          <a:solidFill>
            <a:srgbClr val="CCCCCC"/>
          </a:solidFill>
          <a:ln/>
        </p:spPr>
      </p:sp>
      <p:sp>
        <p:nvSpPr>
          <p:cNvPr id="60" name="Shape 57"/>
          <p:cNvSpPr/>
          <p:nvPr/>
        </p:nvSpPr>
        <p:spPr>
          <a:xfrm>
            <a:off x="3547552" y="3547872"/>
            <a:ext cx="256032" cy="256032"/>
          </a:xfrm>
          <a:prstGeom prst="ellipse">
            <a:avLst/>
          </a:prstGeom>
          <a:solidFill>
            <a:srgbClr val="CCCCCC"/>
          </a:solidFill>
          <a:ln/>
        </p:spPr>
      </p:sp>
      <p:sp>
        <p:nvSpPr>
          <p:cNvPr id="61" name="Shape 58"/>
          <p:cNvSpPr/>
          <p:nvPr/>
        </p:nvSpPr>
        <p:spPr>
          <a:xfrm>
            <a:off x="3931600" y="3547872"/>
            <a:ext cx="256032" cy="256032"/>
          </a:xfrm>
          <a:prstGeom prst="ellipse">
            <a:avLst/>
          </a:prstGeom>
          <a:solidFill>
            <a:srgbClr val="CCCCCC"/>
          </a:solidFill>
          <a:ln/>
        </p:spPr>
      </p:sp>
      <p:sp>
        <p:nvSpPr>
          <p:cNvPr id="62" name="Shape 59"/>
          <p:cNvSpPr/>
          <p:nvPr/>
        </p:nvSpPr>
        <p:spPr>
          <a:xfrm>
            <a:off x="475168" y="3931920"/>
            <a:ext cx="256032" cy="256032"/>
          </a:xfrm>
          <a:prstGeom prst="ellipse">
            <a:avLst/>
          </a:prstGeom>
          <a:solidFill>
            <a:srgbClr val="CCCCCC"/>
          </a:solidFill>
          <a:ln/>
        </p:spPr>
      </p:sp>
      <p:sp>
        <p:nvSpPr>
          <p:cNvPr id="63" name="Shape 60"/>
          <p:cNvSpPr/>
          <p:nvPr/>
        </p:nvSpPr>
        <p:spPr>
          <a:xfrm>
            <a:off x="859216" y="3931920"/>
            <a:ext cx="256032" cy="256032"/>
          </a:xfrm>
          <a:prstGeom prst="ellipse">
            <a:avLst/>
          </a:prstGeom>
          <a:solidFill>
            <a:srgbClr val="CCCCCC"/>
          </a:solidFill>
          <a:ln/>
        </p:spPr>
      </p:sp>
      <p:sp>
        <p:nvSpPr>
          <p:cNvPr id="64" name="Shape 61"/>
          <p:cNvSpPr/>
          <p:nvPr/>
        </p:nvSpPr>
        <p:spPr>
          <a:xfrm>
            <a:off x="1243264" y="3931920"/>
            <a:ext cx="256032" cy="256032"/>
          </a:xfrm>
          <a:prstGeom prst="ellipse">
            <a:avLst/>
          </a:prstGeom>
          <a:solidFill>
            <a:srgbClr val="CCCCCC"/>
          </a:solidFill>
          <a:ln/>
        </p:spPr>
      </p:sp>
      <p:sp>
        <p:nvSpPr>
          <p:cNvPr id="65" name="Shape 62"/>
          <p:cNvSpPr/>
          <p:nvPr/>
        </p:nvSpPr>
        <p:spPr>
          <a:xfrm>
            <a:off x="1627312" y="3931920"/>
            <a:ext cx="256032" cy="256032"/>
          </a:xfrm>
          <a:prstGeom prst="ellipse">
            <a:avLst/>
          </a:prstGeom>
          <a:solidFill>
            <a:srgbClr val="CCCCCC"/>
          </a:solidFill>
          <a:ln/>
        </p:spPr>
      </p:sp>
      <p:sp>
        <p:nvSpPr>
          <p:cNvPr id="66" name="Shape 63"/>
          <p:cNvSpPr/>
          <p:nvPr/>
        </p:nvSpPr>
        <p:spPr>
          <a:xfrm>
            <a:off x="2011360" y="3931920"/>
            <a:ext cx="256032" cy="256032"/>
          </a:xfrm>
          <a:prstGeom prst="ellipse">
            <a:avLst/>
          </a:prstGeom>
          <a:solidFill>
            <a:srgbClr val="CCCCCC"/>
          </a:solidFill>
          <a:ln/>
        </p:spPr>
      </p:sp>
      <p:sp>
        <p:nvSpPr>
          <p:cNvPr id="67" name="Shape 64"/>
          <p:cNvSpPr/>
          <p:nvPr/>
        </p:nvSpPr>
        <p:spPr>
          <a:xfrm>
            <a:off x="2395408" y="3931920"/>
            <a:ext cx="256032" cy="256032"/>
          </a:xfrm>
          <a:prstGeom prst="ellipse">
            <a:avLst/>
          </a:prstGeom>
          <a:solidFill>
            <a:srgbClr val="CCCCCC"/>
          </a:solidFill>
          <a:ln/>
        </p:spPr>
      </p:sp>
      <p:sp>
        <p:nvSpPr>
          <p:cNvPr id="68" name="Shape 65"/>
          <p:cNvSpPr/>
          <p:nvPr/>
        </p:nvSpPr>
        <p:spPr>
          <a:xfrm>
            <a:off x="2779456" y="3931920"/>
            <a:ext cx="256032" cy="256032"/>
          </a:xfrm>
          <a:prstGeom prst="ellipse">
            <a:avLst/>
          </a:prstGeom>
          <a:solidFill>
            <a:srgbClr val="CCCCCC"/>
          </a:solidFill>
          <a:ln/>
        </p:spPr>
      </p:sp>
      <p:sp>
        <p:nvSpPr>
          <p:cNvPr id="69" name="Shape 66"/>
          <p:cNvSpPr/>
          <p:nvPr/>
        </p:nvSpPr>
        <p:spPr>
          <a:xfrm>
            <a:off x="3163504" y="3931920"/>
            <a:ext cx="256032" cy="256032"/>
          </a:xfrm>
          <a:prstGeom prst="ellipse">
            <a:avLst/>
          </a:prstGeom>
          <a:solidFill>
            <a:srgbClr val="CCCCCC"/>
          </a:solidFill>
          <a:ln/>
        </p:spPr>
      </p:sp>
      <p:sp>
        <p:nvSpPr>
          <p:cNvPr id="70" name="Shape 67"/>
          <p:cNvSpPr/>
          <p:nvPr/>
        </p:nvSpPr>
        <p:spPr>
          <a:xfrm>
            <a:off x="3547552" y="3931920"/>
            <a:ext cx="256032" cy="256032"/>
          </a:xfrm>
          <a:prstGeom prst="ellipse">
            <a:avLst/>
          </a:prstGeom>
          <a:solidFill>
            <a:srgbClr val="CCCCCC"/>
          </a:solidFill>
          <a:ln/>
        </p:spPr>
      </p:sp>
      <p:sp>
        <p:nvSpPr>
          <p:cNvPr id="71" name="Shape 68"/>
          <p:cNvSpPr/>
          <p:nvPr/>
        </p:nvSpPr>
        <p:spPr>
          <a:xfrm>
            <a:off x="3931600" y="3931920"/>
            <a:ext cx="256032" cy="256032"/>
          </a:xfrm>
          <a:prstGeom prst="ellipse">
            <a:avLst/>
          </a:prstGeom>
          <a:solidFill>
            <a:srgbClr val="CCCCCC"/>
          </a:solidFill>
          <a:ln/>
        </p:spPr>
      </p:sp>
      <p:sp>
        <p:nvSpPr>
          <p:cNvPr id="72" name="Shape 69"/>
          <p:cNvSpPr/>
          <p:nvPr/>
        </p:nvSpPr>
        <p:spPr>
          <a:xfrm>
            <a:off x="475168" y="4315968"/>
            <a:ext cx="256032" cy="256032"/>
          </a:xfrm>
          <a:prstGeom prst="ellipse">
            <a:avLst/>
          </a:prstGeom>
          <a:solidFill>
            <a:srgbClr val="CCCCCC"/>
          </a:solidFill>
          <a:ln/>
        </p:spPr>
      </p:sp>
      <p:sp>
        <p:nvSpPr>
          <p:cNvPr id="73" name="Shape 70"/>
          <p:cNvSpPr/>
          <p:nvPr/>
        </p:nvSpPr>
        <p:spPr>
          <a:xfrm>
            <a:off x="859216" y="4315968"/>
            <a:ext cx="256032" cy="256032"/>
          </a:xfrm>
          <a:prstGeom prst="ellipse">
            <a:avLst/>
          </a:prstGeom>
          <a:solidFill>
            <a:srgbClr val="CCCCCC"/>
          </a:solidFill>
          <a:ln/>
        </p:spPr>
      </p:sp>
      <p:sp>
        <p:nvSpPr>
          <p:cNvPr id="74" name="Shape 71"/>
          <p:cNvSpPr/>
          <p:nvPr/>
        </p:nvSpPr>
        <p:spPr>
          <a:xfrm>
            <a:off x="1243264" y="4315968"/>
            <a:ext cx="256032" cy="256032"/>
          </a:xfrm>
          <a:prstGeom prst="ellipse">
            <a:avLst/>
          </a:prstGeom>
          <a:solidFill>
            <a:srgbClr val="CCCCCC"/>
          </a:solidFill>
          <a:ln/>
        </p:spPr>
      </p:sp>
      <p:sp>
        <p:nvSpPr>
          <p:cNvPr id="75" name="Shape 72"/>
          <p:cNvSpPr/>
          <p:nvPr/>
        </p:nvSpPr>
        <p:spPr>
          <a:xfrm>
            <a:off x="1627312" y="4315968"/>
            <a:ext cx="256032" cy="256032"/>
          </a:xfrm>
          <a:prstGeom prst="ellipse">
            <a:avLst/>
          </a:prstGeom>
          <a:solidFill>
            <a:srgbClr val="CCCCCC"/>
          </a:solidFill>
          <a:ln/>
        </p:spPr>
      </p:sp>
      <p:sp>
        <p:nvSpPr>
          <p:cNvPr id="76" name="Shape 73"/>
          <p:cNvSpPr/>
          <p:nvPr/>
        </p:nvSpPr>
        <p:spPr>
          <a:xfrm>
            <a:off x="2011360" y="4315968"/>
            <a:ext cx="256032" cy="256032"/>
          </a:xfrm>
          <a:prstGeom prst="ellipse">
            <a:avLst/>
          </a:prstGeom>
          <a:solidFill>
            <a:srgbClr val="CCCCCC"/>
          </a:solidFill>
          <a:ln/>
        </p:spPr>
      </p:sp>
      <p:sp>
        <p:nvSpPr>
          <p:cNvPr id="77" name="Shape 74"/>
          <p:cNvSpPr/>
          <p:nvPr/>
        </p:nvSpPr>
        <p:spPr>
          <a:xfrm>
            <a:off x="2395408" y="4315968"/>
            <a:ext cx="256032" cy="256032"/>
          </a:xfrm>
          <a:prstGeom prst="ellipse">
            <a:avLst/>
          </a:prstGeom>
          <a:solidFill>
            <a:srgbClr val="CCCCCC"/>
          </a:solidFill>
          <a:ln/>
        </p:spPr>
      </p:sp>
      <p:sp>
        <p:nvSpPr>
          <p:cNvPr id="78" name="Shape 75"/>
          <p:cNvSpPr/>
          <p:nvPr/>
        </p:nvSpPr>
        <p:spPr>
          <a:xfrm>
            <a:off x="2779456" y="4315968"/>
            <a:ext cx="256032" cy="256032"/>
          </a:xfrm>
          <a:prstGeom prst="ellipse">
            <a:avLst/>
          </a:prstGeom>
          <a:solidFill>
            <a:srgbClr val="CCCCCC"/>
          </a:solidFill>
          <a:ln/>
        </p:spPr>
      </p:sp>
      <p:sp>
        <p:nvSpPr>
          <p:cNvPr id="79" name="Shape 76"/>
          <p:cNvSpPr/>
          <p:nvPr/>
        </p:nvSpPr>
        <p:spPr>
          <a:xfrm>
            <a:off x="3163504" y="4315968"/>
            <a:ext cx="256032" cy="256032"/>
          </a:xfrm>
          <a:prstGeom prst="ellipse">
            <a:avLst/>
          </a:prstGeom>
          <a:solidFill>
            <a:srgbClr val="CCCCCC"/>
          </a:solidFill>
          <a:ln/>
        </p:spPr>
      </p:sp>
      <p:sp>
        <p:nvSpPr>
          <p:cNvPr id="80" name="Shape 77"/>
          <p:cNvSpPr/>
          <p:nvPr/>
        </p:nvSpPr>
        <p:spPr>
          <a:xfrm>
            <a:off x="3547552" y="4315968"/>
            <a:ext cx="256032" cy="256032"/>
          </a:xfrm>
          <a:prstGeom prst="ellipse">
            <a:avLst/>
          </a:prstGeom>
          <a:solidFill>
            <a:srgbClr val="CCCCCC"/>
          </a:solidFill>
          <a:ln/>
        </p:spPr>
      </p:sp>
      <p:sp>
        <p:nvSpPr>
          <p:cNvPr id="81" name="Shape 78"/>
          <p:cNvSpPr/>
          <p:nvPr/>
        </p:nvSpPr>
        <p:spPr>
          <a:xfrm>
            <a:off x="3931600" y="4315968"/>
            <a:ext cx="256032" cy="256032"/>
          </a:xfrm>
          <a:prstGeom prst="ellipse">
            <a:avLst/>
          </a:prstGeom>
          <a:solidFill>
            <a:srgbClr val="CCCCCC"/>
          </a:solidFill>
          <a:ln/>
        </p:spPr>
      </p:sp>
      <p:sp>
        <p:nvSpPr>
          <p:cNvPr id="82" name="Shape 79"/>
          <p:cNvSpPr/>
          <p:nvPr/>
        </p:nvSpPr>
        <p:spPr>
          <a:xfrm>
            <a:off x="475168" y="4700016"/>
            <a:ext cx="256032" cy="256032"/>
          </a:xfrm>
          <a:prstGeom prst="ellipse">
            <a:avLst/>
          </a:prstGeom>
          <a:solidFill>
            <a:srgbClr val="CCCCCC"/>
          </a:solidFill>
          <a:ln/>
        </p:spPr>
      </p:sp>
      <p:sp>
        <p:nvSpPr>
          <p:cNvPr id="83" name="Shape 80"/>
          <p:cNvSpPr/>
          <p:nvPr/>
        </p:nvSpPr>
        <p:spPr>
          <a:xfrm>
            <a:off x="859216" y="4700016"/>
            <a:ext cx="256032" cy="256032"/>
          </a:xfrm>
          <a:prstGeom prst="ellipse">
            <a:avLst/>
          </a:prstGeom>
          <a:solidFill>
            <a:srgbClr val="CCCCCC"/>
          </a:solidFill>
          <a:ln/>
        </p:spPr>
      </p:sp>
      <p:sp>
        <p:nvSpPr>
          <p:cNvPr id="84" name="Shape 81"/>
          <p:cNvSpPr/>
          <p:nvPr/>
        </p:nvSpPr>
        <p:spPr>
          <a:xfrm>
            <a:off x="1243264" y="4700016"/>
            <a:ext cx="256032" cy="256032"/>
          </a:xfrm>
          <a:prstGeom prst="ellipse">
            <a:avLst/>
          </a:prstGeom>
          <a:solidFill>
            <a:srgbClr val="CCCCCC"/>
          </a:solidFill>
          <a:ln/>
        </p:spPr>
      </p:sp>
      <p:sp>
        <p:nvSpPr>
          <p:cNvPr id="85" name="Shape 82"/>
          <p:cNvSpPr/>
          <p:nvPr/>
        </p:nvSpPr>
        <p:spPr>
          <a:xfrm>
            <a:off x="1627312" y="4700016"/>
            <a:ext cx="256032" cy="256032"/>
          </a:xfrm>
          <a:prstGeom prst="ellipse">
            <a:avLst/>
          </a:prstGeom>
          <a:solidFill>
            <a:srgbClr val="CCCCCC"/>
          </a:solidFill>
          <a:ln/>
        </p:spPr>
      </p:sp>
      <p:sp>
        <p:nvSpPr>
          <p:cNvPr id="86" name="Shape 83"/>
          <p:cNvSpPr/>
          <p:nvPr/>
        </p:nvSpPr>
        <p:spPr>
          <a:xfrm>
            <a:off x="2011360" y="4700016"/>
            <a:ext cx="256032" cy="256032"/>
          </a:xfrm>
          <a:prstGeom prst="ellipse">
            <a:avLst/>
          </a:prstGeom>
          <a:solidFill>
            <a:srgbClr val="CCCCCC"/>
          </a:solidFill>
          <a:ln/>
        </p:spPr>
      </p:sp>
      <p:sp>
        <p:nvSpPr>
          <p:cNvPr id="87" name="Shape 84"/>
          <p:cNvSpPr/>
          <p:nvPr/>
        </p:nvSpPr>
        <p:spPr>
          <a:xfrm>
            <a:off x="2395408" y="4700016"/>
            <a:ext cx="256032" cy="256032"/>
          </a:xfrm>
          <a:prstGeom prst="ellipse">
            <a:avLst/>
          </a:prstGeom>
          <a:solidFill>
            <a:srgbClr val="CCCCCC"/>
          </a:solidFill>
          <a:ln/>
        </p:spPr>
      </p:sp>
      <p:sp>
        <p:nvSpPr>
          <p:cNvPr id="88" name="Shape 85"/>
          <p:cNvSpPr/>
          <p:nvPr/>
        </p:nvSpPr>
        <p:spPr>
          <a:xfrm>
            <a:off x="2779456" y="4700016"/>
            <a:ext cx="256032" cy="256032"/>
          </a:xfrm>
          <a:prstGeom prst="ellipse">
            <a:avLst/>
          </a:prstGeom>
          <a:solidFill>
            <a:srgbClr val="CCCCCC"/>
          </a:solidFill>
          <a:ln/>
        </p:spPr>
      </p:sp>
      <p:sp>
        <p:nvSpPr>
          <p:cNvPr id="89" name="Shape 86"/>
          <p:cNvSpPr/>
          <p:nvPr/>
        </p:nvSpPr>
        <p:spPr>
          <a:xfrm>
            <a:off x="3163504" y="4700016"/>
            <a:ext cx="256032" cy="256032"/>
          </a:xfrm>
          <a:prstGeom prst="ellipse">
            <a:avLst/>
          </a:prstGeom>
          <a:solidFill>
            <a:srgbClr val="CCCCCC"/>
          </a:solidFill>
          <a:ln/>
        </p:spPr>
      </p:sp>
      <p:sp>
        <p:nvSpPr>
          <p:cNvPr id="90" name="Shape 87"/>
          <p:cNvSpPr/>
          <p:nvPr/>
        </p:nvSpPr>
        <p:spPr>
          <a:xfrm>
            <a:off x="3547552" y="4700016"/>
            <a:ext cx="256032" cy="256032"/>
          </a:xfrm>
          <a:prstGeom prst="ellipse">
            <a:avLst/>
          </a:prstGeom>
          <a:solidFill>
            <a:srgbClr val="CCCCCC"/>
          </a:solidFill>
          <a:ln/>
        </p:spPr>
      </p:sp>
      <p:sp>
        <p:nvSpPr>
          <p:cNvPr id="91" name="Shape 88"/>
          <p:cNvSpPr/>
          <p:nvPr/>
        </p:nvSpPr>
        <p:spPr>
          <a:xfrm>
            <a:off x="3931600" y="4700016"/>
            <a:ext cx="256032" cy="256032"/>
          </a:xfrm>
          <a:prstGeom prst="ellipse">
            <a:avLst/>
          </a:prstGeom>
          <a:solidFill>
            <a:srgbClr val="CCCCCC"/>
          </a:solidFill>
          <a:ln/>
        </p:spPr>
      </p:sp>
      <p:sp>
        <p:nvSpPr>
          <p:cNvPr id="92" name="Shape 89"/>
          <p:cNvSpPr/>
          <p:nvPr/>
        </p:nvSpPr>
        <p:spPr>
          <a:xfrm>
            <a:off x="475168" y="5084064"/>
            <a:ext cx="256032" cy="256032"/>
          </a:xfrm>
          <a:prstGeom prst="ellipse">
            <a:avLst/>
          </a:prstGeom>
          <a:solidFill>
            <a:srgbClr val="CCCCCC"/>
          </a:solidFill>
          <a:ln/>
        </p:spPr>
      </p:sp>
      <p:sp>
        <p:nvSpPr>
          <p:cNvPr id="93" name="Shape 90"/>
          <p:cNvSpPr/>
          <p:nvPr/>
        </p:nvSpPr>
        <p:spPr>
          <a:xfrm>
            <a:off x="859216" y="5084064"/>
            <a:ext cx="256032" cy="256032"/>
          </a:xfrm>
          <a:prstGeom prst="ellipse">
            <a:avLst/>
          </a:prstGeom>
          <a:solidFill>
            <a:srgbClr val="CCCCCC"/>
          </a:solidFill>
          <a:ln/>
        </p:spPr>
      </p:sp>
      <p:sp>
        <p:nvSpPr>
          <p:cNvPr id="94" name="Shape 91"/>
          <p:cNvSpPr/>
          <p:nvPr/>
        </p:nvSpPr>
        <p:spPr>
          <a:xfrm>
            <a:off x="1243264" y="5084064"/>
            <a:ext cx="256032" cy="256032"/>
          </a:xfrm>
          <a:prstGeom prst="ellipse">
            <a:avLst/>
          </a:prstGeom>
          <a:solidFill>
            <a:srgbClr val="CCCCCC"/>
          </a:solidFill>
          <a:ln/>
        </p:spPr>
      </p:sp>
      <p:sp>
        <p:nvSpPr>
          <p:cNvPr id="95" name="Shape 92"/>
          <p:cNvSpPr/>
          <p:nvPr/>
        </p:nvSpPr>
        <p:spPr>
          <a:xfrm>
            <a:off x="1627312" y="5084064"/>
            <a:ext cx="256032" cy="256032"/>
          </a:xfrm>
          <a:prstGeom prst="ellipse">
            <a:avLst/>
          </a:prstGeom>
          <a:solidFill>
            <a:srgbClr val="CCCCCC"/>
          </a:solidFill>
          <a:ln/>
        </p:spPr>
      </p:sp>
      <p:sp>
        <p:nvSpPr>
          <p:cNvPr id="96" name="Shape 93"/>
          <p:cNvSpPr/>
          <p:nvPr/>
        </p:nvSpPr>
        <p:spPr>
          <a:xfrm>
            <a:off x="2011360" y="5084064"/>
            <a:ext cx="256032" cy="256032"/>
          </a:xfrm>
          <a:prstGeom prst="ellipse">
            <a:avLst/>
          </a:prstGeom>
          <a:solidFill>
            <a:srgbClr val="CCCCCC"/>
          </a:solidFill>
          <a:ln/>
        </p:spPr>
      </p:sp>
      <p:sp>
        <p:nvSpPr>
          <p:cNvPr id="97" name="Shape 94"/>
          <p:cNvSpPr/>
          <p:nvPr/>
        </p:nvSpPr>
        <p:spPr>
          <a:xfrm>
            <a:off x="2395408" y="5084064"/>
            <a:ext cx="256032" cy="256032"/>
          </a:xfrm>
          <a:prstGeom prst="ellipse">
            <a:avLst/>
          </a:prstGeom>
          <a:solidFill>
            <a:srgbClr val="CCCCCC"/>
          </a:solidFill>
          <a:ln/>
        </p:spPr>
      </p:sp>
      <p:sp>
        <p:nvSpPr>
          <p:cNvPr id="98" name="Shape 95"/>
          <p:cNvSpPr/>
          <p:nvPr/>
        </p:nvSpPr>
        <p:spPr>
          <a:xfrm>
            <a:off x="2779456" y="5084064"/>
            <a:ext cx="256032" cy="256032"/>
          </a:xfrm>
          <a:prstGeom prst="ellipse">
            <a:avLst/>
          </a:prstGeom>
          <a:solidFill>
            <a:srgbClr val="CCCCCC"/>
          </a:solidFill>
          <a:ln/>
        </p:spPr>
      </p:sp>
      <p:sp>
        <p:nvSpPr>
          <p:cNvPr id="99" name="Shape 96"/>
          <p:cNvSpPr/>
          <p:nvPr/>
        </p:nvSpPr>
        <p:spPr>
          <a:xfrm>
            <a:off x="3163504" y="5084064"/>
            <a:ext cx="256032" cy="256032"/>
          </a:xfrm>
          <a:prstGeom prst="ellipse">
            <a:avLst/>
          </a:prstGeom>
          <a:solidFill>
            <a:srgbClr val="CCCCCC"/>
          </a:solidFill>
          <a:ln/>
        </p:spPr>
      </p:sp>
      <p:sp>
        <p:nvSpPr>
          <p:cNvPr id="100" name="Shape 97"/>
          <p:cNvSpPr/>
          <p:nvPr/>
        </p:nvSpPr>
        <p:spPr>
          <a:xfrm>
            <a:off x="3547552" y="5084064"/>
            <a:ext cx="256032" cy="256032"/>
          </a:xfrm>
          <a:prstGeom prst="ellipse">
            <a:avLst/>
          </a:prstGeom>
          <a:solidFill>
            <a:srgbClr val="CCCCCC"/>
          </a:solidFill>
          <a:ln/>
        </p:spPr>
      </p:sp>
      <p:sp>
        <p:nvSpPr>
          <p:cNvPr id="101" name="Shape 98"/>
          <p:cNvSpPr/>
          <p:nvPr/>
        </p:nvSpPr>
        <p:spPr>
          <a:xfrm>
            <a:off x="3931600" y="5084064"/>
            <a:ext cx="256032" cy="256032"/>
          </a:xfrm>
          <a:prstGeom prst="ellipse">
            <a:avLst/>
          </a:prstGeom>
          <a:solidFill>
            <a:srgbClr val="CCCCCC"/>
          </a:solidFill>
          <a:ln/>
        </p:spPr>
      </p:sp>
      <p:sp>
        <p:nvSpPr>
          <p:cNvPr id="102" name="Shape 99"/>
          <p:cNvSpPr/>
          <p:nvPr/>
        </p:nvSpPr>
        <p:spPr>
          <a:xfrm>
            <a:off x="475168" y="5468112"/>
            <a:ext cx="256032" cy="256032"/>
          </a:xfrm>
          <a:prstGeom prst="ellipse">
            <a:avLst/>
          </a:prstGeom>
          <a:solidFill>
            <a:srgbClr val="CCCCCC"/>
          </a:solidFill>
          <a:ln/>
        </p:spPr>
      </p:sp>
      <p:sp>
        <p:nvSpPr>
          <p:cNvPr id="103" name="Shape 100"/>
          <p:cNvSpPr/>
          <p:nvPr/>
        </p:nvSpPr>
        <p:spPr>
          <a:xfrm>
            <a:off x="859216" y="5468112"/>
            <a:ext cx="256032" cy="256032"/>
          </a:xfrm>
          <a:prstGeom prst="ellipse">
            <a:avLst/>
          </a:prstGeom>
          <a:solidFill>
            <a:srgbClr val="CCCCCC"/>
          </a:solidFill>
          <a:ln/>
        </p:spPr>
      </p:sp>
      <p:sp>
        <p:nvSpPr>
          <p:cNvPr id="104" name="Shape 101"/>
          <p:cNvSpPr/>
          <p:nvPr/>
        </p:nvSpPr>
        <p:spPr>
          <a:xfrm>
            <a:off x="1243264" y="5468112"/>
            <a:ext cx="256032" cy="256032"/>
          </a:xfrm>
          <a:prstGeom prst="ellipse">
            <a:avLst/>
          </a:prstGeom>
          <a:solidFill>
            <a:srgbClr val="CCCCCC"/>
          </a:solidFill>
          <a:ln/>
        </p:spPr>
      </p:sp>
      <p:sp>
        <p:nvSpPr>
          <p:cNvPr id="105" name="Shape 102"/>
          <p:cNvSpPr/>
          <p:nvPr/>
        </p:nvSpPr>
        <p:spPr>
          <a:xfrm>
            <a:off x="1627312" y="5468112"/>
            <a:ext cx="256032" cy="256032"/>
          </a:xfrm>
          <a:prstGeom prst="ellipse">
            <a:avLst/>
          </a:prstGeom>
          <a:solidFill>
            <a:srgbClr val="CCCCCC"/>
          </a:solidFill>
          <a:ln/>
        </p:spPr>
      </p:sp>
      <p:sp>
        <p:nvSpPr>
          <p:cNvPr id="106" name="Shape 103"/>
          <p:cNvSpPr/>
          <p:nvPr/>
        </p:nvSpPr>
        <p:spPr>
          <a:xfrm>
            <a:off x="2011360" y="5468112"/>
            <a:ext cx="256032" cy="256032"/>
          </a:xfrm>
          <a:prstGeom prst="ellipse">
            <a:avLst/>
          </a:prstGeom>
          <a:solidFill>
            <a:srgbClr val="CCCCCC"/>
          </a:solidFill>
          <a:ln/>
        </p:spPr>
      </p:sp>
      <p:sp>
        <p:nvSpPr>
          <p:cNvPr id="107" name="Shape 104"/>
          <p:cNvSpPr/>
          <p:nvPr/>
        </p:nvSpPr>
        <p:spPr>
          <a:xfrm>
            <a:off x="2395408" y="5468112"/>
            <a:ext cx="256032" cy="256032"/>
          </a:xfrm>
          <a:prstGeom prst="ellipse">
            <a:avLst/>
          </a:prstGeom>
          <a:solidFill>
            <a:srgbClr val="CCCCCC"/>
          </a:solidFill>
          <a:ln/>
        </p:spPr>
      </p:sp>
      <p:sp>
        <p:nvSpPr>
          <p:cNvPr id="108" name="Shape 105"/>
          <p:cNvSpPr/>
          <p:nvPr/>
        </p:nvSpPr>
        <p:spPr>
          <a:xfrm>
            <a:off x="2779456" y="5468112"/>
            <a:ext cx="256032" cy="256032"/>
          </a:xfrm>
          <a:prstGeom prst="ellipse">
            <a:avLst/>
          </a:prstGeom>
          <a:solidFill>
            <a:srgbClr val="CCCCCC"/>
          </a:solidFill>
          <a:ln/>
        </p:spPr>
      </p:sp>
      <p:sp>
        <p:nvSpPr>
          <p:cNvPr id="109" name="Shape 106"/>
          <p:cNvSpPr/>
          <p:nvPr/>
        </p:nvSpPr>
        <p:spPr>
          <a:xfrm>
            <a:off x="3163504" y="5468112"/>
            <a:ext cx="256032" cy="256032"/>
          </a:xfrm>
          <a:prstGeom prst="ellipse">
            <a:avLst/>
          </a:prstGeom>
          <a:solidFill>
            <a:srgbClr val="CCCCCC"/>
          </a:solidFill>
          <a:ln/>
        </p:spPr>
      </p:sp>
      <p:sp>
        <p:nvSpPr>
          <p:cNvPr id="110" name="Shape 107"/>
          <p:cNvSpPr/>
          <p:nvPr/>
        </p:nvSpPr>
        <p:spPr>
          <a:xfrm>
            <a:off x="3547552" y="5468112"/>
            <a:ext cx="256032" cy="256032"/>
          </a:xfrm>
          <a:prstGeom prst="ellipse">
            <a:avLst/>
          </a:prstGeom>
          <a:solidFill>
            <a:srgbClr val="CCCCCC"/>
          </a:solidFill>
          <a:ln/>
        </p:spPr>
      </p:sp>
      <p:sp>
        <p:nvSpPr>
          <p:cNvPr id="111" name="Shape 108"/>
          <p:cNvSpPr/>
          <p:nvPr/>
        </p:nvSpPr>
        <p:spPr>
          <a:xfrm>
            <a:off x="3931600" y="5468112"/>
            <a:ext cx="256032" cy="256032"/>
          </a:xfrm>
          <a:prstGeom prst="ellipse">
            <a:avLst/>
          </a:prstGeom>
          <a:solidFill>
            <a:srgbClr val="CCCCCC"/>
          </a:solidFill>
          <a:ln/>
        </p:spPr>
      </p:sp>
      <p:sp>
        <p:nvSpPr>
          <p:cNvPr id="112" name="Text 109"/>
          <p:cNvSpPr txBox="1"/>
          <p:nvPr/>
        </p:nvSpPr>
        <p:spPr>
          <a:xfrm>
            <a:off x="4772848" y="1920240"/>
            <a:ext cx="3200400" cy="868680"/>
          </a:xfrm>
          <a:prstGeom prst="rect">
            <a:avLst/>
          </a:prstGeom>
          <a:noFill/>
          <a:ln/>
        </p:spPr>
        <p:txBody>
          <a:bodyPr wrap="square" lIns="0" tIns="0" rIns="0" bIns="0" rtlCol="0" anchor="t"/>
          <a:lstStyle/>
          <a:p>
            <a:pPr indent="0" marL="0">
              <a:buNone/>
            </a:pPr>
            <a:r>
              <a:rPr lang="en-US" sz="4400" b="1" dirty="0">
                <a:solidFill>
                  <a:srgbClr val="3F3F3F"/>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772848" y="2788920"/>
            <a:ext cx="49320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代わりの移動手段がない</a:t>
            </a:r>
            <a:endParaRPr lang="en-US" sz="1400" dirty="0"/>
          </a:p>
        </p:txBody>
      </p:sp>
      <p:sp>
        <p:nvSpPr>
          <p:cNvPr id="114" name="Text 111"/>
          <p:cNvSpPr txBox="1"/>
          <p:nvPr/>
        </p:nvSpPr>
        <p:spPr>
          <a:xfrm>
            <a:off x="4772848" y="3291840"/>
            <a:ext cx="4932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30%の内訳（利用者全体に対する割合）</a:t>
            </a:r>
            <a:endParaRPr lang="en-US" sz="1400" dirty="0"/>
          </a:p>
        </p:txBody>
      </p:sp>
      <p:sp>
        <p:nvSpPr>
          <p:cNvPr id="115" name="Shape 112"/>
          <p:cNvSpPr/>
          <p:nvPr/>
        </p:nvSpPr>
        <p:spPr>
          <a:xfrm>
            <a:off x="4772848" y="3639312"/>
            <a:ext cx="4932000" cy="0"/>
          </a:xfrm>
          <a:prstGeom prst="line">
            <a:avLst/>
          </a:prstGeom>
          <a:noFill/>
          <a:ln w="12700">
            <a:solidFill>
              <a:srgbClr val="7F7F7F"/>
            </a:solidFill>
            <a:prstDash val="solid"/>
          </a:ln>
        </p:spPr>
      </p:sp>
      <p:sp>
        <p:nvSpPr>
          <p:cNvPr id="116" name="Text 113"/>
          <p:cNvSpPr txBox="1"/>
          <p:nvPr/>
        </p:nvSpPr>
        <p:spPr>
          <a:xfrm>
            <a:off x="4772848" y="3794760"/>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高校生</a:t>
            </a:r>
            <a:endParaRPr lang="en-US" sz="1400" dirty="0"/>
          </a:p>
        </p:txBody>
      </p:sp>
      <p:sp>
        <p:nvSpPr>
          <p:cNvPr id="117" name="Text 114"/>
          <p:cNvSpPr txBox="1"/>
          <p:nvPr/>
        </p:nvSpPr>
        <p:spPr>
          <a:xfrm>
            <a:off x="8790448" y="3794760"/>
            <a:ext cx="91440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12%</a:t>
            </a:r>
            <a:endParaRPr lang="en-US" sz="1200" dirty="0"/>
          </a:p>
        </p:txBody>
      </p:sp>
      <p:sp>
        <p:nvSpPr>
          <p:cNvPr id="118" name="Shape 115"/>
          <p:cNvSpPr/>
          <p:nvPr/>
        </p:nvSpPr>
        <p:spPr>
          <a:xfrm>
            <a:off x="4772848" y="4306824"/>
            <a:ext cx="4932000" cy="0"/>
          </a:xfrm>
          <a:prstGeom prst="line">
            <a:avLst/>
          </a:prstGeom>
          <a:noFill/>
          <a:ln w="9525">
            <a:solidFill>
              <a:srgbClr val="CCCCCC"/>
            </a:solidFill>
            <a:prstDash val="solid"/>
          </a:ln>
        </p:spPr>
      </p:sp>
      <p:sp>
        <p:nvSpPr>
          <p:cNvPr id="119" name="Text 116"/>
          <p:cNvSpPr txBox="1"/>
          <p:nvPr/>
        </p:nvSpPr>
        <p:spPr>
          <a:xfrm>
            <a:off x="4772848" y="4361688"/>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120" name="Text 117"/>
          <p:cNvSpPr txBox="1"/>
          <p:nvPr/>
        </p:nvSpPr>
        <p:spPr>
          <a:xfrm>
            <a:off x="8790448" y="4361688"/>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121" name="Shape 118"/>
          <p:cNvSpPr/>
          <p:nvPr/>
        </p:nvSpPr>
        <p:spPr>
          <a:xfrm>
            <a:off x="4772848" y="4873752"/>
            <a:ext cx="4932000" cy="0"/>
          </a:xfrm>
          <a:prstGeom prst="line">
            <a:avLst/>
          </a:prstGeom>
          <a:noFill/>
          <a:ln w="9525">
            <a:solidFill>
              <a:srgbClr val="CCCCCC"/>
            </a:solidFill>
            <a:prstDash val="solid"/>
          </a:ln>
        </p:spPr>
      </p:sp>
      <p:sp>
        <p:nvSpPr>
          <p:cNvPr id="122" name="Text 119"/>
          <p:cNvSpPr txBox="1"/>
          <p:nvPr/>
        </p:nvSpPr>
        <p:spPr>
          <a:xfrm>
            <a:off x="4772848" y="4928616"/>
            <a:ext cx="401760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その他（通院・障害など）</a:t>
            </a:r>
            <a:endParaRPr lang="en-US" sz="1400" dirty="0"/>
          </a:p>
        </p:txBody>
      </p:sp>
      <p:sp>
        <p:nvSpPr>
          <p:cNvPr id="123" name="Text 120"/>
          <p:cNvSpPr txBox="1"/>
          <p:nvPr/>
        </p:nvSpPr>
        <p:spPr>
          <a:xfrm>
            <a:off x="8790448" y="4928616"/>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市内の予約型交通の需要は2035年度までに約3倍の45万回に増え、増加分の大半を通院が占める見込みである。転換の好機は今後5年にある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予約型交通の年間需要</a:t>
            </a:r>
            <a:pPr indent="0" marL="0">
              <a:buNone/>
            </a:pPr>
            <a:r>
              <a:rPr lang="en-US" sz="1100" dirty="0">
                <a:solidFill>
                  <a:srgbClr val="3F3F3F"/>
                </a:solidFill>
                <a:latin typeface="Yu Gothic UI" pitchFamily="34" charset="0"/>
                <a:ea typeface="Yu Gothic UI" pitchFamily="34" charset="-122"/>
                <a:cs typeface="Yu Gothic UI" pitchFamily="34" charset="-120"/>
              </a:rPr>
              <a:t>　（万回、2025年度と2035年度（予測））</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注）2035年度は人口推計と利用率の見通しによる予測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663888" y="3566160"/>
            <a:ext cx="1554480" cy="1554480"/>
          </a:xfrm>
          <a:prstGeom prst="ellipse">
            <a:avLst/>
          </a:prstGeom>
          <a:solidFill>
            <a:srgbClr val="CCCCCC"/>
          </a:solidFill>
          <a:ln/>
        </p:spPr>
      </p:sp>
      <p:sp>
        <p:nvSpPr>
          <p:cNvPr id="13" name="Shape 10"/>
          <p:cNvSpPr/>
          <p:nvPr/>
        </p:nvSpPr>
        <p:spPr>
          <a:xfrm>
            <a:off x="4772848" y="2428202"/>
            <a:ext cx="2692438" cy="2692438"/>
          </a:xfrm>
          <a:prstGeom prst="ellipse">
            <a:avLst/>
          </a:prstGeom>
          <a:solidFill>
            <a:srgbClr val="000F78"/>
          </a:solidFill>
          <a:ln/>
        </p:spPr>
      </p:sp>
      <p:sp>
        <p:nvSpPr>
          <p:cNvPr id="14" name="Text 11"/>
          <p:cNvSpPr txBox="1"/>
          <p:nvPr/>
        </p:nvSpPr>
        <p:spPr>
          <a:xfrm>
            <a:off x="1115248" y="5212080"/>
            <a:ext cx="2651760" cy="5943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15万回</a:t>
            </a:r>
            <a:endParaRPr lang="en-US" sz="1400" dirty="0"/>
          </a:p>
        </p:txBody>
      </p:sp>
      <p:sp>
        <p:nvSpPr>
          <p:cNvPr id="15" name="Text 12"/>
          <p:cNvSpPr txBox="1"/>
          <p:nvPr/>
        </p:nvSpPr>
        <p:spPr>
          <a:xfrm>
            <a:off x="4498528"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2035年度（予測）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45万回</a:t>
            </a:r>
            <a:endParaRPr lang="en-US" sz="1400" dirty="0"/>
          </a:p>
        </p:txBody>
      </p:sp>
      <p:sp>
        <p:nvSpPr>
          <p:cNvPr id="16" name="Shape 13"/>
          <p:cNvSpPr/>
          <p:nvPr/>
        </p:nvSpPr>
        <p:spPr>
          <a:xfrm>
            <a:off x="3401248" y="4343400"/>
            <a:ext cx="1188720" cy="0"/>
          </a:xfrm>
          <a:prstGeom prst="line">
            <a:avLst/>
          </a:prstGeom>
          <a:noFill/>
          <a:ln w="15875">
            <a:solidFill>
              <a:srgbClr val="7F7F7F"/>
            </a:solidFill>
            <a:prstDash val="solid"/>
            <a:tailEnd type="triangle"/>
          </a:ln>
        </p:spPr>
      </p:sp>
      <p:sp>
        <p:nvSpPr>
          <p:cNvPr id="17" name="Text 14"/>
          <p:cNvSpPr txBox="1"/>
          <p:nvPr/>
        </p:nvSpPr>
        <p:spPr>
          <a:xfrm>
            <a:off x="2852608" y="3931920"/>
            <a:ext cx="128016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約3倍</a:t>
            </a:r>
            <a:endParaRPr lang="en-US" sz="1400" dirty="0"/>
          </a:p>
        </p:txBody>
      </p:sp>
      <p:sp>
        <p:nvSpPr>
          <p:cNvPr id="18" name="Text 15"/>
          <p:cNvSpPr txBox="1"/>
          <p:nvPr/>
        </p:nvSpPr>
        <p:spPr>
          <a:xfrm>
            <a:off x="7698928" y="1965960"/>
            <a:ext cx="20059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増加分30万回の内訳</a:t>
            </a:r>
            <a:endParaRPr lang="en-US" sz="1400" dirty="0"/>
          </a:p>
        </p:txBody>
      </p:sp>
      <p:sp>
        <p:nvSpPr>
          <p:cNvPr id="19" name="Shape 16"/>
          <p:cNvSpPr/>
          <p:nvPr/>
        </p:nvSpPr>
        <p:spPr>
          <a:xfrm>
            <a:off x="7698928" y="2313432"/>
            <a:ext cx="2005920" cy="0"/>
          </a:xfrm>
          <a:prstGeom prst="line">
            <a:avLst/>
          </a:prstGeom>
          <a:noFill/>
          <a:ln w="12700">
            <a:solidFill>
              <a:srgbClr val="7F7F7F"/>
            </a:solidFill>
            <a:prstDash val="solid"/>
          </a:ln>
        </p:spPr>
      </p:sp>
      <p:sp>
        <p:nvSpPr>
          <p:cNvPr id="20" name="Text 17"/>
          <p:cNvSpPr txBox="1"/>
          <p:nvPr/>
        </p:nvSpPr>
        <p:spPr>
          <a:xfrm>
            <a:off x="7698928" y="2468880"/>
            <a:ext cx="1000080" cy="4114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a:t>
            </a:r>
            <a:endParaRPr lang="en-US" sz="1400" dirty="0"/>
          </a:p>
        </p:txBody>
      </p:sp>
      <p:sp>
        <p:nvSpPr>
          <p:cNvPr id="21" name="Text 18"/>
          <p:cNvSpPr txBox="1"/>
          <p:nvPr/>
        </p:nvSpPr>
        <p:spPr>
          <a:xfrm>
            <a:off x="8699008" y="2468880"/>
            <a:ext cx="1005840" cy="41148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19万回</a:t>
            </a:r>
            <a:endParaRPr lang="en-US" sz="1200" dirty="0"/>
          </a:p>
        </p:txBody>
      </p:sp>
      <p:sp>
        <p:nvSpPr>
          <p:cNvPr id="22" name="Shape 19"/>
          <p:cNvSpPr/>
          <p:nvPr/>
        </p:nvSpPr>
        <p:spPr>
          <a:xfrm>
            <a:off x="7698928" y="2953512"/>
            <a:ext cx="2005920" cy="0"/>
          </a:xfrm>
          <a:prstGeom prst="line">
            <a:avLst/>
          </a:prstGeom>
          <a:noFill/>
          <a:ln w="9525">
            <a:solidFill>
              <a:srgbClr val="CCCCCC"/>
            </a:solidFill>
            <a:prstDash val="solid"/>
          </a:ln>
        </p:spPr>
      </p:sp>
      <p:sp>
        <p:nvSpPr>
          <p:cNvPr id="23" name="Text 20"/>
          <p:cNvSpPr txBox="1"/>
          <p:nvPr/>
        </p:nvSpPr>
        <p:spPr>
          <a:xfrm>
            <a:off x="7698928" y="301752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買物</a:t>
            </a:r>
            <a:endParaRPr lang="en-US" sz="1400" dirty="0"/>
          </a:p>
        </p:txBody>
      </p:sp>
      <p:sp>
        <p:nvSpPr>
          <p:cNvPr id="24" name="Text 21"/>
          <p:cNvSpPr txBox="1"/>
          <p:nvPr/>
        </p:nvSpPr>
        <p:spPr>
          <a:xfrm>
            <a:off x="8699008" y="301752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7万回</a:t>
            </a:r>
            <a:endParaRPr lang="en-US" sz="1200" dirty="0"/>
          </a:p>
        </p:txBody>
      </p:sp>
      <p:sp>
        <p:nvSpPr>
          <p:cNvPr id="25" name="Shape 22"/>
          <p:cNvSpPr/>
          <p:nvPr/>
        </p:nvSpPr>
        <p:spPr>
          <a:xfrm>
            <a:off x="7698928" y="3502152"/>
            <a:ext cx="2005920" cy="0"/>
          </a:xfrm>
          <a:prstGeom prst="line">
            <a:avLst/>
          </a:prstGeom>
          <a:noFill/>
          <a:ln w="9525">
            <a:solidFill>
              <a:srgbClr val="CCCCCC"/>
            </a:solidFill>
            <a:prstDash val="solid"/>
          </a:ln>
        </p:spPr>
      </p:sp>
      <p:sp>
        <p:nvSpPr>
          <p:cNvPr id="26" name="Text 23"/>
          <p:cNvSpPr txBox="1"/>
          <p:nvPr/>
        </p:nvSpPr>
        <p:spPr>
          <a:xfrm>
            <a:off x="7698928" y="3566160"/>
            <a:ext cx="10000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27" name="Text 24"/>
          <p:cNvSpPr txBox="1"/>
          <p:nvPr/>
        </p:nvSpPr>
        <p:spPr>
          <a:xfrm>
            <a:off x="8699008" y="3566160"/>
            <a:ext cx="1005840" cy="41148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4万回</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高齢者向けの移動支援の費用は10年で4億円増えたが、増加分のほぼすべては通院の送迎による。他の区分は横ばいで、増加は1区分に集中している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高齢者向け移動支援の費用の推移</a:t>
            </a:r>
            <a:pPr indent="0" marL="0">
              <a:buNone/>
            </a:pPr>
            <a:r>
              <a:rPr lang="en-US" sz="1100" dirty="0">
                <a:solidFill>
                  <a:srgbClr val="3F3F3F"/>
                </a:solidFill>
                <a:latin typeface="Yu Gothic UI" pitchFamily="34" charset="0"/>
                <a:ea typeface="Yu Gothic UI" pitchFamily="34" charset="-122"/>
                <a:cs typeface="Yu Gothic UI" pitchFamily="34" charset="-120"/>
              </a:rPr>
              <a:t>　（千万円、2015–2025年度）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注）市の一般会計からの支出（委託料・補助金）</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出所）みなと市「決算書」（各年度）を基に作成（名称・数値は架空の見本）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00848" y="224028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5230048" y="2788920"/>
            <a:ext cx="118872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通院の送迎</a:t>
            </a:r>
            <a:endParaRPr lang="en-US" sz="1200" dirty="0"/>
          </a:p>
        </p:txBody>
      </p:sp>
      <p:sp>
        <p:nvSpPr>
          <p:cNvPr id="14" name="Text 10"/>
          <p:cNvSpPr txBox="1"/>
          <p:nvPr/>
        </p:nvSpPr>
        <p:spPr>
          <a:xfrm>
            <a:off x="5230048" y="388620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外出の付添い</a:t>
            </a:r>
            <a:endParaRPr lang="en-US" sz="1200" dirty="0"/>
          </a:p>
        </p:txBody>
      </p:sp>
      <p:sp>
        <p:nvSpPr>
          <p:cNvPr id="15" name="Text 11"/>
          <p:cNvSpPr txBox="1"/>
          <p:nvPr/>
        </p:nvSpPr>
        <p:spPr>
          <a:xfrm>
            <a:off x="5230048" y="4892040"/>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買物の支援</a:t>
            </a:r>
            <a:endParaRPr lang="en-US" sz="1200" dirty="0"/>
          </a:p>
        </p:txBody>
      </p:sp>
      <p:sp>
        <p:nvSpPr>
          <p:cNvPr id="16" name="Text 12"/>
          <p:cNvSpPr txBox="1"/>
          <p:nvPr/>
        </p:nvSpPr>
        <p:spPr>
          <a:xfrm>
            <a:off x="200848" y="1920240"/>
            <a:ext cx="493776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合計 80 → 120</a:t>
            </a:r>
            <a:endParaRPr lang="en-US" sz="1200" dirty="0"/>
          </a:p>
        </p:txBody>
      </p:sp>
      <p:sp>
        <p:nvSpPr>
          <p:cNvPr id="17" name="Shape 13"/>
          <p:cNvSpPr/>
          <p:nvPr/>
        </p:nvSpPr>
        <p:spPr>
          <a:xfrm>
            <a:off x="6687328" y="1874520"/>
            <a:ext cx="3017520" cy="4251960"/>
          </a:xfrm>
          <a:prstGeom prst="rect">
            <a:avLst/>
          </a:prstGeom>
          <a:solidFill>
            <a:srgbClr val="E0EEF8"/>
          </a:solidFill>
          <a:ln/>
        </p:spPr>
      </p:sp>
      <p:sp>
        <p:nvSpPr>
          <p:cNvPr id="18" name="Text 1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10年で4億円増え、12億円になった</a:t>
            </a:r>
            <a:endParaRPr lang="en-US" sz="1400" dirty="0"/>
          </a:p>
        </p:txBody>
      </p:sp>
      <p:sp>
        <p:nvSpPr>
          <p:cNvPr id="19" name="Text 1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増加の40千万円のうち39千万円が通院の送迎による。買物の支援と外出の付添いは横ばい</a:t>
            </a:r>
            <a:endParaRPr lang="en-US" sz="1200" dirty="0"/>
          </a:p>
        </p:txBody>
      </p:sp>
      <p:sp>
        <p:nvSpPr>
          <p:cNvPr id="20" name="Shape 16"/>
          <p:cNvSpPr/>
          <p:nvPr/>
        </p:nvSpPr>
        <p:spPr>
          <a:xfrm>
            <a:off x="6870208" y="3936492"/>
            <a:ext cx="2651760" cy="0"/>
          </a:xfrm>
          <a:prstGeom prst="line">
            <a:avLst/>
          </a:prstGeom>
          <a:noFill/>
          <a:ln w="9525">
            <a:solidFill>
              <a:srgbClr val="CCCCCC"/>
            </a:solidFill>
            <a:prstDash val="solid"/>
          </a:ln>
        </p:spPr>
      </p:sp>
      <p:sp>
        <p:nvSpPr>
          <p:cNvPr id="21" name="Text 1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通院の送迎は5倍になった</a:t>
            </a:r>
            <a:endParaRPr lang="en-US" sz="1400" dirty="0"/>
          </a:p>
        </p:txBody>
      </p:sp>
      <p:sp>
        <p:nvSpPr>
          <p:cNvPr id="22" name="Text 1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10千万円から49千万円へ。予約型交通に置き換えると、送迎の費用の半分を減らせる見込み（試算）</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目指す姿は3つの柱と2つの土台で実現する。最も効果が大きいのは支線の転換であり、予約データの基盤が整わなければどの柱も機能しない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出所）みなと市「地域公共交通計画」（2026年）を基に作成（名称・数値は架空の見本）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00848" y="1920240"/>
            <a:ext cx="9504000" cy="457200"/>
          </a:xfrm>
          <a:prstGeom prst="rect">
            <a:avLst/>
          </a:prstGeom>
          <a:noFill/>
          <a:ln/>
        </p:spPr>
        <p:txBody>
          <a:bodyPr wrap="square" lIns="0" tIns="0" rIns="0" bIns="0" rtlCol="0" anchor="t"/>
          <a:lstStyle/>
          <a:p>
            <a:pPr algn="ctr" indent="0" marL="0">
              <a:buNone/>
            </a:pPr>
            <a:r>
              <a:rPr lang="en-US" sz="1600" b="1" dirty="0">
                <a:solidFill>
                  <a:srgbClr val="3F3F3F"/>
                </a:solidFill>
                <a:latin typeface="Yu Gothic UI" pitchFamily="34" charset="0"/>
                <a:ea typeface="Yu Gothic UI" pitchFamily="34" charset="-122"/>
                <a:cs typeface="Yu Gothic UI" pitchFamily="34" charset="-120"/>
              </a:rPr>
              <a:t>目指す姿：2030年度までに赤字を半減し、通院と通学の足を守る</a:t>
            </a:r>
            <a:endParaRPr lang="en-US" sz="1600" dirty="0"/>
          </a:p>
        </p:txBody>
      </p:sp>
      <p:sp>
        <p:nvSpPr>
          <p:cNvPr id="13" name="Shape 10"/>
          <p:cNvSpPr/>
          <p:nvPr/>
        </p:nvSpPr>
        <p:spPr>
          <a:xfrm>
            <a:off x="200848" y="2514600"/>
            <a:ext cx="9504000" cy="0"/>
          </a:xfrm>
          <a:prstGeom prst="line">
            <a:avLst/>
          </a:prstGeom>
          <a:noFill/>
          <a:ln w="15875">
            <a:solidFill>
              <a:srgbClr val="7F7F7F"/>
            </a:solidFill>
            <a:prstDash val="solid"/>
          </a:ln>
        </p:spPr>
      </p:sp>
      <p:sp>
        <p:nvSpPr>
          <p:cNvPr id="14" name="Shape 11"/>
          <p:cNvSpPr/>
          <p:nvPr/>
        </p:nvSpPr>
        <p:spPr>
          <a:xfrm>
            <a:off x="200848" y="2697480"/>
            <a:ext cx="0" cy="2103120"/>
          </a:xfrm>
          <a:prstGeom prst="line">
            <a:avLst/>
          </a:prstGeom>
          <a:noFill/>
          <a:ln w="25400">
            <a:solidFill>
              <a:srgbClr val="000F78"/>
            </a:solidFill>
            <a:prstDash val="solid"/>
          </a:ln>
        </p:spPr>
      </p:sp>
      <p:sp>
        <p:nvSpPr>
          <p:cNvPr id="15" name="Text 12"/>
          <p:cNvSpPr txBox="1"/>
          <p:nvPr/>
        </p:nvSpPr>
        <p:spPr>
          <a:xfrm>
            <a:off x="383728" y="2743200"/>
            <a:ext cx="27108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383728" y="3063240"/>
            <a:ext cx="27108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支線を転換する</a:t>
            </a:r>
            <a:endParaRPr lang="en-US" sz="1400" dirty="0"/>
          </a:p>
        </p:txBody>
      </p:sp>
      <p:sp>
        <p:nvSpPr>
          <p:cNvPr id="17" name="Text 14"/>
          <p:cNvSpPr txBox="1"/>
          <p:nvPr/>
        </p:nvSpPr>
        <p:spPr>
          <a:xfrm>
            <a:off x="38372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12路線を予約型交通に</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乗降地点を病院に置く</a:t>
            </a:r>
            <a:endParaRPr lang="en-US" sz="1400" dirty="0"/>
          </a:p>
        </p:txBody>
      </p:sp>
      <p:sp>
        <p:nvSpPr>
          <p:cNvPr id="18" name="Shape 15"/>
          <p:cNvSpPr/>
          <p:nvPr/>
        </p:nvSpPr>
        <p:spPr>
          <a:xfrm>
            <a:off x="3460288" y="2697480"/>
            <a:ext cx="0" cy="2103120"/>
          </a:xfrm>
          <a:prstGeom prst="line">
            <a:avLst/>
          </a:prstGeom>
          <a:noFill/>
          <a:ln w="12700">
            <a:solidFill>
              <a:srgbClr val="CCCCCC"/>
            </a:solidFill>
            <a:prstDash val="solid"/>
          </a:ln>
        </p:spPr>
      </p:sp>
      <p:sp>
        <p:nvSpPr>
          <p:cNvPr id="19" name="Text 16"/>
          <p:cNvSpPr txBox="1"/>
          <p:nvPr/>
        </p:nvSpPr>
        <p:spPr>
          <a:xfrm>
            <a:off x="364316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4316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幹線を強くする</a:t>
            </a:r>
            <a:endParaRPr lang="en-US" sz="1400" dirty="0"/>
          </a:p>
        </p:txBody>
      </p:sp>
      <p:sp>
        <p:nvSpPr>
          <p:cNvPr id="21" name="Text 18"/>
          <p:cNvSpPr txBox="1"/>
          <p:nvPr/>
        </p:nvSpPr>
        <p:spPr>
          <a:xfrm>
            <a:off x="364316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1時間3本に増やす</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乗継ぎを30分以内に</a:t>
            </a:r>
            <a:endParaRPr lang="en-US" sz="1400" dirty="0"/>
          </a:p>
        </p:txBody>
      </p:sp>
      <p:sp>
        <p:nvSpPr>
          <p:cNvPr id="22" name="Shape 19"/>
          <p:cNvSpPr/>
          <p:nvPr/>
        </p:nvSpPr>
        <p:spPr>
          <a:xfrm>
            <a:off x="6719728" y="2697480"/>
            <a:ext cx="0" cy="2103120"/>
          </a:xfrm>
          <a:prstGeom prst="line">
            <a:avLst/>
          </a:prstGeom>
          <a:noFill/>
          <a:ln w="12700">
            <a:solidFill>
              <a:srgbClr val="CCCCCC"/>
            </a:solidFill>
            <a:prstDash val="solid"/>
          </a:ln>
        </p:spPr>
      </p:sp>
      <p:sp>
        <p:nvSpPr>
          <p:cNvPr id="23" name="Text 20"/>
          <p:cNvSpPr txBox="1"/>
          <p:nvPr/>
        </p:nvSpPr>
        <p:spPr>
          <a:xfrm>
            <a:off x="6902608" y="2743200"/>
            <a:ext cx="27108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902608" y="3063240"/>
            <a:ext cx="27108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収入を増やす</a:t>
            </a:r>
            <a:endParaRPr lang="en-US" sz="1400" dirty="0"/>
          </a:p>
        </p:txBody>
      </p:sp>
      <p:sp>
        <p:nvSpPr>
          <p:cNvPr id="25" name="Text 22"/>
          <p:cNvSpPr txBox="1"/>
          <p:nvPr/>
        </p:nvSpPr>
        <p:spPr>
          <a:xfrm>
            <a:off x="6902608" y="3566160"/>
            <a:ext cx="2710800" cy="10972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通院の定額乗車券</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企業の送迎と統合</a:t>
            </a:r>
            <a:endParaRPr lang="en-US" sz="1400" dirty="0"/>
          </a:p>
        </p:txBody>
      </p:sp>
      <p:sp>
        <p:nvSpPr>
          <p:cNvPr id="26" name="Shape 23"/>
          <p:cNvSpPr/>
          <p:nvPr/>
        </p:nvSpPr>
        <p:spPr>
          <a:xfrm>
            <a:off x="200848" y="4937760"/>
            <a:ext cx="9504000" cy="0"/>
          </a:xfrm>
          <a:prstGeom prst="line">
            <a:avLst/>
          </a:prstGeom>
          <a:noFill/>
          <a:ln w="15875">
            <a:solidFill>
              <a:srgbClr val="7F7F7F"/>
            </a:solidFill>
            <a:prstDash val="solid"/>
          </a:ln>
        </p:spPr>
      </p:sp>
      <p:sp>
        <p:nvSpPr>
          <p:cNvPr id="27" name="Text 24"/>
          <p:cNvSpPr txBox="1"/>
          <p:nvPr/>
        </p:nvSpPr>
        <p:spPr>
          <a:xfrm>
            <a:off x="200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土台1　予約と乗降のデータ基盤</a:t>
            </a:r>
            <a:endParaRPr lang="en-US" sz="1400" dirty="0"/>
          </a:p>
        </p:txBody>
      </p:sp>
      <p:sp>
        <p:nvSpPr>
          <p:cNvPr id="28" name="Text 25"/>
          <p:cNvSpPr txBox="1"/>
          <p:nvPr/>
        </p:nvSpPr>
        <p:spPr>
          <a:xfrm>
            <a:off x="4952848" y="5074920"/>
            <a:ext cx="456912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土台2　推進室と運転士の確保</a:t>
            </a:r>
            <a:endParaRPr lang="en-US" sz="1400" dirty="0"/>
          </a:p>
        </p:txBody>
      </p:sp>
      <p:sp>
        <p:nvSpPr>
          <p:cNvPr id="29" name="Shape 26"/>
          <p:cNvSpPr/>
          <p:nvPr/>
        </p:nvSpPr>
        <p:spPr>
          <a:xfrm>
            <a:off x="4952848" y="5029200"/>
            <a:ext cx="0" cy="502920"/>
          </a:xfrm>
          <a:prstGeom prst="line">
            <a:avLst/>
          </a:prstGeom>
          <a:noFill/>
          <a:ln w="9525">
            <a:solidFill>
              <a:srgbClr val="CCCCCC"/>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利用登録の5工程を3観点で点検すると、課題は受付と確認の2工程に集中している。両工程の手作業を減らせば、処理時間を半分にできる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工程別・観点別の課題</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業務調査（2025年）を基に作成（名称・数値は架空の見本）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043765" y="1965960"/>
            <a:ext cx="1113097" cy="457200"/>
          </a:xfrm>
          <a:prstGeom prst="homePlate">
            <a:avLst/>
          </a:prstGeom>
          <a:solidFill>
            <a:srgbClr val="CCCCCC"/>
          </a:solidFill>
          <a:ln/>
        </p:spPr>
      </p:sp>
      <p:sp>
        <p:nvSpPr>
          <p:cNvPr id="13" name="Shape 10"/>
          <p:cNvSpPr/>
          <p:nvPr/>
        </p:nvSpPr>
        <p:spPr>
          <a:xfrm>
            <a:off x="2126758" y="1965960"/>
            <a:ext cx="1113097" cy="457200"/>
          </a:xfrm>
          <a:prstGeom prst="chevron">
            <a:avLst/>
          </a:prstGeom>
          <a:solidFill>
            <a:srgbClr val="000F78"/>
          </a:solidFill>
          <a:ln/>
        </p:spPr>
      </p:sp>
      <p:sp>
        <p:nvSpPr>
          <p:cNvPr id="14" name="Shape 11"/>
          <p:cNvSpPr/>
          <p:nvPr/>
        </p:nvSpPr>
        <p:spPr>
          <a:xfrm>
            <a:off x="3209750" y="1965960"/>
            <a:ext cx="1113097" cy="457200"/>
          </a:xfrm>
          <a:prstGeom prst="chevron">
            <a:avLst/>
          </a:prstGeom>
          <a:solidFill>
            <a:srgbClr val="000F78"/>
          </a:solidFill>
          <a:ln/>
        </p:spPr>
      </p:sp>
      <p:sp>
        <p:nvSpPr>
          <p:cNvPr id="15" name="Shape 12"/>
          <p:cNvSpPr/>
          <p:nvPr/>
        </p:nvSpPr>
        <p:spPr>
          <a:xfrm>
            <a:off x="4292743" y="1965960"/>
            <a:ext cx="1113097" cy="457200"/>
          </a:xfrm>
          <a:prstGeom prst="chevron">
            <a:avLst/>
          </a:prstGeom>
          <a:solidFill>
            <a:srgbClr val="CCCCCC"/>
          </a:solidFill>
          <a:ln/>
        </p:spPr>
      </p:sp>
      <p:sp>
        <p:nvSpPr>
          <p:cNvPr id="16" name="Shape 13"/>
          <p:cNvSpPr/>
          <p:nvPr/>
        </p:nvSpPr>
        <p:spPr>
          <a:xfrm>
            <a:off x="5375735" y="1965960"/>
            <a:ext cx="1082993" cy="457200"/>
          </a:xfrm>
          <a:prstGeom prst="chevron">
            <a:avLst/>
          </a:prstGeom>
          <a:solidFill>
            <a:srgbClr val="CCCCCC"/>
          </a:solidFill>
          <a:ln/>
        </p:spPr>
      </p:sp>
      <p:sp>
        <p:nvSpPr>
          <p:cNvPr id="17" name="Text 14"/>
          <p:cNvSpPr txBox="1"/>
          <p:nvPr/>
        </p:nvSpPr>
        <p:spPr>
          <a:xfrm>
            <a:off x="1164182"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2247174"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3330167" y="1965960"/>
            <a:ext cx="1370448"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4413159" y="1965960"/>
            <a:ext cx="1370448"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登録</a:t>
            </a:r>
            <a:endParaRPr lang="en-US" sz="1400" dirty="0"/>
          </a:p>
        </p:txBody>
      </p:sp>
      <p:sp>
        <p:nvSpPr>
          <p:cNvPr id="21" name="Text 18"/>
          <p:cNvSpPr txBox="1"/>
          <p:nvPr/>
        </p:nvSpPr>
        <p:spPr>
          <a:xfrm>
            <a:off x="5496152" y="1965960"/>
            <a:ext cx="962576" cy="4572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00848" y="260604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00848" y="3657600"/>
            <a:ext cx="6257880" cy="0"/>
          </a:xfrm>
          <a:prstGeom prst="line">
            <a:avLst/>
          </a:prstGeom>
          <a:noFill/>
          <a:ln w="9525">
            <a:solidFill>
              <a:srgbClr val="CCCCCC"/>
            </a:solidFill>
            <a:prstDash val="solid"/>
          </a:ln>
        </p:spPr>
      </p:sp>
      <p:sp>
        <p:nvSpPr>
          <p:cNvPr id="24" name="Text 21"/>
          <p:cNvSpPr txBox="1"/>
          <p:nvPr/>
        </p:nvSpPr>
        <p:spPr>
          <a:xfrm>
            <a:off x="2186966" y="260604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3269958" y="260604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5435943" y="2606040"/>
            <a:ext cx="962576"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郵送で2日</a:t>
            </a:r>
            <a:endParaRPr lang="en-US" sz="1400" dirty="0"/>
          </a:p>
        </p:txBody>
      </p:sp>
      <p:sp>
        <p:nvSpPr>
          <p:cNvPr id="27" name="Text 24"/>
          <p:cNvSpPr txBox="1"/>
          <p:nvPr/>
        </p:nvSpPr>
        <p:spPr>
          <a:xfrm>
            <a:off x="200848" y="365760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品質</a:t>
            </a:r>
            <a:endParaRPr lang="en-US" sz="1400" dirty="0"/>
          </a:p>
        </p:txBody>
      </p:sp>
      <p:sp>
        <p:nvSpPr>
          <p:cNvPr id="28" name="Shape 25"/>
          <p:cNvSpPr/>
          <p:nvPr/>
        </p:nvSpPr>
        <p:spPr>
          <a:xfrm>
            <a:off x="200848" y="4709160"/>
            <a:ext cx="6257880" cy="0"/>
          </a:xfrm>
          <a:prstGeom prst="line">
            <a:avLst/>
          </a:prstGeom>
          <a:noFill/>
          <a:ln w="9525">
            <a:solidFill>
              <a:srgbClr val="CCCCCC"/>
            </a:solidFill>
            <a:prstDash val="solid"/>
          </a:ln>
        </p:spPr>
      </p:sp>
      <p:sp>
        <p:nvSpPr>
          <p:cNvPr id="29" name="Text 26"/>
          <p:cNvSpPr txBox="1"/>
          <p:nvPr/>
        </p:nvSpPr>
        <p:spPr>
          <a:xfrm>
            <a:off x="3269958" y="365760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30" name="Text 27"/>
          <p:cNvSpPr txBox="1"/>
          <p:nvPr/>
        </p:nvSpPr>
        <p:spPr>
          <a:xfrm>
            <a:off x="200848" y="4709160"/>
            <a:ext cx="782709" cy="10515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31" name="Text 28"/>
          <p:cNvSpPr txBox="1"/>
          <p:nvPr/>
        </p:nvSpPr>
        <p:spPr>
          <a:xfrm>
            <a:off x="1103973" y="4709160"/>
            <a:ext cx="962576"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2186966" y="4709160"/>
            <a:ext cx="962576" cy="10515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3" name="Shape 30"/>
          <p:cNvSpPr/>
          <p:nvPr/>
        </p:nvSpPr>
        <p:spPr>
          <a:xfrm>
            <a:off x="2126758" y="2514600"/>
            <a:ext cx="2165985" cy="3291840"/>
          </a:xfrm>
          <a:prstGeom prst="rect">
            <a:avLst/>
          </a:prstGeom>
          <a:ln w="19050">
            <a:solidFill>
              <a:srgbClr val="000F78"/>
            </a:solidFill>
            <a:prstDash val="solid"/>
          </a:ln>
        </p:spPr>
      </p:sp>
      <p:sp>
        <p:nvSpPr>
          <p:cNvPr id="34" name="Shape 31"/>
          <p:cNvSpPr/>
          <p:nvPr/>
        </p:nvSpPr>
        <p:spPr>
          <a:xfrm>
            <a:off x="6687328" y="1874520"/>
            <a:ext cx="3017520" cy="4251960"/>
          </a:xfrm>
          <a:prstGeom prst="rect">
            <a:avLst/>
          </a:prstGeom>
          <a:solidFill>
            <a:srgbClr val="E0EEF8"/>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課題の7割は受付と確認に集中する</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受付では入力に平均20分、確認では差戻しで3日待ちが生じる。誤り率8%も受付の手入力が原因である。登録と通知の工程には、大きな課題はない</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受付をオンラインにすれば2工程とも縮む</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申込の内容がそのまま台帳に入り、転記と差戻しがなくなる。処理時間は平均6日から3日に縮む。システムの改修費は約600万円で、1年で回収できる</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施策は3年で段階的に広げ、2年目の運転士の再配置が3年目の目標達成の鍵となる。初年度は基盤づくりに集中し、成果を急がない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3F3F3F"/>
                </a:solidFill>
                <a:latin typeface="Yu Gothic UI" pitchFamily="34" charset="0"/>
                <a:ea typeface="Yu Gothic UI" pitchFamily="34" charset="-122"/>
                <a:cs typeface="Yu Gothic UI" pitchFamily="34" charset="-120"/>
              </a:rPr>
              <a:t>　（2027〜2029年度）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00848" y="1965960"/>
            <a:ext cx="25603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a:t>
            </a:r>
            <a:endParaRPr lang="en-US" sz="1400" dirty="0"/>
          </a:p>
        </p:txBody>
      </p:sp>
      <p:sp>
        <p:nvSpPr>
          <p:cNvPr id="13" name="Text 10"/>
          <p:cNvSpPr txBox="1"/>
          <p:nvPr/>
        </p:nvSpPr>
        <p:spPr>
          <a:xfrm>
            <a:off x="276116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2027年度</a:t>
            </a:r>
            <a:endParaRPr lang="en-US" sz="1200" dirty="0"/>
          </a:p>
        </p:txBody>
      </p:sp>
      <p:sp>
        <p:nvSpPr>
          <p:cNvPr id="14" name="Text 11"/>
          <p:cNvSpPr txBox="1"/>
          <p:nvPr/>
        </p:nvSpPr>
        <p:spPr>
          <a:xfrm>
            <a:off x="507572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2028年度</a:t>
            </a:r>
            <a:endParaRPr lang="en-US" sz="1200" dirty="0"/>
          </a:p>
        </p:txBody>
      </p:sp>
      <p:sp>
        <p:nvSpPr>
          <p:cNvPr id="15" name="Text 12"/>
          <p:cNvSpPr txBox="1"/>
          <p:nvPr/>
        </p:nvSpPr>
        <p:spPr>
          <a:xfrm>
            <a:off x="7390288" y="1965960"/>
            <a:ext cx="231456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2029年度</a:t>
            </a:r>
            <a:endParaRPr lang="en-US" sz="1200" dirty="0"/>
          </a:p>
        </p:txBody>
      </p:sp>
      <p:sp>
        <p:nvSpPr>
          <p:cNvPr id="16" name="Shape 13"/>
          <p:cNvSpPr/>
          <p:nvPr/>
        </p:nvSpPr>
        <p:spPr>
          <a:xfrm>
            <a:off x="200848" y="2350008"/>
            <a:ext cx="9504000" cy="0"/>
          </a:xfrm>
          <a:prstGeom prst="line">
            <a:avLst/>
          </a:prstGeom>
          <a:noFill/>
          <a:ln w="12700">
            <a:solidFill>
              <a:srgbClr val="7F7F7F"/>
            </a:solidFill>
            <a:prstDash val="solid"/>
          </a:ln>
        </p:spPr>
      </p:sp>
      <p:sp>
        <p:nvSpPr>
          <p:cNvPr id="17" name="Text 14"/>
          <p:cNvSpPr txBox="1"/>
          <p:nvPr/>
        </p:nvSpPr>
        <p:spPr>
          <a:xfrm>
            <a:off x="200848" y="2423160"/>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支線の予約型転換</a:t>
            </a:r>
            <a:endParaRPr lang="en-US" sz="1400" dirty="0"/>
          </a:p>
        </p:txBody>
      </p:sp>
      <p:sp>
        <p:nvSpPr>
          <p:cNvPr id="18" name="Text 15"/>
          <p:cNvSpPr txBox="1"/>
          <p:nvPr/>
        </p:nvSpPr>
        <p:spPr>
          <a:xfrm>
            <a:off x="285260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2地区で試行する</a:t>
            </a:r>
            <a:endParaRPr lang="en-US" sz="1400" dirty="0"/>
          </a:p>
        </p:txBody>
      </p:sp>
      <p:sp>
        <p:nvSpPr>
          <p:cNvPr id="19" name="Text 16"/>
          <p:cNvSpPr txBox="1"/>
          <p:nvPr/>
        </p:nvSpPr>
        <p:spPr>
          <a:xfrm>
            <a:off x="516716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6路線に広げる</a:t>
            </a:r>
            <a:endParaRPr lang="en-US" sz="1400" dirty="0"/>
          </a:p>
        </p:txBody>
      </p:sp>
      <p:sp>
        <p:nvSpPr>
          <p:cNvPr id="20" name="Text 17"/>
          <p:cNvSpPr txBox="1"/>
          <p:nvPr/>
        </p:nvSpPr>
        <p:spPr>
          <a:xfrm>
            <a:off x="7481728" y="2423160"/>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全12路線に広げる</a:t>
            </a:r>
            <a:endParaRPr lang="en-US" sz="1400" dirty="0"/>
          </a:p>
        </p:txBody>
      </p:sp>
      <p:sp>
        <p:nvSpPr>
          <p:cNvPr id="21" name="Shape 18"/>
          <p:cNvSpPr/>
          <p:nvPr/>
        </p:nvSpPr>
        <p:spPr>
          <a:xfrm>
            <a:off x="200848" y="3246120"/>
            <a:ext cx="9504000" cy="0"/>
          </a:xfrm>
          <a:prstGeom prst="line">
            <a:avLst/>
          </a:prstGeom>
          <a:noFill/>
          <a:ln w="9525">
            <a:solidFill>
              <a:srgbClr val="CCCCCC"/>
            </a:solidFill>
            <a:prstDash val="solid"/>
          </a:ln>
        </p:spPr>
      </p:sp>
      <p:sp>
        <p:nvSpPr>
          <p:cNvPr id="22" name="Text 19"/>
          <p:cNvSpPr txBox="1"/>
          <p:nvPr/>
        </p:nvSpPr>
        <p:spPr>
          <a:xfrm>
            <a:off x="200848" y="3273552"/>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運転士の再配置</a:t>
            </a:r>
            <a:endParaRPr lang="en-US" sz="1400" dirty="0"/>
          </a:p>
        </p:txBody>
      </p:sp>
      <p:sp>
        <p:nvSpPr>
          <p:cNvPr id="23" name="Text 20"/>
          <p:cNvSpPr txBox="1"/>
          <p:nvPr/>
        </p:nvSpPr>
        <p:spPr>
          <a:xfrm>
            <a:off x="285260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配置計画を作る</a:t>
            </a:r>
            <a:endParaRPr lang="en-US" sz="1400" dirty="0"/>
          </a:p>
        </p:txBody>
      </p:sp>
      <p:sp>
        <p:nvSpPr>
          <p:cNvPr id="24" name="Shape 21"/>
          <p:cNvSpPr/>
          <p:nvPr/>
        </p:nvSpPr>
        <p:spPr>
          <a:xfrm>
            <a:off x="5112304" y="3328416"/>
            <a:ext cx="2241408" cy="667512"/>
          </a:xfrm>
          <a:prstGeom prst="rect">
            <a:avLst/>
          </a:prstGeom>
          <a:solidFill>
            <a:srgbClr val="C1DDF1"/>
          </a:solidFill>
          <a:ln/>
        </p:spPr>
      </p:sp>
      <p:sp>
        <p:nvSpPr>
          <p:cNvPr id="25" name="Text 22"/>
          <p:cNvSpPr txBox="1"/>
          <p:nvPr/>
        </p:nvSpPr>
        <p:spPr>
          <a:xfrm>
            <a:off x="5167168" y="3273552"/>
            <a:ext cx="2131680" cy="758952"/>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10人を幹線に移す</a:t>
            </a:r>
            <a:endParaRPr lang="en-US" sz="1400" dirty="0"/>
          </a:p>
        </p:txBody>
      </p:sp>
      <p:sp>
        <p:nvSpPr>
          <p:cNvPr id="26" name="Text 23"/>
          <p:cNvSpPr txBox="1"/>
          <p:nvPr/>
        </p:nvSpPr>
        <p:spPr>
          <a:xfrm>
            <a:off x="7481728" y="3273552"/>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幹線を1時間3本に</a:t>
            </a:r>
            <a:endParaRPr lang="en-US" sz="1400" dirty="0"/>
          </a:p>
        </p:txBody>
      </p:sp>
      <p:sp>
        <p:nvSpPr>
          <p:cNvPr id="27" name="Shape 24"/>
          <p:cNvSpPr/>
          <p:nvPr/>
        </p:nvSpPr>
        <p:spPr>
          <a:xfrm>
            <a:off x="200848" y="4096512"/>
            <a:ext cx="9504000" cy="0"/>
          </a:xfrm>
          <a:prstGeom prst="line">
            <a:avLst/>
          </a:prstGeom>
          <a:noFill/>
          <a:ln w="9525">
            <a:solidFill>
              <a:srgbClr val="CCCCCC"/>
            </a:solidFill>
            <a:prstDash val="solid"/>
          </a:ln>
        </p:spPr>
      </p:sp>
      <p:sp>
        <p:nvSpPr>
          <p:cNvPr id="28" name="Text 25"/>
          <p:cNvSpPr txBox="1"/>
          <p:nvPr/>
        </p:nvSpPr>
        <p:spPr>
          <a:xfrm>
            <a:off x="200848" y="4123944"/>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予約センター</a:t>
            </a:r>
            <a:endParaRPr lang="en-US" sz="1400" dirty="0"/>
          </a:p>
        </p:txBody>
      </p:sp>
      <p:sp>
        <p:nvSpPr>
          <p:cNvPr id="29" name="Text 26"/>
          <p:cNvSpPr txBox="1"/>
          <p:nvPr/>
        </p:nvSpPr>
        <p:spPr>
          <a:xfrm>
            <a:off x="285260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0" name="Text 27"/>
          <p:cNvSpPr txBox="1"/>
          <p:nvPr/>
        </p:nvSpPr>
        <p:spPr>
          <a:xfrm>
            <a:off x="516716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窓口を一本化する</a:t>
            </a:r>
            <a:endParaRPr lang="en-US" sz="1400" dirty="0"/>
          </a:p>
        </p:txBody>
      </p:sp>
      <p:sp>
        <p:nvSpPr>
          <p:cNvPr id="31" name="Text 28"/>
          <p:cNvSpPr txBox="1"/>
          <p:nvPr/>
        </p:nvSpPr>
        <p:spPr>
          <a:xfrm>
            <a:off x="7481728" y="4123944"/>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問合せも集約する</a:t>
            </a:r>
            <a:endParaRPr lang="en-US" sz="1400" dirty="0"/>
          </a:p>
        </p:txBody>
      </p:sp>
      <p:sp>
        <p:nvSpPr>
          <p:cNvPr id="32" name="Shape 29"/>
          <p:cNvSpPr/>
          <p:nvPr/>
        </p:nvSpPr>
        <p:spPr>
          <a:xfrm>
            <a:off x="200848" y="4946904"/>
            <a:ext cx="9504000" cy="0"/>
          </a:xfrm>
          <a:prstGeom prst="line">
            <a:avLst/>
          </a:prstGeom>
          <a:noFill/>
          <a:ln w="9525">
            <a:solidFill>
              <a:srgbClr val="CCCCCC"/>
            </a:solidFill>
            <a:prstDash val="solid"/>
          </a:ln>
        </p:spPr>
      </p:sp>
      <p:sp>
        <p:nvSpPr>
          <p:cNvPr id="33" name="Text 30"/>
          <p:cNvSpPr txBox="1"/>
          <p:nvPr/>
        </p:nvSpPr>
        <p:spPr>
          <a:xfrm>
            <a:off x="200848" y="4974336"/>
            <a:ext cx="2468880" cy="7589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endParaRPr lang="en-US" sz="1400" dirty="0"/>
          </a:p>
        </p:txBody>
      </p:sp>
      <p:sp>
        <p:nvSpPr>
          <p:cNvPr id="34" name="Text 31"/>
          <p:cNvSpPr txBox="1"/>
          <p:nvPr/>
        </p:nvSpPr>
        <p:spPr>
          <a:xfrm>
            <a:off x="285260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推進室を設ける</a:t>
            </a:r>
            <a:endParaRPr lang="en-US" sz="1400" dirty="0"/>
          </a:p>
        </p:txBody>
      </p:sp>
      <p:sp>
        <p:nvSpPr>
          <p:cNvPr id="35" name="Text 32"/>
          <p:cNvSpPr txBox="1"/>
          <p:nvPr/>
        </p:nvSpPr>
        <p:spPr>
          <a:xfrm>
            <a:off x="516716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人員を2人増やす</a:t>
            </a:r>
            <a:endParaRPr lang="en-US" sz="1400" dirty="0"/>
          </a:p>
        </p:txBody>
      </p:sp>
      <p:sp>
        <p:nvSpPr>
          <p:cNvPr id="36" name="Text 33"/>
          <p:cNvSpPr txBox="1"/>
          <p:nvPr/>
        </p:nvSpPr>
        <p:spPr>
          <a:xfrm>
            <a:off x="7481728" y="4974336"/>
            <a:ext cx="2131680" cy="75895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収支を自立させる</a:t>
            </a:r>
            <a:endParaRPr lang="en-US" sz="1400" dirty="0"/>
          </a:p>
        </p:txBody>
      </p:sp>
      <p:sp>
        <p:nvSpPr>
          <p:cNvPr id="37" name="Shape 34"/>
          <p:cNvSpPr/>
          <p:nvPr/>
        </p:nvSpPr>
        <p:spPr>
          <a:xfrm>
            <a:off x="5075728" y="2423160"/>
            <a:ext cx="0" cy="3310128"/>
          </a:xfrm>
          <a:prstGeom prst="line">
            <a:avLst/>
          </a:prstGeom>
          <a:noFill/>
          <a:ln w="9525">
            <a:solidFill>
              <a:srgbClr val="CCCCCC"/>
            </a:solidFill>
            <a:prstDash val="sysDot"/>
          </a:ln>
        </p:spPr>
      </p:sp>
      <p:sp>
        <p:nvSpPr>
          <p:cNvPr id="38" name="Shape 35"/>
          <p:cNvSpPr/>
          <p:nvPr/>
        </p:nvSpPr>
        <p:spPr>
          <a:xfrm>
            <a:off x="7390288" y="2423160"/>
            <a:ext cx="0" cy="3310128"/>
          </a:xfrm>
          <a:prstGeom prst="line">
            <a:avLst/>
          </a:prstGeom>
          <a:noFill/>
          <a:ln w="9525">
            <a:solidFill>
              <a:srgbClr val="CCCCCC"/>
            </a:solidFill>
            <a:prstDash val="sysDot"/>
          </a:ln>
        </p:spPr>
      </p:sp>
      <p:sp>
        <p:nvSpPr>
          <p:cNvPr id="39" name="Text 36"/>
          <p:cNvSpPr txBox="1"/>
          <p:nvPr/>
        </p:nvSpPr>
        <p:spPr>
          <a:xfrm>
            <a:off x="200848" y="5916168"/>
            <a:ext cx="95040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注）網かけは3年目の目標達成の鍵になる取組</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便数が増えるほど利用者と収入が増え、さらに便数を増やせる好循環を作れる。最初の1年は、起点となる幹線の増便に投資を集中すべきである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起点：幹線の</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CCCCCC"/>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CCCCCC"/>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CCCCCC"/>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327408" y="196596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投資を集中する点</a:t>
            </a:r>
            <a:endParaRPr lang="en-US" sz="1400" dirty="0"/>
          </a:p>
        </p:txBody>
      </p:sp>
      <p:sp>
        <p:nvSpPr>
          <p:cNvPr id="25" name="Shape 22"/>
          <p:cNvSpPr/>
          <p:nvPr/>
        </p:nvSpPr>
        <p:spPr>
          <a:xfrm>
            <a:off x="7327408" y="2313432"/>
            <a:ext cx="2377440" cy="0"/>
          </a:xfrm>
          <a:prstGeom prst="line">
            <a:avLst/>
          </a:prstGeom>
          <a:noFill/>
          <a:ln w="15875">
            <a:solidFill>
              <a:srgbClr val="3F3F3F"/>
            </a:solidFill>
            <a:prstDash val="solid"/>
          </a:ln>
        </p:spPr>
      </p:sp>
      <p:sp>
        <p:nvSpPr>
          <p:cNvPr id="26" name="Text 23"/>
          <p:cNvSpPr txBox="1"/>
          <p:nvPr/>
        </p:nvSpPr>
        <p:spPr>
          <a:xfrm>
            <a:off x="7327408" y="2468880"/>
            <a:ext cx="2377440" cy="10972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幹線を1時間2本から3本へ増やす（年3,600万円の追加費用）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地域交通の付加価値の半分は下流の運行管理と予約で生まれるが、市内の事業者は車両の運行に偏る。下流への展開が収益改善の鍵となる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地域交通の機能別の付加価値の配分</a:t>
            </a:r>
            <a:pPr indent="0" marL="0">
              <a:buNone/>
            </a:pPr>
            <a:r>
              <a:rPr lang="en-US" sz="1100" dirty="0">
                <a:solidFill>
                  <a:srgbClr val="3F3F3F"/>
                </a:solidFill>
                <a:latin typeface="Yu Gothic UI" pitchFamily="34" charset="0"/>
                <a:ea typeface="Yu Gothic UI" pitchFamily="34" charset="-122"/>
                <a:cs typeface="Yu Gothic UI" pitchFamily="34" charset="-120"/>
              </a:rPr>
              <a:t>　（%、2025年度）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注）付加価値＝売上高−外部購入費。市内の交通事業者3社の合計で、市外の事業者の付加価値は受託額から推計した。段階の区分は事業者への聞き取りによる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出所）事業者3社の決算資料を基に作成（名称・数値は架空の見本）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00848" y="2011680"/>
            <a:ext cx="1323826" cy="685800"/>
          </a:xfrm>
          <a:prstGeom prst="homePlate">
            <a:avLst/>
          </a:prstGeom>
          <a:solidFill>
            <a:srgbClr val="CCCCCC"/>
          </a:solidFill>
          <a:ln/>
        </p:spPr>
      </p:sp>
      <p:sp>
        <p:nvSpPr>
          <p:cNvPr id="13" name="Text 10"/>
          <p:cNvSpPr txBox="1"/>
          <p:nvPr/>
        </p:nvSpPr>
        <p:spPr>
          <a:xfrm>
            <a:off x="38147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路線の計画</a:t>
            </a:r>
            <a:endParaRPr lang="en-US" sz="1400" dirty="0"/>
          </a:p>
        </p:txBody>
      </p:sp>
      <p:sp>
        <p:nvSpPr>
          <p:cNvPr id="14" name="Text 11"/>
          <p:cNvSpPr txBox="1"/>
          <p:nvPr/>
        </p:nvSpPr>
        <p:spPr>
          <a:xfrm>
            <a:off x="26105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652031" y="5138928"/>
            <a:ext cx="301042" cy="256032"/>
          </a:xfrm>
          <a:prstGeom prst="rect">
            <a:avLst/>
          </a:prstGeom>
          <a:solidFill>
            <a:srgbClr val="CCCCCC"/>
          </a:solidFill>
          <a:ln/>
        </p:spPr>
      </p:sp>
      <p:sp>
        <p:nvSpPr>
          <p:cNvPr id="16" name="Shape 13"/>
          <p:cNvSpPr/>
          <p:nvPr/>
        </p:nvSpPr>
        <p:spPr>
          <a:xfrm>
            <a:off x="1434361" y="2011680"/>
            <a:ext cx="1323826" cy="685800"/>
          </a:xfrm>
          <a:prstGeom prst="chevron">
            <a:avLst/>
          </a:prstGeom>
          <a:solidFill>
            <a:srgbClr val="CCCCCC"/>
          </a:solidFill>
          <a:ln/>
        </p:spPr>
      </p:sp>
      <p:sp>
        <p:nvSpPr>
          <p:cNvPr id="17" name="Text 14"/>
          <p:cNvSpPr txBox="1"/>
          <p:nvPr/>
        </p:nvSpPr>
        <p:spPr>
          <a:xfrm>
            <a:off x="1614986"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車両の調達</a:t>
            </a:r>
            <a:endParaRPr lang="en-US" sz="1400" dirty="0"/>
          </a:p>
        </p:txBody>
      </p:sp>
      <p:sp>
        <p:nvSpPr>
          <p:cNvPr id="18" name="Text 15"/>
          <p:cNvSpPr txBox="1"/>
          <p:nvPr/>
        </p:nvSpPr>
        <p:spPr>
          <a:xfrm>
            <a:off x="1494569"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1885545" y="5010912"/>
            <a:ext cx="301042" cy="384048"/>
          </a:xfrm>
          <a:prstGeom prst="rect">
            <a:avLst/>
          </a:prstGeom>
          <a:solidFill>
            <a:srgbClr val="CCCCCC"/>
          </a:solidFill>
          <a:ln/>
        </p:spPr>
      </p:sp>
      <p:sp>
        <p:nvSpPr>
          <p:cNvPr id="20" name="Shape 17"/>
          <p:cNvSpPr/>
          <p:nvPr/>
        </p:nvSpPr>
        <p:spPr>
          <a:xfrm>
            <a:off x="2667875" y="2011680"/>
            <a:ext cx="1323826" cy="685800"/>
          </a:xfrm>
          <a:prstGeom prst="chevron">
            <a:avLst/>
          </a:prstGeom>
          <a:solidFill>
            <a:srgbClr val="CCCCCC"/>
          </a:solidFill>
          <a:ln/>
        </p:spPr>
      </p:sp>
      <p:sp>
        <p:nvSpPr>
          <p:cNvPr id="21" name="Text 18"/>
          <p:cNvSpPr txBox="1"/>
          <p:nvPr/>
        </p:nvSpPr>
        <p:spPr>
          <a:xfrm>
            <a:off x="2848500"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車両の運行</a:t>
            </a:r>
            <a:endParaRPr lang="en-US" sz="1400" dirty="0"/>
          </a:p>
        </p:txBody>
      </p:sp>
      <p:sp>
        <p:nvSpPr>
          <p:cNvPr id="22" name="Text 19"/>
          <p:cNvSpPr txBox="1"/>
          <p:nvPr/>
        </p:nvSpPr>
        <p:spPr>
          <a:xfrm>
            <a:off x="2728083"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3119058" y="4754880"/>
            <a:ext cx="301042" cy="640080"/>
          </a:xfrm>
          <a:prstGeom prst="rect">
            <a:avLst/>
          </a:prstGeom>
          <a:solidFill>
            <a:srgbClr val="CCCCCC"/>
          </a:solidFill>
          <a:ln/>
        </p:spPr>
      </p:sp>
      <p:sp>
        <p:nvSpPr>
          <p:cNvPr id="24" name="Shape 21"/>
          <p:cNvSpPr/>
          <p:nvPr/>
        </p:nvSpPr>
        <p:spPr>
          <a:xfrm>
            <a:off x="3901388" y="2011680"/>
            <a:ext cx="1323826" cy="685800"/>
          </a:xfrm>
          <a:prstGeom prst="chevron">
            <a:avLst/>
          </a:prstGeom>
          <a:solidFill>
            <a:srgbClr val="CCCCCC"/>
          </a:solidFill>
          <a:ln/>
        </p:spPr>
      </p:sp>
      <p:sp>
        <p:nvSpPr>
          <p:cNvPr id="25" name="Text 22"/>
          <p:cNvSpPr txBox="1"/>
          <p:nvPr/>
        </p:nvSpPr>
        <p:spPr>
          <a:xfrm>
            <a:off x="4082013" y="2011680"/>
            <a:ext cx="992680" cy="68580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案内・販売</a:t>
            </a:r>
            <a:endParaRPr lang="en-US" sz="1400" dirty="0"/>
          </a:p>
        </p:txBody>
      </p:sp>
      <p:sp>
        <p:nvSpPr>
          <p:cNvPr id="26" name="Text 23"/>
          <p:cNvSpPr txBox="1"/>
          <p:nvPr/>
        </p:nvSpPr>
        <p:spPr>
          <a:xfrm>
            <a:off x="3961596" y="2926080"/>
            <a:ext cx="1143201" cy="548640"/>
          </a:xfrm>
          <a:prstGeom prst="rect">
            <a:avLst/>
          </a:prstGeom>
          <a:noFill/>
          <a:ln/>
        </p:spPr>
        <p:txBody>
          <a:bodyPr wrap="square" lIns="0" tIns="0" rIns="0" bIns="0" rtlCol="0" anchor="t"/>
          <a:lstStyle/>
          <a:p>
            <a:pPr algn="ctr" indent="0" marL="0">
              <a:buNone/>
            </a:pPr>
            <a:r>
              <a:rPr lang="en-US" sz="2400" b="1" dirty="0">
                <a:solidFill>
                  <a:srgbClr val="3F3F3F"/>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4352572" y="5074920"/>
            <a:ext cx="301042" cy="320040"/>
          </a:xfrm>
          <a:prstGeom prst="rect">
            <a:avLst/>
          </a:prstGeom>
          <a:solidFill>
            <a:srgbClr val="CCCCCC"/>
          </a:solidFill>
          <a:ln/>
        </p:spPr>
      </p:sp>
      <p:sp>
        <p:nvSpPr>
          <p:cNvPr id="28" name="Shape 25"/>
          <p:cNvSpPr/>
          <p:nvPr/>
        </p:nvSpPr>
        <p:spPr>
          <a:xfrm>
            <a:off x="5134902" y="2011680"/>
            <a:ext cx="1323826" cy="685800"/>
          </a:xfrm>
          <a:prstGeom prst="chevron">
            <a:avLst/>
          </a:prstGeom>
          <a:solidFill>
            <a:srgbClr val="000F78"/>
          </a:solidFill>
          <a:ln/>
        </p:spPr>
      </p:sp>
      <p:sp>
        <p:nvSpPr>
          <p:cNvPr id="29" name="Text 26"/>
          <p:cNvSpPr txBox="1"/>
          <p:nvPr/>
        </p:nvSpPr>
        <p:spPr>
          <a:xfrm>
            <a:off x="5315527" y="2011680"/>
            <a:ext cx="99268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運行管理・予約</a:t>
            </a:r>
            <a:endParaRPr lang="en-US" sz="1400" dirty="0"/>
          </a:p>
        </p:txBody>
      </p:sp>
      <p:sp>
        <p:nvSpPr>
          <p:cNvPr id="30" name="Text 27"/>
          <p:cNvSpPr txBox="1"/>
          <p:nvPr/>
        </p:nvSpPr>
        <p:spPr>
          <a:xfrm>
            <a:off x="5195110" y="2926080"/>
            <a:ext cx="1143201"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5586085" y="3794760"/>
            <a:ext cx="301042" cy="1600200"/>
          </a:xfrm>
          <a:prstGeom prst="rect">
            <a:avLst/>
          </a:prstGeom>
          <a:solidFill>
            <a:srgbClr val="7F7F7F"/>
          </a:solidFill>
          <a:ln/>
        </p:spPr>
      </p:sp>
      <p:sp>
        <p:nvSpPr>
          <p:cNvPr id="32" name="Shape 29"/>
          <p:cNvSpPr/>
          <p:nvPr/>
        </p:nvSpPr>
        <p:spPr>
          <a:xfrm>
            <a:off x="200848" y="5394960"/>
            <a:ext cx="6257880" cy="0"/>
          </a:xfrm>
          <a:prstGeom prst="line">
            <a:avLst/>
          </a:prstGeom>
          <a:noFill/>
          <a:ln w="9525">
            <a:solidFill>
              <a:srgbClr val="CCCCCC"/>
            </a:solidFill>
            <a:prstDash val="solid"/>
          </a:ln>
        </p:spPr>
      </p:sp>
      <p:sp>
        <p:nvSpPr>
          <p:cNvPr id="33" name="Text 30"/>
          <p:cNvSpPr txBox="1"/>
          <p:nvPr/>
        </p:nvSpPr>
        <p:spPr>
          <a:xfrm>
            <a:off x="2547458" y="5486400"/>
            <a:ext cx="210196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市内事業者の主な事業</a:t>
            </a:r>
            <a:endParaRPr lang="en-US" sz="1400" dirty="0"/>
          </a:p>
        </p:txBody>
      </p:sp>
      <p:sp>
        <p:nvSpPr>
          <p:cNvPr id="34" name="Shape 31"/>
          <p:cNvSpPr/>
          <p:nvPr/>
        </p:nvSpPr>
        <p:spPr>
          <a:xfrm>
            <a:off x="6687328" y="1874520"/>
            <a:ext cx="3017520" cy="4251960"/>
          </a:xfrm>
          <a:prstGeom prst="rect">
            <a:avLst/>
          </a:prstGeom>
          <a:solidFill>
            <a:srgbClr val="E0EEF8"/>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運行管理・予約で付加価値の50%</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路線の計画8%、車両の調達12%、運行20%、案内・販売10%に対し最大。最も稼ぐ段階が市外に流れていることになる。市内に残る付加価値は、全体の4割にとどまる</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市内の事業者は運行に偏る</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3社の売上の8割が運行の受託。予約と運行管理は市外の事業者に委ねている。予約と運行管理を市内で担えれば、付加価値を地域に残せる。予約センターの運営を市内の事業者に委ねる案を検討する</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2027年度末の試行の結果で、道は2つに分かれる。継続利用率80%以上なら全支線に広げ、未満なら対象を通院に絞って運行区域を縮める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注）継続利用率＝試行の3か月目に2回以上利用した登録者の割合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321264" y="3154680"/>
            <a:ext cx="1143959" cy="1188720"/>
          </a:xfrm>
          <a:prstGeom prst="diamond">
            <a:avLst/>
          </a:prstGeom>
          <a:solidFill>
            <a:srgbClr val="FFFFFF"/>
          </a:solidFill>
          <a:ln w="12700">
            <a:solidFill>
              <a:srgbClr val="7F7F7F"/>
            </a:solidFill>
            <a:prstDash val="solid"/>
          </a:ln>
        </p:spPr>
      </p:sp>
      <p:sp>
        <p:nvSpPr>
          <p:cNvPr id="13" name="Text 10"/>
          <p:cNvSpPr txBox="1"/>
          <p:nvPr/>
        </p:nvSpPr>
        <p:spPr>
          <a:xfrm>
            <a:off x="321264" y="3154680"/>
            <a:ext cx="1143959" cy="11887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試行の結果</a:t>
            </a:r>
            <a:endParaRPr lang="en-US" sz="1400" dirty="0"/>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2027年度末</a:t>
            </a:r>
            <a:endParaRPr lang="en-US" sz="1400" dirty="0"/>
          </a:p>
        </p:txBody>
      </p:sp>
      <p:sp>
        <p:nvSpPr>
          <p:cNvPr id="14" name="Shape 11"/>
          <p:cNvSpPr/>
          <p:nvPr/>
        </p:nvSpPr>
        <p:spPr>
          <a:xfrm>
            <a:off x="1465224" y="3749040"/>
            <a:ext cx="361250" cy="0"/>
          </a:xfrm>
          <a:prstGeom prst="line">
            <a:avLst/>
          </a:prstGeom>
          <a:noFill/>
          <a:ln w="12700">
            <a:solidFill>
              <a:srgbClr val="CCCCCC"/>
            </a:solidFill>
            <a:prstDash val="solid"/>
          </a:ln>
        </p:spPr>
      </p:sp>
      <p:sp>
        <p:nvSpPr>
          <p:cNvPr id="15" name="Shape 12"/>
          <p:cNvSpPr/>
          <p:nvPr/>
        </p:nvSpPr>
        <p:spPr>
          <a:xfrm>
            <a:off x="1826474" y="2606040"/>
            <a:ext cx="0" cy="1143000"/>
          </a:xfrm>
          <a:prstGeom prst="line">
            <a:avLst/>
          </a:prstGeom>
          <a:noFill/>
          <a:ln w="12700">
            <a:solidFill>
              <a:srgbClr val="CCCCCC"/>
            </a:solidFill>
            <a:prstDash val="solid"/>
          </a:ln>
        </p:spPr>
      </p:sp>
      <p:sp>
        <p:nvSpPr>
          <p:cNvPr id="16" name="Shape 13"/>
          <p:cNvSpPr/>
          <p:nvPr/>
        </p:nvSpPr>
        <p:spPr>
          <a:xfrm>
            <a:off x="1826474" y="2606040"/>
            <a:ext cx="301042" cy="0"/>
          </a:xfrm>
          <a:prstGeom prst="line">
            <a:avLst/>
          </a:prstGeom>
          <a:noFill/>
          <a:ln w="19050">
            <a:solidFill>
              <a:srgbClr val="3F3F3F"/>
            </a:solidFill>
            <a:prstDash val="solid"/>
            <a:tailEnd type="triangle"/>
          </a:ln>
        </p:spPr>
      </p:sp>
      <p:sp>
        <p:nvSpPr>
          <p:cNvPr id="17" name="Text 14"/>
          <p:cNvSpPr txBox="1"/>
          <p:nvPr/>
        </p:nvSpPr>
        <p:spPr>
          <a:xfrm>
            <a:off x="1856578" y="217627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80%以上</a:t>
            </a:r>
            <a:endParaRPr lang="en-US" sz="1400" dirty="0"/>
          </a:p>
        </p:txBody>
      </p:sp>
      <p:sp>
        <p:nvSpPr>
          <p:cNvPr id="18" name="Shape 15"/>
          <p:cNvSpPr/>
          <p:nvPr/>
        </p:nvSpPr>
        <p:spPr>
          <a:xfrm>
            <a:off x="3331684" y="2103120"/>
            <a:ext cx="1324585" cy="1005840"/>
          </a:xfrm>
          <a:prstGeom prst="rect">
            <a:avLst/>
          </a:prstGeom>
          <a:solidFill>
            <a:srgbClr val="FFFFFF"/>
          </a:solidFill>
          <a:ln w="19050">
            <a:solidFill>
              <a:srgbClr val="000F78"/>
            </a:solidFill>
            <a:prstDash val="solid"/>
          </a:ln>
        </p:spPr>
      </p:sp>
      <p:sp>
        <p:nvSpPr>
          <p:cNvPr id="19" name="Text 16"/>
          <p:cNvSpPr txBox="1"/>
          <p:nvPr/>
        </p:nvSpPr>
        <p:spPr>
          <a:xfrm>
            <a:off x="3421997" y="2103120"/>
            <a:ext cx="1143959"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全支線に広げる</a:t>
            </a:r>
            <a:endParaRPr lang="en-US" sz="1400" dirty="0"/>
          </a:p>
        </p:txBody>
      </p:sp>
      <p:sp>
        <p:nvSpPr>
          <p:cNvPr id="20" name="Text 17"/>
          <p:cNvSpPr txBox="1"/>
          <p:nvPr/>
        </p:nvSpPr>
        <p:spPr>
          <a:xfrm>
            <a:off x="4776685" y="2103120"/>
            <a:ext cx="1682042"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2030年度までに12路線を転換し、運転士を幹線へ移す</a:t>
            </a:r>
            <a:endParaRPr lang="en-US" sz="1400" dirty="0"/>
          </a:p>
        </p:txBody>
      </p:sp>
      <p:sp>
        <p:nvSpPr>
          <p:cNvPr id="21" name="Shape 18"/>
          <p:cNvSpPr/>
          <p:nvPr/>
        </p:nvSpPr>
        <p:spPr>
          <a:xfrm>
            <a:off x="1465224" y="3749040"/>
            <a:ext cx="361250" cy="0"/>
          </a:xfrm>
          <a:prstGeom prst="line">
            <a:avLst/>
          </a:prstGeom>
          <a:noFill/>
          <a:ln w="12700">
            <a:solidFill>
              <a:srgbClr val="CCCCCC"/>
            </a:solidFill>
            <a:prstDash val="solid"/>
          </a:ln>
        </p:spPr>
      </p:sp>
      <p:sp>
        <p:nvSpPr>
          <p:cNvPr id="22" name="Shape 19"/>
          <p:cNvSpPr/>
          <p:nvPr/>
        </p:nvSpPr>
        <p:spPr>
          <a:xfrm>
            <a:off x="1826474" y="3749040"/>
            <a:ext cx="0" cy="1280160"/>
          </a:xfrm>
          <a:prstGeom prst="line">
            <a:avLst/>
          </a:prstGeom>
          <a:noFill/>
          <a:ln w="12700">
            <a:solidFill>
              <a:srgbClr val="CCCCCC"/>
            </a:solidFill>
            <a:prstDash val="solid"/>
          </a:ln>
        </p:spPr>
      </p:sp>
      <p:sp>
        <p:nvSpPr>
          <p:cNvPr id="23" name="Shape 20"/>
          <p:cNvSpPr/>
          <p:nvPr/>
        </p:nvSpPr>
        <p:spPr>
          <a:xfrm>
            <a:off x="1826474" y="5029200"/>
            <a:ext cx="301042" cy="0"/>
          </a:xfrm>
          <a:prstGeom prst="line">
            <a:avLst/>
          </a:prstGeom>
          <a:noFill/>
          <a:ln w="12700">
            <a:solidFill>
              <a:srgbClr val="7F7F7F"/>
            </a:solidFill>
            <a:prstDash val="solid"/>
            <a:tailEnd type="triangle"/>
          </a:ln>
        </p:spPr>
      </p:sp>
      <p:sp>
        <p:nvSpPr>
          <p:cNvPr id="24" name="Text 21"/>
          <p:cNvSpPr txBox="1"/>
          <p:nvPr/>
        </p:nvSpPr>
        <p:spPr>
          <a:xfrm>
            <a:off x="1856578" y="4599432"/>
            <a:ext cx="21945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継続利用率 80%未満</a:t>
            </a:r>
            <a:endParaRPr lang="en-US" sz="1400" dirty="0"/>
          </a:p>
        </p:txBody>
      </p:sp>
      <p:sp>
        <p:nvSpPr>
          <p:cNvPr id="25" name="Shape 22"/>
          <p:cNvSpPr/>
          <p:nvPr/>
        </p:nvSpPr>
        <p:spPr>
          <a:xfrm>
            <a:off x="3331684" y="4526280"/>
            <a:ext cx="1324585" cy="1005840"/>
          </a:xfrm>
          <a:prstGeom prst="rect">
            <a:avLst/>
          </a:prstGeom>
          <a:solidFill>
            <a:srgbClr val="FFFFFF"/>
          </a:solidFill>
          <a:ln w="9525">
            <a:solidFill>
              <a:srgbClr val="CCCCCC"/>
            </a:solidFill>
            <a:prstDash val="solid"/>
          </a:ln>
        </p:spPr>
      </p:sp>
      <p:sp>
        <p:nvSpPr>
          <p:cNvPr id="26" name="Text 23"/>
          <p:cNvSpPr txBox="1"/>
          <p:nvPr/>
        </p:nvSpPr>
        <p:spPr>
          <a:xfrm>
            <a:off x="3421997" y="4526280"/>
            <a:ext cx="1143959" cy="100584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対象を絞る</a:t>
            </a:r>
            <a:endParaRPr lang="en-US" sz="1400" dirty="0"/>
          </a:p>
        </p:txBody>
      </p:sp>
      <p:sp>
        <p:nvSpPr>
          <p:cNvPr id="27" name="Text 24"/>
          <p:cNvSpPr txBox="1"/>
          <p:nvPr/>
        </p:nvSpPr>
        <p:spPr>
          <a:xfrm>
            <a:off x="4776685" y="4526280"/>
            <a:ext cx="1682042" cy="10058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通院の時間帯に絞って運行し、費用を4割抑える</a:t>
            </a:r>
            <a:endParaRPr lang="en-US" sz="1400" dirty="0"/>
          </a:p>
        </p:txBody>
      </p:sp>
      <p:sp>
        <p:nvSpPr>
          <p:cNvPr id="28" name="Shape 25"/>
          <p:cNvSpPr/>
          <p:nvPr/>
        </p:nvSpPr>
        <p:spPr>
          <a:xfrm>
            <a:off x="6687328" y="1874520"/>
            <a:ext cx="3017520" cy="4251960"/>
          </a:xfrm>
          <a:prstGeom prst="rect">
            <a:avLst/>
          </a:prstGeom>
          <a:solidFill>
            <a:srgbClr val="E0EEF8"/>
          </a:solidFill>
          <a:ln/>
        </p:spPr>
      </p:sp>
      <p:sp>
        <p:nvSpPr>
          <p:cNvPr id="29" name="Text 2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80%を上回れば、2030年度に全支線へ</a:t>
            </a:r>
            <a:endParaRPr lang="en-US" sz="1400" dirty="0"/>
          </a:p>
        </p:txBody>
      </p:sp>
      <p:sp>
        <p:nvSpPr>
          <p:cNvPr id="30" name="Text 2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12路線を順に転換し、浮いた運転士を幹線へ移す。赤字は年2.1億円まで下がる。運転士14人を幹線に回し、1時間3本に増やせる</a:t>
            </a:r>
            <a:endParaRPr lang="en-US" sz="1200" dirty="0"/>
          </a:p>
        </p:txBody>
      </p:sp>
      <p:sp>
        <p:nvSpPr>
          <p:cNvPr id="31" name="Shape 28"/>
          <p:cNvSpPr/>
          <p:nvPr/>
        </p:nvSpPr>
        <p:spPr>
          <a:xfrm>
            <a:off x="6870208" y="3936492"/>
            <a:ext cx="2651760" cy="0"/>
          </a:xfrm>
          <a:prstGeom prst="line">
            <a:avLst/>
          </a:prstGeom>
          <a:noFill/>
          <a:ln w="9525">
            <a:solidFill>
              <a:srgbClr val="CCCCCC"/>
            </a:solidFill>
            <a:prstDash val="solid"/>
          </a:ln>
        </p:spPr>
      </p:sp>
      <p:sp>
        <p:nvSpPr>
          <p:cNvPr id="32" name="Text 2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下回っても、通院に絞れば続けられる</a:t>
            </a:r>
            <a:endParaRPr lang="en-US" sz="1400" dirty="0"/>
          </a:p>
        </p:txBody>
      </p:sp>
      <p:sp>
        <p:nvSpPr>
          <p:cNvPr id="33" name="Text 3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運行を通院の時間帯に限ると費用は4割下がる。利用の中心である70代以上の移動は守れる。その場合でも、赤字は年3.0億円まで下がる</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4つの外部動向はいずれも、運転士と定時便に頼る今の運行の前提を弱める方向に働く。中でも運転士の不足の影響が最も大きく、5年以内に表面化する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出所）国土交通省・総務省の公表資料を基に作成（名称・数値は架空の見本）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49</a:t>
            </a:r>
            <a:endParaRPr lang="en-US" sz="900" dirty="0"/>
          </a:p>
        </p:txBody>
      </p:sp>
      <p:sp>
        <p:nvSpPr>
          <p:cNvPr id="12" name="Shape 11"/>
          <p:cNvSpPr/>
          <p:nvPr/>
        </p:nvSpPr>
        <p:spPr>
          <a:xfrm>
            <a:off x="200848" y="2331720"/>
            <a:ext cx="4523400" cy="1554480"/>
          </a:xfrm>
          <a:prstGeom prst="rect">
            <a:avLst/>
          </a:prstGeom>
          <a:solidFill>
            <a:srgbClr val="E0EEF8"/>
          </a:solidFill>
          <a:ln/>
        </p:spPr>
      </p:sp>
      <p:sp>
        <p:nvSpPr>
          <p:cNvPr id="13" name="Text 9"/>
          <p:cNvSpPr txBox="1"/>
          <p:nvPr/>
        </p:nvSpPr>
        <p:spPr>
          <a:xfrm>
            <a:off x="2008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社会　運転士が足りなくなる</a:t>
            </a:r>
            <a:endParaRPr lang="en-US" sz="1400" dirty="0"/>
          </a:p>
        </p:txBody>
      </p:sp>
      <p:sp>
        <p:nvSpPr>
          <p:cNvPr id="14" name="Shape 10"/>
          <p:cNvSpPr/>
          <p:nvPr/>
        </p:nvSpPr>
        <p:spPr>
          <a:xfrm>
            <a:off x="200848" y="2267712"/>
            <a:ext cx="4523400" cy="0"/>
          </a:xfrm>
          <a:prstGeom prst="line">
            <a:avLst/>
          </a:prstGeom>
          <a:noFill/>
          <a:ln w="15875">
            <a:solidFill>
              <a:srgbClr val="3F3F3F"/>
            </a:solidFill>
            <a:prstDash val="solid"/>
          </a:ln>
        </p:spPr>
      </p:sp>
      <p:sp>
        <p:nvSpPr>
          <p:cNvPr id="15" name="Text 12"/>
          <p:cNvSpPr txBox="1"/>
          <p:nvPr/>
        </p:nvSpPr>
        <p:spPr>
          <a:xfrm>
            <a:off x="200848" y="2423160"/>
            <a:ext cx="4523400" cy="685800"/>
          </a:xfrm>
          <a:prstGeom prst="rect">
            <a:avLst/>
          </a:prstGeom>
          <a:noFill/>
          <a:ln/>
        </p:spPr>
        <p:txBody>
          <a:bodyPr wrap="square" lIns="0" tIns="0" rIns="0" bIns="0" rtlCol="0" anchor="t"/>
          <a:lstStyle/>
          <a:p>
            <a:pPr indent="0" marL="0">
              <a:buNone/>
            </a:pPr>
            <a:r>
              <a:rPr lang="en-US" sz="3000" b="1" dirty="0">
                <a:solidFill>
                  <a:srgbClr val="000F78"/>
                </a:solidFill>
                <a:latin typeface="Arial" pitchFamily="34" charset="0"/>
                <a:ea typeface="Arial" pitchFamily="34" charset="-122"/>
                <a:cs typeface="Arial" pitchFamily="34" charset="-120"/>
              </a:rPr>
              <a:t>−3割</a:t>
            </a:r>
            <a:endParaRPr lang="en-US" sz="3000" dirty="0"/>
          </a:p>
        </p:txBody>
      </p:sp>
      <p:sp>
        <p:nvSpPr>
          <p:cNvPr id="16" name="Text 13"/>
          <p:cNvSpPr txBox="1"/>
          <p:nvPr/>
        </p:nvSpPr>
        <p:spPr>
          <a:xfrm>
            <a:off x="2008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大型二種免許の保有者は10年で3割減る</a:t>
            </a:r>
            <a:endParaRPr lang="en-US" sz="1400" dirty="0"/>
          </a:p>
        </p:txBody>
      </p:sp>
      <p:sp>
        <p:nvSpPr>
          <p:cNvPr id="17" name="Text 14"/>
          <p:cNvSpPr txBox="1"/>
          <p:nvPr/>
        </p:nvSpPr>
        <p:spPr>
          <a:xfrm>
            <a:off x="2008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出所）国の運転免許統計を基に推計（架空）</a:t>
            </a:r>
            <a:endParaRPr lang="en-US" sz="900" dirty="0"/>
          </a:p>
        </p:txBody>
      </p:sp>
      <p:sp>
        <p:nvSpPr>
          <p:cNvPr id="18" name="Text 15"/>
          <p:cNvSpPr txBox="1"/>
          <p:nvPr/>
        </p:nvSpPr>
        <p:spPr>
          <a:xfrm>
            <a:off x="5181448" y="192024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政策　運転時間の上限が厳しくなる</a:t>
            </a:r>
            <a:endParaRPr lang="en-US" sz="1400" dirty="0"/>
          </a:p>
        </p:txBody>
      </p:sp>
      <p:sp>
        <p:nvSpPr>
          <p:cNvPr id="19" name="Shape 16"/>
          <p:cNvSpPr/>
          <p:nvPr/>
        </p:nvSpPr>
        <p:spPr>
          <a:xfrm>
            <a:off x="5181448" y="2267712"/>
            <a:ext cx="4523400" cy="0"/>
          </a:xfrm>
          <a:prstGeom prst="line">
            <a:avLst/>
          </a:prstGeom>
          <a:noFill/>
          <a:ln w="12700">
            <a:solidFill>
              <a:srgbClr val="7F7F7F"/>
            </a:solidFill>
            <a:prstDash val="solid"/>
          </a:ln>
        </p:spPr>
      </p:sp>
      <p:sp>
        <p:nvSpPr>
          <p:cNvPr id="20" name="Text 17"/>
          <p:cNvSpPr txBox="1"/>
          <p:nvPr/>
        </p:nvSpPr>
        <p:spPr>
          <a:xfrm>
            <a:off x="5181448" y="242316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年3,300時間</a:t>
            </a:r>
            <a:endParaRPr lang="en-US" sz="3000" dirty="0"/>
          </a:p>
        </p:txBody>
      </p:sp>
      <p:sp>
        <p:nvSpPr>
          <p:cNvPr id="21" name="Text 18"/>
          <p:cNvSpPr txBox="1"/>
          <p:nvPr/>
        </p:nvSpPr>
        <p:spPr>
          <a:xfrm>
            <a:off x="5181448" y="315468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2024年度から運転士の拘束時間に上限</a:t>
            </a:r>
            <a:endParaRPr lang="en-US" sz="1400" dirty="0"/>
          </a:p>
        </p:txBody>
      </p:sp>
      <p:sp>
        <p:nvSpPr>
          <p:cNvPr id="22" name="Text 19"/>
          <p:cNvSpPr txBox="1"/>
          <p:nvPr/>
        </p:nvSpPr>
        <p:spPr>
          <a:xfrm>
            <a:off x="5181448" y="352044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出所）改正後の基準による（架空）</a:t>
            </a:r>
            <a:endParaRPr lang="en-US" sz="900" dirty="0"/>
          </a:p>
        </p:txBody>
      </p:sp>
      <p:sp>
        <p:nvSpPr>
          <p:cNvPr id="23" name="Text 20"/>
          <p:cNvSpPr txBox="1"/>
          <p:nvPr/>
        </p:nvSpPr>
        <p:spPr>
          <a:xfrm>
            <a:off x="2008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技術　予約型の配車システムが安くなる</a:t>
            </a:r>
            <a:endParaRPr lang="en-US" sz="1400" dirty="0"/>
          </a:p>
        </p:txBody>
      </p:sp>
      <p:sp>
        <p:nvSpPr>
          <p:cNvPr id="24" name="Shape 21"/>
          <p:cNvSpPr/>
          <p:nvPr/>
        </p:nvSpPr>
        <p:spPr>
          <a:xfrm>
            <a:off x="200848" y="4462272"/>
            <a:ext cx="4523400" cy="0"/>
          </a:xfrm>
          <a:prstGeom prst="line">
            <a:avLst/>
          </a:prstGeom>
          <a:noFill/>
          <a:ln w="12700">
            <a:solidFill>
              <a:srgbClr val="7F7F7F"/>
            </a:solidFill>
            <a:prstDash val="solid"/>
          </a:ln>
        </p:spPr>
      </p:sp>
      <p:sp>
        <p:nvSpPr>
          <p:cNvPr id="25" name="Text 22"/>
          <p:cNvSpPr txBox="1"/>
          <p:nvPr/>
        </p:nvSpPr>
        <p:spPr>
          <a:xfrm>
            <a:off x="2008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−50%</a:t>
            </a:r>
            <a:endParaRPr lang="en-US" sz="3000" dirty="0"/>
          </a:p>
        </p:txBody>
      </p:sp>
      <p:sp>
        <p:nvSpPr>
          <p:cNvPr id="26" name="Text 23"/>
          <p:cNvSpPr txBox="1"/>
          <p:nvPr/>
        </p:nvSpPr>
        <p:spPr>
          <a:xfrm>
            <a:off x="2008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導入費用は5年で半分になった</a:t>
            </a:r>
            <a:endParaRPr lang="en-US" sz="1400" dirty="0"/>
          </a:p>
        </p:txBody>
      </p:sp>
      <p:sp>
        <p:nvSpPr>
          <p:cNvPr id="27" name="Text 24"/>
          <p:cNvSpPr txBox="1"/>
          <p:nvPr/>
        </p:nvSpPr>
        <p:spPr>
          <a:xfrm>
            <a:off x="2008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出所）事業者3社への聞き取り（架空）</a:t>
            </a:r>
            <a:endParaRPr lang="en-US" sz="900" dirty="0"/>
          </a:p>
        </p:txBody>
      </p:sp>
      <p:sp>
        <p:nvSpPr>
          <p:cNvPr id="28" name="Text 25"/>
          <p:cNvSpPr txBox="1"/>
          <p:nvPr/>
        </p:nvSpPr>
        <p:spPr>
          <a:xfrm>
            <a:off x="5181448" y="4114800"/>
            <a:ext cx="4523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競争　病院・商業施設の送迎が増える</a:t>
            </a:r>
            <a:endParaRPr lang="en-US" sz="1400" dirty="0"/>
          </a:p>
        </p:txBody>
      </p:sp>
      <p:sp>
        <p:nvSpPr>
          <p:cNvPr id="29" name="Shape 26"/>
          <p:cNvSpPr/>
          <p:nvPr/>
        </p:nvSpPr>
        <p:spPr>
          <a:xfrm>
            <a:off x="5181448" y="4462272"/>
            <a:ext cx="4523400" cy="0"/>
          </a:xfrm>
          <a:prstGeom prst="line">
            <a:avLst/>
          </a:prstGeom>
          <a:noFill/>
          <a:ln w="12700">
            <a:solidFill>
              <a:srgbClr val="7F7F7F"/>
            </a:solidFill>
            <a:prstDash val="solid"/>
          </a:ln>
        </p:spPr>
      </p:sp>
      <p:sp>
        <p:nvSpPr>
          <p:cNvPr id="30" name="Text 27"/>
          <p:cNvSpPr txBox="1"/>
          <p:nvPr/>
        </p:nvSpPr>
        <p:spPr>
          <a:xfrm>
            <a:off x="5181448" y="4617720"/>
            <a:ext cx="4523400" cy="685800"/>
          </a:xfrm>
          <a:prstGeom prst="rect">
            <a:avLst/>
          </a:prstGeom>
          <a:noFill/>
          <a:ln/>
        </p:spPr>
        <p:txBody>
          <a:bodyPr wrap="square" lIns="0" tIns="0" rIns="0" bIns="0" rtlCol="0" anchor="t"/>
          <a:lstStyle/>
          <a:p>
            <a:pPr indent="0" marL="0">
              <a:buNone/>
            </a:pPr>
            <a:r>
              <a:rPr lang="en-US" sz="3000" b="1" dirty="0">
                <a:solidFill>
                  <a:srgbClr val="3F3F3F"/>
                </a:solidFill>
                <a:latin typeface="Arial" pitchFamily="34" charset="0"/>
                <a:ea typeface="Arial" pitchFamily="34" charset="-122"/>
                <a:cs typeface="Arial" pitchFamily="34" charset="-120"/>
              </a:rPr>
              <a:t>年12路線</a:t>
            </a:r>
            <a:endParaRPr lang="en-US" sz="3000" dirty="0"/>
          </a:p>
        </p:txBody>
      </p:sp>
      <p:sp>
        <p:nvSpPr>
          <p:cNvPr id="31" name="Text 28"/>
          <p:cNvSpPr txBox="1"/>
          <p:nvPr/>
        </p:nvSpPr>
        <p:spPr>
          <a:xfrm>
            <a:off x="5181448" y="5349240"/>
            <a:ext cx="452340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市内で新たに始まった送迎の数</a:t>
            </a:r>
            <a:endParaRPr lang="en-US" sz="1400" dirty="0"/>
          </a:p>
        </p:txBody>
      </p:sp>
      <p:sp>
        <p:nvSpPr>
          <p:cNvPr id="32" name="Text 29"/>
          <p:cNvSpPr txBox="1"/>
          <p:nvPr/>
        </p:nvSpPr>
        <p:spPr>
          <a:xfrm>
            <a:off x="5181448" y="5715000"/>
            <a:ext cx="4523400" cy="256032"/>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出所）市の届出の集計（架空）</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自治体・事業者・利用者団体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第2章（課題）</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沿線住民（無作為抽出3,000人）</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第1章・第3章</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運行データ分析</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路線別・時間帯別の乗降データ</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第1章（現状）</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6つの取組のうち4つは計画どおりだが、予約システムの整備は3か月遅れ、年度内の完了が難しい。追加の人員配置を本日決めていただきたい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取組の進捗</a:t>
            </a:r>
            <a:pPr indent="0" marL="0">
              <a:buNone/>
            </a:pPr>
            <a:r>
              <a:rPr lang="en-US" sz="1100" dirty="0">
                <a:solidFill>
                  <a:srgbClr val="3F3F3F"/>
                </a:solidFill>
                <a:latin typeface="Yu Gothic UI" pitchFamily="34" charset="0"/>
                <a:ea typeface="Yu Gothic UI" pitchFamily="34" charset="-122"/>
                <a:cs typeface="Yu Gothic UI" pitchFamily="34" charset="-120"/>
              </a:rPr>
              <a:t>　（2026年9月末時点）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685835"/>
                <a:gridCol w="903126"/>
                <a:gridCol w="722501"/>
                <a:gridCol w="2946418"/>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利用実態の調査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予定どおり10月に完了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事業者との協議</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予約システムの整備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運行規程の改定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乗降地点の選定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病院との合意待ち（11月見込み）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21792">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車両の調達</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予約システムの整備だけが3か月遅れ</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進捗は25%で、6つの取組のうち唯一の「遅延」。このままでは年度内に完了しない。遅れの原因は、仕様の変更と開発の担当の不足である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人員2名の追加で遅れを取り戻せる</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開発の担当を2名増やせば、3月末の完了に間に合う。費用は年度内で約800万円の見込み。追加しなければ、試行の開始は2027年4月にずれ込む</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新しい予約は3つの操作で完了し、所要時間は電話予約の8分から2分に短くなる。最も時間を減らすのは、操作2の乗車地点の自動入力である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予約画面の操作手順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注）画面は開発中のもの</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00848" y="1965960"/>
            <a:ext cx="3130836" cy="3931920"/>
          </a:xfrm>
          <a:prstGeom prst="rect">
            <a:avLst/>
          </a:prstGeom>
          <a:solidFill>
            <a:srgbClr val="E0EEF8"/>
          </a:solidFill>
          <a:ln/>
        </p:spPr>
      </p:sp>
      <p:sp>
        <p:nvSpPr>
          <p:cNvPr id="13" name="Text 10"/>
          <p:cNvSpPr txBox="1"/>
          <p:nvPr/>
        </p:nvSpPr>
        <p:spPr>
          <a:xfrm>
            <a:off x="200848"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予約画面のスクリーンショットを入れる</a:t>
            </a:r>
            <a:endParaRPr lang="en-US" sz="1400" dirty="0"/>
          </a:p>
        </p:txBody>
      </p:sp>
      <p:sp>
        <p:nvSpPr>
          <p:cNvPr id="14" name="Shape 11"/>
          <p:cNvSpPr/>
          <p:nvPr/>
        </p:nvSpPr>
        <p:spPr>
          <a:xfrm>
            <a:off x="441681" y="2286000"/>
            <a:ext cx="216750" cy="329184"/>
          </a:xfrm>
          <a:prstGeom prst="ellipse">
            <a:avLst/>
          </a:prstGeom>
          <a:solidFill>
            <a:srgbClr val="FFFFFF"/>
          </a:solidFill>
          <a:ln w="12700">
            <a:solidFill>
              <a:srgbClr val="3F3F3F"/>
            </a:solidFill>
            <a:prstDash val="solid"/>
          </a:ln>
        </p:spPr>
      </p:sp>
      <p:sp>
        <p:nvSpPr>
          <p:cNvPr id="15" name="Text 12"/>
          <p:cNvSpPr txBox="1"/>
          <p:nvPr/>
        </p:nvSpPr>
        <p:spPr>
          <a:xfrm>
            <a:off x="441681" y="2286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16" name="Shape 13"/>
          <p:cNvSpPr/>
          <p:nvPr/>
        </p:nvSpPr>
        <p:spPr>
          <a:xfrm>
            <a:off x="1766266" y="3017520"/>
            <a:ext cx="216750" cy="329184"/>
          </a:xfrm>
          <a:prstGeom prst="ellipse">
            <a:avLst/>
          </a:prstGeom>
          <a:solidFill>
            <a:srgbClr val="7F7F7F"/>
          </a:solidFill>
          <a:ln w="12700">
            <a:solidFill>
              <a:srgbClr val="3F3F3F"/>
            </a:solidFill>
            <a:prstDash val="solid"/>
          </a:ln>
        </p:spPr>
      </p:sp>
      <p:sp>
        <p:nvSpPr>
          <p:cNvPr id="17" name="Text 14"/>
          <p:cNvSpPr txBox="1"/>
          <p:nvPr/>
        </p:nvSpPr>
        <p:spPr>
          <a:xfrm>
            <a:off x="1766266" y="30175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Shape 15"/>
          <p:cNvSpPr/>
          <p:nvPr/>
        </p:nvSpPr>
        <p:spPr>
          <a:xfrm>
            <a:off x="2789808" y="5212080"/>
            <a:ext cx="216750" cy="329184"/>
          </a:xfrm>
          <a:prstGeom prst="ellipse">
            <a:avLst/>
          </a:prstGeom>
          <a:solidFill>
            <a:srgbClr val="FFFFFF"/>
          </a:solidFill>
          <a:ln w="12700">
            <a:solidFill>
              <a:srgbClr val="3F3F3F"/>
            </a:solidFill>
            <a:prstDash val="solid"/>
          </a:ln>
        </p:spPr>
      </p:sp>
      <p:sp>
        <p:nvSpPr>
          <p:cNvPr id="19" name="Text 16"/>
          <p:cNvSpPr txBox="1"/>
          <p:nvPr/>
        </p:nvSpPr>
        <p:spPr>
          <a:xfrm>
            <a:off x="2789808" y="52120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20" name="Shape 17"/>
          <p:cNvSpPr/>
          <p:nvPr/>
        </p:nvSpPr>
        <p:spPr>
          <a:xfrm>
            <a:off x="3572517" y="2011680"/>
            <a:ext cx="216750" cy="329184"/>
          </a:xfrm>
          <a:prstGeom prst="ellipse">
            <a:avLst/>
          </a:prstGeom>
          <a:solidFill>
            <a:srgbClr val="FFFFFF"/>
          </a:solidFill>
          <a:ln w="12700">
            <a:solidFill>
              <a:srgbClr val="3F3F3F"/>
            </a:solidFill>
            <a:prstDash val="solid"/>
          </a:ln>
        </p:spPr>
      </p:sp>
      <p:sp>
        <p:nvSpPr>
          <p:cNvPr id="21" name="Text 18"/>
          <p:cNvSpPr txBox="1"/>
          <p:nvPr/>
        </p:nvSpPr>
        <p:spPr>
          <a:xfrm>
            <a:off x="3572517" y="201168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22" name="Text 19"/>
          <p:cNvSpPr txBox="1"/>
          <p:nvPr/>
        </p:nvSpPr>
        <p:spPr>
          <a:xfrm>
            <a:off x="3873559" y="1993392"/>
            <a:ext cx="2585168"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3873559" y="239572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番号は乗車証の右上に記載</a:t>
            </a:r>
            <a:endParaRPr lang="en-US" sz="1400" dirty="0"/>
          </a:p>
        </p:txBody>
      </p:sp>
      <p:sp>
        <p:nvSpPr>
          <p:cNvPr id="24" name="Shape 21"/>
          <p:cNvSpPr/>
          <p:nvPr/>
        </p:nvSpPr>
        <p:spPr>
          <a:xfrm>
            <a:off x="3572517" y="3063240"/>
            <a:ext cx="2886210" cy="0"/>
          </a:xfrm>
          <a:prstGeom prst="line">
            <a:avLst/>
          </a:prstGeom>
          <a:noFill/>
          <a:ln w="9525">
            <a:solidFill>
              <a:srgbClr val="CCCCCC"/>
            </a:solidFill>
            <a:prstDash val="solid"/>
          </a:ln>
        </p:spPr>
      </p:sp>
      <p:sp>
        <p:nvSpPr>
          <p:cNvPr id="25" name="Shape 22"/>
          <p:cNvSpPr/>
          <p:nvPr/>
        </p:nvSpPr>
        <p:spPr>
          <a:xfrm>
            <a:off x="3572517" y="3291840"/>
            <a:ext cx="216750" cy="329184"/>
          </a:xfrm>
          <a:prstGeom prst="ellipse">
            <a:avLst/>
          </a:prstGeom>
          <a:solidFill>
            <a:srgbClr val="000F78"/>
          </a:solidFill>
          <a:ln w="12700">
            <a:solidFill>
              <a:srgbClr val="000F78"/>
            </a:solidFill>
            <a:prstDash val="solid"/>
          </a:ln>
        </p:spPr>
      </p:sp>
      <p:sp>
        <p:nvSpPr>
          <p:cNvPr id="26" name="Text 23"/>
          <p:cNvSpPr txBox="1"/>
          <p:nvPr/>
        </p:nvSpPr>
        <p:spPr>
          <a:xfrm>
            <a:off x="3572517" y="3291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7" name="Text 24"/>
          <p:cNvSpPr txBox="1"/>
          <p:nvPr/>
        </p:nvSpPr>
        <p:spPr>
          <a:xfrm>
            <a:off x="3873559" y="3273552"/>
            <a:ext cx="2585168"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「いつもの乗車地点」を押す</a:t>
            </a:r>
            <a:endParaRPr lang="en-US" sz="1400" dirty="0"/>
          </a:p>
        </p:txBody>
      </p:sp>
      <p:sp>
        <p:nvSpPr>
          <p:cNvPr id="28" name="Text 25"/>
          <p:cNvSpPr txBox="1"/>
          <p:nvPr/>
        </p:nvSpPr>
        <p:spPr>
          <a:xfrm>
            <a:off x="3873559" y="367588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乗車地点と行き先が過去の予約から入る（約5分短縮）</a:t>
            </a:r>
            <a:endParaRPr lang="en-US" sz="1400" dirty="0"/>
          </a:p>
        </p:txBody>
      </p:sp>
      <p:sp>
        <p:nvSpPr>
          <p:cNvPr id="29" name="Shape 26"/>
          <p:cNvSpPr/>
          <p:nvPr/>
        </p:nvSpPr>
        <p:spPr>
          <a:xfrm>
            <a:off x="3572517" y="4343400"/>
            <a:ext cx="2886210" cy="0"/>
          </a:xfrm>
          <a:prstGeom prst="line">
            <a:avLst/>
          </a:prstGeom>
          <a:noFill/>
          <a:ln w="9525">
            <a:solidFill>
              <a:srgbClr val="CCCCCC"/>
            </a:solidFill>
            <a:prstDash val="solid"/>
          </a:ln>
        </p:spPr>
      </p:sp>
      <p:sp>
        <p:nvSpPr>
          <p:cNvPr id="30" name="Shape 27"/>
          <p:cNvSpPr/>
          <p:nvPr/>
        </p:nvSpPr>
        <p:spPr>
          <a:xfrm>
            <a:off x="3572517" y="4572000"/>
            <a:ext cx="216750" cy="329184"/>
          </a:xfrm>
          <a:prstGeom prst="ellipse">
            <a:avLst/>
          </a:prstGeom>
          <a:solidFill>
            <a:srgbClr val="FFFFFF"/>
          </a:solidFill>
          <a:ln w="12700">
            <a:solidFill>
              <a:srgbClr val="3F3F3F"/>
            </a:solidFill>
            <a:prstDash val="solid"/>
          </a:ln>
        </p:spPr>
      </p:sp>
      <p:sp>
        <p:nvSpPr>
          <p:cNvPr id="31" name="Text 28"/>
          <p:cNvSpPr txBox="1"/>
          <p:nvPr/>
        </p:nvSpPr>
        <p:spPr>
          <a:xfrm>
            <a:off x="3572517" y="4572000"/>
            <a:ext cx="329184" cy="329184"/>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32" name="Text 29"/>
          <p:cNvSpPr txBox="1"/>
          <p:nvPr/>
        </p:nvSpPr>
        <p:spPr>
          <a:xfrm>
            <a:off x="3873559" y="4553712"/>
            <a:ext cx="2585168"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時刻を選んで予約する</a:t>
            </a:r>
            <a:endParaRPr lang="en-US" sz="1400" dirty="0"/>
          </a:p>
        </p:txBody>
      </p:sp>
      <p:sp>
        <p:nvSpPr>
          <p:cNvPr id="33" name="Text 30"/>
          <p:cNvSpPr txBox="1"/>
          <p:nvPr/>
        </p:nvSpPr>
        <p:spPr>
          <a:xfrm>
            <a:off x="3873559" y="4956048"/>
            <a:ext cx="2585168"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前日の夕方に確認の通知が届く</a:t>
            </a:r>
            <a:endParaRPr lang="en-US" sz="1400" dirty="0"/>
          </a:p>
        </p:txBody>
      </p:sp>
      <p:sp>
        <p:nvSpPr>
          <p:cNvPr id="34" name="Shape 31"/>
          <p:cNvSpPr/>
          <p:nvPr/>
        </p:nvSpPr>
        <p:spPr>
          <a:xfrm>
            <a:off x="6687328" y="1874520"/>
            <a:ext cx="3017520" cy="4251960"/>
          </a:xfrm>
          <a:prstGeom prst="rect">
            <a:avLst/>
          </a:prstGeom>
          <a:solidFill>
            <a:srgbClr val="E0EEF8"/>
          </a:solidFill>
          <a:ln/>
        </p:spPr>
      </p:sp>
      <p:sp>
        <p:nvSpPr>
          <p:cNvPr id="35" name="Text 3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電話の8分が、3つの操作で2分になる</a:t>
            </a:r>
            <a:endParaRPr lang="en-US" sz="1400" dirty="0"/>
          </a:p>
        </p:txBody>
      </p:sp>
      <p:sp>
        <p:nvSpPr>
          <p:cNvPr id="36" name="Text 3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最も時間を減らすのは操作2の自動入力で、約5分短くなる。乗車地点と行き先を毎回伝える必要がなくなる。予約の受付は24時間となり、平日の昼に限られない</a:t>
            </a:r>
            <a:endParaRPr lang="en-US" sz="1200" dirty="0"/>
          </a:p>
        </p:txBody>
      </p:sp>
      <p:sp>
        <p:nvSpPr>
          <p:cNvPr id="37" name="Shape 34"/>
          <p:cNvSpPr/>
          <p:nvPr/>
        </p:nvSpPr>
        <p:spPr>
          <a:xfrm>
            <a:off x="6870208" y="3936492"/>
            <a:ext cx="2651760" cy="0"/>
          </a:xfrm>
          <a:prstGeom prst="line">
            <a:avLst/>
          </a:prstGeom>
          <a:noFill/>
          <a:ln w="9525">
            <a:solidFill>
              <a:srgbClr val="CCCCCC"/>
            </a:solidFill>
            <a:prstDash val="solid"/>
          </a:ln>
        </p:spPr>
      </p:sp>
      <p:sp>
        <p:nvSpPr>
          <p:cNvPr id="38" name="Text 3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高齢者向けに電話の予約も残す</a:t>
            </a:r>
            <a:endParaRPr lang="en-US" sz="1400" dirty="0"/>
          </a:p>
        </p:txBody>
      </p:sp>
      <p:sp>
        <p:nvSpPr>
          <p:cNvPr id="39" name="Text 3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登録者の4割は70代以上である。アプリに慣れるまでの1年間は、予約センターでの電話の受付を続ける。電話の受付は、アプリの利用率が6割を超えた時点で縮める</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移動の支援が要る3,400世帯のうち、3つの条件が重なる620世帯が最も支援を要する。まずこの層に絞って、予約型交通の乗降地点を決めるべきである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移動の支援が要る世帯の重なり</a:t>
            </a:r>
            <a:pPr indent="0" marL="0">
              <a:buNone/>
            </a:pPr>
            <a:r>
              <a:rPr lang="en-US" sz="1100" dirty="0">
                <a:solidFill>
                  <a:srgbClr val="3F3F3F"/>
                </a:solidFill>
                <a:latin typeface="Yu Gothic UI" pitchFamily="34" charset="0"/>
                <a:ea typeface="Yu Gothic UI" pitchFamily="34" charset="-122"/>
                <a:cs typeface="Yu Gothic UI" pitchFamily="34" charset="-120"/>
              </a:rPr>
              <a:t>　（世帯、2026年5月）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注）世帯数は住民基本台帳と運転免許の保有データを突き合わせた推計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住民基本台帳（2026年5月）を基に作成（名称・数値は架空の見本）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06688" y="2011680"/>
            <a:ext cx="2468880" cy="2468880"/>
          </a:xfrm>
          <a:prstGeom prst="ellipse">
            <a:avLst/>
          </a:prstGeom>
          <a:ln w="15875">
            <a:solidFill>
              <a:srgbClr val="7F7F7F"/>
            </a:solidFill>
            <a:prstDash val="solid"/>
          </a:ln>
        </p:spPr>
      </p:sp>
      <p:sp>
        <p:nvSpPr>
          <p:cNvPr id="13" name="Text 10"/>
          <p:cNvSpPr txBox="1"/>
          <p:nvPr/>
        </p:nvSpPr>
        <p:spPr>
          <a:xfrm>
            <a:off x="200848" y="2103120"/>
            <a:ext cx="9601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高齢の単身</a:t>
            </a:r>
            <a:endParaRPr lang="en-US" sz="1400" dirty="0"/>
          </a:p>
        </p:txBody>
      </p:sp>
      <p:sp>
        <p:nvSpPr>
          <p:cNvPr id="14" name="Shape 11"/>
          <p:cNvSpPr/>
          <p:nvPr/>
        </p:nvSpPr>
        <p:spPr>
          <a:xfrm>
            <a:off x="2578288" y="2011680"/>
            <a:ext cx="2468880" cy="2468880"/>
          </a:xfrm>
          <a:prstGeom prst="ellipse">
            <a:avLst/>
          </a:prstGeom>
          <a:ln w="15875">
            <a:solidFill>
              <a:srgbClr val="7F7F7F"/>
            </a:solidFill>
            <a:prstDash val="solid"/>
          </a:ln>
        </p:spPr>
      </p:sp>
      <p:sp>
        <p:nvSpPr>
          <p:cNvPr id="15" name="Text 12"/>
          <p:cNvSpPr txBox="1"/>
          <p:nvPr/>
        </p:nvSpPr>
        <p:spPr>
          <a:xfrm>
            <a:off x="5138608" y="2103120"/>
            <a:ext cx="1645920" cy="274320"/>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車を持たない</a:t>
            </a:r>
            <a:endParaRPr lang="en-US" sz="1400" dirty="0"/>
          </a:p>
        </p:txBody>
      </p:sp>
      <p:sp>
        <p:nvSpPr>
          <p:cNvPr id="16" name="Shape 13"/>
          <p:cNvSpPr/>
          <p:nvPr/>
        </p:nvSpPr>
        <p:spPr>
          <a:xfrm>
            <a:off x="1892488" y="3108960"/>
            <a:ext cx="2468880" cy="2468880"/>
          </a:xfrm>
          <a:prstGeom prst="ellipse">
            <a:avLst/>
          </a:prstGeom>
          <a:ln w="15875">
            <a:solidFill>
              <a:srgbClr val="7F7F7F"/>
            </a:solidFill>
            <a:prstDash val="solid"/>
          </a:ln>
        </p:spPr>
      </p:sp>
      <p:sp>
        <p:nvSpPr>
          <p:cNvPr id="17" name="Text 14"/>
          <p:cNvSpPr txBox="1"/>
          <p:nvPr/>
        </p:nvSpPr>
        <p:spPr>
          <a:xfrm>
            <a:off x="2303968" y="562356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駅から2km以上</a:t>
            </a:r>
            <a:endParaRPr lang="en-US" sz="1400" dirty="0"/>
          </a:p>
        </p:txBody>
      </p:sp>
      <p:sp>
        <p:nvSpPr>
          <p:cNvPr id="18" name="Shape 15"/>
          <p:cNvSpPr/>
          <p:nvPr/>
        </p:nvSpPr>
        <p:spPr>
          <a:xfrm>
            <a:off x="2761168" y="3429000"/>
            <a:ext cx="731520" cy="640080"/>
          </a:xfrm>
          <a:prstGeom prst="ellipse">
            <a:avLst/>
          </a:prstGeom>
          <a:solidFill>
            <a:srgbClr val="000F78"/>
          </a:solidFill>
          <a:ln/>
        </p:spPr>
      </p:sp>
      <p:sp>
        <p:nvSpPr>
          <p:cNvPr id="19" name="Text 16"/>
          <p:cNvSpPr txBox="1"/>
          <p:nvPr/>
        </p:nvSpPr>
        <p:spPr>
          <a:xfrm>
            <a:off x="2715448" y="3566160"/>
            <a:ext cx="822960" cy="365760"/>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620</a:t>
            </a:r>
            <a:endParaRPr lang="en-US" sz="1200" dirty="0"/>
          </a:p>
        </p:txBody>
      </p:sp>
      <p:sp>
        <p:nvSpPr>
          <p:cNvPr id="20" name="Text 17"/>
          <p:cNvSpPr txBox="1"/>
          <p:nvPr/>
        </p:nvSpPr>
        <p:spPr>
          <a:xfrm>
            <a:off x="6327328" y="1965960"/>
            <a:ext cx="33775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Shape 18"/>
          <p:cNvSpPr/>
          <p:nvPr/>
        </p:nvSpPr>
        <p:spPr>
          <a:xfrm>
            <a:off x="6327328" y="2313432"/>
            <a:ext cx="3377520" cy="0"/>
          </a:xfrm>
          <a:prstGeom prst="line">
            <a:avLst/>
          </a:prstGeom>
          <a:noFill/>
          <a:ln w="15875">
            <a:solidFill>
              <a:srgbClr val="3F3F3F"/>
            </a:solidFill>
            <a:prstDash val="solid"/>
          </a:ln>
        </p:spPr>
      </p:sp>
      <p:sp>
        <p:nvSpPr>
          <p:cNvPr id="22" name="Text 19"/>
          <p:cNvSpPr txBox="1"/>
          <p:nvPr/>
        </p:nvSpPr>
        <p:spPr>
          <a:xfrm>
            <a:off x="6327328" y="2514600"/>
            <a:ext cx="3377520" cy="640080"/>
          </a:xfrm>
          <a:prstGeom prst="rect">
            <a:avLst/>
          </a:prstGeom>
          <a:noFill/>
          <a:ln/>
        </p:spPr>
        <p:txBody>
          <a:bodyPr wrap="square" lIns="0" tIns="0" rIns="0" bIns="0" rtlCol="0" anchor="t"/>
          <a:lstStyle/>
          <a:p>
            <a:pPr indent="0" marL="0">
              <a:buNone/>
            </a:pPr>
            <a:r>
              <a:rPr lang="en-US" sz="2800" b="1" dirty="0">
                <a:solidFill>
                  <a:srgbClr val="3F3F3F"/>
                </a:solidFill>
                <a:latin typeface="Yu Gothic UI" pitchFamily="34" charset="0"/>
                <a:ea typeface="Yu Gothic UI" pitchFamily="34" charset="-122"/>
                <a:cs typeface="Yu Gothic UI" pitchFamily="34" charset="-120"/>
              </a:rPr>
              <a:t>620世帯</a:t>
            </a:r>
            <a:endParaRPr lang="en-US" sz="2800" dirty="0"/>
          </a:p>
        </p:txBody>
      </p:sp>
      <p:sp>
        <p:nvSpPr>
          <p:cNvPr id="23" name="Shape 20"/>
          <p:cNvSpPr/>
          <p:nvPr/>
        </p:nvSpPr>
        <p:spPr>
          <a:xfrm>
            <a:off x="6327328" y="3337560"/>
            <a:ext cx="3377520" cy="0"/>
          </a:xfrm>
          <a:prstGeom prst="line">
            <a:avLst/>
          </a:prstGeom>
          <a:noFill/>
          <a:ln w="9525">
            <a:solidFill>
              <a:srgbClr val="CCCCCC"/>
            </a:solidFill>
            <a:prstDash val="solid"/>
          </a:ln>
        </p:spPr>
      </p:sp>
      <p:sp>
        <p:nvSpPr>
          <p:cNvPr id="24" name="Text 21"/>
          <p:cNvSpPr txBox="1"/>
          <p:nvPr/>
        </p:nvSpPr>
        <p:spPr>
          <a:xfrm>
            <a:off x="6327328" y="3474720"/>
            <a:ext cx="337752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移動の支援が要る世帯全体</a:t>
            </a:r>
            <a:endParaRPr lang="en-US" sz="1400" dirty="0"/>
          </a:p>
        </p:txBody>
      </p:sp>
      <p:sp>
        <p:nvSpPr>
          <p:cNvPr id="25" name="Text 22"/>
          <p:cNvSpPr txBox="1"/>
          <p:nvPr/>
        </p:nvSpPr>
        <p:spPr>
          <a:xfrm>
            <a:off x="6327328" y="3794760"/>
            <a:ext cx="3377520" cy="411480"/>
          </a:xfrm>
          <a:prstGeom prst="rect">
            <a:avLst/>
          </a:prstGeom>
          <a:noFill/>
          <a:ln/>
        </p:spPr>
        <p:txBody>
          <a:bodyPr wrap="square" lIns="0" tIns="0" rIns="0" bIns="0" rtlCol="0" anchor="t"/>
          <a:lstStyle/>
          <a:p>
            <a:pPr indent="0" marL="0">
              <a:buNone/>
            </a:pPr>
            <a:r>
              <a:rPr lang="en-US" sz="2000" b="1" dirty="0">
                <a:solidFill>
                  <a:srgbClr val="3F3F3F"/>
                </a:solidFill>
                <a:latin typeface="Arial" pitchFamily="34" charset="0"/>
                <a:ea typeface="Arial" pitchFamily="34" charset="-122"/>
                <a:cs typeface="Arial" pitchFamily="34" charset="-120"/>
              </a:rPr>
              <a:t>3,400世帯</a:t>
            </a:r>
            <a:endParaRPr lang="en-US" sz="2000" dirty="0"/>
          </a:p>
        </p:txBody>
      </p:sp>
      <p:sp>
        <p:nvSpPr>
          <p:cNvPr id="26" name="Text 23"/>
          <p:cNvSpPr txBox="1"/>
          <p:nvPr/>
        </p:nvSpPr>
        <p:spPr>
          <a:xfrm>
            <a:off x="6327328" y="4297680"/>
            <a:ext cx="337752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補足：いずれか1つ以上に当たる世帯の合計</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立場の異なる関係者が共通して、通院の足がなくなることを最大の不安に挙げた。数字に表れにくいこの不安への手当てが、合意形成の前提となる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注）発言は趣旨を変えない範囲で要約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54</a:t>
            </a:r>
            <a:endParaRPr lang="en-US" sz="900" dirty="0"/>
          </a:p>
        </p:txBody>
      </p:sp>
      <p:sp>
        <p:nvSpPr>
          <p:cNvPr id="12" name="Shape 10"/>
          <p:cNvSpPr/>
          <p:nvPr/>
        </p:nvSpPr>
        <p:spPr>
          <a:xfrm>
            <a:off x="200848" y="2011680"/>
            <a:ext cx="9504000" cy="960120"/>
          </a:xfrm>
          <a:prstGeom prst="rect">
            <a:avLst/>
          </a:prstGeom>
          <a:solidFill>
            <a:srgbClr val="E0EEF8"/>
          </a:solidFill>
          <a:ln/>
        </p:spPr>
      </p:sp>
      <p:sp>
        <p:nvSpPr>
          <p:cNvPr id="13" name="Shape 9"/>
          <p:cNvSpPr/>
          <p:nvPr/>
        </p:nvSpPr>
        <p:spPr>
          <a:xfrm>
            <a:off x="200848" y="2011680"/>
            <a:ext cx="0" cy="960120"/>
          </a:xfrm>
          <a:prstGeom prst="line">
            <a:avLst/>
          </a:prstGeom>
          <a:noFill/>
          <a:ln w="38100">
            <a:solidFill>
              <a:srgbClr val="000F78"/>
            </a:solidFill>
            <a:prstDash val="solid"/>
          </a:ln>
        </p:spPr>
      </p:sp>
      <p:sp>
        <p:nvSpPr>
          <p:cNvPr id="14" name="Text 11"/>
          <p:cNvSpPr txBox="1"/>
          <p:nvPr/>
        </p:nvSpPr>
        <p:spPr>
          <a:xfrm>
            <a:off x="475168" y="2011680"/>
            <a:ext cx="9229680" cy="548640"/>
          </a:xfrm>
          <a:prstGeom prst="rect">
            <a:avLst/>
          </a:prstGeom>
          <a:noFill/>
          <a:ln/>
        </p:spPr>
        <p:txBody>
          <a:bodyPr wrap="square" lIns="0" tIns="0" rIns="0" bIns="0" rtlCol="0" anchor="ctr"/>
          <a:lstStyle/>
          <a:p>
            <a:pPr indent="0" marL="0">
              <a:buNone/>
            </a:pPr>
            <a:r>
              <a:rPr lang="en-US" sz="1600" b="1" dirty="0">
                <a:solidFill>
                  <a:srgbClr val="3F3F3F"/>
                </a:solidFill>
                <a:latin typeface="Yu Gothic UI" pitchFamily="34" charset="0"/>
                <a:ea typeface="Yu Gothic UI" pitchFamily="34" charset="-122"/>
                <a:cs typeface="Yu Gothic UI" pitchFamily="34" charset="-120"/>
              </a:rPr>
              <a:t>「バスがなくなったら、週2回の通院をどうすればよいのか分からない」</a:t>
            </a:r>
            <a:endParaRPr lang="en-US" sz="1600" dirty="0"/>
          </a:p>
        </p:txBody>
      </p:sp>
      <p:sp>
        <p:nvSpPr>
          <p:cNvPr id="15" name="Text 12"/>
          <p:cNvSpPr txBox="1"/>
          <p:nvPr/>
        </p:nvSpPr>
        <p:spPr>
          <a:xfrm>
            <a:off x="475168" y="260604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沿線の高齢者（80代、一人暮らし）</a:t>
            </a:r>
            <a:endParaRPr lang="en-US" sz="1400" dirty="0"/>
          </a:p>
        </p:txBody>
      </p:sp>
      <p:sp>
        <p:nvSpPr>
          <p:cNvPr id="16" name="Shape 13"/>
          <p:cNvSpPr/>
          <p:nvPr/>
        </p:nvSpPr>
        <p:spPr>
          <a:xfrm>
            <a:off x="200848" y="3337560"/>
            <a:ext cx="0" cy="960120"/>
          </a:xfrm>
          <a:prstGeom prst="line">
            <a:avLst/>
          </a:prstGeom>
          <a:noFill/>
          <a:ln w="19050">
            <a:solidFill>
              <a:srgbClr val="CCCCCC"/>
            </a:solidFill>
            <a:prstDash val="solid"/>
          </a:ln>
        </p:spPr>
      </p:sp>
      <p:sp>
        <p:nvSpPr>
          <p:cNvPr id="17" name="Text 14"/>
          <p:cNvSpPr txBox="1"/>
          <p:nvPr/>
        </p:nvSpPr>
        <p:spPr>
          <a:xfrm>
            <a:off x="475168" y="333756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「予約型になっても、病院の前で乗り降りできるなら困らない」</a:t>
            </a:r>
            <a:endParaRPr lang="en-US" sz="1400" dirty="0"/>
          </a:p>
        </p:txBody>
      </p:sp>
      <p:sp>
        <p:nvSpPr>
          <p:cNvPr id="18" name="Text 15"/>
          <p:cNvSpPr txBox="1"/>
          <p:nvPr/>
        </p:nvSpPr>
        <p:spPr>
          <a:xfrm>
            <a:off x="475168" y="393192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沿線自治会 会長</a:t>
            </a:r>
            <a:endParaRPr lang="en-US" sz="1400" dirty="0"/>
          </a:p>
        </p:txBody>
      </p:sp>
      <p:sp>
        <p:nvSpPr>
          <p:cNvPr id="19" name="Shape 16"/>
          <p:cNvSpPr/>
          <p:nvPr/>
        </p:nvSpPr>
        <p:spPr>
          <a:xfrm>
            <a:off x="200848" y="4663440"/>
            <a:ext cx="0" cy="960120"/>
          </a:xfrm>
          <a:prstGeom prst="line">
            <a:avLst/>
          </a:prstGeom>
          <a:noFill/>
          <a:ln w="19050">
            <a:solidFill>
              <a:srgbClr val="CCCCCC"/>
            </a:solidFill>
            <a:prstDash val="solid"/>
          </a:ln>
        </p:spPr>
      </p:sp>
      <p:sp>
        <p:nvSpPr>
          <p:cNvPr id="20" name="Text 17"/>
          <p:cNvSpPr txBox="1"/>
          <p:nvPr/>
        </p:nvSpPr>
        <p:spPr>
          <a:xfrm>
            <a:off x="475168" y="4663440"/>
            <a:ext cx="922968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「運転士が足りず、今の便数を保つだけで精一杯だ」</a:t>
            </a:r>
            <a:endParaRPr lang="en-US" sz="1400" dirty="0"/>
          </a:p>
        </p:txBody>
      </p:sp>
      <p:sp>
        <p:nvSpPr>
          <p:cNvPr id="21" name="Text 18"/>
          <p:cNvSpPr txBox="1"/>
          <p:nvPr/>
        </p:nvSpPr>
        <p:spPr>
          <a:xfrm>
            <a:off x="475168" y="5257800"/>
            <a:ext cx="9229680" cy="320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バス会社 運行管理者</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バスの満足度は年代が上がるほど低く、80代以上は全体の半分にとどまる。背景には停留所の遠さがあり、支援は80代以上から始めるべきである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年代別のバスの満足度</a:t>
            </a:r>
            <a:pPr indent="0" marL="0">
              <a:buNone/>
            </a:pPr>
            <a:r>
              <a:rPr lang="en-US" sz="1100" dirty="0">
                <a:solidFill>
                  <a:srgbClr val="3F3F3F"/>
                </a:solidFill>
                <a:latin typeface="Yu Gothic UI" pitchFamily="34" charset="0"/>
                <a:ea typeface="Yu Gothic UI" pitchFamily="34" charset="-122"/>
                <a:cs typeface="Yu Gothic UI" pitchFamily="34" charset="-120"/>
              </a:rPr>
              <a:t>　（「満足」「やや満足」の計、%、n＝1,200、2026年5月）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注）設問「バスの利用に満足していますか」の「満足」「やや満足」の計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00848"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144448" y="1920240"/>
            <a:ext cx="3560400" cy="4114800"/>
          </a:xfrm>
          <a:prstGeom prst="rect">
            <a:avLst/>
          </a:prstGeom>
          <a:solidFill>
            <a:srgbClr val="E0EEF8"/>
          </a:solidFill>
          <a:ln/>
        </p:spPr>
      </p:sp>
      <p:sp>
        <p:nvSpPr>
          <p:cNvPr id="14" name="Text 10"/>
          <p:cNvSpPr txBox="1"/>
          <p:nvPr/>
        </p:nvSpPr>
        <p:spPr>
          <a:xfrm>
            <a:off x="6327328" y="210312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80代以上の満足は31%で、全体の半分にとどまる</a:t>
            </a:r>
            <a:endParaRPr lang="en-US" sz="1400" dirty="0"/>
          </a:p>
        </p:txBody>
      </p:sp>
      <p:sp>
        <p:nvSpPr>
          <p:cNvPr id="15" name="Text 11"/>
          <p:cNvSpPr txBox="1"/>
          <p:nvPr/>
        </p:nvSpPr>
        <p:spPr>
          <a:xfrm>
            <a:off x="6327328" y="278892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不満の理由の6割が「停留所が遠い・坂道がある」（自由回答）</a:t>
            </a:r>
            <a:endParaRPr lang="en-US" sz="1400" dirty="0"/>
          </a:p>
        </p:txBody>
      </p:sp>
      <p:sp>
        <p:nvSpPr>
          <p:cNvPr id="16" name="Shape 12"/>
          <p:cNvSpPr/>
          <p:nvPr/>
        </p:nvSpPr>
        <p:spPr>
          <a:xfrm>
            <a:off x="6327328" y="3886200"/>
            <a:ext cx="3194640" cy="0"/>
          </a:xfrm>
          <a:prstGeom prst="line">
            <a:avLst/>
          </a:prstGeom>
          <a:noFill/>
          <a:ln w="9525">
            <a:solidFill>
              <a:srgbClr val="CCCCCC"/>
            </a:solidFill>
            <a:prstDash val="solid"/>
          </a:ln>
        </p:spPr>
      </p:sp>
      <p:sp>
        <p:nvSpPr>
          <p:cNvPr id="17" name="Text 13"/>
          <p:cNvSpPr txBox="1"/>
          <p:nvPr/>
        </p:nvSpPr>
        <p:spPr>
          <a:xfrm>
            <a:off x="6327328" y="4069080"/>
            <a:ext cx="3194640" cy="64008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80代以上の多い地区から予約型を始めるべきである</a:t>
            </a:r>
            <a:endParaRPr lang="en-US" sz="1400" dirty="0"/>
          </a:p>
        </p:txBody>
      </p:sp>
      <p:sp>
        <p:nvSpPr>
          <p:cNvPr id="18" name="Text 14"/>
          <p:cNvSpPr txBox="1"/>
          <p:nvPr/>
        </p:nvSpPr>
        <p:spPr>
          <a:xfrm>
            <a:off x="6327328" y="4754880"/>
            <a:ext cx="319464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乗降地点を病院と自宅の前に置き、停留所まで歩く負担をなくす</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8つの指標のうち6つでみなと市は類似市の平均を下回り、特に1便当たりの乗車人数は平均の半分にとどまる。弱みは運行の効率に集中している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3F3F3F"/>
                </a:solidFill>
                <a:latin typeface="Yu Gothic UI" pitchFamily="34" charset="0"/>
                <a:ea typeface="Yu Gothic UI" pitchFamily="34" charset="-122"/>
                <a:cs typeface="Yu Gothic UI" pitchFamily="34" charset="-120"/>
              </a:rPr>
              <a:t>　（類似市の平均＝100、2025年度）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注）指数は類似市の平均を100とした値で、大きいほど良い（費用・待ち時間は逆数で換算）。類似市は人口10〜20万人の8市の平均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出所）国土交通省「地域交通統計」（2026年）を基に作成（名称・数値は架空の見本）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00848" y="1920240"/>
            <a:ext cx="310896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2308141" y="1920240"/>
            <a:ext cx="731520"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00848" y="2304288"/>
            <a:ext cx="6257880" cy="0"/>
          </a:xfrm>
          <a:prstGeom prst="line">
            <a:avLst/>
          </a:prstGeom>
          <a:noFill/>
          <a:ln w="12700">
            <a:solidFill>
              <a:srgbClr val="7F7F7F"/>
            </a:solidFill>
            <a:prstDash val="solid"/>
          </a:ln>
        </p:spPr>
      </p:sp>
      <p:sp>
        <p:nvSpPr>
          <p:cNvPr id="15" name="Text 12"/>
          <p:cNvSpPr txBox="1"/>
          <p:nvPr/>
        </p:nvSpPr>
        <p:spPr>
          <a:xfrm>
            <a:off x="200848" y="23774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人口当たりの運行本数</a:t>
            </a:r>
            <a:endParaRPr lang="en-US" sz="1400" dirty="0"/>
          </a:p>
        </p:txBody>
      </p:sp>
      <p:sp>
        <p:nvSpPr>
          <p:cNvPr id="16" name="Text 13"/>
          <p:cNvSpPr txBox="1"/>
          <p:nvPr/>
        </p:nvSpPr>
        <p:spPr>
          <a:xfrm>
            <a:off x="2308141" y="23774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112</a:t>
            </a:r>
            <a:endParaRPr lang="en-US" sz="1200" dirty="0"/>
          </a:p>
        </p:txBody>
      </p:sp>
      <p:sp>
        <p:nvSpPr>
          <p:cNvPr id="17" name="Shape 14"/>
          <p:cNvSpPr/>
          <p:nvPr/>
        </p:nvSpPr>
        <p:spPr>
          <a:xfrm>
            <a:off x="2970434" y="2496312"/>
            <a:ext cx="2360169" cy="219456"/>
          </a:xfrm>
          <a:prstGeom prst="rect">
            <a:avLst/>
          </a:prstGeom>
          <a:solidFill>
            <a:srgbClr val="CCCCCC"/>
          </a:solidFill>
          <a:ln/>
        </p:spPr>
      </p:sp>
      <p:sp>
        <p:nvSpPr>
          <p:cNvPr id="18" name="Shape 15"/>
          <p:cNvSpPr/>
          <p:nvPr/>
        </p:nvSpPr>
        <p:spPr>
          <a:xfrm>
            <a:off x="200848" y="2834640"/>
            <a:ext cx="6257880" cy="0"/>
          </a:xfrm>
          <a:prstGeom prst="line">
            <a:avLst/>
          </a:prstGeom>
          <a:noFill/>
          <a:ln w="9525">
            <a:solidFill>
              <a:srgbClr val="CCCCCC"/>
            </a:solidFill>
            <a:prstDash val="solid"/>
          </a:ln>
        </p:spPr>
      </p:sp>
      <p:sp>
        <p:nvSpPr>
          <p:cNvPr id="19" name="Text 16"/>
          <p:cNvSpPr txBox="1"/>
          <p:nvPr/>
        </p:nvSpPr>
        <p:spPr>
          <a:xfrm>
            <a:off x="200848" y="28346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1人当たりの利用回数</a:t>
            </a:r>
            <a:endParaRPr lang="en-US" sz="1400" dirty="0"/>
          </a:p>
        </p:txBody>
      </p:sp>
      <p:sp>
        <p:nvSpPr>
          <p:cNvPr id="20" name="Text 17"/>
          <p:cNvSpPr txBox="1"/>
          <p:nvPr/>
        </p:nvSpPr>
        <p:spPr>
          <a:xfrm>
            <a:off x="2308141" y="28346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95</a:t>
            </a:r>
            <a:endParaRPr lang="en-US" sz="1200" dirty="0"/>
          </a:p>
        </p:txBody>
      </p:sp>
      <p:sp>
        <p:nvSpPr>
          <p:cNvPr id="21" name="Shape 18"/>
          <p:cNvSpPr/>
          <p:nvPr/>
        </p:nvSpPr>
        <p:spPr>
          <a:xfrm>
            <a:off x="2970434" y="2953512"/>
            <a:ext cx="2001929" cy="219456"/>
          </a:xfrm>
          <a:prstGeom prst="rect">
            <a:avLst/>
          </a:prstGeom>
          <a:solidFill>
            <a:srgbClr val="CCCCCC"/>
          </a:solidFill>
          <a:ln/>
        </p:spPr>
      </p:sp>
      <p:sp>
        <p:nvSpPr>
          <p:cNvPr id="22" name="Shape 19"/>
          <p:cNvSpPr/>
          <p:nvPr/>
        </p:nvSpPr>
        <p:spPr>
          <a:xfrm>
            <a:off x="200848" y="3291840"/>
            <a:ext cx="6257880" cy="0"/>
          </a:xfrm>
          <a:prstGeom prst="line">
            <a:avLst/>
          </a:prstGeom>
          <a:noFill/>
          <a:ln w="9525">
            <a:solidFill>
              <a:srgbClr val="CCCCCC"/>
            </a:solidFill>
            <a:prstDash val="solid"/>
          </a:ln>
        </p:spPr>
      </p:sp>
      <p:sp>
        <p:nvSpPr>
          <p:cNvPr id="23" name="Text 20"/>
          <p:cNvSpPr txBox="1"/>
          <p:nvPr/>
        </p:nvSpPr>
        <p:spPr>
          <a:xfrm>
            <a:off x="200848" y="3291840"/>
            <a:ext cx="31089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1便当たりの乗車人数</a:t>
            </a:r>
            <a:endParaRPr lang="en-US" sz="1400" dirty="0"/>
          </a:p>
        </p:txBody>
      </p:sp>
      <p:sp>
        <p:nvSpPr>
          <p:cNvPr id="24" name="Text 21"/>
          <p:cNvSpPr txBox="1"/>
          <p:nvPr/>
        </p:nvSpPr>
        <p:spPr>
          <a:xfrm>
            <a:off x="2308141" y="3291840"/>
            <a:ext cx="73152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50</a:t>
            </a:r>
            <a:endParaRPr lang="en-US" sz="1200" dirty="0"/>
          </a:p>
        </p:txBody>
      </p:sp>
      <p:sp>
        <p:nvSpPr>
          <p:cNvPr id="25" name="Shape 22"/>
          <p:cNvSpPr/>
          <p:nvPr/>
        </p:nvSpPr>
        <p:spPr>
          <a:xfrm>
            <a:off x="2970434" y="3410712"/>
            <a:ext cx="1053647" cy="219456"/>
          </a:xfrm>
          <a:prstGeom prst="rect">
            <a:avLst/>
          </a:prstGeom>
          <a:solidFill>
            <a:srgbClr val="000F78"/>
          </a:solidFill>
          <a:ln/>
        </p:spPr>
      </p:sp>
      <p:sp>
        <p:nvSpPr>
          <p:cNvPr id="26" name="Shape 23"/>
          <p:cNvSpPr/>
          <p:nvPr/>
        </p:nvSpPr>
        <p:spPr>
          <a:xfrm>
            <a:off x="200848" y="3749040"/>
            <a:ext cx="6257880" cy="0"/>
          </a:xfrm>
          <a:prstGeom prst="line">
            <a:avLst/>
          </a:prstGeom>
          <a:noFill/>
          <a:ln w="9525">
            <a:solidFill>
              <a:srgbClr val="CCCCCC"/>
            </a:solidFill>
            <a:prstDash val="solid"/>
          </a:ln>
        </p:spPr>
      </p:sp>
      <p:sp>
        <p:nvSpPr>
          <p:cNvPr id="27" name="Text 24"/>
          <p:cNvSpPr txBox="1"/>
          <p:nvPr/>
        </p:nvSpPr>
        <p:spPr>
          <a:xfrm>
            <a:off x="200848" y="37490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運賃で賄う費用の割合</a:t>
            </a:r>
            <a:endParaRPr lang="en-US" sz="1400" dirty="0"/>
          </a:p>
        </p:txBody>
      </p:sp>
      <p:sp>
        <p:nvSpPr>
          <p:cNvPr id="28" name="Text 25"/>
          <p:cNvSpPr txBox="1"/>
          <p:nvPr/>
        </p:nvSpPr>
        <p:spPr>
          <a:xfrm>
            <a:off x="2308141" y="37490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88</a:t>
            </a:r>
            <a:endParaRPr lang="en-US" sz="1200" dirty="0"/>
          </a:p>
        </p:txBody>
      </p:sp>
      <p:sp>
        <p:nvSpPr>
          <p:cNvPr id="29" name="Shape 26"/>
          <p:cNvSpPr/>
          <p:nvPr/>
        </p:nvSpPr>
        <p:spPr>
          <a:xfrm>
            <a:off x="2970434" y="3867912"/>
            <a:ext cx="1854418" cy="219456"/>
          </a:xfrm>
          <a:prstGeom prst="rect">
            <a:avLst/>
          </a:prstGeom>
          <a:solidFill>
            <a:srgbClr val="CCCCCC"/>
          </a:solidFill>
          <a:ln/>
        </p:spPr>
      </p:sp>
      <p:sp>
        <p:nvSpPr>
          <p:cNvPr id="30" name="Shape 27"/>
          <p:cNvSpPr/>
          <p:nvPr/>
        </p:nvSpPr>
        <p:spPr>
          <a:xfrm>
            <a:off x="200848" y="4206240"/>
            <a:ext cx="6257880" cy="0"/>
          </a:xfrm>
          <a:prstGeom prst="line">
            <a:avLst/>
          </a:prstGeom>
          <a:noFill/>
          <a:ln w="9525">
            <a:solidFill>
              <a:srgbClr val="CCCCCC"/>
            </a:solidFill>
            <a:prstDash val="solid"/>
          </a:ln>
        </p:spPr>
      </p:sp>
      <p:sp>
        <p:nvSpPr>
          <p:cNvPr id="31" name="Text 28"/>
          <p:cNvSpPr txBox="1"/>
          <p:nvPr/>
        </p:nvSpPr>
        <p:spPr>
          <a:xfrm>
            <a:off x="200848" y="42062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停留所までの近さ</a:t>
            </a:r>
            <a:endParaRPr lang="en-US" sz="1400" dirty="0"/>
          </a:p>
        </p:txBody>
      </p:sp>
      <p:sp>
        <p:nvSpPr>
          <p:cNvPr id="32" name="Text 29"/>
          <p:cNvSpPr txBox="1"/>
          <p:nvPr/>
        </p:nvSpPr>
        <p:spPr>
          <a:xfrm>
            <a:off x="2308141" y="42062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104</a:t>
            </a:r>
            <a:endParaRPr lang="en-US" sz="1200" dirty="0"/>
          </a:p>
        </p:txBody>
      </p:sp>
      <p:sp>
        <p:nvSpPr>
          <p:cNvPr id="33" name="Shape 30"/>
          <p:cNvSpPr/>
          <p:nvPr/>
        </p:nvSpPr>
        <p:spPr>
          <a:xfrm>
            <a:off x="2970434" y="4325112"/>
            <a:ext cx="2191585" cy="219456"/>
          </a:xfrm>
          <a:prstGeom prst="rect">
            <a:avLst/>
          </a:prstGeom>
          <a:solidFill>
            <a:srgbClr val="CCCCCC"/>
          </a:solidFill>
          <a:ln/>
        </p:spPr>
      </p:sp>
      <p:sp>
        <p:nvSpPr>
          <p:cNvPr id="34" name="Shape 31"/>
          <p:cNvSpPr/>
          <p:nvPr/>
        </p:nvSpPr>
        <p:spPr>
          <a:xfrm>
            <a:off x="200848" y="4663440"/>
            <a:ext cx="6257880" cy="0"/>
          </a:xfrm>
          <a:prstGeom prst="line">
            <a:avLst/>
          </a:prstGeom>
          <a:noFill/>
          <a:ln w="9525">
            <a:solidFill>
              <a:srgbClr val="CCCCCC"/>
            </a:solidFill>
            <a:prstDash val="solid"/>
          </a:ln>
        </p:spPr>
      </p:sp>
      <p:sp>
        <p:nvSpPr>
          <p:cNvPr id="35" name="Text 32"/>
          <p:cNvSpPr txBox="1"/>
          <p:nvPr/>
        </p:nvSpPr>
        <p:spPr>
          <a:xfrm>
            <a:off x="200848" y="46634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定時に運行した割合</a:t>
            </a:r>
            <a:endParaRPr lang="en-US" sz="1400" dirty="0"/>
          </a:p>
        </p:txBody>
      </p:sp>
      <p:sp>
        <p:nvSpPr>
          <p:cNvPr id="36" name="Text 33"/>
          <p:cNvSpPr txBox="1"/>
          <p:nvPr/>
        </p:nvSpPr>
        <p:spPr>
          <a:xfrm>
            <a:off x="2308141" y="46634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76</a:t>
            </a:r>
            <a:endParaRPr lang="en-US" sz="1200" dirty="0"/>
          </a:p>
        </p:txBody>
      </p:sp>
      <p:sp>
        <p:nvSpPr>
          <p:cNvPr id="37" name="Shape 34"/>
          <p:cNvSpPr/>
          <p:nvPr/>
        </p:nvSpPr>
        <p:spPr>
          <a:xfrm>
            <a:off x="2970434" y="4782312"/>
            <a:ext cx="1601543" cy="219456"/>
          </a:xfrm>
          <a:prstGeom prst="rect">
            <a:avLst/>
          </a:prstGeom>
          <a:solidFill>
            <a:srgbClr val="CCCCCC"/>
          </a:solidFill>
          <a:ln/>
        </p:spPr>
      </p:sp>
      <p:sp>
        <p:nvSpPr>
          <p:cNvPr id="38" name="Shape 35"/>
          <p:cNvSpPr/>
          <p:nvPr/>
        </p:nvSpPr>
        <p:spPr>
          <a:xfrm>
            <a:off x="200848" y="5120640"/>
            <a:ext cx="6257880" cy="0"/>
          </a:xfrm>
          <a:prstGeom prst="line">
            <a:avLst/>
          </a:prstGeom>
          <a:noFill/>
          <a:ln w="9525">
            <a:solidFill>
              <a:srgbClr val="CCCCCC"/>
            </a:solidFill>
            <a:prstDash val="solid"/>
          </a:ln>
        </p:spPr>
      </p:sp>
      <p:sp>
        <p:nvSpPr>
          <p:cNvPr id="39" name="Text 36"/>
          <p:cNvSpPr txBox="1"/>
          <p:nvPr/>
        </p:nvSpPr>
        <p:spPr>
          <a:xfrm>
            <a:off x="200848" y="51206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乗継ぎの待ち時間の短さ</a:t>
            </a:r>
            <a:endParaRPr lang="en-US" sz="1400" dirty="0"/>
          </a:p>
        </p:txBody>
      </p:sp>
      <p:sp>
        <p:nvSpPr>
          <p:cNvPr id="40" name="Text 37"/>
          <p:cNvSpPr txBox="1"/>
          <p:nvPr/>
        </p:nvSpPr>
        <p:spPr>
          <a:xfrm>
            <a:off x="2308141" y="51206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91</a:t>
            </a:r>
            <a:endParaRPr lang="en-US" sz="1200" dirty="0"/>
          </a:p>
        </p:txBody>
      </p:sp>
      <p:sp>
        <p:nvSpPr>
          <p:cNvPr id="41" name="Shape 38"/>
          <p:cNvSpPr/>
          <p:nvPr/>
        </p:nvSpPr>
        <p:spPr>
          <a:xfrm>
            <a:off x="2970434" y="5239512"/>
            <a:ext cx="1917637" cy="219456"/>
          </a:xfrm>
          <a:prstGeom prst="rect">
            <a:avLst/>
          </a:prstGeom>
          <a:solidFill>
            <a:srgbClr val="CCCCCC"/>
          </a:solidFill>
          <a:ln/>
        </p:spPr>
      </p:sp>
      <p:sp>
        <p:nvSpPr>
          <p:cNvPr id="42" name="Shape 39"/>
          <p:cNvSpPr/>
          <p:nvPr/>
        </p:nvSpPr>
        <p:spPr>
          <a:xfrm>
            <a:off x="200848" y="5577840"/>
            <a:ext cx="6257880" cy="0"/>
          </a:xfrm>
          <a:prstGeom prst="line">
            <a:avLst/>
          </a:prstGeom>
          <a:noFill/>
          <a:ln w="9525">
            <a:solidFill>
              <a:srgbClr val="CCCCCC"/>
            </a:solidFill>
            <a:prstDash val="solid"/>
          </a:ln>
        </p:spPr>
      </p:sp>
      <p:sp>
        <p:nvSpPr>
          <p:cNvPr id="43" name="Text 40"/>
          <p:cNvSpPr txBox="1"/>
          <p:nvPr/>
        </p:nvSpPr>
        <p:spPr>
          <a:xfrm>
            <a:off x="200848" y="5577840"/>
            <a:ext cx="31089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利用者の満足度</a:t>
            </a:r>
            <a:endParaRPr lang="en-US" sz="1400" dirty="0"/>
          </a:p>
        </p:txBody>
      </p:sp>
      <p:sp>
        <p:nvSpPr>
          <p:cNvPr id="44" name="Text 41"/>
          <p:cNvSpPr txBox="1"/>
          <p:nvPr/>
        </p:nvSpPr>
        <p:spPr>
          <a:xfrm>
            <a:off x="2308141" y="5577840"/>
            <a:ext cx="73152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83</a:t>
            </a:r>
            <a:endParaRPr lang="en-US" sz="1200" dirty="0"/>
          </a:p>
        </p:txBody>
      </p:sp>
      <p:sp>
        <p:nvSpPr>
          <p:cNvPr id="45" name="Shape 42"/>
          <p:cNvSpPr/>
          <p:nvPr/>
        </p:nvSpPr>
        <p:spPr>
          <a:xfrm>
            <a:off x="2970434" y="5696712"/>
            <a:ext cx="1749054" cy="219456"/>
          </a:xfrm>
          <a:prstGeom prst="rect">
            <a:avLst/>
          </a:prstGeom>
          <a:solidFill>
            <a:srgbClr val="CCCCCC"/>
          </a:solidFill>
          <a:ln/>
        </p:spPr>
      </p:sp>
      <p:sp>
        <p:nvSpPr>
          <p:cNvPr id="46" name="Shape 43"/>
          <p:cNvSpPr/>
          <p:nvPr/>
        </p:nvSpPr>
        <p:spPr>
          <a:xfrm>
            <a:off x="5077727" y="2331720"/>
            <a:ext cx="0" cy="3749040"/>
          </a:xfrm>
          <a:prstGeom prst="line">
            <a:avLst/>
          </a:prstGeom>
          <a:noFill/>
          <a:ln w="12700">
            <a:solidFill>
              <a:srgbClr val="3F3F3F"/>
            </a:solidFill>
            <a:prstDash val="dash"/>
          </a:ln>
        </p:spPr>
      </p:sp>
      <p:sp>
        <p:nvSpPr>
          <p:cNvPr id="47" name="Text 44"/>
          <p:cNvSpPr txBox="1"/>
          <p:nvPr/>
        </p:nvSpPr>
        <p:spPr>
          <a:xfrm>
            <a:off x="4716477" y="6126480"/>
            <a:ext cx="109728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平均＝100</a:t>
            </a:r>
            <a:endParaRPr lang="en-US" sz="1400" dirty="0"/>
          </a:p>
        </p:txBody>
      </p:sp>
      <p:sp>
        <p:nvSpPr>
          <p:cNvPr id="48" name="Shape 45"/>
          <p:cNvSpPr/>
          <p:nvPr/>
        </p:nvSpPr>
        <p:spPr>
          <a:xfrm>
            <a:off x="6687328" y="1874520"/>
            <a:ext cx="3017520" cy="4251960"/>
          </a:xfrm>
          <a:prstGeom prst="rect">
            <a:avLst/>
          </a:prstGeom>
          <a:solidFill>
            <a:srgbClr val="E0EEF8"/>
          </a:solidFill>
          <a:ln/>
        </p:spPr>
      </p:sp>
      <p:sp>
        <p:nvSpPr>
          <p:cNvPr id="49" name="Text 4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8指標のうち6つで平均を下回る</a:t>
            </a:r>
            <a:endParaRPr lang="en-US" sz="1400" dirty="0"/>
          </a:p>
        </p:txBody>
      </p:sp>
      <p:sp>
        <p:nvSpPr>
          <p:cNvPr id="50" name="Text 4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平均を上回るのは運行本数（112）と停留所までの近さ（104）だけ。利便の高さが、利用の多さにつながっていない。本数と停留所の多さが、費用を押し上げている</a:t>
            </a:r>
            <a:endParaRPr lang="en-US" sz="1200" dirty="0"/>
          </a:p>
        </p:txBody>
      </p:sp>
      <p:sp>
        <p:nvSpPr>
          <p:cNvPr id="51" name="Shape 48"/>
          <p:cNvSpPr/>
          <p:nvPr/>
        </p:nvSpPr>
        <p:spPr>
          <a:xfrm>
            <a:off x="6870208" y="3936492"/>
            <a:ext cx="2651760" cy="0"/>
          </a:xfrm>
          <a:prstGeom prst="line">
            <a:avLst/>
          </a:prstGeom>
          <a:noFill/>
          <a:ln w="9525">
            <a:solidFill>
              <a:srgbClr val="CCCCCC"/>
            </a:solidFill>
            <a:prstDash val="solid"/>
          </a:ln>
        </p:spPr>
      </p:sp>
      <p:sp>
        <p:nvSpPr>
          <p:cNvPr id="52" name="Text 4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1便当たりの乗車人数は平均の半分</a:t>
            </a:r>
            <a:endParaRPr lang="en-US" sz="1400" dirty="0"/>
          </a:p>
        </p:txBody>
      </p:sp>
      <p:sp>
        <p:nvSpPr>
          <p:cNvPr id="53" name="Text 5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指数50で8指標の中で最も低い。本数は多いが、1便に乗る人が少ない。乗る人の少ない便を、予約型に置き換える余地が大きい。置き換えの候補は、1便3人未満の支線の便である</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本日の120分のうち半分を論点2の打ち手の選定に充て、最後の20分で次回までの宿題を確定する。論点1は事前送付資料の確認に留める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本日の進め方</a:t>
            </a:r>
            <a:pPr indent="0" marL="0">
              <a:buNone/>
            </a:pPr>
            <a:r>
              <a:rPr lang="en-US" sz="1100" dirty="0">
                <a:solidFill>
                  <a:srgbClr val="3F3F3F"/>
                </a:solidFill>
                <a:latin typeface="Yu Gothic UI" pitchFamily="34" charset="0"/>
                <a:ea typeface="Yu Gothic UI" pitchFamily="34" charset="-122"/>
                <a:cs typeface="Yu Gothic UI" pitchFamily="34" charset="-120"/>
              </a:rPr>
              <a:t>　（13:00〜15:00、120分）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57</a:t>
            </a:r>
            <a:endParaRPr lang="en-US" sz="900" dirty="0"/>
          </a:p>
        </p:txBody>
      </p:sp>
      <p:sp>
        <p:nvSpPr>
          <p:cNvPr id="11" name="Text 8"/>
          <p:cNvSpPr txBox="1"/>
          <p:nvPr/>
        </p:nvSpPr>
        <p:spPr>
          <a:xfrm>
            <a:off x="20084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p>
        </p:txBody>
      </p:sp>
      <p:sp>
        <p:nvSpPr>
          <p:cNvPr id="12" name="Text 9"/>
          <p:cNvSpPr txBox="1"/>
          <p:nvPr/>
        </p:nvSpPr>
        <p:spPr>
          <a:xfrm>
            <a:off x="10695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配分</a:t>
            </a:r>
            <a:endParaRPr lang="en-US" sz="1400" dirty="0"/>
          </a:p>
        </p:txBody>
      </p:sp>
      <p:sp>
        <p:nvSpPr>
          <p:cNvPr id="13" name="Text 10"/>
          <p:cNvSpPr txBox="1"/>
          <p:nvPr/>
        </p:nvSpPr>
        <p:spPr>
          <a:xfrm>
            <a:off x="330980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議題</a:t>
            </a:r>
            <a:endParaRPr lang="en-US" sz="1400" dirty="0"/>
          </a:p>
        </p:txBody>
      </p:sp>
      <p:sp>
        <p:nvSpPr>
          <p:cNvPr id="14" name="Text 11"/>
          <p:cNvSpPr txBox="1"/>
          <p:nvPr/>
        </p:nvSpPr>
        <p:spPr>
          <a:xfrm>
            <a:off x="587012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内容</a:t>
            </a:r>
            <a:endParaRPr lang="en-US" sz="1400" dirty="0"/>
          </a:p>
        </p:txBody>
      </p:sp>
      <p:sp>
        <p:nvSpPr>
          <p:cNvPr id="15" name="Text 12"/>
          <p:cNvSpPr txBox="1"/>
          <p:nvPr/>
        </p:nvSpPr>
        <p:spPr>
          <a:xfrm>
            <a:off x="8613328" y="1920240"/>
            <a:ext cx="91440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資料</a:t>
            </a:r>
            <a:endParaRPr lang="en-US" sz="1400" dirty="0"/>
          </a:p>
        </p:txBody>
      </p:sp>
      <p:sp>
        <p:nvSpPr>
          <p:cNvPr id="16" name="Shape 13"/>
          <p:cNvSpPr/>
          <p:nvPr/>
        </p:nvSpPr>
        <p:spPr>
          <a:xfrm>
            <a:off x="200848" y="2286000"/>
            <a:ext cx="9504000" cy="0"/>
          </a:xfrm>
          <a:prstGeom prst="line">
            <a:avLst/>
          </a:prstGeom>
          <a:noFill/>
          <a:ln w="12700">
            <a:solidFill>
              <a:srgbClr val="7F7F7F"/>
            </a:solidFill>
            <a:prstDash val="solid"/>
          </a:ln>
        </p:spPr>
      </p:sp>
      <p:sp>
        <p:nvSpPr>
          <p:cNvPr id="17" name="Text 14"/>
          <p:cNvSpPr txBox="1"/>
          <p:nvPr/>
        </p:nvSpPr>
        <p:spPr>
          <a:xfrm>
            <a:off x="200848" y="235915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13:00</a:t>
            </a:r>
            <a:endParaRPr lang="en-US" sz="1200" dirty="0"/>
          </a:p>
        </p:txBody>
      </p:sp>
      <p:sp>
        <p:nvSpPr>
          <p:cNvPr id="18" name="Shape 15"/>
          <p:cNvSpPr/>
          <p:nvPr/>
        </p:nvSpPr>
        <p:spPr>
          <a:xfrm>
            <a:off x="1069528" y="2633472"/>
            <a:ext cx="228600" cy="219456"/>
          </a:xfrm>
          <a:prstGeom prst="rect">
            <a:avLst/>
          </a:prstGeom>
          <a:solidFill>
            <a:srgbClr val="CCCCCC"/>
          </a:solidFill>
          <a:ln/>
        </p:spPr>
      </p:sp>
      <p:sp>
        <p:nvSpPr>
          <p:cNvPr id="19" name="Text 16"/>
          <p:cNvSpPr txBox="1"/>
          <p:nvPr/>
        </p:nvSpPr>
        <p:spPr>
          <a:xfrm>
            <a:off x="1371280" y="235915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10分</a:t>
            </a:r>
            <a:endParaRPr lang="en-US" sz="1200" dirty="0"/>
          </a:p>
        </p:txBody>
      </p:sp>
      <p:sp>
        <p:nvSpPr>
          <p:cNvPr id="20" name="Text 17"/>
          <p:cNvSpPr txBox="1"/>
          <p:nvPr/>
        </p:nvSpPr>
        <p:spPr>
          <a:xfrm>
            <a:off x="3309808" y="235915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開会・本日の目的</a:t>
            </a:r>
            <a:endParaRPr lang="en-US" sz="1400" dirty="0"/>
          </a:p>
        </p:txBody>
      </p:sp>
      <p:sp>
        <p:nvSpPr>
          <p:cNvPr id="21" name="Text 18"/>
          <p:cNvSpPr txBox="1"/>
          <p:nvPr/>
        </p:nvSpPr>
        <p:spPr>
          <a:xfrm>
            <a:off x="5870128" y="235915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目的と、会議の終わりに決めることを確認</a:t>
            </a:r>
            <a:endParaRPr lang="en-US" sz="1400" dirty="0"/>
          </a:p>
        </p:txBody>
      </p:sp>
      <p:sp>
        <p:nvSpPr>
          <p:cNvPr id="22" name="Text 19"/>
          <p:cNvSpPr txBox="1"/>
          <p:nvPr/>
        </p:nvSpPr>
        <p:spPr>
          <a:xfrm>
            <a:off x="8613328" y="235915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p.2</a:t>
            </a:r>
            <a:endParaRPr lang="en-US" sz="1200" dirty="0"/>
          </a:p>
        </p:txBody>
      </p:sp>
      <p:sp>
        <p:nvSpPr>
          <p:cNvPr id="23" name="Shape 20"/>
          <p:cNvSpPr/>
          <p:nvPr/>
        </p:nvSpPr>
        <p:spPr>
          <a:xfrm>
            <a:off x="200848" y="3145536"/>
            <a:ext cx="9504000" cy="0"/>
          </a:xfrm>
          <a:prstGeom prst="line">
            <a:avLst/>
          </a:prstGeom>
          <a:noFill/>
          <a:ln w="9525">
            <a:solidFill>
              <a:srgbClr val="CCCCCC"/>
            </a:solidFill>
            <a:prstDash val="solid"/>
          </a:ln>
        </p:spPr>
      </p:sp>
      <p:sp>
        <p:nvSpPr>
          <p:cNvPr id="24" name="Text 21"/>
          <p:cNvSpPr txBox="1"/>
          <p:nvPr/>
        </p:nvSpPr>
        <p:spPr>
          <a:xfrm>
            <a:off x="200848" y="318211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13:10</a:t>
            </a:r>
            <a:endParaRPr lang="en-US" sz="1200" dirty="0"/>
          </a:p>
        </p:txBody>
      </p:sp>
      <p:sp>
        <p:nvSpPr>
          <p:cNvPr id="25" name="Shape 22"/>
          <p:cNvSpPr/>
          <p:nvPr/>
        </p:nvSpPr>
        <p:spPr>
          <a:xfrm>
            <a:off x="1069528" y="3456432"/>
            <a:ext cx="685800" cy="219456"/>
          </a:xfrm>
          <a:prstGeom prst="rect">
            <a:avLst/>
          </a:prstGeom>
          <a:solidFill>
            <a:srgbClr val="CCCCCC"/>
          </a:solidFill>
          <a:ln/>
        </p:spPr>
      </p:sp>
      <p:sp>
        <p:nvSpPr>
          <p:cNvPr id="26" name="Text 23"/>
          <p:cNvSpPr txBox="1"/>
          <p:nvPr/>
        </p:nvSpPr>
        <p:spPr>
          <a:xfrm>
            <a:off x="1828480" y="318211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30分</a:t>
            </a:r>
            <a:endParaRPr lang="en-US" sz="1200" dirty="0"/>
          </a:p>
        </p:txBody>
      </p:sp>
      <p:sp>
        <p:nvSpPr>
          <p:cNvPr id="27" name="Text 24"/>
          <p:cNvSpPr txBox="1"/>
          <p:nvPr/>
        </p:nvSpPr>
        <p:spPr>
          <a:xfrm>
            <a:off x="3309808" y="318211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論点1　現状認識</a:t>
            </a:r>
            <a:endParaRPr lang="en-US" sz="1400" dirty="0"/>
          </a:p>
        </p:txBody>
      </p:sp>
      <p:sp>
        <p:nvSpPr>
          <p:cNvPr id="28" name="Text 25"/>
          <p:cNvSpPr txBox="1"/>
          <p:nvPr/>
        </p:nvSpPr>
        <p:spPr>
          <a:xfrm>
            <a:off x="5870128" y="318211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事前送付資料の要点だけを確認する</a:t>
            </a:r>
            <a:endParaRPr lang="en-US" sz="1400" dirty="0"/>
          </a:p>
        </p:txBody>
      </p:sp>
      <p:sp>
        <p:nvSpPr>
          <p:cNvPr id="29" name="Text 26"/>
          <p:cNvSpPr txBox="1"/>
          <p:nvPr/>
        </p:nvSpPr>
        <p:spPr>
          <a:xfrm>
            <a:off x="8613328" y="318211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p.3–8</a:t>
            </a:r>
            <a:endParaRPr lang="en-US" sz="1200" dirty="0"/>
          </a:p>
        </p:txBody>
      </p:sp>
      <p:sp>
        <p:nvSpPr>
          <p:cNvPr id="30" name="Shape 27"/>
          <p:cNvSpPr/>
          <p:nvPr/>
        </p:nvSpPr>
        <p:spPr>
          <a:xfrm>
            <a:off x="200848" y="3968496"/>
            <a:ext cx="9504000" cy="0"/>
          </a:xfrm>
          <a:prstGeom prst="line">
            <a:avLst/>
          </a:prstGeom>
          <a:noFill/>
          <a:ln w="9525">
            <a:solidFill>
              <a:srgbClr val="CCCCCC"/>
            </a:solidFill>
            <a:prstDash val="solid"/>
          </a:ln>
        </p:spPr>
      </p:sp>
      <p:sp>
        <p:nvSpPr>
          <p:cNvPr id="31" name="Shape 28"/>
          <p:cNvSpPr/>
          <p:nvPr/>
        </p:nvSpPr>
        <p:spPr>
          <a:xfrm>
            <a:off x="200848" y="4005072"/>
            <a:ext cx="9504000" cy="749808"/>
          </a:xfrm>
          <a:prstGeom prst="rect">
            <a:avLst/>
          </a:prstGeom>
          <a:solidFill>
            <a:srgbClr val="C1DDF1"/>
          </a:solidFill>
          <a:ln/>
        </p:spPr>
      </p:sp>
      <p:sp>
        <p:nvSpPr>
          <p:cNvPr id="32" name="Text 29"/>
          <p:cNvSpPr txBox="1"/>
          <p:nvPr/>
        </p:nvSpPr>
        <p:spPr>
          <a:xfrm>
            <a:off x="200848" y="400507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13:40</a:t>
            </a:r>
            <a:endParaRPr lang="en-US" sz="1200" dirty="0"/>
          </a:p>
        </p:txBody>
      </p:sp>
      <p:sp>
        <p:nvSpPr>
          <p:cNvPr id="33" name="Shape 30"/>
          <p:cNvSpPr/>
          <p:nvPr/>
        </p:nvSpPr>
        <p:spPr>
          <a:xfrm>
            <a:off x="1069528" y="4279392"/>
            <a:ext cx="1371600" cy="219456"/>
          </a:xfrm>
          <a:prstGeom prst="rect">
            <a:avLst/>
          </a:prstGeom>
          <a:solidFill>
            <a:srgbClr val="000F78"/>
          </a:solidFill>
          <a:ln/>
        </p:spPr>
      </p:sp>
      <p:sp>
        <p:nvSpPr>
          <p:cNvPr id="34" name="Text 31"/>
          <p:cNvSpPr txBox="1"/>
          <p:nvPr/>
        </p:nvSpPr>
        <p:spPr>
          <a:xfrm>
            <a:off x="2514280" y="4005072"/>
            <a:ext cx="640080" cy="749808"/>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60分</a:t>
            </a:r>
            <a:endParaRPr lang="en-US" sz="1200" dirty="0"/>
          </a:p>
        </p:txBody>
      </p:sp>
      <p:sp>
        <p:nvSpPr>
          <p:cNvPr id="35" name="Text 32"/>
          <p:cNvSpPr txBox="1"/>
          <p:nvPr/>
        </p:nvSpPr>
        <p:spPr>
          <a:xfrm>
            <a:off x="3309808" y="4005072"/>
            <a:ext cx="2468880" cy="7498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打ち手の選定</a:t>
            </a:r>
            <a:endParaRPr lang="en-US" sz="1400" dirty="0"/>
          </a:p>
        </p:txBody>
      </p:sp>
      <p:sp>
        <p:nvSpPr>
          <p:cNvPr id="36" name="Text 33"/>
          <p:cNvSpPr txBox="1"/>
          <p:nvPr/>
        </p:nvSpPr>
        <p:spPr>
          <a:xfrm>
            <a:off x="5870128" y="400507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3案を比較し、推奨案の採否を議論する</a:t>
            </a:r>
            <a:endParaRPr lang="en-US" sz="1400" dirty="0"/>
          </a:p>
        </p:txBody>
      </p:sp>
      <p:sp>
        <p:nvSpPr>
          <p:cNvPr id="37" name="Text 34"/>
          <p:cNvSpPr txBox="1"/>
          <p:nvPr/>
        </p:nvSpPr>
        <p:spPr>
          <a:xfrm>
            <a:off x="8613328" y="400507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p.9–18</a:t>
            </a:r>
            <a:endParaRPr lang="en-US" sz="1200" dirty="0"/>
          </a:p>
        </p:txBody>
      </p:sp>
      <p:sp>
        <p:nvSpPr>
          <p:cNvPr id="38" name="Shape 35"/>
          <p:cNvSpPr/>
          <p:nvPr/>
        </p:nvSpPr>
        <p:spPr>
          <a:xfrm>
            <a:off x="200848" y="4791456"/>
            <a:ext cx="9504000" cy="0"/>
          </a:xfrm>
          <a:prstGeom prst="line">
            <a:avLst/>
          </a:prstGeom>
          <a:noFill/>
          <a:ln w="9525">
            <a:solidFill>
              <a:srgbClr val="CCCCCC"/>
            </a:solidFill>
            <a:prstDash val="solid"/>
          </a:ln>
        </p:spPr>
      </p:sp>
      <p:sp>
        <p:nvSpPr>
          <p:cNvPr id="39" name="Text 36"/>
          <p:cNvSpPr txBox="1"/>
          <p:nvPr/>
        </p:nvSpPr>
        <p:spPr>
          <a:xfrm>
            <a:off x="200848" y="4828032"/>
            <a:ext cx="82296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14:40</a:t>
            </a:r>
            <a:endParaRPr lang="en-US" sz="1200" dirty="0"/>
          </a:p>
        </p:txBody>
      </p:sp>
      <p:sp>
        <p:nvSpPr>
          <p:cNvPr id="40" name="Shape 37"/>
          <p:cNvSpPr/>
          <p:nvPr/>
        </p:nvSpPr>
        <p:spPr>
          <a:xfrm>
            <a:off x="1069528" y="5102352"/>
            <a:ext cx="457200" cy="219456"/>
          </a:xfrm>
          <a:prstGeom prst="rect">
            <a:avLst/>
          </a:prstGeom>
          <a:solidFill>
            <a:srgbClr val="CCCCCC"/>
          </a:solidFill>
          <a:ln/>
        </p:spPr>
      </p:sp>
      <p:sp>
        <p:nvSpPr>
          <p:cNvPr id="41" name="Text 38"/>
          <p:cNvSpPr txBox="1"/>
          <p:nvPr/>
        </p:nvSpPr>
        <p:spPr>
          <a:xfrm>
            <a:off x="1599880" y="4828032"/>
            <a:ext cx="64008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20分</a:t>
            </a:r>
            <a:endParaRPr lang="en-US" sz="1200" dirty="0"/>
          </a:p>
        </p:txBody>
      </p:sp>
      <p:sp>
        <p:nvSpPr>
          <p:cNvPr id="42" name="Text 39"/>
          <p:cNvSpPr txBox="1"/>
          <p:nvPr/>
        </p:nvSpPr>
        <p:spPr>
          <a:xfrm>
            <a:off x="3309808" y="4828032"/>
            <a:ext cx="2468880" cy="7498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次回までの宿題</a:t>
            </a:r>
            <a:endParaRPr lang="en-US" sz="1400" dirty="0"/>
          </a:p>
        </p:txBody>
      </p:sp>
      <p:sp>
        <p:nvSpPr>
          <p:cNvPr id="43" name="Text 40"/>
          <p:cNvSpPr txBox="1"/>
          <p:nvPr/>
        </p:nvSpPr>
        <p:spPr>
          <a:xfrm>
            <a:off x="5870128" y="4828032"/>
            <a:ext cx="2651760" cy="7498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担当と期限を確定する</a:t>
            </a:r>
            <a:endParaRPr lang="en-US" sz="1400" dirty="0"/>
          </a:p>
        </p:txBody>
      </p:sp>
      <p:sp>
        <p:nvSpPr>
          <p:cNvPr id="44" name="Text 41"/>
          <p:cNvSpPr txBox="1"/>
          <p:nvPr/>
        </p:nvSpPr>
        <p:spPr>
          <a:xfrm>
            <a:off x="8613328" y="4828032"/>
            <a:ext cx="914400" cy="74980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p.19</a:t>
            </a:r>
            <a:endParaRPr lang="en-US" sz="1200" dirty="0"/>
          </a:p>
        </p:txBody>
      </p:sp>
      <p:sp>
        <p:nvSpPr>
          <p:cNvPr id="45" name="Shape 42"/>
          <p:cNvSpPr/>
          <p:nvPr/>
        </p:nvSpPr>
        <p:spPr>
          <a:xfrm>
            <a:off x="200848" y="5614416"/>
            <a:ext cx="9504000" cy="0"/>
          </a:xfrm>
          <a:prstGeom prst="line">
            <a:avLst/>
          </a:prstGeom>
          <a:noFill/>
          <a:ln w="9525">
            <a:solidFill>
              <a:srgbClr val="CCCCCC"/>
            </a:solidFill>
            <a:prstDash val="solid"/>
          </a:ln>
        </p:spPr>
      </p:sp>
      <p:sp>
        <p:nvSpPr>
          <p:cNvPr id="46" name="Text 43"/>
          <p:cNvSpPr txBox="1"/>
          <p:nvPr/>
        </p:nvSpPr>
        <p:spPr>
          <a:xfrm>
            <a:off x="200848" y="5715000"/>
            <a:ext cx="301752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　120分</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新制度は3つの目的に対して5つの工夫で応える設計である。最も重い目的Aには工夫1〜3の3つが効いており、制度の中核をなしている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制度の目的と設計上の工夫</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58</a:t>
            </a:r>
            <a:endParaRPr lang="en-US" sz="900" dirty="0"/>
          </a:p>
        </p:txBody>
      </p:sp>
      <p:sp>
        <p:nvSpPr>
          <p:cNvPr id="12" name="Text 9"/>
          <p:cNvSpPr txBox="1"/>
          <p:nvPr/>
        </p:nvSpPr>
        <p:spPr>
          <a:xfrm>
            <a:off x="200848" y="1920240"/>
            <a:ext cx="32918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t>
            </a:r>
            <a:endParaRPr lang="en-US" sz="1400" dirty="0"/>
          </a:p>
        </p:txBody>
      </p:sp>
      <p:sp>
        <p:nvSpPr>
          <p:cNvPr id="13" name="Text 10"/>
          <p:cNvSpPr txBox="1"/>
          <p:nvPr/>
        </p:nvSpPr>
        <p:spPr>
          <a:xfrm>
            <a:off x="2789808" y="1920240"/>
            <a:ext cx="3668919"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設計上の工夫</a:t>
            </a:r>
            <a:endParaRPr lang="en-US" sz="1400" dirty="0"/>
          </a:p>
        </p:txBody>
      </p:sp>
      <p:sp>
        <p:nvSpPr>
          <p:cNvPr id="14" name="Text 11"/>
          <p:cNvSpPr txBox="1"/>
          <p:nvPr/>
        </p:nvSpPr>
        <p:spPr>
          <a:xfrm>
            <a:off x="5676019" y="1920240"/>
            <a:ext cx="782709"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効く目的</a:t>
            </a:r>
            <a:endParaRPr lang="en-US" sz="1400" dirty="0"/>
          </a:p>
        </p:txBody>
      </p:sp>
      <p:sp>
        <p:nvSpPr>
          <p:cNvPr id="15" name="Shape 12"/>
          <p:cNvSpPr/>
          <p:nvPr/>
        </p:nvSpPr>
        <p:spPr>
          <a:xfrm>
            <a:off x="200848" y="2286000"/>
            <a:ext cx="2167502" cy="0"/>
          </a:xfrm>
          <a:prstGeom prst="line">
            <a:avLst/>
          </a:prstGeom>
          <a:noFill/>
          <a:ln w="12700">
            <a:solidFill>
              <a:srgbClr val="7F7F7F"/>
            </a:solidFill>
            <a:prstDash val="solid"/>
          </a:ln>
        </p:spPr>
      </p:sp>
      <p:sp>
        <p:nvSpPr>
          <p:cNvPr id="16" name="Shape 13"/>
          <p:cNvSpPr/>
          <p:nvPr/>
        </p:nvSpPr>
        <p:spPr>
          <a:xfrm>
            <a:off x="2789808" y="2286000"/>
            <a:ext cx="3668919" cy="0"/>
          </a:xfrm>
          <a:prstGeom prst="line">
            <a:avLst/>
          </a:prstGeom>
          <a:noFill/>
          <a:ln w="12700">
            <a:solidFill>
              <a:srgbClr val="7F7F7F"/>
            </a:solidFill>
            <a:prstDash val="solid"/>
          </a:ln>
        </p:spPr>
      </p:sp>
      <p:sp>
        <p:nvSpPr>
          <p:cNvPr id="17" name="Shape 14"/>
          <p:cNvSpPr/>
          <p:nvPr/>
        </p:nvSpPr>
        <p:spPr>
          <a:xfrm>
            <a:off x="200848" y="2578608"/>
            <a:ext cx="192667" cy="292608"/>
          </a:xfrm>
          <a:prstGeom prst="ellipse">
            <a:avLst/>
          </a:prstGeom>
          <a:solidFill>
            <a:srgbClr val="000F78"/>
          </a:solidFill>
          <a:ln/>
        </p:spPr>
      </p:sp>
      <p:sp>
        <p:nvSpPr>
          <p:cNvPr id="18" name="Text 15"/>
          <p:cNvSpPr txBox="1"/>
          <p:nvPr/>
        </p:nvSpPr>
        <p:spPr>
          <a:xfrm>
            <a:off x="200848" y="25786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9" name="Text 16"/>
          <p:cNvSpPr txBox="1"/>
          <p:nvPr/>
        </p:nvSpPr>
        <p:spPr>
          <a:xfrm>
            <a:off x="471785" y="2468880"/>
            <a:ext cx="1896564"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利用者の負担を下げる</a:t>
            </a:r>
            <a:endParaRPr lang="en-US" sz="1400" dirty="0"/>
          </a:p>
        </p:txBody>
      </p:sp>
      <p:sp>
        <p:nvSpPr>
          <p:cNvPr id="20" name="Shape 17"/>
          <p:cNvSpPr/>
          <p:nvPr/>
        </p:nvSpPr>
        <p:spPr>
          <a:xfrm>
            <a:off x="200848" y="3520440"/>
            <a:ext cx="2167502" cy="0"/>
          </a:xfrm>
          <a:prstGeom prst="line">
            <a:avLst/>
          </a:prstGeom>
          <a:noFill/>
          <a:ln w="9525">
            <a:solidFill>
              <a:srgbClr val="CCCCCC"/>
            </a:solidFill>
            <a:prstDash val="solid"/>
          </a:ln>
        </p:spPr>
      </p:sp>
      <p:sp>
        <p:nvSpPr>
          <p:cNvPr id="21" name="Shape 18"/>
          <p:cNvSpPr/>
          <p:nvPr/>
        </p:nvSpPr>
        <p:spPr>
          <a:xfrm>
            <a:off x="200848" y="3858768"/>
            <a:ext cx="192667" cy="292608"/>
          </a:xfrm>
          <a:prstGeom prst="ellipse">
            <a:avLst/>
          </a:prstGeom>
          <a:solidFill>
            <a:srgbClr val="7F7F7F"/>
          </a:solidFill>
          <a:ln/>
        </p:spPr>
      </p:sp>
      <p:sp>
        <p:nvSpPr>
          <p:cNvPr id="22" name="Text 19"/>
          <p:cNvSpPr txBox="1"/>
          <p:nvPr/>
        </p:nvSpPr>
        <p:spPr>
          <a:xfrm>
            <a:off x="200848" y="3858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23" name="Text 20"/>
          <p:cNvSpPr txBox="1"/>
          <p:nvPr/>
        </p:nvSpPr>
        <p:spPr>
          <a:xfrm>
            <a:off x="471785" y="3749040"/>
            <a:ext cx="1896564"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事業者の参入を促す</a:t>
            </a:r>
            <a:endParaRPr lang="en-US" sz="1400" dirty="0"/>
          </a:p>
        </p:txBody>
      </p:sp>
      <p:sp>
        <p:nvSpPr>
          <p:cNvPr id="24" name="Shape 21"/>
          <p:cNvSpPr/>
          <p:nvPr/>
        </p:nvSpPr>
        <p:spPr>
          <a:xfrm>
            <a:off x="200848" y="4800600"/>
            <a:ext cx="2167502" cy="0"/>
          </a:xfrm>
          <a:prstGeom prst="line">
            <a:avLst/>
          </a:prstGeom>
          <a:noFill/>
          <a:ln w="9525">
            <a:solidFill>
              <a:srgbClr val="CCCCCC"/>
            </a:solidFill>
            <a:prstDash val="solid"/>
          </a:ln>
        </p:spPr>
      </p:sp>
      <p:sp>
        <p:nvSpPr>
          <p:cNvPr id="25" name="Shape 22"/>
          <p:cNvSpPr/>
          <p:nvPr/>
        </p:nvSpPr>
        <p:spPr>
          <a:xfrm>
            <a:off x="200848" y="5138928"/>
            <a:ext cx="192667" cy="292608"/>
          </a:xfrm>
          <a:prstGeom prst="ellipse">
            <a:avLst/>
          </a:prstGeom>
          <a:solidFill>
            <a:srgbClr val="7F7F7F"/>
          </a:solidFill>
          <a:ln/>
        </p:spPr>
      </p:sp>
      <p:sp>
        <p:nvSpPr>
          <p:cNvPr id="26" name="Text 23"/>
          <p:cNvSpPr txBox="1"/>
          <p:nvPr/>
        </p:nvSpPr>
        <p:spPr>
          <a:xfrm>
            <a:off x="200848" y="51389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7" name="Text 24"/>
          <p:cNvSpPr txBox="1"/>
          <p:nvPr/>
        </p:nvSpPr>
        <p:spPr>
          <a:xfrm>
            <a:off x="471785" y="5029200"/>
            <a:ext cx="1896564" cy="51206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自治体の事務を減らす</a:t>
            </a:r>
            <a:endParaRPr lang="en-US" sz="1400" dirty="0"/>
          </a:p>
        </p:txBody>
      </p:sp>
      <p:sp>
        <p:nvSpPr>
          <p:cNvPr id="28" name="Shape 25"/>
          <p:cNvSpPr/>
          <p:nvPr/>
        </p:nvSpPr>
        <p:spPr>
          <a:xfrm>
            <a:off x="200848" y="6080760"/>
            <a:ext cx="2167502" cy="0"/>
          </a:xfrm>
          <a:prstGeom prst="line">
            <a:avLst/>
          </a:prstGeom>
          <a:noFill/>
          <a:ln w="9525">
            <a:solidFill>
              <a:srgbClr val="CCCCCC"/>
            </a:solidFill>
            <a:prstDash val="solid"/>
          </a:ln>
        </p:spPr>
      </p:sp>
      <p:sp>
        <p:nvSpPr>
          <p:cNvPr id="29" name="Shape 26"/>
          <p:cNvSpPr/>
          <p:nvPr/>
        </p:nvSpPr>
        <p:spPr>
          <a:xfrm>
            <a:off x="2476725" y="3403031"/>
            <a:ext cx="95370" cy="289682"/>
          </a:xfrm>
          <a:custGeom>
            <a:avLst/>
            <a:gdLst/>
            <a:ahLst/>
            <a:cxnLst/>
            <a:rect l="l" t="t" r="r" b="b"/>
            <a:pathLst>
              <a:path w="95370" h="289682">
                <a:moveTo>
                  <a:pt x="0" y="0"/>
                </a:moveTo>
                <a:lnTo>
                  <a:pt x="144841" y="144841"/>
                </a:lnTo>
                <a:lnTo>
                  <a:pt x="0" y="289682"/>
                </a:lnTo>
                <a:close/>
              </a:path>
            </a:pathLst>
          </a:custGeom>
          <a:solidFill>
            <a:srgbClr val="7F7F7F"/>
          </a:solidFill>
          <a:ln/>
        </p:spPr>
      </p:sp>
      <p:sp>
        <p:nvSpPr>
          <p:cNvPr id="30" name="Shape 27"/>
          <p:cNvSpPr/>
          <p:nvPr/>
        </p:nvSpPr>
        <p:spPr>
          <a:xfrm>
            <a:off x="2548252" y="3412907"/>
            <a:ext cx="79981" cy="269931"/>
          </a:xfrm>
          <a:custGeom>
            <a:avLst/>
            <a:gdLst/>
            <a:ahLst/>
            <a:cxnLst/>
            <a:rect l="l" t="t" r="r" b="b"/>
            <a:pathLst>
              <a:path w="79981" h="269931">
                <a:moveTo>
                  <a:pt x="0" y="0"/>
                </a:moveTo>
                <a:lnTo>
                  <a:pt x="121469" y="134965"/>
                </a:lnTo>
                <a:lnTo>
                  <a:pt x="0" y="269931"/>
                </a:lnTo>
              </a:path>
            </a:pathLst>
          </a:custGeom>
          <a:ln w="29718">
            <a:solidFill>
              <a:srgbClr val="7F7F7F"/>
            </a:solidFill>
            <a:prstDash val="solid"/>
          </a:ln>
        </p:spPr>
      </p:sp>
      <p:sp>
        <p:nvSpPr>
          <p:cNvPr id="31" name="Text 28"/>
          <p:cNvSpPr txBox="1"/>
          <p:nvPr/>
        </p:nvSpPr>
        <p:spPr>
          <a:xfrm>
            <a:off x="2789808" y="2395728"/>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1</a:t>
            </a:r>
            <a:endParaRPr lang="en-US" sz="1200" dirty="0"/>
          </a:p>
        </p:txBody>
      </p:sp>
      <p:sp>
        <p:nvSpPr>
          <p:cNvPr id="32" name="Text 29"/>
          <p:cNvSpPr txBox="1"/>
          <p:nvPr/>
        </p:nvSpPr>
        <p:spPr>
          <a:xfrm>
            <a:off x="3000538" y="2395728"/>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運賃の上限を地域で一律に定める</a:t>
            </a:r>
            <a:endParaRPr lang="en-US" sz="1400" dirty="0"/>
          </a:p>
        </p:txBody>
      </p:sp>
      <p:sp>
        <p:nvSpPr>
          <p:cNvPr id="33" name="Shape 30"/>
          <p:cNvSpPr/>
          <p:nvPr/>
        </p:nvSpPr>
        <p:spPr>
          <a:xfrm>
            <a:off x="6241977" y="2523744"/>
            <a:ext cx="192667" cy="292608"/>
          </a:xfrm>
          <a:prstGeom prst="ellipse">
            <a:avLst/>
          </a:prstGeom>
          <a:solidFill>
            <a:srgbClr val="7F7F7F"/>
          </a:solidFill>
          <a:ln/>
        </p:spPr>
      </p:sp>
      <p:sp>
        <p:nvSpPr>
          <p:cNvPr id="34" name="Text 31"/>
          <p:cNvSpPr txBox="1"/>
          <p:nvPr/>
        </p:nvSpPr>
        <p:spPr>
          <a:xfrm>
            <a:off x="6241977" y="2523744"/>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5" name="Shape 32"/>
          <p:cNvSpPr/>
          <p:nvPr/>
        </p:nvSpPr>
        <p:spPr>
          <a:xfrm>
            <a:off x="2789808" y="3054096"/>
            <a:ext cx="3668919" cy="0"/>
          </a:xfrm>
          <a:prstGeom prst="line">
            <a:avLst/>
          </a:prstGeom>
          <a:noFill/>
          <a:ln w="9525">
            <a:solidFill>
              <a:srgbClr val="CCCCCC"/>
            </a:solidFill>
            <a:prstDash val="solid"/>
          </a:ln>
        </p:spPr>
      </p:sp>
      <p:sp>
        <p:nvSpPr>
          <p:cNvPr id="36" name="Text 33"/>
          <p:cNvSpPr txBox="1"/>
          <p:nvPr/>
        </p:nvSpPr>
        <p:spPr>
          <a:xfrm>
            <a:off x="2789808" y="3163824"/>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37" name="Text 34"/>
          <p:cNvSpPr txBox="1"/>
          <p:nvPr/>
        </p:nvSpPr>
        <p:spPr>
          <a:xfrm>
            <a:off x="3000538" y="3163824"/>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乗継ぎの割引を事業者間で自動精算する</a:t>
            </a:r>
            <a:endParaRPr lang="en-US" sz="1400" dirty="0"/>
          </a:p>
        </p:txBody>
      </p:sp>
      <p:sp>
        <p:nvSpPr>
          <p:cNvPr id="38" name="Shape 35"/>
          <p:cNvSpPr/>
          <p:nvPr/>
        </p:nvSpPr>
        <p:spPr>
          <a:xfrm>
            <a:off x="6001144" y="3291840"/>
            <a:ext cx="192667" cy="292608"/>
          </a:xfrm>
          <a:prstGeom prst="ellipse">
            <a:avLst/>
          </a:prstGeom>
          <a:solidFill>
            <a:srgbClr val="7F7F7F"/>
          </a:solidFill>
          <a:ln/>
        </p:spPr>
      </p:sp>
      <p:sp>
        <p:nvSpPr>
          <p:cNvPr id="39" name="Text 36"/>
          <p:cNvSpPr txBox="1"/>
          <p:nvPr/>
        </p:nvSpPr>
        <p:spPr>
          <a:xfrm>
            <a:off x="6001144"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0" name="Shape 37"/>
          <p:cNvSpPr/>
          <p:nvPr/>
        </p:nvSpPr>
        <p:spPr>
          <a:xfrm>
            <a:off x="6241977" y="3291840"/>
            <a:ext cx="192667" cy="292608"/>
          </a:xfrm>
          <a:prstGeom prst="ellipse">
            <a:avLst/>
          </a:prstGeom>
          <a:solidFill>
            <a:srgbClr val="7F7F7F"/>
          </a:solidFill>
          <a:ln/>
        </p:spPr>
      </p:sp>
      <p:sp>
        <p:nvSpPr>
          <p:cNvPr id="41" name="Text 38"/>
          <p:cNvSpPr txBox="1"/>
          <p:nvPr/>
        </p:nvSpPr>
        <p:spPr>
          <a:xfrm>
            <a:off x="6241977" y="3291840"/>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2" name="Shape 39"/>
          <p:cNvSpPr/>
          <p:nvPr/>
        </p:nvSpPr>
        <p:spPr>
          <a:xfrm>
            <a:off x="2789808" y="3822192"/>
            <a:ext cx="3668919" cy="0"/>
          </a:xfrm>
          <a:prstGeom prst="line">
            <a:avLst/>
          </a:prstGeom>
          <a:noFill/>
          <a:ln w="9525">
            <a:solidFill>
              <a:srgbClr val="CCCCCC"/>
            </a:solidFill>
            <a:prstDash val="solid"/>
          </a:ln>
        </p:spPr>
      </p:sp>
      <p:sp>
        <p:nvSpPr>
          <p:cNvPr id="43" name="Text 40"/>
          <p:cNvSpPr txBox="1"/>
          <p:nvPr/>
        </p:nvSpPr>
        <p:spPr>
          <a:xfrm>
            <a:off x="2789808" y="3931920"/>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44" name="Text 41"/>
          <p:cNvSpPr txBox="1"/>
          <p:nvPr/>
        </p:nvSpPr>
        <p:spPr>
          <a:xfrm>
            <a:off x="3000538" y="3931920"/>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予約と決済を1つのアプリにまとめる</a:t>
            </a:r>
            <a:endParaRPr lang="en-US" sz="1400" dirty="0"/>
          </a:p>
        </p:txBody>
      </p:sp>
      <p:sp>
        <p:nvSpPr>
          <p:cNvPr id="45" name="Shape 42"/>
          <p:cNvSpPr/>
          <p:nvPr/>
        </p:nvSpPr>
        <p:spPr>
          <a:xfrm>
            <a:off x="6001144" y="4059936"/>
            <a:ext cx="192667" cy="292608"/>
          </a:xfrm>
          <a:prstGeom prst="ellipse">
            <a:avLst/>
          </a:prstGeom>
          <a:solidFill>
            <a:srgbClr val="7F7F7F"/>
          </a:solidFill>
          <a:ln/>
        </p:spPr>
      </p:sp>
      <p:sp>
        <p:nvSpPr>
          <p:cNvPr id="46" name="Text 43"/>
          <p:cNvSpPr txBox="1"/>
          <p:nvPr/>
        </p:nvSpPr>
        <p:spPr>
          <a:xfrm>
            <a:off x="6001144"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7" name="Shape 44"/>
          <p:cNvSpPr/>
          <p:nvPr/>
        </p:nvSpPr>
        <p:spPr>
          <a:xfrm>
            <a:off x="6241977" y="4059936"/>
            <a:ext cx="192667" cy="292608"/>
          </a:xfrm>
          <a:prstGeom prst="ellipse">
            <a:avLst/>
          </a:prstGeom>
          <a:solidFill>
            <a:srgbClr val="7F7F7F"/>
          </a:solidFill>
          <a:ln/>
        </p:spPr>
      </p:sp>
      <p:sp>
        <p:nvSpPr>
          <p:cNvPr id="48" name="Text 45"/>
          <p:cNvSpPr txBox="1"/>
          <p:nvPr/>
        </p:nvSpPr>
        <p:spPr>
          <a:xfrm>
            <a:off x="6241977" y="4059936"/>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49" name="Shape 46"/>
          <p:cNvSpPr/>
          <p:nvPr/>
        </p:nvSpPr>
        <p:spPr>
          <a:xfrm>
            <a:off x="2789808" y="4590288"/>
            <a:ext cx="3668919" cy="0"/>
          </a:xfrm>
          <a:prstGeom prst="line">
            <a:avLst/>
          </a:prstGeom>
          <a:noFill/>
          <a:ln w="9525">
            <a:solidFill>
              <a:srgbClr val="CCCCCC"/>
            </a:solidFill>
            <a:prstDash val="solid"/>
          </a:ln>
        </p:spPr>
      </p:sp>
      <p:sp>
        <p:nvSpPr>
          <p:cNvPr id="50" name="Text 47"/>
          <p:cNvSpPr txBox="1"/>
          <p:nvPr/>
        </p:nvSpPr>
        <p:spPr>
          <a:xfrm>
            <a:off x="2789808" y="4700016"/>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1" name="Text 48"/>
          <p:cNvSpPr txBox="1"/>
          <p:nvPr/>
        </p:nvSpPr>
        <p:spPr>
          <a:xfrm>
            <a:off x="3000538" y="4700016"/>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参入時の初期費用を3年間補助する</a:t>
            </a:r>
            <a:endParaRPr lang="en-US" sz="1400" dirty="0"/>
          </a:p>
        </p:txBody>
      </p:sp>
      <p:sp>
        <p:nvSpPr>
          <p:cNvPr id="52" name="Shape 49"/>
          <p:cNvSpPr/>
          <p:nvPr/>
        </p:nvSpPr>
        <p:spPr>
          <a:xfrm>
            <a:off x="6241977" y="4828032"/>
            <a:ext cx="192667" cy="292608"/>
          </a:xfrm>
          <a:prstGeom prst="ellipse">
            <a:avLst/>
          </a:prstGeom>
          <a:solidFill>
            <a:srgbClr val="7F7F7F"/>
          </a:solidFill>
          <a:ln/>
        </p:spPr>
      </p:sp>
      <p:sp>
        <p:nvSpPr>
          <p:cNvPr id="53" name="Text 50"/>
          <p:cNvSpPr txBox="1"/>
          <p:nvPr/>
        </p:nvSpPr>
        <p:spPr>
          <a:xfrm>
            <a:off x="6241977" y="4828032"/>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54" name="Shape 51"/>
          <p:cNvSpPr/>
          <p:nvPr/>
        </p:nvSpPr>
        <p:spPr>
          <a:xfrm>
            <a:off x="2789808" y="5358384"/>
            <a:ext cx="3668919" cy="0"/>
          </a:xfrm>
          <a:prstGeom prst="line">
            <a:avLst/>
          </a:prstGeom>
          <a:noFill/>
          <a:ln w="9525">
            <a:solidFill>
              <a:srgbClr val="CCCCCC"/>
            </a:solidFill>
            <a:prstDash val="solid"/>
          </a:ln>
        </p:spPr>
      </p:sp>
      <p:sp>
        <p:nvSpPr>
          <p:cNvPr id="55" name="Text 52"/>
          <p:cNvSpPr txBox="1"/>
          <p:nvPr/>
        </p:nvSpPr>
        <p:spPr>
          <a:xfrm>
            <a:off x="2789808" y="5468112"/>
            <a:ext cx="180625" cy="548640"/>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6" name="Text 53"/>
          <p:cNvSpPr txBox="1"/>
          <p:nvPr/>
        </p:nvSpPr>
        <p:spPr>
          <a:xfrm>
            <a:off x="3000538" y="5468112"/>
            <a:ext cx="2705585"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申請を年1回の一括申請に改める</a:t>
            </a:r>
            <a:endParaRPr lang="en-US" sz="1400" dirty="0"/>
          </a:p>
        </p:txBody>
      </p:sp>
      <p:sp>
        <p:nvSpPr>
          <p:cNvPr id="57" name="Shape 54"/>
          <p:cNvSpPr/>
          <p:nvPr/>
        </p:nvSpPr>
        <p:spPr>
          <a:xfrm>
            <a:off x="6241977" y="5596128"/>
            <a:ext cx="192667" cy="292608"/>
          </a:xfrm>
          <a:prstGeom prst="ellipse">
            <a:avLst/>
          </a:prstGeom>
          <a:solidFill>
            <a:srgbClr val="7F7F7F"/>
          </a:solidFill>
          <a:ln/>
        </p:spPr>
      </p:sp>
      <p:sp>
        <p:nvSpPr>
          <p:cNvPr id="58" name="Text 55"/>
          <p:cNvSpPr txBox="1"/>
          <p:nvPr/>
        </p:nvSpPr>
        <p:spPr>
          <a:xfrm>
            <a:off x="6241977" y="5596128"/>
            <a:ext cx="21675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9" name="Shape 56"/>
          <p:cNvSpPr/>
          <p:nvPr/>
        </p:nvSpPr>
        <p:spPr>
          <a:xfrm>
            <a:off x="2789808" y="6126480"/>
            <a:ext cx="3668919" cy="0"/>
          </a:xfrm>
          <a:prstGeom prst="line">
            <a:avLst/>
          </a:prstGeom>
          <a:noFill/>
          <a:ln w="9525">
            <a:solidFill>
              <a:srgbClr val="CCCCCC"/>
            </a:solidFill>
            <a:prstDash val="solid"/>
          </a:ln>
        </p:spPr>
      </p:sp>
      <p:sp>
        <p:nvSpPr>
          <p:cNvPr id="60" name="Shape 57"/>
          <p:cNvSpPr/>
          <p:nvPr/>
        </p:nvSpPr>
        <p:spPr>
          <a:xfrm>
            <a:off x="6687328" y="1874520"/>
            <a:ext cx="3017520" cy="4251960"/>
          </a:xfrm>
          <a:prstGeom prst="rect">
            <a:avLst/>
          </a:prstGeom>
          <a:solidFill>
            <a:srgbClr val="E0EEF8"/>
          </a:solidFill>
          <a:ln/>
        </p:spPr>
      </p:sp>
      <p:sp>
        <p:nvSpPr>
          <p:cNvPr id="61" name="Text 5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目的Aには3つの工夫が効く</a:t>
            </a:r>
            <a:endParaRPr lang="en-US" sz="1400" dirty="0"/>
          </a:p>
        </p:txBody>
      </p:sp>
      <p:sp>
        <p:nvSpPr>
          <p:cNvPr id="62" name="Text 5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運賃の上限、乗継ぎの自動精算、予約と決済の一本化。いずれも利用者の負担を直接下げる。3つの工夫のうち、運賃の上限が最も効果が大きい</a:t>
            </a:r>
            <a:endParaRPr lang="en-US" sz="1200" dirty="0"/>
          </a:p>
        </p:txBody>
      </p:sp>
      <p:sp>
        <p:nvSpPr>
          <p:cNvPr id="63" name="Shape 60"/>
          <p:cNvSpPr/>
          <p:nvPr/>
        </p:nvSpPr>
        <p:spPr>
          <a:xfrm>
            <a:off x="6870208" y="3936492"/>
            <a:ext cx="2651760" cy="0"/>
          </a:xfrm>
          <a:prstGeom prst="line">
            <a:avLst/>
          </a:prstGeom>
          <a:noFill/>
          <a:ln w="9525">
            <a:solidFill>
              <a:srgbClr val="CCCCCC"/>
            </a:solidFill>
            <a:prstDash val="solid"/>
          </a:ln>
        </p:spPr>
      </p:sp>
      <p:sp>
        <p:nvSpPr>
          <p:cNvPr id="64" name="Text 6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目的BとCは工夫2つずつで支える</a:t>
            </a:r>
            <a:endParaRPr lang="en-US" sz="1400" dirty="0"/>
          </a:p>
        </p:txBody>
      </p:sp>
      <p:sp>
        <p:nvSpPr>
          <p:cNvPr id="65" name="Text 6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参入の促進には乗継ぎの精算と初期費用の補助、事務の削減にはアプリと一括申請が効く。5つの工夫は、2028年度の制度の開始に合わせて導入する</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先行6事例のうち5事例が専任の調整役を置いており、成功の共通要素は資金より人材にある。各事例の詳細は参考資料の該当ページで確認できる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先行事例の取組要素</a:t>
            </a:r>
            <a:pPr indent="0" marL="0">
              <a:buNone/>
            </a:pPr>
            <a:r>
              <a:rPr lang="en-US" sz="1100" dirty="0">
                <a:solidFill>
                  <a:srgbClr val="3F3F3F"/>
                </a:solidFill>
                <a:latin typeface="Yu Gothic UI" pitchFamily="34" charset="0"/>
                <a:ea typeface="Yu Gothic UI" pitchFamily="34" charset="-122"/>
                <a:cs typeface="Yu Gothic UI" pitchFamily="34" charset="-120"/>
              </a:rPr>
              <a:t>　（6事例、2025年度時点）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注）各事例の詳細は参考資料（p.24〜34）に記載</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出所）各自治体の地域公共交通計画を基に作成（名称・数値は架空の見本）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59</a:t>
            </a:r>
            <a:endParaRPr lang="en-US" sz="900" dirty="0"/>
          </a:p>
        </p:txBody>
      </p:sp>
      <p:sp>
        <p:nvSpPr>
          <p:cNvPr id="12" name="Shape 9"/>
          <p:cNvSpPr/>
          <p:nvPr/>
        </p:nvSpPr>
        <p:spPr>
          <a:xfrm>
            <a:off x="2579079" y="1874520"/>
            <a:ext cx="812813" cy="4032504"/>
          </a:xfrm>
          <a:prstGeom prst="rect">
            <a:avLst/>
          </a:prstGeom>
          <a:solidFill>
            <a:srgbClr val="C1DDF1"/>
          </a:solidFill>
          <a:ln/>
        </p:spPr>
      </p:sp>
      <p:sp>
        <p:nvSpPr>
          <p:cNvPr id="13" name="Text 10"/>
          <p:cNvSpPr txBox="1"/>
          <p:nvPr/>
        </p:nvSpPr>
        <p:spPr>
          <a:xfrm>
            <a:off x="176626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14" name="Text 11"/>
          <p:cNvSpPr txBox="1"/>
          <p:nvPr/>
        </p:nvSpPr>
        <p:spPr>
          <a:xfrm>
            <a:off x="2579079" y="1874520"/>
            <a:ext cx="1234440" cy="4206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専任の調整役</a:t>
            </a:r>
            <a:endParaRPr lang="en-US" sz="1400" dirty="0"/>
          </a:p>
        </p:txBody>
      </p:sp>
      <p:sp>
        <p:nvSpPr>
          <p:cNvPr id="15" name="Text 12"/>
          <p:cNvSpPr txBox="1"/>
          <p:nvPr/>
        </p:nvSpPr>
        <p:spPr>
          <a:xfrm>
            <a:off x="3391892"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拠点</a:t>
            </a:r>
            <a:endParaRPr lang="en-US" sz="1400" dirty="0"/>
          </a:p>
        </p:txBody>
      </p:sp>
      <p:sp>
        <p:nvSpPr>
          <p:cNvPr id="16" name="Text 13"/>
          <p:cNvSpPr txBox="1"/>
          <p:nvPr/>
        </p:nvSpPr>
        <p:spPr>
          <a:xfrm>
            <a:off x="4204706"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条例・制度</a:t>
            </a:r>
            <a:endParaRPr lang="en-US" sz="1400" dirty="0"/>
          </a:p>
        </p:txBody>
      </p:sp>
      <p:sp>
        <p:nvSpPr>
          <p:cNvPr id="17" name="Text 14"/>
          <p:cNvSpPr txBox="1"/>
          <p:nvPr/>
        </p:nvSpPr>
        <p:spPr>
          <a:xfrm>
            <a:off x="5017519" y="1874520"/>
            <a:ext cx="1234440"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データ共有</a:t>
            </a:r>
            <a:endParaRPr lang="en-US" sz="1400" dirty="0"/>
          </a:p>
        </p:txBody>
      </p:sp>
      <p:sp>
        <p:nvSpPr>
          <p:cNvPr id="18" name="Text 15"/>
          <p:cNvSpPr txBox="1"/>
          <p:nvPr/>
        </p:nvSpPr>
        <p:spPr>
          <a:xfrm>
            <a:off x="5950749" y="1874520"/>
            <a:ext cx="507979" cy="42062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詳細</a:t>
            </a:r>
            <a:endParaRPr lang="en-US" sz="1400" dirty="0"/>
          </a:p>
        </p:txBody>
      </p:sp>
      <p:sp>
        <p:nvSpPr>
          <p:cNvPr id="19" name="Shape 16"/>
          <p:cNvSpPr/>
          <p:nvPr/>
        </p:nvSpPr>
        <p:spPr>
          <a:xfrm>
            <a:off x="200848" y="2331720"/>
            <a:ext cx="6257880" cy="0"/>
          </a:xfrm>
          <a:prstGeom prst="line">
            <a:avLst/>
          </a:prstGeom>
          <a:noFill/>
          <a:ln w="12700">
            <a:solidFill>
              <a:srgbClr val="7F7F7F"/>
            </a:solidFill>
            <a:prstDash val="solid"/>
          </a:ln>
        </p:spPr>
      </p:sp>
      <p:sp>
        <p:nvSpPr>
          <p:cNvPr id="20" name="Text 17"/>
          <p:cNvSpPr txBox="1"/>
          <p:nvPr/>
        </p:nvSpPr>
        <p:spPr>
          <a:xfrm>
            <a:off x="200848" y="237744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事例A　北部市</a:t>
            </a:r>
            <a:endParaRPr lang="en-US" sz="1400" dirty="0"/>
          </a:p>
        </p:txBody>
      </p:sp>
      <p:sp>
        <p:nvSpPr>
          <p:cNvPr id="21" name="Text 18"/>
          <p:cNvSpPr txBox="1"/>
          <p:nvPr/>
        </p:nvSpPr>
        <p:spPr>
          <a:xfrm>
            <a:off x="1766266"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2579079" y="2377440"/>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3391892"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4" name="Text 21"/>
          <p:cNvSpPr txBox="1"/>
          <p:nvPr/>
        </p:nvSpPr>
        <p:spPr>
          <a:xfrm>
            <a:off x="5017519" y="237744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950749" y="237744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p.24</a:t>
            </a:r>
            <a:endParaRPr lang="en-US" sz="1200" dirty="0"/>
          </a:p>
        </p:txBody>
      </p:sp>
      <p:sp>
        <p:nvSpPr>
          <p:cNvPr id="26" name="Shape 23"/>
          <p:cNvSpPr/>
          <p:nvPr/>
        </p:nvSpPr>
        <p:spPr>
          <a:xfrm>
            <a:off x="200848" y="2889504"/>
            <a:ext cx="6257880" cy="0"/>
          </a:xfrm>
          <a:prstGeom prst="line">
            <a:avLst/>
          </a:prstGeom>
          <a:noFill/>
          <a:ln w="6350">
            <a:solidFill>
              <a:srgbClr val="CCCCCC"/>
            </a:solidFill>
            <a:prstDash val="solid"/>
          </a:ln>
        </p:spPr>
      </p:sp>
      <p:sp>
        <p:nvSpPr>
          <p:cNvPr id="27" name="Text 24"/>
          <p:cNvSpPr txBox="1"/>
          <p:nvPr/>
        </p:nvSpPr>
        <p:spPr>
          <a:xfrm>
            <a:off x="200848" y="2889504"/>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事例B　東町</a:t>
            </a:r>
            <a:endParaRPr lang="en-US" sz="1400" dirty="0"/>
          </a:p>
        </p:txBody>
      </p:sp>
      <p:sp>
        <p:nvSpPr>
          <p:cNvPr id="28" name="Text 25"/>
          <p:cNvSpPr txBox="1"/>
          <p:nvPr/>
        </p:nvSpPr>
        <p:spPr>
          <a:xfrm>
            <a:off x="2579079" y="2889504"/>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4204706" y="2889504"/>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0" name="Text 27"/>
          <p:cNvSpPr txBox="1"/>
          <p:nvPr/>
        </p:nvSpPr>
        <p:spPr>
          <a:xfrm>
            <a:off x="5950749" y="2889504"/>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p.26</a:t>
            </a:r>
            <a:endParaRPr lang="en-US" sz="1200" dirty="0"/>
          </a:p>
        </p:txBody>
      </p:sp>
      <p:sp>
        <p:nvSpPr>
          <p:cNvPr id="31" name="Shape 28"/>
          <p:cNvSpPr/>
          <p:nvPr/>
        </p:nvSpPr>
        <p:spPr>
          <a:xfrm>
            <a:off x="200848" y="3401568"/>
            <a:ext cx="6257880" cy="0"/>
          </a:xfrm>
          <a:prstGeom prst="line">
            <a:avLst/>
          </a:prstGeom>
          <a:noFill/>
          <a:ln w="6350">
            <a:solidFill>
              <a:srgbClr val="CCCCCC"/>
            </a:solidFill>
            <a:prstDash val="solid"/>
          </a:ln>
        </p:spPr>
      </p:sp>
      <p:sp>
        <p:nvSpPr>
          <p:cNvPr id="32" name="Text 29"/>
          <p:cNvSpPr txBox="1"/>
          <p:nvPr/>
        </p:nvSpPr>
        <p:spPr>
          <a:xfrm>
            <a:off x="200848" y="3401568"/>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事例C　南村</a:t>
            </a:r>
            <a:endParaRPr lang="en-US" sz="1400" dirty="0"/>
          </a:p>
        </p:txBody>
      </p:sp>
      <p:sp>
        <p:nvSpPr>
          <p:cNvPr id="33" name="Text 30"/>
          <p:cNvSpPr txBox="1"/>
          <p:nvPr/>
        </p:nvSpPr>
        <p:spPr>
          <a:xfrm>
            <a:off x="1766266"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4" name="Text 31"/>
          <p:cNvSpPr txBox="1"/>
          <p:nvPr/>
        </p:nvSpPr>
        <p:spPr>
          <a:xfrm>
            <a:off x="2579079" y="3401568"/>
            <a:ext cx="812813"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35" name="Text 32"/>
          <p:cNvSpPr txBox="1"/>
          <p:nvPr/>
        </p:nvSpPr>
        <p:spPr>
          <a:xfrm>
            <a:off x="3391892" y="3401568"/>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6" name="Text 33"/>
          <p:cNvSpPr txBox="1"/>
          <p:nvPr/>
        </p:nvSpPr>
        <p:spPr>
          <a:xfrm>
            <a:off x="5950749" y="3401568"/>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p.28</a:t>
            </a:r>
            <a:endParaRPr lang="en-US" sz="1200" dirty="0"/>
          </a:p>
        </p:txBody>
      </p:sp>
      <p:sp>
        <p:nvSpPr>
          <p:cNvPr id="37" name="Shape 34"/>
          <p:cNvSpPr/>
          <p:nvPr/>
        </p:nvSpPr>
        <p:spPr>
          <a:xfrm>
            <a:off x="200848" y="3913632"/>
            <a:ext cx="6257880" cy="0"/>
          </a:xfrm>
          <a:prstGeom prst="line">
            <a:avLst/>
          </a:prstGeom>
          <a:noFill/>
          <a:ln w="6350">
            <a:solidFill>
              <a:srgbClr val="CCCCCC"/>
            </a:solidFill>
            <a:prstDash val="solid"/>
          </a:ln>
        </p:spPr>
      </p:sp>
      <p:sp>
        <p:nvSpPr>
          <p:cNvPr id="38" name="Text 35"/>
          <p:cNvSpPr txBox="1"/>
          <p:nvPr/>
        </p:nvSpPr>
        <p:spPr>
          <a:xfrm>
            <a:off x="200848" y="3913632"/>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事例D　西市</a:t>
            </a:r>
            <a:endParaRPr lang="en-US" sz="1400" dirty="0"/>
          </a:p>
        </p:txBody>
      </p:sp>
      <p:sp>
        <p:nvSpPr>
          <p:cNvPr id="39" name="Text 36"/>
          <p:cNvSpPr txBox="1"/>
          <p:nvPr/>
        </p:nvSpPr>
        <p:spPr>
          <a:xfrm>
            <a:off x="176626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0" name="Text 37"/>
          <p:cNvSpPr txBox="1"/>
          <p:nvPr/>
        </p:nvSpPr>
        <p:spPr>
          <a:xfrm>
            <a:off x="4204706"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1" name="Text 38"/>
          <p:cNvSpPr txBox="1"/>
          <p:nvPr/>
        </p:nvSpPr>
        <p:spPr>
          <a:xfrm>
            <a:off x="5017519" y="3913632"/>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2" name="Text 39"/>
          <p:cNvSpPr txBox="1"/>
          <p:nvPr/>
        </p:nvSpPr>
        <p:spPr>
          <a:xfrm>
            <a:off x="5950749" y="3913632"/>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p.30</a:t>
            </a:r>
            <a:endParaRPr lang="en-US" sz="1200" dirty="0"/>
          </a:p>
        </p:txBody>
      </p:sp>
      <p:sp>
        <p:nvSpPr>
          <p:cNvPr id="43" name="Shape 40"/>
          <p:cNvSpPr/>
          <p:nvPr/>
        </p:nvSpPr>
        <p:spPr>
          <a:xfrm>
            <a:off x="200848" y="4425696"/>
            <a:ext cx="6257880" cy="0"/>
          </a:xfrm>
          <a:prstGeom prst="line">
            <a:avLst/>
          </a:prstGeom>
          <a:noFill/>
          <a:ln w="6350">
            <a:solidFill>
              <a:srgbClr val="CCCCCC"/>
            </a:solidFill>
            <a:prstDash val="solid"/>
          </a:ln>
        </p:spPr>
      </p:sp>
      <p:sp>
        <p:nvSpPr>
          <p:cNvPr id="44" name="Text 41"/>
          <p:cNvSpPr txBox="1"/>
          <p:nvPr/>
        </p:nvSpPr>
        <p:spPr>
          <a:xfrm>
            <a:off x="200848" y="4425696"/>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事例E　中央市</a:t>
            </a:r>
            <a:endParaRPr lang="en-US" sz="1400" dirty="0"/>
          </a:p>
        </p:txBody>
      </p:sp>
      <p:sp>
        <p:nvSpPr>
          <p:cNvPr id="45" name="Text 42"/>
          <p:cNvSpPr txBox="1"/>
          <p:nvPr/>
        </p:nvSpPr>
        <p:spPr>
          <a:xfrm>
            <a:off x="2579079" y="4425696"/>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46" name="Text 43"/>
          <p:cNvSpPr txBox="1"/>
          <p:nvPr/>
        </p:nvSpPr>
        <p:spPr>
          <a:xfrm>
            <a:off x="3391892"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7" name="Text 44"/>
          <p:cNvSpPr txBox="1"/>
          <p:nvPr/>
        </p:nvSpPr>
        <p:spPr>
          <a:xfrm>
            <a:off x="5017519" y="4425696"/>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8" name="Text 45"/>
          <p:cNvSpPr txBox="1"/>
          <p:nvPr/>
        </p:nvSpPr>
        <p:spPr>
          <a:xfrm>
            <a:off x="5950749" y="4425696"/>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p.32</a:t>
            </a:r>
            <a:endParaRPr lang="en-US" sz="1200" dirty="0"/>
          </a:p>
        </p:txBody>
      </p:sp>
      <p:sp>
        <p:nvSpPr>
          <p:cNvPr id="49" name="Shape 46"/>
          <p:cNvSpPr/>
          <p:nvPr/>
        </p:nvSpPr>
        <p:spPr>
          <a:xfrm>
            <a:off x="200848" y="4937760"/>
            <a:ext cx="6257880" cy="0"/>
          </a:xfrm>
          <a:prstGeom prst="line">
            <a:avLst/>
          </a:prstGeom>
          <a:noFill/>
          <a:ln w="6350">
            <a:solidFill>
              <a:srgbClr val="CCCCCC"/>
            </a:solidFill>
            <a:prstDash val="solid"/>
          </a:ln>
        </p:spPr>
      </p:sp>
      <p:sp>
        <p:nvSpPr>
          <p:cNvPr id="50" name="Text 47"/>
          <p:cNvSpPr txBox="1"/>
          <p:nvPr/>
        </p:nvSpPr>
        <p:spPr>
          <a:xfrm>
            <a:off x="200848" y="4937760"/>
            <a:ext cx="1565418" cy="51206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事例F　港町</a:t>
            </a:r>
            <a:endParaRPr lang="en-US" sz="1400" dirty="0"/>
          </a:p>
        </p:txBody>
      </p:sp>
      <p:sp>
        <p:nvSpPr>
          <p:cNvPr id="51" name="Text 48"/>
          <p:cNvSpPr txBox="1"/>
          <p:nvPr/>
        </p:nvSpPr>
        <p:spPr>
          <a:xfrm>
            <a:off x="1766266" y="4937760"/>
            <a:ext cx="812813"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52" name="Text 49"/>
          <p:cNvSpPr txBox="1"/>
          <p:nvPr/>
        </p:nvSpPr>
        <p:spPr>
          <a:xfrm>
            <a:off x="2579079" y="4937760"/>
            <a:ext cx="812813" cy="512064"/>
          </a:xfrm>
          <a:prstGeom prst="rect">
            <a:avLst/>
          </a:prstGeom>
          <a:noFill/>
          <a:ln/>
        </p:spPr>
        <p:txBody>
          <a:bodyPr wrap="square" lIns="0" tIns="0" rIns="0" bIns="0" rtlCol="0" anchor="ctr"/>
          <a:lstStyle/>
          <a:p>
            <a:pPr algn="ctr" indent="0" marL="0">
              <a:buNone/>
            </a:pPr>
            <a:r>
              <a:rPr lang="en-US" sz="1800" b="1" dirty="0">
                <a:solidFill>
                  <a:srgbClr val="3F3F3F"/>
                </a:solidFill>
                <a:latin typeface="Arial" pitchFamily="34" charset="0"/>
                <a:ea typeface="Arial" pitchFamily="34" charset="-122"/>
                <a:cs typeface="Arial" pitchFamily="34" charset="-120"/>
              </a:rPr>
              <a:t>✓</a:t>
            </a:r>
            <a:endParaRPr lang="en-US" sz="1800" dirty="0"/>
          </a:p>
        </p:txBody>
      </p:sp>
      <p:sp>
        <p:nvSpPr>
          <p:cNvPr id="53" name="Text 50"/>
          <p:cNvSpPr txBox="1"/>
          <p:nvPr/>
        </p:nvSpPr>
        <p:spPr>
          <a:xfrm>
            <a:off x="5950749" y="4937760"/>
            <a:ext cx="507979" cy="512064"/>
          </a:xfrm>
          <a:prstGeom prst="rect">
            <a:avLst/>
          </a:prstGeom>
          <a:noFill/>
          <a:ln/>
        </p:spPr>
        <p:txBody>
          <a:bodyPr wrap="square" lIns="0" tIns="0" rIns="0" bIns="0" rtlCol="0" anchor="ctr"/>
          <a:lstStyle/>
          <a:p>
            <a:pPr algn="ctr" indent="0" marL="0">
              <a:buNone/>
            </a:pPr>
            <a:r>
              <a:rPr lang="en-US" sz="1200" dirty="0">
                <a:solidFill>
                  <a:srgbClr val="3F3F3F"/>
                </a:solidFill>
                <a:latin typeface="Arial" pitchFamily="34" charset="0"/>
                <a:ea typeface="Arial" pitchFamily="34" charset="-122"/>
                <a:cs typeface="Arial" pitchFamily="34" charset="-120"/>
              </a:rPr>
              <a:t>p.34</a:t>
            </a:r>
            <a:endParaRPr lang="en-US" sz="1200" dirty="0"/>
          </a:p>
        </p:txBody>
      </p:sp>
      <p:sp>
        <p:nvSpPr>
          <p:cNvPr id="54" name="Shape 51"/>
          <p:cNvSpPr/>
          <p:nvPr/>
        </p:nvSpPr>
        <p:spPr>
          <a:xfrm>
            <a:off x="200848" y="5449824"/>
            <a:ext cx="6257880" cy="0"/>
          </a:xfrm>
          <a:prstGeom prst="line">
            <a:avLst/>
          </a:prstGeom>
          <a:noFill/>
          <a:ln w="6350">
            <a:solidFill>
              <a:srgbClr val="CCCCCC"/>
            </a:solidFill>
            <a:prstDash val="solid"/>
          </a:ln>
        </p:spPr>
      </p:sp>
      <p:sp>
        <p:nvSpPr>
          <p:cNvPr id="55" name="Text 52"/>
          <p:cNvSpPr txBox="1"/>
          <p:nvPr/>
        </p:nvSpPr>
        <p:spPr>
          <a:xfrm>
            <a:off x="200848" y="5495544"/>
            <a:ext cx="237744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該当数</a:t>
            </a:r>
            <a:endParaRPr lang="en-US" sz="1400" dirty="0"/>
          </a:p>
        </p:txBody>
      </p:sp>
      <p:sp>
        <p:nvSpPr>
          <p:cNvPr id="56" name="Text 53"/>
          <p:cNvSpPr txBox="1"/>
          <p:nvPr/>
        </p:nvSpPr>
        <p:spPr>
          <a:xfrm>
            <a:off x="1766266"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4</a:t>
            </a:r>
            <a:endParaRPr lang="en-US" sz="1200" dirty="0"/>
          </a:p>
        </p:txBody>
      </p:sp>
      <p:sp>
        <p:nvSpPr>
          <p:cNvPr id="57" name="Text 54"/>
          <p:cNvSpPr txBox="1"/>
          <p:nvPr/>
        </p:nvSpPr>
        <p:spPr>
          <a:xfrm>
            <a:off x="2579079"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5</a:t>
            </a:r>
            <a:endParaRPr lang="en-US" sz="1200" dirty="0"/>
          </a:p>
        </p:txBody>
      </p:sp>
      <p:sp>
        <p:nvSpPr>
          <p:cNvPr id="58" name="Text 55"/>
          <p:cNvSpPr txBox="1"/>
          <p:nvPr/>
        </p:nvSpPr>
        <p:spPr>
          <a:xfrm>
            <a:off x="3391892"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59" name="Text 56"/>
          <p:cNvSpPr txBox="1"/>
          <p:nvPr/>
        </p:nvSpPr>
        <p:spPr>
          <a:xfrm>
            <a:off x="4204706"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2</a:t>
            </a:r>
            <a:endParaRPr lang="en-US" sz="1200" dirty="0"/>
          </a:p>
        </p:txBody>
      </p:sp>
      <p:sp>
        <p:nvSpPr>
          <p:cNvPr id="60" name="Text 57"/>
          <p:cNvSpPr txBox="1"/>
          <p:nvPr/>
        </p:nvSpPr>
        <p:spPr>
          <a:xfrm>
            <a:off x="5017519" y="5495544"/>
            <a:ext cx="1234440" cy="365760"/>
          </a:xfrm>
          <a:prstGeom prst="rect">
            <a:avLst/>
          </a:prstGeom>
          <a:noFill/>
          <a:ln/>
        </p:spPr>
        <p:txBody>
          <a:bodyPr wrap="square" lIns="0" tIns="0" rIns="0" bIns="0" rtlCol="0" anchor="ctr"/>
          <a:lstStyle/>
          <a:p>
            <a:pPr algn="ctr" indent="0" marL="0">
              <a:buNone/>
            </a:pPr>
            <a:r>
              <a:rPr lang="en-US" sz="1200" b="1" dirty="0">
                <a:solidFill>
                  <a:srgbClr val="3F3F3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6687328" y="1874520"/>
            <a:ext cx="3017520" cy="4251960"/>
          </a:xfrm>
          <a:prstGeom prst="rect">
            <a:avLst/>
          </a:prstGeom>
          <a:solidFill>
            <a:srgbClr val="E0EEF8"/>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5事例が専任の調整役を置いている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6事例のうち資金の手当ては4事例、拠点は3事例。調整役が最も共通している。調整役がいない事例は、関係者の合意に時間がかかった。資金の手当ては、調整役が置かれた後に整っている</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体制の詳細は参考資料で確かめる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各事例の体制と人数はp.24〜34。調整役の人件費は1人年600万円程度。市でも同じ規模の調整役を、初年度から置くべきである。調整役は、交通事業の実務の経験者から採用する</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8つの候補地を3つの条件で絞り込むと、すべてを満たすのは候補3と候補6の2か所だけである。両者のうち費用の低い候補3を第一候補とする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候補地の絞り込み</a:t>
            </a:r>
            <a:pPr indent="0" marL="0">
              <a:buNone/>
            </a:pPr>
            <a:r>
              <a:rPr lang="en-US" sz="1100" dirty="0">
                <a:solidFill>
                  <a:srgbClr val="3F3F3F"/>
                </a:solidFill>
                <a:latin typeface="Yu Gothic UI" pitchFamily="34" charset="0"/>
                <a:ea typeface="Yu Gothic UI" pitchFamily="34" charset="-122"/>
                <a:cs typeface="Yu Gothic UI" pitchFamily="34" charset="-120"/>
              </a:rPr>
              <a:t>　（○＝条件を満たす）</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注）概算費用は用地取得費を除く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60</a:t>
            </a:r>
            <a:endParaRPr lang="en-US" sz="900" dirty="0"/>
          </a:p>
        </p:txBody>
      </p:sp>
      <p:sp>
        <p:nvSpPr>
          <p:cNvPr id="12" name="Text 9"/>
          <p:cNvSpPr txBox="1"/>
          <p:nvPr/>
        </p:nvSpPr>
        <p:spPr>
          <a:xfrm>
            <a:off x="200848"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候補</a:t>
            </a:r>
            <a:endParaRPr lang="en-US" sz="1400" dirty="0"/>
          </a:p>
        </p:txBody>
      </p:sp>
      <p:sp>
        <p:nvSpPr>
          <p:cNvPr id="13" name="Text 10"/>
          <p:cNvSpPr txBox="1"/>
          <p:nvPr/>
        </p:nvSpPr>
        <p:spPr>
          <a:xfrm>
            <a:off x="200848"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8か所</a:t>
            </a:r>
            <a:endParaRPr lang="en-US" sz="1800" dirty="0"/>
          </a:p>
        </p:txBody>
      </p:sp>
      <p:sp>
        <p:nvSpPr>
          <p:cNvPr id="14" name="Shape 11"/>
          <p:cNvSpPr/>
          <p:nvPr/>
        </p:nvSpPr>
        <p:spPr>
          <a:xfrm>
            <a:off x="1314703" y="2258568"/>
            <a:ext cx="391355" cy="0"/>
          </a:xfrm>
          <a:prstGeom prst="line">
            <a:avLst/>
          </a:prstGeom>
          <a:noFill/>
          <a:ln w="12700">
            <a:solidFill>
              <a:srgbClr val="CCCCCC"/>
            </a:solidFill>
            <a:prstDash val="solid"/>
            <a:tailEnd type="triangle"/>
          </a:ln>
        </p:spPr>
      </p:sp>
      <p:sp>
        <p:nvSpPr>
          <p:cNvPr id="15" name="Text 12"/>
          <p:cNvSpPr txBox="1"/>
          <p:nvPr/>
        </p:nvSpPr>
        <p:spPr>
          <a:xfrm>
            <a:off x="1778307"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条件1　用地</a:t>
            </a:r>
            <a:endParaRPr lang="en-US" sz="1400" dirty="0"/>
          </a:p>
        </p:txBody>
      </p:sp>
      <p:sp>
        <p:nvSpPr>
          <p:cNvPr id="16" name="Text 13"/>
          <p:cNvSpPr txBox="1"/>
          <p:nvPr/>
        </p:nvSpPr>
        <p:spPr>
          <a:xfrm>
            <a:off x="1778307"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5か所</a:t>
            </a:r>
            <a:endParaRPr lang="en-US" sz="1800" dirty="0"/>
          </a:p>
        </p:txBody>
      </p:sp>
      <p:sp>
        <p:nvSpPr>
          <p:cNvPr id="17" name="Shape 14"/>
          <p:cNvSpPr/>
          <p:nvPr/>
        </p:nvSpPr>
        <p:spPr>
          <a:xfrm>
            <a:off x="2892163" y="2258568"/>
            <a:ext cx="391355" cy="0"/>
          </a:xfrm>
          <a:prstGeom prst="line">
            <a:avLst/>
          </a:prstGeom>
          <a:noFill/>
          <a:ln w="12700">
            <a:solidFill>
              <a:srgbClr val="CCCCCC"/>
            </a:solidFill>
            <a:prstDash val="solid"/>
            <a:tailEnd type="triangle"/>
          </a:ln>
        </p:spPr>
      </p:sp>
      <p:sp>
        <p:nvSpPr>
          <p:cNvPr id="18" name="Text 15"/>
          <p:cNvSpPr txBox="1"/>
          <p:nvPr/>
        </p:nvSpPr>
        <p:spPr>
          <a:xfrm>
            <a:off x="3355767" y="1901952"/>
            <a:ext cx="16002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条件2　接続</a:t>
            </a:r>
            <a:endParaRPr lang="en-US" sz="1400" dirty="0"/>
          </a:p>
        </p:txBody>
      </p:sp>
      <p:sp>
        <p:nvSpPr>
          <p:cNvPr id="19" name="Text 16"/>
          <p:cNvSpPr txBox="1"/>
          <p:nvPr/>
        </p:nvSpPr>
        <p:spPr>
          <a:xfrm>
            <a:off x="3355767" y="2084832"/>
            <a:ext cx="16002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3か所</a:t>
            </a:r>
            <a:endParaRPr lang="en-US" sz="1800" dirty="0"/>
          </a:p>
        </p:txBody>
      </p:sp>
      <p:sp>
        <p:nvSpPr>
          <p:cNvPr id="20" name="Shape 17"/>
          <p:cNvSpPr/>
          <p:nvPr/>
        </p:nvSpPr>
        <p:spPr>
          <a:xfrm>
            <a:off x="4469623" y="2258568"/>
            <a:ext cx="391355" cy="0"/>
          </a:xfrm>
          <a:prstGeom prst="line">
            <a:avLst/>
          </a:prstGeom>
          <a:noFill/>
          <a:ln w="12700">
            <a:solidFill>
              <a:srgbClr val="CCCCCC"/>
            </a:solidFill>
            <a:prstDash val="solid"/>
            <a:tailEnd type="triangle"/>
          </a:ln>
        </p:spPr>
      </p:sp>
      <p:sp>
        <p:nvSpPr>
          <p:cNvPr id="21" name="Text 18"/>
          <p:cNvSpPr txBox="1"/>
          <p:nvPr/>
        </p:nvSpPr>
        <p:spPr>
          <a:xfrm>
            <a:off x="4933227" y="1901952"/>
            <a:ext cx="15255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条件3　費用</a:t>
            </a:r>
            <a:endParaRPr lang="en-US" sz="1400" dirty="0"/>
          </a:p>
        </p:txBody>
      </p:sp>
      <p:sp>
        <p:nvSpPr>
          <p:cNvPr id="22" name="Text 19"/>
          <p:cNvSpPr txBox="1"/>
          <p:nvPr/>
        </p:nvSpPr>
        <p:spPr>
          <a:xfrm>
            <a:off x="4933227" y="2084832"/>
            <a:ext cx="1525500" cy="365760"/>
          </a:xfrm>
          <a:prstGeom prst="rect">
            <a:avLst/>
          </a:prstGeom>
          <a:noFill/>
          <a:ln/>
        </p:spPr>
        <p:txBody>
          <a:bodyPr wrap="square" lIns="0" tIns="0" rIns="0" bIns="0" rtlCol="0" anchor="t"/>
          <a:lstStyle/>
          <a:p>
            <a:pPr algn="ctr" indent="0" marL="0">
              <a:buNone/>
            </a:pPr>
            <a:r>
              <a:rPr lang="en-US" sz="1800" b="1" dirty="0">
                <a:solidFill>
                  <a:srgbClr val="3F3F3F"/>
                </a:solidFill>
                <a:latin typeface="Arial" pitchFamily="34" charset="0"/>
                <a:ea typeface="Arial" pitchFamily="34" charset="-122"/>
                <a:cs typeface="Arial" pitchFamily="34" charset="-120"/>
              </a:rPr>
              <a:t>2か所</a:t>
            </a:r>
            <a:endParaRPr lang="en-US" sz="1800" dirty="0"/>
          </a:p>
        </p:txBody>
      </p:sp>
      <p:sp>
        <p:nvSpPr>
          <p:cNvPr id="23" name="Text 20"/>
          <p:cNvSpPr txBox="1"/>
          <p:nvPr/>
        </p:nvSpPr>
        <p:spPr>
          <a:xfrm>
            <a:off x="200848" y="2606040"/>
            <a:ext cx="1463040" cy="310896"/>
          </a:xfrm>
          <a:prstGeom prst="rect">
            <a:avLst/>
          </a:prstGeom>
          <a:noFill/>
          <a:ln/>
        </p:spPr>
        <p:txBody>
          <a:bodyPr wrap="square" lIns="0" tIns="0" rIns="0" bIns="0" rtlCol="0" anchor="t"/>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候補地</a:t>
            </a:r>
            <a:endParaRPr lang="en-US" sz="1400" dirty="0"/>
          </a:p>
        </p:txBody>
      </p:sp>
      <p:sp>
        <p:nvSpPr>
          <p:cNvPr id="24" name="Text 21"/>
          <p:cNvSpPr txBox="1"/>
          <p:nvPr/>
        </p:nvSpPr>
        <p:spPr>
          <a:xfrm>
            <a:off x="1525432"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用地</a:t>
            </a:r>
            <a:endParaRPr lang="en-US" sz="1400" dirty="0"/>
          </a:p>
        </p:txBody>
      </p:sp>
      <p:sp>
        <p:nvSpPr>
          <p:cNvPr id="25" name="Text 22"/>
          <p:cNvSpPr txBox="1"/>
          <p:nvPr/>
        </p:nvSpPr>
        <p:spPr>
          <a:xfrm>
            <a:off x="2609183"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接続</a:t>
            </a:r>
            <a:endParaRPr lang="en-US" sz="1400" dirty="0"/>
          </a:p>
        </p:txBody>
      </p:sp>
      <p:sp>
        <p:nvSpPr>
          <p:cNvPr id="26" name="Text 23"/>
          <p:cNvSpPr txBox="1"/>
          <p:nvPr/>
        </p:nvSpPr>
        <p:spPr>
          <a:xfrm>
            <a:off x="3692934" y="2606040"/>
            <a:ext cx="146304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27" name="Text 24"/>
          <p:cNvSpPr txBox="1"/>
          <p:nvPr/>
        </p:nvSpPr>
        <p:spPr>
          <a:xfrm>
            <a:off x="4776685" y="2606040"/>
            <a:ext cx="1682042"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概算費用（億円）</a:t>
            </a:r>
            <a:endParaRPr lang="en-US" sz="1400" dirty="0"/>
          </a:p>
        </p:txBody>
      </p:sp>
      <p:sp>
        <p:nvSpPr>
          <p:cNvPr id="28" name="Shape 25"/>
          <p:cNvSpPr/>
          <p:nvPr/>
        </p:nvSpPr>
        <p:spPr>
          <a:xfrm>
            <a:off x="200848" y="2953512"/>
            <a:ext cx="6257880" cy="0"/>
          </a:xfrm>
          <a:prstGeom prst="line">
            <a:avLst/>
          </a:prstGeom>
          <a:noFill/>
          <a:ln w="12700">
            <a:solidFill>
              <a:srgbClr val="7F7F7F"/>
            </a:solidFill>
            <a:prstDash val="solid"/>
          </a:ln>
        </p:spPr>
      </p:sp>
      <p:sp>
        <p:nvSpPr>
          <p:cNvPr id="29" name="Text 26"/>
          <p:cNvSpPr txBox="1"/>
          <p:nvPr/>
        </p:nvSpPr>
        <p:spPr>
          <a:xfrm>
            <a:off x="200848" y="299008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候補1</a:t>
            </a:r>
            <a:endParaRPr lang="en-US" sz="1400" dirty="0"/>
          </a:p>
        </p:txBody>
      </p:sp>
      <p:sp>
        <p:nvSpPr>
          <p:cNvPr id="30" name="Text 27"/>
          <p:cNvSpPr txBox="1"/>
          <p:nvPr/>
        </p:nvSpPr>
        <p:spPr>
          <a:xfrm>
            <a:off x="1525432" y="299008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2609183" y="29900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3692934" y="299008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3" name="Text 30"/>
          <p:cNvSpPr txBox="1"/>
          <p:nvPr/>
        </p:nvSpPr>
        <p:spPr>
          <a:xfrm>
            <a:off x="4776685" y="299008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18</a:t>
            </a:r>
            <a:endParaRPr lang="en-US" sz="1400" dirty="0"/>
          </a:p>
        </p:txBody>
      </p:sp>
      <p:sp>
        <p:nvSpPr>
          <p:cNvPr id="34" name="Shape 31"/>
          <p:cNvSpPr/>
          <p:nvPr/>
        </p:nvSpPr>
        <p:spPr>
          <a:xfrm>
            <a:off x="200848" y="3355848"/>
            <a:ext cx="6257880" cy="0"/>
          </a:xfrm>
          <a:prstGeom prst="line">
            <a:avLst/>
          </a:prstGeom>
          <a:noFill/>
          <a:ln w="6350">
            <a:solidFill>
              <a:srgbClr val="CCCCCC"/>
            </a:solidFill>
            <a:prstDash val="solid"/>
          </a:ln>
        </p:spPr>
      </p:sp>
      <p:sp>
        <p:nvSpPr>
          <p:cNvPr id="35" name="Text 32"/>
          <p:cNvSpPr txBox="1"/>
          <p:nvPr/>
        </p:nvSpPr>
        <p:spPr>
          <a:xfrm>
            <a:off x="200848" y="33558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候補2</a:t>
            </a:r>
            <a:endParaRPr lang="en-US" sz="1400" dirty="0"/>
          </a:p>
        </p:txBody>
      </p:sp>
      <p:sp>
        <p:nvSpPr>
          <p:cNvPr id="36" name="Text 33"/>
          <p:cNvSpPr txBox="1"/>
          <p:nvPr/>
        </p:nvSpPr>
        <p:spPr>
          <a:xfrm>
            <a:off x="1525432" y="33558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7" name="Text 34"/>
          <p:cNvSpPr txBox="1"/>
          <p:nvPr/>
        </p:nvSpPr>
        <p:spPr>
          <a:xfrm>
            <a:off x="2609183"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8" name="Text 35"/>
          <p:cNvSpPr txBox="1"/>
          <p:nvPr/>
        </p:nvSpPr>
        <p:spPr>
          <a:xfrm>
            <a:off x="3692934"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9" name="Text 36"/>
          <p:cNvSpPr txBox="1"/>
          <p:nvPr/>
        </p:nvSpPr>
        <p:spPr>
          <a:xfrm>
            <a:off x="4776685" y="335584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12</a:t>
            </a:r>
            <a:endParaRPr lang="en-US" sz="1400" dirty="0"/>
          </a:p>
        </p:txBody>
      </p:sp>
      <p:sp>
        <p:nvSpPr>
          <p:cNvPr id="40" name="Shape 37"/>
          <p:cNvSpPr/>
          <p:nvPr/>
        </p:nvSpPr>
        <p:spPr>
          <a:xfrm>
            <a:off x="200848" y="3721608"/>
            <a:ext cx="6257880" cy="0"/>
          </a:xfrm>
          <a:prstGeom prst="line">
            <a:avLst/>
          </a:prstGeom>
          <a:noFill/>
          <a:ln w="6350">
            <a:solidFill>
              <a:srgbClr val="CCCCCC"/>
            </a:solidFill>
            <a:prstDash val="solid"/>
          </a:ln>
        </p:spPr>
      </p:sp>
      <p:sp>
        <p:nvSpPr>
          <p:cNvPr id="41" name="Shape 38"/>
          <p:cNvSpPr/>
          <p:nvPr/>
        </p:nvSpPr>
        <p:spPr>
          <a:xfrm>
            <a:off x="200848" y="3721608"/>
            <a:ext cx="6257880" cy="365760"/>
          </a:xfrm>
          <a:prstGeom prst="rect">
            <a:avLst/>
          </a:prstGeom>
          <a:solidFill>
            <a:srgbClr val="C1DDF1"/>
          </a:solidFill>
          <a:ln/>
        </p:spPr>
      </p:sp>
      <p:sp>
        <p:nvSpPr>
          <p:cNvPr id="42" name="Text 39"/>
          <p:cNvSpPr txBox="1"/>
          <p:nvPr/>
        </p:nvSpPr>
        <p:spPr>
          <a:xfrm>
            <a:off x="200848" y="3721608"/>
            <a:ext cx="20116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候補3　第一候補</a:t>
            </a:r>
            <a:endParaRPr lang="en-US" sz="1400" dirty="0"/>
          </a:p>
        </p:txBody>
      </p:sp>
      <p:sp>
        <p:nvSpPr>
          <p:cNvPr id="43" name="Text 40"/>
          <p:cNvSpPr txBox="1"/>
          <p:nvPr/>
        </p:nvSpPr>
        <p:spPr>
          <a:xfrm>
            <a:off x="1525432"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4" name="Text 41"/>
          <p:cNvSpPr txBox="1"/>
          <p:nvPr/>
        </p:nvSpPr>
        <p:spPr>
          <a:xfrm>
            <a:off x="2609183"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5" name="Text 42"/>
          <p:cNvSpPr txBox="1"/>
          <p:nvPr/>
        </p:nvSpPr>
        <p:spPr>
          <a:xfrm>
            <a:off x="3692934"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6" name="Text 43"/>
          <p:cNvSpPr txBox="1"/>
          <p:nvPr/>
        </p:nvSpPr>
        <p:spPr>
          <a:xfrm>
            <a:off x="4776685" y="3721608"/>
            <a:ext cx="1682042"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9</a:t>
            </a:r>
            <a:endParaRPr lang="en-US" sz="1400" dirty="0"/>
          </a:p>
        </p:txBody>
      </p:sp>
      <p:sp>
        <p:nvSpPr>
          <p:cNvPr id="47" name="Shape 44"/>
          <p:cNvSpPr/>
          <p:nvPr/>
        </p:nvSpPr>
        <p:spPr>
          <a:xfrm>
            <a:off x="200848" y="4087368"/>
            <a:ext cx="6257880" cy="0"/>
          </a:xfrm>
          <a:prstGeom prst="line">
            <a:avLst/>
          </a:prstGeom>
          <a:noFill/>
          <a:ln w="6350">
            <a:solidFill>
              <a:srgbClr val="CCCCCC"/>
            </a:solidFill>
            <a:prstDash val="solid"/>
          </a:ln>
        </p:spPr>
      </p:sp>
      <p:sp>
        <p:nvSpPr>
          <p:cNvPr id="48" name="Text 45"/>
          <p:cNvSpPr txBox="1"/>
          <p:nvPr/>
        </p:nvSpPr>
        <p:spPr>
          <a:xfrm>
            <a:off x="200848" y="408736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候補4</a:t>
            </a:r>
            <a:endParaRPr lang="en-US" sz="1400" dirty="0"/>
          </a:p>
        </p:txBody>
      </p:sp>
      <p:sp>
        <p:nvSpPr>
          <p:cNvPr id="49" name="Text 46"/>
          <p:cNvSpPr txBox="1"/>
          <p:nvPr/>
        </p:nvSpPr>
        <p:spPr>
          <a:xfrm>
            <a:off x="1525432"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0" name="Text 47"/>
          <p:cNvSpPr txBox="1"/>
          <p:nvPr/>
        </p:nvSpPr>
        <p:spPr>
          <a:xfrm>
            <a:off x="2609183" y="408736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51" name="Text 48"/>
          <p:cNvSpPr txBox="1"/>
          <p:nvPr/>
        </p:nvSpPr>
        <p:spPr>
          <a:xfrm>
            <a:off x="3692934" y="408736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2" name="Text 49"/>
          <p:cNvSpPr txBox="1"/>
          <p:nvPr/>
        </p:nvSpPr>
        <p:spPr>
          <a:xfrm>
            <a:off x="4776685" y="408736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21</a:t>
            </a:r>
            <a:endParaRPr lang="en-US" sz="1400" dirty="0"/>
          </a:p>
        </p:txBody>
      </p:sp>
      <p:sp>
        <p:nvSpPr>
          <p:cNvPr id="53" name="Shape 50"/>
          <p:cNvSpPr/>
          <p:nvPr/>
        </p:nvSpPr>
        <p:spPr>
          <a:xfrm>
            <a:off x="200848" y="4453128"/>
            <a:ext cx="6257880" cy="0"/>
          </a:xfrm>
          <a:prstGeom prst="line">
            <a:avLst/>
          </a:prstGeom>
          <a:noFill/>
          <a:ln w="6350">
            <a:solidFill>
              <a:srgbClr val="CCCCCC"/>
            </a:solidFill>
            <a:prstDash val="solid"/>
          </a:ln>
        </p:spPr>
      </p:sp>
      <p:sp>
        <p:nvSpPr>
          <p:cNvPr id="54" name="Text 51"/>
          <p:cNvSpPr txBox="1"/>
          <p:nvPr/>
        </p:nvSpPr>
        <p:spPr>
          <a:xfrm>
            <a:off x="200848" y="445312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候補5</a:t>
            </a:r>
            <a:endParaRPr lang="en-US" sz="1400" dirty="0"/>
          </a:p>
        </p:txBody>
      </p:sp>
      <p:sp>
        <p:nvSpPr>
          <p:cNvPr id="55" name="Text 52"/>
          <p:cNvSpPr txBox="1"/>
          <p:nvPr/>
        </p:nvSpPr>
        <p:spPr>
          <a:xfrm>
            <a:off x="1525432" y="445312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56" name="Text 53"/>
          <p:cNvSpPr txBox="1"/>
          <p:nvPr/>
        </p:nvSpPr>
        <p:spPr>
          <a:xfrm>
            <a:off x="2609183"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7" name="Text 54"/>
          <p:cNvSpPr txBox="1"/>
          <p:nvPr/>
        </p:nvSpPr>
        <p:spPr>
          <a:xfrm>
            <a:off x="3692934"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8" name="Text 55"/>
          <p:cNvSpPr txBox="1"/>
          <p:nvPr/>
        </p:nvSpPr>
        <p:spPr>
          <a:xfrm>
            <a:off x="4776685" y="445312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15</a:t>
            </a:r>
            <a:endParaRPr lang="en-US" sz="1400" dirty="0"/>
          </a:p>
        </p:txBody>
      </p:sp>
      <p:sp>
        <p:nvSpPr>
          <p:cNvPr id="59" name="Shape 56"/>
          <p:cNvSpPr/>
          <p:nvPr/>
        </p:nvSpPr>
        <p:spPr>
          <a:xfrm>
            <a:off x="200848" y="4818888"/>
            <a:ext cx="6257880" cy="0"/>
          </a:xfrm>
          <a:prstGeom prst="line">
            <a:avLst/>
          </a:prstGeom>
          <a:noFill/>
          <a:ln w="6350">
            <a:solidFill>
              <a:srgbClr val="CCCCCC"/>
            </a:solidFill>
            <a:prstDash val="solid"/>
          </a:ln>
        </p:spPr>
      </p:sp>
      <p:sp>
        <p:nvSpPr>
          <p:cNvPr id="60" name="Text 57"/>
          <p:cNvSpPr txBox="1"/>
          <p:nvPr/>
        </p:nvSpPr>
        <p:spPr>
          <a:xfrm>
            <a:off x="200848" y="4818888"/>
            <a:ext cx="2011680" cy="36576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候補6</a:t>
            </a:r>
            <a:endParaRPr lang="en-US" sz="1400" dirty="0"/>
          </a:p>
        </p:txBody>
      </p:sp>
      <p:sp>
        <p:nvSpPr>
          <p:cNvPr id="61" name="Text 58"/>
          <p:cNvSpPr txBox="1"/>
          <p:nvPr/>
        </p:nvSpPr>
        <p:spPr>
          <a:xfrm>
            <a:off x="1525432"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2" name="Text 59"/>
          <p:cNvSpPr txBox="1"/>
          <p:nvPr/>
        </p:nvSpPr>
        <p:spPr>
          <a:xfrm>
            <a:off x="2609183"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3" name="Text 60"/>
          <p:cNvSpPr txBox="1"/>
          <p:nvPr/>
        </p:nvSpPr>
        <p:spPr>
          <a:xfrm>
            <a:off x="3692934" y="481888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4" name="Text 61"/>
          <p:cNvSpPr txBox="1"/>
          <p:nvPr/>
        </p:nvSpPr>
        <p:spPr>
          <a:xfrm>
            <a:off x="4776685" y="4818888"/>
            <a:ext cx="1682042" cy="365760"/>
          </a:xfrm>
          <a:prstGeom prst="rect">
            <a:avLst/>
          </a:prstGeom>
          <a:noFill/>
          <a:ln/>
        </p:spPr>
        <p:txBody>
          <a:bodyPr wrap="square" lIns="0" tIns="0" rIns="0" bIns="0" rtlCol="0" anchor="ctr"/>
          <a:lstStyle/>
          <a:p>
            <a:pPr algn="ctr" indent="0" marL="0">
              <a:buNone/>
            </a:pPr>
            <a:r>
              <a:rPr lang="en-US" sz="1400" dirty="0">
                <a:solidFill>
                  <a:srgbClr val="3F3F3F"/>
                </a:solidFill>
                <a:latin typeface="Arial" pitchFamily="34" charset="0"/>
                <a:ea typeface="Arial" pitchFamily="34" charset="-122"/>
                <a:cs typeface="Arial" pitchFamily="34" charset="-120"/>
              </a:rPr>
              <a:t>11</a:t>
            </a:r>
            <a:endParaRPr lang="en-US" sz="1400" dirty="0"/>
          </a:p>
        </p:txBody>
      </p:sp>
      <p:sp>
        <p:nvSpPr>
          <p:cNvPr id="65" name="Shape 62"/>
          <p:cNvSpPr/>
          <p:nvPr/>
        </p:nvSpPr>
        <p:spPr>
          <a:xfrm>
            <a:off x="200848" y="5184648"/>
            <a:ext cx="6257880" cy="0"/>
          </a:xfrm>
          <a:prstGeom prst="line">
            <a:avLst/>
          </a:prstGeom>
          <a:noFill/>
          <a:ln w="6350">
            <a:solidFill>
              <a:srgbClr val="CCCCCC"/>
            </a:solidFill>
            <a:prstDash val="solid"/>
          </a:ln>
        </p:spPr>
      </p:sp>
      <p:sp>
        <p:nvSpPr>
          <p:cNvPr id="66" name="Text 63"/>
          <p:cNvSpPr txBox="1"/>
          <p:nvPr/>
        </p:nvSpPr>
        <p:spPr>
          <a:xfrm>
            <a:off x="200848" y="518464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候補7</a:t>
            </a:r>
            <a:endParaRPr lang="en-US" sz="1400" dirty="0"/>
          </a:p>
        </p:txBody>
      </p:sp>
      <p:sp>
        <p:nvSpPr>
          <p:cNvPr id="67" name="Text 64"/>
          <p:cNvSpPr txBox="1"/>
          <p:nvPr/>
        </p:nvSpPr>
        <p:spPr>
          <a:xfrm>
            <a:off x="1525432" y="5184648"/>
            <a:ext cx="1463040" cy="365760"/>
          </a:xfrm>
          <a:prstGeom prst="rect">
            <a:avLst/>
          </a:prstGeom>
          <a:noFill/>
          <a:ln/>
        </p:spPr>
        <p:txBody>
          <a:bodyPr wrap="square" lIns="0" tIns="0" rIns="0" bIns="0" rtlCol="0" anchor="ctr"/>
          <a:lstStyle/>
          <a:p>
            <a:pPr algn="ctr" indent="0" marL="0">
              <a:buNone/>
            </a:pPr>
            <a:r>
              <a:rPr lang="en-US" sz="1400" dirty="0">
                <a:solidFill>
                  <a:srgbClr val="CCCCCC"/>
                </a:solidFill>
                <a:latin typeface="Yu Gothic UI" pitchFamily="34" charset="0"/>
                <a:ea typeface="Yu Gothic UI" pitchFamily="34" charset="-122"/>
                <a:cs typeface="Yu Gothic UI" pitchFamily="34" charset="-120"/>
              </a:rPr>
              <a:t>○</a:t>
            </a:r>
            <a:endParaRPr lang="en-US" sz="1400" dirty="0"/>
          </a:p>
        </p:txBody>
      </p:sp>
      <p:sp>
        <p:nvSpPr>
          <p:cNvPr id="68" name="Text 65"/>
          <p:cNvSpPr txBox="1"/>
          <p:nvPr/>
        </p:nvSpPr>
        <p:spPr>
          <a:xfrm>
            <a:off x="2609183" y="518464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692934" y="51846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0" name="Text 67"/>
          <p:cNvSpPr txBox="1"/>
          <p:nvPr/>
        </p:nvSpPr>
        <p:spPr>
          <a:xfrm>
            <a:off x="4776685" y="518464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10</a:t>
            </a:r>
            <a:endParaRPr lang="en-US" sz="1400" dirty="0"/>
          </a:p>
        </p:txBody>
      </p:sp>
      <p:sp>
        <p:nvSpPr>
          <p:cNvPr id="71" name="Shape 68"/>
          <p:cNvSpPr/>
          <p:nvPr/>
        </p:nvSpPr>
        <p:spPr>
          <a:xfrm>
            <a:off x="200848" y="5550408"/>
            <a:ext cx="6257880" cy="0"/>
          </a:xfrm>
          <a:prstGeom prst="line">
            <a:avLst/>
          </a:prstGeom>
          <a:noFill/>
          <a:ln w="6350">
            <a:solidFill>
              <a:srgbClr val="CCCCCC"/>
            </a:solidFill>
            <a:prstDash val="solid"/>
          </a:ln>
        </p:spPr>
      </p:sp>
      <p:sp>
        <p:nvSpPr>
          <p:cNvPr id="72" name="Text 69"/>
          <p:cNvSpPr txBox="1"/>
          <p:nvPr/>
        </p:nvSpPr>
        <p:spPr>
          <a:xfrm>
            <a:off x="200848" y="5550408"/>
            <a:ext cx="2011680" cy="365760"/>
          </a:xfrm>
          <a:prstGeom prst="rect">
            <a:avLst/>
          </a:prstGeom>
          <a:noFill/>
          <a:ln/>
        </p:spPr>
        <p:txBody>
          <a:bodyPr wrap="square" lIns="0" tIns="0" rIns="0" bIns="0" rtlCol="0" anchor="ctr"/>
          <a:lstStyle/>
          <a:p>
            <a:pPr indent="0" marL="0">
              <a:buNone/>
            </a:pPr>
            <a:r>
              <a:rPr lang="en-US" sz="1400" dirty="0">
                <a:solidFill>
                  <a:srgbClr val="CCCCCC"/>
                </a:solidFill>
                <a:latin typeface="Yu Gothic UI" pitchFamily="34" charset="0"/>
                <a:ea typeface="Yu Gothic UI" pitchFamily="34" charset="-122"/>
                <a:cs typeface="Yu Gothic UI" pitchFamily="34" charset="-120"/>
              </a:rPr>
              <a:t>候補8</a:t>
            </a:r>
            <a:endParaRPr lang="en-US" sz="1400" dirty="0"/>
          </a:p>
        </p:txBody>
      </p:sp>
      <p:sp>
        <p:nvSpPr>
          <p:cNvPr id="73" name="Text 70"/>
          <p:cNvSpPr txBox="1"/>
          <p:nvPr/>
        </p:nvSpPr>
        <p:spPr>
          <a:xfrm>
            <a:off x="1525432" y="5550408"/>
            <a:ext cx="1463040" cy="3657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74" name="Text 71"/>
          <p:cNvSpPr txBox="1"/>
          <p:nvPr/>
        </p:nvSpPr>
        <p:spPr>
          <a:xfrm>
            <a:off x="2609183"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5" name="Text 72"/>
          <p:cNvSpPr txBox="1"/>
          <p:nvPr/>
        </p:nvSpPr>
        <p:spPr>
          <a:xfrm>
            <a:off x="3692934"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6" name="Text 73"/>
          <p:cNvSpPr txBox="1"/>
          <p:nvPr/>
        </p:nvSpPr>
        <p:spPr>
          <a:xfrm>
            <a:off x="4776685" y="5550408"/>
            <a:ext cx="1682042" cy="365760"/>
          </a:xfrm>
          <a:prstGeom prst="rect">
            <a:avLst/>
          </a:prstGeom>
          <a:noFill/>
          <a:ln/>
        </p:spPr>
        <p:txBody>
          <a:bodyPr wrap="square" lIns="0" tIns="0" rIns="0" bIns="0" rtlCol="0" anchor="ctr"/>
          <a:lstStyle/>
          <a:p>
            <a:pPr algn="ctr" indent="0" marL="0">
              <a:buNone/>
            </a:pPr>
            <a:r>
              <a:rPr lang="en-US" sz="1400" dirty="0">
                <a:solidFill>
                  <a:srgbClr val="CCCCCC"/>
                </a:solidFill>
                <a:latin typeface="Arial" pitchFamily="34" charset="0"/>
                <a:ea typeface="Arial" pitchFamily="34" charset="-122"/>
                <a:cs typeface="Arial" pitchFamily="34" charset="-120"/>
              </a:rPr>
              <a:t>8</a:t>
            </a:r>
            <a:endParaRPr lang="en-US" sz="1400" dirty="0"/>
          </a:p>
        </p:txBody>
      </p:sp>
      <p:sp>
        <p:nvSpPr>
          <p:cNvPr id="77" name="Shape 74"/>
          <p:cNvSpPr/>
          <p:nvPr/>
        </p:nvSpPr>
        <p:spPr>
          <a:xfrm>
            <a:off x="200848" y="5916168"/>
            <a:ext cx="6257880" cy="0"/>
          </a:xfrm>
          <a:prstGeom prst="line">
            <a:avLst/>
          </a:prstGeom>
          <a:noFill/>
          <a:ln w="6350">
            <a:solidFill>
              <a:srgbClr val="CCCCCC"/>
            </a:solidFill>
            <a:prstDash val="solid"/>
          </a:ln>
        </p:spPr>
      </p:sp>
      <p:sp>
        <p:nvSpPr>
          <p:cNvPr id="78" name="Shape 75"/>
          <p:cNvSpPr/>
          <p:nvPr/>
        </p:nvSpPr>
        <p:spPr>
          <a:xfrm>
            <a:off x="6687328" y="1874520"/>
            <a:ext cx="3017520" cy="4251960"/>
          </a:xfrm>
          <a:prstGeom prst="rect">
            <a:avLst/>
          </a:prstGeom>
          <a:solidFill>
            <a:srgbClr val="E0EEF8"/>
          </a:solidFill>
          <a:ln/>
        </p:spPr>
      </p:sp>
      <p:sp>
        <p:nvSpPr>
          <p:cNvPr id="79" name="Text 76"/>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3条件をすべて満たすのは2か所</a:t>
            </a:r>
            <a:endParaRPr lang="en-US" sz="1400" dirty="0"/>
          </a:p>
        </p:txBody>
      </p:sp>
      <p:sp>
        <p:nvSpPr>
          <p:cNvPr id="80" name="Text 77"/>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8候補から用地で5か所、接続で3か所、費用で2か所に絞った。用地と駅への接続で、候補の多くが外れた。費用の条件で外れたのは、駅前の2か所である</a:t>
            </a:r>
            <a:endParaRPr lang="en-US" sz="1200" dirty="0"/>
          </a:p>
        </p:txBody>
      </p:sp>
      <p:sp>
        <p:nvSpPr>
          <p:cNvPr id="81" name="Shape 78"/>
          <p:cNvSpPr/>
          <p:nvPr/>
        </p:nvSpPr>
        <p:spPr>
          <a:xfrm>
            <a:off x="6870208" y="3936492"/>
            <a:ext cx="2651760" cy="0"/>
          </a:xfrm>
          <a:prstGeom prst="line">
            <a:avLst/>
          </a:prstGeom>
          <a:noFill/>
          <a:ln w="9525">
            <a:solidFill>
              <a:srgbClr val="CCCCCC"/>
            </a:solidFill>
            <a:prstDash val="solid"/>
          </a:ln>
        </p:spPr>
      </p:sp>
      <p:sp>
        <p:nvSpPr>
          <p:cNvPr id="82" name="Text 79"/>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費用の低い候補3を第一候補とする</a:t>
            </a:r>
            <a:endParaRPr lang="en-US" sz="1400" dirty="0"/>
          </a:p>
        </p:txBody>
      </p:sp>
      <p:sp>
        <p:nvSpPr>
          <p:cNvPr id="83" name="Text 80"/>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概算費用は候補3が9億円、候補6が11億円で、差は2億円。地権者との協議は、2027年度の上期に始める。協議が整わなければ、候補6に切り替える</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8地域すべてで利用率は10年で下がったが、下げ幅は地域で大きく異なる。対象の東部は21ポイント減と最も大きく、平均の2倍に当たる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地域別の公共交通の利用率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（%、2015年度と2025年度）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注）利用率＝通勤・通学・通院の移動に占める公共交通の割合。公共交通はバス・鉄道・予約型交通の合計。地域の区分は2025年の調査の区分にそろえた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61</a:t>
            </a:r>
            <a:endParaRPr lang="en-US" sz="900" dirty="0"/>
          </a:p>
        </p:txBody>
      </p:sp>
      <p:sp>
        <p:nvSpPr>
          <p:cNvPr id="12" name="Shape 9"/>
          <p:cNvSpPr/>
          <p:nvPr/>
        </p:nvSpPr>
        <p:spPr>
          <a:xfrm>
            <a:off x="3959032" y="1965960"/>
            <a:ext cx="146304" cy="146304"/>
          </a:xfrm>
          <a:prstGeom prst="ellipse">
            <a:avLst/>
          </a:prstGeom>
          <a:solidFill>
            <a:srgbClr val="CCCCCC"/>
          </a:solidFill>
          <a:ln/>
        </p:spPr>
      </p:sp>
      <p:sp>
        <p:nvSpPr>
          <p:cNvPr id="13" name="Text 10"/>
          <p:cNvSpPr txBox="1"/>
          <p:nvPr/>
        </p:nvSpPr>
        <p:spPr>
          <a:xfrm>
            <a:off x="4151056"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4" name="Shape 11"/>
          <p:cNvSpPr/>
          <p:nvPr/>
        </p:nvSpPr>
        <p:spPr>
          <a:xfrm>
            <a:off x="1499296" y="1965960"/>
            <a:ext cx="146304" cy="146304"/>
          </a:xfrm>
          <a:prstGeom prst="ellipse">
            <a:avLst/>
          </a:prstGeom>
          <a:solidFill>
            <a:srgbClr val="7F7F7F"/>
          </a:solidFill>
          <a:ln/>
        </p:spPr>
      </p:sp>
      <p:sp>
        <p:nvSpPr>
          <p:cNvPr id="15" name="Text 12"/>
          <p:cNvSpPr txBox="1"/>
          <p:nvPr/>
        </p:nvSpPr>
        <p:spPr>
          <a:xfrm>
            <a:off x="1691320" y="1901952"/>
            <a:ext cx="128016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6" name="Text 13"/>
          <p:cNvSpPr txBox="1"/>
          <p:nvPr/>
        </p:nvSpPr>
        <p:spPr>
          <a:xfrm>
            <a:off x="5910088" y="1901952"/>
            <a:ext cx="54864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差</a:t>
            </a:r>
            <a:endParaRPr lang="en-US" sz="1400" dirty="0"/>
          </a:p>
        </p:txBody>
      </p:sp>
      <p:sp>
        <p:nvSpPr>
          <p:cNvPr id="17" name="Text 14"/>
          <p:cNvSpPr txBox="1"/>
          <p:nvPr/>
        </p:nvSpPr>
        <p:spPr>
          <a:xfrm>
            <a:off x="200848" y="2286000"/>
            <a:ext cx="1280160" cy="4572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a:t>
            </a:r>
            <a:endParaRPr lang="en-US" sz="1400" dirty="0"/>
          </a:p>
        </p:txBody>
      </p:sp>
      <p:sp>
        <p:nvSpPr>
          <p:cNvPr id="18" name="Shape 15"/>
          <p:cNvSpPr/>
          <p:nvPr/>
        </p:nvSpPr>
        <p:spPr>
          <a:xfrm>
            <a:off x="2560000" y="2514600"/>
            <a:ext cx="1728216" cy="0"/>
          </a:xfrm>
          <a:prstGeom prst="line">
            <a:avLst/>
          </a:prstGeom>
          <a:noFill/>
          <a:ln w="31750">
            <a:solidFill>
              <a:srgbClr val="000F78"/>
            </a:solidFill>
            <a:prstDash val="solid"/>
          </a:ln>
        </p:spPr>
      </p:sp>
      <p:sp>
        <p:nvSpPr>
          <p:cNvPr id="19" name="Shape 16"/>
          <p:cNvSpPr/>
          <p:nvPr/>
        </p:nvSpPr>
        <p:spPr>
          <a:xfrm>
            <a:off x="4196776" y="2423160"/>
            <a:ext cx="182880" cy="182880"/>
          </a:xfrm>
          <a:prstGeom prst="ellipse">
            <a:avLst/>
          </a:prstGeom>
          <a:solidFill>
            <a:srgbClr val="FFFFFF"/>
          </a:solidFill>
          <a:ln w="12700">
            <a:solidFill>
              <a:srgbClr val="000F78"/>
            </a:solidFill>
            <a:prstDash val="solid"/>
          </a:ln>
        </p:spPr>
      </p:sp>
      <p:sp>
        <p:nvSpPr>
          <p:cNvPr id="20" name="Shape 17"/>
          <p:cNvSpPr/>
          <p:nvPr/>
        </p:nvSpPr>
        <p:spPr>
          <a:xfrm>
            <a:off x="2468560" y="2423160"/>
            <a:ext cx="182880" cy="182880"/>
          </a:xfrm>
          <a:prstGeom prst="ellipse">
            <a:avLst/>
          </a:prstGeom>
          <a:solidFill>
            <a:srgbClr val="000F78"/>
          </a:solidFill>
          <a:ln/>
        </p:spPr>
      </p:sp>
      <p:sp>
        <p:nvSpPr>
          <p:cNvPr id="21" name="Text 18"/>
          <p:cNvSpPr txBox="1"/>
          <p:nvPr/>
        </p:nvSpPr>
        <p:spPr>
          <a:xfrm>
            <a:off x="4425376" y="2286000"/>
            <a:ext cx="457200" cy="457200"/>
          </a:xfrm>
          <a:prstGeom prst="rect">
            <a:avLst/>
          </a:prstGeom>
          <a:noFill/>
          <a:ln/>
        </p:spPr>
        <p:txBody>
          <a:bodyPr wrap="square" lIns="0" tIns="0" rIns="0" bIns="0" rtlCol="0" anchor="ctr"/>
          <a:lstStyle/>
          <a:p>
            <a:pPr indent="0" marL="0">
              <a:buNone/>
            </a:pPr>
            <a:r>
              <a:rPr lang="en-US" sz="1200" dirty="0">
                <a:solidFill>
                  <a:srgbClr val="000F78"/>
                </a:solidFill>
                <a:latin typeface="Arial" pitchFamily="34" charset="0"/>
                <a:ea typeface="Arial" pitchFamily="34" charset="-122"/>
                <a:cs typeface="Arial" pitchFamily="34" charset="-120"/>
              </a:rPr>
              <a:t>48</a:t>
            </a:r>
            <a:endParaRPr lang="en-US" sz="1200" dirty="0"/>
          </a:p>
        </p:txBody>
      </p:sp>
      <p:sp>
        <p:nvSpPr>
          <p:cNvPr id="22" name="Text 19"/>
          <p:cNvSpPr txBox="1"/>
          <p:nvPr/>
        </p:nvSpPr>
        <p:spPr>
          <a:xfrm>
            <a:off x="1965640" y="2286000"/>
            <a:ext cx="45720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27</a:t>
            </a:r>
            <a:endParaRPr lang="en-US" sz="1200" dirty="0"/>
          </a:p>
        </p:txBody>
      </p:sp>
      <p:sp>
        <p:nvSpPr>
          <p:cNvPr id="23" name="Text 20"/>
          <p:cNvSpPr txBox="1"/>
          <p:nvPr/>
        </p:nvSpPr>
        <p:spPr>
          <a:xfrm>
            <a:off x="5910088" y="2286000"/>
            <a:ext cx="548640" cy="4572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−21</a:t>
            </a:r>
            <a:endParaRPr lang="en-US" sz="1200" dirty="0"/>
          </a:p>
        </p:txBody>
      </p:sp>
      <p:sp>
        <p:nvSpPr>
          <p:cNvPr id="24" name="Shape 21"/>
          <p:cNvSpPr/>
          <p:nvPr/>
        </p:nvSpPr>
        <p:spPr>
          <a:xfrm>
            <a:off x="200848" y="2743200"/>
            <a:ext cx="6257880" cy="0"/>
          </a:xfrm>
          <a:prstGeom prst="line">
            <a:avLst/>
          </a:prstGeom>
          <a:noFill/>
          <a:ln w="6350">
            <a:solidFill>
              <a:srgbClr val="E0EEF8"/>
            </a:solidFill>
            <a:prstDash val="solid"/>
          </a:ln>
        </p:spPr>
      </p:sp>
      <p:sp>
        <p:nvSpPr>
          <p:cNvPr id="25" name="Text 22"/>
          <p:cNvSpPr txBox="1"/>
          <p:nvPr/>
        </p:nvSpPr>
        <p:spPr>
          <a:xfrm>
            <a:off x="200848" y="2743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6" name="Shape 23"/>
          <p:cNvSpPr/>
          <p:nvPr/>
        </p:nvSpPr>
        <p:spPr>
          <a:xfrm>
            <a:off x="2724592" y="2971800"/>
            <a:ext cx="987552" cy="0"/>
          </a:xfrm>
          <a:prstGeom prst="line">
            <a:avLst/>
          </a:prstGeom>
          <a:noFill/>
          <a:ln w="25400">
            <a:solidFill>
              <a:srgbClr val="CCCCCC"/>
            </a:solidFill>
            <a:prstDash val="solid"/>
          </a:ln>
        </p:spPr>
      </p:sp>
      <p:sp>
        <p:nvSpPr>
          <p:cNvPr id="27" name="Shape 24"/>
          <p:cNvSpPr/>
          <p:nvPr/>
        </p:nvSpPr>
        <p:spPr>
          <a:xfrm>
            <a:off x="3620704" y="2880360"/>
            <a:ext cx="182880" cy="182880"/>
          </a:xfrm>
          <a:prstGeom prst="ellipse">
            <a:avLst/>
          </a:prstGeom>
          <a:solidFill>
            <a:srgbClr val="CCCCCC"/>
          </a:solidFill>
          <a:ln/>
        </p:spPr>
      </p:sp>
      <p:sp>
        <p:nvSpPr>
          <p:cNvPr id="28" name="Shape 25"/>
          <p:cNvSpPr/>
          <p:nvPr/>
        </p:nvSpPr>
        <p:spPr>
          <a:xfrm>
            <a:off x="2633152" y="2880360"/>
            <a:ext cx="182880" cy="182880"/>
          </a:xfrm>
          <a:prstGeom prst="ellipse">
            <a:avLst/>
          </a:prstGeom>
          <a:solidFill>
            <a:srgbClr val="7F7F7F"/>
          </a:solidFill>
          <a:ln/>
        </p:spPr>
      </p:sp>
      <p:sp>
        <p:nvSpPr>
          <p:cNvPr id="29" name="Text 26"/>
          <p:cNvSpPr txBox="1"/>
          <p:nvPr/>
        </p:nvSpPr>
        <p:spPr>
          <a:xfrm>
            <a:off x="3849304" y="2743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0" name="Text 27"/>
          <p:cNvSpPr txBox="1"/>
          <p:nvPr/>
        </p:nvSpPr>
        <p:spPr>
          <a:xfrm>
            <a:off x="2130232" y="2743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29</a:t>
            </a:r>
            <a:endParaRPr lang="en-US" sz="1200" dirty="0"/>
          </a:p>
        </p:txBody>
      </p:sp>
      <p:sp>
        <p:nvSpPr>
          <p:cNvPr id="31" name="Text 28"/>
          <p:cNvSpPr txBox="1"/>
          <p:nvPr/>
        </p:nvSpPr>
        <p:spPr>
          <a:xfrm>
            <a:off x="5910088" y="2743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32" name="Shape 29"/>
          <p:cNvSpPr/>
          <p:nvPr/>
        </p:nvSpPr>
        <p:spPr>
          <a:xfrm>
            <a:off x="200848" y="3200400"/>
            <a:ext cx="6257880" cy="0"/>
          </a:xfrm>
          <a:prstGeom prst="line">
            <a:avLst/>
          </a:prstGeom>
          <a:noFill/>
          <a:ln w="6350">
            <a:solidFill>
              <a:srgbClr val="E0EEF8"/>
            </a:solidFill>
            <a:prstDash val="solid"/>
          </a:ln>
        </p:spPr>
      </p:sp>
      <p:sp>
        <p:nvSpPr>
          <p:cNvPr id="33" name="Text 30"/>
          <p:cNvSpPr txBox="1"/>
          <p:nvPr/>
        </p:nvSpPr>
        <p:spPr>
          <a:xfrm>
            <a:off x="200848" y="3200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山間部</a:t>
            </a:r>
            <a:endParaRPr lang="en-US" sz="1400" dirty="0"/>
          </a:p>
        </p:txBody>
      </p:sp>
      <p:sp>
        <p:nvSpPr>
          <p:cNvPr id="34" name="Shape 31"/>
          <p:cNvSpPr/>
          <p:nvPr/>
        </p:nvSpPr>
        <p:spPr>
          <a:xfrm>
            <a:off x="2313112" y="3429000"/>
            <a:ext cx="905256" cy="0"/>
          </a:xfrm>
          <a:prstGeom prst="line">
            <a:avLst/>
          </a:prstGeom>
          <a:noFill/>
          <a:ln w="25400">
            <a:solidFill>
              <a:srgbClr val="CCCCCC"/>
            </a:solidFill>
            <a:prstDash val="solid"/>
          </a:ln>
        </p:spPr>
      </p:sp>
      <p:sp>
        <p:nvSpPr>
          <p:cNvPr id="35" name="Shape 32"/>
          <p:cNvSpPr/>
          <p:nvPr/>
        </p:nvSpPr>
        <p:spPr>
          <a:xfrm>
            <a:off x="3126928" y="3337560"/>
            <a:ext cx="182880" cy="182880"/>
          </a:xfrm>
          <a:prstGeom prst="ellipse">
            <a:avLst/>
          </a:prstGeom>
          <a:solidFill>
            <a:srgbClr val="CCCCCC"/>
          </a:solidFill>
          <a:ln/>
        </p:spPr>
      </p:sp>
      <p:sp>
        <p:nvSpPr>
          <p:cNvPr id="36" name="Shape 33"/>
          <p:cNvSpPr/>
          <p:nvPr/>
        </p:nvSpPr>
        <p:spPr>
          <a:xfrm>
            <a:off x="2221672" y="3337560"/>
            <a:ext cx="182880" cy="182880"/>
          </a:xfrm>
          <a:prstGeom prst="ellipse">
            <a:avLst/>
          </a:prstGeom>
          <a:solidFill>
            <a:srgbClr val="7F7F7F"/>
          </a:solidFill>
          <a:ln/>
        </p:spPr>
      </p:sp>
      <p:sp>
        <p:nvSpPr>
          <p:cNvPr id="37" name="Text 34"/>
          <p:cNvSpPr txBox="1"/>
          <p:nvPr/>
        </p:nvSpPr>
        <p:spPr>
          <a:xfrm>
            <a:off x="3355528" y="3200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38" name="Text 35"/>
          <p:cNvSpPr txBox="1"/>
          <p:nvPr/>
        </p:nvSpPr>
        <p:spPr>
          <a:xfrm>
            <a:off x="1718752" y="3200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a:t>
            </a:r>
            <a:endParaRPr lang="en-US" sz="1200" dirty="0"/>
          </a:p>
        </p:txBody>
      </p:sp>
      <p:sp>
        <p:nvSpPr>
          <p:cNvPr id="39" name="Text 36"/>
          <p:cNvSpPr txBox="1"/>
          <p:nvPr/>
        </p:nvSpPr>
        <p:spPr>
          <a:xfrm>
            <a:off x="5910088" y="3200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a:t>
            </a:r>
            <a:endParaRPr lang="en-US" sz="1200" dirty="0"/>
          </a:p>
        </p:txBody>
      </p:sp>
      <p:sp>
        <p:nvSpPr>
          <p:cNvPr id="40" name="Shape 37"/>
          <p:cNvSpPr/>
          <p:nvPr/>
        </p:nvSpPr>
        <p:spPr>
          <a:xfrm>
            <a:off x="200848" y="3657600"/>
            <a:ext cx="6257880" cy="0"/>
          </a:xfrm>
          <a:prstGeom prst="line">
            <a:avLst/>
          </a:prstGeom>
          <a:noFill/>
          <a:ln w="6350">
            <a:solidFill>
              <a:srgbClr val="E0EEF8"/>
            </a:solidFill>
            <a:prstDash val="solid"/>
          </a:ln>
        </p:spPr>
      </p:sp>
      <p:sp>
        <p:nvSpPr>
          <p:cNvPr id="41" name="Text 38"/>
          <p:cNvSpPr txBox="1"/>
          <p:nvPr/>
        </p:nvSpPr>
        <p:spPr>
          <a:xfrm>
            <a:off x="200848" y="36576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42" name="Shape 39"/>
          <p:cNvSpPr/>
          <p:nvPr/>
        </p:nvSpPr>
        <p:spPr>
          <a:xfrm>
            <a:off x="3136072" y="3886200"/>
            <a:ext cx="822960" cy="0"/>
          </a:xfrm>
          <a:prstGeom prst="line">
            <a:avLst/>
          </a:prstGeom>
          <a:noFill/>
          <a:ln w="25400">
            <a:solidFill>
              <a:srgbClr val="CCCCCC"/>
            </a:solidFill>
            <a:prstDash val="solid"/>
          </a:ln>
        </p:spPr>
      </p:sp>
      <p:sp>
        <p:nvSpPr>
          <p:cNvPr id="43" name="Shape 40"/>
          <p:cNvSpPr/>
          <p:nvPr/>
        </p:nvSpPr>
        <p:spPr>
          <a:xfrm>
            <a:off x="3867592" y="3794760"/>
            <a:ext cx="182880" cy="182880"/>
          </a:xfrm>
          <a:prstGeom prst="ellipse">
            <a:avLst/>
          </a:prstGeom>
          <a:solidFill>
            <a:srgbClr val="CCCCCC"/>
          </a:solidFill>
          <a:ln/>
        </p:spPr>
      </p:sp>
      <p:sp>
        <p:nvSpPr>
          <p:cNvPr id="44" name="Shape 41"/>
          <p:cNvSpPr/>
          <p:nvPr/>
        </p:nvSpPr>
        <p:spPr>
          <a:xfrm>
            <a:off x="3044632" y="3794760"/>
            <a:ext cx="182880" cy="182880"/>
          </a:xfrm>
          <a:prstGeom prst="ellipse">
            <a:avLst/>
          </a:prstGeom>
          <a:solidFill>
            <a:srgbClr val="7F7F7F"/>
          </a:solidFill>
          <a:ln/>
        </p:spPr>
      </p:sp>
      <p:sp>
        <p:nvSpPr>
          <p:cNvPr id="45" name="Text 42"/>
          <p:cNvSpPr txBox="1"/>
          <p:nvPr/>
        </p:nvSpPr>
        <p:spPr>
          <a:xfrm>
            <a:off x="4096192" y="36576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44</a:t>
            </a:r>
            <a:endParaRPr lang="en-US" sz="1200" dirty="0"/>
          </a:p>
        </p:txBody>
      </p:sp>
      <p:sp>
        <p:nvSpPr>
          <p:cNvPr id="46" name="Text 43"/>
          <p:cNvSpPr txBox="1"/>
          <p:nvPr/>
        </p:nvSpPr>
        <p:spPr>
          <a:xfrm>
            <a:off x="2541712" y="36576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47" name="Text 44"/>
          <p:cNvSpPr txBox="1"/>
          <p:nvPr/>
        </p:nvSpPr>
        <p:spPr>
          <a:xfrm>
            <a:off x="5910088" y="36576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48" name="Shape 45"/>
          <p:cNvSpPr/>
          <p:nvPr/>
        </p:nvSpPr>
        <p:spPr>
          <a:xfrm>
            <a:off x="200848" y="4114800"/>
            <a:ext cx="6257880" cy="0"/>
          </a:xfrm>
          <a:prstGeom prst="line">
            <a:avLst/>
          </a:prstGeom>
          <a:noFill/>
          <a:ln w="6350">
            <a:solidFill>
              <a:srgbClr val="E0EEF8"/>
            </a:solidFill>
            <a:prstDash val="solid"/>
          </a:ln>
        </p:spPr>
      </p:sp>
      <p:sp>
        <p:nvSpPr>
          <p:cNvPr id="49" name="Text 46"/>
          <p:cNvSpPr txBox="1"/>
          <p:nvPr/>
        </p:nvSpPr>
        <p:spPr>
          <a:xfrm>
            <a:off x="200848" y="41148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湾岸部</a:t>
            </a:r>
            <a:endParaRPr lang="en-US" sz="1400" dirty="0"/>
          </a:p>
        </p:txBody>
      </p:sp>
      <p:sp>
        <p:nvSpPr>
          <p:cNvPr id="50" name="Shape 47"/>
          <p:cNvSpPr/>
          <p:nvPr/>
        </p:nvSpPr>
        <p:spPr>
          <a:xfrm>
            <a:off x="2806888" y="4343400"/>
            <a:ext cx="740664" cy="0"/>
          </a:xfrm>
          <a:prstGeom prst="line">
            <a:avLst/>
          </a:prstGeom>
          <a:noFill/>
          <a:ln w="25400">
            <a:solidFill>
              <a:srgbClr val="CCCCCC"/>
            </a:solidFill>
            <a:prstDash val="solid"/>
          </a:ln>
        </p:spPr>
      </p:sp>
      <p:sp>
        <p:nvSpPr>
          <p:cNvPr id="51" name="Shape 48"/>
          <p:cNvSpPr/>
          <p:nvPr/>
        </p:nvSpPr>
        <p:spPr>
          <a:xfrm>
            <a:off x="3456112" y="4251960"/>
            <a:ext cx="182880" cy="182880"/>
          </a:xfrm>
          <a:prstGeom prst="ellipse">
            <a:avLst/>
          </a:prstGeom>
          <a:solidFill>
            <a:srgbClr val="CCCCCC"/>
          </a:solidFill>
          <a:ln/>
        </p:spPr>
      </p:sp>
      <p:sp>
        <p:nvSpPr>
          <p:cNvPr id="52" name="Shape 49"/>
          <p:cNvSpPr/>
          <p:nvPr/>
        </p:nvSpPr>
        <p:spPr>
          <a:xfrm>
            <a:off x="2715448" y="4251960"/>
            <a:ext cx="182880" cy="182880"/>
          </a:xfrm>
          <a:prstGeom prst="ellipse">
            <a:avLst/>
          </a:prstGeom>
          <a:solidFill>
            <a:srgbClr val="7F7F7F"/>
          </a:solidFill>
          <a:ln/>
        </p:spPr>
      </p:sp>
      <p:sp>
        <p:nvSpPr>
          <p:cNvPr id="53" name="Text 50"/>
          <p:cNvSpPr txBox="1"/>
          <p:nvPr/>
        </p:nvSpPr>
        <p:spPr>
          <a:xfrm>
            <a:off x="3684712" y="41148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39</a:t>
            </a:r>
            <a:endParaRPr lang="en-US" sz="1200" dirty="0"/>
          </a:p>
        </p:txBody>
      </p:sp>
      <p:sp>
        <p:nvSpPr>
          <p:cNvPr id="54" name="Text 51"/>
          <p:cNvSpPr txBox="1"/>
          <p:nvPr/>
        </p:nvSpPr>
        <p:spPr>
          <a:xfrm>
            <a:off x="2212528" y="41148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30</a:t>
            </a:r>
            <a:endParaRPr lang="en-US" sz="1200" dirty="0"/>
          </a:p>
        </p:txBody>
      </p:sp>
      <p:sp>
        <p:nvSpPr>
          <p:cNvPr id="55" name="Text 52"/>
          <p:cNvSpPr txBox="1"/>
          <p:nvPr/>
        </p:nvSpPr>
        <p:spPr>
          <a:xfrm>
            <a:off x="5910088" y="41148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56" name="Shape 53"/>
          <p:cNvSpPr/>
          <p:nvPr/>
        </p:nvSpPr>
        <p:spPr>
          <a:xfrm>
            <a:off x="200848" y="4572000"/>
            <a:ext cx="6257880" cy="0"/>
          </a:xfrm>
          <a:prstGeom prst="line">
            <a:avLst/>
          </a:prstGeom>
          <a:noFill/>
          <a:ln w="6350">
            <a:solidFill>
              <a:srgbClr val="E0EEF8"/>
            </a:solidFill>
            <a:prstDash val="solid"/>
          </a:ln>
        </p:spPr>
      </p:sp>
      <p:sp>
        <p:nvSpPr>
          <p:cNvPr id="57" name="Text 54"/>
          <p:cNvSpPr txBox="1"/>
          <p:nvPr/>
        </p:nvSpPr>
        <p:spPr>
          <a:xfrm>
            <a:off x="200848" y="45720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58" name="Shape 55"/>
          <p:cNvSpPr/>
          <p:nvPr/>
        </p:nvSpPr>
        <p:spPr>
          <a:xfrm>
            <a:off x="4041328" y="4800600"/>
            <a:ext cx="576072" cy="0"/>
          </a:xfrm>
          <a:prstGeom prst="line">
            <a:avLst/>
          </a:prstGeom>
          <a:noFill/>
          <a:ln w="25400">
            <a:solidFill>
              <a:srgbClr val="CCCCCC"/>
            </a:solidFill>
            <a:prstDash val="solid"/>
          </a:ln>
        </p:spPr>
      </p:sp>
      <p:sp>
        <p:nvSpPr>
          <p:cNvPr id="59" name="Shape 56"/>
          <p:cNvSpPr/>
          <p:nvPr/>
        </p:nvSpPr>
        <p:spPr>
          <a:xfrm>
            <a:off x="4525960" y="4709160"/>
            <a:ext cx="182880" cy="182880"/>
          </a:xfrm>
          <a:prstGeom prst="ellipse">
            <a:avLst/>
          </a:prstGeom>
          <a:solidFill>
            <a:srgbClr val="CCCCCC"/>
          </a:solidFill>
          <a:ln/>
        </p:spPr>
      </p:sp>
      <p:sp>
        <p:nvSpPr>
          <p:cNvPr id="60" name="Shape 57"/>
          <p:cNvSpPr/>
          <p:nvPr/>
        </p:nvSpPr>
        <p:spPr>
          <a:xfrm>
            <a:off x="3949888" y="4709160"/>
            <a:ext cx="182880" cy="182880"/>
          </a:xfrm>
          <a:prstGeom prst="ellipse">
            <a:avLst/>
          </a:prstGeom>
          <a:solidFill>
            <a:srgbClr val="7F7F7F"/>
          </a:solidFill>
          <a:ln/>
        </p:spPr>
      </p:sp>
      <p:sp>
        <p:nvSpPr>
          <p:cNvPr id="61" name="Text 58"/>
          <p:cNvSpPr txBox="1"/>
          <p:nvPr/>
        </p:nvSpPr>
        <p:spPr>
          <a:xfrm>
            <a:off x="4754560" y="45720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52</a:t>
            </a:r>
            <a:endParaRPr lang="en-US" sz="1200" dirty="0"/>
          </a:p>
        </p:txBody>
      </p:sp>
      <p:sp>
        <p:nvSpPr>
          <p:cNvPr id="62" name="Text 59"/>
          <p:cNvSpPr txBox="1"/>
          <p:nvPr/>
        </p:nvSpPr>
        <p:spPr>
          <a:xfrm>
            <a:off x="3446968" y="45720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63" name="Text 60"/>
          <p:cNvSpPr txBox="1"/>
          <p:nvPr/>
        </p:nvSpPr>
        <p:spPr>
          <a:xfrm>
            <a:off x="5910088" y="45720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−7</a:t>
            </a:r>
            <a:endParaRPr lang="en-US" sz="1200" dirty="0"/>
          </a:p>
        </p:txBody>
      </p:sp>
      <p:sp>
        <p:nvSpPr>
          <p:cNvPr id="64" name="Shape 61"/>
          <p:cNvSpPr/>
          <p:nvPr/>
        </p:nvSpPr>
        <p:spPr>
          <a:xfrm>
            <a:off x="200848" y="5029200"/>
            <a:ext cx="6257880" cy="0"/>
          </a:xfrm>
          <a:prstGeom prst="line">
            <a:avLst/>
          </a:prstGeom>
          <a:noFill/>
          <a:ln w="6350">
            <a:solidFill>
              <a:srgbClr val="E0EEF8"/>
            </a:solidFill>
            <a:prstDash val="solid"/>
          </a:ln>
        </p:spPr>
      </p:sp>
      <p:sp>
        <p:nvSpPr>
          <p:cNvPr id="65" name="Text 62"/>
          <p:cNvSpPr txBox="1"/>
          <p:nvPr/>
        </p:nvSpPr>
        <p:spPr>
          <a:xfrm>
            <a:off x="200848" y="50292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66" name="Shape 63"/>
          <p:cNvSpPr/>
          <p:nvPr/>
        </p:nvSpPr>
        <p:spPr>
          <a:xfrm>
            <a:off x="2560000" y="5257800"/>
            <a:ext cx="493776" cy="0"/>
          </a:xfrm>
          <a:prstGeom prst="line">
            <a:avLst/>
          </a:prstGeom>
          <a:noFill/>
          <a:ln w="25400">
            <a:solidFill>
              <a:srgbClr val="CCCCCC"/>
            </a:solidFill>
            <a:prstDash val="solid"/>
          </a:ln>
        </p:spPr>
      </p:sp>
      <p:sp>
        <p:nvSpPr>
          <p:cNvPr id="67" name="Shape 64"/>
          <p:cNvSpPr/>
          <p:nvPr/>
        </p:nvSpPr>
        <p:spPr>
          <a:xfrm>
            <a:off x="2962336" y="5166360"/>
            <a:ext cx="182880" cy="182880"/>
          </a:xfrm>
          <a:prstGeom prst="ellipse">
            <a:avLst/>
          </a:prstGeom>
          <a:solidFill>
            <a:srgbClr val="CCCCCC"/>
          </a:solidFill>
          <a:ln/>
        </p:spPr>
      </p:sp>
      <p:sp>
        <p:nvSpPr>
          <p:cNvPr id="68" name="Shape 65"/>
          <p:cNvSpPr/>
          <p:nvPr/>
        </p:nvSpPr>
        <p:spPr>
          <a:xfrm>
            <a:off x="2468560" y="5166360"/>
            <a:ext cx="182880" cy="182880"/>
          </a:xfrm>
          <a:prstGeom prst="ellipse">
            <a:avLst/>
          </a:prstGeom>
          <a:solidFill>
            <a:srgbClr val="7F7F7F"/>
          </a:solidFill>
          <a:ln/>
        </p:spPr>
      </p:sp>
      <p:sp>
        <p:nvSpPr>
          <p:cNvPr id="69" name="Text 66"/>
          <p:cNvSpPr txBox="1"/>
          <p:nvPr/>
        </p:nvSpPr>
        <p:spPr>
          <a:xfrm>
            <a:off x="3190936" y="50292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70" name="Text 67"/>
          <p:cNvSpPr txBox="1"/>
          <p:nvPr/>
        </p:nvSpPr>
        <p:spPr>
          <a:xfrm>
            <a:off x="1965640" y="50292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71" name="Text 68"/>
          <p:cNvSpPr txBox="1"/>
          <p:nvPr/>
        </p:nvSpPr>
        <p:spPr>
          <a:xfrm>
            <a:off x="5910088" y="50292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72" name="Shape 69"/>
          <p:cNvSpPr/>
          <p:nvPr/>
        </p:nvSpPr>
        <p:spPr>
          <a:xfrm>
            <a:off x="200848" y="5486400"/>
            <a:ext cx="6257880" cy="0"/>
          </a:xfrm>
          <a:prstGeom prst="line">
            <a:avLst/>
          </a:prstGeom>
          <a:noFill/>
          <a:ln w="6350">
            <a:solidFill>
              <a:srgbClr val="E0EEF8"/>
            </a:solidFill>
            <a:prstDash val="solid"/>
          </a:ln>
        </p:spPr>
      </p:sp>
      <p:sp>
        <p:nvSpPr>
          <p:cNvPr id="73" name="Text 70"/>
          <p:cNvSpPr txBox="1"/>
          <p:nvPr/>
        </p:nvSpPr>
        <p:spPr>
          <a:xfrm>
            <a:off x="200848" y="5486400"/>
            <a:ext cx="12801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市街地</a:t>
            </a:r>
            <a:endParaRPr lang="en-US" sz="1400" dirty="0"/>
          </a:p>
        </p:txBody>
      </p:sp>
      <p:sp>
        <p:nvSpPr>
          <p:cNvPr id="74" name="Shape 71"/>
          <p:cNvSpPr/>
          <p:nvPr/>
        </p:nvSpPr>
        <p:spPr>
          <a:xfrm>
            <a:off x="4781992" y="5715000"/>
            <a:ext cx="329184" cy="0"/>
          </a:xfrm>
          <a:prstGeom prst="line">
            <a:avLst/>
          </a:prstGeom>
          <a:noFill/>
          <a:ln w="25400">
            <a:solidFill>
              <a:srgbClr val="CCCCCC"/>
            </a:solidFill>
            <a:prstDash val="solid"/>
          </a:ln>
        </p:spPr>
      </p:sp>
      <p:sp>
        <p:nvSpPr>
          <p:cNvPr id="75" name="Shape 72"/>
          <p:cNvSpPr/>
          <p:nvPr/>
        </p:nvSpPr>
        <p:spPr>
          <a:xfrm>
            <a:off x="5019736" y="5623560"/>
            <a:ext cx="182880" cy="182880"/>
          </a:xfrm>
          <a:prstGeom prst="ellipse">
            <a:avLst/>
          </a:prstGeom>
          <a:solidFill>
            <a:srgbClr val="CCCCCC"/>
          </a:solidFill>
          <a:ln/>
        </p:spPr>
      </p:sp>
      <p:sp>
        <p:nvSpPr>
          <p:cNvPr id="76" name="Shape 73"/>
          <p:cNvSpPr/>
          <p:nvPr/>
        </p:nvSpPr>
        <p:spPr>
          <a:xfrm>
            <a:off x="4690552" y="5623560"/>
            <a:ext cx="182880" cy="182880"/>
          </a:xfrm>
          <a:prstGeom prst="ellipse">
            <a:avLst/>
          </a:prstGeom>
          <a:solidFill>
            <a:srgbClr val="7F7F7F"/>
          </a:solidFill>
          <a:ln/>
        </p:spPr>
      </p:sp>
      <p:sp>
        <p:nvSpPr>
          <p:cNvPr id="77" name="Text 74"/>
          <p:cNvSpPr txBox="1"/>
          <p:nvPr/>
        </p:nvSpPr>
        <p:spPr>
          <a:xfrm>
            <a:off x="5248336" y="5486400"/>
            <a:ext cx="4572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a:t>
            </a:r>
            <a:endParaRPr lang="en-US" sz="1200" dirty="0"/>
          </a:p>
        </p:txBody>
      </p:sp>
      <p:sp>
        <p:nvSpPr>
          <p:cNvPr id="78" name="Text 75"/>
          <p:cNvSpPr txBox="1"/>
          <p:nvPr/>
        </p:nvSpPr>
        <p:spPr>
          <a:xfrm>
            <a:off x="4187632" y="5486400"/>
            <a:ext cx="4572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54</a:t>
            </a:r>
            <a:endParaRPr lang="en-US" sz="1200" dirty="0"/>
          </a:p>
        </p:txBody>
      </p:sp>
      <p:sp>
        <p:nvSpPr>
          <p:cNvPr id="79" name="Text 76"/>
          <p:cNvSpPr txBox="1"/>
          <p:nvPr/>
        </p:nvSpPr>
        <p:spPr>
          <a:xfrm>
            <a:off x="5910088" y="5486400"/>
            <a:ext cx="54864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80" name="Shape 77"/>
          <p:cNvSpPr/>
          <p:nvPr/>
        </p:nvSpPr>
        <p:spPr>
          <a:xfrm>
            <a:off x="200848" y="5943600"/>
            <a:ext cx="6257880" cy="0"/>
          </a:xfrm>
          <a:prstGeom prst="line">
            <a:avLst/>
          </a:prstGeom>
          <a:noFill/>
          <a:ln w="6350">
            <a:solidFill>
              <a:srgbClr val="E0EEF8"/>
            </a:solidFill>
            <a:prstDash val="solid"/>
          </a:ln>
        </p:spPr>
      </p:sp>
      <p:sp>
        <p:nvSpPr>
          <p:cNvPr id="81" name="Shape 78"/>
          <p:cNvSpPr/>
          <p:nvPr/>
        </p:nvSpPr>
        <p:spPr>
          <a:xfrm>
            <a:off x="6687328" y="1874520"/>
            <a:ext cx="3017520" cy="4251960"/>
          </a:xfrm>
          <a:prstGeom prst="rect">
            <a:avLst/>
          </a:prstGeom>
          <a:solidFill>
            <a:srgbClr val="E0EEF8"/>
          </a:solidFill>
          <a:ln/>
        </p:spPr>
      </p:sp>
      <p:sp>
        <p:nvSpPr>
          <p:cNvPr id="82" name="Text 7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東部の下げ幅は21pt、8地域で最大</a:t>
            </a:r>
            <a:endParaRPr lang="en-US" sz="1400" dirty="0"/>
          </a:p>
        </p:txBody>
      </p:sp>
      <p:sp>
        <p:nvSpPr>
          <p:cNvPr id="83" name="Text 8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8地域の平均の下げ幅は10pt。東部はその2倍で、2位の北部（−12pt）も大きく上回る</a:t>
            </a:r>
            <a:endParaRPr lang="en-US" sz="1200" dirty="0"/>
          </a:p>
        </p:txBody>
      </p:sp>
      <p:sp>
        <p:nvSpPr>
          <p:cNvPr id="84" name="Shape 81"/>
          <p:cNvSpPr/>
          <p:nvPr/>
        </p:nvSpPr>
        <p:spPr>
          <a:xfrm>
            <a:off x="6870208" y="3936492"/>
            <a:ext cx="2651760" cy="0"/>
          </a:xfrm>
          <a:prstGeom prst="line">
            <a:avLst/>
          </a:prstGeom>
          <a:noFill/>
          <a:ln w="9525">
            <a:solidFill>
              <a:srgbClr val="CCCCCC"/>
            </a:solidFill>
            <a:prstDash val="solid"/>
          </a:ln>
        </p:spPr>
      </p:sp>
      <p:sp>
        <p:nvSpPr>
          <p:cNvPr id="85" name="Text 8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利用率の高い市街地ほど減りにくい</a:t>
            </a:r>
            <a:endParaRPr lang="en-US" sz="1400" dirty="0"/>
          </a:p>
        </p:txBody>
      </p:sp>
      <p:sp>
        <p:nvSpPr>
          <p:cNvPr id="86" name="Text 8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市街地は58%から54%（−4pt）。運行本数の多い地区ほど利用が保たれている</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5つの移動手段のうち、10年で順位を上げたのは送迎だけである。鉄道は分担率を21%から13%に落とし、2位の座を送迎に譲った</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移動手段別の分担率</a:t>
            </a:r>
            <a:pPr indent="0" marL="0">
              <a:buNone/>
            </a:pPr>
            <a:r>
              <a:rPr lang="en-US" sz="1100" dirty="0">
                <a:solidFill>
                  <a:srgbClr val="3F3F3F"/>
                </a:solidFill>
                <a:latin typeface="Yu Gothic UI" pitchFamily="34" charset="0"/>
                <a:ea typeface="Yu Gothic UI" pitchFamily="34" charset="-122"/>
                <a:cs typeface="Yu Gothic UI" pitchFamily="34" charset="-120"/>
              </a:rPr>
              <a:t>　（%、2015年度→2025年度）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出所）沿線パーソントリップ調査（2015年、2025年）を基に作成（名称・数値は架空の見本）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62</a:t>
            </a:r>
            <a:endParaRPr lang="en-US" sz="900" dirty="0"/>
          </a:p>
        </p:txBody>
      </p:sp>
      <p:sp>
        <p:nvSpPr>
          <p:cNvPr id="12" name="Text 9"/>
          <p:cNvSpPr txBox="1"/>
          <p:nvPr/>
        </p:nvSpPr>
        <p:spPr>
          <a:xfrm>
            <a:off x="1525432" y="1901952"/>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2015年度</a:t>
            </a:r>
            <a:endParaRPr lang="en-US" sz="1400" dirty="0"/>
          </a:p>
        </p:txBody>
      </p:sp>
      <p:sp>
        <p:nvSpPr>
          <p:cNvPr id="13" name="Text 10"/>
          <p:cNvSpPr txBox="1"/>
          <p:nvPr/>
        </p:nvSpPr>
        <p:spPr>
          <a:xfrm>
            <a:off x="4054185" y="1901952"/>
            <a:ext cx="146304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2025年度</a:t>
            </a:r>
            <a:endParaRPr lang="en-US" sz="1400" dirty="0"/>
          </a:p>
        </p:txBody>
      </p:sp>
      <p:sp>
        <p:nvSpPr>
          <p:cNvPr id="14" name="Shape 11"/>
          <p:cNvSpPr/>
          <p:nvPr/>
        </p:nvSpPr>
        <p:spPr>
          <a:xfrm>
            <a:off x="2007099" y="2148840"/>
            <a:ext cx="0" cy="3749040"/>
          </a:xfrm>
          <a:prstGeom prst="line">
            <a:avLst/>
          </a:prstGeom>
          <a:noFill/>
          <a:ln w="9525">
            <a:solidFill>
              <a:srgbClr val="CCCCCC"/>
            </a:solidFill>
            <a:prstDash val="solid"/>
          </a:ln>
        </p:spPr>
      </p:sp>
      <p:sp>
        <p:nvSpPr>
          <p:cNvPr id="15" name="Shape 12"/>
          <p:cNvSpPr/>
          <p:nvPr/>
        </p:nvSpPr>
        <p:spPr>
          <a:xfrm>
            <a:off x="4535852" y="2148840"/>
            <a:ext cx="0" cy="3749040"/>
          </a:xfrm>
          <a:prstGeom prst="line">
            <a:avLst/>
          </a:prstGeom>
          <a:noFill/>
          <a:ln w="9525">
            <a:solidFill>
              <a:srgbClr val="CCCCCC"/>
            </a:solidFill>
            <a:prstDash val="solid"/>
          </a:ln>
        </p:spPr>
      </p:sp>
      <p:sp>
        <p:nvSpPr>
          <p:cNvPr id="16" name="Shape 13"/>
          <p:cNvSpPr/>
          <p:nvPr/>
        </p:nvSpPr>
        <p:spPr>
          <a:xfrm flipV="1">
            <a:off x="2007099" y="2472538"/>
            <a:ext cx="2528752" cy="241402"/>
          </a:xfrm>
          <a:prstGeom prst="line">
            <a:avLst/>
          </a:prstGeom>
          <a:noFill/>
          <a:ln w="15875">
            <a:solidFill>
              <a:srgbClr val="CCCCCC"/>
            </a:solidFill>
            <a:prstDash val="solid"/>
          </a:ln>
        </p:spPr>
      </p:sp>
      <p:sp>
        <p:nvSpPr>
          <p:cNvPr id="17" name="Shape 14"/>
          <p:cNvSpPr/>
          <p:nvPr/>
        </p:nvSpPr>
        <p:spPr>
          <a:xfrm>
            <a:off x="1964953" y="2649931"/>
            <a:ext cx="84292" cy="128016"/>
          </a:xfrm>
          <a:prstGeom prst="ellipse">
            <a:avLst/>
          </a:prstGeom>
          <a:solidFill>
            <a:srgbClr val="7F7F7F"/>
          </a:solidFill>
          <a:ln/>
        </p:spPr>
      </p:sp>
      <p:sp>
        <p:nvSpPr>
          <p:cNvPr id="18" name="Shape 15"/>
          <p:cNvSpPr/>
          <p:nvPr/>
        </p:nvSpPr>
        <p:spPr>
          <a:xfrm>
            <a:off x="4493706" y="2408530"/>
            <a:ext cx="84292" cy="128016"/>
          </a:xfrm>
          <a:prstGeom prst="ellipse">
            <a:avLst/>
          </a:prstGeom>
          <a:solidFill>
            <a:srgbClr val="7F7F7F"/>
          </a:solidFill>
          <a:ln/>
        </p:spPr>
      </p:sp>
      <p:sp>
        <p:nvSpPr>
          <p:cNvPr id="19" name="Text 16"/>
          <p:cNvSpPr txBox="1"/>
          <p:nvPr/>
        </p:nvSpPr>
        <p:spPr>
          <a:xfrm>
            <a:off x="351369" y="256763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自家用車　52</a:t>
            </a:r>
            <a:endParaRPr lang="en-US" sz="1400" dirty="0"/>
          </a:p>
        </p:txBody>
      </p:sp>
      <p:sp>
        <p:nvSpPr>
          <p:cNvPr id="20" name="Text 17"/>
          <p:cNvSpPr txBox="1"/>
          <p:nvPr/>
        </p:nvSpPr>
        <p:spPr>
          <a:xfrm>
            <a:off x="4626164" y="2326234"/>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56　自家用車</a:t>
            </a:r>
            <a:endParaRPr lang="en-US" sz="1400" dirty="0"/>
          </a:p>
        </p:txBody>
      </p:sp>
      <p:sp>
        <p:nvSpPr>
          <p:cNvPr id="21" name="Shape 18"/>
          <p:cNvSpPr/>
          <p:nvPr/>
        </p:nvSpPr>
        <p:spPr>
          <a:xfrm>
            <a:off x="2007099" y="4584802"/>
            <a:ext cx="2528752" cy="482803"/>
          </a:xfrm>
          <a:prstGeom prst="line">
            <a:avLst/>
          </a:prstGeom>
          <a:noFill/>
          <a:ln w="31750">
            <a:solidFill>
              <a:srgbClr val="000F78"/>
            </a:solidFill>
            <a:prstDash val="solid"/>
          </a:ln>
        </p:spPr>
      </p:sp>
      <p:sp>
        <p:nvSpPr>
          <p:cNvPr id="22" name="Shape 19"/>
          <p:cNvSpPr/>
          <p:nvPr/>
        </p:nvSpPr>
        <p:spPr>
          <a:xfrm>
            <a:off x="1964953" y="4520794"/>
            <a:ext cx="84292" cy="128016"/>
          </a:xfrm>
          <a:prstGeom prst="ellipse">
            <a:avLst/>
          </a:prstGeom>
          <a:solidFill>
            <a:srgbClr val="000F78"/>
          </a:solidFill>
          <a:ln/>
        </p:spPr>
      </p:sp>
      <p:sp>
        <p:nvSpPr>
          <p:cNvPr id="23" name="Shape 20"/>
          <p:cNvSpPr/>
          <p:nvPr/>
        </p:nvSpPr>
        <p:spPr>
          <a:xfrm>
            <a:off x="4493706" y="5003597"/>
            <a:ext cx="84292" cy="128016"/>
          </a:xfrm>
          <a:prstGeom prst="ellipse">
            <a:avLst/>
          </a:prstGeom>
          <a:solidFill>
            <a:srgbClr val="000F78"/>
          </a:solidFill>
          <a:ln/>
        </p:spPr>
      </p:sp>
      <p:sp>
        <p:nvSpPr>
          <p:cNvPr id="24" name="Text 21"/>
          <p:cNvSpPr txBox="1"/>
          <p:nvPr/>
        </p:nvSpPr>
        <p:spPr>
          <a:xfrm>
            <a:off x="351369" y="4438498"/>
            <a:ext cx="2377440" cy="292608"/>
          </a:xfrm>
          <a:prstGeom prst="rect">
            <a:avLst/>
          </a:prstGeom>
          <a:noFill/>
          <a:ln/>
        </p:spPr>
        <p:txBody>
          <a:bodyPr wrap="square" lIns="0" tIns="0" rIns="0" bIns="0" rtlCol="0" anchor="ctr"/>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鉄道　21</a:t>
            </a:r>
            <a:endParaRPr lang="en-US" sz="1400" dirty="0"/>
          </a:p>
        </p:txBody>
      </p:sp>
      <p:sp>
        <p:nvSpPr>
          <p:cNvPr id="25" name="Text 22"/>
          <p:cNvSpPr txBox="1"/>
          <p:nvPr/>
        </p:nvSpPr>
        <p:spPr>
          <a:xfrm>
            <a:off x="4626164" y="4921301"/>
            <a:ext cx="1832563" cy="2926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13　鉄道</a:t>
            </a:r>
            <a:endParaRPr lang="en-US" sz="1400" dirty="0"/>
          </a:p>
        </p:txBody>
      </p:sp>
      <p:sp>
        <p:nvSpPr>
          <p:cNvPr id="26" name="Shape 23"/>
          <p:cNvSpPr/>
          <p:nvPr/>
        </p:nvSpPr>
        <p:spPr>
          <a:xfrm>
            <a:off x="2007099" y="5007254"/>
            <a:ext cx="2528752" cy="543154"/>
          </a:xfrm>
          <a:prstGeom prst="line">
            <a:avLst/>
          </a:prstGeom>
          <a:noFill/>
          <a:ln w="15875">
            <a:solidFill>
              <a:srgbClr val="CCCCCC"/>
            </a:solidFill>
            <a:prstDash val="solid"/>
          </a:ln>
        </p:spPr>
      </p:sp>
      <p:sp>
        <p:nvSpPr>
          <p:cNvPr id="27" name="Shape 24"/>
          <p:cNvSpPr/>
          <p:nvPr/>
        </p:nvSpPr>
        <p:spPr>
          <a:xfrm>
            <a:off x="1964953" y="4943246"/>
            <a:ext cx="84292" cy="128016"/>
          </a:xfrm>
          <a:prstGeom prst="ellipse">
            <a:avLst/>
          </a:prstGeom>
          <a:solidFill>
            <a:srgbClr val="7F7F7F"/>
          </a:solidFill>
          <a:ln/>
        </p:spPr>
      </p:sp>
      <p:sp>
        <p:nvSpPr>
          <p:cNvPr id="28" name="Shape 25"/>
          <p:cNvSpPr/>
          <p:nvPr/>
        </p:nvSpPr>
        <p:spPr>
          <a:xfrm>
            <a:off x="4493706" y="5486400"/>
            <a:ext cx="84292" cy="128016"/>
          </a:xfrm>
          <a:prstGeom prst="ellipse">
            <a:avLst/>
          </a:prstGeom>
          <a:solidFill>
            <a:srgbClr val="7F7F7F"/>
          </a:solidFill>
          <a:ln/>
        </p:spPr>
      </p:sp>
      <p:sp>
        <p:nvSpPr>
          <p:cNvPr id="29" name="Text 26"/>
          <p:cNvSpPr txBox="1"/>
          <p:nvPr/>
        </p:nvSpPr>
        <p:spPr>
          <a:xfrm>
            <a:off x="351369" y="486095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バス　14</a:t>
            </a:r>
            <a:endParaRPr lang="en-US" sz="1400" dirty="0"/>
          </a:p>
        </p:txBody>
      </p:sp>
      <p:sp>
        <p:nvSpPr>
          <p:cNvPr id="30" name="Text 27"/>
          <p:cNvSpPr txBox="1"/>
          <p:nvPr/>
        </p:nvSpPr>
        <p:spPr>
          <a:xfrm>
            <a:off x="4626164" y="5497373"/>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　バス</a:t>
            </a:r>
            <a:endParaRPr lang="en-US" sz="1400" dirty="0"/>
          </a:p>
        </p:txBody>
      </p:sp>
      <p:sp>
        <p:nvSpPr>
          <p:cNvPr id="31" name="Shape 28"/>
          <p:cNvSpPr/>
          <p:nvPr/>
        </p:nvSpPr>
        <p:spPr>
          <a:xfrm>
            <a:off x="2007099" y="5248656"/>
            <a:ext cx="2528752" cy="120701"/>
          </a:xfrm>
          <a:prstGeom prst="line">
            <a:avLst/>
          </a:prstGeom>
          <a:noFill/>
          <a:ln w="15875">
            <a:solidFill>
              <a:srgbClr val="CCCCCC"/>
            </a:solidFill>
            <a:prstDash val="solid"/>
          </a:ln>
        </p:spPr>
      </p:sp>
      <p:sp>
        <p:nvSpPr>
          <p:cNvPr id="32" name="Shape 29"/>
          <p:cNvSpPr/>
          <p:nvPr/>
        </p:nvSpPr>
        <p:spPr>
          <a:xfrm>
            <a:off x="1964953" y="5184648"/>
            <a:ext cx="84292" cy="128016"/>
          </a:xfrm>
          <a:prstGeom prst="ellipse">
            <a:avLst/>
          </a:prstGeom>
          <a:solidFill>
            <a:srgbClr val="7F7F7F"/>
          </a:solidFill>
          <a:ln/>
        </p:spPr>
      </p:sp>
      <p:sp>
        <p:nvSpPr>
          <p:cNvPr id="33" name="Shape 30"/>
          <p:cNvSpPr/>
          <p:nvPr/>
        </p:nvSpPr>
        <p:spPr>
          <a:xfrm>
            <a:off x="4493706" y="5305349"/>
            <a:ext cx="84292" cy="128016"/>
          </a:xfrm>
          <a:prstGeom prst="ellipse">
            <a:avLst/>
          </a:prstGeom>
          <a:solidFill>
            <a:srgbClr val="7F7F7F"/>
          </a:solidFill>
          <a:ln/>
        </p:spPr>
      </p:sp>
      <p:sp>
        <p:nvSpPr>
          <p:cNvPr id="34" name="Text 31"/>
          <p:cNvSpPr txBox="1"/>
          <p:nvPr/>
        </p:nvSpPr>
        <p:spPr>
          <a:xfrm>
            <a:off x="351369" y="5135270"/>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徒歩・自転車　10</a:t>
            </a:r>
            <a:endParaRPr lang="en-US" sz="1400" dirty="0"/>
          </a:p>
        </p:txBody>
      </p:sp>
      <p:sp>
        <p:nvSpPr>
          <p:cNvPr id="35" name="Text 32"/>
          <p:cNvSpPr txBox="1"/>
          <p:nvPr/>
        </p:nvSpPr>
        <p:spPr>
          <a:xfrm>
            <a:off x="4626164" y="5223053"/>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8　徒歩・自転車</a:t>
            </a:r>
            <a:endParaRPr lang="en-US" sz="1400" dirty="0"/>
          </a:p>
        </p:txBody>
      </p:sp>
      <p:sp>
        <p:nvSpPr>
          <p:cNvPr id="36" name="Shape 33"/>
          <p:cNvSpPr/>
          <p:nvPr/>
        </p:nvSpPr>
        <p:spPr>
          <a:xfrm flipV="1">
            <a:off x="2007099" y="4765853"/>
            <a:ext cx="2528752" cy="905256"/>
          </a:xfrm>
          <a:prstGeom prst="line">
            <a:avLst/>
          </a:prstGeom>
          <a:noFill/>
          <a:ln w="15875">
            <a:solidFill>
              <a:srgbClr val="CCCCCC"/>
            </a:solidFill>
            <a:prstDash val="solid"/>
          </a:ln>
        </p:spPr>
      </p:sp>
      <p:sp>
        <p:nvSpPr>
          <p:cNvPr id="37" name="Shape 34"/>
          <p:cNvSpPr/>
          <p:nvPr/>
        </p:nvSpPr>
        <p:spPr>
          <a:xfrm>
            <a:off x="1964953" y="5607101"/>
            <a:ext cx="84292" cy="128016"/>
          </a:xfrm>
          <a:prstGeom prst="ellipse">
            <a:avLst/>
          </a:prstGeom>
          <a:solidFill>
            <a:srgbClr val="7F7F7F"/>
          </a:solidFill>
          <a:ln/>
        </p:spPr>
      </p:sp>
      <p:sp>
        <p:nvSpPr>
          <p:cNvPr id="38" name="Shape 35"/>
          <p:cNvSpPr/>
          <p:nvPr/>
        </p:nvSpPr>
        <p:spPr>
          <a:xfrm>
            <a:off x="4493706" y="4701845"/>
            <a:ext cx="84292" cy="128016"/>
          </a:xfrm>
          <a:prstGeom prst="ellipse">
            <a:avLst/>
          </a:prstGeom>
          <a:solidFill>
            <a:srgbClr val="7F7F7F"/>
          </a:solidFill>
          <a:ln/>
        </p:spPr>
      </p:sp>
      <p:sp>
        <p:nvSpPr>
          <p:cNvPr id="39" name="Text 36"/>
          <p:cNvSpPr txBox="1"/>
          <p:nvPr/>
        </p:nvSpPr>
        <p:spPr>
          <a:xfrm>
            <a:off x="351369" y="5524805"/>
            <a:ext cx="2377440" cy="292608"/>
          </a:xfrm>
          <a:prstGeom prst="rect">
            <a:avLst/>
          </a:prstGeom>
          <a:noFill/>
          <a:ln/>
        </p:spPr>
        <p:txBody>
          <a:bodyPr wrap="square" lIns="0" tIns="0" rIns="0" bIns="0" rtlCol="0" anchor="ctr"/>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送迎　3</a:t>
            </a:r>
            <a:endParaRPr lang="en-US" sz="1400" dirty="0"/>
          </a:p>
        </p:txBody>
      </p:sp>
      <p:sp>
        <p:nvSpPr>
          <p:cNvPr id="40" name="Text 37"/>
          <p:cNvSpPr txBox="1"/>
          <p:nvPr/>
        </p:nvSpPr>
        <p:spPr>
          <a:xfrm>
            <a:off x="4626164" y="4619549"/>
            <a:ext cx="1832563" cy="29260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18　送迎</a:t>
            </a:r>
            <a:endParaRPr lang="en-US" sz="1400" dirty="0"/>
          </a:p>
        </p:txBody>
      </p:sp>
      <p:sp>
        <p:nvSpPr>
          <p:cNvPr id="41" name="Shape 38"/>
          <p:cNvSpPr/>
          <p:nvPr/>
        </p:nvSpPr>
        <p:spPr>
          <a:xfrm>
            <a:off x="6687328" y="1874520"/>
            <a:ext cx="3017520" cy="4251960"/>
          </a:xfrm>
          <a:prstGeom prst="rect">
            <a:avLst/>
          </a:prstGeom>
          <a:solidFill>
            <a:srgbClr val="E0EEF8"/>
          </a:solidFill>
          <a:ln/>
        </p:spPr>
      </p:sp>
      <p:sp>
        <p:nvSpPr>
          <p:cNvPr id="42" name="Text 3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10年で順位を上げたのは送迎だけ</a:t>
            </a:r>
            <a:endParaRPr lang="en-US" sz="1400" dirty="0"/>
          </a:p>
        </p:txBody>
      </p:sp>
      <p:sp>
        <p:nvSpPr>
          <p:cNvPr id="43" name="Text 4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送迎は3%から18%へ5位から2位に上がった。家族の負担で移動を支えている。家族が送れなくなると、移動そのものを諦める人が出る。送迎の担い手の多くは、60代以上の家族である</a:t>
            </a:r>
            <a:endParaRPr lang="en-US" sz="1200" dirty="0"/>
          </a:p>
        </p:txBody>
      </p:sp>
      <p:sp>
        <p:nvSpPr>
          <p:cNvPr id="44" name="Shape 41"/>
          <p:cNvSpPr/>
          <p:nvPr/>
        </p:nvSpPr>
        <p:spPr>
          <a:xfrm>
            <a:off x="6870208" y="3936492"/>
            <a:ext cx="2651760" cy="0"/>
          </a:xfrm>
          <a:prstGeom prst="line">
            <a:avLst/>
          </a:prstGeom>
          <a:noFill/>
          <a:ln w="9525">
            <a:solidFill>
              <a:srgbClr val="CCCCCC"/>
            </a:solidFill>
            <a:prstDash val="solid"/>
          </a:ln>
        </p:spPr>
      </p:sp>
      <p:sp>
        <p:nvSpPr>
          <p:cNvPr id="45" name="Text 4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鉄道は21%から13%に下がった</a:t>
            </a:r>
            <a:endParaRPr lang="en-US" sz="1400" dirty="0"/>
          </a:p>
        </p:txBody>
      </p:sp>
      <p:sp>
        <p:nvSpPr>
          <p:cNvPr id="46" name="Text 4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2位から3位へ。バスも14%から5%に下がり、公共交通の合計は35%から18%に半減した。公共交通は、通勤・通学の主役の座を失いつつある。鉄道とバスの乗継ぎの改善が、利用を取り戻す鍵になる</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6つのKPIのうち4つは年度目標の8割を超えたが、担い手の確保は目標の45%にとどまる。下期は担い手の確保に予算と人員を寄せるべきである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KPIの達成状況</a:t>
            </a:r>
            <a:pPr indent="0" marL="0">
              <a:buNone/>
            </a:pPr>
            <a:r>
              <a:rPr lang="en-US" sz="1100" dirty="0">
                <a:solidFill>
                  <a:srgbClr val="3F3F3F"/>
                </a:solidFill>
                <a:latin typeface="Yu Gothic UI" pitchFamily="34" charset="0"/>
                <a:ea typeface="Yu Gothic UI" pitchFamily="34" charset="-122"/>
                <a:cs typeface="Yu Gothic UI" pitchFamily="34" charset="-120"/>
              </a:rPr>
              <a:t>　（2026年度上期末時点、目標＝100%）</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注）目標は2026年度の年間目標を上期分に按分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63</a:t>
            </a:r>
            <a:endParaRPr lang="en-US" sz="900" dirty="0"/>
          </a:p>
        </p:txBody>
      </p:sp>
      <p:sp>
        <p:nvSpPr>
          <p:cNvPr id="12" name="Text 9"/>
          <p:cNvSpPr txBox="1"/>
          <p:nvPr/>
        </p:nvSpPr>
        <p:spPr>
          <a:xfrm>
            <a:off x="200848" y="1920240"/>
            <a:ext cx="21945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KPI</a:t>
            </a:r>
            <a:endParaRPr lang="en-US" sz="1400" dirty="0"/>
          </a:p>
        </p:txBody>
      </p:sp>
      <p:sp>
        <p:nvSpPr>
          <p:cNvPr id="13" name="Text 10"/>
          <p:cNvSpPr txBox="1"/>
          <p:nvPr/>
        </p:nvSpPr>
        <p:spPr>
          <a:xfrm>
            <a:off x="1766266" y="1920240"/>
            <a:ext cx="4692462"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達成率</a:t>
            </a:r>
            <a:endParaRPr lang="en-US" sz="1400" dirty="0"/>
          </a:p>
        </p:txBody>
      </p:sp>
      <p:sp>
        <p:nvSpPr>
          <p:cNvPr id="14" name="Text 11"/>
          <p:cNvSpPr txBox="1"/>
          <p:nvPr/>
        </p:nvSpPr>
        <p:spPr>
          <a:xfrm>
            <a:off x="5284664" y="1920240"/>
            <a:ext cx="1174064"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実績　　達成率</a:t>
            </a:r>
            <a:endParaRPr lang="en-US" sz="1400" dirty="0"/>
          </a:p>
        </p:txBody>
      </p:sp>
      <p:sp>
        <p:nvSpPr>
          <p:cNvPr id="15" name="Shape 12"/>
          <p:cNvSpPr/>
          <p:nvPr/>
        </p:nvSpPr>
        <p:spPr>
          <a:xfrm>
            <a:off x="200848" y="2286000"/>
            <a:ext cx="6257880" cy="0"/>
          </a:xfrm>
          <a:prstGeom prst="line">
            <a:avLst/>
          </a:prstGeom>
          <a:noFill/>
          <a:ln w="12700">
            <a:solidFill>
              <a:srgbClr val="7F7F7F"/>
            </a:solidFill>
            <a:prstDash val="solid"/>
          </a:ln>
        </p:spPr>
      </p:sp>
      <p:sp>
        <p:nvSpPr>
          <p:cNvPr id="16" name="Text 13"/>
          <p:cNvSpPr txBox="1"/>
          <p:nvPr/>
        </p:nvSpPr>
        <p:spPr>
          <a:xfrm>
            <a:off x="200848" y="237744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7" name="Shape 14"/>
          <p:cNvSpPr/>
          <p:nvPr/>
        </p:nvSpPr>
        <p:spPr>
          <a:xfrm>
            <a:off x="1766266" y="2523744"/>
            <a:ext cx="2709378" cy="329184"/>
          </a:xfrm>
          <a:prstGeom prst="rect">
            <a:avLst/>
          </a:prstGeom>
          <a:solidFill>
            <a:srgbClr val="E0EEF8"/>
          </a:solidFill>
          <a:ln/>
        </p:spPr>
      </p:sp>
      <p:sp>
        <p:nvSpPr>
          <p:cNvPr id="18" name="Shape 15"/>
          <p:cNvSpPr/>
          <p:nvPr/>
        </p:nvSpPr>
        <p:spPr>
          <a:xfrm>
            <a:off x="1766266" y="2596896"/>
            <a:ext cx="2601002" cy="182880"/>
          </a:xfrm>
          <a:prstGeom prst="rect">
            <a:avLst/>
          </a:prstGeom>
          <a:solidFill>
            <a:srgbClr val="7F7F7F"/>
          </a:solidFill>
          <a:ln/>
        </p:spPr>
      </p:sp>
      <p:sp>
        <p:nvSpPr>
          <p:cNvPr id="19" name="Shape 16"/>
          <p:cNvSpPr/>
          <p:nvPr/>
        </p:nvSpPr>
        <p:spPr>
          <a:xfrm>
            <a:off x="4475643" y="2468880"/>
            <a:ext cx="0" cy="438912"/>
          </a:xfrm>
          <a:prstGeom prst="line">
            <a:avLst/>
          </a:prstGeom>
          <a:noFill/>
          <a:ln w="19050">
            <a:solidFill>
              <a:srgbClr val="3F3F3F"/>
            </a:solidFill>
            <a:prstDash val="solid"/>
          </a:ln>
        </p:spPr>
      </p:sp>
      <p:sp>
        <p:nvSpPr>
          <p:cNvPr id="20" name="Text 17"/>
          <p:cNvSpPr txBox="1"/>
          <p:nvPr/>
        </p:nvSpPr>
        <p:spPr>
          <a:xfrm>
            <a:off x="5194351" y="237744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12.4万人</a:t>
            </a:r>
            <a:endParaRPr lang="en-US" sz="1200" dirty="0"/>
          </a:p>
        </p:txBody>
      </p:sp>
      <p:sp>
        <p:nvSpPr>
          <p:cNvPr id="21" name="Text 18"/>
          <p:cNvSpPr txBox="1"/>
          <p:nvPr/>
        </p:nvSpPr>
        <p:spPr>
          <a:xfrm>
            <a:off x="5916852" y="237744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96%</a:t>
            </a:r>
            <a:endParaRPr lang="en-US" sz="1200" dirty="0"/>
          </a:p>
        </p:txBody>
      </p:sp>
      <p:sp>
        <p:nvSpPr>
          <p:cNvPr id="22" name="Text 19"/>
          <p:cNvSpPr txBox="1"/>
          <p:nvPr/>
        </p:nvSpPr>
        <p:spPr>
          <a:xfrm>
            <a:off x="200848" y="2999232"/>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運行の定時率</a:t>
            </a:r>
            <a:endParaRPr lang="en-US" sz="1400" dirty="0"/>
          </a:p>
        </p:txBody>
      </p:sp>
      <p:sp>
        <p:nvSpPr>
          <p:cNvPr id="23" name="Shape 20"/>
          <p:cNvSpPr/>
          <p:nvPr/>
        </p:nvSpPr>
        <p:spPr>
          <a:xfrm>
            <a:off x="1766266" y="3145536"/>
            <a:ext cx="2709378" cy="329184"/>
          </a:xfrm>
          <a:prstGeom prst="rect">
            <a:avLst/>
          </a:prstGeom>
          <a:solidFill>
            <a:srgbClr val="E0EEF8"/>
          </a:solidFill>
          <a:ln/>
        </p:spPr>
      </p:sp>
      <p:sp>
        <p:nvSpPr>
          <p:cNvPr id="24" name="Shape 21"/>
          <p:cNvSpPr/>
          <p:nvPr/>
        </p:nvSpPr>
        <p:spPr>
          <a:xfrm>
            <a:off x="1766266" y="3218688"/>
            <a:ext cx="2682284" cy="182880"/>
          </a:xfrm>
          <a:prstGeom prst="rect">
            <a:avLst/>
          </a:prstGeom>
          <a:solidFill>
            <a:srgbClr val="7F7F7F"/>
          </a:solidFill>
          <a:ln/>
        </p:spPr>
      </p:sp>
      <p:sp>
        <p:nvSpPr>
          <p:cNvPr id="25" name="Shape 22"/>
          <p:cNvSpPr/>
          <p:nvPr/>
        </p:nvSpPr>
        <p:spPr>
          <a:xfrm>
            <a:off x="4475643" y="3090672"/>
            <a:ext cx="0" cy="438912"/>
          </a:xfrm>
          <a:prstGeom prst="line">
            <a:avLst/>
          </a:prstGeom>
          <a:noFill/>
          <a:ln w="19050">
            <a:solidFill>
              <a:srgbClr val="3F3F3F"/>
            </a:solidFill>
            <a:prstDash val="solid"/>
          </a:ln>
        </p:spPr>
      </p:sp>
      <p:sp>
        <p:nvSpPr>
          <p:cNvPr id="26" name="Text 23"/>
          <p:cNvSpPr txBox="1"/>
          <p:nvPr/>
        </p:nvSpPr>
        <p:spPr>
          <a:xfrm>
            <a:off x="5194351" y="2999232"/>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97.1%</a:t>
            </a:r>
            <a:endParaRPr lang="en-US" sz="1200" dirty="0"/>
          </a:p>
        </p:txBody>
      </p:sp>
      <p:sp>
        <p:nvSpPr>
          <p:cNvPr id="27" name="Text 24"/>
          <p:cNvSpPr txBox="1"/>
          <p:nvPr/>
        </p:nvSpPr>
        <p:spPr>
          <a:xfrm>
            <a:off x="5916852" y="2999232"/>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99%</a:t>
            </a:r>
            <a:endParaRPr lang="en-US" sz="1200" dirty="0"/>
          </a:p>
        </p:txBody>
      </p:sp>
      <p:sp>
        <p:nvSpPr>
          <p:cNvPr id="28" name="Text 25"/>
          <p:cNvSpPr txBox="1"/>
          <p:nvPr/>
        </p:nvSpPr>
        <p:spPr>
          <a:xfrm>
            <a:off x="200848" y="3621024"/>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アプリ登録者</a:t>
            </a:r>
            <a:endParaRPr lang="en-US" sz="1400" dirty="0"/>
          </a:p>
        </p:txBody>
      </p:sp>
      <p:sp>
        <p:nvSpPr>
          <p:cNvPr id="29" name="Shape 26"/>
          <p:cNvSpPr/>
          <p:nvPr/>
        </p:nvSpPr>
        <p:spPr>
          <a:xfrm>
            <a:off x="1766266" y="3767328"/>
            <a:ext cx="2709378" cy="329184"/>
          </a:xfrm>
          <a:prstGeom prst="rect">
            <a:avLst/>
          </a:prstGeom>
          <a:solidFill>
            <a:srgbClr val="E0EEF8"/>
          </a:solidFill>
          <a:ln/>
        </p:spPr>
      </p:sp>
      <p:sp>
        <p:nvSpPr>
          <p:cNvPr id="30" name="Shape 27"/>
          <p:cNvSpPr/>
          <p:nvPr/>
        </p:nvSpPr>
        <p:spPr>
          <a:xfrm>
            <a:off x="1766266" y="3840480"/>
            <a:ext cx="2221690" cy="182880"/>
          </a:xfrm>
          <a:prstGeom prst="rect">
            <a:avLst/>
          </a:prstGeom>
          <a:solidFill>
            <a:srgbClr val="7F7F7F"/>
          </a:solidFill>
          <a:ln/>
        </p:spPr>
      </p:sp>
      <p:sp>
        <p:nvSpPr>
          <p:cNvPr id="31" name="Shape 28"/>
          <p:cNvSpPr/>
          <p:nvPr/>
        </p:nvSpPr>
        <p:spPr>
          <a:xfrm>
            <a:off x="4475643" y="3712464"/>
            <a:ext cx="0" cy="438912"/>
          </a:xfrm>
          <a:prstGeom prst="line">
            <a:avLst/>
          </a:prstGeom>
          <a:noFill/>
          <a:ln w="19050">
            <a:solidFill>
              <a:srgbClr val="3F3F3F"/>
            </a:solidFill>
            <a:prstDash val="solid"/>
          </a:ln>
        </p:spPr>
      </p:sp>
      <p:sp>
        <p:nvSpPr>
          <p:cNvPr id="32" name="Text 29"/>
          <p:cNvSpPr txBox="1"/>
          <p:nvPr/>
        </p:nvSpPr>
        <p:spPr>
          <a:xfrm>
            <a:off x="5194351" y="3621024"/>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1.8万人</a:t>
            </a:r>
            <a:endParaRPr lang="en-US" sz="1200" dirty="0"/>
          </a:p>
        </p:txBody>
      </p:sp>
      <p:sp>
        <p:nvSpPr>
          <p:cNvPr id="33" name="Text 30"/>
          <p:cNvSpPr txBox="1"/>
          <p:nvPr/>
        </p:nvSpPr>
        <p:spPr>
          <a:xfrm>
            <a:off x="5916852" y="3621024"/>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82%</a:t>
            </a:r>
            <a:endParaRPr lang="en-US" sz="1200" dirty="0"/>
          </a:p>
        </p:txBody>
      </p:sp>
      <p:sp>
        <p:nvSpPr>
          <p:cNvPr id="34" name="Text 31"/>
          <p:cNvSpPr txBox="1"/>
          <p:nvPr/>
        </p:nvSpPr>
        <p:spPr>
          <a:xfrm>
            <a:off x="200848" y="4242816"/>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協賛企業</a:t>
            </a:r>
            <a:endParaRPr lang="en-US" sz="1400" dirty="0"/>
          </a:p>
        </p:txBody>
      </p:sp>
      <p:sp>
        <p:nvSpPr>
          <p:cNvPr id="35" name="Shape 32"/>
          <p:cNvSpPr/>
          <p:nvPr/>
        </p:nvSpPr>
        <p:spPr>
          <a:xfrm>
            <a:off x="1766266" y="4389120"/>
            <a:ext cx="2709378" cy="329184"/>
          </a:xfrm>
          <a:prstGeom prst="rect">
            <a:avLst/>
          </a:prstGeom>
          <a:solidFill>
            <a:srgbClr val="E0EEF8"/>
          </a:solidFill>
          <a:ln/>
        </p:spPr>
      </p:sp>
      <p:sp>
        <p:nvSpPr>
          <p:cNvPr id="36" name="Shape 33"/>
          <p:cNvSpPr/>
          <p:nvPr/>
        </p:nvSpPr>
        <p:spPr>
          <a:xfrm>
            <a:off x="1766266" y="4462272"/>
            <a:ext cx="2167502" cy="182880"/>
          </a:xfrm>
          <a:prstGeom prst="rect">
            <a:avLst/>
          </a:prstGeom>
          <a:solidFill>
            <a:srgbClr val="7F7F7F"/>
          </a:solidFill>
          <a:ln/>
        </p:spPr>
      </p:sp>
      <p:sp>
        <p:nvSpPr>
          <p:cNvPr id="37" name="Shape 34"/>
          <p:cNvSpPr/>
          <p:nvPr/>
        </p:nvSpPr>
        <p:spPr>
          <a:xfrm>
            <a:off x="4475643" y="4334256"/>
            <a:ext cx="0" cy="438912"/>
          </a:xfrm>
          <a:prstGeom prst="line">
            <a:avLst/>
          </a:prstGeom>
          <a:noFill/>
          <a:ln w="19050">
            <a:solidFill>
              <a:srgbClr val="3F3F3F"/>
            </a:solidFill>
            <a:prstDash val="solid"/>
          </a:ln>
        </p:spPr>
      </p:sp>
      <p:sp>
        <p:nvSpPr>
          <p:cNvPr id="38" name="Text 35"/>
          <p:cNvSpPr txBox="1"/>
          <p:nvPr/>
        </p:nvSpPr>
        <p:spPr>
          <a:xfrm>
            <a:off x="5194351" y="4242816"/>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24社</a:t>
            </a:r>
            <a:endParaRPr lang="en-US" sz="1200" dirty="0"/>
          </a:p>
        </p:txBody>
      </p:sp>
      <p:sp>
        <p:nvSpPr>
          <p:cNvPr id="39" name="Text 36"/>
          <p:cNvSpPr txBox="1"/>
          <p:nvPr/>
        </p:nvSpPr>
        <p:spPr>
          <a:xfrm>
            <a:off x="5916852" y="4242816"/>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80%</a:t>
            </a:r>
            <a:endParaRPr lang="en-US" sz="1200" dirty="0"/>
          </a:p>
        </p:txBody>
      </p:sp>
      <p:sp>
        <p:nvSpPr>
          <p:cNvPr id="40" name="Text 37"/>
          <p:cNvSpPr txBox="1"/>
          <p:nvPr/>
        </p:nvSpPr>
        <p:spPr>
          <a:xfrm>
            <a:off x="200848" y="4864608"/>
            <a:ext cx="1445001" cy="62179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担い手の確保</a:t>
            </a:r>
            <a:endParaRPr lang="en-US" sz="1400" dirty="0"/>
          </a:p>
        </p:txBody>
      </p:sp>
      <p:sp>
        <p:nvSpPr>
          <p:cNvPr id="41" name="Shape 38"/>
          <p:cNvSpPr/>
          <p:nvPr/>
        </p:nvSpPr>
        <p:spPr>
          <a:xfrm>
            <a:off x="1766266" y="5010912"/>
            <a:ext cx="2709378" cy="329184"/>
          </a:xfrm>
          <a:prstGeom prst="rect">
            <a:avLst/>
          </a:prstGeom>
          <a:solidFill>
            <a:srgbClr val="E0EEF8"/>
          </a:solidFill>
          <a:ln/>
        </p:spPr>
      </p:sp>
      <p:sp>
        <p:nvSpPr>
          <p:cNvPr id="42" name="Shape 39"/>
          <p:cNvSpPr/>
          <p:nvPr/>
        </p:nvSpPr>
        <p:spPr>
          <a:xfrm>
            <a:off x="1766266" y="5084064"/>
            <a:ext cx="1219220" cy="182880"/>
          </a:xfrm>
          <a:prstGeom prst="rect">
            <a:avLst/>
          </a:prstGeom>
          <a:solidFill>
            <a:srgbClr val="000F78"/>
          </a:solidFill>
          <a:ln/>
        </p:spPr>
      </p:sp>
      <p:sp>
        <p:nvSpPr>
          <p:cNvPr id="43" name="Shape 40"/>
          <p:cNvSpPr/>
          <p:nvPr/>
        </p:nvSpPr>
        <p:spPr>
          <a:xfrm>
            <a:off x="4475643" y="4956048"/>
            <a:ext cx="0" cy="438912"/>
          </a:xfrm>
          <a:prstGeom prst="line">
            <a:avLst/>
          </a:prstGeom>
          <a:noFill/>
          <a:ln w="19050">
            <a:solidFill>
              <a:srgbClr val="3F3F3F"/>
            </a:solidFill>
            <a:prstDash val="solid"/>
          </a:ln>
        </p:spPr>
      </p:sp>
      <p:sp>
        <p:nvSpPr>
          <p:cNvPr id="44" name="Text 41"/>
          <p:cNvSpPr txBox="1"/>
          <p:nvPr/>
        </p:nvSpPr>
        <p:spPr>
          <a:xfrm>
            <a:off x="5194351" y="4864608"/>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9人</a:t>
            </a:r>
            <a:endParaRPr lang="en-US" sz="1200" dirty="0"/>
          </a:p>
        </p:txBody>
      </p:sp>
      <p:sp>
        <p:nvSpPr>
          <p:cNvPr id="45" name="Text 42"/>
          <p:cNvSpPr txBox="1"/>
          <p:nvPr/>
        </p:nvSpPr>
        <p:spPr>
          <a:xfrm>
            <a:off x="5916852" y="4864608"/>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45%</a:t>
            </a:r>
            <a:endParaRPr lang="en-US" sz="1200" dirty="0"/>
          </a:p>
        </p:txBody>
      </p:sp>
      <p:sp>
        <p:nvSpPr>
          <p:cNvPr id="46" name="Text 43"/>
          <p:cNvSpPr txBox="1"/>
          <p:nvPr/>
        </p:nvSpPr>
        <p:spPr>
          <a:xfrm>
            <a:off x="200848" y="5486400"/>
            <a:ext cx="1445001"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収支の改善</a:t>
            </a:r>
            <a:endParaRPr lang="en-US" sz="1400" dirty="0"/>
          </a:p>
        </p:txBody>
      </p:sp>
      <p:sp>
        <p:nvSpPr>
          <p:cNvPr id="47" name="Shape 44"/>
          <p:cNvSpPr/>
          <p:nvPr/>
        </p:nvSpPr>
        <p:spPr>
          <a:xfrm>
            <a:off x="1766266" y="5632704"/>
            <a:ext cx="2709378" cy="329184"/>
          </a:xfrm>
          <a:prstGeom prst="rect">
            <a:avLst/>
          </a:prstGeom>
          <a:solidFill>
            <a:srgbClr val="E0EEF8"/>
          </a:solidFill>
          <a:ln/>
        </p:spPr>
      </p:sp>
      <p:sp>
        <p:nvSpPr>
          <p:cNvPr id="48" name="Shape 45"/>
          <p:cNvSpPr/>
          <p:nvPr/>
        </p:nvSpPr>
        <p:spPr>
          <a:xfrm>
            <a:off x="1766266" y="5705856"/>
            <a:ext cx="1625627" cy="182880"/>
          </a:xfrm>
          <a:prstGeom prst="rect">
            <a:avLst/>
          </a:prstGeom>
          <a:solidFill>
            <a:srgbClr val="7F7F7F"/>
          </a:solidFill>
          <a:ln/>
        </p:spPr>
      </p:sp>
      <p:sp>
        <p:nvSpPr>
          <p:cNvPr id="49" name="Shape 46"/>
          <p:cNvSpPr/>
          <p:nvPr/>
        </p:nvSpPr>
        <p:spPr>
          <a:xfrm>
            <a:off x="4475643" y="5577840"/>
            <a:ext cx="0" cy="438912"/>
          </a:xfrm>
          <a:prstGeom prst="line">
            <a:avLst/>
          </a:prstGeom>
          <a:noFill/>
          <a:ln w="19050">
            <a:solidFill>
              <a:srgbClr val="3F3F3F"/>
            </a:solidFill>
            <a:prstDash val="solid"/>
          </a:ln>
        </p:spPr>
      </p:sp>
      <p:sp>
        <p:nvSpPr>
          <p:cNvPr id="50" name="Text 47"/>
          <p:cNvSpPr txBox="1"/>
          <p:nvPr/>
        </p:nvSpPr>
        <p:spPr>
          <a:xfrm>
            <a:off x="5194351" y="5486400"/>
            <a:ext cx="662292" cy="62179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0.6億円</a:t>
            </a:r>
            <a:endParaRPr lang="en-US" sz="1200" dirty="0"/>
          </a:p>
        </p:txBody>
      </p:sp>
      <p:sp>
        <p:nvSpPr>
          <p:cNvPr id="51" name="Text 48"/>
          <p:cNvSpPr txBox="1"/>
          <p:nvPr/>
        </p:nvSpPr>
        <p:spPr>
          <a:xfrm>
            <a:off x="5916852" y="5486400"/>
            <a:ext cx="541876" cy="621792"/>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60%</a:t>
            </a:r>
            <a:endParaRPr lang="en-US" sz="1200" dirty="0"/>
          </a:p>
        </p:txBody>
      </p:sp>
      <p:sp>
        <p:nvSpPr>
          <p:cNvPr id="52" name="Text 49"/>
          <p:cNvSpPr txBox="1"/>
          <p:nvPr/>
        </p:nvSpPr>
        <p:spPr>
          <a:xfrm>
            <a:off x="4234810" y="6108192"/>
            <a:ext cx="7315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53" name="Shape 50"/>
          <p:cNvSpPr/>
          <p:nvPr/>
        </p:nvSpPr>
        <p:spPr>
          <a:xfrm>
            <a:off x="6687328" y="1874520"/>
            <a:ext cx="3017520" cy="4251960"/>
          </a:xfrm>
          <a:prstGeom prst="rect">
            <a:avLst/>
          </a:prstGeom>
          <a:solidFill>
            <a:srgbClr val="E0EEF8"/>
          </a:solidFill>
          <a:ln/>
        </p:spPr>
      </p:sp>
      <p:sp>
        <p:nvSpPr>
          <p:cNvPr id="54" name="Text 5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担い手の確保は目標の45%</a:t>
            </a:r>
            <a:endParaRPr lang="en-US" sz="1400" dirty="0"/>
          </a:p>
        </p:txBody>
      </p:sp>
      <p:sp>
        <p:nvSpPr>
          <p:cNvPr id="55" name="Text 5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目標20人に対し9人。他の5つのKPIは60〜99%で、遅れはここに集中している。採用の遅れが、下期の増便と運行の計画を遅らせる。運転士の不足が続けば、幹線の増便は1年遅れる</a:t>
            </a:r>
            <a:endParaRPr lang="en-US" sz="1200" dirty="0"/>
          </a:p>
        </p:txBody>
      </p:sp>
      <p:sp>
        <p:nvSpPr>
          <p:cNvPr id="56" name="Shape 53"/>
          <p:cNvSpPr/>
          <p:nvPr/>
        </p:nvSpPr>
        <p:spPr>
          <a:xfrm>
            <a:off x="6870208" y="3936492"/>
            <a:ext cx="2651760" cy="0"/>
          </a:xfrm>
          <a:prstGeom prst="line">
            <a:avLst/>
          </a:prstGeom>
          <a:noFill/>
          <a:ln w="9525">
            <a:solidFill>
              <a:srgbClr val="CCCCCC"/>
            </a:solidFill>
            <a:prstDash val="solid"/>
          </a:ln>
        </p:spPr>
      </p:sp>
      <p:sp>
        <p:nvSpPr>
          <p:cNvPr id="57" name="Text 5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下期は採用と研修に予算を寄せる</a:t>
            </a:r>
            <a:endParaRPr lang="en-US" sz="1400" dirty="0"/>
          </a:p>
        </p:txBody>
      </p:sp>
      <p:sp>
        <p:nvSpPr>
          <p:cNvPr id="58" name="Text 5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運転士の養成費の補助を始め、上期の残り予算を充てる。応募の多い4〜6月に向け、説明会を前倒しで開く。下期の採用目標は11人とし、毎月の応募数で進み具合を測る</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苦情は9種類に分かれるが、上位3種類で全体の71%を占める。遅延・接続・情報提供の3つに対策を絞れば、苦情の大半を減らせる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種類別の苦情件数と累積構成比</a:t>
            </a:r>
            <a:pPr indent="0" marL="0">
              <a:buNone/>
            </a:pPr>
            <a:r>
              <a:rPr lang="en-US" sz="1100" dirty="0">
                <a:solidFill>
                  <a:srgbClr val="3F3F3F"/>
                </a:solidFill>
                <a:latin typeface="Yu Gothic UI" pitchFamily="34" charset="0"/>
                <a:ea typeface="Yu Gothic UI" pitchFamily="34" charset="-122"/>
                <a:cs typeface="Yu Gothic UI" pitchFamily="34" charset="-120"/>
              </a:rPr>
              <a:t>　（件、%、2025年度）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注）2025年度に受け付けた苦情563件（電話・窓口・メール）</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苦情記録を基に作成（名称・数値は架空の見本）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64</a:t>
            </a:r>
            <a:endParaRPr lang="en-US" sz="900" dirty="0"/>
          </a:p>
        </p:txBody>
      </p:sp>
      <p:sp>
        <p:nvSpPr>
          <p:cNvPr id="12" name="Shape 9"/>
          <p:cNvSpPr/>
          <p:nvPr/>
        </p:nvSpPr>
        <p:spPr>
          <a:xfrm>
            <a:off x="475168" y="5623560"/>
            <a:ext cx="5687568" cy="0"/>
          </a:xfrm>
          <a:prstGeom prst="line">
            <a:avLst/>
          </a:prstGeom>
          <a:noFill/>
          <a:ln w="9525">
            <a:solidFill>
              <a:srgbClr val="CCCCCC"/>
            </a:solidFill>
            <a:prstDash val="solid"/>
          </a:ln>
        </p:spPr>
      </p:sp>
      <p:sp>
        <p:nvSpPr>
          <p:cNvPr id="13" name="Shape 10"/>
          <p:cNvSpPr/>
          <p:nvPr/>
        </p:nvSpPr>
        <p:spPr>
          <a:xfrm>
            <a:off x="475168" y="2916936"/>
            <a:ext cx="5687568" cy="0"/>
          </a:xfrm>
          <a:prstGeom prst="line">
            <a:avLst/>
          </a:prstGeom>
          <a:noFill/>
          <a:ln w="9525">
            <a:solidFill>
              <a:srgbClr val="3F3F3F"/>
            </a:solidFill>
            <a:prstDash val="dash"/>
          </a:ln>
        </p:spPr>
      </p:sp>
      <p:sp>
        <p:nvSpPr>
          <p:cNvPr id="14" name="Text 11"/>
          <p:cNvSpPr txBox="1"/>
          <p:nvPr/>
        </p:nvSpPr>
        <p:spPr>
          <a:xfrm>
            <a:off x="5614096" y="2606040"/>
            <a:ext cx="548640" cy="274320"/>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80%</a:t>
            </a:r>
            <a:endParaRPr lang="en-US" sz="1200" dirty="0"/>
          </a:p>
        </p:txBody>
      </p:sp>
      <p:sp>
        <p:nvSpPr>
          <p:cNvPr id="15" name="Shape 12"/>
          <p:cNvSpPr/>
          <p:nvPr/>
        </p:nvSpPr>
        <p:spPr>
          <a:xfrm>
            <a:off x="566608" y="2794406"/>
            <a:ext cx="420624" cy="2829154"/>
          </a:xfrm>
          <a:prstGeom prst="rect">
            <a:avLst/>
          </a:prstGeom>
          <a:solidFill>
            <a:srgbClr val="000F78"/>
          </a:solidFill>
          <a:ln/>
        </p:spPr>
      </p:sp>
      <p:sp>
        <p:nvSpPr>
          <p:cNvPr id="16" name="Text 13"/>
          <p:cNvSpPr txBox="1"/>
          <p:nvPr/>
        </p:nvSpPr>
        <p:spPr>
          <a:xfrm>
            <a:off x="475168" y="2501798"/>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182</a:t>
            </a:r>
            <a:endParaRPr lang="en-US" sz="1200" dirty="0"/>
          </a:p>
        </p:txBody>
      </p:sp>
      <p:sp>
        <p:nvSpPr>
          <p:cNvPr id="17" name="Text 14"/>
          <p:cNvSpPr txBox="1"/>
          <p:nvPr/>
        </p:nvSpPr>
        <p:spPr>
          <a:xfrm>
            <a:off x="41116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遅延</a:t>
            </a:r>
            <a:endParaRPr lang="en-US" sz="1200" dirty="0"/>
          </a:p>
        </p:txBody>
      </p:sp>
      <p:sp>
        <p:nvSpPr>
          <p:cNvPr id="18" name="Shape 15"/>
          <p:cNvSpPr/>
          <p:nvPr/>
        </p:nvSpPr>
        <p:spPr>
          <a:xfrm>
            <a:off x="722056" y="4474989"/>
            <a:ext cx="109728" cy="109728"/>
          </a:xfrm>
          <a:prstGeom prst="ellipse">
            <a:avLst/>
          </a:prstGeom>
          <a:solidFill>
            <a:srgbClr val="3F3F3F"/>
          </a:solidFill>
          <a:ln/>
        </p:spPr>
      </p:sp>
      <p:sp>
        <p:nvSpPr>
          <p:cNvPr id="19" name="Shape 16"/>
          <p:cNvSpPr/>
          <p:nvPr/>
        </p:nvSpPr>
        <p:spPr>
          <a:xfrm>
            <a:off x="1188400" y="3742639"/>
            <a:ext cx="420624" cy="1880921"/>
          </a:xfrm>
          <a:prstGeom prst="rect">
            <a:avLst/>
          </a:prstGeom>
          <a:solidFill>
            <a:srgbClr val="000F78"/>
          </a:solidFill>
          <a:ln/>
        </p:spPr>
      </p:sp>
      <p:sp>
        <p:nvSpPr>
          <p:cNvPr id="20" name="Text 17"/>
          <p:cNvSpPr txBox="1"/>
          <p:nvPr/>
        </p:nvSpPr>
        <p:spPr>
          <a:xfrm>
            <a:off x="1096960" y="3450031"/>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121</a:t>
            </a:r>
            <a:endParaRPr lang="en-US" sz="1200" dirty="0"/>
          </a:p>
        </p:txBody>
      </p:sp>
      <p:sp>
        <p:nvSpPr>
          <p:cNvPr id="21" name="Text 18"/>
          <p:cNvSpPr txBox="1"/>
          <p:nvPr/>
        </p:nvSpPr>
        <p:spPr>
          <a:xfrm>
            <a:off x="103295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接続</a:t>
            </a:r>
            <a:endParaRPr lang="en-US" sz="1200" dirty="0"/>
          </a:p>
        </p:txBody>
      </p:sp>
      <p:sp>
        <p:nvSpPr>
          <p:cNvPr id="22" name="Shape 19"/>
          <p:cNvSpPr/>
          <p:nvPr/>
        </p:nvSpPr>
        <p:spPr>
          <a:xfrm flipV="1">
            <a:off x="776920" y="3802718"/>
            <a:ext cx="621792" cy="727135"/>
          </a:xfrm>
          <a:prstGeom prst="line">
            <a:avLst/>
          </a:prstGeom>
          <a:noFill/>
          <a:ln w="15875">
            <a:solidFill>
              <a:srgbClr val="3F3F3F"/>
            </a:solidFill>
            <a:prstDash val="solid"/>
          </a:ln>
        </p:spPr>
      </p:sp>
      <p:sp>
        <p:nvSpPr>
          <p:cNvPr id="23" name="Shape 20"/>
          <p:cNvSpPr/>
          <p:nvPr/>
        </p:nvSpPr>
        <p:spPr>
          <a:xfrm>
            <a:off x="1343848" y="3747854"/>
            <a:ext cx="109728" cy="109728"/>
          </a:xfrm>
          <a:prstGeom prst="ellipse">
            <a:avLst/>
          </a:prstGeom>
          <a:solidFill>
            <a:srgbClr val="3F3F3F"/>
          </a:solidFill>
          <a:ln/>
        </p:spPr>
      </p:sp>
      <p:sp>
        <p:nvSpPr>
          <p:cNvPr id="24" name="Shape 21"/>
          <p:cNvSpPr/>
          <p:nvPr/>
        </p:nvSpPr>
        <p:spPr>
          <a:xfrm>
            <a:off x="1810192" y="4115714"/>
            <a:ext cx="420624" cy="1507846"/>
          </a:xfrm>
          <a:prstGeom prst="rect">
            <a:avLst/>
          </a:prstGeom>
          <a:solidFill>
            <a:srgbClr val="000F78"/>
          </a:solidFill>
          <a:ln/>
        </p:spPr>
      </p:sp>
      <p:sp>
        <p:nvSpPr>
          <p:cNvPr id="25" name="Text 22"/>
          <p:cNvSpPr txBox="1"/>
          <p:nvPr/>
        </p:nvSpPr>
        <p:spPr>
          <a:xfrm>
            <a:off x="1718752" y="3823106"/>
            <a:ext cx="603504" cy="274320"/>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97</a:t>
            </a:r>
            <a:endParaRPr lang="en-US" sz="1200" dirty="0"/>
          </a:p>
        </p:txBody>
      </p:sp>
      <p:sp>
        <p:nvSpPr>
          <p:cNvPr id="26" name="Text 23"/>
          <p:cNvSpPr txBox="1"/>
          <p:nvPr/>
        </p:nvSpPr>
        <p:spPr>
          <a:xfrm>
            <a:off x="165474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情報提供</a:t>
            </a:r>
            <a:endParaRPr lang="en-US" sz="1200" dirty="0"/>
          </a:p>
        </p:txBody>
      </p:sp>
      <p:sp>
        <p:nvSpPr>
          <p:cNvPr id="27" name="Shape 24"/>
          <p:cNvSpPr/>
          <p:nvPr/>
        </p:nvSpPr>
        <p:spPr>
          <a:xfrm flipV="1">
            <a:off x="1398712" y="3219809"/>
            <a:ext cx="621792" cy="582910"/>
          </a:xfrm>
          <a:prstGeom prst="line">
            <a:avLst/>
          </a:prstGeom>
          <a:noFill/>
          <a:ln w="15875">
            <a:solidFill>
              <a:srgbClr val="3F3F3F"/>
            </a:solidFill>
            <a:prstDash val="solid"/>
          </a:ln>
        </p:spPr>
      </p:sp>
      <p:sp>
        <p:nvSpPr>
          <p:cNvPr id="28" name="Shape 25"/>
          <p:cNvSpPr/>
          <p:nvPr/>
        </p:nvSpPr>
        <p:spPr>
          <a:xfrm>
            <a:off x="1965640" y="3164945"/>
            <a:ext cx="109728" cy="109728"/>
          </a:xfrm>
          <a:prstGeom prst="ellipse">
            <a:avLst/>
          </a:prstGeom>
          <a:solidFill>
            <a:srgbClr val="3F3F3F"/>
          </a:solidFill>
          <a:ln/>
        </p:spPr>
      </p:sp>
      <p:sp>
        <p:nvSpPr>
          <p:cNvPr id="29" name="Text 26"/>
          <p:cNvSpPr txBox="1"/>
          <p:nvPr/>
        </p:nvSpPr>
        <p:spPr>
          <a:xfrm>
            <a:off x="2130232" y="3174089"/>
            <a:ext cx="731520" cy="27432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71%</a:t>
            </a:r>
            <a:endParaRPr lang="en-US" sz="1200" dirty="0"/>
          </a:p>
        </p:txBody>
      </p:sp>
      <p:sp>
        <p:nvSpPr>
          <p:cNvPr id="30" name="Shape 27"/>
          <p:cNvSpPr/>
          <p:nvPr/>
        </p:nvSpPr>
        <p:spPr>
          <a:xfrm>
            <a:off x="2431984" y="4986223"/>
            <a:ext cx="420624" cy="637337"/>
          </a:xfrm>
          <a:prstGeom prst="rect">
            <a:avLst/>
          </a:prstGeom>
          <a:solidFill>
            <a:srgbClr val="CCCCCC"/>
          </a:solidFill>
          <a:ln/>
        </p:spPr>
      </p:sp>
      <p:sp>
        <p:nvSpPr>
          <p:cNvPr id="31" name="Text 28"/>
          <p:cNvSpPr txBox="1"/>
          <p:nvPr/>
        </p:nvSpPr>
        <p:spPr>
          <a:xfrm>
            <a:off x="2340544" y="4693615"/>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41</a:t>
            </a:r>
            <a:endParaRPr lang="en-US" sz="1200" dirty="0"/>
          </a:p>
        </p:txBody>
      </p:sp>
      <p:sp>
        <p:nvSpPr>
          <p:cNvPr id="32" name="Text 29"/>
          <p:cNvSpPr txBox="1"/>
          <p:nvPr/>
        </p:nvSpPr>
        <p:spPr>
          <a:xfrm>
            <a:off x="227653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運賃</a:t>
            </a:r>
            <a:endParaRPr lang="en-US" sz="1200" dirty="0"/>
          </a:p>
        </p:txBody>
      </p:sp>
      <p:sp>
        <p:nvSpPr>
          <p:cNvPr id="33" name="Shape 30"/>
          <p:cNvSpPr/>
          <p:nvPr/>
        </p:nvSpPr>
        <p:spPr>
          <a:xfrm flipV="1">
            <a:off x="2020504" y="2973424"/>
            <a:ext cx="621792" cy="246385"/>
          </a:xfrm>
          <a:prstGeom prst="line">
            <a:avLst/>
          </a:prstGeom>
          <a:noFill/>
          <a:ln w="15875">
            <a:solidFill>
              <a:srgbClr val="3F3F3F"/>
            </a:solidFill>
            <a:prstDash val="solid"/>
          </a:ln>
        </p:spPr>
      </p:sp>
      <p:sp>
        <p:nvSpPr>
          <p:cNvPr id="34" name="Shape 31"/>
          <p:cNvSpPr/>
          <p:nvPr/>
        </p:nvSpPr>
        <p:spPr>
          <a:xfrm>
            <a:off x="2587432" y="2918560"/>
            <a:ext cx="109728" cy="109728"/>
          </a:xfrm>
          <a:prstGeom prst="ellipse">
            <a:avLst/>
          </a:prstGeom>
          <a:solidFill>
            <a:srgbClr val="3F3F3F"/>
          </a:solidFill>
          <a:ln/>
        </p:spPr>
      </p:sp>
      <p:sp>
        <p:nvSpPr>
          <p:cNvPr id="35" name="Shape 32"/>
          <p:cNvSpPr/>
          <p:nvPr/>
        </p:nvSpPr>
        <p:spPr>
          <a:xfrm>
            <a:off x="3053776" y="5110582"/>
            <a:ext cx="420624" cy="512978"/>
          </a:xfrm>
          <a:prstGeom prst="rect">
            <a:avLst/>
          </a:prstGeom>
          <a:solidFill>
            <a:srgbClr val="CCCCCC"/>
          </a:solidFill>
          <a:ln/>
        </p:spPr>
      </p:sp>
      <p:sp>
        <p:nvSpPr>
          <p:cNvPr id="36" name="Text 33"/>
          <p:cNvSpPr txBox="1"/>
          <p:nvPr/>
        </p:nvSpPr>
        <p:spPr>
          <a:xfrm>
            <a:off x="2962336" y="4817974"/>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33</a:t>
            </a:r>
            <a:endParaRPr lang="en-US" sz="1200" dirty="0"/>
          </a:p>
        </p:txBody>
      </p:sp>
      <p:sp>
        <p:nvSpPr>
          <p:cNvPr id="37" name="Text 34"/>
          <p:cNvSpPr txBox="1"/>
          <p:nvPr/>
        </p:nvSpPr>
        <p:spPr>
          <a:xfrm>
            <a:off x="2898328"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車内</a:t>
            </a:r>
            <a:endParaRPr lang="en-US" sz="1200" dirty="0"/>
          </a:p>
        </p:txBody>
      </p:sp>
      <p:sp>
        <p:nvSpPr>
          <p:cNvPr id="38" name="Shape 35"/>
          <p:cNvSpPr/>
          <p:nvPr/>
        </p:nvSpPr>
        <p:spPr>
          <a:xfrm flipV="1">
            <a:off x="2642296" y="2775115"/>
            <a:ext cx="621792" cy="198309"/>
          </a:xfrm>
          <a:prstGeom prst="line">
            <a:avLst/>
          </a:prstGeom>
          <a:noFill/>
          <a:ln w="15875">
            <a:solidFill>
              <a:srgbClr val="3F3F3F"/>
            </a:solidFill>
            <a:prstDash val="solid"/>
          </a:ln>
        </p:spPr>
      </p:sp>
      <p:sp>
        <p:nvSpPr>
          <p:cNvPr id="39" name="Shape 36"/>
          <p:cNvSpPr/>
          <p:nvPr/>
        </p:nvSpPr>
        <p:spPr>
          <a:xfrm>
            <a:off x="3209224" y="2720251"/>
            <a:ext cx="109728" cy="109728"/>
          </a:xfrm>
          <a:prstGeom prst="ellipse">
            <a:avLst/>
          </a:prstGeom>
          <a:solidFill>
            <a:srgbClr val="3F3F3F"/>
          </a:solidFill>
          <a:ln/>
        </p:spPr>
      </p:sp>
      <p:sp>
        <p:nvSpPr>
          <p:cNvPr id="40" name="Shape 37"/>
          <p:cNvSpPr/>
          <p:nvPr/>
        </p:nvSpPr>
        <p:spPr>
          <a:xfrm>
            <a:off x="3675568" y="5203850"/>
            <a:ext cx="420624" cy="419710"/>
          </a:xfrm>
          <a:prstGeom prst="rect">
            <a:avLst/>
          </a:prstGeom>
          <a:solidFill>
            <a:srgbClr val="CCCCCC"/>
          </a:solidFill>
          <a:ln/>
        </p:spPr>
      </p:sp>
      <p:sp>
        <p:nvSpPr>
          <p:cNvPr id="41" name="Text 38"/>
          <p:cNvSpPr txBox="1"/>
          <p:nvPr/>
        </p:nvSpPr>
        <p:spPr>
          <a:xfrm>
            <a:off x="3584128" y="4911242"/>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27</a:t>
            </a:r>
            <a:endParaRPr lang="en-US" sz="1200" dirty="0"/>
          </a:p>
        </p:txBody>
      </p:sp>
      <p:sp>
        <p:nvSpPr>
          <p:cNvPr id="42" name="Text 39"/>
          <p:cNvSpPr txBox="1"/>
          <p:nvPr/>
        </p:nvSpPr>
        <p:spPr>
          <a:xfrm>
            <a:off x="3520120"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乗務員</a:t>
            </a:r>
            <a:endParaRPr lang="en-US" sz="1200" dirty="0"/>
          </a:p>
        </p:txBody>
      </p:sp>
      <p:sp>
        <p:nvSpPr>
          <p:cNvPr id="43" name="Shape 40"/>
          <p:cNvSpPr/>
          <p:nvPr/>
        </p:nvSpPr>
        <p:spPr>
          <a:xfrm flipV="1">
            <a:off x="3264088" y="2612861"/>
            <a:ext cx="621792" cy="162253"/>
          </a:xfrm>
          <a:prstGeom prst="line">
            <a:avLst/>
          </a:prstGeom>
          <a:noFill/>
          <a:ln w="15875">
            <a:solidFill>
              <a:srgbClr val="3F3F3F"/>
            </a:solidFill>
            <a:prstDash val="solid"/>
          </a:ln>
        </p:spPr>
      </p:sp>
      <p:sp>
        <p:nvSpPr>
          <p:cNvPr id="44" name="Shape 41"/>
          <p:cNvSpPr/>
          <p:nvPr/>
        </p:nvSpPr>
        <p:spPr>
          <a:xfrm>
            <a:off x="3831016" y="2557997"/>
            <a:ext cx="109728" cy="109728"/>
          </a:xfrm>
          <a:prstGeom prst="ellipse">
            <a:avLst/>
          </a:prstGeom>
          <a:solidFill>
            <a:srgbClr val="3F3F3F"/>
          </a:solidFill>
          <a:ln/>
        </p:spPr>
      </p:sp>
      <p:sp>
        <p:nvSpPr>
          <p:cNvPr id="45" name="Shape 42"/>
          <p:cNvSpPr/>
          <p:nvPr/>
        </p:nvSpPr>
        <p:spPr>
          <a:xfrm>
            <a:off x="4297360" y="5281574"/>
            <a:ext cx="420624" cy="341986"/>
          </a:xfrm>
          <a:prstGeom prst="rect">
            <a:avLst/>
          </a:prstGeom>
          <a:solidFill>
            <a:srgbClr val="CCCCCC"/>
          </a:solidFill>
          <a:ln/>
        </p:spPr>
      </p:sp>
      <p:sp>
        <p:nvSpPr>
          <p:cNvPr id="46" name="Text 43"/>
          <p:cNvSpPr txBox="1"/>
          <p:nvPr/>
        </p:nvSpPr>
        <p:spPr>
          <a:xfrm>
            <a:off x="4205920"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47" name="Text 44"/>
          <p:cNvSpPr txBox="1"/>
          <p:nvPr/>
        </p:nvSpPr>
        <p:spPr>
          <a:xfrm>
            <a:off x="4141912"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設備</a:t>
            </a:r>
            <a:endParaRPr lang="en-US" sz="1200" dirty="0"/>
          </a:p>
        </p:txBody>
      </p:sp>
      <p:sp>
        <p:nvSpPr>
          <p:cNvPr id="48" name="Shape 45"/>
          <p:cNvSpPr/>
          <p:nvPr/>
        </p:nvSpPr>
        <p:spPr>
          <a:xfrm flipV="1">
            <a:off x="3885880" y="2480655"/>
            <a:ext cx="621792" cy="132206"/>
          </a:xfrm>
          <a:prstGeom prst="line">
            <a:avLst/>
          </a:prstGeom>
          <a:noFill/>
          <a:ln w="15875">
            <a:solidFill>
              <a:srgbClr val="3F3F3F"/>
            </a:solidFill>
            <a:prstDash val="solid"/>
          </a:ln>
        </p:spPr>
      </p:sp>
      <p:sp>
        <p:nvSpPr>
          <p:cNvPr id="49" name="Shape 46"/>
          <p:cNvSpPr/>
          <p:nvPr/>
        </p:nvSpPr>
        <p:spPr>
          <a:xfrm>
            <a:off x="4452808" y="2425791"/>
            <a:ext cx="109728" cy="109728"/>
          </a:xfrm>
          <a:prstGeom prst="ellipse">
            <a:avLst/>
          </a:prstGeom>
          <a:solidFill>
            <a:srgbClr val="3F3F3F"/>
          </a:solidFill>
          <a:ln/>
        </p:spPr>
      </p:sp>
      <p:sp>
        <p:nvSpPr>
          <p:cNvPr id="50" name="Shape 47"/>
          <p:cNvSpPr/>
          <p:nvPr/>
        </p:nvSpPr>
        <p:spPr>
          <a:xfrm>
            <a:off x="4919152" y="5343754"/>
            <a:ext cx="420624" cy="279806"/>
          </a:xfrm>
          <a:prstGeom prst="rect">
            <a:avLst/>
          </a:prstGeom>
          <a:solidFill>
            <a:srgbClr val="CCCCCC"/>
          </a:solidFill>
          <a:ln/>
        </p:spPr>
      </p:sp>
      <p:sp>
        <p:nvSpPr>
          <p:cNvPr id="51" name="Text 48"/>
          <p:cNvSpPr txBox="1"/>
          <p:nvPr/>
        </p:nvSpPr>
        <p:spPr>
          <a:xfrm>
            <a:off x="4827712" y="505114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2" name="Text 49"/>
          <p:cNvSpPr txBox="1"/>
          <p:nvPr/>
        </p:nvSpPr>
        <p:spPr>
          <a:xfrm>
            <a:off x="4763704"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予約</a:t>
            </a:r>
            <a:endParaRPr lang="en-US" sz="1200" dirty="0"/>
          </a:p>
        </p:txBody>
      </p:sp>
      <p:sp>
        <p:nvSpPr>
          <p:cNvPr id="53" name="Shape 50"/>
          <p:cNvSpPr/>
          <p:nvPr/>
        </p:nvSpPr>
        <p:spPr>
          <a:xfrm flipV="1">
            <a:off x="4507672" y="2372486"/>
            <a:ext cx="621792" cy="108169"/>
          </a:xfrm>
          <a:prstGeom prst="line">
            <a:avLst/>
          </a:prstGeom>
          <a:noFill/>
          <a:ln w="15875">
            <a:solidFill>
              <a:srgbClr val="3F3F3F"/>
            </a:solidFill>
            <a:prstDash val="solid"/>
          </a:ln>
        </p:spPr>
      </p:sp>
      <p:sp>
        <p:nvSpPr>
          <p:cNvPr id="54" name="Shape 51"/>
          <p:cNvSpPr/>
          <p:nvPr/>
        </p:nvSpPr>
        <p:spPr>
          <a:xfrm>
            <a:off x="5074600" y="2317622"/>
            <a:ext cx="109728" cy="109728"/>
          </a:xfrm>
          <a:prstGeom prst="ellipse">
            <a:avLst/>
          </a:prstGeom>
          <a:solidFill>
            <a:srgbClr val="3F3F3F"/>
          </a:solidFill>
          <a:ln/>
        </p:spPr>
      </p:sp>
      <p:sp>
        <p:nvSpPr>
          <p:cNvPr id="55" name="Shape 52"/>
          <p:cNvSpPr/>
          <p:nvPr/>
        </p:nvSpPr>
        <p:spPr>
          <a:xfrm>
            <a:off x="5540944" y="5281574"/>
            <a:ext cx="420624" cy="341986"/>
          </a:xfrm>
          <a:prstGeom prst="rect">
            <a:avLst/>
          </a:prstGeom>
          <a:solidFill>
            <a:srgbClr val="CCCCCC"/>
          </a:solidFill>
          <a:ln/>
        </p:spPr>
      </p:sp>
      <p:sp>
        <p:nvSpPr>
          <p:cNvPr id="56" name="Text 53"/>
          <p:cNvSpPr txBox="1"/>
          <p:nvPr/>
        </p:nvSpPr>
        <p:spPr>
          <a:xfrm>
            <a:off x="5449504" y="4988966"/>
            <a:ext cx="603504"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22</a:t>
            </a:r>
            <a:endParaRPr lang="en-US" sz="1200" dirty="0"/>
          </a:p>
        </p:txBody>
      </p:sp>
      <p:sp>
        <p:nvSpPr>
          <p:cNvPr id="57" name="Text 54"/>
          <p:cNvSpPr txBox="1"/>
          <p:nvPr/>
        </p:nvSpPr>
        <p:spPr>
          <a:xfrm>
            <a:off x="5385496" y="566928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Yu Gothic UI" pitchFamily="34" charset="0"/>
                <a:ea typeface="Yu Gothic UI" pitchFamily="34" charset="-122"/>
                <a:cs typeface="Yu Gothic UI" pitchFamily="34" charset="-120"/>
              </a:rPr>
              <a:t>その他</a:t>
            </a:r>
            <a:endParaRPr lang="en-US" sz="1200" dirty="0"/>
          </a:p>
        </p:txBody>
      </p:sp>
      <p:sp>
        <p:nvSpPr>
          <p:cNvPr id="58" name="Shape 55"/>
          <p:cNvSpPr/>
          <p:nvPr/>
        </p:nvSpPr>
        <p:spPr>
          <a:xfrm flipV="1">
            <a:off x="5129464" y="2240280"/>
            <a:ext cx="621792" cy="132206"/>
          </a:xfrm>
          <a:prstGeom prst="line">
            <a:avLst/>
          </a:prstGeom>
          <a:noFill/>
          <a:ln w="15875">
            <a:solidFill>
              <a:srgbClr val="3F3F3F"/>
            </a:solidFill>
            <a:prstDash val="solid"/>
          </a:ln>
        </p:spPr>
      </p:sp>
      <p:sp>
        <p:nvSpPr>
          <p:cNvPr id="59" name="Shape 56"/>
          <p:cNvSpPr/>
          <p:nvPr/>
        </p:nvSpPr>
        <p:spPr>
          <a:xfrm>
            <a:off x="5696392" y="2185416"/>
            <a:ext cx="109728" cy="109728"/>
          </a:xfrm>
          <a:prstGeom prst="ellipse">
            <a:avLst/>
          </a:prstGeom>
          <a:solidFill>
            <a:srgbClr val="3F3F3F"/>
          </a:solidFill>
          <a:ln/>
        </p:spPr>
      </p:sp>
      <p:sp>
        <p:nvSpPr>
          <p:cNvPr id="60" name="Text 57"/>
          <p:cNvSpPr txBox="1"/>
          <p:nvPr/>
        </p:nvSpPr>
        <p:spPr>
          <a:xfrm>
            <a:off x="4995688" y="1783080"/>
            <a:ext cx="1463040" cy="274320"/>
          </a:xfrm>
          <a:prstGeom prst="rect">
            <a:avLst/>
          </a:prstGeom>
          <a:noFill/>
          <a:ln/>
        </p:spPr>
        <p:txBody>
          <a:bodyPr wrap="square" lIns="0" tIns="0" rIns="0" bIns="0" rtlCol="0" anchor="t"/>
          <a:lstStyle/>
          <a:p>
            <a:pPr algn="r" indent="0" marL="0">
              <a:buNone/>
            </a:pPr>
            <a:r>
              <a:rPr lang="en-US" sz="1200" dirty="0">
                <a:solidFill>
                  <a:srgbClr val="3F3F3F"/>
                </a:solidFill>
                <a:latin typeface="Yu Gothic UI" pitchFamily="34" charset="0"/>
                <a:ea typeface="Yu Gothic UI" pitchFamily="34" charset="-122"/>
                <a:cs typeface="Yu Gothic UI" pitchFamily="34" charset="-120"/>
              </a:rPr>
              <a:t>累積構成比</a:t>
            </a:r>
            <a:endParaRPr lang="en-US" sz="1200" dirty="0"/>
          </a:p>
        </p:txBody>
      </p:sp>
      <p:sp>
        <p:nvSpPr>
          <p:cNvPr id="61" name="Shape 58"/>
          <p:cNvSpPr/>
          <p:nvPr/>
        </p:nvSpPr>
        <p:spPr>
          <a:xfrm>
            <a:off x="6687328" y="1874520"/>
            <a:ext cx="3017520" cy="4251960"/>
          </a:xfrm>
          <a:prstGeom prst="rect">
            <a:avLst/>
          </a:prstGeom>
          <a:solidFill>
            <a:srgbClr val="E0EEF8"/>
          </a:solidFill>
          <a:ln/>
        </p:spPr>
      </p:sp>
      <p:sp>
        <p:nvSpPr>
          <p:cNvPr id="62" name="Text 59"/>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上位3種類で苦情の71%を占める</a:t>
            </a:r>
            <a:endParaRPr lang="en-US" sz="1400" dirty="0"/>
          </a:p>
        </p:txBody>
      </p:sp>
      <p:sp>
        <p:nvSpPr>
          <p:cNvPr id="63" name="Text 60"/>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遅延182件・接続121件・情報提供97件。いずれも運行の遅れと案内の不足から生じている</a:t>
            </a:r>
            <a:endParaRPr lang="en-US" sz="1200" dirty="0"/>
          </a:p>
        </p:txBody>
      </p:sp>
      <p:sp>
        <p:nvSpPr>
          <p:cNvPr id="64" name="Shape 61"/>
          <p:cNvSpPr/>
          <p:nvPr/>
        </p:nvSpPr>
        <p:spPr>
          <a:xfrm>
            <a:off x="6870208" y="3936492"/>
            <a:ext cx="2651760" cy="0"/>
          </a:xfrm>
          <a:prstGeom prst="line">
            <a:avLst/>
          </a:prstGeom>
          <a:noFill/>
          <a:ln w="9525">
            <a:solidFill>
              <a:srgbClr val="CCCCCC"/>
            </a:solidFill>
            <a:prstDash val="solid"/>
          </a:ln>
        </p:spPr>
      </p:sp>
      <p:sp>
        <p:nvSpPr>
          <p:cNvPr id="65" name="Text 62"/>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3つに対策を絞れば苦情の大半が減る</a:t>
            </a:r>
            <a:endParaRPr lang="en-US" sz="1400" dirty="0"/>
          </a:p>
        </p:txBody>
      </p:sp>
      <p:sp>
        <p:nvSpPr>
          <p:cNvPr id="66" name="Text 63"/>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遅延と接続は接続ダイヤの見直し（P78）、情報提供は車内と停留所の表示で手当てできる</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アプリを知った人のうち実際に予約まで至るのは12%にとどまる。最大の離脱は登録から初回予約の間で起きており、ここで半数以上が離れている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利用までの段階ごとの人数と移行率</a:t>
            </a:r>
            <a:pPr indent="0" marL="0">
              <a:buNone/>
            </a:pPr>
            <a:r>
              <a:rPr lang="en-US" sz="1100" dirty="0">
                <a:solidFill>
                  <a:srgbClr val="3F3F3F"/>
                </a:solidFill>
                <a:latin typeface="Yu Gothic UI" pitchFamily="34" charset="0"/>
                <a:ea typeface="Yu Gothic UI" pitchFamily="34" charset="-122"/>
                <a:cs typeface="Yu Gothic UI" pitchFamily="34" charset="-120"/>
              </a:rPr>
              <a:t>　（人、2026年4〜9月）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注）アプリを知った人は広報の到達数（推計）</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出所）予約アプリの利用ログ（2026年4〜9月）を基に作成（名称・数値は架空の見本）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65</a:t>
            </a:r>
            <a:endParaRPr lang="en-US" sz="900" dirty="0"/>
          </a:p>
        </p:txBody>
      </p:sp>
      <p:sp>
        <p:nvSpPr>
          <p:cNvPr id="12" name="Text 9"/>
          <p:cNvSpPr txBox="1"/>
          <p:nvPr/>
        </p:nvSpPr>
        <p:spPr>
          <a:xfrm>
            <a:off x="5270008" y="1874520"/>
            <a:ext cx="118872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移行率</a:t>
            </a:r>
            <a:endParaRPr lang="en-US" sz="1400" dirty="0"/>
          </a:p>
        </p:txBody>
      </p:sp>
      <p:sp>
        <p:nvSpPr>
          <p:cNvPr id="13" name="Shape 10"/>
          <p:cNvSpPr/>
          <p:nvPr/>
        </p:nvSpPr>
        <p:spPr>
          <a:xfrm>
            <a:off x="2029648" y="2194560"/>
            <a:ext cx="3108960" cy="566928"/>
          </a:xfrm>
          <a:prstGeom prst="rect">
            <a:avLst/>
          </a:prstGeom>
          <a:solidFill>
            <a:srgbClr val="CCCCCC"/>
          </a:solidFill>
          <a:ln/>
        </p:spPr>
      </p:sp>
      <p:sp>
        <p:nvSpPr>
          <p:cNvPr id="14" name="Text 11"/>
          <p:cNvSpPr txBox="1"/>
          <p:nvPr/>
        </p:nvSpPr>
        <p:spPr>
          <a:xfrm>
            <a:off x="200848" y="2194560"/>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アプリを知った</a:t>
            </a:r>
            <a:endParaRPr lang="en-US" sz="1200" dirty="0"/>
          </a:p>
        </p:txBody>
      </p:sp>
      <p:sp>
        <p:nvSpPr>
          <p:cNvPr id="15" name="Text 12"/>
          <p:cNvSpPr txBox="1"/>
          <p:nvPr/>
        </p:nvSpPr>
        <p:spPr>
          <a:xfrm>
            <a:off x="5230048" y="2194560"/>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20,000</a:t>
            </a:r>
            <a:endParaRPr lang="en-US" sz="1200" dirty="0"/>
          </a:p>
        </p:txBody>
      </p:sp>
      <p:sp>
        <p:nvSpPr>
          <p:cNvPr id="16" name="Shape 13"/>
          <p:cNvSpPr/>
          <p:nvPr/>
        </p:nvSpPr>
        <p:spPr>
          <a:xfrm>
            <a:off x="2869067" y="2962656"/>
            <a:ext cx="1430122" cy="566928"/>
          </a:xfrm>
          <a:prstGeom prst="rect">
            <a:avLst/>
          </a:prstGeom>
          <a:solidFill>
            <a:srgbClr val="CCCCCC"/>
          </a:solidFill>
          <a:ln/>
        </p:spPr>
      </p:sp>
      <p:sp>
        <p:nvSpPr>
          <p:cNvPr id="17" name="Text 14"/>
          <p:cNvSpPr txBox="1"/>
          <p:nvPr/>
        </p:nvSpPr>
        <p:spPr>
          <a:xfrm>
            <a:off x="200848" y="2962656"/>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ダウンロード</a:t>
            </a:r>
            <a:endParaRPr lang="en-US" sz="1200" dirty="0"/>
          </a:p>
        </p:txBody>
      </p:sp>
      <p:sp>
        <p:nvSpPr>
          <p:cNvPr id="18" name="Text 15"/>
          <p:cNvSpPr txBox="1"/>
          <p:nvPr/>
        </p:nvSpPr>
        <p:spPr>
          <a:xfrm>
            <a:off x="4390628" y="2962656"/>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9,200</a:t>
            </a:r>
            <a:endParaRPr lang="en-US" sz="1200" dirty="0"/>
          </a:p>
        </p:txBody>
      </p:sp>
      <p:sp>
        <p:nvSpPr>
          <p:cNvPr id="19" name="Text 16"/>
          <p:cNvSpPr txBox="1"/>
          <p:nvPr/>
        </p:nvSpPr>
        <p:spPr>
          <a:xfrm>
            <a:off x="5361448" y="2871216"/>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46%</a:t>
            </a:r>
            <a:endParaRPr lang="en-US" sz="1400" dirty="0"/>
          </a:p>
        </p:txBody>
      </p:sp>
      <p:sp>
        <p:nvSpPr>
          <p:cNvPr id="20" name="Shape 17"/>
          <p:cNvSpPr/>
          <p:nvPr/>
        </p:nvSpPr>
        <p:spPr>
          <a:xfrm>
            <a:off x="5270008" y="2862072"/>
            <a:ext cx="1188720" cy="0"/>
          </a:xfrm>
          <a:prstGeom prst="line">
            <a:avLst/>
          </a:prstGeom>
          <a:noFill/>
          <a:ln w="6350">
            <a:solidFill>
              <a:srgbClr val="CCCCCC"/>
            </a:solidFill>
            <a:prstDash val="solid"/>
          </a:ln>
        </p:spPr>
      </p:sp>
      <p:sp>
        <p:nvSpPr>
          <p:cNvPr id="21" name="Shape 18"/>
          <p:cNvSpPr/>
          <p:nvPr/>
        </p:nvSpPr>
        <p:spPr>
          <a:xfrm>
            <a:off x="3148873" y="3730752"/>
            <a:ext cx="870509" cy="566928"/>
          </a:xfrm>
          <a:prstGeom prst="rect">
            <a:avLst/>
          </a:prstGeom>
          <a:solidFill>
            <a:srgbClr val="CCCCCC"/>
          </a:solidFill>
          <a:ln/>
        </p:spPr>
      </p:sp>
      <p:sp>
        <p:nvSpPr>
          <p:cNvPr id="22" name="Text 19"/>
          <p:cNvSpPr txBox="1"/>
          <p:nvPr/>
        </p:nvSpPr>
        <p:spPr>
          <a:xfrm>
            <a:off x="200848" y="3730752"/>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会員登録</a:t>
            </a:r>
            <a:endParaRPr lang="en-US" sz="1200" dirty="0"/>
          </a:p>
        </p:txBody>
      </p:sp>
      <p:sp>
        <p:nvSpPr>
          <p:cNvPr id="23" name="Text 20"/>
          <p:cNvSpPr txBox="1"/>
          <p:nvPr/>
        </p:nvSpPr>
        <p:spPr>
          <a:xfrm>
            <a:off x="4315648" y="3730752"/>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5,600</a:t>
            </a:r>
            <a:endParaRPr lang="en-US" sz="1200" dirty="0"/>
          </a:p>
        </p:txBody>
      </p:sp>
      <p:sp>
        <p:nvSpPr>
          <p:cNvPr id="24" name="Text 21"/>
          <p:cNvSpPr txBox="1"/>
          <p:nvPr/>
        </p:nvSpPr>
        <p:spPr>
          <a:xfrm>
            <a:off x="5361448" y="3639312"/>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61%</a:t>
            </a:r>
            <a:endParaRPr lang="en-US" sz="1400" dirty="0"/>
          </a:p>
        </p:txBody>
      </p:sp>
      <p:sp>
        <p:nvSpPr>
          <p:cNvPr id="25" name="Shape 22"/>
          <p:cNvSpPr/>
          <p:nvPr/>
        </p:nvSpPr>
        <p:spPr>
          <a:xfrm>
            <a:off x="5270008" y="3630168"/>
            <a:ext cx="1188720" cy="0"/>
          </a:xfrm>
          <a:prstGeom prst="line">
            <a:avLst/>
          </a:prstGeom>
          <a:noFill/>
          <a:ln w="6350">
            <a:solidFill>
              <a:srgbClr val="CCCCCC"/>
            </a:solidFill>
            <a:prstDash val="solid"/>
          </a:ln>
        </p:spPr>
      </p:sp>
      <p:sp>
        <p:nvSpPr>
          <p:cNvPr id="26" name="Shape 23"/>
          <p:cNvSpPr/>
          <p:nvPr/>
        </p:nvSpPr>
        <p:spPr>
          <a:xfrm>
            <a:off x="3397590" y="4498848"/>
            <a:ext cx="373075" cy="566928"/>
          </a:xfrm>
          <a:prstGeom prst="rect">
            <a:avLst/>
          </a:prstGeom>
          <a:solidFill>
            <a:srgbClr val="000F78"/>
          </a:solidFill>
          <a:ln/>
        </p:spPr>
      </p:sp>
      <p:sp>
        <p:nvSpPr>
          <p:cNvPr id="27" name="Text 24"/>
          <p:cNvSpPr txBox="1"/>
          <p:nvPr/>
        </p:nvSpPr>
        <p:spPr>
          <a:xfrm>
            <a:off x="200848" y="4498848"/>
            <a:ext cx="1783080" cy="566928"/>
          </a:xfrm>
          <a:prstGeom prst="rect">
            <a:avLst/>
          </a:prstGeom>
          <a:noFill/>
          <a:ln/>
        </p:spPr>
        <p:txBody>
          <a:bodyPr wrap="square" lIns="0" tIns="0" rIns="0" bIns="0" rtlCol="0" anchor="ctr"/>
          <a:lstStyle/>
          <a:p>
            <a:pPr indent="0" marL="0">
              <a:buNone/>
            </a:pPr>
            <a:r>
              <a:rPr lang="en-US" sz="1200" b="1" dirty="0">
                <a:solidFill>
                  <a:srgbClr val="3F3F3F"/>
                </a:solidFill>
                <a:latin typeface="Yu Gothic UI" pitchFamily="34" charset="0"/>
                <a:ea typeface="Yu Gothic UI" pitchFamily="34" charset="-122"/>
                <a:cs typeface="Yu Gothic UI" pitchFamily="34" charset="-120"/>
              </a:rPr>
              <a:t>初回予約</a:t>
            </a:r>
            <a:endParaRPr lang="en-US" sz="1200" dirty="0"/>
          </a:p>
        </p:txBody>
      </p:sp>
      <p:sp>
        <p:nvSpPr>
          <p:cNvPr id="28" name="Text 25"/>
          <p:cNvSpPr txBox="1"/>
          <p:nvPr/>
        </p:nvSpPr>
        <p:spPr>
          <a:xfrm>
            <a:off x="4315648" y="4498848"/>
            <a:ext cx="914400" cy="566928"/>
          </a:xfrm>
          <a:prstGeom prst="rect">
            <a:avLst/>
          </a:prstGeom>
          <a:noFill/>
          <a:ln/>
        </p:spPr>
        <p:txBody>
          <a:bodyPr wrap="square" lIns="0" tIns="0" rIns="0" bIns="0" rtlCol="0" anchor="ctr"/>
          <a:lstStyle/>
          <a:p>
            <a:pPr indent="0" marL="0">
              <a:buNone/>
            </a:pPr>
            <a:r>
              <a:rPr lang="en-US" sz="1200" b="1" dirty="0">
                <a:solidFill>
                  <a:srgbClr val="3F3F3F"/>
                </a:solidFill>
                <a:latin typeface="Arial" pitchFamily="34" charset="0"/>
                <a:ea typeface="Arial" pitchFamily="34" charset="-122"/>
                <a:cs typeface="Arial" pitchFamily="34" charset="-120"/>
              </a:rPr>
              <a:t>2,400</a:t>
            </a:r>
            <a:endParaRPr lang="en-US" sz="1200" dirty="0"/>
          </a:p>
        </p:txBody>
      </p:sp>
      <p:sp>
        <p:nvSpPr>
          <p:cNvPr id="29" name="Text 26"/>
          <p:cNvSpPr txBox="1"/>
          <p:nvPr/>
        </p:nvSpPr>
        <p:spPr>
          <a:xfrm>
            <a:off x="5361448" y="4407408"/>
            <a:ext cx="1097280" cy="749808"/>
          </a:xfrm>
          <a:prstGeom prst="rect">
            <a:avLst/>
          </a:prstGeom>
          <a:noFill/>
          <a:ln/>
        </p:spPr>
        <p:txBody>
          <a:bodyPr wrap="square" lIns="0" tIns="0" rIns="0" bIns="0" rtlCol="0" anchor="ctr"/>
          <a:lstStyle/>
          <a:p>
            <a:pPr algn="r" indent="0" marL="0">
              <a:buNone/>
            </a:pPr>
            <a:r>
              <a:rPr lang="en-US" sz="2000" b="1" dirty="0">
                <a:solidFill>
                  <a:srgbClr val="3F3F3F"/>
                </a:solidFill>
                <a:latin typeface="Arial" pitchFamily="34" charset="0"/>
                <a:ea typeface="Arial" pitchFamily="34" charset="-122"/>
                <a:cs typeface="Arial" pitchFamily="34" charset="-120"/>
              </a:rPr>
              <a:t>43%</a:t>
            </a:r>
            <a:endParaRPr lang="en-US" sz="2000" dirty="0"/>
          </a:p>
        </p:txBody>
      </p:sp>
      <p:sp>
        <p:nvSpPr>
          <p:cNvPr id="30" name="Shape 27"/>
          <p:cNvSpPr/>
          <p:nvPr/>
        </p:nvSpPr>
        <p:spPr>
          <a:xfrm>
            <a:off x="5270008" y="4398264"/>
            <a:ext cx="1188720" cy="0"/>
          </a:xfrm>
          <a:prstGeom prst="line">
            <a:avLst/>
          </a:prstGeom>
          <a:noFill/>
          <a:ln w="6350">
            <a:solidFill>
              <a:srgbClr val="CCCCCC"/>
            </a:solidFill>
            <a:prstDash val="solid"/>
          </a:ln>
        </p:spPr>
      </p:sp>
      <p:sp>
        <p:nvSpPr>
          <p:cNvPr id="31" name="Shape 28"/>
          <p:cNvSpPr/>
          <p:nvPr/>
        </p:nvSpPr>
        <p:spPr>
          <a:xfrm>
            <a:off x="3467542" y="5266944"/>
            <a:ext cx="233172" cy="566928"/>
          </a:xfrm>
          <a:prstGeom prst="rect">
            <a:avLst/>
          </a:prstGeom>
          <a:solidFill>
            <a:srgbClr val="CCCCCC"/>
          </a:solidFill>
          <a:ln/>
        </p:spPr>
      </p:sp>
      <p:sp>
        <p:nvSpPr>
          <p:cNvPr id="32" name="Text 29"/>
          <p:cNvSpPr txBox="1"/>
          <p:nvPr/>
        </p:nvSpPr>
        <p:spPr>
          <a:xfrm>
            <a:off x="200848" y="5266944"/>
            <a:ext cx="1783080" cy="566928"/>
          </a:xfrm>
          <a:prstGeom prst="rect">
            <a:avLst/>
          </a:prstGeom>
          <a:noFill/>
          <a:ln/>
        </p:spPr>
        <p:txBody>
          <a:bodyPr wrap="square" lIns="0" tIns="0" rIns="0" bIns="0" rtlCol="0" anchor="ctr"/>
          <a:lstStyle/>
          <a:p>
            <a:pPr indent="0" marL="0">
              <a:buNone/>
            </a:pPr>
            <a:r>
              <a:rPr lang="en-US" sz="1200" dirty="0">
                <a:solidFill>
                  <a:srgbClr val="3F3F3F"/>
                </a:solidFill>
                <a:latin typeface="Yu Gothic UI" pitchFamily="34" charset="0"/>
                <a:ea typeface="Yu Gothic UI" pitchFamily="34" charset="-122"/>
                <a:cs typeface="Yu Gothic UI" pitchFamily="34" charset="-120"/>
              </a:rPr>
              <a:t>2回目以降の予約</a:t>
            </a:r>
            <a:endParaRPr lang="en-US" sz="1200" dirty="0"/>
          </a:p>
        </p:txBody>
      </p:sp>
      <p:sp>
        <p:nvSpPr>
          <p:cNvPr id="33" name="Text 30"/>
          <p:cNvSpPr txBox="1"/>
          <p:nvPr/>
        </p:nvSpPr>
        <p:spPr>
          <a:xfrm>
            <a:off x="4315648" y="5266944"/>
            <a:ext cx="914400" cy="566928"/>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1,500</a:t>
            </a:r>
            <a:endParaRPr lang="en-US" sz="1200" dirty="0"/>
          </a:p>
        </p:txBody>
      </p:sp>
      <p:sp>
        <p:nvSpPr>
          <p:cNvPr id="34" name="Text 31"/>
          <p:cNvSpPr txBox="1"/>
          <p:nvPr/>
        </p:nvSpPr>
        <p:spPr>
          <a:xfrm>
            <a:off x="5361448" y="5175504"/>
            <a:ext cx="1097280" cy="74980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63%</a:t>
            </a:r>
            <a:endParaRPr lang="en-US" sz="1400" dirty="0"/>
          </a:p>
        </p:txBody>
      </p:sp>
      <p:sp>
        <p:nvSpPr>
          <p:cNvPr id="35" name="Shape 32"/>
          <p:cNvSpPr/>
          <p:nvPr/>
        </p:nvSpPr>
        <p:spPr>
          <a:xfrm>
            <a:off x="5270008" y="5166360"/>
            <a:ext cx="1188720" cy="0"/>
          </a:xfrm>
          <a:prstGeom prst="line">
            <a:avLst/>
          </a:prstGeom>
          <a:noFill/>
          <a:ln w="6350">
            <a:solidFill>
              <a:srgbClr val="CCCCCC"/>
            </a:solidFill>
            <a:prstDash val="solid"/>
          </a:ln>
        </p:spPr>
      </p:sp>
      <p:sp>
        <p:nvSpPr>
          <p:cNvPr id="36" name="Shape 33"/>
          <p:cNvSpPr/>
          <p:nvPr/>
        </p:nvSpPr>
        <p:spPr>
          <a:xfrm>
            <a:off x="6687328" y="1874520"/>
            <a:ext cx="3017520" cy="4251960"/>
          </a:xfrm>
          <a:prstGeom prst="rect">
            <a:avLst/>
          </a:prstGeom>
          <a:solidFill>
            <a:srgbClr val="E0EEF8"/>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アプリを知った人の12%が予約まで至る</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20,000人のうち初回予約は2,400人。2回目以降も使い続けるのは1,500人（7.5%）</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最大の離脱は登録から初回予約の間</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移行率は43%で5段階の中で最も低い。初回の予約の手順を3つに減らす（P51）</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沿線42集落の最寄り駅までの距離は中央値で2.4kmだが、5km以上の集落が9つあり分布は長く右に伸びる。平均値では遠い集落の実態が見えない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集落別の最寄り駅までの距離の分布</a:t>
            </a:r>
            <a:pPr indent="0" marL="0">
              <a:buNone/>
            </a:pPr>
            <a:r>
              <a:rPr lang="en-US" sz="1100" dirty="0">
                <a:solidFill>
                  <a:srgbClr val="3F3F3F"/>
                </a:solidFill>
                <a:latin typeface="Yu Gothic UI" pitchFamily="34" charset="0"/>
                <a:ea typeface="Yu Gothic UI" pitchFamily="34" charset="-122"/>
                <a:cs typeface="Yu Gothic UI" pitchFamily="34" charset="-120"/>
              </a:rPr>
              <a:t>　（集落数、km）</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注）距離は集落の中心から最寄り駅までの道路距離</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出所）沿線集落の位置データ（2025年）を基に作成（名称・数値は架空の見本）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566608" y="5577840"/>
            <a:ext cx="5522976" cy="0"/>
          </a:xfrm>
          <a:prstGeom prst="line">
            <a:avLst/>
          </a:prstGeom>
          <a:noFill/>
          <a:ln w="9525">
            <a:solidFill>
              <a:srgbClr val="CCCCCC"/>
            </a:solidFill>
            <a:prstDash val="solid"/>
          </a:ln>
        </p:spPr>
      </p:sp>
      <p:sp>
        <p:nvSpPr>
          <p:cNvPr id="13" name="Shape 10"/>
          <p:cNvSpPr/>
          <p:nvPr/>
        </p:nvSpPr>
        <p:spPr>
          <a:xfrm>
            <a:off x="658048" y="3712464"/>
            <a:ext cx="548640" cy="1865376"/>
          </a:xfrm>
          <a:prstGeom prst="rect">
            <a:avLst/>
          </a:prstGeom>
          <a:solidFill>
            <a:srgbClr val="CCCCCC"/>
          </a:solidFill>
          <a:ln/>
        </p:spPr>
      </p:sp>
      <p:sp>
        <p:nvSpPr>
          <p:cNvPr id="14" name="Text 11"/>
          <p:cNvSpPr txBox="1"/>
          <p:nvPr/>
        </p:nvSpPr>
        <p:spPr>
          <a:xfrm>
            <a:off x="658048" y="3419856"/>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15" name="Text 12"/>
          <p:cNvSpPr txBox="1"/>
          <p:nvPr/>
        </p:nvSpPr>
        <p:spPr>
          <a:xfrm>
            <a:off x="56660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0–1</a:t>
            </a:r>
            <a:endParaRPr lang="en-US" sz="1200" dirty="0"/>
          </a:p>
        </p:txBody>
      </p:sp>
      <p:sp>
        <p:nvSpPr>
          <p:cNvPr id="16" name="Shape 13"/>
          <p:cNvSpPr/>
          <p:nvPr/>
        </p:nvSpPr>
        <p:spPr>
          <a:xfrm>
            <a:off x="1261552" y="2468880"/>
            <a:ext cx="548640" cy="3108960"/>
          </a:xfrm>
          <a:prstGeom prst="rect">
            <a:avLst/>
          </a:prstGeom>
          <a:solidFill>
            <a:srgbClr val="CCCCCC"/>
          </a:solidFill>
          <a:ln/>
        </p:spPr>
      </p:sp>
      <p:sp>
        <p:nvSpPr>
          <p:cNvPr id="17" name="Text 14"/>
          <p:cNvSpPr txBox="1"/>
          <p:nvPr/>
        </p:nvSpPr>
        <p:spPr>
          <a:xfrm>
            <a:off x="1261552" y="217627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18" name="Text 15"/>
          <p:cNvSpPr txBox="1"/>
          <p:nvPr/>
        </p:nvSpPr>
        <p:spPr>
          <a:xfrm>
            <a:off x="117011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19" name="Shape 16"/>
          <p:cNvSpPr/>
          <p:nvPr/>
        </p:nvSpPr>
        <p:spPr>
          <a:xfrm>
            <a:off x="1865056" y="2779776"/>
            <a:ext cx="548640" cy="2798064"/>
          </a:xfrm>
          <a:prstGeom prst="rect">
            <a:avLst/>
          </a:prstGeom>
          <a:solidFill>
            <a:srgbClr val="CCCCCC"/>
          </a:solidFill>
          <a:ln/>
        </p:spPr>
      </p:sp>
      <p:sp>
        <p:nvSpPr>
          <p:cNvPr id="20" name="Text 17"/>
          <p:cNvSpPr txBox="1"/>
          <p:nvPr/>
        </p:nvSpPr>
        <p:spPr>
          <a:xfrm>
            <a:off x="1865056" y="2487168"/>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21" name="Text 18"/>
          <p:cNvSpPr txBox="1"/>
          <p:nvPr/>
        </p:nvSpPr>
        <p:spPr>
          <a:xfrm>
            <a:off x="177361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2–3</a:t>
            </a:r>
            <a:endParaRPr lang="en-US" sz="1200" dirty="0"/>
          </a:p>
        </p:txBody>
      </p:sp>
      <p:sp>
        <p:nvSpPr>
          <p:cNvPr id="22" name="Shape 19"/>
          <p:cNvSpPr/>
          <p:nvPr/>
        </p:nvSpPr>
        <p:spPr>
          <a:xfrm>
            <a:off x="2468560" y="4023360"/>
            <a:ext cx="548640" cy="1554480"/>
          </a:xfrm>
          <a:prstGeom prst="rect">
            <a:avLst/>
          </a:prstGeom>
          <a:solidFill>
            <a:srgbClr val="CCCCCC"/>
          </a:solidFill>
          <a:ln/>
        </p:spPr>
      </p:sp>
      <p:sp>
        <p:nvSpPr>
          <p:cNvPr id="23" name="Text 20"/>
          <p:cNvSpPr txBox="1"/>
          <p:nvPr/>
        </p:nvSpPr>
        <p:spPr>
          <a:xfrm>
            <a:off x="2468560" y="3730752"/>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a:t>
            </a:r>
            <a:endParaRPr lang="en-US" sz="1200" dirty="0"/>
          </a:p>
        </p:txBody>
      </p:sp>
      <p:sp>
        <p:nvSpPr>
          <p:cNvPr id="24" name="Text 21"/>
          <p:cNvSpPr txBox="1"/>
          <p:nvPr/>
        </p:nvSpPr>
        <p:spPr>
          <a:xfrm>
            <a:off x="237712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3–4</a:t>
            </a:r>
            <a:endParaRPr lang="en-US" sz="1200" dirty="0"/>
          </a:p>
        </p:txBody>
      </p:sp>
      <p:sp>
        <p:nvSpPr>
          <p:cNvPr id="25" name="Shape 22"/>
          <p:cNvSpPr/>
          <p:nvPr/>
        </p:nvSpPr>
        <p:spPr>
          <a:xfrm>
            <a:off x="3072064" y="4645152"/>
            <a:ext cx="548640" cy="932688"/>
          </a:xfrm>
          <a:prstGeom prst="rect">
            <a:avLst/>
          </a:prstGeom>
          <a:solidFill>
            <a:srgbClr val="CCCCCC"/>
          </a:solidFill>
          <a:ln/>
        </p:spPr>
      </p:sp>
      <p:sp>
        <p:nvSpPr>
          <p:cNvPr id="26" name="Text 23"/>
          <p:cNvSpPr txBox="1"/>
          <p:nvPr/>
        </p:nvSpPr>
        <p:spPr>
          <a:xfrm>
            <a:off x="3072064" y="4352544"/>
            <a:ext cx="548640" cy="274320"/>
          </a:xfrm>
          <a:prstGeom prst="rect">
            <a:avLst/>
          </a:prstGeom>
          <a:solidFill>
            <a:srgbClr val="FFFFFF"/>
          </a:solid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2980624"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4–5</a:t>
            </a:r>
            <a:endParaRPr lang="en-US" sz="1200" dirty="0"/>
          </a:p>
        </p:txBody>
      </p:sp>
      <p:sp>
        <p:nvSpPr>
          <p:cNvPr id="28" name="Shape 25"/>
          <p:cNvSpPr/>
          <p:nvPr/>
        </p:nvSpPr>
        <p:spPr>
          <a:xfrm>
            <a:off x="3675568" y="4645152"/>
            <a:ext cx="548640" cy="932688"/>
          </a:xfrm>
          <a:prstGeom prst="rect">
            <a:avLst/>
          </a:prstGeom>
          <a:solidFill>
            <a:srgbClr val="000F78"/>
          </a:solidFill>
          <a:ln/>
        </p:spPr>
      </p:sp>
      <p:sp>
        <p:nvSpPr>
          <p:cNvPr id="29" name="Text 26"/>
          <p:cNvSpPr txBox="1"/>
          <p:nvPr/>
        </p:nvSpPr>
        <p:spPr>
          <a:xfrm>
            <a:off x="3675568" y="4352544"/>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0" name="Text 27"/>
          <p:cNvSpPr txBox="1"/>
          <p:nvPr/>
        </p:nvSpPr>
        <p:spPr>
          <a:xfrm>
            <a:off x="3584128"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5–6</a:t>
            </a:r>
            <a:endParaRPr lang="en-US" sz="1200" dirty="0"/>
          </a:p>
        </p:txBody>
      </p:sp>
      <p:sp>
        <p:nvSpPr>
          <p:cNvPr id="31" name="Shape 28"/>
          <p:cNvSpPr/>
          <p:nvPr/>
        </p:nvSpPr>
        <p:spPr>
          <a:xfrm>
            <a:off x="4279072" y="4956048"/>
            <a:ext cx="548640" cy="621792"/>
          </a:xfrm>
          <a:prstGeom prst="rect">
            <a:avLst/>
          </a:prstGeom>
          <a:solidFill>
            <a:srgbClr val="000F78"/>
          </a:solidFill>
          <a:ln/>
        </p:spPr>
      </p:sp>
      <p:sp>
        <p:nvSpPr>
          <p:cNvPr id="32" name="Text 29"/>
          <p:cNvSpPr txBox="1"/>
          <p:nvPr/>
        </p:nvSpPr>
        <p:spPr>
          <a:xfrm>
            <a:off x="4279072"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3" name="Text 30"/>
          <p:cNvSpPr txBox="1"/>
          <p:nvPr/>
        </p:nvSpPr>
        <p:spPr>
          <a:xfrm>
            <a:off x="4187632"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6–7</a:t>
            </a:r>
            <a:endParaRPr lang="en-US" sz="1200" dirty="0"/>
          </a:p>
        </p:txBody>
      </p:sp>
      <p:sp>
        <p:nvSpPr>
          <p:cNvPr id="34" name="Shape 31"/>
          <p:cNvSpPr/>
          <p:nvPr/>
        </p:nvSpPr>
        <p:spPr>
          <a:xfrm>
            <a:off x="4882576" y="4956048"/>
            <a:ext cx="548640" cy="621792"/>
          </a:xfrm>
          <a:prstGeom prst="rect">
            <a:avLst/>
          </a:prstGeom>
          <a:solidFill>
            <a:srgbClr val="000F78"/>
          </a:solidFill>
          <a:ln/>
        </p:spPr>
      </p:sp>
      <p:sp>
        <p:nvSpPr>
          <p:cNvPr id="35" name="Text 32"/>
          <p:cNvSpPr txBox="1"/>
          <p:nvPr/>
        </p:nvSpPr>
        <p:spPr>
          <a:xfrm>
            <a:off x="4882576"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6" name="Text 33"/>
          <p:cNvSpPr txBox="1"/>
          <p:nvPr/>
        </p:nvSpPr>
        <p:spPr>
          <a:xfrm>
            <a:off x="4791136"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7–8</a:t>
            </a:r>
            <a:endParaRPr lang="en-US" sz="1200" dirty="0"/>
          </a:p>
        </p:txBody>
      </p:sp>
      <p:sp>
        <p:nvSpPr>
          <p:cNvPr id="37" name="Shape 34"/>
          <p:cNvSpPr/>
          <p:nvPr/>
        </p:nvSpPr>
        <p:spPr>
          <a:xfrm>
            <a:off x="5486080" y="4956048"/>
            <a:ext cx="548640" cy="621792"/>
          </a:xfrm>
          <a:prstGeom prst="rect">
            <a:avLst/>
          </a:prstGeom>
          <a:solidFill>
            <a:srgbClr val="000F78"/>
          </a:solidFill>
          <a:ln/>
        </p:spPr>
      </p:sp>
      <p:sp>
        <p:nvSpPr>
          <p:cNvPr id="38" name="Text 35"/>
          <p:cNvSpPr txBox="1"/>
          <p:nvPr/>
        </p:nvSpPr>
        <p:spPr>
          <a:xfrm>
            <a:off x="5486080" y="4663440"/>
            <a:ext cx="548640" cy="274320"/>
          </a:xfrm>
          <a:prstGeom prst="rect">
            <a:avLst/>
          </a:prstGeom>
          <a:solidFill>
            <a:srgbClr val="FFFFFF"/>
          </a:solid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39" name="Text 36"/>
          <p:cNvSpPr txBox="1"/>
          <p:nvPr/>
        </p:nvSpPr>
        <p:spPr>
          <a:xfrm>
            <a:off x="5394640" y="562356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2106457" y="2103120"/>
            <a:ext cx="0" cy="3474720"/>
          </a:xfrm>
          <a:prstGeom prst="line">
            <a:avLst/>
          </a:prstGeom>
          <a:noFill/>
          <a:ln w="12700">
            <a:solidFill>
              <a:srgbClr val="3F3F3F"/>
            </a:solidFill>
            <a:prstDash val="dash"/>
          </a:ln>
        </p:spPr>
      </p:sp>
      <p:sp>
        <p:nvSpPr>
          <p:cNvPr id="41" name="Text 38"/>
          <p:cNvSpPr txBox="1"/>
          <p:nvPr/>
        </p:nvSpPr>
        <p:spPr>
          <a:xfrm>
            <a:off x="2179609" y="201168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 2.4km</a:t>
            </a:r>
            <a:endParaRPr lang="en-US" sz="1400" dirty="0"/>
          </a:p>
        </p:txBody>
      </p:sp>
      <p:sp>
        <p:nvSpPr>
          <p:cNvPr id="42" name="Shape 39"/>
          <p:cNvSpPr/>
          <p:nvPr/>
        </p:nvSpPr>
        <p:spPr>
          <a:xfrm>
            <a:off x="3675568" y="4187952"/>
            <a:ext cx="2359152" cy="0"/>
          </a:xfrm>
          <a:prstGeom prst="line">
            <a:avLst/>
          </a:prstGeom>
          <a:noFill/>
          <a:ln w="12700">
            <a:solidFill>
              <a:srgbClr val="000F78"/>
            </a:solidFill>
            <a:prstDash val="solid"/>
          </a:ln>
        </p:spPr>
      </p:sp>
      <p:sp>
        <p:nvSpPr>
          <p:cNvPr id="43" name="Text 40"/>
          <p:cNvSpPr txBox="1"/>
          <p:nvPr/>
        </p:nvSpPr>
        <p:spPr>
          <a:xfrm>
            <a:off x="3492688" y="3840480"/>
            <a:ext cx="2779776"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5km以上　9集落</a:t>
            </a:r>
            <a:endParaRPr lang="en-US" sz="1400" dirty="0"/>
          </a:p>
        </p:txBody>
      </p:sp>
      <p:sp>
        <p:nvSpPr>
          <p:cNvPr id="44" name="Shape 41"/>
          <p:cNvSpPr/>
          <p:nvPr/>
        </p:nvSpPr>
        <p:spPr>
          <a:xfrm>
            <a:off x="6687328" y="1874520"/>
            <a:ext cx="3017520" cy="4251960"/>
          </a:xfrm>
          <a:prstGeom prst="rect">
            <a:avLst/>
          </a:prstGeom>
          <a:solidFill>
            <a:srgbClr val="E0EEF8"/>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中央値は2.4km、9集落は5km以上</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42集落の2割が駅から5km以上離れ、歩いて駅に行けない</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平均の3.2kmでは遠い集落が見えない</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遠い9集落の住民は約1,400人。予約型交通の乗降地点を、まずここに置く</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通院する高齢者は予約から帰宅までの5段階のうち、乗継ぎの待ち時間で最も強い不満を抱く。打ち手は乗継ぎの段階に集中させるべきである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通院する高齢者の移動の流れ</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（ヒアリング20件を基に作成）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出所）通院する高齢者へのヒアリング（2026年5月、20件）を基に作成（名称・数値は架空の見本）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67</a:t>
            </a:r>
            <a:endParaRPr lang="en-US" sz="900" dirty="0"/>
          </a:p>
        </p:txBody>
      </p:sp>
      <p:sp>
        <p:nvSpPr>
          <p:cNvPr id="12" name="Shape 9"/>
          <p:cNvSpPr/>
          <p:nvPr/>
        </p:nvSpPr>
        <p:spPr>
          <a:xfrm>
            <a:off x="1572448" y="1874520"/>
            <a:ext cx="1663056" cy="411480"/>
          </a:xfrm>
          <a:prstGeom prst="homePlate">
            <a:avLst/>
          </a:prstGeom>
          <a:solidFill>
            <a:srgbClr val="CCCCCC"/>
          </a:solidFill>
          <a:ln/>
        </p:spPr>
      </p:sp>
      <p:sp>
        <p:nvSpPr>
          <p:cNvPr id="13" name="Text 10"/>
          <p:cNvSpPr txBox="1"/>
          <p:nvPr/>
        </p:nvSpPr>
        <p:spPr>
          <a:xfrm>
            <a:off x="175532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予約する</a:t>
            </a:r>
            <a:endParaRPr lang="en-US" sz="1400" dirty="0"/>
          </a:p>
        </p:txBody>
      </p:sp>
      <p:sp>
        <p:nvSpPr>
          <p:cNvPr id="14" name="Shape 11"/>
          <p:cNvSpPr/>
          <p:nvPr/>
        </p:nvSpPr>
        <p:spPr>
          <a:xfrm>
            <a:off x="3198928" y="1874520"/>
            <a:ext cx="1663056" cy="411480"/>
          </a:xfrm>
          <a:prstGeom prst="chevron">
            <a:avLst/>
          </a:prstGeom>
          <a:solidFill>
            <a:srgbClr val="CCCCCC"/>
          </a:solidFill>
          <a:ln/>
        </p:spPr>
      </p:sp>
      <p:sp>
        <p:nvSpPr>
          <p:cNvPr id="15" name="Text 12"/>
          <p:cNvSpPr txBox="1"/>
          <p:nvPr/>
        </p:nvSpPr>
        <p:spPr>
          <a:xfrm>
            <a:off x="338180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駅まで行く</a:t>
            </a:r>
            <a:endParaRPr lang="en-US" sz="1400" dirty="0"/>
          </a:p>
        </p:txBody>
      </p:sp>
      <p:sp>
        <p:nvSpPr>
          <p:cNvPr id="16" name="Shape 13"/>
          <p:cNvSpPr/>
          <p:nvPr/>
        </p:nvSpPr>
        <p:spPr>
          <a:xfrm>
            <a:off x="4825408" y="1874520"/>
            <a:ext cx="1663056" cy="411480"/>
          </a:xfrm>
          <a:prstGeom prst="chevron">
            <a:avLst/>
          </a:prstGeom>
          <a:solidFill>
            <a:srgbClr val="000F78"/>
          </a:solidFill>
          <a:ln/>
        </p:spPr>
      </p:sp>
      <p:sp>
        <p:nvSpPr>
          <p:cNvPr id="17" name="Text 14"/>
          <p:cNvSpPr txBox="1"/>
          <p:nvPr/>
        </p:nvSpPr>
        <p:spPr>
          <a:xfrm>
            <a:off x="5008288" y="1874520"/>
            <a:ext cx="13521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乗り継ぐ</a:t>
            </a:r>
            <a:endParaRPr lang="en-US" sz="1400" dirty="0"/>
          </a:p>
        </p:txBody>
      </p:sp>
      <p:sp>
        <p:nvSpPr>
          <p:cNvPr id="18" name="Shape 15"/>
          <p:cNvSpPr/>
          <p:nvPr/>
        </p:nvSpPr>
        <p:spPr>
          <a:xfrm>
            <a:off x="6451888" y="1874520"/>
            <a:ext cx="1663056" cy="411480"/>
          </a:xfrm>
          <a:prstGeom prst="chevron">
            <a:avLst/>
          </a:prstGeom>
          <a:solidFill>
            <a:srgbClr val="CCCCCC"/>
          </a:solidFill>
          <a:ln/>
        </p:spPr>
      </p:sp>
      <p:sp>
        <p:nvSpPr>
          <p:cNvPr id="19" name="Text 16"/>
          <p:cNvSpPr txBox="1"/>
          <p:nvPr/>
        </p:nvSpPr>
        <p:spPr>
          <a:xfrm>
            <a:off x="663476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受診する</a:t>
            </a:r>
            <a:endParaRPr lang="en-US" sz="1400" dirty="0"/>
          </a:p>
        </p:txBody>
      </p:sp>
      <p:sp>
        <p:nvSpPr>
          <p:cNvPr id="20" name="Shape 17"/>
          <p:cNvSpPr/>
          <p:nvPr/>
        </p:nvSpPr>
        <p:spPr>
          <a:xfrm>
            <a:off x="8078368" y="1874520"/>
            <a:ext cx="1626480" cy="411480"/>
          </a:xfrm>
          <a:prstGeom prst="chevron">
            <a:avLst/>
          </a:prstGeom>
          <a:solidFill>
            <a:srgbClr val="CCCCCC"/>
          </a:solidFill>
          <a:ln/>
        </p:spPr>
      </p:sp>
      <p:sp>
        <p:nvSpPr>
          <p:cNvPr id="21" name="Text 18"/>
          <p:cNvSpPr txBox="1"/>
          <p:nvPr/>
        </p:nvSpPr>
        <p:spPr>
          <a:xfrm>
            <a:off x="8261248" y="1874520"/>
            <a:ext cx="1352160" cy="41148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帰宅する</a:t>
            </a:r>
            <a:endParaRPr lang="en-US" sz="1400" dirty="0"/>
          </a:p>
        </p:txBody>
      </p:sp>
      <p:sp>
        <p:nvSpPr>
          <p:cNvPr id="22" name="Shape 19"/>
          <p:cNvSpPr/>
          <p:nvPr/>
        </p:nvSpPr>
        <p:spPr>
          <a:xfrm>
            <a:off x="4852840" y="2331720"/>
            <a:ext cx="1571616" cy="3794760"/>
          </a:xfrm>
          <a:prstGeom prst="rect">
            <a:avLst/>
          </a:prstGeom>
          <a:ln w="15875">
            <a:solidFill>
              <a:srgbClr val="000F78"/>
            </a:solidFill>
            <a:prstDash val="solid"/>
          </a:ln>
        </p:spPr>
      </p:sp>
      <p:sp>
        <p:nvSpPr>
          <p:cNvPr id="23" name="Text 20"/>
          <p:cNvSpPr txBox="1"/>
          <p:nvPr/>
        </p:nvSpPr>
        <p:spPr>
          <a:xfrm>
            <a:off x="200848" y="2423160"/>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行動</a:t>
            </a:r>
            <a:endParaRPr lang="en-US" sz="1400" dirty="0"/>
          </a:p>
        </p:txBody>
      </p:sp>
      <p:sp>
        <p:nvSpPr>
          <p:cNvPr id="24" name="Text 21"/>
          <p:cNvSpPr txBox="1"/>
          <p:nvPr/>
        </p:nvSpPr>
        <p:spPr>
          <a:xfrm>
            <a:off x="164560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電話で予約</a:t>
            </a:r>
            <a:endParaRPr lang="en-US" sz="1400" dirty="0"/>
          </a:p>
        </p:txBody>
      </p:sp>
      <p:sp>
        <p:nvSpPr>
          <p:cNvPr id="25" name="Text 22"/>
          <p:cNvSpPr txBox="1"/>
          <p:nvPr/>
        </p:nvSpPr>
        <p:spPr>
          <a:xfrm>
            <a:off x="327208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徒歩で15分</a:t>
            </a:r>
            <a:endParaRPr lang="en-US" sz="1400" dirty="0"/>
          </a:p>
        </p:txBody>
      </p:sp>
      <p:sp>
        <p:nvSpPr>
          <p:cNvPr id="26" name="Text 23"/>
          <p:cNvSpPr txBox="1"/>
          <p:nvPr/>
        </p:nvSpPr>
        <p:spPr>
          <a:xfrm>
            <a:off x="489856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駅で40分待つ</a:t>
            </a:r>
            <a:endParaRPr lang="en-US" sz="1400" dirty="0"/>
          </a:p>
        </p:txBody>
      </p:sp>
      <p:sp>
        <p:nvSpPr>
          <p:cNvPr id="27" name="Text 24"/>
          <p:cNvSpPr txBox="1"/>
          <p:nvPr/>
        </p:nvSpPr>
        <p:spPr>
          <a:xfrm>
            <a:off x="652504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受付から2時間</a:t>
            </a:r>
            <a:endParaRPr lang="en-US" sz="1400" dirty="0"/>
          </a:p>
        </p:txBody>
      </p:sp>
      <p:sp>
        <p:nvSpPr>
          <p:cNvPr id="28" name="Text 25"/>
          <p:cNvSpPr txBox="1"/>
          <p:nvPr/>
        </p:nvSpPr>
        <p:spPr>
          <a:xfrm>
            <a:off x="8151520" y="2423160"/>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家族が迎えに</a:t>
            </a:r>
            <a:endParaRPr lang="en-US" sz="1400" dirty="0"/>
          </a:p>
        </p:txBody>
      </p:sp>
      <p:sp>
        <p:nvSpPr>
          <p:cNvPr id="29" name="Shape 26"/>
          <p:cNvSpPr/>
          <p:nvPr/>
        </p:nvSpPr>
        <p:spPr>
          <a:xfrm>
            <a:off x="200848" y="3035808"/>
            <a:ext cx="9504000" cy="0"/>
          </a:xfrm>
          <a:prstGeom prst="line">
            <a:avLst/>
          </a:prstGeom>
          <a:noFill/>
          <a:ln w="6350">
            <a:solidFill>
              <a:srgbClr val="CCCCCC"/>
            </a:solidFill>
            <a:prstDash val="solid"/>
          </a:ln>
        </p:spPr>
      </p:sp>
      <p:sp>
        <p:nvSpPr>
          <p:cNvPr id="30" name="Text 27"/>
          <p:cNvSpPr txBox="1"/>
          <p:nvPr/>
        </p:nvSpPr>
        <p:spPr>
          <a:xfrm>
            <a:off x="200848" y="3081528"/>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不満</a:t>
            </a:r>
            <a:endParaRPr lang="en-US" sz="1400" dirty="0"/>
          </a:p>
        </p:txBody>
      </p:sp>
      <p:sp>
        <p:nvSpPr>
          <p:cNvPr id="31" name="Text 28"/>
          <p:cNvSpPr txBox="1"/>
          <p:nvPr/>
        </p:nvSpPr>
        <p:spPr>
          <a:xfrm>
            <a:off x="164560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平日のみ</a:t>
            </a:r>
            <a:endParaRPr lang="en-US" sz="1400" dirty="0"/>
          </a:p>
        </p:txBody>
      </p:sp>
      <p:sp>
        <p:nvSpPr>
          <p:cNvPr id="32" name="Text 29"/>
          <p:cNvSpPr txBox="1"/>
          <p:nvPr/>
        </p:nvSpPr>
        <p:spPr>
          <a:xfrm>
            <a:off x="327208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坂道がきつい</a:t>
            </a:r>
            <a:endParaRPr lang="en-US" sz="1400" dirty="0"/>
          </a:p>
        </p:txBody>
      </p:sp>
      <p:sp>
        <p:nvSpPr>
          <p:cNvPr id="33" name="Text 30"/>
          <p:cNvSpPr txBox="1"/>
          <p:nvPr/>
        </p:nvSpPr>
        <p:spPr>
          <a:xfrm>
            <a:off x="4898560" y="3081528"/>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待合所が寒い</a:t>
            </a:r>
            <a:endParaRPr lang="en-US" sz="1400" dirty="0"/>
          </a:p>
        </p:txBody>
      </p:sp>
      <p:sp>
        <p:nvSpPr>
          <p:cNvPr id="34" name="Text 31"/>
          <p:cNvSpPr txBox="1"/>
          <p:nvPr/>
        </p:nvSpPr>
        <p:spPr>
          <a:xfrm>
            <a:off x="652504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35" name="Text 32"/>
          <p:cNvSpPr txBox="1"/>
          <p:nvPr/>
        </p:nvSpPr>
        <p:spPr>
          <a:xfrm>
            <a:off x="8151520" y="3081528"/>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頼みにくい</a:t>
            </a:r>
            <a:endParaRPr lang="en-US" sz="1400" dirty="0"/>
          </a:p>
        </p:txBody>
      </p:sp>
      <p:sp>
        <p:nvSpPr>
          <p:cNvPr id="36" name="Shape 33"/>
          <p:cNvSpPr/>
          <p:nvPr/>
        </p:nvSpPr>
        <p:spPr>
          <a:xfrm>
            <a:off x="200848" y="3694176"/>
            <a:ext cx="9504000" cy="0"/>
          </a:xfrm>
          <a:prstGeom prst="line">
            <a:avLst/>
          </a:prstGeom>
          <a:noFill/>
          <a:ln w="6350">
            <a:solidFill>
              <a:srgbClr val="CCCCCC"/>
            </a:solidFill>
            <a:prstDash val="solid"/>
          </a:ln>
        </p:spPr>
      </p:sp>
      <p:sp>
        <p:nvSpPr>
          <p:cNvPr id="37" name="Text 34"/>
          <p:cNvSpPr txBox="1"/>
          <p:nvPr/>
        </p:nvSpPr>
        <p:spPr>
          <a:xfrm>
            <a:off x="200848" y="3739896"/>
            <a:ext cx="128016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38" name="Text 35"/>
          <p:cNvSpPr txBox="1"/>
          <p:nvPr/>
        </p:nvSpPr>
        <p:spPr>
          <a:xfrm>
            <a:off x="164560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アプリと電話</a:t>
            </a:r>
            <a:endParaRPr lang="en-US" sz="1400" dirty="0"/>
          </a:p>
        </p:txBody>
      </p:sp>
      <p:sp>
        <p:nvSpPr>
          <p:cNvPr id="39" name="Text 36"/>
          <p:cNvSpPr txBox="1"/>
          <p:nvPr/>
        </p:nvSpPr>
        <p:spPr>
          <a:xfrm>
            <a:off x="327208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戸口まで送迎</a:t>
            </a:r>
            <a:endParaRPr lang="en-US" sz="1400" dirty="0"/>
          </a:p>
        </p:txBody>
      </p:sp>
      <p:sp>
        <p:nvSpPr>
          <p:cNvPr id="40" name="Text 37"/>
          <p:cNvSpPr txBox="1"/>
          <p:nvPr/>
        </p:nvSpPr>
        <p:spPr>
          <a:xfrm>
            <a:off x="4898560" y="3739896"/>
            <a:ext cx="1480176"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接続ダイヤ</a:t>
            </a:r>
            <a:endParaRPr lang="en-US" sz="1400" dirty="0"/>
          </a:p>
        </p:txBody>
      </p:sp>
      <p:sp>
        <p:nvSpPr>
          <p:cNvPr id="41" name="Text 38"/>
          <p:cNvSpPr txBox="1"/>
          <p:nvPr/>
        </p:nvSpPr>
        <p:spPr>
          <a:xfrm>
            <a:off x="652504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a:t>
            </a:r>
            <a:endParaRPr lang="en-US" sz="1400" dirty="0"/>
          </a:p>
        </p:txBody>
      </p:sp>
      <p:sp>
        <p:nvSpPr>
          <p:cNvPr id="42" name="Text 39"/>
          <p:cNvSpPr txBox="1"/>
          <p:nvPr/>
        </p:nvSpPr>
        <p:spPr>
          <a:xfrm>
            <a:off x="8151520" y="3739896"/>
            <a:ext cx="1480176" cy="56692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帰りの予約</a:t>
            </a:r>
            <a:endParaRPr lang="en-US" sz="1400" dirty="0"/>
          </a:p>
        </p:txBody>
      </p:sp>
      <p:sp>
        <p:nvSpPr>
          <p:cNvPr id="43" name="Shape 40"/>
          <p:cNvSpPr/>
          <p:nvPr/>
        </p:nvSpPr>
        <p:spPr>
          <a:xfrm>
            <a:off x="200848" y="4352544"/>
            <a:ext cx="9504000" cy="0"/>
          </a:xfrm>
          <a:prstGeom prst="line">
            <a:avLst/>
          </a:prstGeom>
          <a:noFill/>
          <a:ln w="6350">
            <a:solidFill>
              <a:srgbClr val="CCCCCC"/>
            </a:solidFill>
            <a:prstDash val="solid"/>
          </a:ln>
        </p:spPr>
      </p:sp>
      <p:sp>
        <p:nvSpPr>
          <p:cNvPr id="44" name="Text 41"/>
          <p:cNvSpPr txBox="1"/>
          <p:nvPr/>
        </p:nvSpPr>
        <p:spPr>
          <a:xfrm>
            <a:off x="200848" y="4983480"/>
            <a:ext cx="128016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満足度</a:t>
            </a:r>
            <a:endParaRPr lang="en-US" sz="1400" dirty="0"/>
          </a:p>
        </p:txBody>
      </p:sp>
      <p:sp>
        <p:nvSpPr>
          <p:cNvPr id="45" name="Shape 42"/>
          <p:cNvSpPr/>
          <p:nvPr/>
        </p:nvSpPr>
        <p:spPr>
          <a:xfrm>
            <a:off x="1572448" y="5212080"/>
            <a:ext cx="8132400" cy="0"/>
          </a:xfrm>
          <a:prstGeom prst="line">
            <a:avLst/>
          </a:prstGeom>
          <a:noFill/>
          <a:ln w="9525">
            <a:solidFill>
              <a:srgbClr val="CCCCCC"/>
            </a:solidFill>
            <a:prstDash val="solid"/>
          </a:ln>
        </p:spPr>
      </p:sp>
      <p:sp>
        <p:nvSpPr>
          <p:cNvPr id="46" name="Shape 43"/>
          <p:cNvSpPr/>
          <p:nvPr/>
        </p:nvSpPr>
        <p:spPr>
          <a:xfrm>
            <a:off x="2312536" y="4782312"/>
            <a:ext cx="146304" cy="146304"/>
          </a:xfrm>
          <a:prstGeom prst="ellipse">
            <a:avLst/>
          </a:prstGeom>
          <a:solidFill>
            <a:srgbClr val="7F7F7F"/>
          </a:solidFill>
          <a:ln/>
        </p:spPr>
      </p:sp>
      <p:sp>
        <p:nvSpPr>
          <p:cNvPr id="47" name="Shape 44"/>
          <p:cNvSpPr/>
          <p:nvPr/>
        </p:nvSpPr>
        <p:spPr>
          <a:xfrm>
            <a:off x="2385688" y="4855464"/>
            <a:ext cx="1626480" cy="118872"/>
          </a:xfrm>
          <a:prstGeom prst="line">
            <a:avLst/>
          </a:prstGeom>
          <a:noFill/>
          <a:ln w="19050">
            <a:solidFill>
              <a:srgbClr val="7F7F7F"/>
            </a:solidFill>
            <a:prstDash val="solid"/>
          </a:ln>
        </p:spPr>
      </p:sp>
      <p:sp>
        <p:nvSpPr>
          <p:cNvPr id="48" name="Shape 45"/>
          <p:cNvSpPr/>
          <p:nvPr/>
        </p:nvSpPr>
        <p:spPr>
          <a:xfrm>
            <a:off x="3939016" y="4901184"/>
            <a:ext cx="146304" cy="146304"/>
          </a:xfrm>
          <a:prstGeom prst="ellipse">
            <a:avLst/>
          </a:prstGeom>
          <a:solidFill>
            <a:srgbClr val="7F7F7F"/>
          </a:solidFill>
          <a:ln/>
        </p:spPr>
      </p:sp>
      <p:sp>
        <p:nvSpPr>
          <p:cNvPr id="49" name="Shape 46"/>
          <p:cNvSpPr/>
          <p:nvPr/>
        </p:nvSpPr>
        <p:spPr>
          <a:xfrm>
            <a:off x="4012168" y="4974336"/>
            <a:ext cx="1626480" cy="713232"/>
          </a:xfrm>
          <a:prstGeom prst="line">
            <a:avLst/>
          </a:prstGeom>
          <a:noFill/>
          <a:ln w="19050">
            <a:solidFill>
              <a:srgbClr val="7F7F7F"/>
            </a:solidFill>
            <a:prstDash val="solid"/>
          </a:ln>
        </p:spPr>
      </p:sp>
      <p:sp>
        <p:nvSpPr>
          <p:cNvPr id="50" name="Shape 47"/>
          <p:cNvSpPr/>
          <p:nvPr/>
        </p:nvSpPr>
        <p:spPr>
          <a:xfrm>
            <a:off x="5538064" y="5586984"/>
            <a:ext cx="201168" cy="201168"/>
          </a:xfrm>
          <a:prstGeom prst="ellipse">
            <a:avLst/>
          </a:prstGeom>
          <a:solidFill>
            <a:srgbClr val="000F78"/>
          </a:solidFill>
          <a:ln/>
        </p:spPr>
      </p:sp>
      <p:sp>
        <p:nvSpPr>
          <p:cNvPr id="51" name="Shape 48"/>
          <p:cNvSpPr/>
          <p:nvPr/>
        </p:nvSpPr>
        <p:spPr>
          <a:xfrm flipV="1">
            <a:off x="5638648" y="5093208"/>
            <a:ext cx="1626480" cy="594360"/>
          </a:xfrm>
          <a:prstGeom prst="line">
            <a:avLst/>
          </a:prstGeom>
          <a:noFill/>
          <a:ln w="19050">
            <a:solidFill>
              <a:srgbClr val="7F7F7F"/>
            </a:solidFill>
            <a:prstDash val="solid"/>
          </a:ln>
        </p:spPr>
      </p:sp>
      <p:sp>
        <p:nvSpPr>
          <p:cNvPr id="52" name="Shape 49"/>
          <p:cNvSpPr/>
          <p:nvPr/>
        </p:nvSpPr>
        <p:spPr>
          <a:xfrm>
            <a:off x="7191976" y="5020056"/>
            <a:ext cx="146304" cy="146304"/>
          </a:xfrm>
          <a:prstGeom prst="ellipse">
            <a:avLst/>
          </a:prstGeom>
          <a:solidFill>
            <a:srgbClr val="7F7F7F"/>
          </a:solidFill>
          <a:ln/>
        </p:spPr>
      </p:sp>
      <p:sp>
        <p:nvSpPr>
          <p:cNvPr id="53" name="Shape 50"/>
          <p:cNvSpPr/>
          <p:nvPr/>
        </p:nvSpPr>
        <p:spPr>
          <a:xfrm>
            <a:off x="7265128" y="5093208"/>
            <a:ext cx="1626480" cy="118872"/>
          </a:xfrm>
          <a:prstGeom prst="line">
            <a:avLst/>
          </a:prstGeom>
          <a:noFill/>
          <a:ln w="19050">
            <a:solidFill>
              <a:srgbClr val="7F7F7F"/>
            </a:solidFill>
            <a:prstDash val="solid"/>
          </a:ln>
        </p:spPr>
      </p:sp>
      <p:sp>
        <p:nvSpPr>
          <p:cNvPr id="54" name="Shape 51"/>
          <p:cNvSpPr/>
          <p:nvPr/>
        </p:nvSpPr>
        <p:spPr>
          <a:xfrm>
            <a:off x="8818456" y="5138928"/>
            <a:ext cx="146304" cy="146304"/>
          </a:xfrm>
          <a:prstGeom prst="ellipse">
            <a:avLst/>
          </a:prstGeom>
          <a:solidFill>
            <a:srgbClr val="7F7F7F"/>
          </a:solidFill>
          <a:ln/>
        </p:spPr>
      </p:sp>
      <p:sp>
        <p:nvSpPr>
          <p:cNvPr id="55" name="Text 52"/>
          <p:cNvSpPr txBox="1"/>
          <p:nvPr/>
        </p:nvSpPr>
        <p:spPr>
          <a:xfrm>
            <a:off x="4815688" y="5797296"/>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最も強い不満</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推進体制は協議会の下に事務局を新設し、3つの作業部会を束ねる。事務局が予算と進捗を一元管理することで、部会間の調整を月1回の会議に集約する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推進体制</a:t>
            </a:r>
            <a:pPr indent="0" marL="0">
              <a:buNone/>
            </a:pPr>
            <a:r>
              <a:rPr lang="en-US" sz="1100" dirty="0">
                <a:solidFill>
                  <a:srgbClr val="3F3F3F"/>
                </a:solidFill>
                <a:latin typeface="Yu Gothic UI" pitchFamily="34" charset="0"/>
                <a:ea typeface="Yu Gothic UI" pitchFamily="34" charset="-122"/>
                <a:cs typeface="Yu Gothic UI" pitchFamily="34" charset="-120"/>
              </a:rPr>
              <a:t>　（2027年度から）</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3306928" y="1874520"/>
            <a:ext cx="3291840" cy="868680"/>
          </a:xfrm>
          <a:prstGeom prst="rect">
            <a:avLst/>
          </a:prstGeom>
          <a:solidFill>
            <a:srgbClr val="FFFFFF"/>
          </a:solidFill>
          <a:ln w="9525">
            <a:solidFill>
              <a:srgbClr val="CCCCCC"/>
            </a:solidFill>
            <a:prstDash val="solid"/>
          </a:ln>
        </p:spPr>
      </p:sp>
      <p:sp>
        <p:nvSpPr>
          <p:cNvPr id="13" name="Text 10"/>
          <p:cNvSpPr txBox="1"/>
          <p:nvPr/>
        </p:nvSpPr>
        <p:spPr>
          <a:xfrm>
            <a:off x="4038448" y="1965960"/>
            <a:ext cx="246888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地域交通協議会</a:t>
            </a:r>
            <a:endParaRPr lang="en-US" sz="1400" dirty="0"/>
          </a:p>
        </p:txBody>
      </p:sp>
      <p:sp>
        <p:nvSpPr>
          <p:cNvPr id="14" name="Text 11"/>
          <p:cNvSpPr txBox="1"/>
          <p:nvPr/>
        </p:nvSpPr>
        <p:spPr>
          <a:xfrm>
            <a:off x="4038448" y="231343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市長・事業者・住民代表</a:t>
            </a:r>
            <a:endParaRPr lang="en-US" sz="1400" dirty="0"/>
          </a:p>
        </p:txBody>
      </p:sp>
      <p:sp>
        <p:nvSpPr>
          <p:cNvPr id="15" name="Shape 12"/>
          <p:cNvSpPr/>
          <p:nvPr/>
        </p:nvSpPr>
        <p:spPr>
          <a:xfrm>
            <a:off x="3306928" y="3200400"/>
            <a:ext cx="3291840" cy="868680"/>
          </a:xfrm>
          <a:prstGeom prst="rect">
            <a:avLst/>
          </a:prstGeom>
          <a:solidFill>
            <a:srgbClr val="FFFFFF"/>
          </a:solidFill>
          <a:ln w="22225">
            <a:solidFill>
              <a:srgbClr val="000F78"/>
            </a:solidFill>
            <a:prstDash val="solid"/>
          </a:ln>
        </p:spPr>
      </p:sp>
      <p:sp>
        <p:nvSpPr>
          <p:cNvPr id="16" name="Text 13"/>
          <p:cNvSpPr txBox="1"/>
          <p:nvPr/>
        </p:nvSpPr>
        <p:spPr>
          <a:xfrm>
            <a:off x="4038448" y="3291840"/>
            <a:ext cx="2468880" cy="34747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事務局（新設）</a:t>
            </a:r>
            <a:endParaRPr lang="en-US" sz="1400" dirty="0"/>
          </a:p>
        </p:txBody>
      </p:sp>
      <p:sp>
        <p:nvSpPr>
          <p:cNvPr id="17" name="Text 14"/>
          <p:cNvSpPr txBox="1"/>
          <p:nvPr/>
        </p:nvSpPr>
        <p:spPr>
          <a:xfrm>
            <a:off x="4038448" y="3639312"/>
            <a:ext cx="246888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予算と進捗を一元管理</a:t>
            </a:r>
            <a:endParaRPr lang="en-US" sz="1400" dirty="0"/>
          </a:p>
        </p:txBody>
      </p:sp>
      <p:sp>
        <p:nvSpPr>
          <p:cNvPr id="18" name="Shape 15"/>
          <p:cNvSpPr/>
          <p:nvPr/>
        </p:nvSpPr>
        <p:spPr>
          <a:xfrm>
            <a:off x="7053088" y="3200400"/>
            <a:ext cx="2651760" cy="868680"/>
          </a:xfrm>
          <a:prstGeom prst="rect">
            <a:avLst/>
          </a:prstGeom>
          <a:solidFill>
            <a:srgbClr val="FFFFFF"/>
          </a:solidFill>
          <a:ln w="9525">
            <a:solidFill>
              <a:srgbClr val="CCCCCC"/>
            </a:solidFill>
            <a:prstDash val="dash"/>
          </a:ln>
        </p:spPr>
      </p:sp>
      <p:sp>
        <p:nvSpPr>
          <p:cNvPr id="19" name="Text 16"/>
          <p:cNvSpPr txBox="1"/>
          <p:nvPr/>
        </p:nvSpPr>
        <p:spPr>
          <a:xfrm>
            <a:off x="7784608" y="3291840"/>
            <a:ext cx="182880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有識者</a:t>
            </a:r>
            <a:endParaRPr lang="en-US" sz="1400" dirty="0"/>
          </a:p>
        </p:txBody>
      </p:sp>
      <p:sp>
        <p:nvSpPr>
          <p:cNvPr id="20" name="Text 17"/>
          <p:cNvSpPr txBox="1"/>
          <p:nvPr/>
        </p:nvSpPr>
        <p:spPr>
          <a:xfrm>
            <a:off x="7784608" y="3639312"/>
            <a:ext cx="182880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月1回の助言</a:t>
            </a:r>
            <a:endParaRPr lang="en-US" sz="1400" dirty="0"/>
          </a:p>
        </p:txBody>
      </p:sp>
      <p:sp>
        <p:nvSpPr>
          <p:cNvPr id="21" name="Shape 18"/>
          <p:cNvSpPr/>
          <p:nvPr/>
        </p:nvSpPr>
        <p:spPr>
          <a:xfrm>
            <a:off x="4952848" y="2743200"/>
            <a:ext cx="0" cy="457200"/>
          </a:xfrm>
          <a:prstGeom prst="line">
            <a:avLst/>
          </a:prstGeom>
          <a:noFill/>
          <a:ln w="12700">
            <a:solidFill>
              <a:srgbClr val="7F7F7F"/>
            </a:solidFill>
            <a:prstDash val="solid"/>
          </a:ln>
        </p:spPr>
      </p:sp>
      <p:sp>
        <p:nvSpPr>
          <p:cNvPr id="22" name="Shape 19"/>
          <p:cNvSpPr/>
          <p:nvPr/>
        </p:nvSpPr>
        <p:spPr>
          <a:xfrm>
            <a:off x="6598768" y="3630168"/>
            <a:ext cx="454320" cy="0"/>
          </a:xfrm>
          <a:prstGeom prst="line">
            <a:avLst/>
          </a:prstGeom>
          <a:noFill/>
          <a:ln w="12700">
            <a:solidFill>
              <a:srgbClr val="7F7F7F"/>
            </a:solidFill>
            <a:prstDash val="dash"/>
          </a:ln>
        </p:spPr>
      </p:sp>
      <p:sp>
        <p:nvSpPr>
          <p:cNvPr id="23" name="Shape 20"/>
          <p:cNvSpPr/>
          <p:nvPr/>
        </p:nvSpPr>
        <p:spPr>
          <a:xfrm>
            <a:off x="4952848" y="4069080"/>
            <a:ext cx="0" cy="411480"/>
          </a:xfrm>
          <a:prstGeom prst="line">
            <a:avLst/>
          </a:prstGeom>
          <a:noFill/>
          <a:ln w="12700">
            <a:solidFill>
              <a:srgbClr val="7F7F7F"/>
            </a:solidFill>
            <a:prstDash val="solid"/>
          </a:ln>
        </p:spPr>
      </p:sp>
      <p:sp>
        <p:nvSpPr>
          <p:cNvPr id="24" name="Shape 21"/>
          <p:cNvSpPr/>
          <p:nvPr/>
        </p:nvSpPr>
        <p:spPr>
          <a:xfrm>
            <a:off x="1693408" y="4480560"/>
            <a:ext cx="6518880" cy="0"/>
          </a:xfrm>
          <a:prstGeom prst="line">
            <a:avLst/>
          </a:prstGeom>
          <a:noFill/>
          <a:ln w="12700">
            <a:solidFill>
              <a:srgbClr val="7F7F7F"/>
            </a:solidFill>
            <a:prstDash val="solid"/>
          </a:ln>
        </p:spPr>
      </p:sp>
      <p:sp>
        <p:nvSpPr>
          <p:cNvPr id="25" name="Shape 22"/>
          <p:cNvSpPr/>
          <p:nvPr/>
        </p:nvSpPr>
        <p:spPr>
          <a:xfrm>
            <a:off x="1693408" y="4480560"/>
            <a:ext cx="0" cy="411480"/>
          </a:xfrm>
          <a:prstGeom prst="line">
            <a:avLst/>
          </a:prstGeom>
          <a:noFill/>
          <a:ln w="12700">
            <a:solidFill>
              <a:srgbClr val="7F7F7F"/>
            </a:solidFill>
            <a:prstDash val="solid"/>
          </a:ln>
        </p:spPr>
      </p:sp>
      <p:sp>
        <p:nvSpPr>
          <p:cNvPr id="26" name="Shape 23"/>
          <p:cNvSpPr/>
          <p:nvPr/>
        </p:nvSpPr>
        <p:spPr>
          <a:xfrm>
            <a:off x="200848" y="4892040"/>
            <a:ext cx="2985120" cy="868680"/>
          </a:xfrm>
          <a:prstGeom prst="rect">
            <a:avLst/>
          </a:prstGeom>
          <a:solidFill>
            <a:srgbClr val="FFFFFF"/>
          </a:solidFill>
          <a:ln w="9525">
            <a:solidFill>
              <a:srgbClr val="CCCCCC"/>
            </a:solidFill>
            <a:prstDash val="solid"/>
          </a:ln>
        </p:spPr>
      </p:sp>
      <p:sp>
        <p:nvSpPr>
          <p:cNvPr id="27" name="Text 24"/>
          <p:cNvSpPr txBox="1"/>
          <p:nvPr/>
        </p:nvSpPr>
        <p:spPr>
          <a:xfrm>
            <a:off x="93236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運行部会</a:t>
            </a:r>
            <a:endParaRPr lang="en-US" sz="1400" dirty="0"/>
          </a:p>
        </p:txBody>
      </p:sp>
      <p:sp>
        <p:nvSpPr>
          <p:cNvPr id="28" name="Text 25"/>
          <p:cNvSpPr txBox="1"/>
          <p:nvPr/>
        </p:nvSpPr>
        <p:spPr>
          <a:xfrm>
            <a:off x="93236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事業者3社</a:t>
            </a:r>
            <a:endParaRPr lang="en-US" sz="1400" dirty="0"/>
          </a:p>
        </p:txBody>
      </p:sp>
      <p:sp>
        <p:nvSpPr>
          <p:cNvPr id="29" name="Shape 26"/>
          <p:cNvSpPr/>
          <p:nvPr/>
        </p:nvSpPr>
        <p:spPr>
          <a:xfrm>
            <a:off x="4952848" y="4480560"/>
            <a:ext cx="0" cy="411480"/>
          </a:xfrm>
          <a:prstGeom prst="line">
            <a:avLst/>
          </a:prstGeom>
          <a:noFill/>
          <a:ln w="12700">
            <a:solidFill>
              <a:srgbClr val="7F7F7F"/>
            </a:solidFill>
            <a:prstDash val="solid"/>
          </a:ln>
        </p:spPr>
      </p:sp>
      <p:sp>
        <p:nvSpPr>
          <p:cNvPr id="30" name="Shape 27"/>
          <p:cNvSpPr/>
          <p:nvPr/>
        </p:nvSpPr>
        <p:spPr>
          <a:xfrm>
            <a:off x="3460288" y="4892040"/>
            <a:ext cx="2985120" cy="868680"/>
          </a:xfrm>
          <a:prstGeom prst="rect">
            <a:avLst/>
          </a:prstGeom>
          <a:solidFill>
            <a:srgbClr val="FFFFFF"/>
          </a:solidFill>
          <a:ln w="9525">
            <a:solidFill>
              <a:srgbClr val="CCCCCC"/>
            </a:solidFill>
            <a:prstDash val="solid"/>
          </a:ln>
        </p:spPr>
      </p:sp>
      <p:sp>
        <p:nvSpPr>
          <p:cNvPr id="31" name="Text 28"/>
          <p:cNvSpPr txBox="1"/>
          <p:nvPr/>
        </p:nvSpPr>
        <p:spPr>
          <a:xfrm>
            <a:off x="419180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利用促進部会</a:t>
            </a:r>
            <a:endParaRPr lang="en-US" sz="1400" dirty="0"/>
          </a:p>
        </p:txBody>
      </p:sp>
      <p:sp>
        <p:nvSpPr>
          <p:cNvPr id="32" name="Text 29"/>
          <p:cNvSpPr txBox="1"/>
          <p:nvPr/>
        </p:nvSpPr>
        <p:spPr>
          <a:xfrm>
            <a:off x="419180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商工会・学校</a:t>
            </a:r>
            <a:endParaRPr lang="en-US" sz="1400" dirty="0"/>
          </a:p>
        </p:txBody>
      </p:sp>
      <p:sp>
        <p:nvSpPr>
          <p:cNvPr id="33" name="Shape 30"/>
          <p:cNvSpPr/>
          <p:nvPr/>
        </p:nvSpPr>
        <p:spPr>
          <a:xfrm>
            <a:off x="8212288" y="4480560"/>
            <a:ext cx="0" cy="411480"/>
          </a:xfrm>
          <a:prstGeom prst="line">
            <a:avLst/>
          </a:prstGeom>
          <a:noFill/>
          <a:ln w="12700">
            <a:solidFill>
              <a:srgbClr val="7F7F7F"/>
            </a:solidFill>
            <a:prstDash val="solid"/>
          </a:ln>
        </p:spPr>
      </p:sp>
      <p:sp>
        <p:nvSpPr>
          <p:cNvPr id="34" name="Shape 31"/>
          <p:cNvSpPr/>
          <p:nvPr/>
        </p:nvSpPr>
        <p:spPr>
          <a:xfrm>
            <a:off x="6719728" y="4892040"/>
            <a:ext cx="2985120" cy="868680"/>
          </a:xfrm>
          <a:prstGeom prst="rect">
            <a:avLst/>
          </a:prstGeom>
          <a:solidFill>
            <a:srgbClr val="FFFFFF"/>
          </a:solidFill>
          <a:ln w="9525">
            <a:solidFill>
              <a:srgbClr val="CCCCCC"/>
            </a:solidFill>
            <a:prstDash val="solid"/>
          </a:ln>
        </p:spPr>
      </p:sp>
      <p:sp>
        <p:nvSpPr>
          <p:cNvPr id="35" name="Text 32"/>
          <p:cNvSpPr txBox="1"/>
          <p:nvPr/>
        </p:nvSpPr>
        <p:spPr>
          <a:xfrm>
            <a:off x="7451248" y="4983480"/>
            <a:ext cx="2162160" cy="34747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データ部会</a:t>
            </a:r>
            <a:endParaRPr lang="en-US" sz="1400" dirty="0"/>
          </a:p>
        </p:txBody>
      </p:sp>
      <p:sp>
        <p:nvSpPr>
          <p:cNvPr id="36" name="Text 33"/>
          <p:cNvSpPr txBox="1"/>
          <p:nvPr/>
        </p:nvSpPr>
        <p:spPr>
          <a:xfrm>
            <a:off x="7451248" y="5330952"/>
            <a:ext cx="2162160" cy="34747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市情報政策課</a:t>
            </a:r>
            <a:endParaRPr lang="en-US" sz="1400" dirty="0"/>
          </a:p>
        </p:txBody>
      </p:sp>
      <p:sp>
        <p:nvSpPr>
          <p:cNvPr id="37" name="Text 34"/>
          <p:cNvSpPr txBox="1"/>
          <p:nvPr/>
        </p:nvSpPr>
        <p:spPr>
          <a:xfrm>
            <a:off x="200848" y="5897880"/>
            <a:ext cx="36576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（実線＝指揮、点線＝助言）</a:t>
            </a:r>
            <a:endParaRPr lang="en-US" sz="1200" dirty="0"/>
          </a:p>
        </p:txBody>
      </p:sp>
      <p:pic>
        <p:nvPicPr>
          <p:cNvPr id="38" name="Image 0" descr="landmark">    </p:cNvPr>
          <p:cNvPicPr>
            <a:picLocks noChangeAspect="1"/>
          </p:cNvPicPr>
          <p:nvPr/>
        </p:nvPicPr>
        <p:blipFill>
          <a:blip r:embed="rId1"/>
          <a:stretch>
            <a:fillRect/>
          </a:stretch>
        </p:blipFill>
        <p:spPr>
          <a:xfrm>
            <a:off x="3444088" y="2057400"/>
            <a:ext cx="502920" cy="502920"/>
          </a:xfrm>
          <a:prstGeom prst="rect">
            <a:avLst/>
          </a:prstGeom>
        </p:spPr>
      </p:pic>
      <p:pic>
        <p:nvPicPr>
          <p:cNvPr id="39" name="Image 1" descr="settings">    </p:cNvPr>
          <p:cNvPicPr>
            <a:picLocks noChangeAspect="1"/>
          </p:cNvPicPr>
          <p:nvPr/>
        </p:nvPicPr>
        <p:blipFill>
          <a:blip r:embed="rId2"/>
          <a:stretch>
            <a:fillRect/>
          </a:stretch>
        </p:blipFill>
        <p:spPr>
          <a:xfrm>
            <a:off x="3444088" y="3383280"/>
            <a:ext cx="502920" cy="502920"/>
          </a:xfrm>
          <a:prstGeom prst="rect">
            <a:avLst/>
          </a:prstGeom>
        </p:spPr>
      </p:pic>
      <p:pic>
        <p:nvPicPr>
          <p:cNvPr id="40" name="Image 2" descr="lightbulb">    </p:cNvPr>
          <p:cNvPicPr>
            <a:picLocks noChangeAspect="1"/>
          </p:cNvPicPr>
          <p:nvPr/>
        </p:nvPicPr>
        <p:blipFill>
          <a:blip r:embed="rId3"/>
          <a:stretch>
            <a:fillRect/>
          </a:stretch>
        </p:blipFill>
        <p:spPr>
          <a:xfrm>
            <a:off x="7190248" y="3383280"/>
            <a:ext cx="502920" cy="502920"/>
          </a:xfrm>
          <a:prstGeom prst="rect">
            <a:avLst/>
          </a:prstGeom>
        </p:spPr>
      </p:pic>
      <p:pic>
        <p:nvPicPr>
          <p:cNvPr id="41" name="Image 3" descr="bus">    </p:cNvPr>
          <p:cNvPicPr>
            <a:picLocks noChangeAspect="1"/>
          </p:cNvPicPr>
          <p:nvPr/>
        </p:nvPicPr>
        <p:blipFill>
          <a:blip r:embed="rId4"/>
          <a:stretch>
            <a:fillRect/>
          </a:stretch>
        </p:blipFill>
        <p:spPr>
          <a:xfrm>
            <a:off x="338008" y="5074920"/>
            <a:ext cx="502920" cy="502920"/>
          </a:xfrm>
          <a:prstGeom prst="rect">
            <a:avLst/>
          </a:prstGeom>
        </p:spPr>
      </p:pic>
      <p:pic>
        <p:nvPicPr>
          <p:cNvPr id="42" name="Image 4" descr="messages-square">    </p:cNvPr>
          <p:cNvPicPr>
            <a:picLocks noChangeAspect="1"/>
          </p:cNvPicPr>
          <p:nvPr/>
        </p:nvPicPr>
        <p:blipFill>
          <a:blip r:embed="rId5"/>
          <a:stretch>
            <a:fillRect/>
          </a:stretch>
        </p:blipFill>
        <p:spPr>
          <a:xfrm>
            <a:off x="3597448" y="5074920"/>
            <a:ext cx="502920" cy="502920"/>
          </a:xfrm>
          <a:prstGeom prst="rect">
            <a:avLst/>
          </a:prstGeom>
        </p:spPr>
      </p:pic>
      <p:pic>
        <p:nvPicPr>
          <p:cNvPr id="43" name="Image 5" descr="database">    </p:cNvPr>
          <p:cNvPicPr>
            <a:picLocks noChangeAspect="1"/>
          </p:cNvPicPr>
          <p:nvPr/>
        </p:nvPicPr>
        <p:blipFill>
          <a:blip r:embed="rId6"/>
          <a:stretch>
            <a:fillRect/>
          </a:stretch>
        </p:blipFill>
        <p:spPr>
          <a:xfrm>
            <a:off x="6856888" y="5074920"/>
            <a:ext cx="502920" cy="5029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3つのフェーズを4つの作業の流れで進め、18か月で本格運行に移る。完了時期を決めるのは車両の調達であり、発注を最初の3か月で終える必要がある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作業の流れ別の実行計画</a:t>
            </a:r>
            <a:pPr indent="0" marL="0">
              <a:buNone/>
            </a:pPr>
            <a:r>
              <a:rPr lang="en-US" sz="1100" dirty="0">
                <a:solidFill>
                  <a:srgbClr val="3F3F3F"/>
                </a:solidFill>
                <a:latin typeface="Yu Gothic UI" pitchFamily="34" charset="0"/>
                <a:ea typeface="Yu Gothic UI" pitchFamily="34" charset="-122"/>
                <a:cs typeface="Yu Gothic UI" pitchFamily="34" charset="-120"/>
              </a:rPr>
              <a:t>　（2027年4月〜2028年9月）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69</a:t>
            </a:r>
            <a:endParaRPr lang="en-US" sz="900" dirty="0"/>
          </a:p>
        </p:txBody>
      </p:sp>
      <p:sp>
        <p:nvSpPr>
          <p:cNvPr id="12" name="Shape 9"/>
          <p:cNvSpPr/>
          <p:nvPr/>
        </p:nvSpPr>
        <p:spPr>
          <a:xfrm>
            <a:off x="2121088" y="1874520"/>
            <a:ext cx="2564496" cy="384048"/>
          </a:xfrm>
          <a:prstGeom prst="homePlate">
            <a:avLst/>
          </a:prstGeom>
          <a:solidFill>
            <a:srgbClr val="CCCCCC"/>
          </a:solidFill>
          <a:ln/>
        </p:spPr>
      </p:sp>
      <p:sp>
        <p:nvSpPr>
          <p:cNvPr id="13" name="Text 10"/>
          <p:cNvSpPr txBox="1"/>
          <p:nvPr/>
        </p:nvSpPr>
        <p:spPr>
          <a:xfrm>
            <a:off x="234968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フェーズ1　準備</a:t>
            </a:r>
            <a:endParaRPr lang="en-US" sz="1400" dirty="0"/>
          </a:p>
        </p:txBody>
      </p:sp>
      <p:sp>
        <p:nvSpPr>
          <p:cNvPr id="14" name="Text 11"/>
          <p:cNvSpPr txBox="1"/>
          <p:nvPr/>
        </p:nvSpPr>
        <p:spPr>
          <a:xfrm>
            <a:off x="212108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2027年4〜9月</a:t>
            </a:r>
            <a:endParaRPr lang="en-US" sz="1400" dirty="0"/>
          </a:p>
        </p:txBody>
      </p:sp>
      <p:sp>
        <p:nvSpPr>
          <p:cNvPr id="15" name="Shape 12"/>
          <p:cNvSpPr/>
          <p:nvPr/>
        </p:nvSpPr>
        <p:spPr>
          <a:xfrm>
            <a:off x="4649008" y="1874520"/>
            <a:ext cx="2564496" cy="384048"/>
          </a:xfrm>
          <a:prstGeom prst="chevron">
            <a:avLst/>
          </a:prstGeom>
          <a:solidFill>
            <a:srgbClr val="CCCCCC"/>
          </a:solidFill>
          <a:ln/>
        </p:spPr>
      </p:sp>
      <p:sp>
        <p:nvSpPr>
          <p:cNvPr id="16" name="Text 13"/>
          <p:cNvSpPr txBox="1"/>
          <p:nvPr/>
        </p:nvSpPr>
        <p:spPr>
          <a:xfrm>
            <a:off x="487760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フェーズ2　実証</a:t>
            </a:r>
            <a:endParaRPr lang="en-US" sz="1400" dirty="0"/>
          </a:p>
        </p:txBody>
      </p:sp>
      <p:sp>
        <p:nvSpPr>
          <p:cNvPr id="17" name="Text 14"/>
          <p:cNvSpPr txBox="1"/>
          <p:nvPr/>
        </p:nvSpPr>
        <p:spPr>
          <a:xfrm>
            <a:off x="464900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2027年10月〜2028年3月</a:t>
            </a:r>
            <a:endParaRPr lang="en-US" sz="1400" dirty="0"/>
          </a:p>
        </p:txBody>
      </p:sp>
      <p:sp>
        <p:nvSpPr>
          <p:cNvPr id="18" name="Shape 15"/>
          <p:cNvSpPr/>
          <p:nvPr/>
        </p:nvSpPr>
        <p:spPr>
          <a:xfrm>
            <a:off x="7176928" y="1874520"/>
            <a:ext cx="2527920" cy="384048"/>
          </a:xfrm>
          <a:prstGeom prst="chevron">
            <a:avLst/>
          </a:prstGeom>
          <a:solidFill>
            <a:srgbClr val="CCCCCC"/>
          </a:solidFill>
          <a:ln/>
        </p:spPr>
      </p:sp>
      <p:sp>
        <p:nvSpPr>
          <p:cNvPr id="19" name="Text 16"/>
          <p:cNvSpPr txBox="1"/>
          <p:nvPr/>
        </p:nvSpPr>
        <p:spPr>
          <a:xfrm>
            <a:off x="7405528" y="1874520"/>
            <a:ext cx="2162160" cy="38404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フェーズ3　移行</a:t>
            </a:r>
            <a:endParaRPr lang="en-US" sz="1400" dirty="0"/>
          </a:p>
        </p:txBody>
      </p:sp>
      <p:sp>
        <p:nvSpPr>
          <p:cNvPr id="20" name="Text 17"/>
          <p:cNvSpPr txBox="1"/>
          <p:nvPr/>
        </p:nvSpPr>
        <p:spPr>
          <a:xfrm>
            <a:off x="7176928" y="2286000"/>
            <a:ext cx="252792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2028年4〜9月</a:t>
            </a:r>
            <a:endParaRPr lang="en-US" sz="1400" dirty="0"/>
          </a:p>
        </p:txBody>
      </p:sp>
      <p:sp>
        <p:nvSpPr>
          <p:cNvPr id="21" name="Text 18"/>
          <p:cNvSpPr txBox="1"/>
          <p:nvPr/>
        </p:nvSpPr>
        <p:spPr>
          <a:xfrm>
            <a:off x="200848" y="274320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運行計画</a:t>
            </a:r>
            <a:endParaRPr lang="en-US" sz="1400" dirty="0"/>
          </a:p>
        </p:txBody>
      </p:sp>
      <p:sp>
        <p:nvSpPr>
          <p:cNvPr id="22" name="Shape 19"/>
          <p:cNvSpPr/>
          <p:nvPr/>
        </p:nvSpPr>
        <p:spPr>
          <a:xfrm>
            <a:off x="200848" y="3383280"/>
            <a:ext cx="9504000" cy="0"/>
          </a:xfrm>
          <a:prstGeom prst="line">
            <a:avLst/>
          </a:prstGeom>
          <a:noFill/>
          <a:ln w="9525">
            <a:solidFill>
              <a:srgbClr val="CCCCCC"/>
            </a:solidFill>
            <a:prstDash val="solid"/>
          </a:ln>
        </p:spPr>
      </p:sp>
      <p:sp>
        <p:nvSpPr>
          <p:cNvPr id="23" name="Shape 20"/>
          <p:cNvSpPr/>
          <p:nvPr/>
        </p:nvSpPr>
        <p:spPr>
          <a:xfrm>
            <a:off x="2166808" y="2798064"/>
            <a:ext cx="2436480" cy="402336"/>
          </a:xfrm>
          <a:prstGeom prst="rect">
            <a:avLst/>
          </a:prstGeom>
          <a:solidFill>
            <a:srgbClr val="E0EEF8"/>
          </a:solidFill>
          <a:ln/>
        </p:spPr>
      </p:sp>
      <p:sp>
        <p:nvSpPr>
          <p:cNvPr id="24" name="Text 21"/>
          <p:cNvSpPr txBox="1"/>
          <p:nvPr/>
        </p:nvSpPr>
        <p:spPr>
          <a:xfrm>
            <a:off x="223081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ダイヤ案の作成</a:t>
            </a:r>
            <a:endParaRPr lang="en-US" sz="1400" dirty="0"/>
          </a:p>
        </p:txBody>
      </p:sp>
      <p:sp>
        <p:nvSpPr>
          <p:cNvPr id="25" name="Shape 22"/>
          <p:cNvSpPr/>
          <p:nvPr/>
        </p:nvSpPr>
        <p:spPr>
          <a:xfrm>
            <a:off x="4694728" y="2798064"/>
            <a:ext cx="2436480" cy="402336"/>
          </a:xfrm>
          <a:prstGeom prst="rect">
            <a:avLst/>
          </a:prstGeom>
          <a:solidFill>
            <a:srgbClr val="E0EEF8"/>
          </a:solidFill>
          <a:ln/>
        </p:spPr>
      </p:sp>
      <p:sp>
        <p:nvSpPr>
          <p:cNvPr id="26" name="Text 23"/>
          <p:cNvSpPr txBox="1"/>
          <p:nvPr/>
        </p:nvSpPr>
        <p:spPr>
          <a:xfrm>
            <a:off x="475873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実証運行と見直し</a:t>
            </a:r>
            <a:endParaRPr lang="en-US" sz="1400" dirty="0"/>
          </a:p>
        </p:txBody>
      </p:sp>
      <p:sp>
        <p:nvSpPr>
          <p:cNvPr id="27" name="Shape 24"/>
          <p:cNvSpPr/>
          <p:nvPr/>
        </p:nvSpPr>
        <p:spPr>
          <a:xfrm>
            <a:off x="7222648" y="2798064"/>
            <a:ext cx="2436480" cy="402336"/>
          </a:xfrm>
          <a:prstGeom prst="rect">
            <a:avLst/>
          </a:prstGeom>
          <a:solidFill>
            <a:srgbClr val="E0EEF8"/>
          </a:solidFill>
          <a:ln/>
        </p:spPr>
      </p:sp>
      <p:sp>
        <p:nvSpPr>
          <p:cNvPr id="28" name="Text 25"/>
          <p:cNvSpPr txBox="1"/>
          <p:nvPr/>
        </p:nvSpPr>
        <p:spPr>
          <a:xfrm>
            <a:off x="7286656" y="279806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本格ダイヤ</a:t>
            </a:r>
            <a:endParaRPr lang="en-US" sz="1400" dirty="0"/>
          </a:p>
        </p:txBody>
      </p:sp>
      <p:sp>
        <p:nvSpPr>
          <p:cNvPr id="29" name="Text 26"/>
          <p:cNvSpPr txBox="1"/>
          <p:nvPr/>
        </p:nvSpPr>
        <p:spPr>
          <a:xfrm>
            <a:off x="200848" y="347472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車両</a:t>
            </a:r>
            <a:endParaRPr lang="en-US" sz="1400" dirty="0"/>
          </a:p>
        </p:txBody>
      </p:sp>
      <p:sp>
        <p:nvSpPr>
          <p:cNvPr id="30" name="Shape 27"/>
          <p:cNvSpPr/>
          <p:nvPr/>
        </p:nvSpPr>
        <p:spPr>
          <a:xfrm>
            <a:off x="200848" y="4114800"/>
            <a:ext cx="9504000" cy="0"/>
          </a:xfrm>
          <a:prstGeom prst="line">
            <a:avLst/>
          </a:prstGeom>
          <a:noFill/>
          <a:ln w="9525">
            <a:solidFill>
              <a:srgbClr val="CCCCCC"/>
            </a:solidFill>
            <a:prstDash val="solid"/>
          </a:ln>
        </p:spPr>
      </p:sp>
      <p:sp>
        <p:nvSpPr>
          <p:cNvPr id="31" name="Shape 28"/>
          <p:cNvSpPr/>
          <p:nvPr/>
        </p:nvSpPr>
        <p:spPr>
          <a:xfrm>
            <a:off x="2166808" y="3529584"/>
            <a:ext cx="1172520" cy="402336"/>
          </a:xfrm>
          <a:prstGeom prst="rect">
            <a:avLst/>
          </a:prstGeom>
          <a:solidFill>
            <a:srgbClr val="000F78"/>
          </a:solidFill>
          <a:ln/>
        </p:spPr>
      </p:sp>
      <p:sp>
        <p:nvSpPr>
          <p:cNvPr id="32" name="Text 29"/>
          <p:cNvSpPr txBox="1"/>
          <p:nvPr/>
        </p:nvSpPr>
        <p:spPr>
          <a:xfrm>
            <a:off x="2230816" y="3529584"/>
            <a:ext cx="1044504"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発注</a:t>
            </a:r>
            <a:endParaRPr lang="en-US" sz="1400" dirty="0"/>
          </a:p>
        </p:txBody>
      </p:sp>
      <p:sp>
        <p:nvSpPr>
          <p:cNvPr id="33" name="Shape 30"/>
          <p:cNvSpPr/>
          <p:nvPr/>
        </p:nvSpPr>
        <p:spPr>
          <a:xfrm>
            <a:off x="3430768" y="3529584"/>
            <a:ext cx="3700440" cy="402336"/>
          </a:xfrm>
          <a:prstGeom prst="rect">
            <a:avLst/>
          </a:prstGeom>
          <a:solidFill>
            <a:srgbClr val="E0EEF8"/>
          </a:solidFill>
          <a:ln/>
        </p:spPr>
      </p:sp>
      <p:sp>
        <p:nvSpPr>
          <p:cNvPr id="34" name="Text 31"/>
          <p:cNvSpPr txBox="1"/>
          <p:nvPr/>
        </p:nvSpPr>
        <p:spPr>
          <a:xfrm>
            <a:off x="3494776" y="3529584"/>
            <a:ext cx="357242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製造・納入</a:t>
            </a:r>
            <a:endParaRPr lang="en-US" sz="1400" dirty="0"/>
          </a:p>
        </p:txBody>
      </p:sp>
      <p:sp>
        <p:nvSpPr>
          <p:cNvPr id="35" name="Shape 32"/>
          <p:cNvSpPr/>
          <p:nvPr/>
        </p:nvSpPr>
        <p:spPr>
          <a:xfrm>
            <a:off x="7222648" y="3529584"/>
            <a:ext cx="2436480" cy="402336"/>
          </a:xfrm>
          <a:prstGeom prst="rect">
            <a:avLst/>
          </a:prstGeom>
          <a:solidFill>
            <a:srgbClr val="E0EEF8"/>
          </a:solidFill>
          <a:ln/>
        </p:spPr>
      </p:sp>
      <p:sp>
        <p:nvSpPr>
          <p:cNvPr id="36" name="Text 33"/>
          <p:cNvSpPr txBox="1"/>
          <p:nvPr/>
        </p:nvSpPr>
        <p:spPr>
          <a:xfrm>
            <a:off x="7286656" y="352958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全車両の配備</a:t>
            </a:r>
            <a:endParaRPr lang="en-US" sz="1400" dirty="0"/>
          </a:p>
        </p:txBody>
      </p:sp>
      <p:sp>
        <p:nvSpPr>
          <p:cNvPr id="37" name="Text 34"/>
          <p:cNvSpPr txBox="1"/>
          <p:nvPr/>
        </p:nvSpPr>
        <p:spPr>
          <a:xfrm>
            <a:off x="200848" y="420624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システム</a:t>
            </a:r>
            <a:endParaRPr lang="en-US" sz="1400" dirty="0"/>
          </a:p>
        </p:txBody>
      </p:sp>
      <p:sp>
        <p:nvSpPr>
          <p:cNvPr id="38" name="Shape 35"/>
          <p:cNvSpPr/>
          <p:nvPr/>
        </p:nvSpPr>
        <p:spPr>
          <a:xfrm>
            <a:off x="200848" y="4846320"/>
            <a:ext cx="9504000" cy="0"/>
          </a:xfrm>
          <a:prstGeom prst="line">
            <a:avLst/>
          </a:prstGeom>
          <a:noFill/>
          <a:ln w="9525">
            <a:solidFill>
              <a:srgbClr val="CCCCCC"/>
            </a:solidFill>
            <a:prstDash val="solid"/>
          </a:ln>
        </p:spPr>
      </p:sp>
      <p:sp>
        <p:nvSpPr>
          <p:cNvPr id="39" name="Shape 36"/>
          <p:cNvSpPr/>
          <p:nvPr/>
        </p:nvSpPr>
        <p:spPr>
          <a:xfrm>
            <a:off x="2166808" y="4261104"/>
            <a:ext cx="2942064" cy="402336"/>
          </a:xfrm>
          <a:prstGeom prst="rect">
            <a:avLst/>
          </a:prstGeom>
          <a:solidFill>
            <a:srgbClr val="E0EEF8"/>
          </a:solidFill>
          <a:ln/>
        </p:spPr>
      </p:sp>
      <p:sp>
        <p:nvSpPr>
          <p:cNvPr id="40" name="Text 37"/>
          <p:cNvSpPr txBox="1"/>
          <p:nvPr/>
        </p:nvSpPr>
        <p:spPr>
          <a:xfrm>
            <a:off x="2230816" y="4261104"/>
            <a:ext cx="2814048"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予約アプリの開発</a:t>
            </a:r>
            <a:endParaRPr lang="en-US" sz="1400" dirty="0"/>
          </a:p>
        </p:txBody>
      </p:sp>
      <p:sp>
        <p:nvSpPr>
          <p:cNvPr id="41" name="Shape 38"/>
          <p:cNvSpPr/>
          <p:nvPr/>
        </p:nvSpPr>
        <p:spPr>
          <a:xfrm>
            <a:off x="5200312" y="4261104"/>
            <a:ext cx="4458816" cy="402336"/>
          </a:xfrm>
          <a:prstGeom prst="rect">
            <a:avLst/>
          </a:prstGeom>
          <a:solidFill>
            <a:srgbClr val="E0EEF8"/>
          </a:solidFill>
          <a:ln/>
        </p:spPr>
      </p:sp>
      <p:sp>
        <p:nvSpPr>
          <p:cNvPr id="42" name="Text 39"/>
          <p:cNvSpPr txBox="1"/>
          <p:nvPr/>
        </p:nvSpPr>
        <p:spPr>
          <a:xfrm>
            <a:off x="5264320" y="4261104"/>
            <a:ext cx="4330800"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試験運用と改良</a:t>
            </a:r>
            <a:endParaRPr lang="en-US" sz="1400" dirty="0"/>
          </a:p>
        </p:txBody>
      </p:sp>
      <p:sp>
        <p:nvSpPr>
          <p:cNvPr id="43" name="Text 40"/>
          <p:cNvSpPr txBox="1"/>
          <p:nvPr/>
        </p:nvSpPr>
        <p:spPr>
          <a:xfrm>
            <a:off x="200848" y="4937760"/>
            <a:ext cx="1828800" cy="5029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利用促進</a:t>
            </a:r>
            <a:endParaRPr lang="en-US" sz="1400" dirty="0"/>
          </a:p>
        </p:txBody>
      </p:sp>
      <p:sp>
        <p:nvSpPr>
          <p:cNvPr id="44" name="Shape 41"/>
          <p:cNvSpPr/>
          <p:nvPr/>
        </p:nvSpPr>
        <p:spPr>
          <a:xfrm>
            <a:off x="4694728" y="4992624"/>
            <a:ext cx="2436480" cy="402336"/>
          </a:xfrm>
          <a:prstGeom prst="rect">
            <a:avLst/>
          </a:prstGeom>
          <a:solidFill>
            <a:srgbClr val="E0EEF8"/>
          </a:solidFill>
          <a:ln/>
        </p:spPr>
      </p:sp>
      <p:sp>
        <p:nvSpPr>
          <p:cNvPr id="45" name="Text 42"/>
          <p:cNvSpPr txBox="1"/>
          <p:nvPr/>
        </p:nvSpPr>
        <p:spPr>
          <a:xfrm>
            <a:off x="475873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沿線への周知</a:t>
            </a:r>
            <a:endParaRPr lang="en-US" sz="1400" dirty="0"/>
          </a:p>
        </p:txBody>
      </p:sp>
      <p:sp>
        <p:nvSpPr>
          <p:cNvPr id="46" name="Shape 43"/>
          <p:cNvSpPr/>
          <p:nvPr/>
        </p:nvSpPr>
        <p:spPr>
          <a:xfrm>
            <a:off x="7222648" y="4992624"/>
            <a:ext cx="2436480" cy="402336"/>
          </a:xfrm>
          <a:prstGeom prst="rect">
            <a:avLst/>
          </a:prstGeom>
          <a:solidFill>
            <a:srgbClr val="E0EEF8"/>
          </a:solidFill>
          <a:ln/>
        </p:spPr>
      </p:sp>
      <p:sp>
        <p:nvSpPr>
          <p:cNvPr id="47" name="Text 44"/>
          <p:cNvSpPr txBox="1"/>
          <p:nvPr/>
        </p:nvSpPr>
        <p:spPr>
          <a:xfrm>
            <a:off x="7286656" y="4992624"/>
            <a:ext cx="2308464" cy="4023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定期券の切替え</a:t>
            </a:r>
            <a:endParaRPr lang="en-US" sz="1400" dirty="0"/>
          </a:p>
        </p:txBody>
      </p:sp>
      <p:sp>
        <p:nvSpPr>
          <p:cNvPr id="48" name="Shape 45"/>
          <p:cNvSpPr/>
          <p:nvPr/>
        </p:nvSpPr>
        <p:spPr>
          <a:xfrm>
            <a:off x="4649008" y="2651760"/>
            <a:ext cx="0" cy="2926080"/>
          </a:xfrm>
          <a:prstGeom prst="line">
            <a:avLst/>
          </a:prstGeom>
          <a:noFill/>
          <a:ln w="9525">
            <a:solidFill>
              <a:srgbClr val="3F3F3F"/>
            </a:solidFill>
            <a:prstDash val="dash"/>
          </a:ln>
        </p:spPr>
      </p:sp>
      <p:sp>
        <p:nvSpPr>
          <p:cNvPr id="49" name="Shape 46"/>
          <p:cNvSpPr/>
          <p:nvPr/>
        </p:nvSpPr>
        <p:spPr>
          <a:xfrm>
            <a:off x="4530136" y="5577840"/>
            <a:ext cx="237744" cy="237744"/>
          </a:xfrm>
          <a:prstGeom prst="diamond">
            <a:avLst/>
          </a:prstGeom>
          <a:solidFill>
            <a:srgbClr val="3F3F3F"/>
          </a:solidFill>
          <a:ln/>
        </p:spPr>
      </p:sp>
      <p:sp>
        <p:nvSpPr>
          <p:cNvPr id="50" name="Text 47"/>
          <p:cNvSpPr txBox="1"/>
          <p:nvPr/>
        </p:nvSpPr>
        <p:spPr>
          <a:xfrm>
            <a:off x="346028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判断：実証の可否</a:t>
            </a:r>
            <a:endParaRPr lang="en-US" sz="1400" dirty="0"/>
          </a:p>
        </p:txBody>
      </p:sp>
      <p:sp>
        <p:nvSpPr>
          <p:cNvPr id="51" name="Shape 48"/>
          <p:cNvSpPr/>
          <p:nvPr/>
        </p:nvSpPr>
        <p:spPr>
          <a:xfrm>
            <a:off x="7176928" y="2651760"/>
            <a:ext cx="0" cy="2926080"/>
          </a:xfrm>
          <a:prstGeom prst="line">
            <a:avLst/>
          </a:prstGeom>
          <a:noFill/>
          <a:ln w="9525">
            <a:solidFill>
              <a:srgbClr val="3F3F3F"/>
            </a:solidFill>
            <a:prstDash val="dash"/>
          </a:ln>
        </p:spPr>
      </p:sp>
      <p:sp>
        <p:nvSpPr>
          <p:cNvPr id="52" name="Shape 49"/>
          <p:cNvSpPr/>
          <p:nvPr/>
        </p:nvSpPr>
        <p:spPr>
          <a:xfrm>
            <a:off x="7058056" y="5577840"/>
            <a:ext cx="237744" cy="237744"/>
          </a:xfrm>
          <a:prstGeom prst="diamond">
            <a:avLst/>
          </a:prstGeom>
          <a:solidFill>
            <a:srgbClr val="3F3F3F"/>
          </a:solidFill>
          <a:ln/>
        </p:spPr>
      </p:sp>
      <p:sp>
        <p:nvSpPr>
          <p:cNvPr id="53" name="Text 50"/>
          <p:cNvSpPr txBox="1"/>
          <p:nvPr/>
        </p:nvSpPr>
        <p:spPr>
          <a:xfrm>
            <a:off x="5988208" y="5833872"/>
            <a:ext cx="23774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判断：本格運行の可否</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沿線の交通は25年で3度の転機を経てきた。2020年の減便以降は利用の減少が加速しており、今回の見直しは2008年以来の大きな転機となる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沿線の交通をめぐる主な出来事</a:t>
            </a:r>
            <a:pPr indent="0" marL="0">
              <a:buNone/>
            </a:pPr>
            <a:r>
              <a:rPr lang="en-US" sz="1100" dirty="0">
                <a:solidFill>
                  <a:srgbClr val="3F3F3F"/>
                </a:solidFill>
                <a:latin typeface="Yu Gothic UI" pitchFamily="34" charset="0"/>
                <a:ea typeface="Yu Gothic UI" pitchFamily="34" charset="-122"/>
                <a:cs typeface="Yu Gothic UI" pitchFamily="34" charset="-120"/>
              </a:rPr>
              <a:t>　（2000〜2026年）</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社史・みなと市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70</a:t>
            </a:r>
            <a:endParaRPr lang="en-US" sz="900" dirty="0"/>
          </a:p>
        </p:txBody>
      </p:sp>
      <p:sp>
        <p:nvSpPr>
          <p:cNvPr id="12" name="Shape 9"/>
          <p:cNvSpPr/>
          <p:nvPr/>
        </p:nvSpPr>
        <p:spPr>
          <a:xfrm>
            <a:off x="566608" y="4023360"/>
            <a:ext cx="8772480" cy="0"/>
          </a:xfrm>
          <a:prstGeom prst="line">
            <a:avLst/>
          </a:prstGeom>
          <a:noFill/>
          <a:ln w="19050">
            <a:solidFill>
              <a:srgbClr val="7F7F7F"/>
            </a:solidFill>
            <a:prstDash val="solid"/>
          </a:ln>
        </p:spPr>
      </p:sp>
      <p:sp>
        <p:nvSpPr>
          <p:cNvPr id="13" name="Shape 10"/>
          <p:cNvSpPr/>
          <p:nvPr/>
        </p:nvSpPr>
        <p:spPr>
          <a:xfrm>
            <a:off x="566608" y="3968496"/>
            <a:ext cx="0" cy="109728"/>
          </a:xfrm>
          <a:prstGeom prst="line">
            <a:avLst/>
          </a:prstGeom>
          <a:noFill/>
          <a:ln w="12700">
            <a:solidFill>
              <a:srgbClr val="7F7F7F"/>
            </a:solidFill>
            <a:prstDash val="solid"/>
          </a:ln>
        </p:spPr>
      </p:sp>
      <p:sp>
        <p:nvSpPr>
          <p:cNvPr id="14" name="Text 11"/>
          <p:cNvSpPr txBox="1"/>
          <p:nvPr/>
        </p:nvSpPr>
        <p:spPr>
          <a:xfrm>
            <a:off x="20084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15" name="Shape 12"/>
          <p:cNvSpPr/>
          <p:nvPr/>
        </p:nvSpPr>
        <p:spPr>
          <a:xfrm>
            <a:off x="2253623" y="3968496"/>
            <a:ext cx="0" cy="109728"/>
          </a:xfrm>
          <a:prstGeom prst="line">
            <a:avLst/>
          </a:prstGeom>
          <a:noFill/>
          <a:ln w="12700">
            <a:solidFill>
              <a:srgbClr val="7F7F7F"/>
            </a:solidFill>
            <a:prstDash val="solid"/>
          </a:ln>
        </p:spPr>
      </p:sp>
      <p:sp>
        <p:nvSpPr>
          <p:cNvPr id="16" name="Text 13"/>
          <p:cNvSpPr txBox="1"/>
          <p:nvPr/>
        </p:nvSpPr>
        <p:spPr>
          <a:xfrm>
            <a:off x="1887863"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2005</a:t>
            </a:r>
            <a:endParaRPr lang="en-US" sz="1200" dirty="0"/>
          </a:p>
        </p:txBody>
      </p:sp>
      <p:sp>
        <p:nvSpPr>
          <p:cNvPr id="17" name="Shape 14"/>
          <p:cNvSpPr/>
          <p:nvPr/>
        </p:nvSpPr>
        <p:spPr>
          <a:xfrm>
            <a:off x="3940638" y="3968496"/>
            <a:ext cx="0" cy="109728"/>
          </a:xfrm>
          <a:prstGeom prst="line">
            <a:avLst/>
          </a:prstGeom>
          <a:noFill/>
          <a:ln w="12700">
            <a:solidFill>
              <a:srgbClr val="7F7F7F"/>
            </a:solidFill>
            <a:prstDash val="solid"/>
          </a:ln>
        </p:spPr>
      </p:sp>
      <p:sp>
        <p:nvSpPr>
          <p:cNvPr id="18" name="Text 15"/>
          <p:cNvSpPr txBox="1"/>
          <p:nvPr/>
        </p:nvSpPr>
        <p:spPr>
          <a:xfrm>
            <a:off x="3574878"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2010</a:t>
            </a:r>
            <a:endParaRPr lang="en-US" sz="1200" dirty="0"/>
          </a:p>
        </p:txBody>
      </p:sp>
      <p:sp>
        <p:nvSpPr>
          <p:cNvPr id="19" name="Shape 16"/>
          <p:cNvSpPr/>
          <p:nvPr/>
        </p:nvSpPr>
        <p:spPr>
          <a:xfrm>
            <a:off x="5627654" y="3968496"/>
            <a:ext cx="0" cy="109728"/>
          </a:xfrm>
          <a:prstGeom prst="line">
            <a:avLst/>
          </a:prstGeom>
          <a:noFill/>
          <a:ln w="12700">
            <a:solidFill>
              <a:srgbClr val="7F7F7F"/>
            </a:solidFill>
            <a:prstDash val="solid"/>
          </a:ln>
        </p:spPr>
      </p:sp>
      <p:sp>
        <p:nvSpPr>
          <p:cNvPr id="20" name="Text 17"/>
          <p:cNvSpPr txBox="1"/>
          <p:nvPr/>
        </p:nvSpPr>
        <p:spPr>
          <a:xfrm>
            <a:off x="5261894"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2015</a:t>
            </a:r>
            <a:endParaRPr lang="en-US" sz="1200" dirty="0"/>
          </a:p>
        </p:txBody>
      </p:sp>
      <p:sp>
        <p:nvSpPr>
          <p:cNvPr id="21" name="Shape 18"/>
          <p:cNvSpPr/>
          <p:nvPr/>
        </p:nvSpPr>
        <p:spPr>
          <a:xfrm>
            <a:off x="7314669" y="3968496"/>
            <a:ext cx="0" cy="109728"/>
          </a:xfrm>
          <a:prstGeom prst="line">
            <a:avLst/>
          </a:prstGeom>
          <a:noFill/>
          <a:ln w="12700">
            <a:solidFill>
              <a:srgbClr val="7F7F7F"/>
            </a:solidFill>
            <a:prstDash val="solid"/>
          </a:ln>
        </p:spPr>
      </p:sp>
      <p:sp>
        <p:nvSpPr>
          <p:cNvPr id="22" name="Text 19"/>
          <p:cNvSpPr txBox="1"/>
          <p:nvPr/>
        </p:nvSpPr>
        <p:spPr>
          <a:xfrm>
            <a:off x="6948909"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2020</a:t>
            </a:r>
            <a:endParaRPr lang="en-US" sz="1200" dirty="0"/>
          </a:p>
        </p:txBody>
      </p:sp>
      <p:sp>
        <p:nvSpPr>
          <p:cNvPr id="23" name="Shape 20"/>
          <p:cNvSpPr/>
          <p:nvPr/>
        </p:nvSpPr>
        <p:spPr>
          <a:xfrm>
            <a:off x="9001685" y="3968496"/>
            <a:ext cx="0" cy="109728"/>
          </a:xfrm>
          <a:prstGeom prst="line">
            <a:avLst/>
          </a:prstGeom>
          <a:noFill/>
          <a:ln w="12700">
            <a:solidFill>
              <a:srgbClr val="7F7F7F"/>
            </a:solidFill>
            <a:prstDash val="solid"/>
          </a:ln>
        </p:spPr>
      </p:sp>
      <p:sp>
        <p:nvSpPr>
          <p:cNvPr id="24" name="Text 21"/>
          <p:cNvSpPr txBox="1"/>
          <p:nvPr/>
        </p:nvSpPr>
        <p:spPr>
          <a:xfrm>
            <a:off x="8635925" y="4114800"/>
            <a:ext cx="731520" cy="274320"/>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2025</a:t>
            </a:r>
            <a:endParaRPr lang="en-US" sz="1200" dirty="0"/>
          </a:p>
        </p:txBody>
      </p:sp>
      <p:sp>
        <p:nvSpPr>
          <p:cNvPr id="25" name="Shape 22"/>
          <p:cNvSpPr/>
          <p:nvPr/>
        </p:nvSpPr>
        <p:spPr>
          <a:xfrm>
            <a:off x="7314669" y="3931920"/>
            <a:ext cx="2024418" cy="182880"/>
          </a:xfrm>
          <a:prstGeom prst="rect">
            <a:avLst/>
          </a:prstGeom>
          <a:solidFill>
            <a:srgbClr val="CCCCCC"/>
          </a:solidFill>
          <a:ln/>
        </p:spPr>
      </p:sp>
      <p:sp>
        <p:nvSpPr>
          <p:cNvPr id="26" name="Text 23"/>
          <p:cNvSpPr txBox="1"/>
          <p:nvPr/>
        </p:nvSpPr>
        <p:spPr>
          <a:xfrm>
            <a:off x="7314669" y="4407408"/>
            <a:ext cx="2024418"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利用の減少が加速</a:t>
            </a:r>
            <a:endParaRPr lang="en-US" sz="1400" dirty="0"/>
          </a:p>
        </p:txBody>
      </p:sp>
      <p:sp>
        <p:nvSpPr>
          <p:cNvPr id="27" name="Shape 24"/>
          <p:cNvSpPr/>
          <p:nvPr/>
        </p:nvSpPr>
        <p:spPr>
          <a:xfrm>
            <a:off x="1578817" y="3474720"/>
            <a:ext cx="0" cy="548640"/>
          </a:xfrm>
          <a:prstGeom prst="line">
            <a:avLst/>
          </a:prstGeom>
          <a:noFill/>
          <a:ln w="9525">
            <a:solidFill>
              <a:srgbClr val="CCCCCC"/>
            </a:solidFill>
            <a:prstDash val="solid"/>
          </a:ln>
        </p:spPr>
      </p:sp>
      <p:sp>
        <p:nvSpPr>
          <p:cNvPr id="28" name="Shape 25"/>
          <p:cNvSpPr/>
          <p:nvPr/>
        </p:nvSpPr>
        <p:spPr>
          <a:xfrm>
            <a:off x="1505665" y="3950208"/>
            <a:ext cx="146304" cy="146304"/>
          </a:xfrm>
          <a:prstGeom prst="ellipse">
            <a:avLst/>
          </a:prstGeom>
          <a:solidFill>
            <a:srgbClr val="7F7F7F"/>
          </a:solidFill>
          <a:ln/>
        </p:spPr>
      </p:sp>
      <p:sp>
        <p:nvSpPr>
          <p:cNvPr id="29" name="Text 26"/>
          <p:cNvSpPr txBox="1"/>
          <p:nvPr/>
        </p:nvSpPr>
        <p:spPr>
          <a:xfrm>
            <a:off x="572977"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2003</a:t>
            </a:r>
            <a:endParaRPr lang="en-US" sz="1200" dirty="0"/>
          </a:p>
        </p:txBody>
      </p:sp>
      <p:sp>
        <p:nvSpPr>
          <p:cNvPr id="30" name="Text 27"/>
          <p:cNvSpPr txBox="1"/>
          <p:nvPr/>
        </p:nvSpPr>
        <p:spPr>
          <a:xfrm>
            <a:off x="572977"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第三セクターに移行</a:t>
            </a:r>
            <a:endParaRPr lang="en-US" sz="1400" dirty="0"/>
          </a:p>
        </p:txBody>
      </p:sp>
      <p:sp>
        <p:nvSpPr>
          <p:cNvPr id="31" name="Shape 28"/>
          <p:cNvSpPr/>
          <p:nvPr/>
        </p:nvSpPr>
        <p:spPr>
          <a:xfrm>
            <a:off x="3265832" y="4023360"/>
            <a:ext cx="0" cy="685800"/>
          </a:xfrm>
          <a:prstGeom prst="line">
            <a:avLst/>
          </a:prstGeom>
          <a:noFill/>
          <a:ln w="9525">
            <a:solidFill>
              <a:srgbClr val="CCCCCC"/>
            </a:solidFill>
            <a:prstDash val="solid"/>
          </a:ln>
        </p:spPr>
      </p:sp>
      <p:sp>
        <p:nvSpPr>
          <p:cNvPr id="32" name="Shape 29"/>
          <p:cNvSpPr/>
          <p:nvPr/>
        </p:nvSpPr>
        <p:spPr>
          <a:xfrm>
            <a:off x="3192680" y="3950208"/>
            <a:ext cx="146304" cy="146304"/>
          </a:xfrm>
          <a:prstGeom prst="ellipse">
            <a:avLst/>
          </a:prstGeom>
          <a:solidFill>
            <a:srgbClr val="7F7F7F"/>
          </a:solidFill>
          <a:ln/>
        </p:spPr>
      </p:sp>
      <p:sp>
        <p:nvSpPr>
          <p:cNvPr id="33" name="Text 30"/>
          <p:cNvSpPr txBox="1"/>
          <p:nvPr/>
        </p:nvSpPr>
        <p:spPr>
          <a:xfrm>
            <a:off x="2259992"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2008</a:t>
            </a:r>
            <a:endParaRPr lang="en-US" sz="1200" dirty="0"/>
          </a:p>
        </p:txBody>
      </p:sp>
      <p:sp>
        <p:nvSpPr>
          <p:cNvPr id="34" name="Text 31"/>
          <p:cNvSpPr txBox="1"/>
          <p:nvPr/>
        </p:nvSpPr>
        <p:spPr>
          <a:xfrm>
            <a:off x="2259992"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上下分離を検討し見送り</a:t>
            </a:r>
            <a:endParaRPr lang="en-US" sz="1400" dirty="0"/>
          </a:p>
        </p:txBody>
      </p:sp>
      <p:sp>
        <p:nvSpPr>
          <p:cNvPr id="35" name="Shape 32"/>
          <p:cNvSpPr/>
          <p:nvPr/>
        </p:nvSpPr>
        <p:spPr>
          <a:xfrm>
            <a:off x="4615445" y="3474720"/>
            <a:ext cx="0" cy="548640"/>
          </a:xfrm>
          <a:prstGeom prst="line">
            <a:avLst/>
          </a:prstGeom>
          <a:noFill/>
          <a:ln w="9525">
            <a:solidFill>
              <a:srgbClr val="CCCCCC"/>
            </a:solidFill>
            <a:prstDash val="solid"/>
          </a:ln>
        </p:spPr>
      </p:sp>
      <p:sp>
        <p:nvSpPr>
          <p:cNvPr id="36" name="Shape 33"/>
          <p:cNvSpPr/>
          <p:nvPr/>
        </p:nvSpPr>
        <p:spPr>
          <a:xfrm>
            <a:off x="4542293" y="3950208"/>
            <a:ext cx="146304" cy="146304"/>
          </a:xfrm>
          <a:prstGeom prst="ellipse">
            <a:avLst/>
          </a:prstGeom>
          <a:solidFill>
            <a:srgbClr val="7F7F7F"/>
          </a:solidFill>
          <a:ln/>
        </p:spPr>
      </p:sp>
      <p:sp>
        <p:nvSpPr>
          <p:cNvPr id="37" name="Text 34"/>
          <p:cNvSpPr txBox="1"/>
          <p:nvPr/>
        </p:nvSpPr>
        <p:spPr>
          <a:xfrm>
            <a:off x="3609605"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2012</a:t>
            </a:r>
            <a:endParaRPr lang="en-US" sz="1200" dirty="0"/>
          </a:p>
        </p:txBody>
      </p:sp>
      <p:sp>
        <p:nvSpPr>
          <p:cNvPr id="38" name="Text 35"/>
          <p:cNvSpPr txBox="1"/>
          <p:nvPr/>
        </p:nvSpPr>
        <p:spPr>
          <a:xfrm>
            <a:off x="3609605"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駅の無人化（6駅）</a:t>
            </a:r>
            <a:endParaRPr lang="en-US" sz="1400" dirty="0"/>
          </a:p>
        </p:txBody>
      </p:sp>
      <p:sp>
        <p:nvSpPr>
          <p:cNvPr id="39" name="Shape 36"/>
          <p:cNvSpPr/>
          <p:nvPr/>
        </p:nvSpPr>
        <p:spPr>
          <a:xfrm>
            <a:off x="5965057" y="4023360"/>
            <a:ext cx="0" cy="685800"/>
          </a:xfrm>
          <a:prstGeom prst="line">
            <a:avLst/>
          </a:prstGeom>
          <a:noFill/>
          <a:ln w="9525">
            <a:solidFill>
              <a:srgbClr val="CCCCCC"/>
            </a:solidFill>
            <a:prstDash val="solid"/>
          </a:ln>
        </p:spPr>
      </p:sp>
      <p:sp>
        <p:nvSpPr>
          <p:cNvPr id="40" name="Shape 37"/>
          <p:cNvSpPr/>
          <p:nvPr/>
        </p:nvSpPr>
        <p:spPr>
          <a:xfrm>
            <a:off x="5891905" y="3950208"/>
            <a:ext cx="146304" cy="146304"/>
          </a:xfrm>
          <a:prstGeom prst="ellipse">
            <a:avLst/>
          </a:prstGeom>
          <a:solidFill>
            <a:srgbClr val="7F7F7F"/>
          </a:solidFill>
          <a:ln/>
        </p:spPr>
      </p:sp>
      <p:sp>
        <p:nvSpPr>
          <p:cNvPr id="41" name="Text 38"/>
          <p:cNvSpPr txBox="1"/>
          <p:nvPr/>
        </p:nvSpPr>
        <p:spPr>
          <a:xfrm>
            <a:off x="4959217" y="47091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2016</a:t>
            </a:r>
            <a:endParaRPr lang="en-US" sz="1200" dirty="0"/>
          </a:p>
        </p:txBody>
      </p:sp>
      <p:sp>
        <p:nvSpPr>
          <p:cNvPr id="42" name="Text 39"/>
          <p:cNvSpPr txBox="1"/>
          <p:nvPr/>
        </p:nvSpPr>
        <p:spPr>
          <a:xfrm>
            <a:off x="4959217" y="49834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沿線高校の統合</a:t>
            </a:r>
            <a:endParaRPr lang="en-US" sz="1400" dirty="0"/>
          </a:p>
        </p:txBody>
      </p:sp>
      <p:sp>
        <p:nvSpPr>
          <p:cNvPr id="43" name="Shape 40"/>
          <p:cNvSpPr/>
          <p:nvPr/>
        </p:nvSpPr>
        <p:spPr>
          <a:xfrm>
            <a:off x="7314669" y="3474720"/>
            <a:ext cx="0" cy="548640"/>
          </a:xfrm>
          <a:prstGeom prst="line">
            <a:avLst/>
          </a:prstGeom>
          <a:noFill/>
          <a:ln w="9525">
            <a:solidFill>
              <a:srgbClr val="CCCCCC"/>
            </a:solidFill>
            <a:prstDash val="solid"/>
          </a:ln>
        </p:spPr>
      </p:sp>
      <p:sp>
        <p:nvSpPr>
          <p:cNvPr id="44" name="Shape 41"/>
          <p:cNvSpPr/>
          <p:nvPr/>
        </p:nvSpPr>
        <p:spPr>
          <a:xfrm>
            <a:off x="7241517" y="3950208"/>
            <a:ext cx="146304" cy="146304"/>
          </a:xfrm>
          <a:prstGeom prst="ellipse">
            <a:avLst/>
          </a:prstGeom>
          <a:solidFill>
            <a:srgbClr val="7F7F7F"/>
          </a:solidFill>
          <a:ln/>
        </p:spPr>
      </p:sp>
      <p:sp>
        <p:nvSpPr>
          <p:cNvPr id="45" name="Text 42"/>
          <p:cNvSpPr txBox="1"/>
          <p:nvPr/>
        </p:nvSpPr>
        <p:spPr>
          <a:xfrm>
            <a:off x="6308829" y="2880360"/>
            <a:ext cx="2011680" cy="27432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2020</a:t>
            </a:r>
            <a:endParaRPr lang="en-US" sz="1200" dirty="0"/>
          </a:p>
        </p:txBody>
      </p:sp>
      <p:sp>
        <p:nvSpPr>
          <p:cNvPr id="46" name="Text 43"/>
          <p:cNvSpPr txBox="1"/>
          <p:nvPr/>
        </p:nvSpPr>
        <p:spPr>
          <a:xfrm>
            <a:off x="6308829" y="3154680"/>
            <a:ext cx="2011680" cy="3200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減便（1日32→24本）</a:t>
            </a:r>
            <a:endParaRPr lang="en-US" sz="1400" dirty="0"/>
          </a:p>
        </p:txBody>
      </p:sp>
      <p:sp>
        <p:nvSpPr>
          <p:cNvPr id="47" name="Shape 44"/>
          <p:cNvSpPr/>
          <p:nvPr/>
        </p:nvSpPr>
        <p:spPr>
          <a:xfrm>
            <a:off x="9339088" y="4023360"/>
            <a:ext cx="0" cy="685800"/>
          </a:xfrm>
          <a:prstGeom prst="line">
            <a:avLst/>
          </a:prstGeom>
          <a:noFill/>
          <a:ln w="9525">
            <a:solidFill>
              <a:srgbClr val="000F78"/>
            </a:solidFill>
            <a:prstDash val="solid"/>
          </a:ln>
        </p:spPr>
      </p:sp>
      <p:sp>
        <p:nvSpPr>
          <p:cNvPr id="48" name="Shape 45"/>
          <p:cNvSpPr/>
          <p:nvPr/>
        </p:nvSpPr>
        <p:spPr>
          <a:xfrm>
            <a:off x="9201928" y="3886200"/>
            <a:ext cx="274320" cy="274320"/>
          </a:xfrm>
          <a:prstGeom prst="ellipse">
            <a:avLst/>
          </a:prstGeom>
          <a:solidFill>
            <a:srgbClr val="000F78"/>
          </a:solidFill>
          <a:ln/>
        </p:spPr>
      </p:sp>
      <p:sp>
        <p:nvSpPr>
          <p:cNvPr id="49" name="Text 46"/>
          <p:cNvSpPr txBox="1"/>
          <p:nvPr/>
        </p:nvSpPr>
        <p:spPr>
          <a:xfrm>
            <a:off x="7693168" y="4709160"/>
            <a:ext cx="2011680" cy="274320"/>
          </a:xfrm>
          <a:prstGeom prst="rect">
            <a:avLst/>
          </a:prstGeom>
          <a:noFill/>
          <a:ln/>
        </p:spPr>
        <p:txBody>
          <a:bodyPr wrap="square" lIns="0" tIns="0" rIns="0" bIns="0" rtlCol="0" anchor="t"/>
          <a:lstStyle/>
          <a:p>
            <a:pPr algn="r" indent="0" marL="0">
              <a:buNone/>
            </a:pPr>
            <a:r>
              <a:rPr lang="en-US" sz="1200" b="1" dirty="0">
                <a:solidFill>
                  <a:srgbClr val="000F78"/>
                </a:solidFill>
                <a:latin typeface="Arial" pitchFamily="34" charset="0"/>
                <a:ea typeface="Arial" pitchFamily="34" charset="-122"/>
                <a:cs typeface="Arial" pitchFamily="34" charset="-120"/>
              </a:rPr>
              <a:t>2026</a:t>
            </a:r>
            <a:endParaRPr lang="en-US" sz="1200" dirty="0"/>
          </a:p>
        </p:txBody>
      </p:sp>
      <p:sp>
        <p:nvSpPr>
          <p:cNvPr id="50" name="Text 47"/>
          <p:cNvSpPr txBox="1"/>
          <p:nvPr/>
        </p:nvSpPr>
        <p:spPr>
          <a:xfrm>
            <a:off x="7693168" y="4983480"/>
            <a:ext cx="2011680" cy="32004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運営形態の見直し</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3つの運営形態のうち、上下分離案は町の負担を年4.1億円減らしつつ運行を続けられる。費用と継続性の両面で最も優れ、推奨案とする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運営形態の3案の比較</a:t>
            </a:r>
            <a:pPr indent="0" marL="0">
              <a:buNone/>
            </a:pPr>
            <a:r>
              <a:rPr lang="en-US" sz="1100" dirty="0">
                <a:solidFill>
                  <a:srgbClr val="3F3F3F"/>
                </a:solidFill>
                <a:latin typeface="Yu Gothic UI" pitchFamily="34" charset="0"/>
                <a:ea typeface="Yu Gothic UI" pitchFamily="34" charset="-122"/>
                <a:cs typeface="Yu Gothic UI" pitchFamily="34" charset="-120"/>
              </a:rPr>
              <a:t>　（町の負担は2030年度の試算）</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注）町の負担は2030年度の試算。補助制度は現行のものを前提とした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71</a:t>
            </a:r>
            <a:endParaRPr lang="en-US" sz="900" dirty="0"/>
          </a:p>
        </p:txBody>
      </p:sp>
      <p:sp>
        <p:nvSpPr>
          <p:cNvPr id="12" name="Shape 9"/>
          <p:cNvSpPr/>
          <p:nvPr/>
        </p:nvSpPr>
        <p:spPr>
          <a:xfrm>
            <a:off x="200848" y="1965960"/>
            <a:ext cx="3015600" cy="4069080"/>
          </a:xfrm>
          <a:prstGeom prst="rect">
            <a:avLst/>
          </a:prstGeom>
          <a:solidFill>
            <a:srgbClr val="FFFFFF"/>
          </a:solidFill>
          <a:ln w="9525">
            <a:solidFill>
              <a:srgbClr val="CCCCCC"/>
            </a:solidFill>
            <a:prstDash val="solid"/>
          </a:ln>
        </p:spPr>
      </p:sp>
      <p:sp>
        <p:nvSpPr>
          <p:cNvPr id="13" name="Text 10"/>
          <p:cNvSpPr txBox="1"/>
          <p:nvPr/>
        </p:nvSpPr>
        <p:spPr>
          <a:xfrm>
            <a:off x="3837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A　現状維持</a:t>
            </a:r>
            <a:endParaRPr lang="en-US" sz="1600" dirty="0"/>
          </a:p>
        </p:txBody>
      </p:sp>
      <p:sp>
        <p:nvSpPr>
          <p:cNvPr id="14" name="Shape 11"/>
          <p:cNvSpPr/>
          <p:nvPr/>
        </p:nvSpPr>
        <p:spPr>
          <a:xfrm>
            <a:off x="383728" y="2606040"/>
            <a:ext cx="2649840" cy="0"/>
          </a:xfrm>
          <a:prstGeom prst="line">
            <a:avLst/>
          </a:prstGeom>
          <a:noFill/>
          <a:ln w="9525">
            <a:solidFill>
              <a:srgbClr val="CCCCCC"/>
            </a:solidFill>
            <a:prstDash val="solid"/>
          </a:ln>
        </p:spPr>
      </p:sp>
      <p:sp>
        <p:nvSpPr>
          <p:cNvPr id="15" name="Text 12"/>
          <p:cNvSpPr txBox="1"/>
          <p:nvPr/>
        </p:nvSpPr>
        <p:spPr>
          <a:xfrm>
            <a:off x="3837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16" name="Text 13"/>
          <p:cNvSpPr txBox="1"/>
          <p:nvPr/>
        </p:nvSpPr>
        <p:spPr>
          <a:xfrm>
            <a:off x="3837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町が赤字を補填し続ける</a:t>
            </a:r>
            <a:endParaRPr lang="en-US" sz="1400" dirty="0"/>
          </a:p>
        </p:txBody>
      </p:sp>
      <p:sp>
        <p:nvSpPr>
          <p:cNvPr id="17" name="Text 14"/>
          <p:cNvSpPr txBox="1"/>
          <p:nvPr/>
        </p:nvSpPr>
        <p:spPr>
          <a:xfrm>
            <a:off x="3837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18" name="Text 15"/>
          <p:cNvSpPr txBox="1"/>
          <p:nvPr/>
        </p:nvSpPr>
        <p:spPr>
          <a:xfrm>
            <a:off x="3837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6.3</a:t>
            </a:r>
            <a:endParaRPr lang="en-US" sz="3200" dirty="0"/>
          </a:p>
        </p:txBody>
      </p:sp>
      <p:sp>
        <p:nvSpPr>
          <p:cNvPr id="19" name="Text 16"/>
          <p:cNvSpPr txBox="1"/>
          <p:nvPr/>
        </p:nvSpPr>
        <p:spPr>
          <a:xfrm>
            <a:off x="3837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20" name="Text 17"/>
          <p:cNvSpPr txBox="1"/>
          <p:nvPr/>
        </p:nvSpPr>
        <p:spPr>
          <a:xfrm>
            <a:off x="3837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高い</a:t>
            </a:r>
            <a:endParaRPr lang="en-US" sz="1400" dirty="0"/>
          </a:p>
        </p:txBody>
      </p:sp>
      <p:sp>
        <p:nvSpPr>
          <p:cNvPr id="21" name="Text 18"/>
          <p:cNvSpPr txBox="1"/>
          <p:nvPr/>
        </p:nvSpPr>
        <p:spPr>
          <a:xfrm>
            <a:off x="3837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22" name="Text 19"/>
          <p:cNvSpPr txBox="1"/>
          <p:nvPr/>
        </p:nvSpPr>
        <p:spPr>
          <a:xfrm>
            <a:off x="3837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運行は続くが負担が増え続ける</a:t>
            </a:r>
            <a:endParaRPr lang="en-US" sz="1400" dirty="0"/>
          </a:p>
        </p:txBody>
      </p:sp>
      <p:sp>
        <p:nvSpPr>
          <p:cNvPr id="23" name="Shape 20"/>
          <p:cNvSpPr/>
          <p:nvPr/>
        </p:nvSpPr>
        <p:spPr>
          <a:xfrm>
            <a:off x="3445048" y="1965960"/>
            <a:ext cx="3015600" cy="4069080"/>
          </a:xfrm>
          <a:prstGeom prst="rect">
            <a:avLst/>
          </a:prstGeom>
          <a:solidFill>
            <a:srgbClr val="FFFFFF"/>
          </a:solidFill>
          <a:ln w="25400">
            <a:solidFill>
              <a:srgbClr val="000F78"/>
            </a:solidFill>
            <a:prstDash val="solid"/>
          </a:ln>
        </p:spPr>
      </p:sp>
      <p:sp>
        <p:nvSpPr>
          <p:cNvPr id="24" name="Shape 21"/>
          <p:cNvSpPr/>
          <p:nvPr/>
        </p:nvSpPr>
        <p:spPr>
          <a:xfrm>
            <a:off x="5637688" y="1801368"/>
            <a:ext cx="685800" cy="310896"/>
          </a:xfrm>
          <a:prstGeom prst="rect">
            <a:avLst/>
          </a:prstGeom>
          <a:solidFill>
            <a:srgbClr val="000F78"/>
          </a:solidFill>
          <a:ln/>
        </p:spPr>
      </p:sp>
      <p:sp>
        <p:nvSpPr>
          <p:cNvPr id="25" name="Text 22"/>
          <p:cNvSpPr txBox="1"/>
          <p:nvPr/>
        </p:nvSpPr>
        <p:spPr>
          <a:xfrm>
            <a:off x="5637688" y="1801368"/>
            <a:ext cx="685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推奨</a:t>
            </a:r>
            <a:endParaRPr lang="en-US" sz="1400" dirty="0"/>
          </a:p>
        </p:txBody>
      </p:sp>
      <p:sp>
        <p:nvSpPr>
          <p:cNvPr id="26" name="Text 23"/>
          <p:cNvSpPr txBox="1"/>
          <p:nvPr/>
        </p:nvSpPr>
        <p:spPr>
          <a:xfrm>
            <a:off x="3627928" y="2148840"/>
            <a:ext cx="2649840" cy="365760"/>
          </a:xfrm>
          <a:prstGeom prst="rect">
            <a:avLst/>
          </a:prstGeom>
          <a:noFill/>
          <a:ln/>
        </p:spPr>
        <p:txBody>
          <a:bodyPr wrap="square" lIns="0" tIns="0" rIns="0" bIns="0" rtlCol="0" anchor="t"/>
          <a:lstStyle/>
          <a:p>
            <a:pPr indent="0" marL="0">
              <a:buNone/>
            </a:pPr>
            <a:r>
              <a:rPr lang="en-US" sz="1600" b="1" dirty="0">
                <a:solidFill>
                  <a:srgbClr val="000F78"/>
                </a:solidFill>
                <a:latin typeface="Yu Gothic UI" pitchFamily="34" charset="0"/>
                <a:ea typeface="Yu Gothic UI" pitchFamily="34" charset="-122"/>
                <a:cs typeface="Yu Gothic UI" pitchFamily="34" charset="-120"/>
              </a:rPr>
              <a:t>B　上下分離</a:t>
            </a:r>
            <a:endParaRPr lang="en-US" sz="1600" dirty="0"/>
          </a:p>
        </p:txBody>
      </p:sp>
      <p:sp>
        <p:nvSpPr>
          <p:cNvPr id="27" name="Shape 24"/>
          <p:cNvSpPr/>
          <p:nvPr/>
        </p:nvSpPr>
        <p:spPr>
          <a:xfrm>
            <a:off x="3627928" y="2606040"/>
            <a:ext cx="2649840" cy="0"/>
          </a:xfrm>
          <a:prstGeom prst="line">
            <a:avLst/>
          </a:prstGeom>
          <a:noFill/>
          <a:ln w="9525">
            <a:solidFill>
              <a:srgbClr val="CCCCCC"/>
            </a:solidFill>
            <a:prstDash val="solid"/>
          </a:ln>
        </p:spPr>
      </p:sp>
      <p:sp>
        <p:nvSpPr>
          <p:cNvPr id="28" name="Text 25"/>
          <p:cNvSpPr txBox="1"/>
          <p:nvPr/>
        </p:nvSpPr>
        <p:spPr>
          <a:xfrm>
            <a:off x="36279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29" name="Text 26"/>
          <p:cNvSpPr txBox="1"/>
          <p:nvPr/>
        </p:nvSpPr>
        <p:spPr>
          <a:xfrm>
            <a:off x="36279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施設は町、運行は会社が担う</a:t>
            </a:r>
            <a:endParaRPr lang="en-US" sz="1400" dirty="0"/>
          </a:p>
        </p:txBody>
      </p:sp>
      <p:sp>
        <p:nvSpPr>
          <p:cNvPr id="30" name="Text 27"/>
          <p:cNvSpPr txBox="1"/>
          <p:nvPr/>
        </p:nvSpPr>
        <p:spPr>
          <a:xfrm>
            <a:off x="36279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31" name="Text 28"/>
          <p:cNvSpPr txBox="1"/>
          <p:nvPr/>
        </p:nvSpPr>
        <p:spPr>
          <a:xfrm>
            <a:off x="3627928" y="3749040"/>
            <a:ext cx="2649840" cy="594360"/>
          </a:xfrm>
          <a:prstGeom prst="rect">
            <a:avLst/>
          </a:prstGeom>
          <a:noFill/>
          <a:ln/>
        </p:spPr>
        <p:txBody>
          <a:bodyPr wrap="square" lIns="0" tIns="0" rIns="0" bIns="0" rtlCol="0" anchor="t"/>
          <a:lstStyle/>
          <a:p>
            <a:pPr indent="0" marL="0">
              <a:buNone/>
            </a:pPr>
            <a:r>
              <a:rPr lang="en-US" sz="3200" b="1" dirty="0">
                <a:solidFill>
                  <a:srgbClr val="000F78"/>
                </a:solidFill>
                <a:latin typeface="Arial" pitchFamily="34" charset="0"/>
                <a:ea typeface="Arial" pitchFamily="34" charset="-122"/>
                <a:cs typeface="Arial" pitchFamily="34" charset="-120"/>
              </a:rPr>
              <a:t>2.2</a:t>
            </a:r>
            <a:endParaRPr lang="en-US" sz="3200" dirty="0"/>
          </a:p>
        </p:txBody>
      </p:sp>
      <p:sp>
        <p:nvSpPr>
          <p:cNvPr id="32" name="Text 29"/>
          <p:cNvSpPr txBox="1"/>
          <p:nvPr/>
        </p:nvSpPr>
        <p:spPr>
          <a:xfrm>
            <a:off x="36279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33" name="Text 30"/>
          <p:cNvSpPr txBox="1"/>
          <p:nvPr/>
        </p:nvSpPr>
        <p:spPr>
          <a:xfrm>
            <a:off x="3627928" y="4910328"/>
            <a:ext cx="2649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中程度</a:t>
            </a:r>
            <a:endParaRPr lang="en-US" sz="1400" dirty="0"/>
          </a:p>
        </p:txBody>
      </p:sp>
      <p:sp>
        <p:nvSpPr>
          <p:cNvPr id="34" name="Text 31"/>
          <p:cNvSpPr txBox="1"/>
          <p:nvPr/>
        </p:nvSpPr>
        <p:spPr>
          <a:xfrm>
            <a:off x="36279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35" name="Text 32"/>
          <p:cNvSpPr txBox="1"/>
          <p:nvPr/>
        </p:nvSpPr>
        <p:spPr>
          <a:xfrm>
            <a:off x="3627928" y="5504688"/>
            <a:ext cx="2649840" cy="5486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補助制度の採択が前提</a:t>
            </a:r>
            <a:endParaRPr lang="en-US" sz="1400" dirty="0"/>
          </a:p>
        </p:txBody>
      </p:sp>
      <p:sp>
        <p:nvSpPr>
          <p:cNvPr id="36" name="Shape 33"/>
          <p:cNvSpPr/>
          <p:nvPr/>
        </p:nvSpPr>
        <p:spPr>
          <a:xfrm>
            <a:off x="6689248" y="1965960"/>
            <a:ext cx="3015600" cy="4069080"/>
          </a:xfrm>
          <a:prstGeom prst="rect">
            <a:avLst/>
          </a:prstGeom>
          <a:solidFill>
            <a:srgbClr val="FFFFFF"/>
          </a:solidFill>
          <a:ln w="9525">
            <a:solidFill>
              <a:srgbClr val="CCCCCC"/>
            </a:solidFill>
            <a:prstDash val="solid"/>
          </a:ln>
        </p:spPr>
      </p:sp>
      <p:sp>
        <p:nvSpPr>
          <p:cNvPr id="37" name="Text 34"/>
          <p:cNvSpPr txBox="1"/>
          <p:nvPr/>
        </p:nvSpPr>
        <p:spPr>
          <a:xfrm>
            <a:off x="6872128" y="2148840"/>
            <a:ext cx="2649840" cy="365760"/>
          </a:xfrm>
          <a:prstGeom prst="rect">
            <a:avLst/>
          </a:prstGeom>
          <a:noFill/>
          <a:ln/>
        </p:spPr>
        <p:txBody>
          <a:bodyPr wrap="square" lIns="0" tIns="0" rIns="0" bIns="0" rtlCol="0" anchor="t"/>
          <a:lstStyle/>
          <a:p>
            <a:pPr indent="0" marL="0">
              <a:buNone/>
            </a:pPr>
            <a:r>
              <a:rPr lang="en-US" sz="1600" b="1" dirty="0">
                <a:solidFill>
                  <a:srgbClr val="3F3F3F"/>
                </a:solidFill>
                <a:latin typeface="Yu Gothic UI" pitchFamily="34" charset="0"/>
                <a:ea typeface="Yu Gothic UI" pitchFamily="34" charset="-122"/>
                <a:cs typeface="Yu Gothic UI" pitchFamily="34" charset="-120"/>
              </a:rPr>
              <a:t>C　バス転換</a:t>
            </a:r>
            <a:endParaRPr lang="en-US" sz="1600" dirty="0"/>
          </a:p>
        </p:txBody>
      </p:sp>
      <p:sp>
        <p:nvSpPr>
          <p:cNvPr id="38" name="Shape 35"/>
          <p:cNvSpPr/>
          <p:nvPr/>
        </p:nvSpPr>
        <p:spPr>
          <a:xfrm>
            <a:off x="6872128" y="2606040"/>
            <a:ext cx="2649840" cy="0"/>
          </a:xfrm>
          <a:prstGeom prst="line">
            <a:avLst/>
          </a:prstGeom>
          <a:noFill/>
          <a:ln w="9525">
            <a:solidFill>
              <a:srgbClr val="CCCCCC"/>
            </a:solidFill>
            <a:prstDash val="solid"/>
          </a:ln>
        </p:spPr>
      </p:sp>
      <p:sp>
        <p:nvSpPr>
          <p:cNvPr id="39" name="Text 36"/>
          <p:cNvSpPr txBox="1"/>
          <p:nvPr/>
        </p:nvSpPr>
        <p:spPr>
          <a:xfrm>
            <a:off x="6872128" y="269748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概要</a:t>
            </a:r>
            <a:endParaRPr lang="en-US" sz="1400" dirty="0"/>
          </a:p>
        </p:txBody>
      </p:sp>
      <p:sp>
        <p:nvSpPr>
          <p:cNvPr id="40" name="Text 37"/>
          <p:cNvSpPr txBox="1"/>
          <p:nvPr/>
        </p:nvSpPr>
        <p:spPr>
          <a:xfrm>
            <a:off x="6872128" y="294436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鉄道を廃止しバスで代替する</a:t>
            </a:r>
            <a:endParaRPr lang="en-US" sz="1400" dirty="0"/>
          </a:p>
        </p:txBody>
      </p:sp>
      <p:sp>
        <p:nvSpPr>
          <p:cNvPr id="41" name="Text 38"/>
          <p:cNvSpPr txBox="1"/>
          <p:nvPr/>
        </p:nvSpPr>
        <p:spPr>
          <a:xfrm>
            <a:off x="6872128" y="3520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町の負担（億円／年）</a:t>
            </a:r>
            <a:endParaRPr lang="en-US" sz="1400" dirty="0"/>
          </a:p>
        </p:txBody>
      </p:sp>
      <p:sp>
        <p:nvSpPr>
          <p:cNvPr id="42" name="Text 39"/>
          <p:cNvSpPr txBox="1"/>
          <p:nvPr/>
        </p:nvSpPr>
        <p:spPr>
          <a:xfrm>
            <a:off x="6872128" y="3749040"/>
            <a:ext cx="2649840"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1.5</a:t>
            </a:r>
            <a:endParaRPr lang="en-US" sz="3200" dirty="0"/>
          </a:p>
        </p:txBody>
      </p:sp>
      <p:sp>
        <p:nvSpPr>
          <p:cNvPr id="43" name="Text 40"/>
          <p:cNvSpPr txBox="1"/>
          <p:nvPr/>
        </p:nvSpPr>
        <p:spPr>
          <a:xfrm>
            <a:off x="6872128" y="466344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継続性</a:t>
            </a:r>
            <a:endParaRPr lang="en-US" sz="1400" dirty="0"/>
          </a:p>
        </p:txBody>
      </p:sp>
      <p:sp>
        <p:nvSpPr>
          <p:cNvPr id="44" name="Text 41"/>
          <p:cNvSpPr txBox="1"/>
          <p:nvPr/>
        </p:nvSpPr>
        <p:spPr>
          <a:xfrm>
            <a:off x="6872128" y="4910328"/>
            <a:ext cx="264984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低い</a:t>
            </a:r>
            <a:endParaRPr lang="en-US" sz="1400" dirty="0"/>
          </a:p>
        </p:txBody>
      </p:sp>
      <p:sp>
        <p:nvSpPr>
          <p:cNvPr id="45" name="Text 42"/>
          <p:cNvSpPr txBox="1"/>
          <p:nvPr/>
        </p:nvSpPr>
        <p:spPr>
          <a:xfrm>
            <a:off x="6872128" y="5257800"/>
            <a:ext cx="264984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主なリスク</a:t>
            </a:r>
            <a:endParaRPr lang="en-US" sz="1400" dirty="0"/>
          </a:p>
        </p:txBody>
      </p:sp>
      <p:sp>
        <p:nvSpPr>
          <p:cNvPr id="46" name="Text 43"/>
          <p:cNvSpPr txBox="1"/>
          <p:nvPr/>
        </p:nvSpPr>
        <p:spPr>
          <a:xfrm>
            <a:off x="6872128" y="5504688"/>
            <a:ext cx="264984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利用者の3割が離れる恐れ</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8者の関係者のうち、影響力が大きく関心の低い県を早期に巻き込むことが鍵である。県の補助が上下分離案の前提となるため、年内に協議を始める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関係者の影響力と関心</a:t>
            </a:r>
            <a:pPr indent="0" marL="0">
              <a:buNone/>
            </a:pPr>
            <a:r>
              <a:rPr lang="en-US" sz="1100" dirty="0">
                <a:solidFill>
                  <a:srgbClr val="3F3F3F"/>
                </a:solidFill>
                <a:latin typeface="Yu Gothic UI" pitchFamily="34" charset="0"/>
                <a:ea typeface="Yu Gothic UI" pitchFamily="34" charset="-122"/>
                <a:cs typeface="Yu Gothic UI" pitchFamily="34" charset="-120"/>
              </a:rPr>
              <a:t>　（ヒアリングを基に評価）</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023808" y="5806440"/>
            <a:ext cx="5852160" cy="0"/>
          </a:xfrm>
          <a:prstGeom prst="line">
            <a:avLst/>
          </a:prstGeom>
          <a:noFill/>
          <a:ln w="12700">
            <a:solidFill>
              <a:srgbClr val="7F7F7F"/>
            </a:solidFill>
            <a:prstDash val="solid"/>
          </a:ln>
        </p:spPr>
      </p:sp>
      <p:sp>
        <p:nvSpPr>
          <p:cNvPr id="13" name="Shape 10"/>
          <p:cNvSpPr/>
          <p:nvPr/>
        </p:nvSpPr>
        <p:spPr>
          <a:xfrm>
            <a:off x="1023808" y="1965960"/>
            <a:ext cx="0" cy="3840480"/>
          </a:xfrm>
          <a:prstGeom prst="line">
            <a:avLst/>
          </a:prstGeom>
          <a:noFill/>
          <a:ln w="12700">
            <a:solidFill>
              <a:srgbClr val="7F7F7F"/>
            </a:solidFill>
            <a:prstDash val="solid"/>
          </a:ln>
        </p:spPr>
      </p:sp>
      <p:sp>
        <p:nvSpPr>
          <p:cNvPr id="14" name="Shape 11"/>
          <p:cNvSpPr/>
          <p:nvPr/>
        </p:nvSpPr>
        <p:spPr>
          <a:xfrm>
            <a:off x="3949888" y="1965960"/>
            <a:ext cx="0" cy="3840480"/>
          </a:xfrm>
          <a:prstGeom prst="line">
            <a:avLst/>
          </a:prstGeom>
          <a:noFill/>
          <a:ln w="9525">
            <a:solidFill>
              <a:srgbClr val="CCCCCC"/>
            </a:solidFill>
            <a:prstDash val="dash"/>
          </a:ln>
        </p:spPr>
      </p:sp>
      <p:sp>
        <p:nvSpPr>
          <p:cNvPr id="15" name="Shape 12"/>
          <p:cNvSpPr/>
          <p:nvPr/>
        </p:nvSpPr>
        <p:spPr>
          <a:xfrm>
            <a:off x="1023808" y="3886200"/>
            <a:ext cx="5852160" cy="0"/>
          </a:xfrm>
          <a:prstGeom prst="line">
            <a:avLst/>
          </a:prstGeom>
          <a:noFill/>
          <a:ln w="9525">
            <a:solidFill>
              <a:srgbClr val="CCCCCC"/>
            </a:solidFill>
            <a:prstDash val="dash"/>
          </a:ln>
        </p:spPr>
      </p:sp>
      <p:sp>
        <p:nvSpPr>
          <p:cNvPr id="16" name="Text 13"/>
          <p:cNvSpPr txBox="1"/>
          <p:nvPr/>
        </p:nvSpPr>
        <p:spPr>
          <a:xfrm>
            <a:off x="200848" y="1920240"/>
            <a:ext cx="7772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影響力</a:t>
            </a:r>
            <a:endParaRPr lang="en-US" sz="1400" dirty="0"/>
          </a:p>
        </p:txBody>
      </p:sp>
      <p:sp>
        <p:nvSpPr>
          <p:cNvPr id="17" name="Text 14"/>
          <p:cNvSpPr txBox="1"/>
          <p:nvPr/>
        </p:nvSpPr>
        <p:spPr>
          <a:xfrm>
            <a:off x="5687248" y="5852160"/>
            <a:ext cx="1188720" cy="27432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関心　→</a:t>
            </a:r>
            <a:endParaRPr lang="en-US" sz="1400" dirty="0"/>
          </a:p>
        </p:txBody>
      </p:sp>
      <p:sp>
        <p:nvSpPr>
          <p:cNvPr id="18" name="Text 15"/>
          <p:cNvSpPr txBox="1"/>
          <p:nvPr/>
        </p:nvSpPr>
        <p:spPr>
          <a:xfrm>
            <a:off x="1115248" y="201168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満足を保つ</a:t>
            </a:r>
            <a:endParaRPr lang="en-US" sz="1400" dirty="0"/>
          </a:p>
        </p:txBody>
      </p:sp>
      <p:sp>
        <p:nvSpPr>
          <p:cNvPr id="19" name="Text 16"/>
          <p:cNvSpPr txBox="1"/>
          <p:nvPr/>
        </p:nvSpPr>
        <p:spPr>
          <a:xfrm>
            <a:off x="4041328" y="201168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重点的に巻き込む</a:t>
            </a:r>
            <a:endParaRPr lang="en-US" sz="1400" dirty="0"/>
          </a:p>
        </p:txBody>
      </p:sp>
      <p:sp>
        <p:nvSpPr>
          <p:cNvPr id="20" name="Text 17"/>
          <p:cNvSpPr txBox="1"/>
          <p:nvPr/>
        </p:nvSpPr>
        <p:spPr>
          <a:xfrm>
            <a:off x="1115248" y="3931920"/>
            <a:ext cx="2743200" cy="274320"/>
          </a:xfrm>
          <a:prstGeom prst="rect">
            <a:avLst/>
          </a:prstGeom>
          <a:noFill/>
          <a:ln/>
        </p:spPr>
        <p:txBody>
          <a:bodyPr wrap="square" lIns="0" tIns="0" rIns="0" bIns="0" rtlCol="0" anchor="t"/>
          <a:lstStyle/>
          <a:p>
            <a:pPr algn="l" indent="0" marL="0">
              <a:buNone/>
            </a:pPr>
            <a:r>
              <a:rPr lang="en-US" sz="1400" b="1" dirty="0">
                <a:solidFill>
                  <a:srgbClr val="CCCCCC"/>
                </a:solidFill>
                <a:latin typeface="Yu Gothic UI" pitchFamily="34" charset="0"/>
                <a:ea typeface="Yu Gothic UI" pitchFamily="34" charset="-122"/>
                <a:cs typeface="Yu Gothic UI" pitchFamily="34" charset="-120"/>
              </a:rPr>
              <a:t>様子を見る</a:t>
            </a:r>
            <a:endParaRPr lang="en-US" sz="1400" dirty="0"/>
          </a:p>
        </p:txBody>
      </p:sp>
      <p:sp>
        <p:nvSpPr>
          <p:cNvPr id="21" name="Text 18"/>
          <p:cNvSpPr txBox="1"/>
          <p:nvPr/>
        </p:nvSpPr>
        <p:spPr>
          <a:xfrm>
            <a:off x="4041328" y="3931920"/>
            <a:ext cx="2743200" cy="274320"/>
          </a:xfrm>
          <a:prstGeom prst="rect">
            <a:avLst/>
          </a:prstGeom>
          <a:noFill/>
          <a:ln/>
        </p:spPr>
        <p:txBody>
          <a:bodyPr wrap="square" lIns="0" tIns="0" rIns="0" bIns="0" rtlCol="0" anchor="t"/>
          <a:lstStyle/>
          <a:p>
            <a:pPr algn="r" indent="0" marL="0">
              <a:buNone/>
            </a:pPr>
            <a:r>
              <a:rPr lang="en-US" sz="1400" b="1" dirty="0">
                <a:solidFill>
                  <a:srgbClr val="CCCCCC"/>
                </a:solidFill>
                <a:latin typeface="Yu Gothic UI" pitchFamily="34" charset="0"/>
                <a:ea typeface="Yu Gothic UI" pitchFamily="34" charset="-122"/>
                <a:cs typeface="Yu Gothic UI" pitchFamily="34" charset="-120"/>
              </a:rPr>
              <a:t>情報を伝える</a:t>
            </a:r>
            <a:endParaRPr lang="en-US" sz="1400" dirty="0"/>
          </a:p>
        </p:txBody>
      </p:sp>
      <p:sp>
        <p:nvSpPr>
          <p:cNvPr id="22" name="Shape 19"/>
          <p:cNvSpPr/>
          <p:nvPr/>
        </p:nvSpPr>
        <p:spPr>
          <a:xfrm>
            <a:off x="2192411" y="2423160"/>
            <a:ext cx="237744" cy="237744"/>
          </a:xfrm>
          <a:prstGeom prst="ellipse">
            <a:avLst/>
          </a:prstGeom>
          <a:solidFill>
            <a:srgbClr val="000F78"/>
          </a:solidFill>
          <a:ln/>
        </p:spPr>
      </p:sp>
      <p:sp>
        <p:nvSpPr>
          <p:cNvPr id="23" name="Text 20"/>
          <p:cNvSpPr txBox="1"/>
          <p:nvPr/>
        </p:nvSpPr>
        <p:spPr>
          <a:xfrm>
            <a:off x="2475875" y="2386584"/>
            <a:ext cx="1463040" cy="31089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24" name="Shape 21"/>
          <p:cNvSpPr/>
          <p:nvPr/>
        </p:nvSpPr>
        <p:spPr>
          <a:xfrm>
            <a:off x="2448443" y="2587752"/>
            <a:ext cx="2633472" cy="0"/>
          </a:xfrm>
          <a:prstGeom prst="line">
            <a:avLst/>
          </a:prstGeom>
          <a:noFill/>
          <a:ln w="15875">
            <a:solidFill>
              <a:srgbClr val="000F78"/>
            </a:solidFill>
            <a:prstDash val="dash"/>
            <a:tailEnd type="triangle"/>
          </a:ln>
        </p:spPr>
      </p:sp>
      <p:sp>
        <p:nvSpPr>
          <p:cNvPr id="25" name="Shape 22"/>
          <p:cNvSpPr/>
          <p:nvPr/>
        </p:nvSpPr>
        <p:spPr>
          <a:xfrm>
            <a:off x="5740283" y="2344522"/>
            <a:ext cx="164592" cy="164592"/>
          </a:xfrm>
          <a:prstGeom prst="ellipse">
            <a:avLst/>
          </a:prstGeom>
          <a:solidFill>
            <a:srgbClr val="7F7F7F"/>
          </a:solidFill>
          <a:ln/>
        </p:spPr>
      </p:sp>
      <p:sp>
        <p:nvSpPr>
          <p:cNvPr id="26" name="Text 23"/>
          <p:cNvSpPr txBox="1"/>
          <p:nvPr/>
        </p:nvSpPr>
        <p:spPr>
          <a:xfrm>
            <a:off x="5987171" y="227137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鉄道会社</a:t>
            </a:r>
            <a:endParaRPr lang="en-US" sz="1400" dirty="0"/>
          </a:p>
        </p:txBody>
      </p:sp>
      <p:sp>
        <p:nvSpPr>
          <p:cNvPr id="27" name="Shape 24"/>
          <p:cNvSpPr/>
          <p:nvPr/>
        </p:nvSpPr>
        <p:spPr>
          <a:xfrm>
            <a:off x="5038024" y="2843784"/>
            <a:ext cx="164592" cy="164592"/>
          </a:xfrm>
          <a:prstGeom prst="ellipse">
            <a:avLst/>
          </a:prstGeom>
          <a:solidFill>
            <a:srgbClr val="7F7F7F"/>
          </a:solidFill>
          <a:ln/>
        </p:spPr>
      </p:sp>
      <p:sp>
        <p:nvSpPr>
          <p:cNvPr id="28" name="Text 25"/>
          <p:cNvSpPr txBox="1"/>
          <p:nvPr/>
        </p:nvSpPr>
        <p:spPr>
          <a:xfrm>
            <a:off x="5284912" y="277063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町長</a:t>
            </a:r>
            <a:endParaRPr lang="en-US" sz="1400" dirty="0"/>
          </a:p>
        </p:txBody>
      </p:sp>
      <p:sp>
        <p:nvSpPr>
          <p:cNvPr id="29" name="Shape 26"/>
          <p:cNvSpPr/>
          <p:nvPr/>
        </p:nvSpPr>
        <p:spPr>
          <a:xfrm>
            <a:off x="2989768" y="3112618"/>
            <a:ext cx="164592" cy="164592"/>
          </a:xfrm>
          <a:prstGeom prst="ellipse">
            <a:avLst/>
          </a:prstGeom>
          <a:solidFill>
            <a:srgbClr val="7F7F7F"/>
          </a:solidFill>
          <a:ln/>
        </p:spPr>
      </p:sp>
      <p:sp>
        <p:nvSpPr>
          <p:cNvPr id="30" name="Text 27"/>
          <p:cNvSpPr txBox="1"/>
          <p:nvPr/>
        </p:nvSpPr>
        <p:spPr>
          <a:xfrm>
            <a:off x="3236656" y="3039466"/>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国（運輸局）</a:t>
            </a:r>
            <a:endParaRPr lang="en-US" sz="1400" dirty="0"/>
          </a:p>
        </p:txBody>
      </p:sp>
      <p:sp>
        <p:nvSpPr>
          <p:cNvPr id="31" name="Shape 28"/>
          <p:cNvSpPr/>
          <p:nvPr/>
        </p:nvSpPr>
        <p:spPr>
          <a:xfrm>
            <a:off x="4569851" y="4495190"/>
            <a:ext cx="164592" cy="164592"/>
          </a:xfrm>
          <a:prstGeom prst="ellipse">
            <a:avLst/>
          </a:prstGeom>
          <a:solidFill>
            <a:srgbClr val="7F7F7F"/>
          </a:solidFill>
          <a:ln/>
        </p:spPr>
      </p:sp>
      <p:sp>
        <p:nvSpPr>
          <p:cNvPr id="32" name="Text 29"/>
          <p:cNvSpPr txBox="1"/>
          <p:nvPr/>
        </p:nvSpPr>
        <p:spPr>
          <a:xfrm>
            <a:off x="4816739" y="4422038"/>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沿線の高校</a:t>
            </a:r>
            <a:endParaRPr lang="en-US" sz="1400" dirty="0"/>
          </a:p>
        </p:txBody>
      </p:sp>
      <p:sp>
        <p:nvSpPr>
          <p:cNvPr id="33" name="Shape 30"/>
          <p:cNvSpPr/>
          <p:nvPr/>
        </p:nvSpPr>
        <p:spPr>
          <a:xfrm>
            <a:off x="3399419" y="4764024"/>
            <a:ext cx="164592" cy="164592"/>
          </a:xfrm>
          <a:prstGeom prst="ellipse">
            <a:avLst/>
          </a:prstGeom>
          <a:solidFill>
            <a:srgbClr val="7F7F7F"/>
          </a:solidFill>
          <a:ln/>
        </p:spPr>
      </p:sp>
      <p:sp>
        <p:nvSpPr>
          <p:cNvPr id="34" name="Text 31"/>
          <p:cNvSpPr txBox="1"/>
          <p:nvPr/>
        </p:nvSpPr>
        <p:spPr>
          <a:xfrm>
            <a:off x="3646307" y="4690872"/>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商工会</a:t>
            </a:r>
            <a:endParaRPr lang="en-US" sz="1400" dirty="0"/>
          </a:p>
        </p:txBody>
      </p:sp>
      <p:sp>
        <p:nvSpPr>
          <p:cNvPr id="35" name="Shape 32"/>
          <p:cNvSpPr/>
          <p:nvPr/>
        </p:nvSpPr>
        <p:spPr>
          <a:xfrm>
            <a:off x="5915848" y="4187952"/>
            <a:ext cx="164592" cy="164592"/>
          </a:xfrm>
          <a:prstGeom prst="ellipse">
            <a:avLst/>
          </a:prstGeom>
          <a:solidFill>
            <a:srgbClr val="7F7F7F"/>
          </a:solidFill>
          <a:ln/>
        </p:spPr>
      </p:sp>
      <p:sp>
        <p:nvSpPr>
          <p:cNvPr id="36" name="Text 33"/>
          <p:cNvSpPr txBox="1"/>
          <p:nvPr/>
        </p:nvSpPr>
        <p:spPr>
          <a:xfrm>
            <a:off x="6162736" y="411480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住民</a:t>
            </a:r>
            <a:endParaRPr lang="en-US" sz="1400" dirty="0"/>
          </a:p>
        </p:txBody>
      </p:sp>
      <p:sp>
        <p:nvSpPr>
          <p:cNvPr id="37" name="Shape 34"/>
          <p:cNvSpPr/>
          <p:nvPr/>
        </p:nvSpPr>
        <p:spPr>
          <a:xfrm>
            <a:off x="1994900" y="5148072"/>
            <a:ext cx="164592" cy="164592"/>
          </a:xfrm>
          <a:prstGeom prst="ellipse">
            <a:avLst/>
          </a:prstGeom>
          <a:solidFill>
            <a:srgbClr val="7F7F7F"/>
          </a:solidFill>
          <a:ln/>
        </p:spPr>
      </p:sp>
      <p:sp>
        <p:nvSpPr>
          <p:cNvPr id="38" name="Text 35"/>
          <p:cNvSpPr txBox="1"/>
          <p:nvPr/>
        </p:nvSpPr>
        <p:spPr>
          <a:xfrm>
            <a:off x="2241788" y="5074920"/>
            <a:ext cx="146304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観光協会</a:t>
            </a:r>
            <a:endParaRPr lang="en-US" sz="1400" dirty="0"/>
          </a:p>
        </p:txBody>
      </p:sp>
      <p:sp>
        <p:nvSpPr>
          <p:cNvPr id="39" name="Text 36"/>
          <p:cNvSpPr txBox="1"/>
          <p:nvPr/>
        </p:nvSpPr>
        <p:spPr>
          <a:xfrm>
            <a:off x="7241728" y="19659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巻き込み方</a:t>
            </a:r>
            <a:endParaRPr lang="en-US" sz="1400" dirty="0"/>
          </a:p>
        </p:txBody>
      </p:sp>
      <p:sp>
        <p:nvSpPr>
          <p:cNvPr id="40" name="Shape 37"/>
          <p:cNvSpPr/>
          <p:nvPr/>
        </p:nvSpPr>
        <p:spPr>
          <a:xfrm>
            <a:off x="7241728" y="2295144"/>
            <a:ext cx="2463120" cy="0"/>
          </a:xfrm>
          <a:prstGeom prst="line">
            <a:avLst/>
          </a:prstGeom>
          <a:noFill/>
          <a:ln w="9525">
            <a:solidFill>
              <a:srgbClr val="CCCCCC"/>
            </a:solidFill>
            <a:prstDash val="solid"/>
          </a:ln>
        </p:spPr>
      </p:sp>
      <p:sp>
        <p:nvSpPr>
          <p:cNvPr id="41" name="Text 38"/>
          <p:cNvSpPr txBox="1"/>
          <p:nvPr/>
        </p:nvSpPr>
        <p:spPr>
          <a:xfrm>
            <a:off x="7241728" y="242316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県</a:t>
            </a:r>
            <a:endParaRPr lang="en-US" sz="1400" dirty="0"/>
          </a:p>
        </p:txBody>
      </p:sp>
      <p:sp>
        <p:nvSpPr>
          <p:cNvPr id="42" name="Text 39"/>
          <p:cNvSpPr txBox="1"/>
          <p:nvPr/>
        </p:nvSpPr>
        <p:spPr>
          <a:xfrm>
            <a:off x="7241728" y="2715768"/>
            <a:ext cx="2463120" cy="8229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補助の前提条件を年内に協議し、関心を高める</a:t>
            </a:r>
            <a:endParaRPr lang="en-US" sz="1400" dirty="0"/>
          </a:p>
        </p:txBody>
      </p:sp>
      <p:sp>
        <p:nvSpPr>
          <p:cNvPr id="43" name="Shape 40"/>
          <p:cNvSpPr/>
          <p:nvPr/>
        </p:nvSpPr>
        <p:spPr>
          <a:xfrm>
            <a:off x="7241728" y="3611880"/>
            <a:ext cx="2463120" cy="0"/>
          </a:xfrm>
          <a:prstGeom prst="line">
            <a:avLst/>
          </a:prstGeom>
          <a:noFill/>
          <a:ln w="9525">
            <a:solidFill>
              <a:srgbClr val="CCCCCC"/>
            </a:solidFill>
            <a:prstDash val="solid"/>
          </a:ln>
        </p:spPr>
      </p:sp>
      <p:sp>
        <p:nvSpPr>
          <p:cNvPr id="44" name="Text 41"/>
          <p:cNvSpPr txBox="1"/>
          <p:nvPr/>
        </p:nvSpPr>
        <p:spPr>
          <a:xfrm>
            <a:off x="7241728" y="3749040"/>
            <a:ext cx="24631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鉄道会社・町長</a:t>
            </a:r>
            <a:endParaRPr lang="en-US" sz="1400" dirty="0"/>
          </a:p>
        </p:txBody>
      </p:sp>
      <p:sp>
        <p:nvSpPr>
          <p:cNvPr id="45" name="Text 42"/>
          <p:cNvSpPr txBox="1"/>
          <p:nvPr/>
        </p:nvSpPr>
        <p:spPr>
          <a:xfrm>
            <a:off x="7241728" y="4041648"/>
            <a:ext cx="2463120" cy="59436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月1回の協議会で進捗を共有する</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課題（論点2）</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支線の1便当たりの赤字は1万2千円で、幹線の4倍に達する。赤字の原因は便数の多さではなく、1便当たりの乗客の少なさにある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注）1便当たりの赤字＝路線区分の赤字÷年間便数</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73</a:t>
            </a:r>
            <a:endParaRPr lang="en-US" sz="900" dirty="0"/>
          </a:p>
        </p:txBody>
      </p:sp>
      <p:sp>
        <p:nvSpPr>
          <p:cNvPr id="10" name="Text 7"/>
          <p:cNvSpPr txBox="1"/>
          <p:nvPr/>
        </p:nvSpPr>
        <p:spPr>
          <a:xfrm>
            <a:off x="200848" y="1530720"/>
            <a:ext cx="2148840" cy="914400"/>
          </a:xfrm>
          <a:prstGeom prst="rect">
            <a:avLst/>
          </a:prstGeom>
          <a:noFill/>
          <a:ln/>
        </p:spPr>
        <p:txBody>
          <a:bodyPr wrap="square" lIns="0" tIns="0" rIns="0" bIns="0" rtlCol="0" anchor="t"/>
          <a:lstStyle/>
          <a:p>
            <a:pPr indent="0" marL="0">
              <a:buNone/>
            </a:pPr>
            <a:r>
              <a:rPr lang="en-US" sz="5400" b="1" dirty="0">
                <a:solidFill>
                  <a:srgbClr val="000F78"/>
                </a:solidFill>
                <a:latin typeface="Arial" pitchFamily="34" charset="0"/>
                <a:ea typeface="Arial" pitchFamily="34" charset="-122"/>
                <a:cs typeface="Arial" pitchFamily="34" charset="-120"/>
              </a:rPr>
              <a:t>2</a:t>
            </a:r>
            <a:endParaRPr lang="en-US" sz="5400" dirty="0"/>
          </a:p>
        </p:txBody>
      </p:sp>
      <p:sp>
        <p:nvSpPr>
          <p:cNvPr id="11" name="Text 8"/>
          <p:cNvSpPr txBox="1"/>
          <p:nvPr/>
        </p:nvSpPr>
        <p:spPr>
          <a:xfrm>
            <a:off x="200848" y="2536560"/>
            <a:ext cx="21488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赤字の原因</a:t>
            </a:r>
            <a:endParaRPr lang="en-US" sz="1400" dirty="0"/>
          </a:p>
        </p:txBody>
      </p:sp>
      <p:sp>
        <p:nvSpPr>
          <p:cNvPr id="12" name="Shape 9"/>
          <p:cNvSpPr/>
          <p:nvPr/>
        </p:nvSpPr>
        <p:spPr>
          <a:xfrm>
            <a:off x="200848" y="2948040"/>
            <a:ext cx="2011680" cy="0"/>
          </a:xfrm>
          <a:prstGeom prst="line">
            <a:avLst/>
          </a:prstGeom>
          <a:noFill/>
          <a:ln w="9525">
            <a:solidFill>
              <a:srgbClr val="CCCCCC"/>
            </a:solidFill>
            <a:prstDash val="solid"/>
          </a:ln>
        </p:spPr>
      </p:sp>
      <p:sp>
        <p:nvSpPr>
          <p:cNvPr id="13" name="Text 10"/>
          <p:cNvSpPr txBox="1"/>
          <p:nvPr/>
        </p:nvSpPr>
        <p:spPr>
          <a:xfrm>
            <a:off x="200848" y="3085200"/>
            <a:ext cx="2011680" cy="11887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支線は、1便に乗る客の少なさで赤字が膨らむ</a:t>
            </a:r>
            <a:endParaRPr lang="en-US" sz="1400" dirty="0"/>
          </a:p>
        </p:txBody>
      </p:sp>
      <p:sp>
        <p:nvSpPr>
          <p:cNvPr id="14" name="Text 11"/>
          <p:cNvSpPr txBox="1"/>
          <p:nvPr/>
        </p:nvSpPr>
        <p:spPr>
          <a:xfrm>
            <a:off x="200848" y="5669280"/>
            <a:ext cx="214884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 打ち手はp.17</a:t>
            </a:r>
            <a:endParaRPr lang="en-US" sz="1400" dirty="0"/>
          </a:p>
        </p:txBody>
      </p:sp>
      <p:sp>
        <p:nvSpPr>
          <p:cNvPr id="15" name="Shape 12"/>
          <p:cNvSpPr/>
          <p:nvPr/>
        </p:nvSpPr>
        <p:spPr>
          <a:xfrm>
            <a:off x="2532568" y="1576440"/>
            <a:ext cx="0" cy="4526280"/>
          </a:xfrm>
          <a:prstGeom prst="line">
            <a:avLst/>
          </a:prstGeom>
          <a:noFill/>
          <a:ln w="25400">
            <a:solidFill>
              <a:srgbClr val="000F78"/>
            </a:solidFill>
            <a:prstDash val="solid"/>
          </a:ln>
        </p:spPr>
      </p:sp>
      <p:sp>
        <p:nvSpPr>
          <p:cNvPr id="16" name="Text 13"/>
          <p:cNvSpPr txBox="1"/>
          <p:nvPr/>
        </p:nvSpPr>
        <p:spPr>
          <a:xfrm>
            <a:off x="2761168" y="1485000"/>
            <a:ext cx="69436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路線区分別の1便当たりの赤字（円、2025年度）</a:t>
            </a:r>
            <a:endParaRPr lang="en-US" sz="1400" dirty="0"/>
          </a:p>
        </p:txBody>
      </p:sp>
      <p:sp>
        <p:nvSpPr>
          <p:cNvPr id="17" name="Shape 14"/>
          <p:cNvSpPr/>
          <p:nvPr/>
        </p:nvSpPr>
        <p:spPr>
          <a:xfrm>
            <a:off x="2761168" y="1832472"/>
            <a:ext cx="6943680" cy="0"/>
          </a:xfrm>
          <a:prstGeom prst="line">
            <a:avLst/>
          </a:prstGeom>
          <a:noFill/>
          <a:ln w="12700">
            <a:solidFill>
              <a:srgbClr val="7F7F7F"/>
            </a:solidFill>
            <a:prstDash val="solid"/>
          </a:ln>
        </p:spPr>
      </p:sp>
      <p:sp>
        <p:nvSpPr>
          <p:cNvPr id="18" name="Text 15"/>
          <p:cNvSpPr txBox="1"/>
          <p:nvPr/>
        </p:nvSpPr>
        <p:spPr>
          <a:xfrm>
            <a:off x="2761168" y="2057400"/>
            <a:ext cx="1508760" cy="5486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支線（12路線）</a:t>
            </a:r>
            <a:endParaRPr lang="en-US" sz="1400" dirty="0"/>
          </a:p>
        </p:txBody>
      </p:sp>
      <p:sp>
        <p:nvSpPr>
          <p:cNvPr id="19" name="Shape 16"/>
          <p:cNvSpPr/>
          <p:nvPr/>
        </p:nvSpPr>
        <p:spPr>
          <a:xfrm>
            <a:off x="4269928" y="2167128"/>
            <a:ext cx="4520520" cy="329184"/>
          </a:xfrm>
          <a:prstGeom prst="rect">
            <a:avLst/>
          </a:prstGeom>
          <a:solidFill>
            <a:srgbClr val="000F78"/>
          </a:solidFill>
          <a:ln/>
        </p:spPr>
      </p:sp>
      <p:sp>
        <p:nvSpPr>
          <p:cNvPr id="20" name="Text 17"/>
          <p:cNvSpPr txBox="1"/>
          <p:nvPr/>
        </p:nvSpPr>
        <p:spPr>
          <a:xfrm>
            <a:off x="8863600" y="2057400"/>
            <a:ext cx="822960" cy="54864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12,000</a:t>
            </a:r>
            <a:endParaRPr lang="en-US" sz="1200" dirty="0"/>
          </a:p>
        </p:txBody>
      </p:sp>
      <p:sp>
        <p:nvSpPr>
          <p:cNvPr id="21" name="Text 18"/>
          <p:cNvSpPr txBox="1"/>
          <p:nvPr/>
        </p:nvSpPr>
        <p:spPr>
          <a:xfrm>
            <a:off x="2761168" y="29718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循環線</a:t>
            </a:r>
            <a:endParaRPr lang="en-US" sz="1400" dirty="0"/>
          </a:p>
        </p:txBody>
      </p:sp>
      <p:sp>
        <p:nvSpPr>
          <p:cNvPr id="22" name="Shape 19"/>
          <p:cNvSpPr/>
          <p:nvPr/>
        </p:nvSpPr>
        <p:spPr>
          <a:xfrm>
            <a:off x="4269928" y="3081528"/>
            <a:ext cx="2184918" cy="329184"/>
          </a:xfrm>
          <a:prstGeom prst="rect">
            <a:avLst/>
          </a:prstGeom>
          <a:solidFill>
            <a:srgbClr val="CCCCCC"/>
          </a:solidFill>
          <a:ln/>
        </p:spPr>
      </p:sp>
      <p:sp>
        <p:nvSpPr>
          <p:cNvPr id="23" name="Text 20"/>
          <p:cNvSpPr txBox="1"/>
          <p:nvPr/>
        </p:nvSpPr>
        <p:spPr>
          <a:xfrm>
            <a:off x="6527998" y="29718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5,800</a:t>
            </a:r>
            <a:endParaRPr lang="en-US" sz="1200" dirty="0"/>
          </a:p>
        </p:txBody>
      </p:sp>
      <p:sp>
        <p:nvSpPr>
          <p:cNvPr id="24" name="Text 21"/>
          <p:cNvSpPr txBox="1"/>
          <p:nvPr/>
        </p:nvSpPr>
        <p:spPr>
          <a:xfrm>
            <a:off x="2761168" y="38862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深夜便</a:t>
            </a:r>
            <a:endParaRPr lang="en-US" sz="1400" dirty="0"/>
          </a:p>
        </p:txBody>
      </p:sp>
      <p:sp>
        <p:nvSpPr>
          <p:cNvPr id="25" name="Shape 22"/>
          <p:cNvSpPr/>
          <p:nvPr/>
        </p:nvSpPr>
        <p:spPr>
          <a:xfrm>
            <a:off x="4269928" y="3995928"/>
            <a:ext cx="1544511" cy="329184"/>
          </a:xfrm>
          <a:prstGeom prst="rect">
            <a:avLst/>
          </a:prstGeom>
          <a:solidFill>
            <a:srgbClr val="CCCCCC"/>
          </a:solidFill>
          <a:ln/>
        </p:spPr>
      </p:sp>
      <p:sp>
        <p:nvSpPr>
          <p:cNvPr id="26" name="Text 23"/>
          <p:cNvSpPr txBox="1"/>
          <p:nvPr/>
        </p:nvSpPr>
        <p:spPr>
          <a:xfrm>
            <a:off x="5887591" y="38862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4,100</a:t>
            </a:r>
            <a:endParaRPr lang="en-US" sz="1200" dirty="0"/>
          </a:p>
        </p:txBody>
      </p:sp>
      <p:sp>
        <p:nvSpPr>
          <p:cNvPr id="27" name="Text 24"/>
          <p:cNvSpPr txBox="1"/>
          <p:nvPr/>
        </p:nvSpPr>
        <p:spPr>
          <a:xfrm>
            <a:off x="2761168" y="4800600"/>
            <a:ext cx="150876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幹線（4路線）</a:t>
            </a:r>
            <a:endParaRPr lang="en-US" sz="1400" dirty="0"/>
          </a:p>
        </p:txBody>
      </p:sp>
      <p:sp>
        <p:nvSpPr>
          <p:cNvPr id="28" name="Shape 25"/>
          <p:cNvSpPr/>
          <p:nvPr/>
        </p:nvSpPr>
        <p:spPr>
          <a:xfrm>
            <a:off x="4269928" y="4910328"/>
            <a:ext cx="1130130" cy="329184"/>
          </a:xfrm>
          <a:prstGeom prst="rect">
            <a:avLst/>
          </a:prstGeom>
          <a:solidFill>
            <a:srgbClr val="CCCCCC"/>
          </a:solidFill>
          <a:ln/>
        </p:spPr>
      </p:sp>
      <p:sp>
        <p:nvSpPr>
          <p:cNvPr id="29" name="Text 26"/>
          <p:cNvSpPr txBox="1"/>
          <p:nvPr/>
        </p:nvSpPr>
        <p:spPr>
          <a:xfrm>
            <a:off x="5473210" y="4800600"/>
            <a:ext cx="822960" cy="54864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30" name="Shape 27"/>
          <p:cNvSpPr/>
          <p:nvPr/>
        </p:nvSpPr>
        <p:spPr>
          <a:xfrm>
            <a:off x="4269928" y="2011680"/>
            <a:ext cx="0" cy="3657600"/>
          </a:xfrm>
          <a:prstGeom prst="line">
            <a:avLst/>
          </a:prstGeom>
          <a:noFill/>
          <a:ln w="9525">
            <a:solidFill>
              <a:srgbClr val="CCCCCC"/>
            </a:solidFill>
            <a:prstDash val="solid"/>
          </a:ln>
        </p:spPr>
      </p:sp>
      <p:sp>
        <p:nvSpPr>
          <p:cNvPr id="31" name="Shape 28"/>
          <p:cNvSpPr/>
          <p:nvPr/>
        </p:nvSpPr>
        <p:spPr>
          <a:xfrm>
            <a:off x="2761168" y="5715000"/>
            <a:ext cx="6943680" cy="0"/>
          </a:xfrm>
          <a:prstGeom prst="line">
            <a:avLst/>
          </a:prstGeom>
          <a:noFill/>
          <a:ln w="9525">
            <a:solidFill>
              <a:srgbClr val="CCCCCC"/>
            </a:solidFill>
            <a:prstDash val="solid"/>
          </a:ln>
        </p:spPr>
      </p:sp>
      <p:sp>
        <p:nvSpPr>
          <p:cNvPr id="32" name="Text 29"/>
          <p:cNvSpPr txBox="1"/>
          <p:nvPr/>
        </p:nvSpPr>
        <p:spPr>
          <a:xfrm>
            <a:off x="2761168" y="5788152"/>
            <a:ext cx="6943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1便当たりの乗客　支線 1.2人／幹線 9.8人</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予約型交通の試行で1日200人が新たに乗り、185人が乗らなくなった。差し引きの増加は15人にとどまり、減った分の4割は東部の定時便の利用者である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地区別の1日当たり利用者数の増減</a:t>
            </a:r>
            <a:pPr indent="0" marL="0">
              <a:buNone/>
            </a:pPr>
            <a:r>
              <a:rPr lang="en-US" sz="1100" dirty="0">
                <a:solidFill>
                  <a:srgbClr val="3F3F3F"/>
                </a:solidFill>
                <a:latin typeface="Yu Gothic UI" pitchFamily="34" charset="0"/>
                <a:ea typeface="Yu Gothic UI" pitchFamily="34" charset="-122"/>
                <a:cs typeface="Yu Gothic UI" pitchFamily="34" charset="-120"/>
              </a:rPr>
              <a:t>　（人／日、試行前1か月と試行後1か月の比較）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注）試行は東部・北部の2地区で2026年6月に開始。新たに乗った人は試行前の3か月に利用がなかった登録者、乗らなくなった人は定時便の定期利用者のうち試行後に利用がない人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出所）予約型交通の試行の乗降記録を基に作成（名称・数値は架空の見本）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74</a:t>
            </a:r>
            <a:endParaRPr lang="en-US" sz="900" dirty="0"/>
          </a:p>
        </p:txBody>
      </p:sp>
      <p:sp>
        <p:nvSpPr>
          <p:cNvPr id="12" name="Text 9"/>
          <p:cNvSpPr txBox="1"/>
          <p:nvPr/>
        </p:nvSpPr>
        <p:spPr>
          <a:xfrm>
            <a:off x="200848" y="214884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＋200</a:t>
            </a:r>
            <a:endParaRPr lang="en-US" sz="3600" dirty="0"/>
          </a:p>
        </p:txBody>
      </p:sp>
      <p:sp>
        <p:nvSpPr>
          <p:cNvPr id="13" name="Text 10"/>
          <p:cNvSpPr txBox="1"/>
          <p:nvPr/>
        </p:nvSpPr>
        <p:spPr>
          <a:xfrm>
            <a:off x="200848" y="2880360"/>
            <a:ext cx="219456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増える分</a:t>
            </a:r>
            <a:endParaRPr lang="en-US" sz="1400" dirty="0"/>
          </a:p>
        </p:txBody>
      </p:sp>
      <p:sp>
        <p:nvSpPr>
          <p:cNvPr id="14" name="Text 11"/>
          <p:cNvSpPr txBox="1"/>
          <p:nvPr/>
        </p:nvSpPr>
        <p:spPr>
          <a:xfrm>
            <a:off x="200848" y="4069080"/>
            <a:ext cx="1445001" cy="731520"/>
          </a:xfrm>
          <a:prstGeom prst="rect">
            <a:avLst/>
          </a:prstGeom>
          <a:noFill/>
          <a:ln/>
        </p:spPr>
        <p:txBody>
          <a:bodyPr wrap="square" lIns="0" tIns="0" rIns="0" bIns="0" rtlCol="0" anchor="t"/>
          <a:lstStyle/>
          <a:p>
            <a:pPr indent="0" marL="0">
              <a:buNone/>
            </a:pPr>
            <a:r>
              <a:rPr lang="en-US" sz="3600" b="1" dirty="0">
                <a:solidFill>
                  <a:srgbClr val="3F3F3F"/>
                </a:solidFill>
                <a:latin typeface="Arial" pitchFamily="34" charset="0"/>
                <a:ea typeface="Arial" pitchFamily="34" charset="-122"/>
                <a:cs typeface="Arial" pitchFamily="34" charset="-120"/>
              </a:rPr>
              <a:t>−185</a:t>
            </a:r>
            <a:endParaRPr lang="en-US" sz="3600" dirty="0"/>
          </a:p>
        </p:txBody>
      </p:sp>
      <p:sp>
        <p:nvSpPr>
          <p:cNvPr id="15" name="Text 12"/>
          <p:cNvSpPr txBox="1"/>
          <p:nvPr/>
        </p:nvSpPr>
        <p:spPr>
          <a:xfrm>
            <a:off x="200848" y="4800600"/>
            <a:ext cx="219456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減る分</a:t>
            </a:r>
            <a:endParaRPr lang="en-US" sz="1400" dirty="0"/>
          </a:p>
        </p:txBody>
      </p:sp>
      <p:sp>
        <p:nvSpPr>
          <p:cNvPr id="16" name="Shape 13"/>
          <p:cNvSpPr/>
          <p:nvPr/>
        </p:nvSpPr>
        <p:spPr>
          <a:xfrm>
            <a:off x="200848" y="5257800"/>
            <a:ext cx="1384793" cy="0"/>
          </a:xfrm>
          <a:prstGeom prst="line">
            <a:avLst/>
          </a:prstGeom>
          <a:noFill/>
          <a:ln w="9525">
            <a:solidFill>
              <a:srgbClr val="CCCCCC"/>
            </a:solidFill>
            <a:prstDash val="solid"/>
          </a:ln>
        </p:spPr>
      </p:sp>
      <p:sp>
        <p:nvSpPr>
          <p:cNvPr id="17" name="Text 14"/>
          <p:cNvSpPr txBox="1"/>
          <p:nvPr/>
        </p:nvSpPr>
        <p:spPr>
          <a:xfrm>
            <a:off x="200848" y="5349240"/>
            <a:ext cx="2194560" cy="320040"/>
          </a:xfrm>
          <a:prstGeom prst="rect">
            <a:avLst/>
          </a:prstGeom>
          <a:noFill/>
          <a:ln/>
        </p:spPr>
        <p:txBody>
          <a:bodyPr wrap="square" lIns="0" tIns="0" rIns="0" bIns="0" rtlCol="0" anchor="t"/>
          <a:lstStyle/>
          <a:p>
            <a:pPr indent="0" marL="0">
              <a:buNone/>
            </a:pPr>
            <a:r>
              <a:rPr lang="en-US" sz="1200" b="1" dirty="0">
                <a:solidFill>
                  <a:srgbClr val="3F3F3F"/>
                </a:solidFill>
                <a:latin typeface="Arial" pitchFamily="34" charset="0"/>
                <a:ea typeface="Arial" pitchFamily="34" charset="-122"/>
                <a:cs typeface="Arial" pitchFamily="34" charset="-120"/>
              </a:rPr>
              <a:t>差し引き　＋15</a:t>
            </a:r>
            <a:endParaRPr lang="en-US" sz="1200" dirty="0"/>
          </a:p>
        </p:txBody>
      </p:sp>
      <p:sp>
        <p:nvSpPr>
          <p:cNvPr id="18" name="Shape 15"/>
          <p:cNvSpPr/>
          <p:nvPr/>
        </p:nvSpPr>
        <p:spPr>
          <a:xfrm>
            <a:off x="1826474" y="3794760"/>
            <a:ext cx="4632253" cy="0"/>
          </a:xfrm>
          <a:prstGeom prst="line">
            <a:avLst/>
          </a:prstGeom>
          <a:noFill/>
          <a:ln w="12700">
            <a:solidFill>
              <a:srgbClr val="7F7F7F"/>
            </a:solidFill>
            <a:prstDash val="solid"/>
          </a:ln>
        </p:spPr>
      </p:sp>
      <p:sp>
        <p:nvSpPr>
          <p:cNvPr id="19" name="Shape 16"/>
          <p:cNvSpPr/>
          <p:nvPr/>
        </p:nvSpPr>
        <p:spPr>
          <a:xfrm>
            <a:off x="2104409" y="2478024"/>
            <a:ext cx="370580" cy="1316736"/>
          </a:xfrm>
          <a:prstGeom prst="rect">
            <a:avLst/>
          </a:prstGeom>
          <a:solidFill>
            <a:srgbClr val="7F7F7F"/>
          </a:solidFill>
          <a:ln/>
        </p:spPr>
      </p:sp>
      <p:sp>
        <p:nvSpPr>
          <p:cNvPr id="20" name="Shape 17"/>
          <p:cNvSpPr/>
          <p:nvPr/>
        </p:nvSpPr>
        <p:spPr>
          <a:xfrm>
            <a:off x="2104409" y="3794760"/>
            <a:ext cx="370580" cy="438912"/>
          </a:xfrm>
          <a:prstGeom prst="rect">
            <a:avLst/>
          </a:prstGeom>
          <a:solidFill>
            <a:srgbClr val="CCCCCC"/>
          </a:solidFill>
          <a:ln/>
        </p:spPr>
      </p:sp>
      <p:sp>
        <p:nvSpPr>
          <p:cNvPr id="21" name="Text 18"/>
          <p:cNvSpPr txBox="1"/>
          <p:nvPr/>
        </p:nvSpPr>
        <p:spPr>
          <a:xfrm>
            <a:off x="1983993" y="2185416"/>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22" name="Text 19"/>
          <p:cNvSpPr txBox="1"/>
          <p:nvPr/>
        </p:nvSpPr>
        <p:spPr>
          <a:xfrm>
            <a:off x="1983993" y="4270248"/>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23" name="Text 20"/>
          <p:cNvSpPr txBox="1"/>
          <p:nvPr/>
        </p:nvSpPr>
        <p:spPr>
          <a:xfrm>
            <a:off x="1826474"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3030860" y="2916936"/>
            <a:ext cx="370580" cy="877824"/>
          </a:xfrm>
          <a:prstGeom prst="rect">
            <a:avLst/>
          </a:prstGeom>
          <a:solidFill>
            <a:srgbClr val="7F7F7F"/>
          </a:solidFill>
          <a:ln/>
        </p:spPr>
      </p:sp>
      <p:sp>
        <p:nvSpPr>
          <p:cNvPr id="25" name="Shape 22"/>
          <p:cNvSpPr/>
          <p:nvPr/>
        </p:nvSpPr>
        <p:spPr>
          <a:xfrm>
            <a:off x="3030860" y="3794760"/>
            <a:ext cx="370580" cy="1207008"/>
          </a:xfrm>
          <a:prstGeom prst="rect">
            <a:avLst/>
          </a:prstGeom>
          <a:solidFill>
            <a:srgbClr val="CCCCCC"/>
          </a:solidFill>
          <a:ln/>
        </p:spPr>
      </p:sp>
      <p:sp>
        <p:nvSpPr>
          <p:cNvPr id="26" name="Text 23"/>
          <p:cNvSpPr txBox="1"/>
          <p:nvPr/>
        </p:nvSpPr>
        <p:spPr>
          <a:xfrm>
            <a:off x="2910443" y="2624328"/>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27" name="Text 24"/>
          <p:cNvSpPr txBox="1"/>
          <p:nvPr/>
        </p:nvSpPr>
        <p:spPr>
          <a:xfrm>
            <a:off x="2910443" y="5038344"/>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−55</a:t>
            </a:r>
            <a:endParaRPr lang="en-US" sz="1200" dirty="0"/>
          </a:p>
        </p:txBody>
      </p:sp>
      <p:sp>
        <p:nvSpPr>
          <p:cNvPr id="28" name="Text 25"/>
          <p:cNvSpPr txBox="1"/>
          <p:nvPr/>
        </p:nvSpPr>
        <p:spPr>
          <a:xfrm>
            <a:off x="2752925"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29" name="Shape 26"/>
          <p:cNvSpPr/>
          <p:nvPr/>
        </p:nvSpPr>
        <p:spPr>
          <a:xfrm>
            <a:off x="3957311" y="3575304"/>
            <a:ext cx="370580" cy="219456"/>
          </a:xfrm>
          <a:prstGeom prst="rect">
            <a:avLst/>
          </a:prstGeom>
          <a:solidFill>
            <a:srgbClr val="7F7F7F"/>
          </a:solidFill>
          <a:ln/>
        </p:spPr>
      </p:sp>
      <p:sp>
        <p:nvSpPr>
          <p:cNvPr id="30" name="Shape 27"/>
          <p:cNvSpPr/>
          <p:nvPr/>
        </p:nvSpPr>
        <p:spPr>
          <a:xfrm>
            <a:off x="3957311" y="3794760"/>
            <a:ext cx="370580" cy="1536192"/>
          </a:xfrm>
          <a:prstGeom prst="rect">
            <a:avLst/>
          </a:prstGeom>
          <a:solidFill>
            <a:srgbClr val="000F78"/>
          </a:solidFill>
          <a:ln/>
        </p:spPr>
      </p:sp>
      <p:sp>
        <p:nvSpPr>
          <p:cNvPr id="31" name="Text 28"/>
          <p:cNvSpPr txBox="1"/>
          <p:nvPr/>
        </p:nvSpPr>
        <p:spPr>
          <a:xfrm>
            <a:off x="3836894" y="3282696"/>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a:t>
            </a:r>
            <a:endParaRPr lang="en-US" sz="1200" dirty="0"/>
          </a:p>
        </p:txBody>
      </p:sp>
      <p:sp>
        <p:nvSpPr>
          <p:cNvPr id="32" name="Text 29"/>
          <p:cNvSpPr txBox="1"/>
          <p:nvPr/>
        </p:nvSpPr>
        <p:spPr>
          <a:xfrm>
            <a:off x="3836894" y="5367528"/>
            <a:ext cx="928570" cy="256032"/>
          </a:xfrm>
          <a:prstGeom prst="rect">
            <a:avLst/>
          </a:prstGeom>
          <a:noFill/>
          <a:ln/>
        </p:spPr>
        <p:txBody>
          <a:bodyPr wrap="square" lIns="0" tIns="0" rIns="0" bIns="0" rtlCol="0" anchor="t"/>
          <a:lstStyle/>
          <a:p>
            <a:pPr algn="ctr" indent="0" marL="0">
              <a:buNone/>
            </a:pPr>
            <a:r>
              <a:rPr lang="en-US" sz="1200" b="1" dirty="0">
                <a:solidFill>
                  <a:srgbClr val="000F78"/>
                </a:solidFill>
                <a:latin typeface="Arial" pitchFamily="34" charset="0"/>
                <a:ea typeface="Arial" pitchFamily="34" charset="-122"/>
                <a:cs typeface="Arial" pitchFamily="34" charset="-120"/>
              </a:rPr>
              <a:t>−70</a:t>
            </a:r>
            <a:endParaRPr lang="en-US" sz="1200" dirty="0"/>
          </a:p>
        </p:txBody>
      </p:sp>
      <p:sp>
        <p:nvSpPr>
          <p:cNvPr id="33" name="Text 30"/>
          <p:cNvSpPr txBox="1"/>
          <p:nvPr/>
        </p:nvSpPr>
        <p:spPr>
          <a:xfrm>
            <a:off x="3679376" y="5760720"/>
            <a:ext cx="1407024"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34" name="Shape 31"/>
          <p:cNvSpPr/>
          <p:nvPr/>
        </p:nvSpPr>
        <p:spPr>
          <a:xfrm>
            <a:off x="4883761" y="2258568"/>
            <a:ext cx="370580" cy="1536192"/>
          </a:xfrm>
          <a:prstGeom prst="rect">
            <a:avLst/>
          </a:prstGeom>
          <a:solidFill>
            <a:srgbClr val="7F7F7F"/>
          </a:solidFill>
          <a:ln/>
        </p:spPr>
      </p:sp>
      <p:sp>
        <p:nvSpPr>
          <p:cNvPr id="35" name="Shape 32"/>
          <p:cNvSpPr/>
          <p:nvPr/>
        </p:nvSpPr>
        <p:spPr>
          <a:xfrm>
            <a:off x="4883761" y="3794760"/>
            <a:ext cx="370580" cy="329184"/>
          </a:xfrm>
          <a:prstGeom prst="rect">
            <a:avLst/>
          </a:prstGeom>
          <a:solidFill>
            <a:srgbClr val="CCCCCC"/>
          </a:solidFill>
          <a:ln/>
        </p:spPr>
      </p:sp>
      <p:sp>
        <p:nvSpPr>
          <p:cNvPr id="36" name="Text 33"/>
          <p:cNvSpPr txBox="1"/>
          <p:nvPr/>
        </p:nvSpPr>
        <p:spPr>
          <a:xfrm>
            <a:off x="4763345" y="1965960"/>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＋70</a:t>
            </a:r>
            <a:endParaRPr lang="en-US" sz="1200" dirty="0"/>
          </a:p>
        </p:txBody>
      </p:sp>
      <p:sp>
        <p:nvSpPr>
          <p:cNvPr id="37" name="Text 34"/>
          <p:cNvSpPr txBox="1"/>
          <p:nvPr/>
        </p:nvSpPr>
        <p:spPr>
          <a:xfrm>
            <a:off x="4763345" y="4160520"/>
            <a:ext cx="928570"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8" name="Text 35"/>
          <p:cNvSpPr txBox="1"/>
          <p:nvPr/>
        </p:nvSpPr>
        <p:spPr>
          <a:xfrm>
            <a:off x="4605826" y="5760720"/>
            <a:ext cx="1407024"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9" name="Shape 36"/>
          <p:cNvSpPr/>
          <p:nvPr/>
        </p:nvSpPr>
        <p:spPr>
          <a:xfrm>
            <a:off x="5810212" y="3355848"/>
            <a:ext cx="370580" cy="438912"/>
          </a:xfrm>
          <a:prstGeom prst="rect">
            <a:avLst/>
          </a:prstGeom>
          <a:solidFill>
            <a:srgbClr val="7F7F7F"/>
          </a:solidFill>
          <a:ln/>
        </p:spPr>
      </p:sp>
      <p:sp>
        <p:nvSpPr>
          <p:cNvPr id="40" name="Shape 37"/>
          <p:cNvSpPr/>
          <p:nvPr/>
        </p:nvSpPr>
        <p:spPr>
          <a:xfrm>
            <a:off x="5810212" y="3794760"/>
            <a:ext cx="370580" cy="548640"/>
          </a:xfrm>
          <a:prstGeom prst="rect">
            <a:avLst/>
          </a:prstGeom>
          <a:solidFill>
            <a:srgbClr val="CCCCCC"/>
          </a:solidFill>
          <a:ln/>
        </p:spPr>
      </p:sp>
      <p:sp>
        <p:nvSpPr>
          <p:cNvPr id="41" name="Text 38"/>
          <p:cNvSpPr txBox="1"/>
          <p:nvPr/>
        </p:nvSpPr>
        <p:spPr>
          <a:xfrm>
            <a:off x="5689795" y="3063240"/>
            <a:ext cx="768932"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2" name="Text 39"/>
          <p:cNvSpPr txBox="1"/>
          <p:nvPr/>
        </p:nvSpPr>
        <p:spPr>
          <a:xfrm>
            <a:off x="5689795" y="4379976"/>
            <a:ext cx="768932" cy="256032"/>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−25</a:t>
            </a:r>
            <a:endParaRPr lang="en-US" sz="1200" dirty="0"/>
          </a:p>
        </p:txBody>
      </p:sp>
      <p:sp>
        <p:nvSpPr>
          <p:cNvPr id="43" name="Text 40"/>
          <p:cNvSpPr txBox="1"/>
          <p:nvPr/>
        </p:nvSpPr>
        <p:spPr>
          <a:xfrm>
            <a:off x="5532277" y="5760720"/>
            <a:ext cx="926451"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南部</a:t>
            </a:r>
            <a:endParaRPr lang="en-US" sz="1400" dirty="0"/>
          </a:p>
        </p:txBody>
      </p:sp>
      <p:sp>
        <p:nvSpPr>
          <p:cNvPr id="44" name="Text 41"/>
          <p:cNvSpPr txBox="1"/>
          <p:nvPr/>
        </p:nvSpPr>
        <p:spPr>
          <a:xfrm>
            <a:off x="200848" y="5760720"/>
            <a:ext cx="2194560" cy="41148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補足：基準線の上は新たに乗った人、下は乗らなくなった人</a:t>
            </a:r>
            <a:endParaRPr lang="en-US" sz="1100" dirty="0"/>
          </a:p>
        </p:txBody>
      </p:sp>
      <p:sp>
        <p:nvSpPr>
          <p:cNvPr id="45" name="Shape 42"/>
          <p:cNvSpPr/>
          <p:nvPr/>
        </p:nvSpPr>
        <p:spPr>
          <a:xfrm>
            <a:off x="6687328" y="1874520"/>
            <a:ext cx="3017520" cy="4251960"/>
          </a:xfrm>
          <a:prstGeom prst="rect">
            <a:avLst/>
          </a:prstGeom>
          <a:solidFill>
            <a:srgbClr val="E0EEF8"/>
          </a:solidFill>
          <a:ln/>
        </p:spPr>
      </p:sp>
      <p:sp>
        <p:nvSpPr>
          <p:cNvPr id="46" name="Text 43"/>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乗った人と乗らなくなった人がほぼ同数</a:t>
            </a:r>
            <a:endParaRPr lang="en-US" sz="1400" dirty="0"/>
          </a:p>
        </p:txBody>
      </p:sp>
      <p:sp>
        <p:nvSpPr>
          <p:cNvPr id="47" name="Text 44"/>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新たに乗った200人に対し、乗らなくなった人は185人。差し引きは＋15人。試行の利用は、まだ定時便の代わりになっていない。登録者の4割は、まだ一度も予約していない</a:t>
            </a:r>
            <a:endParaRPr lang="en-US" sz="1200" dirty="0"/>
          </a:p>
        </p:txBody>
      </p:sp>
      <p:sp>
        <p:nvSpPr>
          <p:cNvPr id="48" name="Shape 45"/>
          <p:cNvSpPr/>
          <p:nvPr/>
        </p:nvSpPr>
        <p:spPr>
          <a:xfrm>
            <a:off x="6870208" y="3936492"/>
            <a:ext cx="2651760" cy="0"/>
          </a:xfrm>
          <a:prstGeom prst="line">
            <a:avLst/>
          </a:prstGeom>
          <a:noFill/>
          <a:ln w="9525">
            <a:solidFill>
              <a:srgbClr val="CCCCCC"/>
            </a:solidFill>
            <a:prstDash val="solid"/>
          </a:ln>
        </p:spPr>
      </p:sp>
      <p:sp>
        <p:nvSpPr>
          <p:cNvPr id="49" name="Text 46"/>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減った分の4割は東部の定時便</a:t>
            </a:r>
            <a:endParaRPr lang="en-US" sz="1400" dirty="0"/>
          </a:p>
        </p:txBody>
      </p:sp>
      <p:sp>
        <p:nvSpPr>
          <p:cNvPr id="50" name="Text 47"/>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東部は−70人で最大。定時便をやめた区間の利用者が予約型に移っていない。東部では、定時便の利用者に乗り方を個別に案内する。案内の後も移らなければ、東部の定時便を一部残す</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市の手続き420件のうちオンラインで完結するのは84件にとどまる。未着手の8割は福祉と税に集中しており、両部門から手を付ける必要がある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部門別・段階別の手続きの件数</a:t>
            </a:r>
            <a:pPr indent="0" marL="0">
              <a:buNone/>
            </a:pPr>
            <a:r>
              <a:rPr lang="en-US" sz="1100" dirty="0">
                <a:solidFill>
                  <a:srgbClr val="3F3F3F"/>
                </a:solidFill>
                <a:latin typeface="Yu Gothic UI" pitchFamily="34" charset="0"/>
                <a:ea typeface="Yu Gothic UI" pitchFamily="34" charset="-122"/>
                <a:cs typeface="Yu Gothic UI" pitchFamily="34" charset="-120"/>
              </a:rPr>
              <a:t>　（件、2026年9月時点、円の面積は件数に比例）</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行政手続きの処理状況（2026年9月）を基に作成（名称・数値は架空の見本）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75</a:t>
            </a:r>
            <a:endParaRPr lang="en-US" sz="900" dirty="0"/>
          </a:p>
        </p:txBody>
      </p:sp>
      <p:sp>
        <p:nvSpPr>
          <p:cNvPr id="12" name="Text 9"/>
          <p:cNvSpPr txBox="1"/>
          <p:nvPr/>
        </p:nvSpPr>
        <p:spPr>
          <a:xfrm>
            <a:off x="200848" y="1920240"/>
            <a:ext cx="1463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部門</a:t>
            </a:r>
            <a:endParaRPr lang="en-US" sz="1400" dirty="0"/>
          </a:p>
        </p:txBody>
      </p:sp>
      <p:sp>
        <p:nvSpPr>
          <p:cNvPr id="13" name="Text 10"/>
          <p:cNvSpPr txBox="1"/>
          <p:nvPr/>
        </p:nvSpPr>
        <p:spPr>
          <a:xfrm>
            <a:off x="1164182"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未着手</a:t>
            </a:r>
            <a:endParaRPr lang="en-US" sz="1400" dirty="0"/>
          </a:p>
        </p:txBody>
      </p:sp>
      <p:sp>
        <p:nvSpPr>
          <p:cNvPr id="14" name="Text 11"/>
          <p:cNvSpPr txBox="1"/>
          <p:nvPr/>
        </p:nvSpPr>
        <p:spPr>
          <a:xfrm>
            <a:off x="2337297"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試行中</a:t>
            </a:r>
            <a:endParaRPr lang="en-US" sz="1400" dirty="0"/>
          </a:p>
        </p:txBody>
      </p:sp>
      <p:sp>
        <p:nvSpPr>
          <p:cNvPr id="15" name="Text 12"/>
          <p:cNvSpPr txBox="1"/>
          <p:nvPr/>
        </p:nvSpPr>
        <p:spPr>
          <a:xfrm>
            <a:off x="3510413" y="1920240"/>
            <a:ext cx="178164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一部で運用</a:t>
            </a:r>
            <a:endParaRPr lang="en-US" sz="1400" dirty="0"/>
          </a:p>
        </p:txBody>
      </p:sp>
      <p:sp>
        <p:nvSpPr>
          <p:cNvPr id="16" name="Text 13"/>
          <p:cNvSpPr txBox="1"/>
          <p:nvPr/>
        </p:nvSpPr>
        <p:spPr>
          <a:xfrm>
            <a:off x="4683528" y="1920240"/>
            <a:ext cx="1775199"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a:t>
            </a:r>
            <a:endParaRPr lang="en-US" sz="1400" dirty="0"/>
          </a:p>
        </p:txBody>
      </p:sp>
      <p:sp>
        <p:nvSpPr>
          <p:cNvPr id="17" name="Text 14"/>
          <p:cNvSpPr txBox="1"/>
          <p:nvPr/>
        </p:nvSpPr>
        <p:spPr>
          <a:xfrm>
            <a:off x="5856644" y="1920240"/>
            <a:ext cx="60208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18" name="Shape 15"/>
          <p:cNvSpPr/>
          <p:nvPr/>
        </p:nvSpPr>
        <p:spPr>
          <a:xfrm>
            <a:off x="200848" y="2304288"/>
            <a:ext cx="6257880" cy="0"/>
          </a:xfrm>
          <a:prstGeom prst="line">
            <a:avLst/>
          </a:prstGeom>
          <a:noFill/>
          <a:ln w="12700">
            <a:solidFill>
              <a:srgbClr val="7F7F7F"/>
            </a:solidFill>
            <a:prstDash val="solid"/>
          </a:ln>
        </p:spPr>
      </p:sp>
      <p:sp>
        <p:nvSpPr>
          <p:cNvPr id="19" name="Text 16"/>
          <p:cNvSpPr txBox="1"/>
          <p:nvPr/>
        </p:nvSpPr>
        <p:spPr>
          <a:xfrm>
            <a:off x="200848" y="2377440"/>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a:t>
            </a:r>
            <a:endParaRPr lang="en-US" sz="1400" dirty="0"/>
          </a:p>
        </p:txBody>
      </p:sp>
      <p:sp>
        <p:nvSpPr>
          <p:cNvPr id="20" name="Shape 17"/>
          <p:cNvSpPr/>
          <p:nvPr/>
        </p:nvSpPr>
        <p:spPr>
          <a:xfrm>
            <a:off x="1361806" y="2371972"/>
            <a:ext cx="476826" cy="724168"/>
          </a:xfrm>
          <a:prstGeom prst="ellipse">
            <a:avLst/>
          </a:prstGeom>
          <a:solidFill>
            <a:srgbClr val="000F78"/>
          </a:solidFill>
          <a:ln/>
        </p:spPr>
      </p:sp>
      <p:sp>
        <p:nvSpPr>
          <p:cNvPr id="21" name="Text 18"/>
          <p:cNvSpPr txBox="1"/>
          <p:nvPr/>
        </p:nvSpPr>
        <p:spPr>
          <a:xfrm>
            <a:off x="1868736" y="2587752"/>
            <a:ext cx="54864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98</a:t>
            </a:r>
            <a:endParaRPr lang="en-US" sz="1200" dirty="0"/>
          </a:p>
        </p:txBody>
      </p:sp>
      <p:sp>
        <p:nvSpPr>
          <p:cNvPr id="22" name="Shape 19"/>
          <p:cNvSpPr/>
          <p:nvPr/>
        </p:nvSpPr>
        <p:spPr>
          <a:xfrm>
            <a:off x="2671157" y="2578877"/>
            <a:ext cx="204354" cy="310358"/>
          </a:xfrm>
          <a:prstGeom prst="ellipse">
            <a:avLst/>
          </a:prstGeom>
          <a:solidFill>
            <a:srgbClr val="CCCCCC"/>
          </a:solidFill>
          <a:ln/>
        </p:spPr>
      </p:sp>
      <p:sp>
        <p:nvSpPr>
          <p:cNvPr id="23" name="Text 20"/>
          <p:cNvSpPr txBox="1"/>
          <p:nvPr/>
        </p:nvSpPr>
        <p:spPr>
          <a:xfrm>
            <a:off x="2923855"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24" name="Shape 21"/>
          <p:cNvSpPr/>
          <p:nvPr/>
        </p:nvSpPr>
        <p:spPr>
          <a:xfrm>
            <a:off x="3863022" y="2607353"/>
            <a:ext cx="166854" cy="253406"/>
          </a:xfrm>
          <a:prstGeom prst="ellipse">
            <a:avLst/>
          </a:prstGeom>
          <a:solidFill>
            <a:srgbClr val="CCCCCC"/>
          </a:solidFill>
          <a:ln/>
        </p:spPr>
      </p:sp>
      <p:sp>
        <p:nvSpPr>
          <p:cNvPr id="25" name="Text 22"/>
          <p:cNvSpPr txBox="1"/>
          <p:nvPr/>
        </p:nvSpPr>
        <p:spPr>
          <a:xfrm>
            <a:off x="4096971"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12</a:t>
            </a:r>
            <a:endParaRPr lang="en-US" sz="1200" dirty="0"/>
          </a:p>
        </p:txBody>
      </p:sp>
      <p:sp>
        <p:nvSpPr>
          <p:cNvPr id="26" name="Shape 23"/>
          <p:cNvSpPr/>
          <p:nvPr/>
        </p:nvSpPr>
        <p:spPr>
          <a:xfrm>
            <a:off x="5051447" y="2630603"/>
            <a:ext cx="136236" cy="206905"/>
          </a:xfrm>
          <a:prstGeom prst="ellipse">
            <a:avLst/>
          </a:prstGeom>
          <a:solidFill>
            <a:srgbClr val="CCCCCC"/>
          </a:solidFill>
          <a:ln/>
        </p:spPr>
      </p:sp>
      <p:sp>
        <p:nvSpPr>
          <p:cNvPr id="27" name="Text 24"/>
          <p:cNvSpPr txBox="1"/>
          <p:nvPr/>
        </p:nvSpPr>
        <p:spPr>
          <a:xfrm>
            <a:off x="5270086" y="2587752"/>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8" name="Text 25"/>
          <p:cNvSpPr txBox="1"/>
          <p:nvPr/>
        </p:nvSpPr>
        <p:spPr>
          <a:xfrm>
            <a:off x="5856644" y="2377440"/>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136</a:t>
            </a:r>
            <a:endParaRPr lang="en-US" sz="1200" dirty="0"/>
          </a:p>
        </p:txBody>
      </p:sp>
      <p:sp>
        <p:nvSpPr>
          <p:cNvPr id="29" name="Shape 26"/>
          <p:cNvSpPr/>
          <p:nvPr/>
        </p:nvSpPr>
        <p:spPr>
          <a:xfrm>
            <a:off x="200848" y="3127248"/>
            <a:ext cx="6257880" cy="0"/>
          </a:xfrm>
          <a:prstGeom prst="line">
            <a:avLst/>
          </a:prstGeom>
          <a:noFill/>
          <a:ln w="9525">
            <a:solidFill>
              <a:srgbClr val="CCCCCC"/>
            </a:solidFill>
            <a:prstDash val="solid"/>
          </a:ln>
        </p:spPr>
      </p:sp>
      <p:sp>
        <p:nvSpPr>
          <p:cNvPr id="30" name="Text 27"/>
          <p:cNvSpPr txBox="1"/>
          <p:nvPr/>
        </p:nvSpPr>
        <p:spPr>
          <a:xfrm>
            <a:off x="200848" y="3163824"/>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税</a:t>
            </a:r>
            <a:endParaRPr lang="en-US" sz="1400" dirty="0"/>
          </a:p>
        </p:txBody>
      </p:sp>
      <p:sp>
        <p:nvSpPr>
          <p:cNvPr id="31" name="Shape 28"/>
          <p:cNvSpPr/>
          <p:nvPr/>
        </p:nvSpPr>
        <p:spPr>
          <a:xfrm>
            <a:off x="1395865" y="3210082"/>
            <a:ext cx="408708" cy="620715"/>
          </a:xfrm>
          <a:prstGeom prst="ellipse">
            <a:avLst/>
          </a:prstGeom>
          <a:solidFill>
            <a:srgbClr val="000F78"/>
          </a:solidFill>
          <a:ln/>
        </p:spPr>
      </p:sp>
      <p:sp>
        <p:nvSpPr>
          <p:cNvPr id="32" name="Text 29"/>
          <p:cNvSpPr txBox="1"/>
          <p:nvPr/>
        </p:nvSpPr>
        <p:spPr>
          <a:xfrm>
            <a:off x="1834677" y="3374136"/>
            <a:ext cx="548640" cy="292608"/>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72</a:t>
            </a:r>
            <a:endParaRPr lang="en-US" sz="1200" dirty="0"/>
          </a:p>
        </p:txBody>
      </p:sp>
      <p:sp>
        <p:nvSpPr>
          <p:cNvPr id="33" name="Shape 30"/>
          <p:cNvSpPr/>
          <p:nvPr/>
        </p:nvSpPr>
        <p:spPr>
          <a:xfrm>
            <a:off x="2680060" y="3378782"/>
            <a:ext cx="186549" cy="283316"/>
          </a:xfrm>
          <a:prstGeom prst="ellipse">
            <a:avLst/>
          </a:prstGeom>
          <a:solidFill>
            <a:srgbClr val="CCCCCC"/>
          </a:solidFill>
          <a:ln/>
        </p:spPr>
      </p:sp>
      <p:sp>
        <p:nvSpPr>
          <p:cNvPr id="34" name="Text 31"/>
          <p:cNvSpPr txBox="1"/>
          <p:nvPr/>
        </p:nvSpPr>
        <p:spPr>
          <a:xfrm>
            <a:off x="2923855"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35" name="Shape 32"/>
          <p:cNvSpPr/>
          <p:nvPr/>
        </p:nvSpPr>
        <p:spPr>
          <a:xfrm>
            <a:off x="3850116" y="3374136"/>
            <a:ext cx="192667" cy="292608"/>
          </a:xfrm>
          <a:prstGeom prst="ellipse">
            <a:avLst/>
          </a:prstGeom>
          <a:solidFill>
            <a:srgbClr val="CCCCCC"/>
          </a:solidFill>
          <a:ln/>
        </p:spPr>
      </p:sp>
      <p:sp>
        <p:nvSpPr>
          <p:cNvPr id="36" name="Text 33"/>
          <p:cNvSpPr txBox="1"/>
          <p:nvPr/>
        </p:nvSpPr>
        <p:spPr>
          <a:xfrm>
            <a:off x="4096971"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16</a:t>
            </a:r>
            <a:endParaRPr lang="en-US" sz="1200" dirty="0"/>
          </a:p>
        </p:txBody>
      </p:sp>
      <p:sp>
        <p:nvSpPr>
          <p:cNvPr id="37" name="Shape 34"/>
          <p:cNvSpPr/>
          <p:nvPr/>
        </p:nvSpPr>
        <p:spPr>
          <a:xfrm>
            <a:off x="5032731" y="3388563"/>
            <a:ext cx="173668" cy="263753"/>
          </a:xfrm>
          <a:prstGeom prst="ellipse">
            <a:avLst/>
          </a:prstGeom>
          <a:solidFill>
            <a:srgbClr val="CCCCCC"/>
          </a:solidFill>
          <a:ln/>
        </p:spPr>
      </p:sp>
      <p:sp>
        <p:nvSpPr>
          <p:cNvPr id="38" name="Text 35"/>
          <p:cNvSpPr txBox="1"/>
          <p:nvPr/>
        </p:nvSpPr>
        <p:spPr>
          <a:xfrm>
            <a:off x="5270086" y="3374136"/>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13</a:t>
            </a:r>
            <a:endParaRPr lang="en-US" sz="1200" dirty="0"/>
          </a:p>
        </p:txBody>
      </p:sp>
      <p:sp>
        <p:nvSpPr>
          <p:cNvPr id="39" name="Text 36"/>
          <p:cNvSpPr txBox="1"/>
          <p:nvPr/>
        </p:nvSpPr>
        <p:spPr>
          <a:xfrm>
            <a:off x="5856644" y="3163824"/>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116</a:t>
            </a:r>
            <a:endParaRPr lang="en-US" sz="1200" dirty="0"/>
          </a:p>
        </p:txBody>
      </p:sp>
      <p:sp>
        <p:nvSpPr>
          <p:cNvPr id="40" name="Shape 37"/>
          <p:cNvSpPr/>
          <p:nvPr/>
        </p:nvSpPr>
        <p:spPr>
          <a:xfrm>
            <a:off x="200848" y="3913632"/>
            <a:ext cx="6257880" cy="0"/>
          </a:xfrm>
          <a:prstGeom prst="line">
            <a:avLst/>
          </a:prstGeom>
          <a:noFill/>
          <a:ln w="9525">
            <a:solidFill>
              <a:srgbClr val="CCCCCC"/>
            </a:solidFill>
            <a:prstDash val="solid"/>
          </a:ln>
        </p:spPr>
      </p:sp>
      <p:sp>
        <p:nvSpPr>
          <p:cNvPr id="41" name="Text 38"/>
          <p:cNvSpPr txBox="1"/>
          <p:nvPr/>
        </p:nvSpPr>
        <p:spPr>
          <a:xfrm>
            <a:off x="200848" y="3950208"/>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交通</a:t>
            </a:r>
            <a:endParaRPr lang="en-US" sz="1400" dirty="0"/>
          </a:p>
        </p:txBody>
      </p:sp>
      <p:sp>
        <p:nvSpPr>
          <p:cNvPr id="42" name="Shape 39"/>
          <p:cNvSpPr/>
          <p:nvPr/>
        </p:nvSpPr>
        <p:spPr>
          <a:xfrm>
            <a:off x="1506944" y="4165166"/>
            <a:ext cx="186549" cy="283316"/>
          </a:xfrm>
          <a:prstGeom prst="ellipse">
            <a:avLst/>
          </a:prstGeom>
          <a:solidFill>
            <a:srgbClr val="CCCCCC"/>
          </a:solidFill>
          <a:ln/>
        </p:spPr>
      </p:sp>
      <p:sp>
        <p:nvSpPr>
          <p:cNvPr id="43" name="Text 40"/>
          <p:cNvSpPr txBox="1"/>
          <p:nvPr/>
        </p:nvSpPr>
        <p:spPr>
          <a:xfrm>
            <a:off x="1750740"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15</a:t>
            </a:r>
            <a:endParaRPr lang="en-US" sz="1200" dirty="0"/>
          </a:p>
        </p:txBody>
      </p:sp>
      <p:sp>
        <p:nvSpPr>
          <p:cNvPr id="44" name="Shape 41"/>
          <p:cNvSpPr/>
          <p:nvPr/>
        </p:nvSpPr>
        <p:spPr>
          <a:xfrm>
            <a:off x="2683222" y="4169969"/>
            <a:ext cx="180223" cy="273710"/>
          </a:xfrm>
          <a:prstGeom prst="ellipse">
            <a:avLst/>
          </a:prstGeom>
          <a:solidFill>
            <a:srgbClr val="CCCCCC"/>
          </a:solidFill>
          <a:ln/>
        </p:spPr>
      </p:sp>
      <p:sp>
        <p:nvSpPr>
          <p:cNvPr id="45" name="Text 42"/>
          <p:cNvSpPr txBox="1"/>
          <p:nvPr/>
        </p:nvSpPr>
        <p:spPr>
          <a:xfrm>
            <a:off x="2923855"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14</a:t>
            </a:r>
            <a:endParaRPr lang="en-US" sz="1200" dirty="0"/>
          </a:p>
        </p:txBody>
      </p:sp>
      <p:sp>
        <p:nvSpPr>
          <p:cNvPr id="46" name="Shape 43"/>
          <p:cNvSpPr/>
          <p:nvPr/>
        </p:nvSpPr>
        <p:spPr>
          <a:xfrm>
            <a:off x="3838745" y="4143251"/>
            <a:ext cx="215408" cy="327146"/>
          </a:xfrm>
          <a:prstGeom prst="ellipse">
            <a:avLst/>
          </a:prstGeom>
          <a:solidFill>
            <a:srgbClr val="CCCCCC"/>
          </a:solidFill>
          <a:ln/>
        </p:spPr>
      </p:sp>
      <p:sp>
        <p:nvSpPr>
          <p:cNvPr id="47" name="Text 44"/>
          <p:cNvSpPr txBox="1"/>
          <p:nvPr/>
        </p:nvSpPr>
        <p:spPr>
          <a:xfrm>
            <a:off x="4096971"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48" name="Shape 45"/>
          <p:cNvSpPr/>
          <p:nvPr/>
        </p:nvSpPr>
        <p:spPr>
          <a:xfrm>
            <a:off x="4977086" y="4090437"/>
            <a:ext cx="284958" cy="432773"/>
          </a:xfrm>
          <a:prstGeom prst="ellipse">
            <a:avLst/>
          </a:prstGeom>
          <a:solidFill>
            <a:srgbClr val="CCCCCC"/>
          </a:solidFill>
          <a:ln/>
        </p:spPr>
      </p:sp>
      <p:sp>
        <p:nvSpPr>
          <p:cNvPr id="49" name="Text 46"/>
          <p:cNvSpPr txBox="1"/>
          <p:nvPr/>
        </p:nvSpPr>
        <p:spPr>
          <a:xfrm>
            <a:off x="5292148" y="4160520"/>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35</a:t>
            </a:r>
            <a:endParaRPr lang="en-US" sz="1200" dirty="0"/>
          </a:p>
        </p:txBody>
      </p:sp>
      <p:sp>
        <p:nvSpPr>
          <p:cNvPr id="50" name="Text 47"/>
          <p:cNvSpPr txBox="1"/>
          <p:nvPr/>
        </p:nvSpPr>
        <p:spPr>
          <a:xfrm>
            <a:off x="5856644" y="3950208"/>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51" name="Shape 48"/>
          <p:cNvSpPr/>
          <p:nvPr/>
        </p:nvSpPr>
        <p:spPr>
          <a:xfrm>
            <a:off x="200848" y="4700016"/>
            <a:ext cx="6257880" cy="0"/>
          </a:xfrm>
          <a:prstGeom prst="line">
            <a:avLst/>
          </a:prstGeom>
          <a:noFill/>
          <a:ln w="9525">
            <a:solidFill>
              <a:srgbClr val="CCCCCC"/>
            </a:solidFill>
            <a:prstDash val="solid"/>
          </a:ln>
        </p:spPr>
      </p:sp>
      <p:sp>
        <p:nvSpPr>
          <p:cNvPr id="52" name="Text 49"/>
          <p:cNvSpPr txBox="1"/>
          <p:nvPr/>
        </p:nvSpPr>
        <p:spPr>
          <a:xfrm>
            <a:off x="200848" y="4736592"/>
            <a:ext cx="963334" cy="71323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a:t>
            </a:r>
            <a:endParaRPr lang="en-US" sz="1400" dirty="0"/>
          </a:p>
        </p:txBody>
      </p:sp>
      <p:sp>
        <p:nvSpPr>
          <p:cNvPr id="53" name="Shape 50"/>
          <p:cNvSpPr/>
          <p:nvPr/>
        </p:nvSpPr>
        <p:spPr>
          <a:xfrm>
            <a:off x="1495242" y="4933777"/>
            <a:ext cx="209954" cy="318862"/>
          </a:xfrm>
          <a:prstGeom prst="ellipse">
            <a:avLst/>
          </a:prstGeom>
          <a:solidFill>
            <a:srgbClr val="CCCCCC"/>
          </a:solidFill>
          <a:ln/>
        </p:spPr>
      </p:sp>
      <p:sp>
        <p:nvSpPr>
          <p:cNvPr id="54" name="Text 51"/>
          <p:cNvSpPr txBox="1"/>
          <p:nvPr/>
        </p:nvSpPr>
        <p:spPr>
          <a:xfrm>
            <a:off x="1750740"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5" name="Shape 52"/>
          <p:cNvSpPr/>
          <p:nvPr/>
        </p:nvSpPr>
        <p:spPr>
          <a:xfrm>
            <a:off x="2671157" y="4938029"/>
            <a:ext cx="204354" cy="310358"/>
          </a:xfrm>
          <a:prstGeom prst="ellipse">
            <a:avLst/>
          </a:prstGeom>
          <a:solidFill>
            <a:srgbClr val="CCCCCC"/>
          </a:solidFill>
          <a:ln/>
        </p:spPr>
      </p:sp>
      <p:sp>
        <p:nvSpPr>
          <p:cNvPr id="56" name="Text 53"/>
          <p:cNvSpPr txBox="1"/>
          <p:nvPr/>
        </p:nvSpPr>
        <p:spPr>
          <a:xfrm>
            <a:off x="2923855"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18</a:t>
            </a:r>
            <a:endParaRPr lang="en-US" sz="1200" dirty="0"/>
          </a:p>
        </p:txBody>
      </p:sp>
      <p:sp>
        <p:nvSpPr>
          <p:cNvPr id="57" name="Shape 54"/>
          <p:cNvSpPr/>
          <p:nvPr/>
        </p:nvSpPr>
        <p:spPr>
          <a:xfrm>
            <a:off x="3841473" y="4933777"/>
            <a:ext cx="209954" cy="318862"/>
          </a:xfrm>
          <a:prstGeom prst="ellipse">
            <a:avLst/>
          </a:prstGeom>
          <a:solidFill>
            <a:srgbClr val="CCCCCC"/>
          </a:solidFill>
          <a:ln/>
        </p:spPr>
      </p:sp>
      <p:sp>
        <p:nvSpPr>
          <p:cNvPr id="58" name="Text 55"/>
          <p:cNvSpPr txBox="1"/>
          <p:nvPr/>
        </p:nvSpPr>
        <p:spPr>
          <a:xfrm>
            <a:off x="4096971"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19</a:t>
            </a:r>
            <a:endParaRPr lang="en-US" sz="1200" dirty="0"/>
          </a:p>
        </p:txBody>
      </p:sp>
      <p:sp>
        <p:nvSpPr>
          <p:cNvPr id="59" name="Shape 56"/>
          <p:cNvSpPr/>
          <p:nvPr/>
        </p:nvSpPr>
        <p:spPr>
          <a:xfrm>
            <a:off x="4992128" y="4899666"/>
            <a:ext cx="254874" cy="387084"/>
          </a:xfrm>
          <a:prstGeom prst="ellipse">
            <a:avLst/>
          </a:prstGeom>
          <a:solidFill>
            <a:srgbClr val="CCCCCC"/>
          </a:solidFill>
          <a:ln/>
        </p:spPr>
      </p:sp>
      <p:sp>
        <p:nvSpPr>
          <p:cNvPr id="60" name="Text 57"/>
          <p:cNvSpPr txBox="1"/>
          <p:nvPr/>
        </p:nvSpPr>
        <p:spPr>
          <a:xfrm>
            <a:off x="5277106" y="4946904"/>
            <a:ext cx="548640" cy="292608"/>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28</a:t>
            </a:r>
            <a:endParaRPr lang="en-US" sz="1200" dirty="0"/>
          </a:p>
        </p:txBody>
      </p:sp>
      <p:sp>
        <p:nvSpPr>
          <p:cNvPr id="61" name="Text 58"/>
          <p:cNvSpPr txBox="1"/>
          <p:nvPr/>
        </p:nvSpPr>
        <p:spPr>
          <a:xfrm>
            <a:off x="5856644" y="4736592"/>
            <a:ext cx="602084" cy="713232"/>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84</a:t>
            </a:r>
            <a:endParaRPr lang="en-US" sz="1200" dirty="0"/>
          </a:p>
        </p:txBody>
      </p:sp>
      <p:sp>
        <p:nvSpPr>
          <p:cNvPr id="62" name="Shape 59"/>
          <p:cNvSpPr/>
          <p:nvPr/>
        </p:nvSpPr>
        <p:spPr>
          <a:xfrm>
            <a:off x="200848" y="5559552"/>
            <a:ext cx="6257880" cy="0"/>
          </a:xfrm>
          <a:prstGeom prst="line">
            <a:avLst/>
          </a:prstGeom>
          <a:noFill/>
          <a:ln w="12700">
            <a:solidFill>
              <a:srgbClr val="7F7F7F"/>
            </a:solidFill>
            <a:prstDash val="solid"/>
          </a:ln>
        </p:spPr>
      </p:sp>
      <p:sp>
        <p:nvSpPr>
          <p:cNvPr id="63" name="Text 60"/>
          <p:cNvSpPr txBox="1"/>
          <p:nvPr/>
        </p:nvSpPr>
        <p:spPr>
          <a:xfrm>
            <a:off x="200848" y="5614416"/>
            <a:ext cx="1463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64" name="Text 61"/>
          <p:cNvSpPr txBox="1"/>
          <p:nvPr/>
        </p:nvSpPr>
        <p:spPr>
          <a:xfrm>
            <a:off x="1164182"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204</a:t>
            </a:r>
            <a:endParaRPr lang="en-US" sz="1200" dirty="0"/>
          </a:p>
        </p:txBody>
      </p:sp>
      <p:sp>
        <p:nvSpPr>
          <p:cNvPr id="65" name="Text 62"/>
          <p:cNvSpPr txBox="1"/>
          <p:nvPr/>
        </p:nvSpPr>
        <p:spPr>
          <a:xfrm>
            <a:off x="2337297"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65</a:t>
            </a:r>
            <a:endParaRPr lang="en-US" sz="1200" dirty="0"/>
          </a:p>
        </p:txBody>
      </p:sp>
      <p:sp>
        <p:nvSpPr>
          <p:cNvPr id="66" name="Text 63"/>
          <p:cNvSpPr txBox="1"/>
          <p:nvPr/>
        </p:nvSpPr>
        <p:spPr>
          <a:xfrm>
            <a:off x="3510413"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67</a:t>
            </a:r>
            <a:endParaRPr lang="en-US" sz="1200" dirty="0"/>
          </a:p>
        </p:txBody>
      </p:sp>
      <p:sp>
        <p:nvSpPr>
          <p:cNvPr id="67" name="Text 64"/>
          <p:cNvSpPr txBox="1"/>
          <p:nvPr/>
        </p:nvSpPr>
        <p:spPr>
          <a:xfrm>
            <a:off x="4683528" y="5614416"/>
            <a:ext cx="1324440" cy="32004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84</a:t>
            </a:r>
            <a:endParaRPr lang="en-US" sz="1200" dirty="0"/>
          </a:p>
        </p:txBody>
      </p:sp>
      <p:sp>
        <p:nvSpPr>
          <p:cNvPr id="68" name="Text 65"/>
          <p:cNvSpPr txBox="1"/>
          <p:nvPr/>
        </p:nvSpPr>
        <p:spPr>
          <a:xfrm>
            <a:off x="5856644" y="5614416"/>
            <a:ext cx="60208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420</a:t>
            </a:r>
            <a:endParaRPr lang="en-US" sz="1200" dirty="0"/>
          </a:p>
        </p:txBody>
      </p:sp>
      <p:sp>
        <p:nvSpPr>
          <p:cNvPr id="69" name="Shape 66"/>
          <p:cNvSpPr/>
          <p:nvPr/>
        </p:nvSpPr>
        <p:spPr>
          <a:xfrm>
            <a:off x="6687328" y="1874520"/>
            <a:ext cx="3017520" cy="4251960"/>
          </a:xfrm>
          <a:prstGeom prst="rect">
            <a:avLst/>
          </a:prstGeom>
          <a:solidFill>
            <a:srgbClr val="E0EEF8"/>
          </a:solidFill>
          <a:ln/>
        </p:spPr>
      </p:sp>
      <p:sp>
        <p:nvSpPr>
          <p:cNvPr id="70" name="Text 6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オンラインで完結するのは420件中84件</a:t>
            </a:r>
            <a:endParaRPr lang="en-US" sz="1400" dirty="0"/>
          </a:p>
        </p:txBody>
      </p:sp>
      <p:sp>
        <p:nvSpPr>
          <p:cNvPr id="71" name="Text 6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全体の2割。未着手の204件のうち8割（170件）が福祉と税の手続き。件数の多い分野ほど電子化が遅れている。2分野の手続きは、書類の確認に人手がかかる</a:t>
            </a:r>
            <a:endParaRPr lang="en-US" sz="1200" dirty="0"/>
          </a:p>
        </p:txBody>
      </p:sp>
      <p:sp>
        <p:nvSpPr>
          <p:cNvPr id="72" name="Shape 69"/>
          <p:cNvSpPr/>
          <p:nvPr/>
        </p:nvSpPr>
        <p:spPr>
          <a:xfrm>
            <a:off x="6870208" y="3936492"/>
            <a:ext cx="2651760" cy="0"/>
          </a:xfrm>
          <a:prstGeom prst="line">
            <a:avLst/>
          </a:prstGeom>
          <a:noFill/>
          <a:ln w="9525">
            <a:solidFill>
              <a:srgbClr val="CCCCCC"/>
            </a:solidFill>
            <a:prstDash val="solid"/>
          </a:ln>
        </p:spPr>
      </p:sp>
      <p:sp>
        <p:nvSpPr>
          <p:cNvPr id="73" name="Text 7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福祉と税から着手する</a:t>
            </a:r>
            <a:endParaRPr lang="en-US" sz="1400" dirty="0"/>
          </a:p>
        </p:txBody>
      </p:sp>
      <p:sp>
        <p:nvSpPr>
          <p:cNvPr id="74" name="Text 7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福祉98件・税72件が「未着手」。申請の多い上位20件から先に電子化する。2分野を終えれば、オンラインで完結する割合は6割を超える。電子化の費用は、国の補助で半分を賄える</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市内120の停留所のうち、上位1割の12か所で乗車の53%を占める。残る108か所の大半は1日10人未満で、乗降地点を集約する余地が大きい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停留所別の1日当たり乗車人数</a:t>
            </a:r>
            <a:pPr indent="0" marL="0">
              <a:buNone/>
            </a:pPr>
            <a:r>
              <a:rPr lang="en-US" sz="1100" dirty="0">
                <a:solidFill>
                  <a:srgbClr val="3F3F3F"/>
                </a:solidFill>
                <a:latin typeface="Yu Gothic UI" pitchFamily="34" charset="0"/>
                <a:ea typeface="Yu Gothic UI" pitchFamily="34" charset="-122"/>
                <a:cs typeface="Yu Gothic UI" pitchFamily="34" charset="-120"/>
              </a:rPr>
              <a:t>　（人、120停留所を多い順に並べたもの、2025年度）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注）乗車人数は2025年度の平日平均</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76</a:t>
            </a:r>
            <a:endParaRPr lang="en-US" sz="900" dirty="0"/>
          </a:p>
        </p:txBody>
      </p:sp>
      <p:sp>
        <p:nvSpPr>
          <p:cNvPr id="12" name="Shape 9"/>
          <p:cNvSpPr/>
          <p:nvPr/>
        </p:nvSpPr>
        <p:spPr>
          <a:xfrm>
            <a:off x="206883" y="2377440"/>
            <a:ext cx="38222" cy="3383280"/>
          </a:xfrm>
          <a:prstGeom prst="rect">
            <a:avLst/>
          </a:prstGeom>
          <a:solidFill>
            <a:srgbClr val="000F78"/>
          </a:solidFill>
          <a:ln/>
        </p:spPr>
      </p:sp>
      <p:sp>
        <p:nvSpPr>
          <p:cNvPr id="13" name="Shape 10"/>
          <p:cNvSpPr/>
          <p:nvPr/>
        </p:nvSpPr>
        <p:spPr>
          <a:xfrm>
            <a:off x="257175" y="4107820"/>
            <a:ext cx="38222" cy="1652900"/>
          </a:xfrm>
          <a:prstGeom prst="rect">
            <a:avLst/>
          </a:prstGeom>
          <a:solidFill>
            <a:srgbClr val="000F78"/>
          </a:solidFill>
          <a:ln/>
        </p:spPr>
      </p:sp>
      <p:sp>
        <p:nvSpPr>
          <p:cNvPr id="14" name="Shape 11"/>
          <p:cNvSpPr/>
          <p:nvPr/>
        </p:nvSpPr>
        <p:spPr>
          <a:xfrm>
            <a:off x="307467" y="4676004"/>
            <a:ext cx="38222" cy="1084716"/>
          </a:xfrm>
          <a:prstGeom prst="rect">
            <a:avLst/>
          </a:prstGeom>
          <a:solidFill>
            <a:srgbClr val="000F78"/>
          </a:solidFill>
          <a:ln/>
        </p:spPr>
      </p:sp>
      <p:sp>
        <p:nvSpPr>
          <p:cNvPr id="15" name="Shape 12"/>
          <p:cNvSpPr/>
          <p:nvPr/>
        </p:nvSpPr>
        <p:spPr>
          <a:xfrm>
            <a:off x="357759" y="4947183"/>
            <a:ext cx="38222" cy="813537"/>
          </a:xfrm>
          <a:prstGeom prst="rect">
            <a:avLst/>
          </a:prstGeom>
          <a:solidFill>
            <a:srgbClr val="000F78"/>
          </a:solidFill>
          <a:ln/>
        </p:spPr>
      </p:sp>
      <p:sp>
        <p:nvSpPr>
          <p:cNvPr id="16" name="Shape 13"/>
          <p:cNvSpPr/>
          <p:nvPr/>
        </p:nvSpPr>
        <p:spPr>
          <a:xfrm>
            <a:off x="408051" y="5115056"/>
            <a:ext cx="38222" cy="645664"/>
          </a:xfrm>
          <a:prstGeom prst="rect">
            <a:avLst/>
          </a:prstGeom>
          <a:solidFill>
            <a:srgbClr val="000F78"/>
          </a:solidFill>
          <a:ln/>
        </p:spPr>
      </p:sp>
      <p:sp>
        <p:nvSpPr>
          <p:cNvPr id="17" name="Shape 14"/>
          <p:cNvSpPr/>
          <p:nvPr/>
        </p:nvSpPr>
        <p:spPr>
          <a:xfrm>
            <a:off x="458343" y="5218362"/>
            <a:ext cx="38222" cy="542358"/>
          </a:xfrm>
          <a:prstGeom prst="rect">
            <a:avLst/>
          </a:prstGeom>
          <a:solidFill>
            <a:srgbClr val="000F78"/>
          </a:solidFill>
          <a:ln/>
        </p:spPr>
      </p:sp>
      <p:sp>
        <p:nvSpPr>
          <p:cNvPr id="18" name="Shape 15"/>
          <p:cNvSpPr/>
          <p:nvPr/>
        </p:nvSpPr>
        <p:spPr>
          <a:xfrm>
            <a:off x="508635" y="5295842"/>
            <a:ext cx="38222" cy="464878"/>
          </a:xfrm>
          <a:prstGeom prst="rect">
            <a:avLst/>
          </a:prstGeom>
          <a:solidFill>
            <a:srgbClr val="000F78"/>
          </a:solidFill>
          <a:ln/>
        </p:spPr>
      </p:sp>
      <p:sp>
        <p:nvSpPr>
          <p:cNvPr id="19" name="Shape 16"/>
          <p:cNvSpPr/>
          <p:nvPr/>
        </p:nvSpPr>
        <p:spPr>
          <a:xfrm>
            <a:off x="558927" y="5360408"/>
            <a:ext cx="38222" cy="400312"/>
          </a:xfrm>
          <a:prstGeom prst="rect">
            <a:avLst/>
          </a:prstGeom>
          <a:solidFill>
            <a:srgbClr val="000F78"/>
          </a:solidFill>
          <a:ln/>
        </p:spPr>
      </p:sp>
      <p:sp>
        <p:nvSpPr>
          <p:cNvPr id="20" name="Shape 17"/>
          <p:cNvSpPr/>
          <p:nvPr/>
        </p:nvSpPr>
        <p:spPr>
          <a:xfrm>
            <a:off x="609219" y="5399148"/>
            <a:ext cx="38222" cy="361572"/>
          </a:xfrm>
          <a:prstGeom prst="rect">
            <a:avLst/>
          </a:prstGeom>
          <a:solidFill>
            <a:srgbClr val="000F78"/>
          </a:solidFill>
          <a:ln/>
        </p:spPr>
      </p:sp>
      <p:sp>
        <p:nvSpPr>
          <p:cNvPr id="21" name="Shape 18"/>
          <p:cNvSpPr/>
          <p:nvPr/>
        </p:nvSpPr>
        <p:spPr>
          <a:xfrm>
            <a:off x="659511" y="5437888"/>
            <a:ext cx="38222" cy="322832"/>
          </a:xfrm>
          <a:prstGeom prst="rect">
            <a:avLst/>
          </a:prstGeom>
          <a:solidFill>
            <a:srgbClr val="000F78"/>
          </a:solidFill>
          <a:ln/>
        </p:spPr>
      </p:sp>
      <p:sp>
        <p:nvSpPr>
          <p:cNvPr id="22" name="Shape 19"/>
          <p:cNvSpPr/>
          <p:nvPr/>
        </p:nvSpPr>
        <p:spPr>
          <a:xfrm>
            <a:off x="709803" y="5463715"/>
            <a:ext cx="38222" cy="297005"/>
          </a:xfrm>
          <a:prstGeom prst="rect">
            <a:avLst/>
          </a:prstGeom>
          <a:solidFill>
            <a:srgbClr val="000F78"/>
          </a:solidFill>
          <a:ln/>
        </p:spPr>
      </p:sp>
      <p:sp>
        <p:nvSpPr>
          <p:cNvPr id="23" name="Shape 20"/>
          <p:cNvSpPr/>
          <p:nvPr/>
        </p:nvSpPr>
        <p:spPr>
          <a:xfrm>
            <a:off x="760095" y="5489541"/>
            <a:ext cx="38222" cy="271179"/>
          </a:xfrm>
          <a:prstGeom prst="rect">
            <a:avLst/>
          </a:prstGeom>
          <a:solidFill>
            <a:srgbClr val="000F78"/>
          </a:solidFill>
          <a:ln/>
        </p:spPr>
      </p:sp>
      <p:sp>
        <p:nvSpPr>
          <p:cNvPr id="24" name="Shape 21"/>
          <p:cNvSpPr/>
          <p:nvPr/>
        </p:nvSpPr>
        <p:spPr>
          <a:xfrm>
            <a:off x="810387" y="5502454"/>
            <a:ext cx="38222" cy="258266"/>
          </a:xfrm>
          <a:prstGeom prst="rect">
            <a:avLst/>
          </a:prstGeom>
          <a:solidFill>
            <a:srgbClr val="CCCCCC"/>
          </a:solidFill>
          <a:ln/>
        </p:spPr>
      </p:sp>
      <p:sp>
        <p:nvSpPr>
          <p:cNvPr id="25" name="Shape 22"/>
          <p:cNvSpPr/>
          <p:nvPr/>
        </p:nvSpPr>
        <p:spPr>
          <a:xfrm>
            <a:off x="860679" y="5528281"/>
            <a:ext cx="38222" cy="232439"/>
          </a:xfrm>
          <a:prstGeom prst="rect">
            <a:avLst/>
          </a:prstGeom>
          <a:solidFill>
            <a:srgbClr val="CCCCCC"/>
          </a:solidFill>
          <a:ln/>
        </p:spPr>
      </p:sp>
      <p:sp>
        <p:nvSpPr>
          <p:cNvPr id="26" name="Shape 23"/>
          <p:cNvSpPr/>
          <p:nvPr/>
        </p:nvSpPr>
        <p:spPr>
          <a:xfrm>
            <a:off x="910971" y="5541194"/>
            <a:ext cx="38222" cy="219526"/>
          </a:xfrm>
          <a:prstGeom prst="rect">
            <a:avLst/>
          </a:prstGeom>
          <a:solidFill>
            <a:srgbClr val="CCCCCC"/>
          </a:solidFill>
          <a:ln/>
        </p:spPr>
      </p:sp>
      <p:sp>
        <p:nvSpPr>
          <p:cNvPr id="27" name="Shape 24"/>
          <p:cNvSpPr/>
          <p:nvPr/>
        </p:nvSpPr>
        <p:spPr>
          <a:xfrm>
            <a:off x="961263" y="5554107"/>
            <a:ext cx="38222" cy="206613"/>
          </a:xfrm>
          <a:prstGeom prst="rect">
            <a:avLst/>
          </a:prstGeom>
          <a:solidFill>
            <a:srgbClr val="CCCCCC"/>
          </a:solidFill>
          <a:ln/>
        </p:spPr>
      </p:sp>
      <p:sp>
        <p:nvSpPr>
          <p:cNvPr id="28" name="Shape 25"/>
          <p:cNvSpPr/>
          <p:nvPr/>
        </p:nvSpPr>
        <p:spPr>
          <a:xfrm>
            <a:off x="1011555" y="5567021"/>
            <a:ext cx="38222" cy="193699"/>
          </a:xfrm>
          <a:prstGeom prst="rect">
            <a:avLst/>
          </a:prstGeom>
          <a:solidFill>
            <a:srgbClr val="CCCCCC"/>
          </a:solidFill>
          <a:ln/>
        </p:spPr>
      </p:sp>
      <p:sp>
        <p:nvSpPr>
          <p:cNvPr id="29" name="Shape 26"/>
          <p:cNvSpPr/>
          <p:nvPr/>
        </p:nvSpPr>
        <p:spPr>
          <a:xfrm>
            <a:off x="1061847" y="5567021"/>
            <a:ext cx="38222" cy="193699"/>
          </a:xfrm>
          <a:prstGeom prst="rect">
            <a:avLst/>
          </a:prstGeom>
          <a:solidFill>
            <a:srgbClr val="CCCCCC"/>
          </a:solidFill>
          <a:ln/>
        </p:spPr>
      </p:sp>
      <p:sp>
        <p:nvSpPr>
          <p:cNvPr id="30" name="Shape 27"/>
          <p:cNvSpPr/>
          <p:nvPr/>
        </p:nvSpPr>
        <p:spPr>
          <a:xfrm>
            <a:off x="1112139" y="5579934"/>
            <a:ext cx="38222" cy="180786"/>
          </a:xfrm>
          <a:prstGeom prst="rect">
            <a:avLst/>
          </a:prstGeom>
          <a:solidFill>
            <a:srgbClr val="CCCCCC"/>
          </a:solidFill>
          <a:ln/>
        </p:spPr>
      </p:sp>
      <p:sp>
        <p:nvSpPr>
          <p:cNvPr id="31" name="Shape 28"/>
          <p:cNvSpPr/>
          <p:nvPr/>
        </p:nvSpPr>
        <p:spPr>
          <a:xfrm>
            <a:off x="1162431" y="5592847"/>
            <a:ext cx="38222" cy="167873"/>
          </a:xfrm>
          <a:prstGeom prst="rect">
            <a:avLst/>
          </a:prstGeom>
          <a:solidFill>
            <a:srgbClr val="CCCCCC"/>
          </a:solidFill>
          <a:ln/>
        </p:spPr>
      </p:sp>
      <p:sp>
        <p:nvSpPr>
          <p:cNvPr id="32" name="Shape 29"/>
          <p:cNvSpPr/>
          <p:nvPr/>
        </p:nvSpPr>
        <p:spPr>
          <a:xfrm>
            <a:off x="1212723" y="5592847"/>
            <a:ext cx="38222" cy="167873"/>
          </a:xfrm>
          <a:prstGeom prst="rect">
            <a:avLst/>
          </a:prstGeom>
          <a:solidFill>
            <a:srgbClr val="CCCCCC"/>
          </a:solidFill>
          <a:ln/>
        </p:spPr>
      </p:sp>
      <p:sp>
        <p:nvSpPr>
          <p:cNvPr id="33" name="Shape 30"/>
          <p:cNvSpPr/>
          <p:nvPr/>
        </p:nvSpPr>
        <p:spPr>
          <a:xfrm>
            <a:off x="1263015" y="5605761"/>
            <a:ext cx="38222" cy="154959"/>
          </a:xfrm>
          <a:prstGeom prst="rect">
            <a:avLst/>
          </a:prstGeom>
          <a:solidFill>
            <a:srgbClr val="CCCCCC"/>
          </a:solidFill>
          <a:ln/>
        </p:spPr>
      </p:sp>
      <p:sp>
        <p:nvSpPr>
          <p:cNvPr id="34" name="Shape 31"/>
          <p:cNvSpPr/>
          <p:nvPr/>
        </p:nvSpPr>
        <p:spPr>
          <a:xfrm>
            <a:off x="1313307" y="5605761"/>
            <a:ext cx="38222" cy="154959"/>
          </a:xfrm>
          <a:prstGeom prst="rect">
            <a:avLst/>
          </a:prstGeom>
          <a:solidFill>
            <a:srgbClr val="CCCCCC"/>
          </a:solidFill>
          <a:ln/>
        </p:spPr>
      </p:sp>
      <p:sp>
        <p:nvSpPr>
          <p:cNvPr id="35" name="Shape 32"/>
          <p:cNvSpPr/>
          <p:nvPr/>
        </p:nvSpPr>
        <p:spPr>
          <a:xfrm>
            <a:off x="1363599" y="5618674"/>
            <a:ext cx="38222" cy="142046"/>
          </a:xfrm>
          <a:prstGeom prst="rect">
            <a:avLst/>
          </a:prstGeom>
          <a:solidFill>
            <a:srgbClr val="CCCCCC"/>
          </a:solidFill>
          <a:ln/>
        </p:spPr>
      </p:sp>
      <p:sp>
        <p:nvSpPr>
          <p:cNvPr id="36" name="Shape 33"/>
          <p:cNvSpPr/>
          <p:nvPr/>
        </p:nvSpPr>
        <p:spPr>
          <a:xfrm>
            <a:off x="1413891" y="5618674"/>
            <a:ext cx="38222" cy="142046"/>
          </a:xfrm>
          <a:prstGeom prst="rect">
            <a:avLst/>
          </a:prstGeom>
          <a:solidFill>
            <a:srgbClr val="CCCCCC"/>
          </a:solidFill>
          <a:ln/>
        </p:spPr>
      </p:sp>
      <p:sp>
        <p:nvSpPr>
          <p:cNvPr id="37" name="Shape 34"/>
          <p:cNvSpPr/>
          <p:nvPr/>
        </p:nvSpPr>
        <p:spPr>
          <a:xfrm>
            <a:off x="1464183" y="5631587"/>
            <a:ext cx="38222" cy="129133"/>
          </a:xfrm>
          <a:prstGeom prst="rect">
            <a:avLst/>
          </a:prstGeom>
          <a:solidFill>
            <a:srgbClr val="CCCCCC"/>
          </a:solidFill>
          <a:ln/>
        </p:spPr>
      </p:sp>
      <p:sp>
        <p:nvSpPr>
          <p:cNvPr id="38" name="Shape 35"/>
          <p:cNvSpPr/>
          <p:nvPr/>
        </p:nvSpPr>
        <p:spPr>
          <a:xfrm>
            <a:off x="1514475" y="5631587"/>
            <a:ext cx="38222" cy="129133"/>
          </a:xfrm>
          <a:prstGeom prst="rect">
            <a:avLst/>
          </a:prstGeom>
          <a:solidFill>
            <a:srgbClr val="CCCCCC"/>
          </a:solidFill>
          <a:ln/>
        </p:spPr>
      </p:sp>
      <p:sp>
        <p:nvSpPr>
          <p:cNvPr id="39" name="Shape 36"/>
          <p:cNvSpPr/>
          <p:nvPr/>
        </p:nvSpPr>
        <p:spPr>
          <a:xfrm>
            <a:off x="1564767" y="5631587"/>
            <a:ext cx="38222" cy="129133"/>
          </a:xfrm>
          <a:prstGeom prst="rect">
            <a:avLst/>
          </a:prstGeom>
          <a:solidFill>
            <a:srgbClr val="CCCCCC"/>
          </a:solidFill>
          <a:ln/>
        </p:spPr>
      </p:sp>
      <p:sp>
        <p:nvSpPr>
          <p:cNvPr id="40" name="Shape 37"/>
          <p:cNvSpPr/>
          <p:nvPr/>
        </p:nvSpPr>
        <p:spPr>
          <a:xfrm>
            <a:off x="1615059" y="5631587"/>
            <a:ext cx="38222" cy="129133"/>
          </a:xfrm>
          <a:prstGeom prst="rect">
            <a:avLst/>
          </a:prstGeom>
          <a:solidFill>
            <a:srgbClr val="CCCCCC"/>
          </a:solidFill>
          <a:ln/>
        </p:spPr>
      </p:sp>
      <p:sp>
        <p:nvSpPr>
          <p:cNvPr id="41" name="Shape 38"/>
          <p:cNvSpPr/>
          <p:nvPr/>
        </p:nvSpPr>
        <p:spPr>
          <a:xfrm>
            <a:off x="1665351" y="5644500"/>
            <a:ext cx="38222" cy="116220"/>
          </a:xfrm>
          <a:prstGeom prst="rect">
            <a:avLst/>
          </a:prstGeom>
          <a:solidFill>
            <a:srgbClr val="CCCCCC"/>
          </a:solidFill>
          <a:ln/>
        </p:spPr>
      </p:sp>
      <p:sp>
        <p:nvSpPr>
          <p:cNvPr id="42" name="Shape 39"/>
          <p:cNvSpPr/>
          <p:nvPr/>
        </p:nvSpPr>
        <p:spPr>
          <a:xfrm>
            <a:off x="1715643" y="5644500"/>
            <a:ext cx="38222" cy="116220"/>
          </a:xfrm>
          <a:prstGeom prst="rect">
            <a:avLst/>
          </a:prstGeom>
          <a:solidFill>
            <a:srgbClr val="CCCCCC"/>
          </a:solidFill>
          <a:ln/>
        </p:spPr>
      </p:sp>
      <p:sp>
        <p:nvSpPr>
          <p:cNvPr id="43" name="Shape 40"/>
          <p:cNvSpPr/>
          <p:nvPr/>
        </p:nvSpPr>
        <p:spPr>
          <a:xfrm>
            <a:off x="1765935" y="5644500"/>
            <a:ext cx="38222" cy="116220"/>
          </a:xfrm>
          <a:prstGeom prst="rect">
            <a:avLst/>
          </a:prstGeom>
          <a:solidFill>
            <a:srgbClr val="CCCCCC"/>
          </a:solidFill>
          <a:ln/>
        </p:spPr>
      </p:sp>
      <p:sp>
        <p:nvSpPr>
          <p:cNvPr id="44" name="Shape 41"/>
          <p:cNvSpPr/>
          <p:nvPr/>
        </p:nvSpPr>
        <p:spPr>
          <a:xfrm>
            <a:off x="1816227" y="5644500"/>
            <a:ext cx="38222" cy="116220"/>
          </a:xfrm>
          <a:prstGeom prst="rect">
            <a:avLst/>
          </a:prstGeom>
          <a:solidFill>
            <a:srgbClr val="CCCCCC"/>
          </a:solidFill>
          <a:ln/>
        </p:spPr>
      </p:sp>
      <p:sp>
        <p:nvSpPr>
          <p:cNvPr id="45" name="Shape 42"/>
          <p:cNvSpPr/>
          <p:nvPr/>
        </p:nvSpPr>
        <p:spPr>
          <a:xfrm>
            <a:off x="1866519" y="5657414"/>
            <a:ext cx="38222" cy="103306"/>
          </a:xfrm>
          <a:prstGeom prst="rect">
            <a:avLst/>
          </a:prstGeom>
          <a:solidFill>
            <a:srgbClr val="CCCCCC"/>
          </a:solidFill>
          <a:ln/>
        </p:spPr>
      </p:sp>
      <p:sp>
        <p:nvSpPr>
          <p:cNvPr id="46" name="Shape 43"/>
          <p:cNvSpPr/>
          <p:nvPr/>
        </p:nvSpPr>
        <p:spPr>
          <a:xfrm>
            <a:off x="1916811" y="5657414"/>
            <a:ext cx="38222" cy="103306"/>
          </a:xfrm>
          <a:prstGeom prst="rect">
            <a:avLst/>
          </a:prstGeom>
          <a:solidFill>
            <a:srgbClr val="CCCCCC"/>
          </a:solidFill>
          <a:ln/>
        </p:spPr>
      </p:sp>
      <p:sp>
        <p:nvSpPr>
          <p:cNvPr id="47" name="Shape 44"/>
          <p:cNvSpPr/>
          <p:nvPr/>
        </p:nvSpPr>
        <p:spPr>
          <a:xfrm>
            <a:off x="1967103" y="5657414"/>
            <a:ext cx="38222" cy="103306"/>
          </a:xfrm>
          <a:prstGeom prst="rect">
            <a:avLst/>
          </a:prstGeom>
          <a:solidFill>
            <a:srgbClr val="CCCCCC"/>
          </a:solidFill>
          <a:ln/>
        </p:spPr>
      </p:sp>
      <p:sp>
        <p:nvSpPr>
          <p:cNvPr id="48" name="Shape 45"/>
          <p:cNvSpPr/>
          <p:nvPr/>
        </p:nvSpPr>
        <p:spPr>
          <a:xfrm>
            <a:off x="2017395" y="5657414"/>
            <a:ext cx="38222" cy="103306"/>
          </a:xfrm>
          <a:prstGeom prst="rect">
            <a:avLst/>
          </a:prstGeom>
          <a:solidFill>
            <a:srgbClr val="CCCCCC"/>
          </a:solidFill>
          <a:ln/>
        </p:spPr>
      </p:sp>
      <p:sp>
        <p:nvSpPr>
          <p:cNvPr id="49" name="Shape 46"/>
          <p:cNvSpPr/>
          <p:nvPr/>
        </p:nvSpPr>
        <p:spPr>
          <a:xfrm>
            <a:off x="2067687" y="5657414"/>
            <a:ext cx="38222" cy="103306"/>
          </a:xfrm>
          <a:prstGeom prst="rect">
            <a:avLst/>
          </a:prstGeom>
          <a:solidFill>
            <a:srgbClr val="CCCCCC"/>
          </a:solidFill>
          <a:ln/>
        </p:spPr>
      </p:sp>
      <p:sp>
        <p:nvSpPr>
          <p:cNvPr id="50" name="Shape 47"/>
          <p:cNvSpPr/>
          <p:nvPr/>
        </p:nvSpPr>
        <p:spPr>
          <a:xfrm>
            <a:off x="2117979" y="5657414"/>
            <a:ext cx="38222" cy="103306"/>
          </a:xfrm>
          <a:prstGeom prst="rect">
            <a:avLst/>
          </a:prstGeom>
          <a:solidFill>
            <a:srgbClr val="CCCCCC"/>
          </a:solidFill>
          <a:ln/>
        </p:spPr>
      </p:sp>
      <p:sp>
        <p:nvSpPr>
          <p:cNvPr id="51" name="Shape 48"/>
          <p:cNvSpPr/>
          <p:nvPr/>
        </p:nvSpPr>
        <p:spPr>
          <a:xfrm>
            <a:off x="2168271" y="5670327"/>
            <a:ext cx="38222" cy="90393"/>
          </a:xfrm>
          <a:prstGeom prst="rect">
            <a:avLst/>
          </a:prstGeom>
          <a:solidFill>
            <a:srgbClr val="CCCCCC"/>
          </a:solidFill>
          <a:ln/>
        </p:spPr>
      </p:sp>
      <p:sp>
        <p:nvSpPr>
          <p:cNvPr id="52" name="Shape 49"/>
          <p:cNvSpPr/>
          <p:nvPr/>
        </p:nvSpPr>
        <p:spPr>
          <a:xfrm>
            <a:off x="2218563" y="5670327"/>
            <a:ext cx="38222" cy="90393"/>
          </a:xfrm>
          <a:prstGeom prst="rect">
            <a:avLst/>
          </a:prstGeom>
          <a:solidFill>
            <a:srgbClr val="CCCCCC"/>
          </a:solidFill>
          <a:ln/>
        </p:spPr>
      </p:sp>
      <p:sp>
        <p:nvSpPr>
          <p:cNvPr id="53" name="Shape 50"/>
          <p:cNvSpPr/>
          <p:nvPr/>
        </p:nvSpPr>
        <p:spPr>
          <a:xfrm>
            <a:off x="2268855" y="5670327"/>
            <a:ext cx="38222" cy="90393"/>
          </a:xfrm>
          <a:prstGeom prst="rect">
            <a:avLst/>
          </a:prstGeom>
          <a:solidFill>
            <a:srgbClr val="CCCCCC"/>
          </a:solidFill>
          <a:ln/>
        </p:spPr>
      </p:sp>
      <p:sp>
        <p:nvSpPr>
          <p:cNvPr id="54" name="Shape 51"/>
          <p:cNvSpPr/>
          <p:nvPr/>
        </p:nvSpPr>
        <p:spPr>
          <a:xfrm>
            <a:off x="2319147" y="5670327"/>
            <a:ext cx="38222" cy="90393"/>
          </a:xfrm>
          <a:prstGeom prst="rect">
            <a:avLst/>
          </a:prstGeom>
          <a:solidFill>
            <a:srgbClr val="CCCCCC"/>
          </a:solidFill>
          <a:ln/>
        </p:spPr>
      </p:sp>
      <p:sp>
        <p:nvSpPr>
          <p:cNvPr id="55" name="Shape 52"/>
          <p:cNvSpPr/>
          <p:nvPr/>
        </p:nvSpPr>
        <p:spPr>
          <a:xfrm>
            <a:off x="2369439" y="5670327"/>
            <a:ext cx="38222" cy="90393"/>
          </a:xfrm>
          <a:prstGeom prst="rect">
            <a:avLst/>
          </a:prstGeom>
          <a:solidFill>
            <a:srgbClr val="CCCCCC"/>
          </a:solidFill>
          <a:ln/>
        </p:spPr>
      </p:sp>
      <p:sp>
        <p:nvSpPr>
          <p:cNvPr id="56" name="Shape 53"/>
          <p:cNvSpPr/>
          <p:nvPr/>
        </p:nvSpPr>
        <p:spPr>
          <a:xfrm>
            <a:off x="2419731" y="5670327"/>
            <a:ext cx="38222" cy="90393"/>
          </a:xfrm>
          <a:prstGeom prst="rect">
            <a:avLst/>
          </a:prstGeom>
          <a:solidFill>
            <a:srgbClr val="CCCCCC"/>
          </a:solidFill>
          <a:ln/>
        </p:spPr>
      </p:sp>
      <p:sp>
        <p:nvSpPr>
          <p:cNvPr id="57" name="Shape 54"/>
          <p:cNvSpPr/>
          <p:nvPr/>
        </p:nvSpPr>
        <p:spPr>
          <a:xfrm>
            <a:off x="2470023" y="5670327"/>
            <a:ext cx="38222" cy="90393"/>
          </a:xfrm>
          <a:prstGeom prst="rect">
            <a:avLst/>
          </a:prstGeom>
          <a:solidFill>
            <a:srgbClr val="CCCCCC"/>
          </a:solidFill>
          <a:ln/>
        </p:spPr>
      </p:sp>
      <p:sp>
        <p:nvSpPr>
          <p:cNvPr id="58" name="Shape 55"/>
          <p:cNvSpPr/>
          <p:nvPr/>
        </p:nvSpPr>
        <p:spPr>
          <a:xfrm>
            <a:off x="2520315" y="5670327"/>
            <a:ext cx="38222" cy="90393"/>
          </a:xfrm>
          <a:prstGeom prst="rect">
            <a:avLst/>
          </a:prstGeom>
          <a:solidFill>
            <a:srgbClr val="CCCCCC"/>
          </a:solidFill>
          <a:ln/>
        </p:spPr>
      </p:sp>
      <p:sp>
        <p:nvSpPr>
          <p:cNvPr id="59" name="Shape 56"/>
          <p:cNvSpPr/>
          <p:nvPr/>
        </p:nvSpPr>
        <p:spPr>
          <a:xfrm>
            <a:off x="2570607" y="5683240"/>
            <a:ext cx="38222" cy="77480"/>
          </a:xfrm>
          <a:prstGeom prst="rect">
            <a:avLst/>
          </a:prstGeom>
          <a:solidFill>
            <a:srgbClr val="CCCCCC"/>
          </a:solidFill>
          <a:ln/>
        </p:spPr>
      </p:sp>
      <p:sp>
        <p:nvSpPr>
          <p:cNvPr id="60" name="Shape 57"/>
          <p:cNvSpPr/>
          <p:nvPr/>
        </p:nvSpPr>
        <p:spPr>
          <a:xfrm>
            <a:off x="2620899" y="5683240"/>
            <a:ext cx="38222" cy="77480"/>
          </a:xfrm>
          <a:prstGeom prst="rect">
            <a:avLst/>
          </a:prstGeom>
          <a:solidFill>
            <a:srgbClr val="CCCCCC"/>
          </a:solidFill>
          <a:ln/>
        </p:spPr>
      </p:sp>
      <p:sp>
        <p:nvSpPr>
          <p:cNvPr id="61" name="Shape 58"/>
          <p:cNvSpPr/>
          <p:nvPr/>
        </p:nvSpPr>
        <p:spPr>
          <a:xfrm>
            <a:off x="2671191" y="5683240"/>
            <a:ext cx="38222" cy="77480"/>
          </a:xfrm>
          <a:prstGeom prst="rect">
            <a:avLst/>
          </a:prstGeom>
          <a:solidFill>
            <a:srgbClr val="CCCCCC"/>
          </a:solidFill>
          <a:ln/>
        </p:spPr>
      </p:sp>
      <p:sp>
        <p:nvSpPr>
          <p:cNvPr id="62" name="Shape 59"/>
          <p:cNvSpPr/>
          <p:nvPr/>
        </p:nvSpPr>
        <p:spPr>
          <a:xfrm>
            <a:off x="2721483" y="5683240"/>
            <a:ext cx="38222" cy="77480"/>
          </a:xfrm>
          <a:prstGeom prst="rect">
            <a:avLst/>
          </a:prstGeom>
          <a:solidFill>
            <a:srgbClr val="CCCCCC"/>
          </a:solidFill>
          <a:ln/>
        </p:spPr>
      </p:sp>
      <p:sp>
        <p:nvSpPr>
          <p:cNvPr id="63" name="Shape 60"/>
          <p:cNvSpPr/>
          <p:nvPr/>
        </p:nvSpPr>
        <p:spPr>
          <a:xfrm>
            <a:off x="2771775" y="5683240"/>
            <a:ext cx="38222" cy="77480"/>
          </a:xfrm>
          <a:prstGeom prst="rect">
            <a:avLst/>
          </a:prstGeom>
          <a:solidFill>
            <a:srgbClr val="CCCCCC"/>
          </a:solidFill>
          <a:ln/>
        </p:spPr>
      </p:sp>
      <p:sp>
        <p:nvSpPr>
          <p:cNvPr id="64" name="Shape 61"/>
          <p:cNvSpPr/>
          <p:nvPr/>
        </p:nvSpPr>
        <p:spPr>
          <a:xfrm>
            <a:off x="2822067" y="5683240"/>
            <a:ext cx="38222" cy="77480"/>
          </a:xfrm>
          <a:prstGeom prst="rect">
            <a:avLst/>
          </a:prstGeom>
          <a:solidFill>
            <a:srgbClr val="CCCCCC"/>
          </a:solidFill>
          <a:ln/>
        </p:spPr>
      </p:sp>
      <p:sp>
        <p:nvSpPr>
          <p:cNvPr id="65" name="Shape 62"/>
          <p:cNvSpPr/>
          <p:nvPr/>
        </p:nvSpPr>
        <p:spPr>
          <a:xfrm>
            <a:off x="2872359" y="5683240"/>
            <a:ext cx="38222" cy="77480"/>
          </a:xfrm>
          <a:prstGeom prst="rect">
            <a:avLst/>
          </a:prstGeom>
          <a:solidFill>
            <a:srgbClr val="CCCCCC"/>
          </a:solidFill>
          <a:ln/>
        </p:spPr>
      </p:sp>
      <p:sp>
        <p:nvSpPr>
          <p:cNvPr id="66" name="Shape 63"/>
          <p:cNvSpPr/>
          <p:nvPr/>
        </p:nvSpPr>
        <p:spPr>
          <a:xfrm>
            <a:off x="2922651" y="5683240"/>
            <a:ext cx="38222" cy="77480"/>
          </a:xfrm>
          <a:prstGeom prst="rect">
            <a:avLst/>
          </a:prstGeom>
          <a:solidFill>
            <a:srgbClr val="CCCCCC"/>
          </a:solidFill>
          <a:ln/>
        </p:spPr>
      </p:sp>
      <p:sp>
        <p:nvSpPr>
          <p:cNvPr id="67" name="Shape 64"/>
          <p:cNvSpPr/>
          <p:nvPr/>
        </p:nvSpPr>
        <p:spPr>
          <a:xfrm>
            <a:off x="2972943" y="5683240"/>
            <a:ext cx="38222" cy="77480"/>
          </a:xfrm>
          <a:prstGeom prst="rect">
            <a:avLst/>
          </a:prstGeom>
          <a:solidFill>
            <a:srgbClr val="CCCCCC"/>
          </a:solidFill>
          <a:ln/>
        </p:spPr>
      </p:sp>
      <p:sp>
        <p:nvSpPr>
          <p:cNvPr id="68" name="Shape 65"/>
          <p:cNvSpPr/>
          <p:nvPr/>
        </p:nvSpPr>
        <p:spPr>
          <a:xfrm>
            <a:off x="3023235" y="5683240"/>
            <a:ext cx="38222" cy="77480"/>
          </a:xfrm>
          <a:prstGeom prst="rect">
            <a:avLst/>
          </a:prstGeom>
          <a:solidFill>
            <a:srgbClr val="CCCCCC"/>
          </a:solidFill>
          <a:ln/>
        </p:spPr>
      </p:sp>
      <p:sp>
        <p:nvSpPr>
          <p:cNvPr id="69" name="Shape 66"/>
          <p:cNvSpPr/>
          <p:nvPr/>
        </p:nvSpPr>
        <p:spPr>
          <a:xfrm>
            <a:off x="3073527" y="5683240"/>
            <a:ext cx="38222" cy="77480"/>
          </a:xfrm>
          <a:prstGeom prst="rect">
            <a:avLst/>
          </a:prstGeom>
          <a:solidFill>
            <a:srgbClr val="CCCCCC"/>
          </a:solidFill>
          <a:ln/>
        </p:spPr>
      </p:sp>
      <p:sp>
        <p:nvSpPr>
          <p:cNvPr id="70" name="Shape 67"/>
          <p:cNvSpPr/>
          <p:nvPr/>
        </p:nvSpPr>
        <p:spPr>
          <a:xfrm>
            <a:off x="3123819" y="5683240"/>
            <a:ext cx="38222" cy="77480"/>
          </a:xfrm>
          <a:prstGeom prst="rect">
            <a:avLst/>
          </a:prstGeom>
          <a:solidFill>
            <a:srgbClr val="CCCCCC"/>
          </a:solidFill>
          <a:ln/>
        </p:spPr>
      </p:sp>
      <p:sp>
        <p:nvSpPr>
          <p:cNvPr id="71" name="Shape 68"/>
          <p:cNvSpPr/>
          <p:nvPr/>
        </p:nvSpPr>
        <p:spPr>
          <a:xfrm>
            <a:off x="3174111" y="5683240"/>
            <a:ext cx="38222" cy="77480"/>
          </a:xfrm>
          <a:prstGeom prst="rect">
            <a:avLst/>
          </a:prstGeom>
          <a:solidFill>
            <a:srgbClr val="CCCCCC"/>
          </a:solidFill>
          <a:ln/>
        </p:spPr>
      </p:sp>
      <p:sp>
        <p:nvSpPr>
          <p:cNvPr id="72" name="Shape 69"/>
          <p:cNvSpPr/>
          <p:nvPr/>
        </p:nvSpPr>
        <p:spPr>
          <a:xfrm>
            <a:off x="3224403" y="5696154"/>
            <a:ext cx="38222" cy="64566"/>
          </a:xfrm>
          <a:prstGeom prst="rect">
            <a:avLst/>
          </a:prstGeom>
          <a:solidFill>
            <a:srgbClr val="CCCCCC"/>
          </a:solidFill>
          <a:ln/>
        </p:spPr>
      </p:sp>
      <p:sp>
        <p:nvSpPr>
          <p:cNvPr id="73" name="Shape 70"/>
          <p:cNvSpPr/>
          <p:nvPr/>
        </p:nvSpPr>
        <p:spPr>
          <a:xfrm>
            <a:off x="3274695" y="5696154"/>
            <a:ext cx="38222" cy="64566"/>
          </a:xfrm>
          <a:prstGeom prst="rect">
            <a:avLst/>
          </a:prstGeom>
          <a:solidFill>
            <a:srgbClr val="CCCCCC"/>
          </a:solidFill>
          <a:ln/>
        </p:spPr>
      </p:sp>
      <p:sp>
        <p:nvSpPr>
          <p:cNvPr id="74" name="Shape 71"/>
          <p:cNvSpPr/>
          <p:nvPr/>
        </p:nvSpPr>
        <p:spPr>
          <a:xfrm>
            <a:off x="3324987" y="5696154"/>
            <a:ext cx="38222" cy="64566"/>
          </a:xfrm>
          <a:prstGeom prst="rect">
            <a:avLst/>
          </a:prstGeom>
          <a:solidFill>
            <a:srgbClr val="CCCCCC"/>
          </a:solidFill>
          <a:ln/>
        </p:spPr>
      </p:sp>
      <p:sp>
        <p:nvSpPr>
          <p:cNvPr id="75" name="Shape 72"/>
          <p:cNvSpPr/>
          <p:nvPr/>
        </p:nvSpPr>
        <p:spPr>
          <a:xfrm>
            <a:off x="3375279" y="5696154"/>
            <a:ext cx="38222" cy="64566"/>
          </a:xfrm>
          <a:prstGeom prst="rect">
            <a:avLst/>
          </a:prstGeom>
          <a:solidFill>
            <a:srgbClr val="CCCCCC"/>
          </a:solidFill>
          <a:ln/>
        </p:spPr>
      </p:sp>
      <p:sp>
        <p:nvSpPr>
          <p:cNvPr id="76" name="Shape 73"/>
          <p:cNvSpPr/>
          <p:nvPr/>
        </p:nvSpPr>
        <p:spPr>
          <a:xfrm>
            <a:off x="3425571" y="5696154"/>
            <a:ext cx="38222" cy="64566"/>
          </a:xfrm>
          <a:prstGeom prst="rect">
            <a:avLst/>
          </a:prstGeom>
          <a:solidFill>
            <a:srgbClr val="CCCCCC"/>
          </a:solidFill>
          <a:ln/>
        </p:spPr>
      </p:sp>
      <p:sp>
        <p:nvSpPr>
          <p:cNvPr id="77" name="Shape 74"/>
          <p:cNvSpPr/>
          <p:nvPr/>
        </p:nvSpPr>
        <p:spPr>
          <a:xfrm>
            <a:off x="3475863" y="5696154"/>
            <a:ext cx="38222" cy="64566"/>
          </a:xfrm>
          <a:prstGeom prst="rect">
            <a:avLst/>
          </a:prstGeom>
          <a:solidFill>
            <a:srgbClr val="CCCCCC"/>
          </a:solidFill>
          <a:ln/>
        </p:spPr>
      </p:sp>
      <p:sp>
        <p:nvSpPr>
          <p:cNvPr id="78" name="Shape 75"/>
          <p:cNvSpPr/>
          <p:nvPr/>
        </p:nvSpPr>
        <p:spPr>
          <a:xfrm>
            <a:off x="3526155" y="5696154"/>
            <a:ext cx="38222" cy="64566"/>
          </a:xfrm>
          <a:prstGeom prst="rect">
            <a:avLst/>
          </a:prstGeom>
          <a:solidFill>
            <a:srgbClr val="CCCCCC"/>
          </a:solidFill>
          <a:ln/>
        </p:spPr>
      </p:sp>
      <p:sp>
        <p:nvSpPr>
          <p:cNvPr id="79" name="Shape 76"/>
          <p:cNvSpPr/>
          <p:nvPr/>
        </p:nvSpPr>
        <p:spPr>
          <a:xfrm>
            <a:off x="3576447" y="5696154"/>
            <a:ext cx="38222" cy="64566"/>
          </a:xfrm>
          <a:prstGeom prst="rect">
            <a:avLst/>
          </a:prstGeom>
          <a:solidFill>
            <a:srgbClr val="CCCCCC"/>
          </a:solidFill>
          <a:ln/>
        </p:spPr>
      </p:sp>
      <p:sp>
        <p:nvSpPr>
          <p:cNvPr id="80" name="Shape 77"/>
          <p:cNvSpPr/>
          <p:nvPr/>
        </p:nvSpPr>
        <p:spPr>
          <a:xfrm>
            <a:off x="3626739" y="5696154"/>
            <a:ext cx="38222" cy="64566"/>
          </a:xfrm>
          <a:prstGeom prst="rect">
            <a:avLst/>
          </a:prstGeom>
          <a:solidFill>
            <a:srgbClr val="CCCCCC"/>
          </a:solidFill>
          <a:ln/>
        </p:spPr>
      </p:sp>
      <p:sp>
        <p:nvSpPr>
          <p:cNvPr id="81" name="Shape 78"/>
          <p:cNvSpPr/>
          <p:nvPr/>
        </p:nvSpPr>
        <p:spPr>
          <a:xfrm>
            <a:off x="3677031" y="5696154"/>
            <a:ext cx="38222" cy="64566"/>
          </a:xfrm>
          <a:prstGeom prst="rect">
            <a:avLst/>
          </a:prstGeom>
          <a:solidFill>
            <a:srgbClr val="CCCCCC"/>
          </a:solidFill>
          <a:ln/>
        </p:spPr>
      </p:sp>
      <p:sp>
        <p:nvSpPr>
          <p:cNvPr id="82" name="Shape 79"/>
          <p:cNvSpPr/>
          <p:nvPr/>
        </p:nvSpPr>
        <p:spPr>
          <a:xfrm>
            <a:off x="3727323" y="5696154"/>
            <a:ext cx="38222" cy="64566"/>
          </a:xfrm>
          <a:prstGeom prst="rect">
            <a:avLst/>
          </a:prstGeom>
          <a:solidFill>
            <a:srgbClr val="CCCCCC"/>
          </a:solidFill>
          <a:ln/>
        </p:spPr>
      </p:sp>
      <p:sp>
        <p:nvSpPr>
          <p:cNvPr id="83" name="Shape 80"/>
          <p:cNvSpPr/>
          <p:nvPr/>
        </p:nvSpPr>
        <p:spPr>
          <a:xfrm>
            <a:off x="3777615" y="5696154"/>
            <a:ext cx="38222" cy="64566"/>
          </a:xfrm>
          <a:prstGeom prst="rect">
            <a:avLst/>
          </a:prstGeom>
          <a:solidFill>
            <a:srgbClr val="CCCCCC"/>
          </a:solidFill>
          <a:ln/>
        </p:spPr>
      </p:sp>
      <p:sp>
        <p:nvSpPr>
          <p:cNvPr id="84" name="Shape 81"/>
          <p:cNvSpPr/>
          <p:nvPr/>
        </p:nvSpPr>
        <p:spPr>
          <a:xfrm>
            <a:off x="3827907" y="5696154"/>
            <a:ext cx="38222" cy="64566"/>
          </a:xfrm>
          <a:prstGeom prst="rect">
            <a:avLst/>
          </a:prstGeom>
          <a:solidFill>
            <a:srgbClr val="CCCCCC"/>
          </a:solidFill>
          <a:ln/>
        </p:spPr>
      </p:sp>
      <p:sp>
        <p:nvSpPr>
          <p:cNvPr id="85" name="Shape 82"/>
          <p:cNvSpPr/>
          <p:nvPr/>
        </p:nvSpPr>
        <p:spPr>
          <a:xfrm>
            <a:off x="3878199" y="5696154"/>
            <a:ext cx="38222" cy="64566"/>
          </a:xfrm>
          <a:prstGeom prst="rect">
            <a:avLst/>
          </a:prstGeom>
          <a:solidFill>
            <a:srgbClr val="CCCCCC"/>
          </a:solidFill>
          <a:ln/>
        </p:spPr>
      </p:sp>
      <p:sp>
        <p:nvSpPr>
          <p:cNvPr id="86" name="Shape 83"/>
          <p:cNvSpPr/>
          <p:nvPr/>
        </p:nvSpPr>
        <p:spPr>
          <a:xfrm>
            <a:off x="3928491" y="5696154"/>
            <a:ext cx="38222" cy="64566"/>
          </a:xfrm>
          <a:prstGeom prst="rect">
            <a:avLst/>
          </a:prstGeom>
          <a:solidFill>
            <a:srgbClr val="CCCCCC"/>
          </a:solidFill>
          <a:ln/>
        </p:spPr>
      </p:sp>
      <p:sp>
        <p:nvSpPr>
          <p:cNvPr id="87" name="Shape 84"/>
          <p:cNvSpPr/>
          <p:nvPr/>
        </p:nvSpPr>
        <p:spPr>
          <a:xfrm>
            <a:off x="3978783" y="5696154"/>
            <a:ext cx="38222" cy="64566"/>
          </a:xfrm>
          <a:prstGeom prst="rect">
            <a:avLst/>
          </a:prstGeom>
          <a:solidFill>
            <a:srgbClr val="CCCCCC"/>
          </a:solidFill>
          <a:ln/>
        </p:spPr>
      </p:sp>
      <p:sp>
        <p:nvSpPr>
          <p:cNvPr id="88" name="Shape 85"/>
          <p:cNvSpPr/>
          <p:nvPr/>
        </p:nvSpPr>
        <p:spPr>
          <a:xfrm>
            <a:off x="4029075" y="5696154"/>
            <a:ext cx="38222" cy="64566"/>
          </a:xfrm>
          <a:prstGeom prst="rect">
            <a:avLst/>
          </a:prstGeom>
          <a:solidFill>
            <a:srgbClr val="CCCCCC"/>
          </a:solidFill>
          <a:ln/>
        </p:spPr>
      </p:sp>
      <p:sp>
        <p:nvSpPr>
          <p:cNvPr id="89" name="Shape 86"/>
          <p:cNvSpPr/>
          <p:nvPr/>
        </p:nvSpPr>
        <p:spPr>
          <a:xfrm>
            <a:off x="4079367" y="5696154"/>
            <a:ext cx="38222" cy="64566"/>
          </a:xfrm>
          <a:prstGeom prst="rect">
            <a:avLst/>
          </a:prstGeom>
          <a:solidFill>
            <a:srgbClr val="CCCCCC"/>
          </a:solidFill>
          <a:ln/>
        </p:spPr>
      </p:sp>
      <p:sp>
        <p:nvSpPr>
          <p:cNvPr id="90" name="Shape 87"/>
          <p:cNvSpPr/>
          <p:nvPr/>
        </p:nvSpPr>
        <p:spPr>
          <a:xfrm>
            <a:off x="4129659" y="5696154"/>
            <a:ext cx="38222" cy="64566"/>
          </a:xfrm>
          <a:prstGeom prst="rect">
            <a:avLst/>
          </a:prstGeom>
          <a:solidFill>
            <a:srgbClr val="CCCCCC"/>
          </a:solidFill>
          <a:ln/>
        </p:spPr>
      </p:sp>
      <p:sp>
        <p:nvSpPr>
          <p:cNvPr id="91" name="Shape 88"/>
          <p:cNvSpPr/>
          <p:nvPr/>
        </p:nvSpPr>
        <p:spPr>
          <a:xfrm>
            <a:off x="4179951" y="5696154"/>
            <a:ext cx="38222" cy="64566"/>
          </a:xfrm>
          <a:prstGeom prst="rect">
            <a:avLst/>
          </a:prstGeom>
          <a:solidFill>
            <a:srgbClr val="CCCCCC"/>
          </a:solidFill>
          <a:ln/>
        </p:spPr>
      </p:sp>
      <p:sp>
        <p:nvSpPr>
          <p:cNvPr id="92" name="Shape 89"/>
          <p:cNvSpPr/>
          <p:nvPr/>
        </p:nvSpPr>
        <p:spPr>
          <a:xfrm>
            <a:off x="4230243" y="5696154"/>
            <a:ext cx="38222" cy="64566"/>
          </a:xfrm>
          <a:prstGeom prst="rect">
            <a:avLst/>
          </a:prstGeom>
          <a:solidFill>
            <a:srgbClr val="CCCCCC"/>
          </a:solidFill>
          <a:ln/>
        </p:spPr>
      </p:sp>
      <p:sp>
        <p:nvSpPr>
          <p:cNvPr id="93" name="Shape 90"/>
          <p:cNvSpPr/>
          <p:nvPr/>
        </p:nvSpPr>
        <p:spPr>
          <a:xfrm>
            <a:off x="4280535" y="5696154"/>
            <a:ext cx="38222" cy="64566"/>
          </a:xfrm>
          <a:prstGeom prst="rect">
            <a:avLst/>
          </a:prstGeom>
          <a:solidFill>
            <a:srgbClr val="CCCCCC"/>
          </a:solidFill>
          <a:ln/>
        </p:spPr>
      </p:sp>
      <p:sp>
        <p:nvSpPr>
          <p:cNvPr id="94" name="Shape 91"/>
          <p:cNvSpPr/>
          <p:nvPr/>
        </p:nvSpPr>
        <p:spPr>
          <a:xfrm>
            <a:off x="4330827" y="5696154"/>
            <a:ext cx="38222" cy="64566"/>
          </a:xfrm>
          <a:prstGeom prst="rect">
            <a:avLst/>
          </a:prstGeom>
          <a:solidFill>
            <a:srgbClr val="CCCCCC"/>
          </a:solidFill>
          <a:ln/>
        </p:spPr>
      </p:sp>
      <p:sp>
        <p:nvSpPr>
          <p:cNvPr id="95" name="Shape 92"/>
          <p:cNvSpPr/>
          <p:nvPr/>
        </p:nvSpPr>
        <p:spPr>
          <a:xfrm>
            <a:off x="4381119" y="5709067"/>
            <a:ext cx="38222" cy="51653"/>
          </a:xfrm>
          <a:prstGeom prst="rect">
            <a:avLst/>
          </a:prstGeom>
          <a:solidFill>
            <a:srgbClr val="CCCCCC"/>
          </a:solidFill>
          <a:ln/>
        </p:spPr>
      </p:sp>
      <p:sp>
        <p:nvSpPr>
          <p:cNvPr id="96" name="Shape 93"/>
          <p:cNvSpPr/>
          <p:nvPr/>
        </p:nvSpPr>
        <p:spPr>
          <a:xfrm>
            <a:off x="4431411" y="5709067"/>
            <a:ext cx="38222" cy="51653"/>
          </a:xfrm>
          <a:prstGeom prst="rect">
            <a:avLst/>
          </a:prstGeom>
          <a:solidFill>
            <a:srgbClr val="CCCCCC"/>
          </a:solidFill>
          <a:ln/>
        </p:spPr>
      </p:sp>
      <p:sp>
        <p:nvSpPr>
          <p:cNvPr id="97" name="Shape 94"/>
          <p:cNvSpPr/>
          <p:nvPr/>
        </p:nvSpPr>
        <p:spPr>
          <a:xfrm>
            <a:off x="4481703" y="5709067"/>
            <a:ext cx="38222" cy="51653"/>
          </a:xfrm>
          <a:prstGeom prst="rect">
            <a:avLst/>
          </a:prstGeom>
          <a:solidFill>
            <a:srgbClr val="CCCCCC"/>
          </a:solidFill>
          <a:ln/>
        </p:spPr>
      </p:sp>
      <p:sp>
        <p:nvSpPr>
          <p:cNvPr id="98" name="Shape 95"/>
          <p:cNvSpPr/>
          <p:nvPr/>
        </p:nvSpPr>
        <p:spPr>
          <a:xfrm>
            <a:off x="4531995" y="5709067"/>
            <a:ext cx="38222" cy="51653"/>
          </a:xfrm>
          <a:prstGeom prst="rect">
            <a:avLst/>
          </a:prstGeom>
          <a:solidFill>
            <a:srgbClr val="CCCCCC"/>
          </a:solidFill>
          <a:ln/>
        </p:spPr>
      </p:sp>
      <p:sp>
        <p:nvSpPr>
          <p:cNvPr id="99" name="Shape 96"/>
          <p:cNvSpPr/>
          <p:nvPr/>
        </p:nvSpPr>
        <p:spPr>
          <a:xfrm>
            <a:off x="4582287" y="5709067"/>
            <a:ext cx="38222" cy="51653"/>
          </a:xfrm>
          <a:prstGeom prst="rect">
            <a:avLst/>
          </a:prstGeom>
          <a:solidFill>
            <a:srgbClr val="CCCCCC"/>
          </a:solidFill>
          <a:ln/>
        </p:spPr>
      </p:sp>
      <p:sp>
        <p:nvSpPr>
          <p:cNvPr id="100" name="Shape 97"/>
          <p:cNvSpPr/>
          <p:nvPr/>
        </p:nvSpPr>
        <p:spPr>
          <a:xfrm>
            <a:off x="4632579" y="5709067"/>
            <a:ext cx="38222" cy="51653"/>
          </a:xfrm>
          <a:prstGeom prst="rect">
            <a:avLst/>
          </a:prstGeom>
          <a:solidFill>
            <a:srgbClr val="CCCCCC"/>
          </a:solidFill>
          <a:ln/>
        </p:spPr>
      </p:sp>
      <p:sp>
        <p:nvSpPr>
          <p:cNvPr id="101" name="Shape 98"/>
          <p:cNvSpPr/>
          <p:nvPr/>
        </p:nvSpPr>
        <p:spPr>
          <a:xfrm>
            <a:off x="4682871" y="5709067"/>
            <a:ext cx="38222" cy="51653"/>
          </a:xfrm>
          <a:prstGeom prst="rect">
            <a:avLst/>
          </a:prstGeom>
          <a:solidFill>
            <a:srgbClr val="CCCCCC"/>
          </a:solidFill>
          <a:ln/>
        </p:spPr>
      </p:sp>
      <p:sp>
        <p:nvSpPr>
          <p:cNvPr id="102" name="Shape 99"/>
          <p:cNvSpPr/>
          <p:nvPr/>
        </p:nvSpPr>
        <p:spPr>
          <a:xfrm>
            <a:off x="4733163" y="5709067"/>
            <a:ext cx="38222" cy="51653"/>
          </a:xfrm>
          <a:prstGeom prst="rect">
            <a:avLst/>
          </a:prstGeom>
          <a:solidFill>
            <a:srgbClr val="CCCCCC"/>
          </a:solidFill>
          <a:ln/>
        </p:spPr>
      </p:sp>
      <p:sp>
        <p:nvSpPr>
          <p:cNvPr id="103" name="Shape 100"/>
          <p:cNvSpPr/>
          <p:nvPr/>
        </p:nvSpPr>
        <p:spPr>
          <a:xfrm>
            <a:off x="4783455" y="5709067"/>
            <a:ext cx="38222" cy="51653"/>
          </a:xfrm>
          <a:prstGeom prst="rect">
            <a:avLst/>
          </a:prstGeom>
          <a:solidFill>
            <a:srgbClr val="CCCCCC"/>
          </a:solidFill>
          <a:ln/>
        </p:spPr>
      </p:sp>
      <p:sp>
        <p:nvSpPr>
          <p:cNvPr id="104" name="Shape 101"/>
          <p:cNvSpPr/>
          <p:nvPr/>
        </p:nvSpPr>
        <p:spPr>
          <a:xfrm>
            <a:off x="4833747" y="5709067"/>
            <a:ext cx="38222" cy="51653"/>
          </a:xfrm>
          <a:prstGeom prst="rect">
            <a:avLst/>
          </a:prstGeom>
          <a:solidFill>
            <a:srgbClr val="CCCCCC"/>
          </a:solidFill>
          <a:ln/>
        </p:spPr>
      </p:sp>
      <p:sp>
        <p:nvSpPr>
          <p:cNvPr id="105" name="Shape 102"/>
          <p:cNvSpPr/>
          <p:nvPr/>
        </p:nvSpPr>
        <p:spPr>
          <a:xfrm>
            <a:off x="4884039" y="5709067"/>
            <a:ext cx="38222" cy="51653"/>
          </a:xfrm>
          <a:prstGeom prst="rect">
            <a:avLst/>
          </a:prstGeom>
          <a:solidFill>
            <a:srgbClr val="CCCCCC"/>
          </a:solidFill>
          <a:ln/>
        </p:spPr>
      </p:sp>
      <p:sp>
        <p:nvSpPr>
          <p:cNvPr id="106" name="Shape 103"/>
          <p:cNvSpPr/>
          <p:nvPr/>
        </p:nvSpPr>
        <p:spPr>
          <a:xfrm>
            <a:off x="4934331" y="5709067"/>
            <a:ext cx="38222" cy="51653"/>
          </a:xfrm>
          <a:prstGeom prst="rect">
            <a:avLst/>
          </a:prstGeom>
          <a:solidFill>
            <a:srgbClr val="CCCCCC"/>
          </a:solidFill>
          <a:ln/>
        </p:spPr>
      </p:sp>
      <p:sp>
        <p:nvSpPr>
          <p:cNvPr id="107" name="Shape 104"/>
          <p:cNvSpPr/>
          <p:nvPr/>
        </p:nvSpPr>
        <p:spPr>
          <a:xfrm>
            <a:off x="4984623" y="5709067"/>
            <a:ext cx="38222" cy="51653"/>
          </a:xfrm>
          <a:prstGeom prst="rect">
            <a:avLst/>
          </a:prstGeom>
          <a:solidFill>
            <a:srgbClr val="CCCCCC"/>
          </a:solidFill>
          <a:ln/>
        </p:spPr>
      </p:sp>
      <p:sp>
        <p:nvSpPr>
          <p:cNvPr id="108" name="Shape 105"/>
          <p:cNvSpPr/>
          <p:nvPr/>
        </p:nvSpPr>
        <p:spPr>
          <a:xfrm>
            <a:off x="5034915" y="5709067"/>
            <a:ext cx="38222" cy="51653"/>
          </a:xfrm>
          <a:prstGeom prst="rect">
            <a:avLst/>
          </a:prstGeom>
          <a:solidFill>
            <a:srgbClr val="CCCCCC"/>
          </a:solidFill>
          <a:ln/>
        </p:spPr>
      </p:sp>
      <p:sp>
        <p:nvSpPr>
          <p:cNvPr id="109" name="Shape 106"/>
          <p:cNvSpPr/>
          <p:nvPr/>
        </p:nvSpPr>
        <p:spPr>
          <a:xfrm>
            <a:off x="5085207" y="5709067"/>
            <a:ext cx="38222" cy="51653"/>
          </a:xfrm>
          <a:prstGeom prst="rect">
            <a:avLst/>
          </a:prstGeom>
          <a:solidFill>
            <a:srgbClr val="CCCCCC"/>
          </a:solidFill>
          <a:ln/>
        </p:spPr>
      </p:sp>
      <p:sp>
        <p:nvSpPr>
          <p:cNvPr id="110" name="Shape 107"/>
          <p:cNvSpPr/>
          <p:nvPr/>
        </p:nvSpPr>
        <p:spPr>
          <a:xfrm>
            <a:off x="5135499" y="5709067"/>
            <a:ext cx="38222" cy="51653"/>
          </a:xfrm>
          <a:prstGeom prst="rect">
            <a:avLst/>
          </a:prstGeom>
          <a:solidFill>
            <a:srgbClr val="CCCCCC"/>
          </a:solidFill>
          <a:ln/>
        </p:spPr>
      </p:sp>
      <p:sp>
        <p:nvSpPr>
          <p:cNvPr id="111" name="Shape 108"/>
          <p:cNvSpPr/>
          <p:nvPr/>
        </p:nvSpPr>
        <p:spPr>
          <a:xfrm>
            <a:off x="5185791" y="5709067"/>
            <a:ext cx="38222" cy="51653"/>
          </a:xfrm>
          <a:prstGeom prst="rect">
            <a:avLst/>
          </a:prstGeom>
          <a:solidFill>
            <a:srgbClr val="CCCCCC"/>
          </a:solidFill>
          <a:ln/>
        </p:spPr>
      </p:sp>
      <p:sp>
        <p:nvSpPr>
          <p:cNvPr id="112" name="Shape 109"/>
          <p:cNvSpPr/>
          <p:nvPr/>
        </p:nvSpPr>
        <p:spPr>
          <a:xfrm>
            <a:off x="5236083" y="5709067"/>
            <a:ext cx="38222" cy="51653"/>
          </a:xfrm>
          <a:prstGeom prst="rect">
            <a:avLst/>
          </a:prstGeom>
          <a:solidFill>
            <a:srgbClr val="CCCCCC"/>
          </a:solidFill>
          <a:ln/>
        </p:spPr>
      </p:sp>
      <p:sp>
        <p:nvSpPr>
          <p:cNvPr id="113" name="Shape 110"/>
          <p:cNvSpPr/>
          <p:nvPr/>
        </p:nvSpPr>
        <p:spPr>
          <a:xfrm>
            <a:off x="5286375" y="5709067"/>
            <a:ext cx="38222" cy="51653"/>
          </a:xfrm>
          <a:prstGeom prst="rect">
            <a:avLst/>
          </a:prstGeom>
          <a:solidFill>
            <a:srgbClr val="CCCCCC"/>
          </a:solidFill>
          <a:ln/>
        </p:spPr>
      </p:sp>
      <p:sp>
        <p:nvSpPr>
          <p:cNvPr id="114" name="Shape 111"/>
          <p:cNvSpPr/>
          <p:nvPr/>
        </p:nvSpPr>
        <p:spPr>
          <a:xfrm>
            <a:off x="5336667" y="5709067"/>
            <a:ext cx="38222" cy="51653"/>
          </a:xfrm>
          <a:prstGeom prst="rect">
            <a:avLst/>
          </a:prstGeom>
          <a:solidFill>
            <a:srgbClr val="CCCCCC"/>
          </a:solidFill>
          <a:ln/>
        </p:spPr>
      </p:sp>
      <p:sp>
        <p:nvSpPr>
          <p:cNvPr id="115" name="Shape 112"/>
          <p:cNvSpPr/>
          <p:nvPr/>
        </p:nvSpPr>
        <p:spPr>
          <a:xfrm>
            <a:off x="5386959" y="5709067"/>
            <a:ext cx="38222" cy="51653"/>
          </a:xfrm>
          <a:prstGeom prst="rect">
            <a:avLst/>
          </a:prstGeom>
          <a:solidFill>
            <a:srgbClr val="CCCCCC"/>
          </a:solidFill>
          <a:ln/>
        </p:spPr>
      </p:sp>
      <p:sp>
        <p:nvSpPr>
          <p:cNvPr id="116" name="Shape 113"/>
          <p:cNvSpPr/>
          <p:nvPr/>
        </p:nvSpPr>
        <p:spPr>
          <a:xfrm>
            <a:off x="5437251" y="5709067"/>
            <a:ext cx="38222" cy="51653"/>
          </a:xfrm>
          <a:prstGeom prst="rect">
            <a:avLst/>
          </a:prstGeom>
          <a:solidFill>
            <a:srgbClr val="CCCCCC"/>
          </a:solidFill>
          <a:ln/>
        </p:spPr>
      </p:sp>
      <p:sp>
        <p:nvSpPr>
          <p:cNvPr id="117" name="Shape 114"/>
          <p:cNvSpPr/>
          <p:nvPr/>
        </p:nvSpPr>
        <p:spPr>
          <a:xfrm>
            <a:off x="5487543" y="5709067"/>
            <a:ext cx="38222" cy="51653"/>
          </a:xfrm>
          <a:prstGeom prst="rect">
            <a:avLst/>
          </a:prstGeom>
          <a:solidFill>
            <a:srgbClr val="CCCCCC"/>
          </a:solidFill>
          <a:ln/>
        </p:spPr>
      </p:sp>
      <p:sp>
        <p:nvSpPr>
          <p:cNvPr id="118" name="Shape 115"/>
          <p:cNvSpPr/>
          <p:nvPr/>
        </p:nvSpPr>
        <p:spPr>
          <a:xfrm>
            <a:off x="5537835" y="5709067"/>
            <a:ext cx="38222" cy="51653"/>
          </a:xfrm>
          <a:prstGeom prst="rect">
            <a:avLst/>
          </a:prstGeom>
          <a:solidFill>
            <a:srgbClr val="CCCCCC"/>
          </a:solidFill>
          <a:ln/>
        </p:spPr>
      </p:sp>
      <p:sp>
        <p:nvSpPr>
          <p:cNvPr id="119" name="Shape 116"/>
          <p:cNvSpPr/>
          <p:nvPr/>
        </p:nvSpPr>
        <p:spPr>
          <a:xfrm>
            <a:off x="5588127" y="5709067"/>
            <a:ext cx="38222" cy="51653"/>
          </a:xfrm>
          <a:prstGeom prst="rect">
            <a:avLst/>
          </a:prstGeom>
          <a:solidFill>
            <a:srgbClr val="CCCCCC"/>
          </a:solidFill>
          <a:ln/>
        </p:spPr>
      </p:sp>
      <p:sp>
        <p:nvSpPr>
          <p:cNvPr id="120" name="Shape 117"/>
          <p:cNvSpPr/>
          <p:nvPr/>
        </p:nvSpPr>
        <p:spPr>
          <a:xfrm>
            <a:off x="5638419" y="5709067"/>
            <a:ext cx="38222" cy="51653"/>
          </a:xfrm>
          <a:prstGeom prst="rect">
            <a:avLst/>
          </a:prstGeom>
          <a:solidFill>
            <a:srgbClr val="CCCCCC"/>
          </a:solidFill>
          <a:ln/>
        </p:spPr>
      </p:sp>
      <p:sp>
        <p:nvSpPr>
          <p:cNvPr id="121" name="Shape 118"/>
          <p:cNvSpPr/>
          <p:nvPr/>
        </p:nvSpPr>
        <p:spPr>
          <a:xfrm>
            <a:off x="5688711" y="5709067"/>
            <a:ext cx="38222" cy="51653"/>
          </a:xfrm>
          <a:prstGeom prst="rect">
            <a:avLst/>
          </a:prstGeom>
          <a:solidFill>
            <a:srgbClr val="CCCCCC"/>
          </a:solidFill>
          <a:ln/>
        </p:spPr>
      </p:sp>
      <p:sp>
        <p:nvSpPr>
          <p:cNvPr id="122" name="Shape 119"/>
          <p:cNvSpPr/>
          <p:nvPr/>
        </p:nvSpPr>
        <p:spPr>
          <a:xfrm>
            <a:off x="5739003" y="5709067"/>
            <a:ext cx="38222" cy="51653"/>
          </a:xfrm>
          <a:prstGeom prst="rect">
            <a:avLst/>
          </a:prstGeom>
          <a:solidFill>
            <a:srgbClr val="CCCCCC"/>
          </a:solidFill>
          <a:ln/>
        </p:spPr>
      </p:sp>
      <p:sp>
        <p:nvSpPr>
          <p:cNvPr id="123" name="Shape 120"/>
          <p:cNvSpPr/>
          <p:nvPr/>
        </p:nvSpPr>
        <p:spPr>
          <a:xfrm>
            <a:off x="5789295" y="5709067"/>
            <a:ext cx="38222" cy="51653"/>
          </a:xfrm>
          <a:prstGeom prst="rect">
            <a:avLst/>
          </a:prstGeom>
          <a:solidFill>
            <a:srgbClr val="CCCCCC"/>
          </a:solidFill>
          <a:ln/>
        </p:spPr>
      </p:sp>
      <p:sp>
        <p:nvSpPr>
          <p:cNvPr id="124" name="Shape 121"/>
          <p:cNvSpPr/>
          <p:nvPr/>
        </p:nvSpPr>
        <p:spPr>
          <a:xfrm>
            <a:off x="5839587" y="5709067"/>
            <a:ext cx="38222" cy="51653"/>
          </a:xfrm>
          <a:prstGeom prst="rect">
            <a:avLst/>
          </a:prstGeom>
          <a:solidFill>
            <a:srgbClr val="CCCCCC"/>
          </a:solidFill>
          <a:ln/>
        </p:spPr>
      </p:sp>
      <p:sp>
        <p:nvSpPr>
          <p:cNvPr id="125" name="Shape 122"/>
          <p:cNvSpPr/>
          <p:nvPr/>
        </p:nvSpPr>
        <p:spPr>
          <a:xfrm>
            <a:off x="5889879" y="5709067"/>
            <a:ext cx="38222" cy="51653"/>
          </a:xfrm>
          <a:prstGeom prst="rect">
            <a:avLst/>
          </a:prstGeom>
          <a:solidFill>
            <a:srgbClr val="CCCCCC"/>
          </a:solidFill>
          <a:ln/>
        </p:spPr>
      </p:sp>
      <p:sp>
        <p:nvSpPr>
          <p:cNvPr id="126" name="Shape 123"/>
          <p:cNvSpPr/>
          <p:nvPr/>
        </p:nvSpPr>
        <p:spPr>
          <a:xfrm>
            <a:off x="5940171" y="5709067"/>
            <a:ext cx="38222" cy="51653"/>
          </a:xfrm>
          <a:prstGeom prst="rect">
            <a:avLst/>
          </a:prstGeom>
          <a:solidFill>
            <a:srgbClr val="CCCCCC"/>
          </a:solidFill>
          <a:ln/>
        </p:spPr>
      </p:sp>
      <p:sp>
        <p:nvSpPr>
          <p:cNvPr id="127" name="Shape 124"/>
          <p:cNvSpPr/>
          <p:nvPr/>
        </p:nvSpPr>
        <p:spPr>
          <a:xfrm>
            <a:off x="5990463" y="5709067"/>
            <a:ext cx="38222" cy="51653"/>
          </a:xfrm>
          <a:prstGeom prst="rect">
            <a:avLst/>
          </a:prstGeom>
          <a:solidFill>
            <a:srgbClr val="CCCCCC"/>
          </a:solidFill>
          <a:ln/>
        </p:spPr>
      </p:sp>
      <p:sp>
        <p:nvSpPr>
          <p:cNvPr id="128" name="Shape 125"/>
          <p:cNvSpPr/>
          <p:nvPr/>
        </p:nvSpPr>
        <p:spPr>
          <a:xfrm>
            <a:off x="6040755" y="5709067"/>
            <a:ext cx="38222" cy="51653"/>
          </a:xfrm>
          <a:prstGeom prst="rect">
            <a:avLst/>
          </a:prstGeom>
          <a:solidFill>
            <a:srgbClr val="CCCCCC"/>
          </a:solidFill>
          <a:ln/>
        </p:spPr>
      </p:sp>
      <p:sp>
        <p:nvSpPr>
          <p:cNvPr id="129" name="Shape 126"/>
          <p:cNvSpPr/>
          <p:nvPr/>
        </p:nvSpPr>
        <p:spPr>
          <a:xfrm>
            <a:off x="6091047" y="5709067"/>
            <a:ext cx="38222" cy="51653"/>
          </a:xfrm>
          <a:prstGeom prst="rect">
            <a:avLst/>
          </a:prstGeom>
          <a:solidFill>
            <a:srgbClr val="CCCCCC"/>
          </a:solidFill>
          <a:ln/>
        </p:spPr>
      </p:sp>
      <p:sp>
        <p:nvSpPr>
          <p:cNvPr id="130" name="Shape 127"/>
          <p:cNvSpPr/>
          <p:nvPr/>
        </p:nvSpPr>
        <p:spPr>
          <a:xfrm>
            <a:off x="6141339" y="5709067"/>
            <a:ext cx="38222" cy="51653"/>
          </a:xfrm>
          <a:prstGeom prst="rect">
            <a:avLst/>
          </a:prstGeom>
          <a:solidFill>
            <a:srgbClr val="CCCCCC"/>
          </a:solidFill>
          <a:ln/>
        </p:spPr>
      </p:sp>
      <p:sp>
        <p:nvSpPr>
          <p:cNvPr id="131" name="Shape 128"/>
          <p:cNvSpPr/>
          <p:nvPr/>
        </p:nvSpPr>
        <p:spPr>
          <a:xfrm>
            <a:off x="6191631" y="5709067"/>
            <a:ext cx="38222" cy="51653"/>
          </a:xfrm>
          <a:prstGeom prst="rect">
            <a:avLst/>
          </a:prstGeom>
          <a:solidFill>
            <a:srgbClr val="CCCCCC"/>
          </a:solidFill>
          <a:ln/>
        </p:spPr>
      </p:sp>
      <p:sp>
        <p:nvSpPr>
          <p:cNvPr id="132" name="Shape 129"/>
          <p:cNvSpPr/>
          <p:nvPr/>
        </p:nvSpPr>
        <p:spPr>
          <a:xfrm>
            <a:off x="200848" y="5760720"/>
            <a:ext cx="6035040" cy="0"/>
          </a:xfrm>
          <a:prstGeom prst="line">
            <a:avLst/>
          </a:prstGeom>
          <a:noFill/>
          <a:ln w="12700">
            <a:solidFill>
              <a:srgbClr val="7F7F7F"/>
            </a:solidFill>
            <a:prstDash val="solid"/>
          </a:ln>
        </p:spPr>
      </p:sp>
      <p:sp>
        <p:nvSpPr>
          <p:cNvPr id="133" name="Shape 130"/>
          <p:cNvSpPr/>
          <p:nvPr/>
        </p:nvSpPr>
        <p:spPr>
          <a:xfrm>
            <a:off x="804352" y="2011680"/>
            <a:ext cx="0" cy="3749040"/>
          </a:xfrm>
          <a:prstGeom prst="line">
            <a:avLst/>
          </a:prstGeom>
          <a:noFill/>
          <a:ln w="12700">
            <a:solidFill>
              <a:srgbClr val="7F7F7F"/>
            </a:solidFill>
            <a:prstDash val="dash"/>
          </a:ln>
        </p:spPr>
      </p:sp>
      <p:sp>
        <p:nvSpPr>
          <p:cNvPr id="134" name="Text 131"/>
          <p:cNvSpPr txBox="1"/>
          <p:nvPr/>
        </p:nvSpPr>
        <p:spPr>
          <a:xfrm>
            <a:off x="914080" y="2011680"/>
            <a:ext cx="2011680" cy="5943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a:t>
            </a:r>
            <a:endParaRPr lang="en-US" sz="1400" dirty="0"/>
          </a:p>
          <a:p>
            <a:pPr indent="0" marL="0">
              <a:buNone/>
            </a:pPr>
            <a:r>
              <a:rPr lang="en-US" sz="1400" b="1" dirty="0">
                <a:solidFill>
                  <a:srgbClr val="3F3F3F"/>
                </a:solidFill>
                <a:latin typeface="Yu Gothic UI" pitchFamily="34" charset="0"/>
                <a:ea typeface="Yu Gothic UI" pitchFamily="34" charset="-122"/>
                <a:cs typeface="Yu Gothic UI" pitchFamily="34" charset="-120"/>
              </a:rPr>
              <a:t>乗車の53%</a:t>
            </a:r>
            <a:endParaRPr lang="en-US" sz="1400" dirty="0"/>
          </a:p>
        </p:txBody>
      </p:sp>
      <p:sp>
        <p:nvSpPr>
          <p:cNvPr id="135" name="Text 132"/>
          <p:cNvSpPr txBox="1"/>
          <p:nvPr/>
        </p:nvSpPr>
        <p:spPr>
          <a:xfrm>
            <a:off x="200848" y="5806440"/>
            <a:ext cx="13716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多い順 →</a:t>
            </a:r>
            <a:endParaRPr lang="en-US" sz="1100" dirty="0"/>
          </a:p>
        </p:txBody>
      </p:sp>
      <p:sp>
        <p:nvSpPr>
          <p:cNvPr id="136" name="Text 133"/>
          <p:cNvSpPr txBox="1"/>
          <p:nvPr/>
        </p:nvSpPr>
        <p:spPr>
          <a:xfrm>
            <a:off x="6647368" y="1850760"/>
            <a:ext cx="3057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37" name="Shape 134"/>
          <p:cNvSpPr/>
          <p:nvPr/>
        </p:nvSpPr>
        <p:spPr>
          <a:xfrm>
            <a:off x="6647368" y="2198232"/>
            <a:ext cx="3057480" cy="0"/>
          </a:xfrm>
          <a:prstGeom prst="line">
            <a:avLst/>
          </a:prstGeom>
          <a:noFill/>
          <a:ln w="12700">
            <a:solidFill>
              <a:srgbClr val="7F7F7F"/>
            </a:solidFill>
            <a:prstDash val="solid"/>
          </a:ln>
        </p:spPr>
      </p:sp>
      <p:sp>
        <p:nvSpPr>
          <p:cNvPr id="138" name="Text 135"/>
          <p:cNvSpPr txBox="1"/>
          <p:nvPr/>
        </p:nvSpPr>
        <p:spPr>
          <a:xfrm>
            <a:off x="6647368" y="228600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上位12か所（1割）で53%</a:t>
            </a:r>
            <a:endParaRPr lang="en-US" sz="1400" dirty="0"/>
          </a:p>
        </p:txBody>
      </p:sp>
      <p:sp>
        <p:nvSpPr>
          <p:cNvPr id="139" name="Text 136"/>
          <p:cNvSpPr txBox="1"/>
          <p:nvPr/>
        </p:nvSpPr>
        <p:spPr>
          <a:xfrm>
            <a:off x="6647368" y="265176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1日793人／全体1,501人</a:t>
            </a:r>
            <a:endParaRPr lang="en-US" sz="1400" dirty="0"/>
          </a:p>
        </p:txBody>
      </p:sp>
      <p:sp>
        <p:nvSpPr>
          <p:cNvPr id="140" name="Shape 137"/>
          <p:cNvSpPr/>
          <p:nvPr/>
        </p:nvSpPr>
        <p:spPr>
          <a:xfrm>
            <a:off x="6647368" y="3310128"/>
            <a:ext cx="3057480" cy="0"/>
          </a:xfrm>
          <a:prstGeom prst="line">
            <a:avLst/>
          </a:prstGeom>
          <a:noFill/>
          <a:ln w="9525">
            <a:solidFill>
              <a:srgbClr val="CCCCCC"/>
            </a:solidFill>
            <a:prstDash val="solid"/>
          </a:ln>
        </p:spPr>
      </p:sp>
      <p:sp>
        <p:nvSpPr>
          <p:cNvPr id="141" name="Text 138"/>
          <p:cNvSpPr txBox="1"/>
          <p:nvPr/>
        </p:nvSpPr>
        <p:spPr>
          <a:xfrm>
            <a:off x="6647368" y="347472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91か所は1日10人未満</a:t>
            </a:r>
            <a:endParaRPr lang="en-US" sz="1400" dirty="0"/>
          </a:p>
        </p:txBody>
      </p:sp>
      <p:sp>
        <p:nvSpPr>
          <p:cNvPr id="142" name="Text 139"/>
          <p:cNvSpPr txBox="1"/>
          <p:nvPr/>
        </p:nvSpPr>
        <p:spPr>
          <a:xfrm>
            <a:off x="6647368" y="384048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残る108か所の8割以上</a:t>
            </a:r>
            <a:endParaRPr lang="en-US" sz="1400" dirty="0"/>
          </a:p>
        </p:txBody>
      </p:sp>
      <p:sp>
        <p:nvSpPr>
          <p:cNvPr id="143" name="Shape 140"/>
          <p:cNvSpPr/>
          <p:nvPr/>
        </p:nvSpPr>
        <p:spPr>
          <a:xfrm>
            <a:off x="6647368" y="4498848"/>
            <a:ext cx="3057480" cy="0"/>
          </a:xfrm>
          <a:prstGeom prst="line">
            <a:avLst/>
          </a:prstGeom>
          <a:noFill/>
          <a:ln w="9525">
            <a:solidFill>
              <a:srgbClr val="CCCCCC"/>
            </a:solidFill>
            <a:prstDash val="solid"/>
          </a:ln>
        </p:spPr>
      </p:sp>
      <p:sp>
        <p:nvSpPr>
          <p:cNvPr id="144" name="Text 141"/>
          <p:cNvSpPr txBox="1"/>
          <p:nvPr/>
        </p:nvSpPr>
        <p:spPr>
          <a:xfrm>
            <a:off x="6647368" y="4663440"/>
            <a:ext cx="30574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集約の候補</a:t>
            </a:r>
            <a:endParaRPr lang="en-US" sz="1400" dirty="0"/>
          </a:p>
        </p:txBody>
      </p:sp>
      <p:sp>
        <p:nvSpPr>
          <p:cNvPr id="145" name="Text 142"/>
          <p:cNvSpPr txBox="1"/>
          <p:nvPr/>
        </p:nvSpPr>
        <p:spPr>
          <a:xfrm>
            <a:off x="6647368" y="5029200"/>
            <a:ext cx="3057480" cy="5486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10人未満の停留所を予約型の乗降地点にまとめる</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移動支援の費用4.3億円の8割は、移動の手段を用意するメニューに向いている。負担を下げるメニューは費用が小さく、拡充の余地が大きい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移動支援のメニューと費用</a:t>
            </a:r>
            <a:pPr indent="0" marL="0">
              <a:buNone/>
            </a:pPr>
            <a:r>
              <a:rPr lang="en-US" sz="1100" dirty="0">
                <a:solidFill>
                  <a:srgbClr val="3F3F3F"/>
                </a:solidFill>
                <a:latin typeface="Yu Gothic UI" pitchFamily="34" charset="0"/>
                <a:ea typeface="Yu Gothic UI" pitchFamily="34" charset="-122"/>
                <a:cs typeface="Yu Gothic UI" pitchFamily="34" charset="-120"/>
              </a:rPr>
              <a:t>　（百万円／年、2025年度）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出所）みなと市「決算書」（2025年度）を基に作成（名称・数値は架空の見本）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200848" y="1920240"/>
            <a:ext cx="24688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分類</a:t>
            </a:r>
            <a:endParaRPr lang="en-US" sz="1400" dirty="0"/>
          </a:p>
        </p:txBody>
      </p:sp>
      <p:sp>
        <p:nvSpPr>
          <p:cNvPr id="13" name="Text 10"/>
          <p:cNvSpPr txBox="1"/>
          <p:nvPr/>
        </p:nvSpPr>
        <p:spPr>
          <a:xfrm>
            <a:off x="1976995" y="1920240"/>
            <a:ext cx="27432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メニュー</a:t>
            </a:r>
            <a:endParaRPr lang="en-US" sz="1400" dirty="0"/>
          </a:p>
        </p:txBody>
      </p:sp>
      <p:sp>
        <p:nvSpPr>
          <p:cNvPr id="14" name="Text 11"/>
          <p:cNvSpPr txBox="1"/>
          <p:nvPr/>
        </p:nvSpPr>
        <p:spPr>
          <a:xfrm>
            <a:off x="3783247" y="1920240"/>
            <a:ext cx="23774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15" name="Text 12"/>
          <p:cNvSpPr txBox="1"/>
          <p:nvPr/>
        </p:nvSpPr>
        <p:spPr>
          <a:xfrm>
            <a:off x="5495393" y="1920240"/>
            <a:ext cx="963334" cy="320040"/>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費用</a:t>
            </a:r>
            <a:endParaRPr lang="en-US" sz="1400" dirty="0"/>
          </a:p>
        </p:txBody>
      </p:sp>
      <p:sp>
        <p:nvSpPr>
          <p:cNvPr id="16" name="Shape 13"/>
          <p:cNvSpPr/>
          <p:nvPr/>
        </p:nvSpPr>
        <p:spPr>
          <a:xfrm>
            <a:off x="200848" y="2304288"/>
            <a:ext cx="6257880" cy="0"/>
          </a:xfrm>
          <a:prstGeom prst="line">
            <a:avLst/>
          </a:prstGeom>
          <a:noFill/>
          <a:ln w="12700">
            <a:solidFill>
              <a:srgbClr val="7F7F7F"/>
            </a:solidFill>
            <a:prstDash val="solid"/>
          </a:ln>
        </p:spPr>
      </p:sp>
      <p:sp>
        <p:nvSpPr>
          <p:cNvPr id="17" name="Text 14"/>
          <p:cNvSpPr txBox="1"/>
          <p:nvPr/>
        </p:nvSpPr>
        <p:spPr>
          <a:xfrm>
            <a:off x="200848" y="2423160"/>
            <a:ext cx="22860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移動の手段を用意する</a:t>
            </a:r>
            <a:endParaRPr lang="en-US" sz="1400" dirty="0"/>
          </a:p>
        </p:txBody>
      </p:sp>
      <p:sp>
        <p:nvSpPr>
          <p:cNvPr id="18" name="Text 15"/>
          <p:cNvSpPr txBox="1"/>
          <p:nvPr/>
        </p:nvSpPr>
        <p:spPr>
          <a:xfrm>
            <a:off x="200848" y="2807208"/>
            <a:ext cx="2286000" cy="32004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小計 340（80%）</a:t>
            </a:r>
            <a:endParaRPr lang="en-US" sz="1200" dirty="0"/>
          </a:p>
        </p:txBody>
      </p:sp>
      <p:sp>
        <p:nvSpPr>
          <p:cNvPr id="19" name="Shape 16"/>
          <p:cNvSpPr/>
          <p:nvPr/>
        </p:nvSpPr>
        <p:spPr>
          <a:xfrm>
            <a:off x="1904745" y="2478024"/>
            <a:ext cx="0" cy="1316736"/>
          </a:xfrm>
          <a:prstGeom prst="line">
            <a:avLst/>
          </a:prstGeom>
          <a:noFill/>
          <a:ln w="15875">
            <a:solidFill>
              <a:srgbClr val="CCCCCC"/>
            </a:solidFill>
            <a:prstDash val="solid"/>
          </a:ln>
        </p:spPr>
      </p:sp>
      <p:sp>
        <p:nvSpPr>
          <p:cNvPr id="20" name="Text 17"/>
          <p:cNvSpPr txBox="1"/>
          <p:nvPr/>
        </p:nvSpPr>
        <p:spPr>
          <a:xfrm>
            <a:off x="1976995" y="2423160"/>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予約型交通</a:t>
            </a:r>
            <a:endParaRPr lang="en-US" sz="1400" dirty="0"/>
          </a:p>
        </p:txBody>
      </p:sp>
      <p:sp>
        <p:nvSpPr>
          <p:cNvPr id="21" name="Text 18"/>
          <p:cNvSpPr txBox="1"/>
          <p:nvPr/>
        </p:nvSpPr>
        <p:spPr>
          <a:xfrm>
            <a:off x="3783247" y="242316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高齢者・通学の生徒</a:t>
            </a:r>
            <a:endParaRPr lang="en-US" sz="1400" dirty="0"/>
          </a:p>
        </p:txBody>
      </p:sp>
      <p:sp>
        <p:nvSpPr>
          <p:cNvPr id="22" name="Text 19"/>
          <p:cNvSpPr txBox="1"/>
          <p:nvPr/>
        </p:nvSpPr>
        <p:spPr>
          <a:xfrm>
            <a:off x="5495393" y="2423160"/>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180</a:t>
            </a:r>
            <a:endParaRPr lang="en-US" sz="1200" dirty="0"/>
          </a:p>
        </p:txBody>
      </p:sp>
      <p:sp>
        <p:nvSpPr>
          <p:cNvPr id="23" name="Shape 20"/>
          <p:cNvSpPr/>
          <p:nvPr/>
        </p:nvSpPr>
        <p:spPr>
          <a:xfrm>
            <a:off x="1976995" y="2898648"/>
            <a:ext cx="4481732" cy="0"/>
          </a:xfrm>
          <a:prstGeom prst="line">
            <a:avLst/>
          </a:prstGeom>
          <a:noFill/>
          <a:ln w="9525">
            <a:solidFill>
              <a:srgbClr val="CCCCCC"/>
            </a:solidFill>
            <a:prstDash val="solid"/>
          </a:ln>
        </p:spPr>
      </p:sp>
      <p:sp>
        <p:nvSpPr>
          <p:cNvPr id="24" name="Text 21"/>
          <p:cNvSpPr txBox="1"/>
          <p:nvPr/>
        </p:nvSpPr>
        <p:spPr>
          <a:xfrm>
            <a:off x="1976995" y="2898648"/>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コミュニティバス</a:t>
            </a:r>
            <a:endParaRPr lang="en-US" sz="1400" dirty="0"/>
          </a:p>
        </p:txBody>
      </p:sp>
      <p:sp>
        <p:nvSpPr>
          <p:cNvPr id="25" name="Text 22"/>
          <p:cNvSpPr txBox="1"/>
          <p:nvPr/>
        </p:nvSpPr>
        <p:spPr>
          <a:xfrm>
            <a:off x="3783247" y="2898648"/>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全住民</a:t>
            </a:r>
            <a:endParaRPr lang="en-US" sz="1400" dirty="0"/>
          </a:p>
        </p:txBody>
      </p:sp>
      <p:sp>
        <p:nvSpPr>
          <p:cNvPr id="26" name="Text 23"/>
          <p:cNvSpPr txBox="1"/>
          <p:nvPr/>
        </p:nvSpPr>
        <p:spPr>
          <a:xfrm>
            <a:off x="5495393" y="2898648"/>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120</a:t>
            </a:r>
            <a:endParaRPr lang="en-US" sz="1200" dirty="0"/>
          </a:p>
        </p:txBody>
      </p:sp>
      <p:sp>
        <p:nvSpPr>
          <p:cNvPr id="27" name="Shape 24"/>
          <p:cNvSpPr/>
          <p:nvPr/>
        </p:nvSpPr>
        <p:spPr>
          <a:xfrm>
            <a:off x="1976995" y="3374136"/>
            <a:ext cx="4481732" cy="0"/>
          </a:xfrm>
          <a:prstGeom prst="line">
            <a:avLst/>
          </a:prstGeom>
          <a:noFill/>
          <a:ln w="9525">
            <a:solidFill>
              <a:srgbClr val="CCCCCC"/>
            </a:solidFill>
            <a:prstDash val="solid"/>
          </a:ln>
        </p:spPr>
      </p:sp>
      <p:sp>
        <p:nvSpPr>
          <p:cNvPr id="28" name="Text 25"/>
          <p:cNvSpPr txBox="1"/>
          <p:nvPr/>
        </p:nvSpPr>
        <p:spPr>
          <a:xfrm>
            <a:off x="1976995" y="3374136"/>
            <a:ext cx="1806252"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福祉有償運送</a:t>
            </a:r>
            <a:endParaRPr lang="en-US" sz="1400" dirty="0"/>
          </a:p>
        </p:txBody>
      </p:sp>
      <p:sp>
        <p:nvSpPr>
          <p:cNvPr id="29" name="Text 26"/>
          <p:cNvSpPr txBox="1"/>
          <p:nvPr/>
        </p:nvSpPr>
        <p:spPr>
          <a:xfrm>
            <a:off x="3783247" y="3374136"/>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30" name="Text 27"/>
          <p:cNvSpPr txBox="1"/>
          <p:nvPr/>
        </p:nvSpPr>
        <p:spPr>
          <a:xfrm>
            <a:off x="5495393" y="3374136"/>
            <a:ext cx="963334" cy="475488"/>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31" name="Shape 28"/>
          <p:cNvSpPr/>
          <p:nvPr/>
        </p:nvSpPr>
        <p:spPr>
          <a:xfrm>
            <a:off x="200848" y="3941064"/>
            <a:ext cx="6257880" cy="0"/>
          </a:xfrm>
          <a:prstGeom prst="line">
            <a:avLst/>
          </a:prstGeom>
          <a:noFill/>
          <a:ln w="12700">
            <a:solidFill>
              <a:srgbClr val="7F7F7F"/>
            </a:solidFill>
            <a:prstDash val="solid"/>
          </a:ln>
        </p:spPr>
      </p:sp>
      <p:sp>
        <p:nvSpPr>
          <p:cNvPr id="32" name="Text 29"/>
          <p:cNvSpPr txBox="1"/>
          <p:nvPr/>
        </p:nvSpPr>
        <p:spPr>
          <a:xfrm>
            <a:off x="200848" y="4078224"/>
            <a:ext cx="22860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移動の負担を下げる</a:t>
            </a:r>
            <a:endParaRPr lang="en-US" sz="1400" dirty="0"/>
          </a:p>
        </p:txBody>
      </p:sp>
      <p:sp>
        <p:nvSpPr>
          <p:cNvPr id="33" name="Text 30"/>
          <p:cNvSpPr txBox="1"/>
          <p:nvPr/>
        </p:nvSpPr>
        <p:spPr>
          <a:xfrm>
            <a:off x="200848" y="4462272"/>
            <a:ext cx="2286000" cy="32004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小計 85（20%）</a:t>
            </a:r>
            <a:endParaRPr lang="en-US" sz="1200" dirty="0"/>
          </a:p>
        </p:txBody>
      </p:sp>
      <p:sp>
        <p:nvSpPr>
          <p:cNvPr id="34" name="Shape 31"/>
          <p:cNvSpPr/>
          <p:nvPr/>
        </p:nvSpPr>
        <p:spPr>
          <a:xfrm>
            <a:off x="1904745" y="4133088"/>
            <a:ext cx="0" cy="1316736"/>
          </a:xfrm>
          <a:prstGeom prst="line">
            <a:avLst/>
          </a:prstGeom>
          <a:noFill/>
          <a:ln w="25400">
            <a:solidFill>
              <a:srgbClr val="000F78"/>
            </a:solidFill>
            <a:prstDash val="solid"/>
          </a:ln>
        </p:spPr>
      </p:sp>
      <p:sp>
        <p:nvSpPr>
          <p:cNvPr id="35" name="Text 32"/>
          <p:cNvSpPr txBox="1"/>
          <p:nvPr/>
        </p:nvSpPr>
        <p:spPr>
          <a:xfrm>
            <a:off x="1976995" y="4078224"/>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運賃の割引</a:t>
            </a:r>
            <a:endParaRPr lang="en-US" sz="1400" dirty="0"/>
          </a:p>
        </p:txBody>
      </p:sp>
      <p:sp>
        <p:nvSpPr>
          <p:cNvPr id="36" name="Text 33"/>
          <p:cNvSpPr txBox="1"/>
          <p:nvPr/>
        </p:nvSpPr>
        <p:spPr>
          <a:xfrm>
            <a:off x="3783247" y="4078224"/>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70歳以上</a:t>
            </a:r>
            <a:endParaRPr lang="en-US" sz="1400" dirty="0"/>
          </a:p>
        </p:txBody>
      </p:sp>
      <p:sp>
        <p:nvSpPr>
          <p:cNvPr id="37" name="Text 34"/>
          <p:cNvSpPr txBox="1"/>
          <p:nvPr/>
        </p:nvSpPr>
        <p:spPr>
          <a:xfrm>
            <a:off x="5495393" y="4078224"/>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50</a:t>
            </a:r>
            <a:endParaRPr lang="en-US" sz="1200" dirty="0"/>
          </a:p>
        </p:txBody>
      </p:sp>
      <p:sp>
        <p:nvSpPr>
          <p:cNvPr id="38" name="Shape 35"/>
          <p:cNvSpPr/>
          <p:nvPr/>
        </p:nvSpPr>
        <p:spPr>
          <a:xfrm>
            <a:off x="1976995" y="4553712"/>
            <a:ext cx="4481732" cy="0"/>
          </a:xfrm>
          <a:prstGeom prst="line">
            <a:avLst/>
          </a:prstGeom>
          <a:noFill/>
          <a:ln w="9525">
            <a:solidFill>
              <a:srgbClr val="CCCCCC"/>
            </a:solidFill>
            <a:prstDash val="solid"/>
          </a:ln>
        </p:spPr>
      </p:sp>
      <p:sp>
        <p:nvSpPr>
          <p:cNvPr id="39" name="Text 36"/>
          <p:cNvSpPr txBox="1"/>
          <p:nvPr/>
        </p:nvSpPr>
        <p:spPr>
          <a:xfrm>
            <a:off x="1976995" y="4553712"/>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タクシー券</a:t>
            </a:r>
            <a:endParaRPr lang="en-US" sz="1400" dirty="0"/>
          </a:p>
        </p:txBody>
      </p:sp>
      <p:sp>
        <p:nvSpPr>
          <p:cNvPr id="40" name="Text 37"/>
          <p:cNvSpPr txBox="1"/>
          <p:nvPr/>
        </p:nvSpPr>
        <p:spPr>
          <a:xfrm>
            <a:off x="3783247" y="4553712"/>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免許を返納した人</a:t>
            </a:r>
            <a:endParaRPr lang="en-US" sz="1400" dirty="0"/>
          </a:p>
        </p:txBody>
      </p:sp>
      <p:sp>
        <p:nvSpPr>
          <p:cNvPr id="41" name="Text 38"/>
          <p:cNvSpPr txBox="1"/>
          <p:nvPr/>
        </p:nvSpPr>
        <p:spPr>
          <a:xfrm>
            <a:off x="5495393" y="4553712"/>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20</a:t>
            </a:r>
            <a:endParaRPr lang="en-US" sz="1200" dirty="0"/>
          </a:p>
        </p:txBody>
      </p:sp>
      <p:sp>
        <p:nvSpPr>
          <p:cNvPr id="42" name="Shape 39"/>
          <p:cNvSpPr/>
          <p:nvPr/>
        </p:nvSpPr>
        <p:spPr>
          <a:xfrm>
            <a:off x="1976995" y="5029200"/>
            <a:ext cx="4481732" cy="0"/>
          </a:xfrm>
          <a:prstGeom prst="line">
            <a:avLst/>
          </a:prstGeom>
          <a:noFill/>
          <a:ln w="9525">
            <a:solidFill>
              <a:srgbClr val="CCCCCC"/>
            </a:solidFill>
            <a:prstDash val="solid"/>
          </a:ln>
        </p:spPr>
      </p:sp>
      <p:sp>
        <p:nvSpPr>
          <p:cNvPr id="43" name="Text 40"/>
          <p:cNvSpPr txBox="1"/>
          <p:nvPr/>
        </p:nvSpPr>
        <p:spPr>
          <a:xfrm>
            <a:off x="1976995" y="5029200"/>
            <a:ext cx="1806252" cy="47548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通院の付添い</a:t>
            </a:r>
            <a:endParaRPr lang="en-US" sz="1400" dirty="0"/>
          </a:p>
        </p:txBody>
      </p:sp>
      <p:sp>
        <p:nvSpPr>
          <p:cNvPr id="44" name="Text 41"/>
          <p:cNvSpPr txBox="1"/>
          <p:nvPr/>
        </p:nvSpPr>
        <p:spPr>
          <a:xfrm>
            <a:off x="3783247" y="5029200"/>
            <a:ext cx="1565418" cy="47548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要介護者</a:t>
            </a:r>
            <a:endParaRPr lang="en-US" sz="1400" dirty="0"/>
          </a:p>
        </p:txBody>
      </p:sp>
      <p:sp>
        <p:nvSpPr>
          <p:cNvPr id="45" name="Text 42"/>
          <p:cNvSpPr txBox="1"/>
          <p:nvPr/>
        </p:nvSpPr>
        <p:spPr>
          <a:xfrm>
            <a:off x="5495393" y="5029200"/>
            <a:ext cx="963334" cy="475488"/>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15</a:t>
            </a:r>
            <a:endParaRPr lang="en-US" sz="1200" dirty="0"/>
          </a:p>
        </p:txBody>
      </p:sp>
      <p:sp>
        <p:nvSpPr>
          <p:cNvPr id="46" name="Shape 43"/>
          <p:cNvSpPr/>
          <p:nvPr/>
        </p:nvSpPr>
        <p:spPr>
          <a:xfrm>
            <a:off x="200848" y="5641848"/>
            <a:ext cx="6257880" cy="0"/>
          </a:xfrm>
          <a:prstGeom prst="line">
            <a:avLst/>
          </a:prstGeom>
          <a:noFill/>
          <a:ln w="12700">
            <a:solidFill>
              <a:srgbClr val="7F7F7F"/>
            </a:solidFill>
            <a:prstDash val="solid"/>
          </a:ln>
        </p:spPr>
      </p:sp>
      <p:sp>
        <p:nvSpPr>
          <p:cNvPr id="47" name="Text 44"/>
          <p:cNvSpPr txBox="1"/>
          <p:nvPr/>
        </p:nvSpPr>
        <p:spPr>
          <a:xfrm>
            <a:off x="200848" y="5705856"/>
            <a:ext cx="24688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p>
        </p:txBody>
      </p:sp>
      <p:sp>
        <p:nvSpPr>
          <p:cNvPr id="48" name="Text 45"/>
          <p:cNvSpPr txBox="1"/>
          <p:nvPr/>
        </p:nvSpPr>
        <p:spPr>
          <a:xfrm>
            <a:off x="5495393" y="5705856"/>
            <a:ext cx="963334" cy="320040"/>
          </a:xfrm>
          <a:prstGeom prst="rect">
            <a:avLst/>
          </a:prstGeom>
          <a:noFill/>
          <a:ln/>
        </p:spPr>
        <p:txBody>
          <a:bodyPr wrap="square" lIns="0" tIns="0" rIns="0" bIns="0" rtlCol="0" anchor="t"/>
          <a:lstStyle/>
          <a:p>
            <a:pPr algn="r" indent="0" marL="0">
              <a:buNone/>
            </a:pPr>
            <a:r>
              <a:rPr lang="en-US" sz="1200" b="1" dirty="0">
                <a:solidFill>
                  <a:srgbClr val="3F3F3F"/>
                </a:solidFill>
                <a:latin typeface="Arial" pitchFamily="34" charset="0"/>
                <a:ea typeface="Arial" pitchFamily="34" charset="-122"/>
                <a:cs typeface="Arial" pitchFamily="34" charset="-120"/>
              </a:rPr>
              <a:t>425</a:t>
            </a:r>
            <a:endParaRPr lang="en-US" sz="1200" dirty="0"/>
          </a:p>
        </p:txBody>
      </p:sp>
      <p:sp>
        <p:nvSpPr>
          <p:cNvPr id="49" name="Shape 46"/>
          <p:cNvSpPr/>
          <p:nvPr/>
        </p:nvSpPr>
        <p:spPr>
          <a:xfrm>
            <a:off x="6687328" y="1874520"/>
            <a:ext cx="3017520" cy="4251960"/>
          </a:xfrm>
          <a:prstGeom prst="rect">
            <a:avLst/>
          </a:prstGeom>
          <a:solidFill>
            <a:srgbClr val="E0EEF8"/>
          </a:solidFill>
          <a:ln/>
        </p:spPr>
      </p:sp>
      <p:sp>
        <p:nvSpPr>
          <p:cNvPr id="50" name="Text 4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手段を用意するメニューが8割</a:t>
            </a:r>
            <a:endParaRPr lang="en-US" sz="1400" dirty="0"/>
          </a:p>
        </p:txBody>
      </p:sp>
      <p:sp>
        <p:nvSpPr>
          <p:cNvPr id="51" name="Text 4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予約型交通180、コミュニティバス120、福祉有償運送40で計340百万円。費用の大半が、乗り物を用意することに向いている。利用の少ない手段にも、同じ額の費用がかかっている</a:t>
            </a:r>
            <a:endParaRPr lang="en-US" sz="1200" dirty="0"/>
          </a:p>
        </p:txBody>
      </p:sp>
      <p:sp>
        <p:nvSpPr>
          <p:cNvPr id="52" name="Shape 49"/>
          <p:cNvSpPr/>
          <p:nvPr/>
        </p:nvSpPr>
        <p:spPr>
          <a:xfrm>
            <a:off x="6870208" y="3936492"/>
            <a:ext cx="2651760" cy="0"/>
          </a:xfrm>
          <a:prstGeom prst="line">
            <a:avLst/>
          </a:prstGeom>
          <a:noFill/>
          <a:ln w="9525">
            <a:solidFill>
              <a:srgbClr val="CCCCCC"/>
            </a:solidFill>
            <a:prstDash val="solid"/>
          </a:ln>
        </p:spPr>
      </p:sp>
      <p:sp>
        <p:nvSpPr>
          <p:cNvPr id="53" name="Text 5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負担を下げるメニューは85百万円</a:t>
            </a:r>
            <a:endParaRPr lang="en-US" sz="1400" dirty="0"/>
          </a:p>
        </p:txBody>
      </p:sp>
      <p:sp>
        <p:nvSpPr>
          <p:cNvPr id="54" name="Text 5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運賃の割引50、タクシー券20、通院の付添い15。対象を広げても費用の増加は小さい。手段を増やす前に、負担を下げる打ち手を広げる余地がある。運賃の割引は、利用を増やす効果も大きい</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利用者が挙げる不便は、それぞれ別の原因から生じている。最も効くのは支線の時刻を幹線に合わせることで、費用を増やさずに乗継ぎの待ちを減らせる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利用者が感じる不便の原因と解決</a:t>
            </a:r>
            <a:pPr indent="0" marL="0">
              <a:buNone/>
            </a:pPr>
            <a:r>
              <a:rPr lang="en-US" sz="1100" dirty="0">
                <a:solidFill>
                  <a:srgbClr val="3F3F3F"/>
                </a:solidFill>
                <a:latin typeface="Yu Gothic UI" pitchFamily="34" charset="0"/>
                <a:ea typeface="Yu Gothic UI" pitchFamily="34" charset="-122"/>
                <a:cs typeface="Yu Gothic UI" pitchFamily="34" charset="-120"/>
              </a:rPr>
              <a:t>　（利用者アンケートの上位の不便、2026年5月）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注）不便の上位3つ（複数回答）</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出所）みなと市「地域交通に関する住民アンケート」（2026年5月、n＝1,200）を基に作成（名称・数値は架空の見本）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78</a:t>
            </a:r>
            <a:endParaRPr lang="en-US" sz="900" dirty="0"/>
          </a:p>
        </p:txBody>
      </p:sp>
      <p:sp>
        <p:nvSpPr>
          <p:cNvPr id="12" name="Text 9"/>
          <p:cNvSpPr txBox="1"/>
          <p:nvPr/>
        </p:nvSpPr>
        <p:spPr>
          <a:xfrm>
            <a:off x="2008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課題（利用者の不便）</a:t>
            </a:r>
            <a:endParaRPr lang="en-US" sz="1400" dirty="0"/>
          </a:p>
        </p:txBody>
      </p:sp>
      <p:sp>
        <p:nvSpPr>
          <p:cNvPr id="13" name="Shape 10"/>
          <p:cNvSpPr/>
          <p:nvPr/>
        </p:nvSpPr>
        <p:spPr>
          <a:xfrm>
            <a:off x="200848" y="2243952"/>
            <a:ext cx="2377440" cy="0"/>
          </a:xfrm>
          <a:prstGeom prst="line">
            <a:avLst/>
          </a:prstGeom>
          <a:noFill/>
          <a:ln w="12700">
            <a:solidFill>
              <a:srgbClr val="7F7F7F"/>
            </a:solidFill>
            <a:prstDash val="solid"/>
          </a:ln>
        </p:spPr>
      </p:sp>
      <p:sp>
        <p:nvSpPr>
          <p:cNvPr id="14" name="Shape 11"/>
          <p:cNvSpPr/>
          <p:nvPr/>
        </p:nvSpPr>
        <p:spPr>
          <a:xfrm>
            <a:off x="2633152" y="1997521"/>
            <a:ext cx="70409" cy="140818"/>
          </a:xfrm>
          <a:custGeom>
            <a:avLst/>
            <a:gdLst/>
            <a:ahLst/>
            <a:cxnLst/>
            <a:rect l="l" t="t" r="r" b="b"/>
            <a:pathLst>
              <a:path w="70409" h="140818">
                <a:moveTo>
                  <a:pt x="0" y="0"/>
                </a:moveTo>
                <a:lnTo>
                  <a:pt x="70409" y="70409"/>
                </a:lnTo>
                <a:lnTo>
                  <a:pt x="0" y="140818"/>
                </a:lnTo>
                <a:close/>
              </a:path>
            </a:pathLst>
          </a:custGeom>
          <a:solidFill>
            <a:srgbClr val="7F7F7F"/>
          </a:solidFill>
          <a:ln/>
        </p:spPr>
      </p:sp>
      <p:sp>
        <p:nvSpPr>
          <p:cNvPr id="15" name="Shape 12"/>
          <p:cNvSpPr/>
          <p:nvPr/>
        </p:nvSpPr>
        <p:spPr>
          <a:xfrm>
            <a:off x="2685958" y="2002322"/>
            <a:ext cx="59047" cy="131216"/>
          </a:xfrm>
          <a:custGeom>
            <a:avLst/>
            <a:gdLst/>
            <a:ahLst/>
            <a:cxnLst/>
            <a:rect l="l" t="t" r="r" b="b"/>
            <a:pathLst>
              <a:path w="59047" h="131216">
                <a:moveTo>
                  <a:pt x="0" y="0"/>
                </a:moveTo>
                <a:lnTo>
                  <a:pt x="59047" y="65608"/>
                </a:lnTo>
                <a:lnTo>
                  <a:pt x="0" y="131216"/>
                </a:lnTo>
              </a:path>
            </a:pathLst>
          </a:custGeom>
          <a:ln w="22225">
            <a:solidFill>
              <a:srgbClr val="7F7F7F"/>
            </a:solidFill>
            <a:prstDash val="solid"/>
          </a:ln>
        </p:spPr>
      </p:sp>
      <p:sp>
        <p:nvSpPr>
          <p:cNvPr id="16" name="Text 13"/>
          <p:cNvSpPr txBox="1"/>
          <p:nvPr/>
        </p:nvSpPr>
        <p:spPr>
          <a:xfrm>
            <a:off x="2944048" y="1896480"/>
            <a:ext cx="2377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原因</a:t>
            </a:r>
            <a:endParaRPr lang="en-US" sz="1400" dirty="0"/>
          </a:p>
        </p:txBody>
      </p:sp>
      <p:sp>
        <p:nvSpPr>
          <p:cNvPr id="17" name="Shape 14"/>
          <p:cNvSpPr/>
          <p:nvPr/>
        </p:nvSpPr>
        <p:spPr>
          <a:xfrm>
            <a:off x="2944048" y="2243952"/>
            <a:ext cx="2377440" cy="0"/>
          </a:xfrm>
          <a:prstGeom prst="line">
            <a:avLst/>
          </a:prstGeom>
          <a:noFill/>
          <a:ln w="12700">
            <a:solidFill>
              <a:srgbClr val="7F7F7F"/>
            </a:solidFill>
            <a:prstDash val="solid"/>
          </a:ln>
        </p:spPr>
      </p:sp>
      <p:sp>
        <p:nvSpPr>
          <p:cNvPr id="18" name="Shape 15"/>
          <p:cNvSpPr/>
          <p:nvPr/>
        </p:nvSpPr>
        <p:spPr>
          <a:xfrm>
            <a:off x="5376352" y="1997521"/>
            <a:ext cx="70409" cy="140818"/>
          </a:xfrm>
          <a:custGeom>
            <a:avLst/>
            <a:gdLst/>
            <a:ahLst/>
            <a:cxnLst/>
            <a:rect l="l" t="t" r="r" b="b"/>
            <a:pathLst>
              <a:path w="70409" h="140818">
                <a:moveTo>
                  <a:pt x="0" y="0"/>
                </a:moveTo>
                <a:lnTo>
                  <a:pt x="70409" y="70409"/>
                </a:lnTo>
                <a:lnTo>
                  <a:pt x="0" y="140818"/>
                </a:lnTo>
                <a:close/>
              </a:path>
            </a:pathLst>
          </a:custGeom>
          <a:solidFill>
            <a:srgbClr val="7F7F7F"/>
          </a:solidFill>
          <a:ln/>
        </p:spPr>
      </p:sp>
      <p:sp>
        <p:nvSpPr>
          <p:cNvPr id="19" name="Shape 16"/>
          <p:cNvSpPr/>
          <p:nvPr/>
        </p:nvSpPr>
        <p:spPr>
          <a:xfrm>
            <a:off x="5429158" y="2002322"/>
            <a:ext cx="59047" cy="131216"/>
          </a:xfrm>
          <a:custGeom>
            <a:avLst/>
            <a:gdLst/>
            <a:ahLst/>
            <a:cxnLst/>
            <a:rect l="l" t="t" r="r" b="b"/>
            <a:pathLst>
              <a:path w="59047" h="131216">
                <a:moveTo>
                  <a:pt x="0" y="0"/>
                </a:moveTo>
                <a:lnTo>
                  <a:pt x="59047" y="65608"/>
                </a:lnTo>
                <a:lnTo>
                  <a:pt x="0" y="131216"/>
                </a:lnTo>
              </a:path>
            </a:pathLst>
          </a:custGeom>
          <a:ln w="22225">
            <a:solidFill>
              <a:srgbClr val="7F7F7F"/>
            </a:solidFill>
            <a:prstDash val="solid"/>
          </a:ln>
        </p:spPr>
      </p:sp>
      <p:sp>
        <p:nvSpPr>
          <p:cNvPr id="20" name="Text 17"/>
          <p:cNvSpPr txBox="1"/>
          <p:nvPr/>
        </p:nvSpPr>
        <p:spPr>
          <a:xfrm>
            <a:off x="5687248" y="1896480"/>
            <a:ext cx="246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解決</a:t>
            </a:r>
            <a:endParaRPr lang="en-US" sz="1400" dirty="0"/>
          </a:p>
        </p:txBody>
      </p:sp>
      <p:sp>
        <p:nvSpPr>
          <p:cNvPr id="21" name="Shape 18"/>
          <p:cNvSpPr/>
          <p:nvPr/>
        </p:nvSpPr>
        <p:spPr>
          <a:xfrm>
            <a:off x="5687248" y="2243952"/>
            <a:ext cx="2468880" cy="0"/>
          </a:xfrm>
          <a:prstGeom prst="line">
            <a:avLst/>
          </a:prstGeom>
          <a:noFill/>
          <a:ln w="15875">
            <a:solidFill>
              <a:srgbClr val="3F3F3F"/>
            </a:solidFill>
            <a:prstDash val="solid"/>
          </a:ln>
        </p:spPr>
      </p:sp>
      <p:sp>
        <p:nvSpPr>
          <p:cNvPr id="22" name="Text 19"/>
          <p:cNvSpPr txBox="1"/>
          <p:nvPr/>
        </p:nvSpPr>
        <p:spPr>
          <a:xfrm>
            <a:off x="8521888" y="1896480"/>
            <a:ext cx="1182960" cy="292608"/>
          </a:xfrm>
          <a:prstGeom prst="rect">
            <a:avLst/>
          </a:prstGeom>
          <a:noFill/>
          <a:ln/>
        </p:spPr>
        <p:txBody>
          <a:bodyPr wrap="square" lIns="0" tIns="0" rIns="0" bIns="0" rtlCol="0" anchor="b"/>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追加の費用</a:t>
            </a:r>
            <a:endParaRPr lang="en-US" sz="1400" dirty="0"/>
          </a:p>
        </p:txBody>
      </p:sp>
      <p:sp>
        <p:nvSpPr>
          <p:cNvPr id="23" name="Shape 20"/>
          <p:cNvSpPr/>
          <p:nvPr/>
        </p:nvSpPr>
        <p:spPr>
          <a:xfrm>
            <a:off x="8521888" y="2243952"/>
            <a:ext cx="1182960" cy="0"/>
          </a:xfrm>
          <a:prstGeom prst="line">
            <a:avLst/>
          </a:prstGeom>
          <a:noFill/>
          <a:ln w="12700">
            <a:solidFill>
              <a:srgbClr val="7F7F7F"/>
            </a:solidFill>
            <a:prstDash val="solid"/>
          </a:ln>
        </p:spPr>
      </p:sp>
      <p:sp>
        <p:nvSpPr>
          <p:cNvPr id="24" name="Text 21"/>
          <p:cNvSpPr txBox="1"/>
          <p:nvPr/>
        </p:nvSpPr>
        <p:spPr>
          <a:xfrm>
            <a:off x="2008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乗継ぎで30分以上待つ</a:t>
            </a:r>
            <a:endParaRPr lang="en-US" sz="1400" dirty="0"/>
          </a:p>
        </p:txBody>
      </p:sp>
      <p:sp>
        <p:nvSpPr>
          <p:cNvPr id="25" name="Text 22"/>
          <p:cNvSpPr txBox="1"/>
          <p:nvPr/>
        </p:nvSpPr>
        <p:spPr>
          <a:xfrm>
            <a:off x="2944048" y="2377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支線と幹線の時刻を別々に決めている</a:t>
            </a:r>
            <a:endParaRPr lang="en-US" sz="1400" dirty="0"/>
          </a:p>
        </p:txBody>
      </p:sp>
      <p:sp>
        <p:nvSpPr>
          <p:cNvPr id="26" name="Text 23"/>
          <p:cNvSpPr txBox="1"/>
          <p:nvPr/>
        </p:nvSpPr>
        <p:spPr>
          <a:xfrm>
            <a:off x="5687248" y="2377440"/>
            <a:ext cx="2468880"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支線の発車を幹線の到着に合わせる</a:t>
            </a:r>
            <a:endParaRPr lang="en-US" sz="1400" dirty="0"/>
          </a:p>
        </p:txBody>
      </p:sp>
      <p:sp>
        <p:nvSpPr>
          <p:cNvPr id="27" name="Text 24"/>
          <p:cNvSpPr txBox="1"/>
          <p:nvPr/>
        </p:nvSpPr>
        <p:spPr>
          <a:xfrm>
            <a:off x="8521888" y="2377440"/>
            <a:ext cx="1182960" cy="91440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なし</a:t>
            </a:r>
            <a:endParaRPr lang="en-US" sz="1200" dirty="0"/>
          </a:p>
        </p:txBody>
      </p:sp>
      <p:sp>
        <p:nvSpPr>
          <p:cNvPr id="28" name="Shape 25"/>
          <p:cNvSpPr/>
          <p:nvPr/>
        </p:nvSpPr>
        <p:spPr>
          <a:xfrm>
            <a:off x="200848" y="3401568"/>
            <a:ext cx="9504000" cy="0"/>
          </a:xfrm>
          <a:prstGeom prst="line">
            <a:avLst/>
          </a:prstGeom>
          <a:noFill/>
          <a:ln w="9525">
            <a:solidFill>
              <a:srgbClr val="CCCCCC"/>
            </a:solidFill>
            <a:prstDash val="solid"/>
          </a:ln>
        </p:spPr>
      </p:sp>
      <p:sp>
        <p:nvSpPr>
          <p:cNvPr id="29" name="Text 26"/>
          <p:cNvSpPr txBox="1"/>
          <p:nvPr/>
        </p:nvSpPr>
        <p:spPr>
          <a:xfrm>
            <a:off x="2008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電話の予約がつながらない</a:t>
            </a:r>
            <a:endParaRPr lang="en-US" sz="1400" dirty="0"/>
          </a:p>
        </p:txBody>
      </p:sp>
      <p:sp>
        <p:nvSpPr>
          <p:cNvPr id="30" name="Text 27"/>
          <p:cNvSpPr txBox="1"/>
          <p:nvPr/>
        </p:nvSpPr>
        <p:spPr>
          <a:xfrm>
            <a:off x="2944048" y="3520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予約を受ける回線が1つしかない</a:t>
            </a:r>
            <a:endParaRPr lang="en-US" sz="1400" dirty="0"/>
          </a:p>
        </p:txBody>
      </p:sp>
      <p:sp>
        <p:nvSpPr>
          <p:cNvPr id="31" name="Text 28"/>
          <p:cNvSpPr txBox="1"/>
          <p:nvPr/>
        </p:nvSpPr>
        <p:spPr>
          <a:xfrm>
            <a:off x="5687248" y="3520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アプリと自動音声の予約を加える</a:t>
            </a:r>
            <a:endParaRPr lang="en-US" sz="1400" dirty="0"/>
          </a:p>
        </p:txBody>
      </p:sp>
      <p:sp>
        <p:nvSpPr>
          <p:cNvPr id="32" name="Text 29"/>
          <p:cNvSpPr txBox="1"/>
          <p:nvPr/>
        </p:nvSpPr>
        <p:spPr>
          <a:xfrm>
            <a:off x="8521888" y="3520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年600万円</a:t>
            </a:r>
            <a:endParaRPr lang="en-US" sz="1200" dirty="0"/>
          </a:p>
        </p:txBody>
      </p:sp>
      <p:sp>
        <p:nvSpPr>
          <p:cNvPr id="33" name="Shape 30"/>
          <p:cNvSpPr/>
          <p:nvPr/>
        </p:nvSpPr>
        <p:spPr>
          <a:xfrm>
            <a:off x="200848" y="4544568"/>
            <a:ext cx="9504000" cy="0"/>
          </a:xfrm>
          <a:prstGeom prst="line">
            <a:avLst/>
          </a:prstGeom>
          <a:noFill/>
          <a:ln w="9525">
            <a:solidFill>
              <a:srgbClr val="CCCCCC"/>
            </a:solidFill>
            <a:prstDash val="solid"/>
          </a:ln>
        </p:spPr>
      </p:sp>
      <p:sp>
        <p:nvSpPr>
          <p:cNvPr id="34" name="Text 31"/>
          <p:cNvSpPr txBox="1"/>
          <p:nvPr/>
        </p:nvSpPr>
        <p:spPr>
          <a:xfrm>
            <a:off x="2008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夕方の便が少ない</a:t>
            </a:r>
            <a:endParaRPr lang="en-US" sz="1400" dirty="0"/>
          </a:p>
        </p:txBody>
      </p:sp>
      <p:sp>
        <p:nvSpPr>
          <p:cNvPr id="35" name="Text 32"/>
          <p:cNvSpPr txBox="1"/>
          <p:nvPr/>
        </p:nvSpPr>
        <p:spPr>
          <a:xfrm>
            <a:off x="2944048" y="4663440"/>
            <a:ext cx="237744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運転士の勤務が日中に偏っている</a:t>
            </a:r>
            <a:endParaRPr lang="en-US" sz="1400" dirty="0"/>
          </a:p>
        </p:txBody>
      </p:sp>
      <p:sp>
        <p:nvSpPr>
          <p:cNvPr id="36" name="Text 33"/>
          <p:cNvSpPr txBox="1"/>
          <p:nvPr/>
        </p:nvSpPr>
        <p:spPr>
          <a:xfrm>
            <a:off x="5687248" y="4663440"/>
            <a:ext cx="2468880" cy="9144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勤務を2交代にして夕方の便を増やす</a:t>
            </a:r>
            <a:endParaRPr lang="en-US" sz="1400" dirty="0"/>
          </a:p>
        </p:txBody>
      </p:sp>
      <p:sp>
        <p:nvSpPr>
          <p:cNvPr id="37" name="Text 34"/>
          <p:cNvSpPr txBox="1"/>
          <p:nvPr/>
        </p:nvSpPr>
        <p:spPr>
          <a:xfrm>
            <a:off x="8521888" y="4663440"/>
            <a:ext cx="1182960" cy="9144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年900万円</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2035年度までに需要は通院の増加などで18万回増えるが、人口減少などで31万回減る。差し引き13万回の減少を前提に計画すべきである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2035年度までの年間需要の増減要因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（万回／年、2025年度比、市の推計）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注）市の需要推計（2026年）による。万回未満は四捨五入。人口は国立社会保障・人口問題研究所の推計、観光客数は2019年度の水準まで戻ると仮定した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79</a:t>
            </a:r>
            <a:endParaRPr lang="en-US" sz="900" dirty="0"/>
          </a:p>
        </p:txBody>
      </p:sp>
      <p:sp>
        <p:nvSpPr>
          <p:cNvPr id="12" name="Text 9"/>
          <p:cNvSpPr txBox="1"/>
          <p:nvPr/>
        </p:nvSpPr>
        <p:spPr>
          <a:xfrm>
            <a:off x="200848" y="1896480"/>
            <a:ext cx="3291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押し上げる要因</a:t>
            </a:r>
            <a:endParaRPr lang="en-US" sz="1400" dirty="0"/>
          </a:p>
        </p:txBody>
      </p:sp>
      <p:sp>
        <p:nvSpPr>
          <p:cNvPr id="13" name="Shape 10"/>
          <p:cNvSpPr/>
          <p:nvPr/>
        </p:nvSpPr>
        <p:spPr>
          <a:xfrm>
            <a:off x="200848" y="2243952"/>
            <a:ext cx="2167502" cy="0"/>
          </a:xfrm>
          <a:prstGeom prst="line">
            <a:avLst/>
          </a:prstGeom>
          <a:noFill/>
          <a:ln w="12700">
            <a:solidFill>
              <a:srgbClr val="7F7F7F"/>
            </a:solidFill>
            <a:prstDash val="solid"/>
          </a:ln>
        </p:spPr>
      </p:sp>
      <p:sp>
        <p:nvSpPr>
          <p:cNvPr id="14" name="Text 11"/>
          <p:cNvSpPr txBox="1"/>
          <p:nvPr/>
        </p:nvSpPr>
        <p:spPr>
          <a:xfrm>
            <a:off x="4291226" y="1896480"/>
            <a:ext cx="2167502"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押し下げる要因</a:t>
            </a:r>
            <a:endParaRPr lang="en-US" sz="1400" dirty="0"/>
          </a:p>
        </p:txBody>
      </p:sp>
      <p:sp>
        <p:nvSpPr>
          <p:cNvPr id="15" name="Shape 12"/>
          <p:cNvSpPr/>
          <p:nvPr/>
        </p:nvSpPr>
        <p:spPr>
          <a:xfrm>
            <a:off x="4291226" y="2243952"/>
            <a:ext cx="2167502" cy="0"/>
          </a:xfrm>
          <a:prstGeom prst="line">
            <a:avLst/>
          </a:prstGeom>
          <a:noFill/>
          <a:ln w="15875">
            <a:solidFill>
              <a:srgbClr val="3F3F3F"/>
            </a:solidFill>
            <a:prstDash val="solid"/>
          </a:ln>
        </p:spPr>
      </p:sp>
      <p:sp>
        <p:nvSpPr>
          <p:cNvPr id="16" name="Text 13"/>
          <p:cNvSpPr txBox="1"/>
          <p:nvPr/>
        </p:nvSpPr>
        <p:spPr>
          <a:xfrm>
            <a:off x="200848" y="237744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通院の増加</a:t>
            </a:r>
            <a:endParaRPr lang="en-US" sz="1400" dirty="0"/>
          </a:p>
        </p:txBody>
      </p:sp>
      <p:sp>
        <p:nvSpPr>
          <p:cNvPr id="17" name="Text 14"/>
          <p:cNvSpPr txBox="1"/>
          <p:nvPr/>
        </p:nvSpPr>
        <p:spPr>
          <a:xfrm>
            <a:off x="1766266" y="237744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＋9</a:t>
            </a:r>
            <a:endParaRPr lang="en-US" sz="1200" dirty="0"/>
          </a:p>
        </p:txBody>
      </p:sp>
      <p:sp>
        <p:nvSpPr>
          <p:cNvPr id="18" name="Shape 15"/>
          <p:cNvSpPr/>
          <p:nvPr/>
        </p:nvSpPr>
        <p:spPr>
          <a:xfrm>
            <a:off x="200848" y="3035808"/>
            <a:ext cx="2167502" cy="0"/>
          </a:xfrm>
          <a:prstGeom prst="line">
            <a:avLst/>
          </a:prstGeom>
          <a:noFill/>
          <a:ln w="9525">
            <a:solidFill>
              <a:srgbClr val="CCCCCC"/>
            </a:solidFill>
            <a:prstDash val="solid"/>
          </a:ln>
        </p:spPr>
      </p:sp>
      <p:sp>
        <p:nvSpPr>
          <p:cNvPr id="19" name="Text 16"/>
          <p:cNvSpPr txBox="1"/>
          <p:nvPr/>
        </p:nvSpPr>
        <p:spPr>
          <a:xfrm>
            <a:off x="200848"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免許の返納の増加</a:t>
            </a:r>
            <a:endParaRPr lang="en-US" sz="1400" dirty="0"/>
          </a:p>
        </p:txBody>
      </p:sp>
      <p:sp>
        <p:nvSpPr>
          <p:cNvPr id="20" name="Text 17"/>
          <p:cNvSpPr txBox="1"/>
          <p:nvPr/>
        </p:nvSpPr>
        <p:spPr>
          <a:xfrm>
            <a:off x="1766266"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1" name="Shape 18"/>
          <p:cNvSpPr/>
          <p:nvPr/>
        </p:nvSpPr>
        <p:spPr>
          <a:xfrm>
            <a:off x="200848" y="3813048"/>
            <a:ext cx="2167502" cy="0"/>
          </a:xfrm>
          <a:prstGeom prst="line">
            <a:avLst/>
          </a:prstGeom>
          <a:noFill/>
          <a:ln w="9525">
            <a:solidFill>
              <a:srgbClr val="CCCCCC"/>
            </a:solidFill>
            <a:prstDash val="solid"/>
          </a:ln>
        </p:spPr>
      </p:sp>
      <p:sp>
        <p:nvSpPr>
          <p:cNvPr id="22" name="Text 19"/>
          <p:cNvSpPr txBox="1"/>
          <p:nvPr/>
        </p:nvSpPr>
        <p:spPr>
          <a:xfrm>
            <a:off x="200848"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観光客の回復</a:t>
            </a:r>
            <a:endParaRPr lang="en-US" sz="1400" dirty="0"/>
          </a:p>
        </p:txBody>
      </p:sp>
      <p:sp>
        <p:nvSpPr>
          <p:cNvPr id="23" name="Text 20"/>
          <p:cNvSpPr txBox="1"/>
          <p:nvPr/>
        </p:nvSpPr>
        <p:spPr>
          <a:xfrm>
            <a:off x="1766266"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24" name="Text 21"/>
          <p:cNvSpPr txBox="1"/>
          <p:nvPr/>
        </p:nvSpPr>
        <p:spPr>
          <a:xfrm>
            <a:off x="4291226" y="2377440"/>
            <a:ext cx="1565418"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人口の減少</a:t>
            </a:r>
            <a:endParaRPr lang="en-US" sz="1400" dirty="0"/>
          </a:p>
        </p:txBody>
      </p:sp>
      <p:sp>
        <p:nvSpPr>
          <p:cNvPr id="25" name="Text 22"/>
          <p:cNvSpPr txBox="1"/>
          <p:nvPr/>
        </p:nvSpPr>
        <p:spPr>
          <a:xfrm>
            <a:off x="5856644" y="2377440"/>
            <a:ext cx="602084" cy="548640"/>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−19</a:t>
            </a:r>
            <a:endParaRPr lang="en-US" sz="1200" dirty="0"/>
          </a:p>
        </p:txBody>
      </p:sp>
      <p:sp>
        <p:nvSpPr>
          <p:cNvPr id="26" name="Shape 23"/>
          <p:cNvSpPr/>
          <p:nvPr/>
        </p:nvSpPr>
        <p:spPr>
          <a:xfrm>
            <a:off x="4291226" y="3035808"/>
            <a:ext cx="2167502" cy="0"/>
          </a:xfrm>
          <a:prstGeom prst="line">
            <a:avLst/>
          </a:prstGeom>
          <a:noFill/>
          <a:ln w="9525">
            <a:solidFill>
              <a:srgbClr val="CCCCCC"/>
            </a:solidFill>
            <a:prstDash val="solid"/>
          </a:ln>
        </p:spPr>
      </p:sp>
      <p:sp>
        <p:nvSpPr>
          <p:cNvPr id="27" name="Text 24"/>
          <p:cNvSpPr txBox="1"/>
          <p:nvPr/>
        </p:nvSpPr>
        <p:spPr>
          <a:xfrm>
            <a:off x="4291226" y="315468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a:t>
            </a:r>
            <a:endParaRPr lang="en-US" sz="1400" dirty="0"/>
          </a:p>
        </p:txBody>
      </p:sp>
      <p:sp>
        <p:nvSpPr>
          <p:cNvPr id="28" name="Text 25"/>
          <p:cNvSpPr txBox="1"/>
          <p:nvPr/>
        </p:nvSpPr>
        <p:spPr>
          <a:xfrm>
            <a:off x="5856644" y="315468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29" name="Shape 26"/>
          <p:cNvSpPr/>
          <p:nvPr/>
        </p:nvSpPr>
        <p:spPr>
          <a:xfrm>
            <a:off x="4291226" y="3813048"/>
            <a:ext cx="2167502" cy="0"/>
          </a:xfrm>
          <a:prstGeom prst="line">
            <a:avLst/>
          </a:prstGeom>
          <a:noFill/>
          <a:ln w="9525">
            <a:solidFill>
              <a:srgbClr val="CCCCCC"/>
            </a:solidFill>
            <a:prstDash val="solid"/>
          </a:ln>
        </p:spPr>
      </p:sp>
      <p:sp>
        <p:nvSpPr>
          <p:cNvPr id="30" name="Text 27"/>
          <p:cNvSpPr txBox="1"/>
          <p:nvPr/>
        </p:nvSpPr>
        <p:spPr>
          <a:xfrm>
            <a:off x="4291226" y="3931920"/>
            <a:ext cx="1565418"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在宅勤務の定着</a:t>
            </a:r>
            <a:endParaRPr lang="en-US" sz="1400" dirty="0"/>
          </a:p>
        </p:txBody>
      </p:sp>
      <p:sp>
        <p:nvSpPr>
          <p:cNvPr id="31" name="Text 28"/>
          <p:cNvSpPr txBox="1"/>
          <p:nvPr/>
        </p:nvSpPr>
        <p:spPr>
          <a:xfrm>
            <a:off x="5856644" y="3931920"/>
            <a:ext cx="602084" cy="54864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32" name="Shape 29"/>
          <p:cNvSpPr/>
          <p:nvPr/>
        </p:nvSpPr>
        <p:spPr>
          <a:xfrm>
            <a:off x="200848" y="4754880"/>
            <a:ext cx="2167502" cy="0"/>
          </a:xfrm>
          <a:prstGeom prst="line">
            <a:avLst/>
          </a:prstGeom>
          <a:noFill/>
          <a:ln w="12700">
            <a:solidFill>
              <a:srgbClr val="7F7F7F"/>
            </a:solidFill>
            <a:prstDash val="solid"/>
          </a:ln>
        </p:spPr>
      </p:sp>
      <p:sp>
        <p:nvSpPr>
          <p:cNvPr id="33" name="Shape 30"/>
          <p:cNvSpPr/>
          <p:nvPr/>
        </p:nvSpPr>
        <p:spPr>
          <a:xfrm>
            <a:off x="4291226" y="4754880"/>
            <a:ext cx="2167502" cy="0"/>
          </a:xfrm>
          <a:prstGeom prst="line">
            <a:avLst/>
          </a:prstGeom>
          <a:noFill/>
          <a:ln w="15875">
            <a:solidFill>
              <a:srgbClr val="000F78"/>
            </a:solidFill>
            <a:prstDash val="solid"/>
          </a:ln>
        </p:spPr>
      </p:sp>
      <p:sp>
        <p:nvSpPr>
          <p:cNvPr id="34" name="Text 31"/>
          <p:cNvSpPr txBox="1"/>
          <p:nvPr/>
        </p:nvSpPr>
        <p:spPr>
          <a:xfrm>
            <a:off x="200848" y="4828032"/>
            <a:ext cx="91440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計</a:t>
            </a:r>
            <a:endParaRPr lang="en-US" sz="1400" dirty="0"/>
          </a:p>
        </p:txBody>
      </p:sp>
      <p:sp>
        <p:nvSpPr>
          <p:cNvPr id="35" name="Text 32"/>
          <p:cNvSpPr txBox="1"/>
          <p:nvPr/>
        </p:nvSpPr>
        <p:spPr>
          <a:xfrm>
            <a:off x="1766266" y="4828032"/>
            <a:ext cx="914400" cy="365760"/>
          </a:xfrm>
          <a:prstGeom prst="rect">
            <a:avLst/>
          </a:prstGeom>
          <a:noFill/>
          <a:ln/>
        </p:spPr>
        <p:txBody>
          <a:bodyPr wrap="square" lIns="0" tIns="0" rIns="0" bIns="0" rtlCol="0" anchor="t"/>
          <a:lstStyle/>
          <a:p>
            <a:pPr algn="r" indent="0" marL="0">
              <a:buNone/>
            </a:pPr>
            <a:r>
              <a:rPr lang="en-US" sz="1800" b="1" dirty="0">
                <a:solidFill>
                  <a:srgbClr val="3F3F3F"/>
                </a:solidFill>
                <a:latin typeface="Arial" pitchFamily="34" charset="0"/>
                <a:ea typeface="Arial" pitchFamily="34" charset="-122"/>
                <a:cs typeface="Arial" pitchFamily="34" charset="-120"/>
              </a:rPr>
              <a:t>＋18</a:t>
            </a:r>
            <a:endParaRPr lang="en-US" sz="1800" dirty="0"/>
          </a:p>
        </p:txBody>
      </p:sp>
      <p:sp>
        <p:nvSpPr>
          <p:cNvPr id="36" name="Text 33"/>
          <p:cNvSpPr txBox="1"/>
          <p:nvPr/>
        </p:nvSpPr>
        <p:spPr>
          <a:xfrm>
            <a:off x="4291226" y="4828032"/>
            <a:ext cx="914400"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計</a:t>
            </a:r>
            <a:endParaRPr lang="en-US" sz="1400" dirty="0"/>
          </a:p>
        </p:txBody>
      </p:sp>
      <p:sp>
        <p:nvSpPr>
          <p:cNvPr id="37" name="Text 34"/>
          <p:cNvSpPr txBox="1"/>
          <p:nvPr/>
        </p:nvSpPr>
        <p:spPr>
          <a:xfrm>
            <a:off x="5856644" y="4828032"/>
            <a:ext cx="602084" cy="365760"/>
          </a:xfrm>
          <a:prstGeom prst="rect">
            <a:avLst/>
          </a:prstGeom>
          <a:noFill/>
          <a:ln/>
        </p:spPr>
        <p:txBody>
          <a:bodyPr wrap="square" lIns="0" tIns="0" rIns="0" bIns="0" rtlCol="0" anchor="t"/>
          <a:lstStyle/>
          <a:p>
            <a:pPr algn="r" indent="0" marL="0">
              <a:buNone/>
            </a:pPr>
            <a:r>
              <a:rPr lang="en-US" sz="1800" b="1" dirty="0">
                <a:solidFill>
                  <a:srgbClr val="000F78"/>
                </a:solidFill>
                <a:latin typeface="Arial" pitchFamily="34" charset="0"/>
                <a:ea typeface="Arial" pitchFamily="34" charset="-122"/>
                <a:cs typeface="Arial" pitchFamily="34" charset="-120"/>
              </a:rPr>
              <a:t>−31</a:t>
            </a:r>
            <a:endParaRPr lang="en-US" sz="1800" dirty="0"/>
          </a:p>
        </p:txBody>
      </p:sp>
      <p:sp>
        <p:nvSpPr>
          <p:cNvPr id="38" name="Shape 35"/>
          <p:cNvSpPr/>
          <p:nvPr/>
        </p:nvSpPr>
        <p:spPr>
          <a:xfrm rot="16200000">
            <a:off x="2998641" y="2331720"/>
            <a:ext cx="662292" cy="914400"/>
          </a:xfrm>
          <a:prstGeom prst="chevron">
            <a:avLst/>
          </a:prstGeom>
          <a:solidFill>
            <a:srgbClr val="CCCCCC"/>
          </a:solidFill>
          <a:ln/>
        </p:spPr>
      </p:sp>
      <p:sp>
        <p:nvSpPr>
          <p:cNvPr id="39" name="Text 36"/>
          <p:cNvSpPr txBox="1"/>
          <p:nvPr/>
        </p:nvSpPr>
        <p:spPr>
          <a:xfrm>
            <a:off x="2579079" y="3291840"/>
            <a:ext cx="22802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押し上げ</a:t>
            </a:r>
            <a:endParaRPr lang="en-US" sz="1400" dirty="0"/>
          </a:p>
        </p:txBody>
      </p:sp>
      <p:sp>
        <p:nvSpPr>
          <p:cNvPr id="40" name="Shape 37"/>
          <p:cNvSpPr/>
          <p:nvPr/>
        </p:nvSpPr>
        <p:spPr>
          <a:xfrm rot="5400000">
            <a:off x="2998641" y="3794760"/>
            <a:ext cx="662292" cy="914400"/>
          </a:xfrm>
          <a:prstGeom prst="chevron">
            <a:avLst/>
          </a:prstGeom>
          <a:solidFill>
            <a:srgbClr val="000F78"/>
          </a:solidFill>
          <a:ln/>
        </p:spPr>
      </p:sp>
      <p:sp>
        <p:nvSpPr>
          <p:cNvPr id="41" name="Text 38"/>
          <p:cNvSpPr txBox="1"/>
          <p:nvPr/>
        </p:nvSpPr>
        <p:spPr>
          <a:xfrm>
            <a:off x="2579079" y="4754880"/>
            <a:ext cx="228024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押し下げ</a:t>
            </a:r>
            <a:endParaRPr lang="en-US" sz="1400" dirty="0"/>
          </a:p>
        </p:txBody>
      </p:sp>
      <p:sp>
        <p:nvSpPr>
          <p:cNvPr id="42" name="Shape 39"/>
          <p:cNvSpPr/>
          <p:nvPr/>
        </p:nvSpPr>
        <p:spPr>
          <a:xfrm>
            <a:off x="200848" y="5440680"/>
            <a:ext cx="6257880" cy="0"/>
          </a:xfrm>
          <a:prstGeom prst="line">
            <a:avLst/>
          </a:prstGeom>
          <a:noFill/>
          <a:ln w="9525">
            <a:solidFill>
              <a:srgbClr val="CCCCCC"/>
            </a:solidFill>
            <a:prstDash val="solid"/>
          </a:ln>
        </p:spPr>
      </p:sp>
      <p:sp>
        <p:nvSpPr>
          <p:cNvPr id="43" name="Text 40"/>
          <p:cNvSpPr txBox="1"/>
          <p:nvPr/>
        </p:nvSpPr>
        <p:spPr>
          <a:xfrm>
            <a:off x="200848" y="5532120"/>
            <a:ext cx="6257880" cy="365760"/>
          </a:xfrm>
          <a:prstGeom prst="rect">
            <a:avLst/>
          </a:prstGeom>
          <a:noFill/>
          <a:ln/>
        </p:spPr>
        <p:txBody>
          <a:bodyPr wrap="square" lIns="0" tIns="0" rIns="0" bIns="0" rtlCol="0" anchor="t"/>
          <a:lstStyle/>
          <a:p>
            <a:pPr algn="ctr" indent="0" marL="0">
              <a:buNone/>
            </a:pPr>
            <a:r>
              <a:rPr lang="en-US" sz="1200" b="1" dirty="0">
                <a:solidFill>
                  <a:srgbClr val="3F3F3F"/>
                </a:solidFill>
                <a:latin typeface="Arial" pitchFamily="34" charset="0"/>
                <a:ea typeface="Arial" pitchFamily="34" charset="-122"/>
                <a:cs typeface="Arial" pitchFamily="34" charset="-120"/>
              </a:rPr>
              <a:t>差し引き　＋18 − 31 ＝ −13万回／年</a:t>
            </a:r>
            <a:endParaRPr lang="en-US" sz="1200" dirty="0"/>
          </a:p>
        </p:txBody>
      </p:sp>
      <p:sp>
        <p:nvSpPr>
          <p:cNvPr id="44" name="Shape 41"/>
          <p:cNvSpPr/>
          <p:nvPr/>
        </p:nvSpPr>
        <p:spPr>
          <a:xfrm>
            <a:off x="6687328" y="1874520"/>
            <a:ext cx="3017520" cy="4251960"/>
          </a:xfrm>
          <a:prstGeom prst="rect">
            <a:avLst/>
          </a:prstGeom>
          <a:solidFill>
            <a:srgbClr val="E0EEF8"/>
          </a:solidFill>
          <a:ln/>
        </p:spPr>
      </p:sp>
      <p:sp>
        <p:nvSpPr>
          <p:cNvPr id="45" name="Text 4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押し上げ要因は計＋18万回</a:t>
            </a:r>
            <a:endParaRPr lang="en-US" sz="1400" dirty="0"/>
          </a:p>
        </p:txBody>
      </p:sp>
      <p:sp>
        <p:nvSpPr>
          <p:cNvPr id="46" name="Text 4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通院の増加＋9、免許の返納の増加＋6、観光客の回復＋3。いずれも高齢化と観光の回復に伴う増加である。通院の増加は、予約型交通の需要として見込める</a:t>
            </a:r>
            <a:endParaRPr lang="en-US" sz="1200" dirty="0"/>
          </a:p>
        </p:txBody>
      </p:sp>
      <p:sp>
        <p:nvSpPr>
          <p:cNvPr id="47" name="Shape 44"/>
          <p:cNvSpPr/>
          <p:nvPr/>
        </p:nvSpPr>
        <p:spPr>
          <a:xfrm>
            <a:off x="6870208" y="3936492"/>
            <a:ext cx="2651760" cy="0"/>
          </a:xfrm>
          <a:prstGeom prst="line">
            <a:avLst/>
          </a:prstGeom>
          <a:noFill/>
          <a:ln w="9525">
            <a:solidFill>
              <a:srgbClr val="CCCCCC"/>
            </a:solidFill>
            <a:prstDash val="solid"/>
          </a:ln>
        </p:spPr>
      </p:sp>
      <p:sp>
        <p:nvSpPr>
          <p:cNvPr id="48" name="Text 4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押し下げ要因は計−31万回</a:t>
            </a:r>
            <a:endParaRPr lang="en-US" sz="1400" dirty="0"/>
          </a:p>
        </p:txBody>
      </p:sp>
      <p:sp>
        <p:nvSpPr>
          <p:cNvPr id="49" name="Text 4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人口の減少−19、通学の減少−8、在宅勤務の定着−4。差し引き−13万回。押し下げの6割は人口の減少で、市の施策では動かせない。押し下げを前提に、需要に合わせて運ぶ形に移る</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4地区のうち東部だけが利用者と運賃収入の両方で大きく減った。他の3地区は運賃改定で減収を補えており、東部は別の要因で落ち込んだ</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注）2020→2025年度の増減率。運賃は2023年4月に全地区で一律10%改定。名称・数値はすべて架空の見本</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出所）みなと市「バス路線別輸送実績」（2026年3月）を基に作成（架空の出所）</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80</a:t>
            </a:r>
            <a:endParaRPr lang="en-US" sz="900" dirty="0"/>
          </a:p>
        </p:txBody>
      </p:sp>
      <p:sp>
        <p:nvSpPr>
          <p:cNvPr id="10" name="Text 7"/>
          <p:cNvSpPr txBox="1"/>
          <p:nvPr/>
        </p:nvSpPr>
        <p:spPr>
          <a:xfrm>
            <a:off x="189248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利用者数（%）</a:t>
            </a:r>
            <a:endParaRPr lang="en-US" sz="1400" dirty="0"/>
          </a:p>
        </p:txBody>
      </p:sp>
      <p:sp>
        <p:nvSpPr>
          <p:cNvPr id="11" name="Shape 8"/>
          <p:cNvSpPr/>
          <p:nvPr/>
        </p:nvSpPr>
        <p:spPr>
          <a:xfrm>
            <a:off x="1892488" y="1832472"/>
            <a:ext cx="1600200" cy="0"/>
          </a:xfrm>
          <a:prstGeom prst="line">
            <a:avLst/>
          </a:prstGeom>
          <a:noFill/>
          <a:ln w="12700">
            <a:solidFill>
              <a:srgbClr val="7F7F7F"/>
            </a:solidFill>
            <a:prstDash val="solid"/>
          </a:ln>
        </p:spPr>
      </p:sp>
      <p:sp>
        <p:nvSpPr>
          <p:cNvPr id="12" name="Text 9"/>
          <p:cNvSpPr txBox="1"/>
          <p:nvPr/>
        </p:nvSpPr>
        <p:spPr>
          <a:xfrm>
            <a:off x="3675568" y="1485000"/>
            <a:ext cx="1600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運賃収入（%）</a:t>
            </a:r>
            <a:endParaRPr lang="en-US" sz="1400" dirty="0"/>
          </a:p>
        </p:txBody>
      </p:sp>
      <p:sp>
        <p:nvSpPr>
          <p:cNvPr id="13" name="Shape 10"/>
          <p:cNvSpPr/>
          <p:nvPr/>
        </p:nvSpPr>
        <p:spPr>
          <a:xfrm>
            <a:off x="3675568" y="1832472"/>
            <a:ext cx="1600200" cy="0"/>
          </a:xfrm>
          <a:prstGeom prst="line">
            <a:avLst/>
          </a:prstGeom>
          <a:noFill/>
          <a:ln w="12700">
            <a:solidFill>
              <a:srgbClr val="7F7F7F"/>
            </a:solidFill>
            <a:prstDash val="solid"/>
          </a:ln>
        </p:spPr>
      </p:sp>
      <p:sp>
        <p:nvSpPr>
          <p:cNvPr id="14" name="Text 11"/>
          <p:cNvSpPr txBox="1"/>
          <p:nvPr/>
        </p:nvSpPr>
        <p:spPr>
          <a:xfrm>
            <a:off x="5595808" y="1485000"/>
            <a:ext cx="41090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読み取り</a:t>
            </a:r>
            <a:endParaRPr lang="en-US" sz="1400" dirty="0"/>
          </a:p>
        </p:txBody>
      </p:sp>
      <p:sp>
        <p:nvSpPr>
          <p:cNvPr id="15" name="Shape 12"/>
          <p:cNvSpPr/>
          <p:nvPr/>
        </p:nvSpPr>
        <p:spPr>
          <a:xfrm>
            <a:off x="5595808" y="1832472"/>
            <a:ext cx="4109040" cy="0"/>
          </a:xfrm>
          <a:prstGeom prst="line">
            <a:avLst/>
          </a:prstGeom>
          <a:noFill/>
          <a:ln w="15875">
            <a:solidFill>
              <a:srgbClr val="3F3F3F"/>
            </a:solidFill>
            <a:prstDash val="solid"/>
          </a:ln>
        </p:spPr>
      </p:sp>
      <p:sp>
        <p:nvSpPr>
          <p:cNvPr id="16" name="Text 13"/>
          <p:cNvSpPr txBox="1"/>
          <p:nvPr/>
        </p:nvSpPr>
        <p:spPr>
          <a:xfrm>
            <a:off x="749488" y="2051928"/>
            <a:ext cx="1097280" cy="98755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17" name="Shape 14"/>
          <p:cNvSpPr/>
          <p:nvPr/>
        </p:nvSpPr>
        <p:spPr>
          <a:xfrm>
            <a:off x="2107372" y="2390256"/>
            <a:ext cx="777240" cy="310896"/>
          </a:xfrm>
          <a:prstGeom prst="rect">
            <a:avLst/>
          </a:prstGeom>
          <a:solidFill>
            <a:srgbClr val="000F78"/>
          </a:solidFill>
          <a:ln/>
        </p:spPr>
      </p:sp>
      <p:sp>
        <p:nvSpPr>
          <p:cNvPr id="18" name="Text 15"/>
          <p:cNvSpPr txBox="1"/>
          <p:nvPr/>
        </p:nvSpPr>
        <p:spPr>
          <a:xfrm>
            <a:off x="1513012" y="2390256"/>
            <a:ext cx="548640" cy="310896"/>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−24</a:t>
            </a:r>
            <a:endParaRPr lang="en-US" sz="1200" dirty="0"/>
          </a:p>
        </p:txBody>
      </p:sp>
      <p:sp>
        <p:nvSpPr>
          <p:cNvPr id="19" name="Shape 16"/>
          <p:cNvSpPr/>
          <p:nvPr/>
        </p:nvSpPr>
        <p:spPr>
          <a:xfrm>
            <a:off x="4084762" y="2390256"/>
            <a:ext cx="582930" cy="310896"/>
          </a:xfrm>
          <a:prstGeom prst="rect">
            <a:avLst/>
          </a:prstGeom>
          <a:solidFill>
            <a:srgbClr val="7F7F7F"/>
          </a:solidFill>
          <a:ln/>
        </p:spPr>
      </p:sp>
      <p:sp>
        <p:nvSpPr>
          <p:cNvPr id="20" name="Text 17"/>
          <p:cNvSpPr txBox="1"/>
          <p:nvPr/>
        </p:nvSpPr>
        <p:spPr>
          <a:xfrm>
            <a:off x="3490402" y="2390256"/>
            <a:ext cx="548640" cy="310896"/>
          </a:xfrm>
          <a:prstGeom prst="rect">
            <a:avLst/>
          </a:prstGeom>
          <a:noFill/>
          <a:ln/>
        </p:spPr>
        <p:txBody>
          <a:bodyPr wrap="square" lIns="0" tIns="0" rIns="0" bIns="0" rtlCol="0" anchor="ctr"/>
          <a:lstStyle/>
          <a:p>
            <a:pPr algn="r" indent="0" marL="0">
              <a:buNone/>
            </a:pPr>
            <a:r>
              <a:rPr lang="en-US" sz="1200" b="1" dirty="0">
                <a:solidFill>
                  <a:srgbClr val="3F3F3F"/>
                </a:solidFill>
                <a:latin typeface="Arial" pitchFamily="34" charset="0"/>
                <a:ea typeface="Arial" pitchFamily="34" charset="-122"/>
                <a:cs typeface="Arial" pitchFamily="34" charset="-120"/>
              </a:rPr>
              <a:t>−18</a:t>
            </a:r>
            <a:endParaRPr lang="en-US" sz="1200" dirty="0"/>
          </a:p>
        </p:txBody>
      </p:sp>
      <p:sp>
        <p:nvSpPr>
          <p:cNvPr id="21" name="Text 18"/>
          <p:cNvSpPr txBox="1"/>
          <p:nvPr/>
        </p:nvSpPr>
        <p:spPr>
          <a:xfrm>
            <a:off x="5595808" y="2051928"/>
            <a:ext cx="410904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高齢化で通院の利用が減り、運賃改定でも収入を補えなかった</a:t>
            </a:r>
            <a:endParaRPr lang="en-US" sz="1400" dirty="0"/>
          </a:p>
        </p:txBody>
      </p:sp>
      <p:sp>
        <p:nvSpPr>
          <p:cNvPr id="22" name="Shape 19"/>
          <p:cNvSpPr/>
          <p:nvPr/>
        </p:nvSpPr>
        <p:spPr>
          <a:xfrm>
            <a:off x="200848" y="3039480"/>
            <a:ext cx="9504000" cy="0"/>
          </a:xfrm>
          <a:prstGeom prst="line">
            <a:avLst/>
          </a:prstGeom>
          <a:noFill/>
          <a:ln w="9525">
            <a:solidFill>
              <a:srgbClr val="CCCCCC"/>
            </a:solidFill>
            <a:prstDash val="solid"/>
          </a:ln>
        </p:spPr>
      </p:sp>
      <p:sp>
        <p:nvSpPr>
          <p:cNvPr id="23" name="Text 20"/>
          <p:cNvSpPr txBox="1"/>
          <p:nvPr/>
        </p:nvSpPr>
        <p:spPr>
          <a:xfrm>
            <a:off x="749488" y="3039480"/>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2690302" y="3377808"/>
            <a:ext cx="194310" cy="310896"/>
          </a:xfrm>
          <a:prstGeom prst="rect">
            <a:avLst/>
          </a:prstGeom>
          <a:solidFill>
            <a:srgbClr val="CCCCCC"/>
          </a:solidFill>
          <a:ln/>
        </p:spPr>
      </p:sp>
      <p:sp>
        <p:nvSpPr>
          <p:cNvPr id="25" name="Text 22"/>
          <p:cNvSpPr txBox="1"/>
          <p:nvPr/>
        </p:nvSpPr>
        <p:spPr>
          <a:xfrm>
            <a:off x="2095942" y="3377808"/>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26" name="Shape 23"/>
          <p:cNvSpPr/>
          <p:nvPr/>
        </p:nvSpPr>
        <p:spPr>
          <a:xfrm>
            <a:off x="4667692" y="3377808"/>
            <a:ext cx="129540" cy="310896"/>
          </a:xfrm>
          <a:prstGeom prst="rect">
            <a:avLst/>
          </a:prstGeom>
          <a:solidFill>
            <a:srgbClr val="CCCCCC"/>
          </a:solidFill>
          <a:ln/>
        </p:spPr>
      </p:sp>
      <p:sp>
        <p:nvSpPr>
          <p:cNvPr id="27" name="Text 24"/>
          <p:cNvSpPr txBox="1"/>
          <p:nvPr/>
        </p:nvSpPr>
        <p:spPr>
          <a:xfrm>
            <a:off x="4842952" y="3377808"/>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5595808" y="3039480"/>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通学の減少を、運賃改定による増収が上回った</a:t>
            </a:r>
            <a:endParaRPr lang="en-US" sz="1400" dirty="0"/>
          </a:p>
        </p:txBody>
      </p:sp>
      <p:sp>
        <p:nvSpPr>
          <p:cNvPr id="29" name="Shape 26"/>
          <p:cNvSpPr/>
          <p:nvPr/>
        </p:nvSpPr>
        <p:spPr>
          <a:xfrm>
            <a:off x="200848" y="4027032"/>
            <a:ext cx="9504000" cy="0"/>
          </a:xfrm>
          <a:prstGeom prst="line">
            <a:avLst/>
          </a:prstGeom>
          <a:noFill/>
          <a:ln w="9525">
            <a:solidFill>
              <a:srgbClr val="CCCCCC"/>
            </a:solidFill>
            <a:prstDash val="solid"/>
          </a:ln>
        </p:spPr>
      </p:sp>
      <p:sp>
        <p:nvSpPr>
          <p:cNvPr id="30" name="Text 27"/>
          <p:cNvSpPr txBox="1"/>
          <p:nvPr/>
        </p:nvSpPr>
        <p:spPr>
          <a:xfrm>
            <a:off x="749488" y="4027032"/>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中央部</a:t>
            </a:r>
            <a:endParaRPr lang="en-US" sz="1400" dirty="0"/>
          </a:p>
        </p:txBody>
      </p:sp>
      <p:sp>
        <p:nvSpPr>
          <p:cNvPr id="31" name="Shape 28"/>
          <p:cNvSpPr/>
          <p:nvPr/>
        </p:nvSpPr>
        <p:spPr>
          <a:xfrm>
            <a:off x="2787457" y="4365360"/>
            <a:ext cx="97155" cy="310896"/>
          </a:xfrm>
          <a:prstGeom prst="rect">
            <a:avLst/>
          </a:prstGeom>
          <a:solidFill>
            <a:srgbClr val="CCCCCC"/>
          </a:solidFill>
          <a:ln/>
        </p:spPr>
      </p:sp>
      <p:sp>
        <p:nvSpPr>
          <p:cNvPr id="32" name="Text 29"/>
          <p:cNvSpPr txBox="1"/>
          <p:nvPr/>
        </p:nvSpPr>
        <p:spPr>
          <a:xfrm>
            <a:off x="2193097" y="4365360"/>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−3</a:t>
            </a:r>
            <a:endParaRPr lang="en-US" sz="1200" dirty="0"/>
          </a:p>
        </p:txBody>
      </p:sp>
      <p:sp>
        <p:nvSpPr>
          <p:cNvPr id="33" name="Shape 30"/>
          <p:cNvSpPr/>
          <p:nvPr/>
        </p:nvSpPr>
        <p:spPr>
          <a:xfrm>
            <a:off x="4667692" y="4365360"/>
            <a:ext cx="194310" cy="310896"/>
          </a:xfrm>
          <a:prstGeom prst="rect">
            <a:avLst/>
          </a:prstGeom>
          <a:solidFill>
            <a:srgbClr val="CCCCCC"/>
          </a:solidFill>
          <a:ln/>
        </p:spPr>
      </p:sp>
      <p:sp>
        <p:nvSpPr>
          <p:cNvPr id="34" name="Text 31"/>
          <p:cNvSpPr txBox="1"/>
          <p:nvPr/>
        </p:nvSpPr>
        <p:spPr>
          <a:xfrm>
            <a:off x="4907722" y="4365360"/>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+6</a:t>
            </a:r>
            <a:endParaRPr lang="en-US" sz="1200" dirty="0"/>
          </a:p>
        </p:txBody>
      </p:sp>
      <p:sp>
        <p:nvSpPr>
          <p:cNvPr id="35" name="Text 32"/>
          <p:cNvSpPr txBox="1"/>
          <p:nvPr/>
        </p:nvSpPr>
        <p:spPr>
          <a:xfrm>
            <a:off x="5595808" y="4027032"/>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商業施設の新設で買物の利用が下げ止まった</a:t>
            </a:r>
            <a:endParaRPr lang="en-US" sz="1400" dirty="0"/>
          </a:p>
        </p:txBody>
      </p:sp>
      <p:sp>
        <p:nvSpPr>
          <p:cNvPr id="36" name="Shape 33"/>
          <p:cNvSpPr/>
          <p:nvPr/>
        </p:nvSpPr>
        <p:spPr>
          <a:xfrm>
            <a:off x="200848" y="5014584"/>
            <a:ext cx="9504000" cy="0"/>
          </a:xfrm>
          <a:prstGeom prst="line">
            <a:avLst/>
          </a:prstGeom>
          <a:noFill/>
          <a:ln w="9525">
            <a:solidFill>
              <a:srgbClr val="CCCCCC"/>
            </a:solidFill>
            <a:prstDash val="solid"/>
          </a:ln>
        </p:spPr>
      </p:sp>
      <p:sp>
        <p:nvSpPr>
          <p:cNvPr id="37" name="Text 34"/>
          <p:cNvSpPr txBox="1"/>
          <p:nvPr/>
        </p:nvSpPr>
        <p:spPr>
          <a:xfrm>
            <a:off x="749488" y="5014584"/>
            <a:ext cx="1097280" cy="987552"/>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西部</a:t>
            </a:r>
            <a:endParaRPr lang="en-US" sz="1400" dirty="0"/>
          </a:p>
        </p:txBody>
      </p:sp>
      <p:sp>
        <p:nvSpPr>
          <p:cNvPr id="38" name="Shape 35"/>
          <p:cNvSpPr/>
          <p:nvPr/>
        </p:nvSpPr>
        <p:spPr>
          <a:xfrm>
            <a:off x="2625532" y="5352912"/>
            <a:ext cx="259080" cy="310896"/>
          </a:xfrm>
          <a:prstGeom prst="rect">
            <a:avLst/>
          </a:prstGeom>
          <a:solidFill>
            <a:srgbClr val="CCCCCC"/>
          </a:solidFill>
          <a:ln/>
        </p:spPr>
      </p:sp>
      <p:sp>
        <p:nvSpPr>
          <p:cNvPr id="39" name="Text 36"/>
          <p:cNvSpPr txBox="1"/>
          <p:nvPr/>
        </p:nvSpPr>
        <p:spPr>
          <a:xfrm>
            <a:off x="2031172" y="5352912"/>
            <a:ext cx="548640" cy="310896"/>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−8</a:t>
            </a:r>
            <a:endParaRPr lang="en-US" sz="1200" dirty="0"/>
          </a:p>
        </p:txBody>
      </p:sp>
      <p:sp>
        <p:nvSpPr>
          <p:cNvPr id="40" name="Shape 37"/>
          <p:cNvSpPr/>
          <p:nvPr/>
        </p:nvSpPr>
        <p:spPr>
          <a:xfrm>
            <a:off x="4667692" y="5352912"/>
            <a:ext cx="32385" cy="310896"/>
          </a:xfrm>
          <a:prstGeom prst="rect">
            <a:avLst/>
          </a:prstGeom>
          <a:solidFill>
            <a:srgbClr val="CCCCCC"/>
          </a:solidFill>
          <a:ln/>
        </p:spPr>
      </p:sp>
      <p:sp>
        <p:nvSpPr>
          <p:cNvPr id="41" name="Text 38"/>
          <p:cNvSpPr txBox="1"/>
          <p:nvPr/>
        </p:nvSpPr>
        <p:spPr>
          <a:xfrm>
            <a:off x="4745797" y="5352912"/>
            <a:ext cx="548640" cy="310896"/>
          </a:xfrm>
          <a:prstGeom prst="rect">
            <a:avLst/>
          </a:prstGeom>
          <a:noFill/>
          <a:ln/>
        </p:spPr>
        <p:txBody>
          <a:bodyPr wrap="square" lIns="0" tIns="0" rIns="0" bIns="0" rtlCol="0" anchor="ctr"/>
          <a:lstStyle/>
          <a:p>
            <a:pPr algn="l" indent="0" marL="0">
              <a:buNone/>
            </a:pPr>
            <a:r>
              <a:rPr lang="en-US" sz="1200" dirty="0">
                <a:solidFill>
                  <a:srgbClr val="3F3F3F"/>
                </a:solidFill>
                <a:latin typeface="Arial" pitchFamily="34" charset="0"/>
                <a:ea typeface="Arial" pitchFamily="34" charset="-122"/>
                <a:cs typeface="Arial" pitchFamily="34" charset="-120"/>
              </a:rPr>
              <a:t>+1</a:t>
            </a:r>
            <a:endParaRPr lang="en-US" sz="1200" dirty="0"/>
          </a:p>
        </p:txBody>
      </p:sp>
      <p:sp>
        <p:nvSpPr>
          <p:cNvPr id="42" name="Text 39"/>
          <p:cNvSpPr txBox="1"/>
          <p:nvPr/>
        </p:nvSpPr>
        <p:spPr>
          <a:xfrm>
            <a:off x="5595808" y="5014584"/>
            <a:ext cx="4109040" cy="98755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人口減少の分だけ減ったが、収入はほぼ横ばい</a:t>
            </a:r>
            <a:endParaRPr lang="en-US" sz="1400" dirty="0"/>
          </a:p>
        </p:txBody>
      </p:sp>
      <p:sp>
        <p:nvSpPr>
          <p:cNvPr id="43" name="Shape 40"/>
          <p:cNvSpPr/>
          <p:nvPr/>
        </p:nvSpPr>
        <p:spPr>
          <a:xfrm>
            <a:off x="2884612" y="2051928"/>
            <a:ext cx="0" cy="3950208"/>
          </a:xfrm>
          <a:prstGeom prst="line">
            <a:avLst/>
          </a:prstGeom>
          <a:noFill/>
          <a:ln w="9525">
            <a:solidFill>
              <a:srgbClr val="7F7F7F"/>
            </a:solidFill>
            <a:prstDash val="solid"/>
          </a:ln>
        </p:spPr>
      </p:sp>
      <p:sp>
        <p:nvSpPr>
          <p:cNvPr id="44" name="Shape 41"/>
          <p:cNvSpPr/>
          <p:nvPr/>
        </p:nvSpPr>
        <p:spPr>
          <a:xfrm>
            <a:off x="4667692" y="2051928"/>
            <a:ext cx="0" cy="3950208"/>
          </a:xfrm>
          <a:prstGeom prst="line">
            <a:avLst/>
          </a:prstGeom>
          <a:noFill/>
          <a:ln w="9525">
            <a:solidFill>
              <a:srgbClr val="7F7F7F"/>
            </a:solidFill>
            <a:prstDash val="solid"/>
          </a:ln>
        </p:spPr>
      </p:sp>
      <p:pic>
        <p:nvPicPr>
          <p:cNvPr id="45" name="Image 0" descr="person-standing">    </p:cNvPr>
          <p:cNvPicPr>
            <a:picLocks noChangeAspect="1"/>
          </p:cNvPicPr>
          <p:nvPr/>
        </p:nvPicPr>
        <p:blipFill>
          <a:blip r:embed="rId1"/>
          <a:stretch>
            <a:fillRect/>
          </a:stretch>
        </p:blipFill>
        <p:spPr>
          <a:xfrm>
            <a:off x="219136" y="2326248"/>
            <a:ext cx="438912" cy="438912"/>
          </a:xfrm>
          <a:prstGeom prst="rect">
            <a:avLst/>
          </a:prstGeom>
        </p:spPr>
      </p:pic>
      <p:pic>
        <p:nvPicPr>
          <p:cNvPr id="46" name="Image 1" descr="school">    </p:cNvPr>
          <p:cNvPicPr>
            <a:picLocks noChangeAspect="1"/>
          </p:cNvPicPr>
          <p:nvPr/>
        </p:nvPicPr>
        <p:blipFill>
          <a:blip r:embed="rId2"/>
          <a:stretch>
            <a:fillRect/>
          </a:stretch>
        </p:blipFill>
        <p:spPr>
          <a:xfrm>
            <a:off x="219136" y="3313800"/>
            <a:ext cx="438912" cy="438912"/>
          </a:xfrm>
          <a:prstGeom prst="rect">
            <a:avLst/>
          </a:prstGeom>
        </p:spPr>
      </p:pic>
      <p:pic>
        <p:nvPicPr>
          <p:cNvPr id="47" name="Image 2" descr="store">    </p:cNvPr>
          <p:cNvPicPr>
            <a:picLocks noChangeAspect="1"/>
          </p:cNvPicPr>
          <p:nvPr/>
        </p:nvPicPr>
        <p:blipFill>
          <a:blip r:embed="rId3"/>
          <a:stretch>
            <a:fillRect/>
          </a:stretch>
        </p:blipFill>
        <p:spPr>
          <a:xfrm>
            <a:off x="219136" y="4301352"/>
            <a:ext cx="438912" cy="438912"/>
          </a:xfrm>
          <a:prstGeom prst="rect">
            <a:avLst/>
          </a:prstGeom>
        </p:spPr>
      </p:pic>
      <p:pic>
        <p:nvPicPr>
          <p:cNvPr id="48" name="Image 3" descr="house">    </p:cNvPr>
          <p:cNvPicPr>
            <a:picLocks noChangeAspect="1"/>
          </p:cNvPicPr>
          <p:nvPr/>
        </p:nvPicPr>
        <p:blipFill>
          <a:blip r:embed="rId4"/>
          <a:stretch>
            <a:fillRect/>
          </a:stretch>
        </p:blipFill>
        <p:spPr>
          <a:xfrm>
            <a:off x="219136" y="5288904"/>
            <a:ext cx="438912" cy="438912"/>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目標の1,800トンは、燃料費の節約で費用を回収できる策だけで届く。それ以上の削減は単価が急に上がり、燃料電池バスは1トン5.8万円かかる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CO2削減策のコストカーブ</a:t>
            </a:r>
            <a:pPr indent="0" marL="0">
              <a:buNone/>
            </a:pPr>
            <a:r>
              <a:rPr lang="en-US" sz="1100" dirty="0">
                <a:solidFill>
                  <a:srgbClr val="3F3F3F"/>
                </a:solidFill>
                <a:latin typeface="Yu Gothic UI" pitchFamily="34" charset="0"/>
                <a:ea typeface="Yu Gothic UI" pitchFamily="34" charset="-122"/>
                <a:cs typeface="Yu Gothic UI" pitchFamily="34" charset="-120"/>
              </a:rPr>
              <a:t>　（幅＝削減量 t、高さ＝1t当たり費用 千円、2030年度）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9019048" y="1503288"/>
            <a:ext cx="68580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注）削減単価＝（費用−燃料費の節約額）÷削減量。2030年度の試算で、費用は導入費を耐用年数で割った年額。単価が負の打ち手は、費用より節約額が大きい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 交通政策課 資料を基に作成（名称・数値は架空の見本）</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81</a:t>
            </a:r>
            <a:endParaRPr lang="en-US" sz="900" dirty="0"/>
          </a:p>
        </p:txBody>
      </p:sp>
      <p:sp>
        <p:nvSpPr>
          <p:cNvPr id="12" name="Text 9"/>
          <p:cNvSpPr txBox="1"/>
          <p:nvPr/>
        </p:nvSpPr>
        <p:spPr>
          <a:xfrm>
            <a:off x="200848" y="1896480"/>
            <a:ext cx="822960" cy="256032"/>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千円／t</a:t>
            </a:r>
            <a:endParaRPr lang="en-US" sz="1100" dirty="0"/>
          </a:p>
        </p:txBody>
      </p:sp>
      <p:sp>
        <p:nvSpPr>
          <p:cNvPr id="13" name="Text 10"/>
          <p:cNvSpPr txBox="1"/>
          <p:nvPr/>
        </p:nvSpPr>
        <p:spPr>
          <a:xfrm>
            <a:off x="200848" y="2350008"/>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60</a:t>
            </a:r>
            <a:endParaRPr lang="en-US" sz="1200" dirty="0"/>
          </a:p>
        </p:txBody>
      </p:sp>
      <p:sp>
        <p:nvSpPr>
          <p:cNvPr id="14" name="Text 11"/>
          <p:cNvSpPr txBox="1"/>
          <p:nvPr/>
        </p:nvSpPr>
        <p:spPr>
          <a:xfrm>
            <a:off x="200848" y="2971800"/>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40</a:t>
            </a:r>
            <a:endParaRPr lang="en-US" sz="1200" dirty="0"/>
          </a:p>
        </p:txBody>
      </p:sp>
      <p:sp>
        <p:nvSpPr>
          <p:cNvPr id="15" name="Text 12"/>
          <p:cNvSpPr txBox="1"/>
          <p:nvPr/>
        </p:nvSpPr>
        <p:spPr>
          <a:xfrm>
            <a:off x="200848" y="3593592"/>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6" name="Text 13"/>
          <p:cNvSpPr txBox="1"/>
          <p:nvPr/>
        </p:nvSpPr>
        <p:spPr>
          <a:xfrm>
            <a:off x="200848" y="4215384"/>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17" name="Text 14"/>
          <p:cNvSpPr txBox="1"/>
          <p:nvPr/>
        </p:nvSpPr>
        <p:spPr>
          <a:xfrm>
            <a:off x="200848" y="4837176"/>
            <a:ext cx="548640" cy="256032"/>
          </a:xfrm>
          <a:prstGeom prst="rect">
            <a:avLst/>
          </a:prstGeom>
          <a:noFill/>
          <a:ln/>
        </p:spPr>
        <p:txBody>
          <a:bodyPr wrap="square" lIns="0" tIns="0" rIns="0" bIns="0" rtlCol="0" anchor="t"/>
          <a:lstStyle/>
          <a:p>
            <a:pPr algn="r" indent="0" marL="0">
              <a:buNone/>
            </a:pPr>
            <a:r>
              <a:rPr lang="en-US" sz="1200" dirty="0">
                <a:solidFill>
                  <a:srgbClr val="3F3F3F"/>
                </a:solidFill>
                <a:latin typeface="Arial" pitchFamily="34" charset="0"/>
                <a:ea typeface="Arial" pitchFamily="34" charset="-122"/>
                <a:cs typeface="Arial" pitchFamily="34" charset="-120"/>
              </a:rPr>
              <a:t>-20</a:t>
            </a:r>
            <a:endParaRPr lang="en-US" sz="1200" dirty="0"/>
          </a:p>
        </p:txBody>
      </p:sp>
      <p:sp>
        <p:nvSpPr>
          <p:cNvPr id="18" name="Shape 15"/>
          <p:cNvSpPr/>
          <p:nvPr/>
        </p:nvSpPr>
        <p:spPr>
          <a:xfrm>
            <a:off x="895792" y="4343400"/>
            <a:ext cx="966193" cy="559613"/>
          </a:xfrm>
          <a:prstGeom prst="rect">
            <a:avLst/>
          </a:prstGeom>
          <a:solidFill>
            <a:srgbClr val="7F7F7F"/>
          </a:solidFill>
          <a:ln/>
        </p:spPr>
      </p:sp>
      <p:sp>
        <p:nvSpPr>
          <p:cNvPr id="19" name="Shape 16"/>
          <p:cNvSpPr/>
          <p:nvPr/>
        </p:nvSpPr>
        <p:spPr>
          <a:xfrm>
            <a:off x="1378888" y="4903013"/>
            <a:ext cx="0" cy="91440"/>
          </a:xfrm>
          <a:prstGeom prst="line">
            <a:avLst/>
          </a:prstGeom>
          <a:noFill/>
          <a:ln w="6350">
            <a:solidFill>
              <a:srgbClr val="7F7F7F"/>
            </a:solidFill>
            <a:prstDash val="solid"/>
          </a:ln>
        </p:spPr>
      </p:sp>
      <p:sp>
        <p:nvSpPr>
          <p:cNvPr id="20" name="Text 17"/>
          <p:cNvSpPr txBox="1"/>
          <p:nvPr/>
        </p:nvSpPr>
        <p:spPr>
          <a:xfrm>
            <a:off x="464488" y="4994453"/>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エコドライブ研修</a:t>
            </a:r>
            <a:endParaRPr lang="en-US" sz="1400" dirty="0"/>
          </a:p>
        </p:txBody>
      </p:sp>
      <p:sp>
        <p:nvSpPr>
          <p:cNvPr id="21" name="Shape 18"/>
          <p:cNvSpPr/>
          <p:nvPr/>
        </p:nvSpPr>
        <p:spPr>
          <a:xfrm>
            <a:off x="1880273" y="4343400"/>
            <a:ext cx="350893" cy="373075"/>
          </a:xfrm>
          <a:prstGeom prst="rect">
            <a:avLst/>
          </a:prstGeom>
          <a:solidFill>
            <a:srgbClr val="7F7F7F"/>
          </a:solidFill>
          <a:ln/>
        </p:spPr>
      </p:sp>
      <p:sp>
        <p:nvSpPr>
          <p:cNvPr id="22" name="Shape 19"/>
          <p:cNvSpPr/>
          <p:nvPr/>
        </p:nvSpPr>
        <p:spPr>
          <a:xfrm>
            <a:off x="2055719" y="4716475"/>
            <a:ext cx="0" cy="676656"/>
          </a:xfrm>
          <a:prstGeom prst="line">
            <a:avLst/>
          </a:prstGeom>
          <a:noFill/>
          <a:ln w="6350">
            <a:solidFill>
              <a:srgbClr val="7F7F7F"/>
            </a:solidFill>
            <a:prstDash val="solid"/>
          </a:ln>
        </p:spPr>
      </p:sp>
      <p:sp>
        <p:nvSpPr>
          <p:cNvPr id="23" name="Text 20"/>
          <p:cNvSpPr txBox="1"/>
          <p:nvPr/>
        </p:nvSpPr>
        <p:spPr>
          <a:xfrm>
            <a:off x="1141319" y="5393131"/>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車庫のLED化</a:t>
            </a:r>
            <a:endParaRPr lang="en-US" sz="1400" dirty="0"/>
          </a:p>
        </p:txBody>
      </p:sp>
      <p:sp>
        <p:nvSpPr>
          <p:cNvPr id="24" name="Shape 21"/>
          <p:cNvSpPr/>
          <p:nvPr/>
        </p:nvSpPr>
        <p:spPr>
          <a:xfrm>
            <a:off x="2249453" y="4343400"/>
            <a:ext cx="1704554" cy="186538"/>
          </a:xfrm>
          <a:prstGeom prst="rect">
            <a:avLst/>
          </a:prstGeom>
          <a:solidFill>
            <a:srgbClr val="7F7F7F"/>
          </a:solidFill>
          <a:ln/>
        </p:spPr>
      </p:sp>
      <p:sp>
        <p:nvSpPr>
          <p:cNvPr id="25" name="Shape 22"/>
          <p:cNvSpPr/>
          <p:nvPr/>
        </p:nvSpPr>
        <p:spPr>
          <a:xfrm>
            <a:off x="3101731" y="4529938"/>
            <a:ext cx="0" cy="384048"/>
          </a:xfrm>
          <a:prstGeom prst="line">
            <a:avLst/>
          </a:prstGeom>
          <a:noFill/>
          <a:ln w="6350">
            <a:solidFill>
              <a:srgbClr val="7F7F7F"/>
            </a:solidFill>
            <a:prstDash val="solid"/>
          </a:ln>
        </p:spPr>
      </p:sp>
      <p:sp>
        <p:nvSpPr>
          <p:cNvPr id="26" name="Text 23"/>
          <p:cNvSpPr txBox="1"/>
          <p:nvPr/>
        </p:nvSpPr>
        <p:spPr>
          <a:xfrm>
            <a:off x="2187331" y="491398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ハイブリッドバス</a:t>
            </a:r>
            <a:endParaRPr lang="en-US" sz="1400" dirty="0"/>
          </a:p>
        </p:txBody>
      </p:sp>
      <p:sp>
        <p:nvSpPr>
          <p:cNvPr id="27" name="Shape 24"/>
          <p:cNvSpPr/>
          <p:nvPr/>
        </p:nvSpPr>
        <p:spPr>
          <a:xfrm>
            <a:off x="3972296" y="4343400"/>
            <a:ext cx="1335374" cy="62179"/>
          </a:xfrm>
          <a:prstGeom prst="rect">
            <a:avLst/>
          </a:prstGeom>
          <a:solidFill>
            <a:srgbClr val="7F7F7F"/>
          </a:solidFill>
          <a:ln/>
        </p:spPr>
      </p:sp>
      <p:sp>
        <p:nvSpPr>
          <p:cNvPr id="28" name="Shape 25"/>
          <p:cNvSpPr/>
          <p:nvPr/>
        </p:nvSpPr>
        <p:spPr>
          <a:xfrm>
            <a:off x="4639983" y="4405579"/>
            <a:ext cx="0" cy="91440"/>
          </a:xfrm>
          <a:prstGeom prst="line">
            <a:avLst/>
          </a:prstGeom>
          <a:noFill/>
          <a:ln w="6350">
            <a:solidFill>
              <a:srgbClr val="7F7F7F"/>
            </a:solidFill>
            <a:prstDash val="solid"/>
          </a:ln>
        </p:spPr>
      </p:sp>
      <p:sp>
        <p:nvSpPr>
          <p:cNvPr id="29" name="Text 26"/>
          <p:cNvSpPr txBox="1"/>
          <p:nvPr/>
        </p:nvSpPr>
        <p:spPr>
          <a:xfrm>
            <a:off x="3725583" y="4497019"/>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屋根置き太陽光</a:t>
            </a:r>
            <a:endParaRPr lang="en-US" sz="1400" dirty="0"/>
          </a:p>
        </p:txBody>
      </p:sp>
      <p:sp>
        <p:nvSpPr>
          <p:cNvPr id="30" name="Shape 27"/>
          <p:cNvSpPr/>
          <p:nvPr/>
        </p:nvSpPr>
        <p:spPr>
          <a:xfrm>
            <a:off x="5325958" y="4219042"/>
            <a:ext cx="1458434" cy="124358"/>
          </a:xfrm>
          <a:prstGeom prst="rect">
            <a:avLst/>
          </a:prstGeom>
          <a:solidFill>
            <a:srgbClr val="CCCCCC"/>
          </a:solidFill>
          <a:ln/>
        </p:spPr>
      </p:sp>
      <p:sp>
        <p:nvSpPr>
          <p:cNvPr id="31" name="Shape 28"/>
          <p:cNvSpPr/>
          <p:nvPr/>
        </p:nvSpPr>
        <p:spPr>
          <a:xfrm>
            <a:off x="6055175" y="3341218"/>
            <a:ext cx="0" cy="877824"/>
          </a:xfrm>
          <a:prstGeom prst="line">
            <a:avLst/>
          </a:prstGeom>
          <a:noFill/>
          <a:ln w="6350">
            <a:solidFill>
              <a:srgbClr val="7F7F7F"/>
            </a:solidFill>
            <a:prstDash val="solid"/>
          </a:ln>
        </p:spPr>
      </p:sp>
      <p:sp>
        <p:nvSpPr>
          <p:cNvPr id="32" name="Text 29"/>
          <p:cNvSpPr txBox="1"/>
          <p:nvPr/>
        </p:nvSpPr>
        <p:spPr>
          <a:xfrm>
            <a:off x="5140775" y="3066898"/>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EVバス（短距離）</a:t>
            </a:r>
            <a:endParaRPr lang="en-US" sz="1400" dirty="0"/>
          </a:p>
        </p:txBody>
      </p:sp>
      <p:sp>
        <p:nvSpPr>
          <p:cNvPr id="33" name="Shape 30"/>
          <p:cNvSpPr/>
          <p:nvPr/>
        </p:nvSpPr>
        <p:spPr>
          <a:xfrm>
            <a:off x="6802680" y="4063594"/>
            <a:ext cx="1089254" cy="279806"/>
          </a:xfrm>
          <a:prstGeom prst="rect">
            <a:avLst/>
          </a:prstGeom>
          <a:solidFill>
            <a:srgbClr val="CCCCCC"/>
          </a:solidFill>
          <a:ln/>
        </p:spPr>
      </p:sp>
      <p:sp>
        <p:nvSpPr>
          <p:cNvPr id="34" name="Shape 31"/>
          <p:cNvSpPr/>
          <p:nvPr/>
        </p:nvSpPr>
        <p:spPr>
          <a:xfrm>
            <a:off x="7347307" y="3770986"/>
            <a:ext cx="0" cy="292608"/>
          </a:xfrm>
          <a:prstGeom prst="line">
            <a:avLst/>
          </a:prstGeom>
          <a:noFill/>
          <a:ln w="6350">
            <a:solidFill>
              <a:srgbClr val="7F7F7F"/>
            </a:solidFill>
            <a:prstDash val="solid"/>
          </a:ln>
        </p:spPr>
      </p:sp>
      <p:sp>
        <p:nvSpPr>
          <p:cNvPr id="35" name="Text 32"/>
          <p:cNvSpPr txBox="1"/>
          <p:nvPr/>
        </p:nvSpPr>
        <p:spPr>
          <a:xfrm>
            <a:off x="6432907" y="3496666"/>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再エネ電力の購入</a:t>
            </a:r>
            <a:endParaRPr lang="en-US" sz="1400" dirty="0"/>
          </a:p>
        </p:txBody>
      </p:sp>
      <p:sp>
        <p:nvSpPr>
          <p:cNvPr id="36" name="Shape 33"/>
          <p:cNvSpPr/>
          <p:nvPr/>
        </p:nvSpPr>
        <p:spPr>
          <a:xfrm>
            <a:off x="7910221" y="3690518"/>
            <a:ext cx="916969" cy="652882"/>
          </a:xfrm>
          <a:prstGeom prst="rect">
            <a:avLst/>
          </a:prstGeom>
          <a:solidFill>
            <a:srgbClr val="CCCCCC"/>
          </a:solidFill>
          <a:ln/>
        </p:spPr>
      </p:sp>
      <p:sp>
        <p:nvSpPr>
          <p:cNvPr id="37" name="Shape 34"/>
          <p:cNvSpPr/>
          <p:nvPr/>
        </p:nvSpPr>
        <p:spPr>
          <a:xfrm>
            <a:off x="8368706" y="3397910"/>
            <a:ext cx="0" cy="292608"/>
          </a:xfrm>
          <a:prstGeom prst="line">
            <a:avLst/>
          </a:prstGeom>
          <a:noFill/>
          <a:ln w="6350">
            <a:solidFill>
              <a:srgbClr val="7F7F7F"/>
            </a:solidFill>
            <a:prstDash val="solid"/>
          </a:ln>
        </p:spPr>
      </p:sp>
      <p:sp>
        <p:nvSpPr>
          <p:cNvPr id="38" name="Text 35"/>
          <p:cNvSpPr txBox="1"/>
          <p:nvPr/>
        </p:nvSpPr>
        <p:spPr>
          <a:xfrm>
            <a:off x="6951386" y="312359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EVバス（長距離）</a:t>
            </a:r>
            <a:endParaRPr lang="en-US" sz="1400" dirty="0"/>
          </a:p>
        </p:txBody>
      </p:sp>
      <p:sp>
        <p:nvSpPr>
          <p:cNvPr id="39" name="Shape 36"/>
          <p:cNvSpPr/>
          <p:nvPr/>
        </p:nvSpPr>
        <p:spPr>
          <a:xfrm>
            <a:off x="8845479" y="2540203"/>
            <a:ext cx="621625" cy="1803197"/>
          </a:xfrm>
          <a:prstGeom prst="rect">
            <a:avLst/>
          </a:prstGeom>
          <a:solidFill>
            <a:srgbClr val="000F78"/>
          </a:solidFill>
          <a:ln/>
        </p:spPr>
      </p:sp>
      <p:sp>
        <p:nvSpPr>
          <p:cNvPr id="40" name="Text 37"/>
          <p:cNvSpPr txBox="1"/>
          <p:nvPr/>
        </p:nvSpPr>
        <p:spPr>
          <a:xfrm>
            <a:off x="6916095" y="2540203"/>
            <a:ext cx="1828800" cy="292608"/>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燃料電池バス</a:t>
            </a:r>
            <a:endParaRPr lang="en-US" sz="1400" dirty="0"/>
          </a:p>
        </p:txBody>
      </p:sp>
      <p:sp>
        <p:nvSpPr>
          <p:cNvPr id="41" name="Shape 38"/>
          <p:cNvSpPr/>
          <p:nvPr/>
        </p:nvSpPr>
        <p:spPr>
          <a:xfrm>
            <a:off x="886648" y="4343400"/>
            <a:ext cx="8589600" cy="0"/>
          </a:xfrm>
          <a:prstGeom prst="line">
            <a:avLst/>
          </a:prstGeom>
          <a:noFill/>
          <a:ln w="12700">
            <a:solidFill>
              <a:srgbClr val="7F7F7F"/>
            </a:solidFill>
            <a:prstDash val="solid"/>
          </a:ln>
        </p:spPr>
      </p:sp>
      <p:sp>
        <p:nvSpPr>
          <p:cNvPr id="42" name="Shape 39"/>
          <p:cNvSpPr/>
          <p:nvPr/>
        </p:nvSpPr>
        <p:spPr>
          <a:xfrm>
            <a:off x="5316814" y="2170800"/>
            <a:ext cx="0" cy="3544200"/>
          </a:xfrm>
          <a:prstGeom prst="line">
            <a:avLst/>
          </a:prstGeom>
          <a:noFill/>
          <a:ln w="12700">
            <a:solidFill>
              <a:srgbClr val="3F3F3F"/>
            </a:solidFill>
            <a:prstDash val="dash"/>
          </a:ln>
        </p:spPr>
      </p:sp>
      <p:sp>
        <p:nvSpPr>
          <p:cNvPr id="43" name="Text 40"/>
          <p:cNvSpPr txBox="1"/>
          <p:nvPr/>
        </p:nvSpPr>
        <p:spPr>
          <a:xfrm>
            <a:off x="5389966" y="2125080"/>
            <a:ext cx="21945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2030年の目標　1,800t</a:t>
            </a:r>
            <a:endParaRPr lang="en-US" sz="1400" dirty="0"/>
          </a:p>
        </p:txBody>
      </p:sp>
      <p:sp>
        <p:nvSpPr>
          <p:cNvPr id="44" name="Shape 41"/>
          <p:cNvSpPr/>
          <p:nvPr/>
        </p:nvSpPr>
        <p:spPr>
          <a:xfrm>
            <a:off x="886648" y="5870448"/>
            <a:ext cx="8589600" cy="0"/>
          </a:xfrm>
          <a:prstGeom prst="line">
            <a:avLst/>
          </a:prstGeom>
          <a:noFill/>
          <a:ln w="9525">
            <a:solidFill>
              <a:srgbClr val="CCCCCC"/>
            </a:solidFill>
            <a:prstDash val="solid"/>
          </a:ln>
        </p:spPr>
      </p:sp>
      <p:sp>
        <p:nvSpPr>
          <p:cNvPr id="45" name="Shape 42"/>
          <p:cNvSpPr/>
          <p:nvPr/>
        </p:nvSpPr>
        <p:spPr>
          <a:xfrm>
            <a:off x="886648" y="5870448"/>
            <a:ext cx="0" cy="54864"/>
          </a:xfrm>
          <a:prstGeom prst="line">
            <a:avLst/>
          </a:prstGeom>
          <a:noFill/>
          <a:ln w="9525">
            <a:solidFill>
              <a:srgbClr val="7F7F7F"/>
            </a:solidFill>
            <a:prstDash val="solid"/>
          </a:ln>
        </p:spPr>
      </p:sp>
      <p:sp>
        <p:nvSpPr>
          <p:cNvPr id="46" name="Text 43"/>
          <p:cNvSpPr txBox="1"/>
          <p:nvPr/>
        </p:nvSpPr>
        <p:spPr>
          <a:xfrm>
            <a:off x="52088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0</a:t>
            </a:r>
            <a:endParaRPr lang="en-US" sz="1200" dirty="0"/>
          </a:p>
        </p:txBody>
      </p:sp>
      <p:sp>
        <p:nvSpPr>
          <p:cNvPr id="47" name="Shape 44"/>
          <p:cNvSpPr/>
          <p:nvPr/>
        </p:nvSpPr>
        <p:spPr>
          <a:xfrm>
            <a:off x="3347851" y="5870448"/>
            <a:ext cx="0" cy="54864"/>
          </a:xfrm>
          <a:prstGeom prst="line">
            <a:avLst/>
          </a:prstGeom>
          <a:noFill/>
          <a:ln w="9525">
            <a:solidFill>
              <a:srgbClr val="7F7F7F"/>
            </a:solidFill>
            <a:prstDash val="solid"/>
          </a:ln>
        </p:spPr>
      </p:sp>
      <p:sp>
        <p:nvSpPr>
          <p:cNvPr id="48" name="Text 45"/>
          <p:cNvSpPr txBox="1"/>
          <p:nvPr/>
        </p:nvSpPr>
        <p:spPr>
          <a:xfrm>
            <a:off x="2982091"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1,000</a:t>
            </a:r>
            <a:endParaRPr lang="en-US" sz="1200" dirty="0"/>
          </a:p>
        </p:txBody>
      </p:sp>
      <p:sp>
        <p:nvSpPr>
          <p:cNvPr id="49" name="Shape 46"/>
          <p:cNvSpPr/>
          <p:nvPr/>
        </p:nvSpPr>
        <p:spPr>
          <a:xfrm>
            <a:off x="5809054" y="5870448"/>
            <a:ext cx="0" cy="54864"/>
          </a:xfrm>
          <a:prstGeom prst="line">
            <a:avLst/>
          </a:prstGeom>
          <a:noFill/>
          <a:ln w="9525">
            <a:solidFill>
              <a:srgbClr val="7F7F7F"/>
            </a:solidFill>
            <a:prstDash val="solid"/>
          </a:ln>
        </p:spPr>
      </p:sp>
      <p:sp>
        <p:nvSpPr>
          <p:cNvPr id="50" name="Text 47"/>
          <p:cNvSpPr txBox="1"/>
          <p:nvPr/>
        </p:nvSpPr>
        <p:spPr>
          <a:xfrm>
            <a:off x="5443294"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2,000</a:t>
            </a:r>
            <a:endParaRPr lang="en-US" sz="1200" dirty="0"/>
          </a:p>
        </p:txBody>
      </p:sp>
      <p:sp>
        <p:nvSpPr>
          <p:cNvPr id="51" name="Shape 48"/>
          <p:cNvSpPr/>
          <p:nvPr/>
        </p:nvSpPr>
        <p:spPr>
          <a:xfrm>
            <a:off x="8270258" y="5870448"/>
            <a:ext cx="0" cy="54864"/>
          </a:xfrm>
          <a:prstGeom prst="line">
            <a:avLst/>
          </a:prstGeom>
          <a:noFill/>
          <a:ln w="9525">
            <a:solidFill>
              <a:srgbClr val="7F7F7F"/>
            </a:solidFill>
            <a:prstDash val="solid"/>
          </a:ln>
        </p:spPr>
      </p:sp>
      <p:sp>
        <p:nvSpPr>
          <p:cNvPr id="52" name="Text 49"/>
          <p:cNvSpPr txBox="1"/>
          <p:nvPr/>
        </p:nvSpPr>
        <p:spPr>
          <a:xfrm>
            <a:off x="7904498" y="5943600"/>
            <a:ext cx="731520" cy="237744"/>
          </a:xfrm>
          <a:prstGeom prst="rect">
            <a:avLst/>
          </a:prstGeom>
          <a:noFill/>
          <a:ln/>
        </p:spPr>
        <p:txBody>
          <a:bodyPr wrap="square" lIns="0" tIns="0" rIns="0" bIns="0" rtlCol="0" anchor="t"/>
          <a:lstStyle/>
          <a:p>
            <a:pPr algn="ctr" indent="0" marL="0">
              <a:buNone/>
            </a:pPr>
            <a:r>
              <a:rPr lang="en-US" sz="1200" dirty="0">
                <a:solidFill>
                  <a:srgbClr val="3F3F3F"/>
                </a:solidFill>
                <a:latin typeface="Arial" pitchFamily="34" charset="0"/>
                <a:ea typeface="Arial" pitchFamily="34" charset="-122"/>
                <a:cs typeface="Arial" pitchFamily="34" charset="-120"/>
              </a:rPr>
              <a:t>3,000</a:t>
            </a:r>
            <a:endParaRPr lang="en-US" sz="1200" dirty="0"/>
          </a:p>
        </p:txBody>
      </p:sp>
      <p:sp>
        <p:nvSpPr>
          <p:cNvPr id="53" name="Text 50"/>
          <p:cNvSpPr txBox="1"/>
          <p:nvPr/>
        </p:nvSpPr>
        <p:spPr>
          <a:xfrm>
            <a:off x="6961648" y="5559552"/>
            <a:ext cx="2743200" cy="274320"/>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累計の年間削減量（t-CO2）</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矢印は「流れ」「計画」「やり取り」「合流」「循環」の意味だけで使い分ける。紺の矢印は1枚に1本までとし、それ以外はグレーの細線で描く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矢印の使い分け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82</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429448" y="2560320"/>
            <a:ext cx="1188720" cy="0"/>
          </a:xfrm>
          <a:prstGeom prst="line">
            <a:avLst/>
          </a:prstGeom>
          <a:noFill/>
          <a:ln w="12700">
            <a:solidFill>
              <a:srgbClr val="7F7F7F"/>
            </a:solidFill>
            <a:prstDash val="solid"/>
            <a:tailEnd type="triangle"/>
          </a:ln>
        </p:spPr>
      </p:sp>
      <p:sp>
        <p:nvSpPr>
          <p:cNvPr id="17" name="Text 14"/>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流れの矢印</a:t>
            </a:r>
            <a:endParaRPr lang="en-US" sz="1400" dirty="0"/>
          </a:p>
        </p:txBody>
      </p:sp>
      <p:sp>
        <p:nvSpPr>
          <p:cNvPr id="18" name="Text 15"/>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モノ・お金・データの流れ。線の上に流れるものを書く（Gray2、1pt）</a:t>
            </a:r>
            <a:endParaRPr lang="en-US" sz="1400" dirty="0"/>
          </a:p>
        </p:txBody>
      </p:sp>
      <p:sp>
        <p:nvSpPr>
          <p:cNvPr id="19" name="Shape 16"/>
          <p:cNvSpPr/>
          <p:nvPr/>
        </p:nvSpPr>
        <p:spPr>
          <a:xfrm>
            <a:off x="200848" y="2862072"/>
            <a:ext cx="9504000" cy="0"/>
          </a:xfrm>
          <a:prstGeom prst="line">
            <a:avLst/>
          </a:prstGeom>
          <a:noFill/>
          <a:ln w="6350">
            <a:solidFill>
              <a:srgbClr val="CCCCCC"/>
            </a:solidFill>
            <a:prstDash val="solid"/>
          </a:ln>
        </p:spPr>
      </p:sp>
      <p:sp>
        <p:nvSpPr>
          <p:cNvPr id="20" name="Shape 17"/>
          <p:cNvSpPr/>
          <p:nvPr/>
        </p:nvSpPr>
        <p:spPr>
          <a:xfrm>
            <a:off x="429448" y="3163824"/>
            <a:ext cx="1188720" cy="0"/>
          </a:xfrm>
          <a:prstGeom prst="line">
            <a:avLst/>
          </a:prstGeom>
          <a:noFill/>
          <a:ln w="22225">
            <a:solidFill>
              <a:srgbClr val="000F78"/>
            </a:solidFill>
            <a:prstDash val="solid"/>
            <a:tailEnd type="triangle"/>
          </a:ln>
        </p:spPr>
      </p:sp>
      <p:sp>
        <p:nvSpPr>
          <p:cNvPr id="21" name="Text 1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強調の矢印</a:t>
            </a:r>
            <a:endParaRPr lang="en-US" sz="1400" dirty="0"/>
          </a:p>
        </p:txBody>
      </p:sp>
      <p:sp>
        <p:nvSpPr>
          <p:cNvPr id="22" name="Text 1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変化する流れ1本だけに使う（Navy、1.75pt）</a:t>
            </a:r>
            <a:endParaRPr lang="en-US" sz="1400" dirty="0"/>
          </a:p>
        </p:txBody>
      </p:sp>
      <p:sp>
        <p:nvSpPr>
          <p:cNvPr id="23" name="Shape 20"/>
          <p:cNvSpPr/>
          <p:nvPr/>
        </p:nvSpPr>
        <p:spPr>
          <a:xfrm>
            <a:off x="200848" y="3465576"/>
            <a:ext cx="9504000" cy="0"/>
          </a:xfrm>
          <a:prstGeom prst="line">
            <a:avLst/>
          </a:prstGeom>
          <a:noFill/>
          <a:ln w="6350">
            <a:solidFill>
              <a:srgbClr val="CCCCCC"/>
            </a:solidFill>
            <a:prstDash val="solid"/>
          </a:ln>
        </p:spPr>
      </p:sp>
      <p:sp>
        <p:nvSpPr>
          <p:cNvPr id="24" name="Shape 21"/>
          <p:cNvSpPr/>
          <p:nvPr/>
        </p:nvSpPr>
        <p:spPr>
          <a:xfrm>
            <a:off x="429448" y="3767328"/>
            <a:ext cx="1188720" cy="0"/>
          </a:xfrm>
          <a:prstGeom prst="line">
            <a:avLst/>
          </a:prstGeom>
          <a:noFill/>
          <a:ln w="12700">
            <a:solidFill>
              <a:srgbClr val="7F7F7F"/>
            </a:solidFill>
            <a:prstDash val="dash"/>
            <a:tailEnd type="triangle"/>
          </a:ln>
        </p:spPr>
      </p:sp>
      <p:sp>
        <p:nvSpPr>
          <p:cNvPr id="25" name="Text 22"/>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点線の矢印</a:t>
            </a:r>
            <a:endParaRPr lang="en-US" sz="1400" dirty="0"/>
          </a:p>
        </p:txBody>
      </p:sp>
      <p:sp>
        <p:nvSpPr>
          <p:cNvPr id="26" name="Text 23"/>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将来の計画、目指す位置、間接的な関係</a:t>
            </a:r>
            <a:endParaRPr lang="en-US" sz="1400" dirty="0"/>
          </a:p>
        </p:txBody>
      </p:sp>
      <p:sp>
        <p:nvSpPr>
          <p:cNvPr id="27" name="Shape 24"/>
          <p:cNvSpPr/>
          <p:nvPr/>
        </p:nvSpPr>
        <p:spPr>
          <a:xfrm>
            <a:off x="200848" y="4069080"/>
            <a:ext cx="9504000" cy="0"/>
          </a:xfrm>
          <a:prstGeom prst="line">
            <a:avLst/>
          </a:prstGeom>
          <a:noFill/>
          <a:ln w="6350">
            <a:solidFill>
              <a:srgbClr val="CCCCCC"/>
            </a:solidFill>
            <a:prstDash val="solid"/>
          </a:ln>
        </p:spPr>
      </p:sp>
      <p:sp>
        <p:nvSpPr>
          <p:cNvPr id="28" name="Shape 25"/>
          <p:cNvSpPr/>
          <p:nvPr/>
        </p:nvSpPr>
        <p:spPr>
          <a:xfrm>
            <a:off x="429448" y="4370832"/>
            <a:ext cx="1188720" cy="0"/>
          </a:xfrm>
          <a:prstGeom prst="line">
            <a:avLst/>
          </a:prstGeom>
          <a:noFill/>
          <a:ln w="12700">
            <a:solidFill>
              <a:srgbClr val="7F7F7F"/>
            </a:solidFill>
            <a:prstDash val="solid"/>
            <a:headEnd type="triangle"/>
            <a:tailEnd type="triangle"/>
          </a:ln>
        </p:spPr>
      </p:sp>
      <p:sp>
        <p:nvSpPr>
          <p:cNvPr id="29" name="Text 26"/>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双方向の矢印</a:t>
            </a:r>
            <a:endParaRPr lang="en-US" sz="1400" dirty="0"/>
          </a:p>
        </p:txBody>
      </p:sp>
      <p:sp>
        <p:nvSpPr>
          <p:cNvPr id="30" name="Text 27"/>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相互のやり取り。片方向で言えるなら片方向にする</a:t>
            </a:r>
            <a:endParaRPr lang="en-US" sz="1400" dirty="0"/>
          </a:p>
        </p:txBody>
      </p:sp>
      <p:sp>
        <p:nvSpPr>
          <p:cNvPr id="31" name="Shape 28"/>
          <p:cNvSpPr/>
          <p:nvPr/>
        </p:nvSpPr>
        <p:spPr>
          <a:xfrm>
            <a:off x="200848" y="4672584"/>
            <a:ext cx="9504000" cy="0"/>
          </a:xfrm>
          <a:prstGeom prst="line">
            <a:avLst/>
          </a:prstGeom>
          <a:noFill/>
          <a:ln w="6350">
            <a:solidFill>
              <a:srgbClr val="CCCCCC"/>
            </a:solidFill>
            <a:prstDash val="solid"/>
          </a:ln>
        </p:spPr>
      </p:sp>
      <p:sp>
        <p:nvSpPr>
          <p:cNvPr id="32" name="Shape 29"/>
          <p:cNvSpPr/>
          <p:nvPr/>
        </p:nvSpPr>
        <p:spPr>
          <a:xfrm>
            <a:off x="429448" y="4773168"/>
            <a:ext cx="548640" cy="201168"/>
          </a:xfrm>
          <a:prstGeom prst="line">
            <a:avLst/>
          </a:prstGeom>
          <a:noFill/>
          <a:ln w="12700">
            <a:solidFill>
              <a:srgbClr val="7F7F7F"/>
            </a:solidFill>
            <a:prstDash val="solid"/>
          </a:ln>
        </p:spPr>
      </p:sp>
      <p:sp>
        <p:nvSpPr>
          <p:cNvPr id="33" name="Shape 30"/>
          <p:cNvSpPr/>
          <p:nvPr/>
        </p:nvSpPr>
        <p:spPr>
          <a:xfrm flipV="1">
            <a:off x="429448" y="4974336"/>
            <a:ext cx="548640" cy="201168"/>
          </a:xfrm>
          <a:prstGeom prst="line">
            <a:avLst/>
          </a:prstGeom>
          <a:noFill/>
          <a:ln w="12700">
            <a:solidFill>
              <a:srgbClr val="7F7F7F"/>
            </a:solidFill>
            <a:prstDash val="solid"/>
          </a:ln>
        </p:spPr>
      </p:sp>
      <p:sp>
        <p:nvSpPr>
          <p:cNvPr id="34" name="Shape 31"/>
          <p:cNvSpPr/>
          <p:nvPr/>
        </p:nvSpPr>
        <p:spPr>
          <a:xfrm>
            <a:off x="978088" y="4974336"/>
            <a:ext cx="640080" cy="0"/>
          </a:xfrm>
          <a:prstGeom prst="line">
            <a:avLst/>
          </a:prstGeom>
          <a:noFill/>
          <a:ln w="12700">
            <a:solidFill>
              <a:srgbClr val="7F7F7F"/>
            </a:solidFill>
            <a:prstDash val="solid"/>
            <a:tailEnd type="triangle"/>
          </a:ln>
        </p:spPr>
      </p:sp>
      <p:sp>
        <p:nvSpPr>
          <p:cNvPr id="35" name="Text 32"/>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合流の矢印</a:t>
            </a:r>
            <a:endParaRPr lang="en-US" sz="1400" dirty="0"/>
          </a:p>
        </p:txBody>
      </p:sp>
      <p:sp>
        <p:nvSpPr>
          <p:cNvPr id="36" name="Text 33"/>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複数の要素が1つにまとまる。分岐はこの逆向き</a:t>
            </a:r>
            <a:endParaRPr lang="en-US" sz="1400" dirty="0"/>
          </a:p>
        </p:txBody>
      </p:sp>
      <p:sp>
        <p:nvSpPr>
          <p:cNvPr id="37" name="Shape 34"/>
          <p:cNvSpPr/>
          <p:nvPr/>
        </p:nvSpPr>
        <p:spPr>
          <a:xfrm>
            <a:off x="200848" y="5276088"/>
            <a:ext cx="9504000" cy="0"/>
          </a:xfrm>
          <a:prstGeom prst="line">
            <a:avLst/>
          </a:prstGeom>
          <a:noFill/>
          <a:ln w="6350">
            <a:solidFill>
              <a:srgbClr val="CCCCCC"/>
            </a:solidFill>
            <a:prstDash val="solid"/>
          </a:ln>
        </p:spPr>
      </p:sp>
      <p:sp>
        <p:nvSpPr>
          <p:cNvPr id="38" name="Shape 35"/>
          <p:cNvSpPr/>
          <p:nvPr/>
        </p:nvSpPr>
        <p:spPr>
          <a:xfrm>
            <a:off x="749488" y="5321808"/>
            <a:ext cx="512064" cy="512064"/>
          </a:xfrm>
          <a:prstGeom prst="circularArrow">
            <a:avLst/>
          </a:prstGeom>
          <a:solidFill>
            <a:srgbClr val="CCCCCC"/>
          </a:solidFill>
          <a:ln/>
        </p:spPr>
      </p:sp>
      <p:sp>
        <p:nvSpPr>
          <p:cNvPr id="39" name="Text 36"/>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循環の矢印</a:t>
            </a:r>
            <a:endParaRPr lang="en-US" sz="1400" dirty="0"/>
          </a:p>
        </p:txBody>
      </p:sp>
      <p:sp>
        <p:nvSpPr>
          <p:cNvPr id="40" name="Text 37"/>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繰り返し・好循環。循環の起点を1つ決めて示す</a:t>
            </a:r>
            <a:endParaRPr lang="en-US" sz="1400" dirty="0"/>
          </a:p>
        </p:txBody>
      </p:sp>
      <p:sp>
        <p:nvSpPr>
          <p:cNvPr id="41" name="Shape 38"/>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因果・順序・伸び・差・節目・区切りは、それぞれ決まった1つの図形で示す。囲みや塗りで区切らず、細い線と余白で要素を分ける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線と注釈の使い分け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83</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840928" y="2399386"/>
            <a:ext cx="160934" cy="321869"/>
          </a:xfrm>
          <a:custGeom>
            <a:avLst/>
            <a:gdLst/>
            <a:ahLst/>
            <a:cxnLst/>
            <a:rect l="l" t="t" r="r" b="b"/>
            <a:pathLst>
              <a:path w="160934" h="321869">
                <a:moveTo>
                  <a:pt x="0" y="0"/>
                </a:moveTo>
                <a:lnTo>
                  <a:pt x="160934" y="160934"/>
                </a:lnTo>
                <a:lnTo>
                  <a:pt x="0" y="321869"/>
                </a:lnTo>
                <a:close/>
              </a:path>
            </a:pathLst>
          </a:custGeom>
          <a:solidFill>
            <a:srgbClr val="7F7F7F"/>
          </a:solidFill>
          <a:ln/>
        </p:spPr>
      </p:sp>
      <p:sp>
        <p:nvSpPr>
          <p:cNvPr id="17" name="Shape 14"/>
          <p:cNvSpPr/>
          <p:nvPr/>
        </p:nvSpPr>
        <p:spPr>
          <a:xfrm>
            <a:off x="961628" y="2410358"/>
            <a:ext cx="134965" cy="299923"/>
          </a:xfrm>
          <a:custGeom>
            <a:avLst/>
            <a:gdLst/>
            <a:ahLst/>
            <a:cxnLst/>
            <a:rect l="l" t="t" r="r" b="b"/>
            <a:pathLst>
              <a:path w="134965" h="299923">
                <a:moveTo>
                  <a:pt x="0" y="0"/>
                </a:moveTo>
                <a:lnTo>
                  <a:pt x="134965" y="149962"/>
                </a:lnTo>
                <a:lnTo>
                  <a:pt x="0" y="299923"/>
                </a:lnTo>
              </a:path>
            </a:pathLst>
          </a:custGeom>
          <a:ln w="33020">
            <a:solidFill>
              <a:srgbClr val="7F7F7F"/>
            </a:solidFill>
            <a:prstDash val="solid"/>
          </a:ln>
        </p:spPr>
      </p:sp>
      <p:sp>
        <p:nvSpPr>
          <p:cNvPr id="18" name="Text 15"/>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因果の三角</a:t>
            </a:r>
            <a:endParaRPr lang="en-US" sz="1400" dirty="0"/>
          </a:p>
        </p:txBody>
      </p:sp>
      <p:sp>
        <p:nvSpPr>
          <p:cNvPr id="19" name="Text 16"/>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左右の間の強い因果。1枚に1つまで（グレーの三角＋線。HG_pptFMT の形）</a:t>
            </a:r>
            <a:endParaRPr lang="en-US" sz="1400" dirty="0"/>
          </a:p>
        </p:txBody>
      </p:sp>
      <p:sp>
        <p:nvSpPr>
          <p:cNvPr id="20" name="Shape 17"/>
          <p:cNvSpPr/>
          <p:nvPr/>
        </p:nvSpPr>
        <p:spPr>
          <a:xfrm>
            <a:off x="200848" y="2862072"/>
            <a:ext cx="9504000" cy="0"/>
          </a:xfrm>
          <a:prstGeom prst="line">
            <a:avLst/>
          </a:prstGeom>
          <a:noFill/>
          <a:ln w="6350">
            <a:solidFill>
              <a:srgbClr val="CCCCCC"/>
            </a:solidFill>
            <a:prstDash val="solid"/>
          </a:ln>
        </p:spPr>
      </p:sp>
      <p:sp>
        <p:nvSpPr>
          <p:cNvPr id="21" name="Shape 18"/>
          <p:cNvSpPr/>
          <p:nvPr/>
        </p:nvSpPr>
        <p:spPr>
          <a:xfrm>
            <a:off x="429448" y="2999232"/>
            <a:ext cx="457200" cy="329184"/>
          </a:xfrm>
          <a:prstGeom prst="homePlate">
            <a:avLst/>
          </a:prstGeom>
          <a:solidFill>
            <a:srgbClr val="CCCCCC"/>
          </a:solidFill>
          <a:ln/>
        </p:spPr>
      </p:sp>
      <p:sp>
        <p:nvSpPr>
          <p:cNvPr id="22" name="Shape 19"/>
          <p:cNvSpPr/>
          <p:nvPr/>
        </p:nvSpPr>
        <p:spPr>
          <a:xfrm>
            <a:off x="840928" y="2999232"/>
            <a:ext cx="457200" cy="329184"/>
          </a:xfrm>
          <a:prstGeom prst="chevron">
            <a:avLst/>
          </a:prstGeom>
          <a:solidFill>
            <a:srgbClr val="000F78"/>
          </a:solidFill>
          <a:ln/>
        </p:spPr>
      </p:sp>
      <p:sp>
        <p:nvSpPr>
          <p:cNvPr id="23" name="Shape 20"/>
          <p:cNvSpPr/>
          <p:nvPr/>
        </p:nvSpPr>
        <p:spPr>
          <a:xfrm>
            <a:off x="1252408" y="2999232"/>
            <a:ext cx="457200" cy="329184"/>
          </a:xfrm>
          <a:prstGeom prst="chevron">
            <a:avLst/>
          </a:prstGeom>
          <a:solidFill>
            <a:srgbClr val="CCCCCC"/>
          </a:solidFill>
          <a:ln/>
        </p:spPr>
      </p:sp>
      <p:sp>
        <p:nvSpPr>
          <p:cNvPr id="24" name="Text 21"/>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矢羽</a:t>
            </a:r>
            <a:endParaRPr lang="en-US" sz="1400" dirty="0"/>
          </a:p>
        </p:txBody>
      </p:sp>
      <p:sp>
        <p:nvSpPr>
          <p:cNvPr id="25" name="Text 22"/>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工程・段階の順序。今の段階だけNavyにする</a:t>
            </a:r>
            <a:endParaRPr lang="en-US" sz="1400" dirty="0"/>
          </a:p>
        </p:txBody>
      </p:sp>
      <p:sp>
        <p:nvSpPr>
          <p:cNvPr id="26" name="Shape 23"/>
          <p:cNvSpPr/>
          <p:nvPr/>
        </p:nvSpPr>
        <p:spPr>
          <a:xfrm>
            <a:off x="200848" y="3465576"/>
            <a:ext cx="9504000" cy="0"/>
          </a:xfrm>
          <a:prstGeom prst="line">
            <a:avLst/>
          </a:prstGeom>
          <a:noFill/>
          <a:ln w="6350">
            <a:solidFill>
              <a:srgbClr val="CCCCCC"/>
            </a:solidFill>
            <a:prstDash val="solid"/>
          </a:ln>
        </p:spPr>
      </p:sp>
      <p:sp>
        <p:nvSpPr>
          <p:cNvPr id="27" name="Shape 24"/>
          <p:cNvSpPr/>
          <p:nvPr/>
        </p:nvSpPr>
        <p:spPr>
          <a:xfrm flipV="1">
            <a:off x="429448" y="3630168"/>
            <a:ext cx="1188720" cy="274320"/>
          </a:xfrm>
          <a:prstGeom prst="line">
            <a:avLst/>
          </a:prstGeom>
          <a:noFill/>
          <a:ln w="15875">
            <a:solidFill>
              <a:srgbClr val="000F78"/>
            </a:solidFill>
            <a:prstDash val="solid"/>
            <a:tailEnd type="triangle"/>
          </a:ln>
        </p:spPr>
      </p:sp>
      <p:sp>
        <p:nvSpPr>
          <p:cNvPr id="28" name="Text 25"/>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CAGRの矢印</a:t>
            </a:r>
            <a:endParaRPr lang="en-US" sz="1400" dirty="0"/>
          </a:p>
        </p:txBody>
      </p:sp>
      <p:sp>
        <p:nvSpPr>
          <p:cNvPr id="29" name="Text 26"/>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時系列の伸び率の注釈。棒の上に斜めに置き、率を添える</a:t>
            </a:r>
            <a:endParaRPr lang="en-US" sz="1400" dirty="0"/>
          </a:p>
        </p:txBody>
      </p:sp>
      <p:sp>
        <p:nvSpPr>
          <p:cNvPr id="30" name="Shape 27"/>
          <p:cNvSpPr/>
          <p:nvPr/>
        </p:nvSpPr>
        <p:spPr>
          <a:xfrm>
            <a:off x="200848" y="4069080"/>
            <a:ext cx="9504000" cy="0"/>
          </a:xfrm>
          <a:prstGeom prst="line">
            <a:avLst/>
          </a:prstGeom>
          <a:noFill/>
          <a:ln w="6350">
            <a:solidFill>
              <a:srgbClr val="CCCCCC"/>
            </a:solidFill>
            <a:prstDash val="solid"/>
          </a:ln>
        </p:spPr>
      </p:sp>
      <p:sp>
        <p:nvSpPr>
          <p:cNvPr id="31" name="Shape 28"/>
          <p:cNvSpPr/>
          <p:nvPr/>
        </p:nvSpPr>
        <p:spPr>
          <a:xfrm>
            <a:off x="932368" y="4114800"/>
            <a:ext cx="137160" cy="512064"/>
          </a:xfrm>
          <a:prstGeom prst="rightBracket">
            <a:avLst/>
          </a:prstGeom>
          <a:ln w="12700">
            <a:solidFill>
              <a:srgbClr val="000F78"/>
            </a:solidFill>
            <a:prstDash val="solid"/>
          </a:ln>
        </p:spPr>
      </p:sp>
      <p:sp>
        <p:nvSpPr>
          <p:cNvPr id="32" name="Text 29"/>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差分の括弧</a:t>
            </a:r>
            <a:endParaRPr lang="en-US" sz="1400" dirty="0"/>
          </a:p>
        </p:txBody>
      </p:sp>
      <p:sp>
        <p:nvSpPr>
          <p:cNvPr id="33" name="Text 30"/>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2点の差を「+2.1倍」「−21pt」の形で示す</a:t>
            </a:r>
            <a:endParaRPr lang="en-US" sz="1400" dirty="0"/>
          </a:p>
        </p:txBody>
      </p:sp>
      <p:sp>
        <p:nvSpPr>
          <p:cNvPr id="34" name="Shape 31"/>
          <p:cNvSpPr/>
          <p:nvPr/>
        </p:nvSpPr>
        <p:spPr>
          <a:xfrm>
            <a:off x="200848" y="4672584"/>
            <a:ext cx="9504000" cy="0"/>
          </a:xfrm>
          <a:prstGeom prst="line">
            <a:avLst/>
          </a:prstGeom>
          <a:noFill/>
          <a:ln w="6350">
            <a:solidFill>
              <a:srgbClr val="CCCCCC"/>
            </a:solidFill>
            <a:prstDash val="solid"/>
          </a:ln>
        </p:spPr>
      </p:sp>
      <p:sp>
        <p:nvSpPr>
          <p:cNvPr id="35" name="Shape 32"/>
          <p:cNvSpPr/>
          <p:nvPr/>
        </p:nvSpPr>
        <p:spPr>
          <a:xfrm>
            <a:off x="429448" y="4974336"/>
            <a:ext cx="1188720" cy="0"/>
          </a:xfrm>
          <a:prstGeom prst="line">
            <a:avLst/>
          </a:prstGeom>
          <a:noFill/>
          <a:ln w="12700">
            <a:solidFill>
              <a:srgbClr val="CCCCCC"/>
            </a:solidFill>
            <a:prstDash val="solid"/>
          </a:ln>
        </p:spPr>
      </p:sp>
      <p:sp>
        <p:nvSpPr>
          <p:cNvPr id="36" name="Shape 33"/>
          <p:cNvSpPr/>
          <p:nvPr/>
        </p:nvSpPr>
        <p:spPr>
          <a:xfrm>
            <a:off x="904936" y="4855464"/>
            <a:ext cx="237744" cy="237744"/>
          </a:xfrm>
          <a:prstGeom prst="diamond">
            <a:avLst/>
          </a:prstGeom>
          <a:solidFill>
            <a:srgbClr val="3F3F3F"/>
          </a:solidFill>
          <a:ln/>
        </p:spPr>
      </p:sp>
      <p:sp>
        <p:nvSpPr>
          <p:cNvPr id="37" name="Text 34"/>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a:t>
            </a:r>
            <a:endParaRPr lang="en-US" sz="1400" dirty="0"/>
          </a:p>
        </p:txBody>
      </p:sp>
      <p:sp>
        <p:nvSpPr>
          <p:cNvPr id="38" name="Text 35"/>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節目・判断の時期。判断の内容を下に書く（文字色の◆）</a:t>
            </a:r>
            <a:endParaRPr lang="en-US" sz="1400" dirty="0"/>
          </a:p>
        </p:txBody>
      </p:sp>
      <p:sp>
        <p:nvSpPr>
          <p:cNvPr id="39" name="Shape 36"/>
          <p:cNvSpPr/>
          <p:nvPr/>
        </p:nvSpPr>
        <p:spPr>
          <a:xfrm>
            <a:off x="200848" y="5276088"/>
            <a:ext cx="9504000" cy="0"/>
          </a:xfrm>
          <a:prstGeom prst="line">
            <a:avLst/>
          </a:prstGeom>
          <a:noFill/>
          <a:ln w="6350">
            <a:solidFill>
              <a:srgbClr val="CCCCCC"/>
            </a:solidFill>
            <a:prstDash val="solid"/>
          </a:ln>
        </p:spPr>
      </p:sp>
      <p:sp>
        <p:nvSpPr>
          <p:cNvPr id="40" name="Shape 37"/>
          <p:cNvSpPr/>
          <p:nvPr/>
        </p:nvSpPr>
        <p:spPr>
          <a:xfrm>
            <a:off x="429448" y="5486400"/>
            <a:ext cx="1188720" cy="0"/>
          </a:xfrm>
          <a:prstGeom prst="line">
            <a:avLst/>
          </a:prstGeom>
          <a:noFill/>
          <a:ln w="9525">
            <a:solidFill>
              <a:srgbClr val="CCCCCC"/>
            </a:solidFill>
            <a:prstDash val="solid"/>
          </a:ln>
        </p:spPr>
      </p:sp>
      <p:sp>
        <p:nvSpPr>
          <p:cNvPr id="41" name="Shape 38"/>
          <p:cNvSpPr/>
          <p:nvPr/>
        </p:nvSpPr>
        <p:spPr>
          <a:xfrm>
            <a:off x="429448" y="5669280"/>
            <a:ext cx="1188720" cy="0"/>
          </a:xfrm>
          <a:prstGeom prst="line">
            <a:avLst/>
          </a:prstGeom>
          <a:noFill/>
          <a:ln w="9525">
            <a:solidFill>
              <a:srgbClr val="CCCCCC"/>
            </a:solidFill>
            <a:prstDash val="solid"/>
          </a:ln>
        </p:spPr>
      </p:sp>
      <p:sp>
        <p:nvSpPr>
          <p:cNvPr id="42" name="Text 39"/>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区切りの細線</a:t>
            </a:r>
            <a:endParaRPr lang="en-US" sz="1400" dirty="0"/>
          </a:p>
        </p:txBody>
      </p:sp>
      <p:sp>
        <p:nvSpPr>
          <p:cNvPr id="43" name="Text 40"/>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要素の区切り。囲みや塗りの代わりに使う（Gray1、0.75pt）</a:t>
            </a:r>
            <a:endParaRPr lang="en-US" sz="1400" dirty="0"/>
          </a:p>
        </p:txBody>
      </p:sp>
      <p:sp>
        <p:nvSpPr>
          <p:cNvPr id="44" name="Shape 41"/>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数値の符号は1つの意味に1つの書き方で統一する。負の数は「−」で書き、▲や△を符号に使わない。比率の差はpt、比較は倍で書く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数値の符号の書き方</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84</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Text 13"/>
          <p:cNvSpPr txBox="1"/>
          <p:nvPr/>
        </p:nvSpPr>
        <p:spPr>
          <a:xfrm>
            <a:off x="200848" y="225856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 −</a:t>
            </a:r>
            <a:endParaRPr lang="en-US" sz="2000" dirty="0"/>
          </a:p>
        </p:txBody>
      </p:sp>
      <p:sp>
        <p:nvSpPr>
          <p:cNvPr id="17" name="Text 14"/>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増減の符号</a:t>
            </a:r>
            <a:endParaRPr lang="en-US" sz="1400" dirty="0"/>
          </a:p>
        </p:txBody>
      </p:sp>
      <p:sp>
        <p:nvSpPr>
          <p:cNvPr id="18" name="Text 15"/>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負の数は「−」で書く。▲・△は会計の「マイナス」と紛れるので使わない</a:t>
            </a:r>
            <a:endParaRPr lang="en-US" sz="1400" dirty="0"/>
          </a:p>
        </p:txBody>
      </p:sp>
      <p:sp>
        <p:nvSpPr>
          <p:cNvPr id="19" name="Shape 16"/>
          <p:cNvSpPr/>
          <p:nvPr/>
        </p:nvSpPr>
        <p:spPr>
          <a:xfrm>
            <a:off x="200848" y="2862072"/>
            <a:ext cx="9504000" cy="0"/>
          </a:xfrm>
          <a:prstGeom prst="line">
            <a:avLst/>
          </a:prstGeom>
          <a:noFill/>
          <a:ln w="6350">
            <a:solidFill>
              <a:srgbClr val="CCCCCC"/>
            </a:solidFill>
            <a:prstDash val="solid"/>
          </a:ln>
        </p:spPr>
      </p:sp>
      <p:sp>
        <p:nvSpPr>
          <p:cNvPr id="20" name="Text 17"/>
          <p:cNvSpPr txBox="1"/>
          <p:nvPr/>
        </p:nvSpPr>
        <p:spPr>
          <a:xfrm>
            <a:off x="200848" y="2862072"/>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 ▼</a:t>
            </a:r>
            <a:endParaRPr lang="en-US" sz="2000" dirty="0"/>
          </a:p>
        </p:txBody>
      </p:sp>
      <p:sp>
        <p:nvSpPr>
          <p:cNvPr id="21" name="Text 18"/>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増減の向き</a:t>
            </a:r>
            <a:endParaRPr lang="en-US" sz="1400" dirty="0"/>
          </a:p>
        </p:txBody>
      </p:sp>
      <p:sp>
        <p:nvSpPr>
          <p:cNvPr id="22" name="Text 19"/>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表の中で向きだけを示すときに使う。数値の符号の代わりにしない</a:t>
            </a:r>
            <a:endParaRPr lang="en-US" sz="1400" dirty="0"/>
          </a:p>
        </p:txBody>
      </p:sp>
      <p:sp>
        <p:nvSpPr>
          <p:cNvPr id="23" name="Shape 20"/>
          <p:cNvSpPr/>
          <p:nvPr/>
        </p:nvSpPr>
        <p:spPr>
          <a:xfrm>
            <a:off x="200848" y="3465576"/>
            <a:ext cx="9504000" cy="0"/>
          </a:xfrm>
          <a:prstGeom prst="line">
            <a:avLst/>
          </a:prstGeom>
          <a:noFill/>
          <a:ln w="6350">
            <a:solidFill>
              <a:srgbClr val="CCCCCC"/>
            </a:solidFill>
            <a:prstDash val="solid"/>
          </a:ln>
        </p:spPr>
      </p:sp>
      <p:sp>
        <p:nvSpPr>
          <p:cNvPr id="24" name="Text 21"/>
          <p:cNvSpPr txBox="1"/>
          <p:nvPr/>
        </p:nvSpPr>
        <p:spPr>
          <a:xfrm>
            <a:off x="200848" y="3465576"/>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pt</a:t>
            </a:r>
            <a:endParaRPr lang="en-US" sz="2000" dirty="0"/>
          </a:p>
        </p:txBody>
      </p:sp>
      <p:sp>
        <p:nvSpPr>
          <p:cNvPr id="25" name="Text 22"/>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比率の差</a:t>
            </a:r>
            <a:endParaRPr lang="en-US" sz="1400" dirty="0"/>
          </a:p>
        </p:txBody>
      </p:sp>
      <p:sp>
        <p:nvSpPr>
          <p:cNvPr id="26" name="Text 23"/>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「52%→46%」の差は「−6pt」と書く。「−6%」と書かない</a:t>
            </a:r>
            <a:endParaRPr lang="en-US" sz="1400" dirty="0"/>
          </a:p>
        </p:txBody>
      </p:sp>
      <p:sp>
        <p:nvSpPr>
          <p:cNvPr id="27" name="Shape 24"/>
          <p:cNvSpPr/>
          <p:nvPr/>
        </p:nvSpPr>
        <p:spPr>
          <a:xfrm>
            <a:off x="200848" y="4069080"/>
            <a:ext cx="9504000" cy="0"/>
          </a:xfrm>
          <a:prstGeom prst="line">
            <a:avLst/>
          </a:prstGeom>
          <a:noFill/>
          <a:ln w="6350">
            <a:solidFill>
              <a:srgbClr val="CCCCCC"/>
            </a:solidFill>
            <a:prstDash val="solid"/>
          </a:ln>
        </p:spPr>
      </p:sp>
      <p:sp>
        <p:nvSpPr>
          <p:cNvPr id="28" name="Text 25"/>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倍</a:t>
            </a:r>
            <a:endParaRPr lang="en-US" sz="2000" dirty="0"/>
          </a:p>
        </p:txBody>
      </p:sp>
      <p:sp>
        <p:nvSpPr>
          <p:cNvPr id="29" name="Text 26"/>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比較</a:t>
            </a:r>
            <a:endParaRPr lang="en-US" sz="1400" dirty="0"/>
          </a:p>
        </p:txBody>
      </p:sp>
      <p:sp>
        <p:nvSpPr>
          <p:cNvPr id="30" name="Text 27"/>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「1.5倍」と書く。同じ資料の中で「150%」と混ぜない</a:t>
            </a:r>
            <a:endParaRPr lang="en-US" sz="1400" dirty="0"/>
          </a:p>
        </p:txBody>
      </p:sp>
      <p:sp>
        <p:nvSpPr>
          <p:cNvPr id="31" name="Shape 28"/>
          <p:cNvSpPr/>
          <p:nvPr/>
        </p:nvSpPr>
        <p:spPr>
          <a:xfrm>
            <a:off x="200848" y="4672584"/>
            <a:ext cx="9504000" cy="0"/>
          </a:xfrm>
          <a:prstGeom prst="line">
            <a:avLst/>
          </a:prstGeom>
          <a:noFill/>
          <a:ln w="6350">
            <a:solidFill>
              <a:srgbClr val="CCCCCC"/>
            </a:solidFill>
            <a:prstDash val="solid"/>
          </a:ln>
        </p:spPr>
      </p:sp>
      <p:sp>
        <p:nvSpPr>
          <p:cNvPr id="32" name="Text 29"/>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期間・範囲</a:t>
            </a:r>
            <a:endParaRPr lang="en-US" sz="1400" dirty="0"/>
          </a:p>
        </p:txBody>
      </p:sp>
      <p:sp>
        <p:nvSpPr>
          <p:cNvPr id="34" name="Text 31"/>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「2015–2025年度」「3–5件」。文中の範囲は「〜」を使う</a:t>
            </a:r>
            <a:endParaRPr lang="en-US" sz="1400" dirty="0"/>
          </a:p>
        </p:txBody>
      </p:sp>
      <p:sp>
        <p:nvSpPr>
          <p:cNvPr id="35" name="Shape 32"/>
          <p:cNvSpPr/>
          <p:nvPr/>
        </p:nvSpPr>
        <p:spPr>
          <a:xfrm>
            <a:off x="200848" y="5276088"/>
            <a:ext cx="9504000" cy="0"/>
          </a:xfrm>
          <a:prstGeom prst="line">
            <a:avLst/>
          </a:prstGeom>
          <a:noFill/>
          <a:ln w="6350">
            <a:solidFill>
              <a:srgbClr val="CCCCCC"/>
            </a:solidFill>
            <a:prstDash val="solid"/>
          </a:ln>
        </p:spPr>
      </p:sp>
      <p:sp>
        <p:nvSpPr>
          <p:cNvPr id="36" name="Text 33"/>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変化の前後</a:t>
            </a:r>
            <a:endParaRPr lang="en-US" sz="1400" dirty="0"/>
          </a:p>
        </p:txBody>
      </p:sp>
      <p:sp>
        <p:nvSpPr>
          <p:cNvPr id="38" name="Text 35"/>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「32→24本」。結論の「⇒」は使わず、言葉で書く</a:t>
            </a:r>
            <a:endParaRPr lang="en-US" sz="1400" dirty="0"/>
          </a:p>
        </p:txBody>
      </p:sp>
      <p:sp>
        <p:nvSpPr>
          <p:cNvPr id="39" name="Shape 36"/>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評価・該当・番号・注記の印は図形か決まった文字で書き、凡例で意味を定義する。該当なしは空欄にせず「―」を置き、推計値は（見込）で区別する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印と表記の使い分け</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85</a:t>
            </a:r>
            <a:endParaRPr lang="en-US" sz="900" dirty="0"/>
          </a:p>
        </p:txBody>
      </p:sp>
      <p:sp>
        <p:nvSpPr>
          <p:cNvPr id="12" name="Text 9"/>
          <p:cNvSpPr txBox="1"/>
          <p:nvPr/>
        </p:nvSpPr>
        <p:spPr>
          <a:xfrm>
            <a:off x="200848" y="1874520"/>
            <a:ext cx="1645920" cy="27432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029648" y="1874520"/>
            <a:ext cx="20116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132768" y="1874520"/>
            <a:ext cx="557208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00848" y="2203704"/>
            <a:ext cx="9504000" cy="0"/>
          </a:xfrm>
          <a:prstGeom prst="line">
            <a:avLst/>
          </a:prstGeom>
          <a:noFill/>
          <a:ln w="12700">
            <a:solidFill>
              <a:srgbClr val="7F7F7F"/>
            </a:solidFill>
            <a:prstDash val="solid"/>
          </a:ln>
        </p:spPr>
      </p:sp>
      <p:sp>
        <p:nvSpPr>
          <p:cNvPr id="16" name="Shape 13"/>
          <p:cNvSpPr/>
          <p:nvPr/>
        </p:nvSpPr>
        <p:spPr>
          <a:xfrm>
            <a:off x="292288" y="2441448"/>
            <a:ext cx="237744" cy="237744"/>
          </a:xfrm>
          <a:prstGeom prst="ellipse">
            <a:avLst/>
          </a:prstGeom>
          <a:solidFill>
            <a:srgbClr val="FFFFFF"/>
          </a:solidFill>
          <a:ln w="12700">
            <a:solidFill>
              <a:srgbClr val="7F7F7F"/>
            </a:solidFill>
            <a:prstDash val="solid"/>
          </a:ln>
        </p:spPr>
      </p:sp>
      <p:sp>
        <p:nvSpPr>
          <p:cNvPr id="17" name="Shape 14"/>
          <p:cNvSpPr/>
          <p:nvPr/>
        </p:nvSpPr>
        <p:spPr>
          <a:xfrm>
            <a:off x="594040" y="2441448"/>
            <a:ext cx="237744" cy="237744"/>
          </a:xfrm>
          <a:prstGeom prst="ellipse">
            <a:avLst/>
          </a:prstGeom>
          <a:solidFill>
            <a:srgbClr val="FFFFFF"/>
          </a:solidFill>
          <a:ln w="12700">
            <a:solidFill>
              <a:srgbClr val="7F7F7F"/>
            </a:solidFill>
            <a:prstDash val="solid"/>
          </a:ln>
        </p:spPr>
      </p:sp>
      <p:sp>
        <p:nvSpPr>
          <p:cNvPr id="18" name="Shape 15"/>
          <p:cNvSpPr/>
          <p:nvPr/>
        </p:nvSpPr>
        <p:spPr>
          <a:xfrm>
            <a:off x="594040" y="2441448"/>
            <a:ext cx="237744" cy="237744"/>
          </a:xfrm>
          <a:prstGeom prst="pie">
            <a:avLst>
              <a:gd name="adj1" fmla="val 16200000"/>
              <a:gd name="adj2" fmla="val 21600000"/>
            </a:avLst>
          </a:prstGeom>
          <a:solidFill>
            <a:srgbClr val="7F7F7F"/>
          </a:solidFill>
          <a:ln/>
        </p:spPr>
      </p:sp>
      <p:sp>
        <p:nvSpPr>
          <p:cNvPr id="19" name="Shape 16"/>
          <p:cNvSpPr/>
          <p:nvPr/>
        </p:nvSpPr>
        <p:spPr>
          <a:xfrm>
            <a:off x="895792" y="2441448"/>
            <a:ext cx="237744" cy="237744"/>
          </a:xfrm>
          <a:prstGeom prst="ellipse">
            <a:avLst/>
          </a:prstGeom>
          <a:solidFill>
            <a:srgbClr val="FFFFFF"/>
          </a:solidFill>
          <a:ln w="12700">
            <a:solidFill>
              <a:srgbClr val="7F7F7F"/>
            </a:solidFill>
            <a:prstDash val="solid"/>
          </a:ln>
        </p:spPr>
      </p:sp>
      <p:sp>
        <p:nvSpPr>
          <p:cNvPr id="20" name="Shape 17"/>
          <p:cNvSpPr/>
          <p:nvPr/>
        </p:nvSpPr>
        <p:spPr>
          <a:xfrm>
            <a:off x="895792" y="2441448"/>
            <a:ext cx="237744" cy="237744"/>
          </a:xfrm>
          <a:prstGeom prst="pie">
            <a:avLst>
              <a:gd name="adj1" fmla="val 16200000"/>
              <a:gd name="adj2" fmla="val 5400000"/>
            </a:avLst>
          </a:prstGeom>
          <a:solidFill>
            <a:srgbClr val="7F7F7F"/>
          </a:solidFill>
          <a:ln/>
        </p:spPr>
      </p:sp>
      <p:sp>
        <p:nvSpPr>
          <p:cNvPr id="21" name="Shape 18"/>
          <p:cNvSpPr/>
          <p:nvPr/>
        </p:nvSpPr>
        <p:spPr>
          <a:xfrm>
            <a:off x="1197544" y="2441448"/>
            <a:ext cx="237744" cy="237744"/>
          </a:xfrm>
          <a:prstGeom prst="ellipse">
            <a:avLst/>
          </a:prstGeom>
          <a:solidFill>
            <a:srgbClr val="FFFFFF"/>
          </a:solidFill>
          <a:ln w="12700">
            <a:solidFill>
              <a:srgbClr val="7F7F7F"/>
            </a:solidFill>
            <a:prstDash val="solid"/>
          </a:ln>
        </p:spPr>
      </p:sp>
      <p:sp>
        <p:nvSpPr>
          <p:cNvPr id="22" name="Shape 19"/>
          <p:cNvSpPr/>
          <p:nvPr/>
        </p:nvSpPr>
        <p:spPr>
          <a:xfrm>
            <a:off x="1197544" y="2441448"/>
            <a:ext cx="237744" cy="237744"/>
          </a:xfrm>
          <a:prstGeom prst="pie">
            <a:avLst>
              <a:gd name="adj1" fmla="val 16200000"/>
              <a:gd name="adj2" fmla="val 10800000"/>
            </a:avLst>
          </a:prstGeom>
          <a:solidFill>
            <a:srgbClr val="7F7F7F"/>
          </a:solidFill>
          <a:ln/>
        </p:spPr>
      </p:sp>
      <p:sp>
        <p:nvSpPr>
          <p:cNvPr id="23" name="Shape 20"/>
          <p:cNvSpPr/>
          <p:nvPr/>
        </p:nvSpPr>
        <p:spPr>
          <a:xfrm>
            <a:off x="1499296" y="2441448"/>
            <a:ext cx="237744" cy="237744"/>
          </a:xfrm>
          <a:prstGeom prst="ellipse">
            <a:avLst/>
          </a:prstGeom>
          <a:solidFill>
            <a:srgbClr val="7F7F7F"/>
          </a:solidFill>
          <a:ln w="12700">
            <a:solidFill>
              <a:srgbClr val="7F7F7F"/>
            </a:solidFill>
            <a:prstDash val="solid"/>
          </a:ln>
        </p:spPr>
      </p:sp>
      <p:sp>
        <p:nvSpPr>
          <p:cNvPr id="24" name="Text 21"/>
          <p:cNvSpPr txBox="1"/>
          <p:nvPr/>
        </p:nvSpPr>
        <p:spPr>
          <a:xfrm>
            <a:off x="2029648" y="225856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評価</a:t>
            </a:r>
            <a:endParaRPr lang="en-US" sz="1400" dirty="0"/>
          </a:p>
        </p:txBody>
      </p:sp>
      <p:sp>
        <p:nvSpPr>
          <p:cNvPr id="25" name="Text 22"/>
          <p:cNvSpPr txBox="1"/>
          <p:nvPr/>
        </p:nvSpPr>
        <p:spPr>
          <a:xfrm>
            <a:off x="4132768" y="225856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ハーベイボール。凡例で基準を必ず定義する。信号色は使わない</a:t>
            </a:r>
            <a:endParaRPr lang="en-US" sz="1400" dirty="0"/>
          </a:p>
        </p:txBody>
      </p:sp>
      <p:sp>
        <p:nvSpPr>
          <p:cNvPr id="26" name="Shape 23"/>
          <p:cNvSpPr/>
          <p:nvPr/>
        </p:nvSpPr>
        <p:spPr>
          <a:xfrm>
            <a:off x="200848" y="2862072"/>
            <a:ext cx="9504000" cy="0"/>
          </a:xfrm>
          <a:prstGeom prst="line">
            <a:avLst/>
          </a:prstGeom>
          <a:noFill/>
          <a:ln w="6350">
            <a:solidFill>
              <a:srgbClr val="CCCCCC"/>
            </a:solidFill>
            <a:prstDash val="solid"/>
          </a:ln>
        </p:spPr>
      </p:sp>
      <p:sp>
        <p:nvSpPr>
          <p:cNvPr id="27" name="Text 24"/>
          <p:cNvSpPr txBox="1"/>
          <p:nvPr/>
        </p:nvSpPr>
        <p:spPr>
          <a:xfrm>
            <a:off x="200848" y="2862072"/>
            <a:ext cx="1645920" cy="603504"/>
          </a:xfrm>
          <a:prstGeom prst="rect">
            <a:avLst/>
          </a:prstGeom>
          <a:noFill/>
          <a:ln/>
        </p:spPr>
        <p:txBody>
          <a:bodyPr wrap="square" lIns="0" tIns="0" rIns="0" bIns="0" rtlCol="0" anchor="ctr"/>
          <a:lstStyle/>
          <a:p>
            <a:pPr algn="ctr" indent="0" marL="0">
              <a:buNone/>
            </a:pPr>
            <a:r>
              <a:rPr lang="en-US" sz="2000" b="1" dirty="0">
                <a:solidFill>
                  <a:srgbClr val="7F7F7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2029648" y="2862072"/>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該当の印</a:t>
            </a:r>
            <a:endParaRPr lang="en-US" sz="1400" dirty="0"/>
          </a:p>
        </p:txBody>
      </p:sp>
      <p:sp>
        <p:nvSpPr>
          <p:cNvPr id="29" name="Text 26"/>
          <p:cNvSpPr txBox="1"/>
          <p:nvPr/>
        </p:nvSpPr>
        <p:spPr>
          <a:xfrm>
            <a:off x="4132768" y="2862072"/>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索引付きチェック表で使う。同じ表で○×と混ぜない</a:t>
            </a:r>
            <a:endParaRPr lang="en-US" sz="1400" dirty="0"/>
          </a:p>
        </p:txBody>
      </p:sp>
      <p:sp>
        <p:nvSpPr>
          <p:cNvPr id="30" name="Shape 27"/>
          <p:cNvSpPr/>
          <p:nvPr/>
        </p:nvSpPr>
        <p:spPr>
          <a:xfrm>
            <a:off x="200848" y="3465576"/>
            <a:ext cx="9504000" cy="0"/>
          </a:xfrm>
          <a:prstGeom prst="line">
            <a:avLst/>
          </a:prstGeom>
          <a:noFill/>
          <a:ln w="6350">
            <a:solidFill>
              <a:srgbClr val="CCCCCC"/>
            </a:solidFill>
            <a:prstDash val="solid"/>
          </a:ln>
        </p:spPr>
      </p:sp>
      <p:sp>
        <p:nvSpPr>
          <p:cNvPr id="31" name="Shape 28"/>
          <p:cNvSpPr/>
          <p:nvPr/>
        </p:nvSpPr>
        <p:spPr>
          <a:xfrm>
            <a:off x="877504" y="3621024"/>
            <a:ext cx="292608" cy="292608"/>
          </a:xfrm>
          <a:prstGeom prst="ellipse">
            <a:avLst/>
          </a:prstGeom>
          <a:solidFill>
            <a:srgbClr val="7F7F7F"/>
          </a:solidFill>
          <a:ln/>
        </p:spPr>
      </p:sp>
      <p:sp>
        <p:nvSpPr>
          <p:cNvPr id="32" name="Text 29"/>
          <p:cNvSpPr txBox="1"/>
          <p:nvPr/>
        </p:nvSpPr>
        <p:spPr>
          <a:xfrm>
            <a:off x="877504" y="36210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3" name="Text 30"/>
          <p:cNvSpPr txBox="1"/>
          <p:nvPr/>
        </p:nvSpPr>
        <p:spPr>
          <a:xfrm>
            <a:off x="2029648" y="3465576"/>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番号のバッジ</a:t>
            </a:r>
            <a:endParaRPr lang="en-US" sz="1400" dirty="0"/>
          </a:p>
        </p:txBody>
      </p:sp>
      <p:sp>
        <p:nvSpPr>
          <p:cNvPr id="34" name="Text 31"/>
          <p:cNvSpPr txBox="1"/>
          <p:nvPr/>
        </p:nvSpPr>
        <p:spPr>
          <a:xfrm>
            <a:off x="4132768" y="3465576"/>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丸数字の文字ではなく図形で作る（環境で崩れない）</a:t>
            </a:r>
            <a:endParaRPr lang="en-US" sz="1400" dirty="0"/>
          </a:p>
        </p:txBody>
      </p:sp>
      <p:sp>
        <p:nvSpPr>
          <p:cNvPr id="35" name="Shape 32"/>
          <p:cNvSpPr/>
          <p:nvPr/>
        </p:nvSpPr>
        <p:spPr>
          <a:xfrm>
            <a:off x="200848" y="4069080"/>
            <a:ext cx="9504000" cy="0"/>
          </a:xfrm>
          <a:prstGeom prst="line">
            <a:avLst/>
          </a:prstGeom>
          <a:noFill/>
          <a:ln w="6350">
            <a:solidFill>
              <a:srgbClr val="CCCCCC"/>
            </a:solidFill>
            <a:prstDash val="solid"/>
          </a:ln>
        </p:spPr>
      </p:sp>
      <p:sp>
        <p:nvSpPr>
          <p:cNvPr id="36" name="Text 33"/>
          <p:cNvSpPr txBox="1"/>
          <p:nvPr/>
        </p:nvSpPr>
        <p:spPr>
          <a:xfrm>
            <a:off x="200848" y="4069080"/>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注）1.</a:t>
            </a:r>
            <a:endParaRPr lang="en-US" sz="1400" dirty="0"/>
          </a:p>
        </p:txBody>
      </p:sp>
      <p:sp>
        <p:nvSpPr>
          <p:cNvPr id="37" name="Text 34"/>
          <p:cNvSpPr txBox="1"/>
          <p:nvPr/>
        </p:nvSpPr>
        <p:spPr>
          <a:xfrm>
            <a:off x="2029648" y="4069080"/>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注記</a:t>
            </a:r>
            <a:endParaRPr lang="en-US" sz="1400" dirty="0"/>
          </a:p>
        </p:txBody>
      </p:sp>
      <p:sp>
        <p:nvSpPr>
          <p:cNvPr id="38" name="Text 35"/>
          <p:cNvSpPr txBox="1"/>
          <p:nvPr/>
        </p:nvSpPr>
        <p:spPr>
          <a:xfrm>
            <a:off x="4132768" y="4069080"/>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本文の肩番号と「注）1.」を対応させ、出所の上に書く</a:t>
            </a:r>
            <a:endParaRPr lang="en-US" sz="1400" dirty="0"/>
          </a:p>
        </p:txBody>
      </p:sp>
      <p:sp>
        <p:nvSpPr>
          <p:cNvPr id="39" name="Shape 36"/>
          <p:cNvSpPr/>
          <p:nvPr/>
        </p:nvSpPr>
        <p:spPr>
          <a:xfrm>
            <a:off x="200848" y="4672584"/>
            <a:ext cx="9504000" cy="0"/>
          </a:xfrm>
          <a:prstGeom prst="line">
            <a:avLst/>
          </a:prstGeom>
          <a:noFill/>
          <a:ln w="6350">
            <a:solidFill>
              <a:srgbClr val="CCCCCC"/>
            </a:solidFill>
            <a:prstDash val="solid"/>
          </a:ln>
        </p:spPr>
      </p:sp>
      <p:sp>
        <p:nvSpPr>
          <p:cNvPr id="40" name="Text 37"/>
          <p:cNvSpPr txBox="1"/>
          <p:nvPr/>
        </p:nvSpPr>
        <p:spPr>
          <a:xfrm>
            <a:off x="200848" y="4672584"/>
            <a:ext cx="1645920" cy="603504"/>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41" name="Text 38"/>
          <p:cNvSpPr txBox="1"/>
          <p:nvPr/>
        </p:nvSpPr>
        <p:spPr>
          <a:xfrm>
            <a:off x="2029648" y="4672584"/>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該当なし</a:t>
            </a:r>
            <a:endParaRPr lang="en-US" sz="1400" dirty="0"/>
          </a:p>
        </p:txBody>
      </p:sp>
      <p:sp>
        <p:nvSpPr>
          <p:cNvPr id="42" name="Text 39"/>
          <p:cNvSpPr txBox="1"/>
          <p:nvPr/>
        </p:nvSpPr>
        <p:spPr>
          <a:xfrm>
            <a:off x="4132768" y="4672584"/>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空欄にせず「―」を置く。「0」と区別する</a:t>
            </a:r>
            <a:endParaRPr lang="en-US" sz="1400" dirty="0"/>
          </a:p>
        </p:txBody>
      </p:sp>
      <p:sp>
        <p:nvSpPr>
          <p:cNvPr id="43" name="Shape 40"/>
          <p:cNvSpPr/>
          <p:nvPr/>
        </p:nvSpPr>
        <p:spPr>
          <a:xfrm>
            <a:off x="200848" y="5276088"/>
            <a:ext cx="9504000" cy="0"/>
          </a:xfrm>
          <a:prstGeom prst="line">
            <a:avLst/>
          </a:prstGeom>
          <a:noFill/>
          <a:ln w="6350">
            <a:solidFill>
              <a:srgbClr val="CCCCCC"/>
            </a:solidFill>
            <a:prstDash val="solid"/>
          </a:ln>
        </p:spPr>
      </p:sp>
      <p:sp>
        <p:nvSpPr>
          <p:cNvPr id="44" name="Text 41"/>
          <p:cNvSpPr txBox="1"/>
          <p:nvPr/>
        </p:nvSpPr>
        <p:spPr>
          <a:xfrm>
            <a:off x="200848" y="5276088"/>
            <a:ext cx="1645920" cy="603504"/>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（見込）</a:t>
            </a:r>
            <a:endParaRPr lang="en-US" sz="1400" dirty="0"/>
          </a:p>
        </p:txBody>
      </p:sp>
      <p:sp>
        <p:nvSpPr>
          <p:cNvPr id="45" name="Text 42"/>
          <p:cNvSpPr txBox="1"/>
          <p:nvPr/>
        </p:nvSpPr>
        <p:spPr>
          <a:xfrm>
            <a:off x="2029648" y="5276088"/>
            <a:ext cx="2011680" cy="60350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推計値</a:t>
            </a:r>
            <a:endParaRPr lang="en-US" sz="1400" dirty="0"/>
          </a:p>
        </p:txBody>
      </p:sp>
      <p:sp>
        <p:nvSpPr>
          <p:cNvPr id="46" name="Text 43"/>
          <p:cNvSpPr txBox="1"/>
          <p:nvPr/>
        </p:nvSpPr>
        <p:spPr>
          <a:xfrm>
            <a:off x="4132768" y="5276088"/>
            <a:ext cx="5572080" cy="60350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実績と区別する。年度の後ろに付け、棒の色を淡くする</a:t>
            </a:r>
            <a:endParaRPr lang="en-US" sz="1400" dirty="0"/>
          </a:p>
        </p:txBody>
      </p:sp>
      <p:sp>
        <p:nvSpPr>
          <p:cNvPr id="47" name="Shape 44"/>
          <p:cNvSpPr/>
          <p:nvPr/>
        </p:nvSpPr>
        <p:spPr>
          <a:xfrm>
            <a:off x="200848" y="5879592"/>
            <a:ext cx="9504000" cy="0"/>
          </a:xfrm>
          <a:prstGeom prst="line">
            <a:avLst/>
          </a:prstGeom>
          <a:noFill/>
          <a:ln w="6350">
            <a:solidFill>
              <a:srgbClr val="CCCCCC"/>
            </a:solidFill>
            <a:prstDash val="solid"/>
          </a:ln>
        </p:spPr>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アイコンは関係図で主体や流れを示すために使い、飾りには使わない。人・組織と施設・地域の20種で、関係図の登場人物の大半を表せる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アイコン集（人・組織・施設・地域）</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86</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人・組織</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個人</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人々</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（user-check）</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歩行者</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（person-standing）</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子育て</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（baby）</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企業</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（building-2）</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行政</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（landmark）</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工場</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（factory）</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店舗</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（store）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事業</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（briefcase）</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施設・地域</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病院</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（hospital）</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学校</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（school）</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宿泊</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（hotel）</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住まい</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（house）</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地点</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（map-pin）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海外</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（globe）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自然</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（mountain）</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農業</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（tractor）</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漁業</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（fish）</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飲食</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（utensils）</a:t>
            </a:r>
            <a:endParaRPr lang="en-US" sz="1100" dirty="0"/>
          </a:p>
        </p:txBody>
      </p:sp>
      <p:pic>
        <p:nvPicPr>
          <p:cNvPr id="56" name="Image 0" descr="user">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user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user-check">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person-standing">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aby">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building-2">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landmark">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factory">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tore">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briefcase">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ospital">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school">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hotel">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house">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map-pi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glob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mountain">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actor">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fish">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utensils">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移動・物流とお金・数字のアイコンは、関係図の矢印に流れるものを示すときに使う。アイコンだけで意味を伝えず、必ず短い名前を下に添える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アイコン集（移動・物流・お金・数字）</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87</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移動・物流</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鉄道</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（train-front）</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バス</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（bus）</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自動車</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（car）</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物流</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（truck）</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航空</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（plane）</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海運</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（ship）</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荷物</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（package）</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経路</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（route）</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購買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（shopping-cart）</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移動支援</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（accessibility）</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お金・数字</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資金</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（banknote）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支払</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（wallet）</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積立</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（piggy-bank）</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請求</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（receipt）</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統計</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（chart-column）</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推移</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（chart-line）</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（trending-up）</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減少</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（trending-down）</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公平</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（scale）</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法令</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（gavel）</a:t>
            </a:r>
            <a:endParaRPr lang="en-US" sz="1100" dirty="0"/>
          </a:p>
        </p:txBody>
      </p:sp>
      <p:pic>
        <p:nvPicPr>
          <p:cNvPr id="56" name="Image 0" descr="train-front">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bus">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car">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truck">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plane">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ship">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package">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route">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shopping-cart">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accessibility">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banknot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wallet">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piggy-bank">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receipt">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chart-column">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hart-line">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trending-up">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ending-down">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scale">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gavel">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情報・技術と行為・状態のアイコンは、仕組みや取組の中身を示すときに使う。1枚に使う種類は6つまでとし、絵柄の太さと色をそろえる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アイコン集（情報・技術・行為・状態）</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88</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情報・技術</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データ</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（database）</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クラウド</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（cloud）</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スマホ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（smartphone）</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PC</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（laptop）</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AI</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（bot）</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連携基盤</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（network）</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文書</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（file-text）</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（search）</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保護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（lock）</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連絡</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（mail）</a:t>
            </a:r>
            <a:endParaRPr lang="en-US" sz="1100" dirty="0"/>
          </a:p>
        </p:txBody>
      </p:sp>
      <p:sp>
        <p:nvSpPr>
          <p:cNvPr id="34" name="Text 31"/>
          <p:cNvSpPr txBox="1"/>
          <p:nvPr/>
        </p:nvSpPr>
        <p:spPr>
          <a:xfrm>
            <a:off x="200848" y="406908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行為・状態</a:t>
            </a:r>
            <a:endParaRPr lang="en-US" sz="1400" dirty="0"/>
          </a:p>
        </p:txBody>
      </p:sp>
      <p:sp>
        <p:nvSpPr>
          <p:cNvPr id="35" name="Shape 32"/>
          <p:cNvSpPr/>
          <p:nvPr/>
        </p:nvSpPr>
        <p:spPr>
          <a:xfrm>
            <a:off x="200848" y="4379976"/>
            <a:ext cx="9504000" cy="0"/>
          </a:xfrm>
          <a:prstGeom prst="line">
            <a:avLst/>
          </a:prstGeom>
          <a:noFill/>
          <a:ln w="6350">
            <a:solidFill>
              <a:srgbClr val="CCCCCC"/>
            </a:solidFill>
            <a:prstDash val="solid"/>
          </a:ln>
        </p:spPr>
      </p:sp>
      <p:sp>
        <p:nvSpPr>
          <p:cNvPr id="36" name="Text 33"/>
          <p:cNvSpPr txBox="1"/>
          <p:nvPr/>
        </p:nvSpPr>
        <p:spPr>
          <a:xfrm>
            <a:off x="7952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連携</a:t>
            </a:r>
            <a:endParaRPr lang="en-US" sz="1400" dirty="0"/>
          </a:p>
        </p:txBody>
      </p:sp>
      <p:sp>
        <p:nvSpPr>
          <p:cNvPr id="37" name="Text 34"/>
          <p:cNvSpPr txBox="1"/>
          <p:nvPr/>
        </p:nvSpPr>
        <p:spPr>
          <a:xfrm>
            <a:off x="7494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（handshake）</a:t>
            </a:r>
            <a:endParaRPr lang="en-US" sz="1100" dirty="0"/>
          </a:p>
        </p:txBody>
      </p:sp>
      <p:sp>
        <p:nvSpPr>
          <p:cNvPr id="38" name="Text 35"/>
          <p:cNvSpPr txBox="1"/>
          <p:nvPr/>
        </p:nvSpPr>
        <p:spPr>
          <a:xfrm>
            <a:off x="26960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対話</a:t>
            </a:r>
            <a:endParaRPr lang="en-US" sz="1400" dirty="0"/>
          </a:p>
        </p:txBody>
      </p:sp>
      <p:sp>
        <p:nvSpPr>
          <p:cNvPr id="39" name="Text 36"/>
          <p:cNvSpPr txBox="1"/>
          <p:nvPr/>
        </p:nvSpPr>
        <p:spPr>
          <a:xfrm>
            <a:off x="26502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（messages-square）</a:t>
            </a:r>
            <a:endParaRPr lang="en-US" sz="1100" dirty="0"/>
          </a:p>
        </p:txBody>
      </p:sp>
      <p:sp>
        <p:nvSpPr>
          <p:cNvPr id="40" name="Text 37"/>
          <p:cNvSpPr txBox="1"/>
          <p:nvPr/>
        </p:nvSpPr>
        <p:spPr>
          <a:xfrm>
            <a:off x="45968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目標</a:t>
            </a:r>
            <a:endParaRPr lang="en-US" sz="1400" dirty="0"/>
          </a:p>
        </p:txBody>
      </p:sp>
      <p:sp>
        <p:nvSpPr>
          <p:cNvPr id="41" name="Text 38"/>
          <p:cNvSpPr txBox="1"/>
          <p:nvPr/>
        </p:nvSpPr>
        <p:spPr>
          <a:xfrm>
            <a:off x="45510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（target）</a:t>
            </a:r>
            <a:endParaRPr lang="en-US" sz="1100" dirty="0"/>
          </a:p>
        </p:txBody>
      </p:sp>
      <p:sp>
        <p:nvSpPr>
          <p:cNvPr id="42" name="Text 39"/>
          <p:cNvSpPr txBox="1"/>
          <p:nvPr/>
        </p:nvSpPr>
        <p:spPr>
          <a:xfrm>
            <a:off x="64976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着想</a:t>
            </a:r>
            <a:endParaRPr lang="en-US" sz="1400" dirty="0"/>
          </a:p>
        </p:txBody>
      </p:sp>
      <p:sp>
        <p:nvSpPr>
          <p:cNvPr id="43" name="Text 40"/>
          <p:cNvSpPr txBox="1"/>
          <p:nvPr/>
        </p:nvSpPr>
        <p:spPr>
          <a:xfrm>
            <a:off x="64518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（lightbulb）</a:t>
            </a:r>
            <a:endParaRPr lang="en-US" sz="1100" dirty="0"/>
          </a:p>
        </p:txBody>
      </p:sp>
      <p:sp>
        <p:nvSpPr>
          <p:cNvPr id="44" name="Text 41"/>
          <p:cNvSpPr txBox="1"/>
          <p:nvPr/>
        </p:nvSpPr>
        <p:spPr>
          <a:xfrm>
            <a:off x="8398408" y="449884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仕組み</a:t>
            </a:r>
            <a:endParaRPr lang="en-US" sz="1400" dirty="0"/>
          </a:p>
        </p:txBody>
      </p:sp>
      <p:sp>
        <p:nvSpPr>
          <p:cNvPr id="45" name="Text 42"/>
          <p:cNvSpPr txBox="1"/>
          <p:nvPr/>
        </p:nvSpPr>
        <p:spPr>
          <a:xfrm>
            <a:off x="8352688" y="477316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（settings）</a:t>
            </a:r>
            <a:endParaRPr lang="en-US" sz="1100" dirty="0"/>
          </a:p>
        </p:txBody>
      </p:sp>
      <p:sp>
        <p:nvSpPr>
          <p:cNvPr id="46" name="Text 43"/>
          <p:cNvSpPr txBox="1"/>
          <p:nvPr/>
        </p:nvSpPr>
        <p:spPr>
          <a:xfrm>
            <a:off x="7952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時間</a:t>
            </a:r>
            <a:endParaRPr lang="en-US" sz="1400" dirty="0"/>
          </a:p>
        </p:txBody>
      </p:sp>
      <p:sp>
        <p:nvSpPr>
          <p:cNvPr id="47" name="Text 44"/>
          <p:cNvSpPr txBox="1"/>
          <p:nvPr/>
        </p:nvSpPr>
        <p:spPr>
          <a:xfrm>
            <a:off x="7494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（clock）</a:t>
            </a:r>
            <a:endParaRPr lang="en-US" sz="1100" dirty="0"/>
          </a:p>
        </p:txBody>
      </p:sp>
      <p:sp>
        <p:nvSpPr>
          <p:cNvPr id="48" name="Text 45"/>
          <p:cNvSpPr txBox="1"/>
          <p:nvPr/>
        </p:nvSpPr>
        <p:spPr>
          <a:xfrm>
            <a:off x="26960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日程</a:t>
            </a:r>
            <a:endParaRPr lang="en-US" sz="1400" dirty="0"/>
          </a:p>
        </p:txBody>
      </p:sp>
      <p:sp>
        <p:nvSpPr>
          <p:cNvPr id="49" name="Text 46"/>
          <p:cNvSpPr txBox="1"/>
          <p:nvPr/>
        </p:nvSpPr>
        <p:spPr>
          <a:xfrm>
            <a:off x="26502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（calendar）</a:t>
            </a:r>
            <a:endParaRPr lang="en-US" sz="1100" dirty="0"/>
          </a:p>
        </p:txBody>
      </p:sp>
      <p:sp>
        <p:nvSpPr>
          <p:cNvPr id="50" name="Text 47"/>
          <p:cNvSpPr txBox="1"/>
          <p:nvPr/>
        </p:nvSpPr>
        <p:spPr>
          <a:xfrm>
            <a:off x="45968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注意</a:t>
            </a:r>
            <a:endParaRPr lang="en-US" sz="1400" dirty="0"/>
          </a:p>
        </p:txBody>
      </p:sp>
      <p:sp>
        <p:nvSpPr>
          <p:cNvPr id="51" name="Text 48"/>
          <p:cNvSpPr txBox="1"/>
          <p:nvPr/>
        </p:nvSpPr>
        <p:spPr>
          <a:xfrm>
            <a:off x="45510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（triangle-alert）</a:t>
            </a:r>
            <a:endParaRPr lang="en-US" sz="1100" dirty="0"/>
          </a:p>
        </p:txBody>
      </p:sp>
      <p:sp>
        <p:nvSpPr>
          <p:cNvPr id="52" name="Text 49"/>
          <p:cNvSpPr txBox="1"/>
          <p:nvPr/>
        </p:nvSpPr>
        <p:spPr>
          <a:xfrm>
            <a:off x="64976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完了</a:t>
            </a:r>
            <a:endParaRPr lang="en-US" sz="1400" dirty="0"/>
          </a:p>
        </p:txBody>
      </p:sp>
      <p:sp>
        <p:nvSpPr>
          <p:cNvPr id="53" name="Text 50"/>
          <p:cNvSpPr txBox="1"/>
          <p:nvPr/>
        </p:nvSpPr>
        <p:spPr>
          <a:xfrm>
            <a:off x="64518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（circle-check）</a:t>
            </a:r>
            <a:endParaRPr lang="en-US" sz="1100" dirty="0"/>
          </a:p>
        </p:txBody>
      </p:sp>
      <p:sp>
        <p:nvSpPr>
          <p:cNvPr id="54" name="Text 51"/>
          <p:cNvSpPr txBox="1"/>
          <p:nvPr/>
        </p:nvSpPr>
        <p:spPr>
          <a:xfrm>
            <a:off x="8398408" y="536752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循環</a:t>
            </a:r>
            <a:endParaRPr lang="en-US" sz="1400" dirty="0"/>
          </a:p>
        </p:txBody>
      </p:sp>
      <p:sp>
        <p:nvSpPr>
          <p:cNvPr id="55" name="Text 52"/>
          <p:cNvSpPr txBox="1"/>
          <p:nvPr/>
        </p:nvSpPr>
        <p:spPr>
          <a:xfrm>
            <a:off x="8352688" y="564184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（refresh-cw）</a:t>
            </a:r>
            <a:endParaRPr lang="en-US" sz="1100" dirty="0"/>
          </a:p>
        </p:txBody>
      </p:sp>
      <p:pic>
        <p:nvPicPr>
          <p:cNvPr id="56" name="Image 0" descr="database">    </p:cNvPr>
          <p:cNvPicPr>
            <a:picLocks noChangeAspect="1"/>
          </p:cNvPicPr>
          <p:nvPr/>
        </p:nvPicPr>
        <p:blipFill>
          <a:blip r:embed="rId1"/>
          <a:stretch>
            <a:fillRect/>
          </a:stretch>
        </p:blipFill>
        <p:spPr>
          <a:xfrm>
            <a:off x="246568" y="2331720"/>
            <a:ext cx="457200" cy="457200"/>
          </a:xfrm>
          <a:prstGeom prst="rect">
            <a:avLst/>
          </a:prstGeom>
        </p:spPr>
      </p:pic>
      <p:pic>
        <p:nvPicPr>
          <p:cNvPr id="57" name="Image 1" descr="cloud">    </p:cNvPr>
          <p:cNvPicPr>
            <a:picLocks noChangeAspect="1"/>
          </p:cNvPicPr>
          <p:nvPr/>
        </p:nvPicPr>
        <p:blipFill>
          <a:blip r:embed="rId2"/>
          <a:stretch>
            <a:fillRect/>
          </a:stretch>
        </p:blipFill>
        <p:spPr>
          <a:xfrm>
            <a:off x="2147368" y="2331720"/>
            <a:ext cx="457200" cy="457200"/>
          </a:xfrm>
          <a:prstGeom prst="rect">
            <a:avLst/>
          </a:prstGeom>
        </p:spPr>
      </p:pic>
      <p:pic>
        <p:nvPicPr>
          <p:cNvPr id="58" name="Image 2" descr="smartphone">    </p:cNvPr>
          <p:cNvPicPr>
            <a:picLocks noChangeAspect="1"/>
          </p:cNvPicPr>
          <p:nvPr/>
        </p:nvPicPr>
        <p:blipFill>
          <a:blip r:embed="rId3"/>
          <a:stretch>
            <a:fillRect/>
          </a:stretch>
        </p:blipFill>
        <p:spPr>
          <a:xfrm>
            <a:off x="4048168" y="2331720"/>
            <a:ext cx="457200" cy="457200"/>
          </a:xfrm>
          <a:prstGeom prst="rect">
            <a:avLst/>
          </a:prstGeom>
        </p:spPr>
      </p:pic>
      <p:pic>
        <p:nvPicPr>
          <p:cNvPr id="59" name="Image 3" descr="laptop">    </p:cNvPr>
          <p:cNvPicPr>
            <a:picLocks noChangeAspect="1"/>
          </p:cNvPicPr>
          <p:nvPr/>
        </p:nvPicPr>
        <p:blipFill>
          <a:blip r:embed="rId4"/>
          <a:stretch>
            <a:fillRect/>
          </a:stretch>
        </p:blipFill>
        <p:spPr>
          <a:xfrm>
            <a:off x="5948968" y="2331720"/>
            <a:ext cx="457200" cy="457200"/>
          </a:xfrm>
          <a:prstGeom prst="rect">
            <a:avLst/>
          </a:prstGeom>
        </p:spPr>
      </p:pic>
      <p:pic>
        <p:nvPicPr>
          <p:cNvPr id="60" name="Image 4" descr="bot">    </p:cNvPr>
          <p:cNvPicPr>
            <a:picLocks noChangeAspect="1"/>
          </p:cNvPicPr>
          <p:nvPr/>
        </p:nvPicPr>
        <p:blipFill>
          <a:blip r:embed="rId5"/>
          <a:stretch>
            <a:fillRect/>
          </a:stretch>
        </p:blipFill>
        <p:spPr>
          <a:xfrm>
            <a:off x="7849768" y="2331720"/>
            <a:ext cx="457200" cy="457200"/>
          </a:xfrm>
          <a:prstGeom prst="rect">
            <a:avLst/>
          </a:prstGeom>
        </p:spPr>
      </p:pic>
      <p:pic>
        <p:nvPicPr>
          <p:cNvPr id="61" name="Image 5" descr="network">    </p:cNvPr>
          <p:cNvPicPr>
            <a:picLocks noChangeAspect="1"/>
          </p:cNvPicPr>
          <p:nvPr/>
        </p:nvPicPr>
        <p:blipFill>
          <a:blip r:embed="rId6"/>
          <a:stretch>
            <a:fillRect/>
          </a:stretch>
        </p:blipFill>
        <p:spPr>
          <a:xfrm>
            <a:off x="246568" y="3200400"/>
            <a:ext cx="457200" cy="457200"/>
          </a:xfrm>
          <a:prstGeom prst="rect">
            <a:avLst/>
          </a:prstGeom>
        </p:spPr>
      </p:pic>
      <p:pic>
        <p:nvPicPr>
          <p:cNvPr id="62" name="Image 6" descr="file-text">    </p:cNvPr>
          <p:cNvPicPr>
            <a:picLocks noChangeAspect="1"/>
          </p:cNvPicPr>
          <p:nvPr/>
        </p:nvPicPr>
        <p:blipFill>
          <a:blip r:embed="rId7"/>
          <a:stretch>
            <a:fillRect/>
          </a:stretch>
        </p:blipFill>
        <p:spPr>
          <a:xfrm>
            <a:off x="2147368" y="3200400"/>
            <a:ext cx="457200" cy="457200"/>
          </a:xfrm>
          <a:prstGeom prst="rect">
            <a:avLst/>
          </a:prstGeom>
        </p:spPr>
      </p:pic>
      <p:pic>
        <p:nvPicPr>
          <p:cNvPr id="63" name="Image 7" descr="search">    </p:cNvPr>
          <p:cNvPicPr>
            <a:picLocks noChangeAspect="1"/>
          </p:cNvPicPr>
          <p:nvPr/>
        </p:nvPicPr>
        <p:blipFill>
          <a:blip r:embed="rId8"/>
          <a:stretch>
            <a:fillRect/>
          </a:stretch>
        </p:blipFill>
        <p:spPr>
          <a:xfrm>
            <a:off x="4048168" y="3200400"/>
            <a:ext cx="457200" cy="457200"/>
          </a:xfrm>
          <a:prstGeom prst="rect">
            <a:avLst/>
          </a:prstGeom>
        </p:spPr>
      </p:pic>
      <p:pic>
        <p:nvPicPr>
          <p:cNvPr id="64" name="Image 8" descr="lock">    </p:cNvPr>
          <p:cNvPicPr>
            <a:picLocks noChangeAspect="1"/>
          </p:cNvPicPr>
          <p:nvPr/>
        </p:nvPicPr>
        <p:blipFill>
          <a:blip r:embed="rId9"/>
          <a:stretch>
            <a:fillRect/>
          </a:stretch>
        </p:blipFill>
        <p:spPr>
          <a:xfrm>
            <a:off x="5948968" y="3200400"/>
            <a:ext cx="457200" cy="457200"/>
          </a:xfrm>
          <a:prstGeom prst="rect">
            <a:avLst/>
          </a:prstGeom>
        </p:spPr>
      </p:pic>
      <p:pic>
        <p:nvPicPr>
          <p:cNvPr id="65" name="Image 9" descr="mail">    </p:cNvPr>
          <p:cNvPicPr>
            <a:picLocks noChangeAspect="1"/>
          </p:cNvPicPr>
          <p:nvPr/>
        </p:nvPicPr>
        <p:blipFill>
          <a:blip r:embed="rId10"/>
          <a:stretch>
            <a:fillRect/>
          </a:stretch>
        </p:blipFill>
        <p:spPr>
          <a:xfrm>
            <a:off x="7849768" y="3200400"/>
            <a:ext cx="457200" cy="457200"/>
          </a:xfrm>
          <a:prstGeom prst="rect">
            <a:avLst/>
          </a:prstGeom>
        </p:spPr>
      </p:pic>
      <p:pic>
        <p:nvPicPr>
          <p:cNvPr id="66" name="Image 10" descr="handshake">    </p:cNvPr>
          <p:cNvPicPr>
            <a:picLocks noChangeAspect="1"/>
          </p:cNvPicPr>
          <p:nvPr/>
        </p:nvPicPr>
        <p:blipFill>
          <a:blip r:embed="rId11"/>
          <a:stretch>
            <a:fillRect/>
          </a:stretch>
        </p:blipFill>
        <p:spPr>
          <a:xfrm>
            <a:off x="246568" y="4526280"/>
            <a:ext cx="457200" cy="457200"/>
          </a:xfrm>
          <a:prstGeom prst="rect">
            <a:avLst/>
          </a:prstGeom>
        </p:spPr>
      </p:pic>
      <p:pic>
        <p:nvPicPr>
          <p:cNvPr id="67" name="Image 11" descr="messages-square">    </p:cNvPr>
          <p:cNvPicPr>
            <a:picLocks noChangeAspect="1"/>
          </p:cNvPicPr>
          <p:nvPr/>
        </p:nvPicPr>
        <p:blipFill>
          <a:blip r:embed="rId12"/>
          <a:stretch>
            <a:fillRect/>
          </a:stretch>
        </p:blipFill>
        <p:spPr>
          <a:xfrm>
            <a:off x="2147368" y="4526280"/>
            <a:ext cx="457200" cy="457200"/>
          </a:xfrm>
          <a:prstGeom prst="rect">
            <a:avLst/>
          </a:prstGeom>
        </p:spPr>
      </p:pic>
      <p:pic>
        <p:nvPicPr>
          <p:cNvPr id="68" name="Image 12" descr="target">    </p:cNvPr>
          <p:cNvPicPr>
            <a:picLocks noChangeAspect="1"/>
          </p:cNvPicPr>
          <p:nvPr/>
        </p:nvPicPr>
        <p:blipFill>
          <a:blip r:embed="rId13"/>
          <a:stretch>
            <a:fillRect/>
          </a:stretch>
        </p:blipFill>
        <p:spPr>
          <a:xfrm>
            <a:off x="4048168" y="4526280"/>
            <a:ext cx="457200" cy="457200"/>
          </a:xfrm>
          <a:prstGeom prst="rect">
            <a:avLst/>
          </a:prstGeom>
        </p:spPr>
      </p:pic>
      <p:pic>
        <p:nvPicPr>
          <p:cNvPr id="69" name="Image 13" descr="lightbulb">    </p:cNvPr>
          <p:cNvPicPr>
            <a:picLocks noChangeAspect="1"/>
          </p:cNvPicPr>
          <p:nvPr/>
        </p:nvPicPr>
        <p:blipFill>
          <a:blip r:embed="rId14"/>
          <a:stretch>
            <a:fillRect/>
          </a:stretch>
        </p:blipFill>
        <p:spPr>
          <a:xfrm>
            <a:off x="5948968" y="4526280"/>
            <a:ext cx="457200" cy="457200"/>
          </a:xfrm>
          <a:prstGeom prst="rect">
            <a:avLst/>
          </a:prstGeom>
        </p:spPr>
      </p:pic>
      <p:pic>
        <p:nvPicPr>
          <p:cNvPr id="70" name="Image 14" descr="settings">    </p:cNvPr>
          <p:cNvPicPr>
            <a:picLocks noChangeAspect="1"/>
          </p:cNvPicPr>
          <p:nvPr/>
        </p:nvPicPr>
        <p:blipFill>
          <a:blip r:embed="rId15"/>
          <a:stretch>
            <a:fillRect/>
          </a:stretch>
        </p:blipFill>
        <p:spPr>
          <a:xfrm>
            <a:off x="7849768" y="4526280"/>
            <a:ext cx="457200" cy="457200"/>
          </a:xfrm>
          <a:prstGeom prst="rect">
            <a:avLst/>
          </a:prstGeom>
        </p:spPr>
      </p:pic>
      <p:pic>
        <p:nvPicPr>
          <p:cNvPr id="71" name="Image 15" descr="clock">    </p:cNvPr>
          <p:cNvPicPr>
            <a:picLocks noChangeAspect="1"/>
          </p:cNvPicPr>
          <p:nvPr/>
        </p:nvPicPr>
        <p:blipFill>
          <a:blip r:embed="rId16"/>
          <a:stretch>
            <a:fillRect/>
          </a:stretch>
        </p:blipFill>
        <p:spPr>
          <a:xfrm>
            <a:off x="246568" y="5394960"/>
            <a:ext cx="457200" cy="457200"/>
          </a:xfrm>
          <a:prstGeom prst="rect">
            <a:avLst/>
          </a:prstGeom>
        </p:spPr>
      </p:pic>
      <p:pic>
        <p:nvPicPr>
          <p:cNvPr id="72" name="Image 16" descr="calendar">    </p:cNvPr>
          <p:cNvPicPr>
            <a:picLocks noChangeAspect="1"/>
          </p:cNvPicPr>
          <p:nvPr/>
        </p:nvPicPr>
        <p:blipFill>
          <a:blip r:embed="rId17"/>
          <a:stretch>
            <a:fillRect/>
          </a:stretch>
        </p:blipFill>
        <p:spPr>
          <a:xfrm>
            <a:off x="2147368" y="5394960"/>
            <a:ext cx="457200" cy="457200"/>
          </a:xfrm>
          <a:prstGeom prst="rect">
            <a:avLst/>
          </a:prstGeom>
        </p:spPr>
      </p:pic>
      <p:pic>
        <p:nvPicPr>
          <p:cNvPr id="73" name="Image 17" descr="triangle-alert">    </p:cNvPr>
          <p:cNvPicPr>
            <a:picLocks noChangeAspect="1"/>
          </p:cNvPicPr>
          <p:nvPr/>
        </p:nvPicPr>
        <p:blipFill>
          <a:blip r:embed="rId18"/>
          <a:stretch>
            <a:fillRect/>
          </a:stretch>
        </p:blipFill>
        <p:spPr>
          <a:xfrm>
            <a:off x="4048168" y="5394960"/>
            <a:ext cx="457200" cy="457200"/>
          </a:xfrm>
          <a:prstGeom prst="rect">
            <a:avLst/>
          </a:prstGeom>
        </p:spPr>
      </p:pic>
      <p:pic>
        <p:nvPicPr>
          <p:cNvPr id="74" name="Image 18" descr="circle-check">    </p:cNvPr>
          <p:cNvPicPr>
            <a:picLocks noChangeAspect="1"/>
          </p:cNvPicPr>
          <p:nvPr/>
        </p:nvPicPr>
        <p:blipFill>
          <a:blip r:embed="rId19"/>
          <a:stretch>
            <a:fillRect/>
          </a:stretch>
        </p:blipFill>
        <p:spPr>
          <a:xfrm>
            <a:off x="5948968" y="5394960"/>
            <a:ext cx="457200" cy="457200"/>
          </a:xfrm>
          <a:prstGeom prst="rect">
            <a:avLst/>
          </a:prstGeom>
        </p:spPr>
      </p:pic>
      <p:pic>
        <p:nvPicPr>
          <p:cNvPr id="75" name="Image 19" descr="refresh-cw">    </p:cNvPr>
          <p:cNvPicPr>
            <a:picLocks noChangeAspect="1"/>
          </p:cNvPicPr>
          <p:nvPr/>
        </p:nvPicPr>
        <p:blipFill>
          <a:blip r:embed="rId20"/>
          <a:stretch>
            <a:fillRect/>
          </a:stretch>
        </p:blipFill>
        <p:spPr>
          <a:xfrm>
            <a:off x="7849768" y="5394960"/>
            <a:ext cx="457200" cy="4572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環境・健康のアイコンは政策や取組の分野を示すときに使う。色はグレーを基本とし、変化する主体や注目する分野の1つだけを紺にする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アイコン集（環境・健康）</a:t>
            </a:r>
            <a:pPr indent="0" marL="0">
              <a:buNone/>
            </a:pPr>
            <a:r>
              <a:rPr lang="en-US" sz="1100" dirty="0">
                <a:solidFill>
                  <a:srgbClr val="3F3F3F"/>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89</a:t>
            </a:r>
            <a:endParaRPr lang="en-US" sz="900" dirty="0"/>
          </a:p>
        </p:txBody>
      </p:sp>
      <p:sp>
        <p:nvSpPr>
          <p:cNvPr id="12" name="Text 9"/>
          <p:cNvSpPr txBox="1"/>
          <p:nvPr/>
        </p:nvSpPr>
        <p:spPr>
          <a:xfrm>
            <a:off x="200848" y="1874520"/>
            <a:ext cx="27432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環境・健康</a:t>
            </a:r>
            <a:endParaRPr lang="en-US" sz="1400" dirty="0"/>
          </a:p>
        </p:txBody>
      </p:sp>
      <p:sp>
        <p:nvSpPr>
          <p:cNvPr id="13" name="Shape 10"/>
          <p:cNvSpPr/>
          <p:nvPr/>
        </p:nvSpPr>
        <p:spPr>
          <a:xfrm>
            <a:off x="200848" y="2185416"/>
            <a:ext cx="9504000" cy="0"/>
          </a:xfrm>
          <a:prstGeom prst="line">
            <a:avLst/>
          </a:prstGeom>
          <a:noFill/>
          <a:ln w="6350">
            <a:solidFill>
              <a:srgbClr val="CCCCCC"/>
            </a:solidFill>
            <a:prstDash val="solid"/>
          </a:ln>
        </p:spPr>
      </p:sp>
      <p:sp>
        <p:nvSpPr>
          <p:cNvPr id="14" name="Text 11"/>
          <p:cNvSpPr txBox="1"/>
          <p:nvPr/>
        </p:nvSpPr>
        <p:spPr>
          <a:xfrm>
            <a:off x="795208" y="2304288"/>
            <a:ext cx="12607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環境</a:t>
            </a:r>
            <a:endParaRPr lang="en-US" sz="1400" dirty="0"/>
          </a:p>
        </p:txBody>
      </p:sp>
      <p:sp>
        <p:nvSpPr>
          <p:cNvPr id="15" name="Text 12"/>
          <p:cNvSpPr txBox="1"/>
          <p:nvPr/>
        </p:nvSpPr>
        <p:spPr>
          <a:xfrm>
            <a:off x="7494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（leaf）</a:t>
            </a:r>
            <a:endParaRPr lang="en-US" sz="1100" dirty="0"/>
          </a:p>
        </p:txBody>
      </p:sp>
      <p:sp>
        <p:nvSpPr>
          <p:cNvPr id="16" name="Text 13"/>
          <p:cNvSpPr txBox="1"/>
          <p:nvPr/>
        </p:nvSpPr>
        <p:spPr>
          <a:xfrm>
            <a:off x="26960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資源循環</a:t>
            </a:r>
            <a:endParaRPr lang="en-US" sz="1400" dirty="0"/>
          </a:p>
        </p:txBody>
      </p:sp>
      <p:sp>
        <p:nvSpPr>
          <p:cNvPr id="17" name="Text 14"/>
          <p:cNvSpPr txBox="1"/>
          <p:nvPr/>
        </p:nvSpPr>
        <p:spPr>
          <a:xfrm>
            <a:off x="26502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（recycle）</a:t>
            </a:r>
            <a:endParaRPr lang="en-US" sz="1100" dirty="0"/>
          </a:p>
        </p:txBody>
      </p:sp>
      <p:sp>
        <p:nvSpPr>
          <p:cNvPr id="18" name="Text 15"/>
          <p:cNvSpPr txBox="1"/>
          <p:nvPr/>
        </p:nvSpPr>
        <p:spPr>
          <a:xfrm>
            <a:off x="45968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電力</a:t>
            </a:r>
            <a:endParaRPr lang="en-US" sz="1400" dirty="0"/>
          </a:p>
        </p:txBody>
      </p:sp>
      <p:sp>
        <p:nvSpPr>
          <p:cNvPr id="19" name="Text 16"/>
          <p:cNvSpPr txBox="1"/>
          <p:nvPr/>
        </p:nvSpPr>
        <p:spPr>
          <a:xfrm>
            <a:off x="45510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（zap）</a:t>
            </a:r>
            <a:endParaRPr lang="en-US" sz="1100" dirty="0"/>
          </a:p>
        </p:txBody>
      </p:sp>
      <p:sp>
        <p:nvSpPr>
          <p:cNvPr id="20" name="Text 17"/>
          <p:cNvSpPr txBox="1"/>
          <p:nvPr/>
        </p:nvSpPr>
        <p:spPr>
          <a:xfrm>
            <a:off x="64976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太陽光</a:t>
            </a:r>
            <a:endParaRPr lang="en-US" sz="1400" dirty="0"/>
          </a:p>
        </p:txBody>
      </p:sp>
      <p:sp>
        <p:nvSpPr>
          <p:cNvPr id="21" name="Text 18"/>
          <p:cNvSpPr txBox="1"/>
          <p:nvPr/>
        </p:nvSpPr>
        <p:spPr>
          <a:xfrm>
            <a:off x="64518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（sun）</a:t>
            </a:r>
            <a:endParaRPr lang="en-US" sz="1100" dirty="0"/>
          </a:p>
        </p:txBody>
      </p:sp>
      <p:sp>
        <p:nvSpPr>
          <p:cNvPr id="22" name="Text 19"/>
          <p:cNvSpPr txBox="1"/>
          <p:nvPr/>
        </p:nvSpPr>
        <p:spPr>
          <a:xfrm>
            <a:off x="8398408" y="230428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風力</a:t>
            </a:r>
            <a:endParaRPr lang="en-US" sz="1400" dirty="0"/>
          </a:p>
        </p:txBody>
      </p:sp>
      <p:sp>
        <p:nvSpPr>
          <p:cNvPr id="23" name="Text 20"/>
          <p:cNvSpPr txBox="1"/>
          <p:nvPr/>
        </p:nvSpPr>
        <p:spPr>
          <a:xfrm>
            <a:off x="8352688" y="257860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（wind）</a:t>
            </a:r>
            <a:endParaRPr lang="en-US" sz="1100" dirty="0"/>
          </a:p>
        </p:txBody>
      </p:sp>
      <p:sp>
        <p:nvSpPr>
          <p:cNvPr id="24" name="Text 21"/>
          <p:cNvSpPr txBox="1"/>
          <p:nvPr/>
        </p:nvSpPr>
        <p:spPr>
          <a:xfrm>
            <a:off x="7952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水</a:t>
            </a:r>
            <a:endParaRPr lang="en-US" sz="1400" dirty="0"/>
          </a:p>
        </p:txBody>
      </p:sp>
      <p:sp>
        <p:nvSpPr>
          <p:cNvPr id="25" name="Text 22"/>
          <p:cNvSpPr txBox="1"/>
          <p:nvPr/>
        </p:nvSpPr>
        <p:spPr>
          <a:xfrm>
            <a:off x="7494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（droplet）</a:t>
            </a:r>
            <a:endParaRPr lang="en-US" sz="1100" dirty="0"/>
          </a:p>
        </p:txBody>
      </p:sp>
      <p:sp>
        <p:nvSpPr>
          <p:cNvPr id="26" name="Text 23"/>
          <p:cNvSpPr txBox="1"/>
          <p:nvPr/>
        </p:nvSpPr>
        <p:spPr>
          <a:xfrm>
            <a:off x="26960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蓄電</a:t>
            </a:r>
            <a:endParaRPr lang="en-US" sz="1400" dirty="0"/>
          </a:p>
        </p:txBody>
      </p:sp>
      <p:sp>
        <p:nvSpPr>
          <p:cNvPr id="27" name="Text 24"/>
          <p:cNvSpPr txBox="1"/>
          <p:nvPr/>
        </p:nvSpPr>
        <p:spPr>
          <a:xfrm>
            <a:off x="26502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（battery-charging）</a:t>
            </a:r>
            <a:endParaRPr lang="en-US" sz="1100" dirty="0"/>
          </a:p>
        </p:txBody>
      </p:sp>
      <p:sp>
        <p:nvSpPr>
          <p:cNvPr id="28" name="Text 25"/>
          <p:cNvSpPr txBox="1"/>
          <p:nvPr/>
        </p:nvSpPr>
        <p:spPr>
          <a:xfrm>
            <a:off x="45968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育成</a:t>
            </a:r>
            <a:endParaRPr lang="en-US" sz="1400" dirty="0"/>
          </a:p>
        </p:txBody>
      </p:sp>
      <p:sp>
        <p:nvSpPr>
          <p:cNvPr id="29" name="Text 26"/>
          <p:cNvSpPr txBox="1"/>
          <p:nvPr/>
        </p:nvSpPr>
        <p:spPr>
          <a:xfrm>
            <a:off x="45510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（sprout）</a:t>
            </a:r>
            <a:endParaRPr lang="en-US" sz="1100" dirty="0"/>
          </a:p>
        </p:txBody>
      </p:sp>
      <p:sp>
        <p:nvSpPr>
          <p:cNvPr id="30" name="Text 27"/>
          <p:cNvSpPr txBox="1"/>
          <p:nvPr/>
        </p:nvSpPr>
        <p:spPr>
          <a:xfrm>
            <a:off x="64976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健康</a:t>
            </a:r>
            <a:endParaRPr lang="en-US" sz="1400" dirty="0"/>
          </a:p>
        </p:txBody>
      </p:sp>
      <p:sp>
        <p:nvSpPr>
          <p:cNvPr id="31" name="Text 28"/>
          <p:cNvSpPr txBox="1"/>
          <p:nvPr/>
        </p:nvSpPr>
        <p:spPr>
          <a:xfrm>
            <a:off x="64518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（heart-pulse）</a:t>
            </a:r>
            <a:endParaRPr lang="en-US" sz="1100" dirty="0"/>
          </a:p>
        </p:txBody>
      </p:sp>
      <p:sp>
        <p:nvSpPr>
          <p:cNvPr id="32" name="Text 29"/>
          <p:cNvSpPr txBox="1"/>
          <p:nvPr/>
        </p:nvSpPr>
        <p:spPr>
          <a:xfrm>
            <a:off x="8398408" y="3172968"/>
            <a:ext cx="1260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医療</a:t>
            </a:r>
            <a:endParaRPr lang="en-US" sz="1400" dirty="0"/>
          </a:p>
        </p:txBody>
      </p:sp>
      <p:sp>
        <p:nvSpPr>
          <p:cNvPr id="33" name="Text 30"/>
          <p:cNvSpPr txBox="1"/>
          <p:nvPr/>
        </p:nvSpPr>
        <p:spPr>
          <a:xfrm>
            <a:off x="8352688" y="3447288"/>
            <a:ext cx="1352160" cy="237744"/>
          </a:xfrm>
          <a:prstGeom prst="rect">
            <a:avLst/>
          </a:prstGeom>
          <a:noFill/>
          <a:ln/>
        </p:spPr>
        <p:txBody>
          <a:bodyPr wrap="square" lIns="0" tIns="0" rIns="0" bIns="0" rtlCol="0" anchor="t"/>
          <a:lstStyle/>
          <a:p>
            <a:pPr indent="0" marL="0">
              <a:buNone/>
            </a:pPr>
            <a:r>
              <a:rPr lang="en-US" sz="1100" dirty="0">
                <a:solidFill>
                  <a:srgbClr val="3F3F3F"/>
                </a:solidFill>
                <a:latin typeface="Arial" pitchFamily="34" charset="0"/>
                <a:ea typeface="Arial" pitchFamily="34" charset="-122"/>
                <a:cs typeface="Arial" pitchFamily="34" charset="-120"/>
              </a:rPr>
              <a:t>（stethoscope）</a:t>
            </a:r>
            <a:endParaRPr lang="en-US" sz="1100" dirty="0"/>
          </a:p>
        </p:txBody>
      </p:sp>
      <p:sp>
        <p:nvSpPr>
          <p:cNvPr id="34" name="Text 31"/>
          <p:cNvSpPr txBox="1"/>
          <p:nvPr/>
        </p:nvSpPr>
        <p:spPr>
          <a:xfrm>
            <a:off x="200848" y="4160520"/>
            <a:ext cx="365760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使い方の例（紺は1つだけ）</a:t>
            </a:r>
            <a:endParaRPr lang="en-US" sz="1400" dirty="0"/>
          </a:p>
        </p:txBody>
      </p:sp>
      <p:sp>
        <p:nvSpPr>
          <p:cNvPr id="35" name="Shape 32"/>
          <p:cNvSpPr/>
          <p:nvPr/>
        </p:nvSpPr>
        <p:spPr>
          <a:xfrm>
            <a:off x="200848" y="4471416"/>
            <a:ext cx="9504000" cy="0"/>
          </a:xfrm>
          <a:prstGeom prst="line">
            <a:avLst/>
          </a:prstGeom>
          <a:noFill/>
          <a:ln w="6350">
            <a:solidFill>
              <a:srgbClr val="CCCCCC"/>
            </a:solidFill>
            <a:prstDash val="solid"/>
          </a:ln>
        </p:spPr>
      </p:sp>
      <p:sp>
        <p:nvSpPr>
          <p:cNvPr id="36" name="Shape 33"/>
          <p:cNvSpPr/>
          <p:nvPr/>
        </p:nvSpPr>
        <p:spPr>
          <a:xfrm>
            <a:off x="749488" y="4663440"/>
            <a:ext cx="868680" cy="868680"/>
          </a:xfrm>
          <a:prstGeom prst="ellipse">
            <a:avLst/>
          </a:prstGeom>
          <a:solidFill>
            <a:srgbClr val="FFFFFF"/>
          </a:solidFill>
          <a:ln w="12700">
            <a:solidFill>
              <a:srgbClr val="CCCCCC"/>
            </a:solidFill>
            <a:prstDash val="solid"/>
          </a:ln>
        </p:spPr>
      </p:sp>
      <p:sp>
        <p:nvSpPr>
          <p:cNvPr id="37" name="Text 34"/>
          <p:cNvSpPr txBox="1"/>
          <p:nvPr/>
        </p:nvSpPr>
        <p:spPr>
          <a:xfrm>
            <a:off x="29228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町</a:t>
            </a:r>
            <a:endParaRPr lang="en-US" sz="1400" dirty="0"/>
          </a:p>
        </p:txBody>
      </p:sp>
      <p:sp>
        <p:nvSpPr>
          <p:cNvPr id="38" name="Shape 35"/>
          <p:cNvSpPr/>
          <p:nvPr/>
        </p:nvSpPr>
        <p:spPr>
          <a:xfrm>
            <a:off x="1755328" y="5093208"/>
            <a:ext cx="1965960" cy="0"/>
          </a:xfrm>
          <a:prstGeom prst="line">
            <a:avLst/>
          </a:prstGeom>
          <a:noFill/>
          <a:ln w="12700">
            <a:solidFill>
              <a:srgbClr val="7F7F7F"/>
            </a:solidFill>
            <a:prstDash val="solid"/>
            <a:tailEnd type="triangle"/>
          </a:ln>
        </p:spPr>
      </p:sp>
      <p:sp>
        <p:nvSpPr>
          <p:cNvPr id="39" name="Shape 36"/>
          <p:cNvSpPr/>
          <p:nvPr/>
        </p:nvSpPr>
        <p:spPr>
          <a:xfrm>
            <a:off x="3858448" y="4663440"/>
            <a:ext cx="868680" cy="868680"/>
          </a:xfrm>
          <a:prstGeom prst="ellipse">
            <a:avLst/>
          </a:prstGeom>
          <a:solidFill>
            <a:srgbClr val="FFFFFF"/>
          </a:solidFill>
          <a:ln w="25400">
            <a:solidFill>
              <a:srgbClr val="000F78"/>
            </a:solidFill>
            <a:prstDash val="solid"/>
          </a:ln>
        </p:spPr>
      </p:sp>
      <p:sp>
        <p:nvSpPr>
          <p:cNvPr id="40" name="Text 37"/>
          <p:cNvSpPr txBox="1"/>
          <p:nvPr/>
        </p:nvSpPr>
        <p:spPr>
          <a:xfrm>
            <a:off x="3401248" y="5577840"/>
            <a:ext cx="178308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鉄道会社</a:t>
            </a:r>
            <a:endParaRPr lang="en-US" sz="1400" dirty="0"/>
          </a:p>
        </p:txBody>
      </p:sp>
      <p:sp>
        <p:nvSpPr>
          <p:cNvPr id="41" name="Shape 38"/>
          <p:cNvSpPr/>
          <p:nvPr/>
        </p:nvSpPr>
        <p:spPr>
          <a:xfrm>
            <a:off x="4864288" y="5093208"/>
            <a:ext cx="1965960" cy="0"/>
          </a:xfrm>
          <a:prstGeom prst="line">
            <a:avLst/>
          </a:prstGeom>
          <a:noFill/>
          <a:ln w="22225">
            <a:solidFill>
              <a:srgbClr val="000F78"/>
            </a:solidFill>
            <a:prstDash val="solid"/>
            <a:tailEnd type="triangle"/>
          </a:ln>
        </p:spPr>
      </p:sp>
      <p:sp>
        <p:nvSpPr>
          <p:cNvPr id="42" name="Shape 39"/>
          <p:cNvSpPr/>
          <p:nvPr/>
        </p:nvSpPr>
        <p:spPr>
          <a:xfrm>
            <a:off x="6967408" y="4663440"/>
            <a:ext cx="868680" cy="868680"/>
          </a:xfrm>
          <a:prstGeom prst="ellipse">
            <a:avLst/>
          </a:prstGeom>
          <a:solidFill>
            <a:srgbClr val="FFFFFF"/>
          </a:solidFill>
          <a:ln w="12700">
            <a:solidFill>
              <a:srgbClr val="CCCCCC"/>
            </a:solidFill>
            <a:prstDash val="solid"/>
          </a:ln>
        </p:spPr>
      </p:sp>
      <p:sp>
        <p:nvSpPr>
          <p:cNvPr id="43" name="Text 40"/>
          <p:cNvSpPr txBox="1"/>
          <p:nvPr/>
        </p:nvSpPr>
        <p:spPr>
          <a:xfrm>
            <a:off x="6510208" y="5577840"/>
            <a:ext cx="17830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44" name="Text 41"/>
          <p:cNvSpPr txBox="1"/>
          <p:nvPr/>
        </p:nvSpPr>
        <p:spPr>
          <a:xfrm>
            <a:off x="1938208" y="4800600"/>
            <a:ext cx="146304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補助金</a:t>
            </a:r>
            <a:endParaRPr lang="en-US" sz="1400" dirty="0"/>
          </a:p>
        </p:txBody>
      </p:sp>
      <p:sp>
        <p:nvSpPr>
          <p:cNvPr id="45" name="Text 42"/>
          <p:cNvSpPr txBox="1"/>
          <p:nvPr/>
        </p:nvSpPr>
        <p:spPr>
          <a:xfrm>
            <a:off x="4955728" y="4800600"/>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運行サービス</a:t>
            </a:r>
            <a:endParaRPr lang="en-US" sz="1400" dirty="0"/>
          </a:p>
        </p:txBody>
      </p:sp>
      <p:pic>
        <p:nvPicPr>
          <p:cNvPr id="46" name="Image 0" descr="leaf">    </p:cNvPr>
          <p:cNvPicPr>
            <a:picLocks noChangeAspect="1"/>
          </p:cNvPicPr>
          <p:nvPr/>
        </p:nvPicPr>
        <p:blipFill>
          <a:blip r:embed="rId1"/>
          <a:stretch>
            <a:fillRect/>
          </a:stretch>
        </p:blipFill>
        <p:spPr>
          <a:xfrm>
            <a:off x="246568" y="2331720"/>
            <a:ext cx="457200" cy="457200"/>
          </a:xfrm>
          <a:prstGeom prst="rect">
            <a:avLst/>
          </a:prstGeom>
        </p:spPr>
      </p:pic>
      <p:pic>
        <p:nvPicPr>
          <p:cNvPr id="47" name="Image 1" descr="recycle">    </p:cNvPr>
          <p:cNvPicPr>
            <a:picLocks noChangeAspect="1"/>
          </p:cNvPicPr>
          <p:nvPr/>
        </p:nvPicPr>
        <p:blipFill>
          <a:blip r:embed="rId2"/>
          <a:stretch>
            <a:fillRect/>
          </a:stretch>
        </p:blipFill>
        <p:spPr>
          <a:xfrm>
            <a:off x="2147368" y="2331720"/>
            <a:ext cx="457200" cy="457200"/>
          </a:xfrm>
          <a:prstGeom prst="rect">
            <a:avLst/>
          </a:prstGeom>
        </p:spPr>
      </p:pic>
      <p:pic>
        <p:nvPicPr>
          <p:cNvPr id="48" name="Image 2" descr="zap">    </p:cNvPr>
          <p:cNvPicPr>
            <a:picLocks noChangeAspect="1"/>
          </p:cNvPicPr>
          <p:nvPr/>
        </p:nvPicPr>
        <p:blipFill>
          <a:blip r:embed="rId3"/>
          <a:stretch>
            <a:fillRect/>
          </a:stretch>
        </p:blipFill>
        <p:spPr>
          <a:xfrm>
            <a:off x="4048168" y="2331720"/>
            <a:ext cx="457200" cy="457200"/>
          </a:xfrm>
          <a:prstGeom prst="rect">
            <a:avLst/>
          </a:prstGeom>
        </p:spPr>
      </p:pic>
      <p:pic>
        <p:nvPicPr>
          <p:cNvPr id="49" name="Image 3" descr="sun">    </p:cNvPr>
          <p:cNvPicPr>
            <a:picLocks noChangeAspect="1"/>
          </p:cNvPicPr>
          <p:nvPr/>
        </p:nvPicPr>
        <p:blipFill>
          <a:blip r:embed="rId4"/>
          <a:stretch>
            <a:fillRect/>
          </a:stretch>
        </p:blipFill>
        <p:spPr>
          <a:xfrm>
            <a:off x="5948968" y="2331720"/>
            <a:ext cx="457200" cy="457200"/>
          </a:xfrm>
          <a:prstGeom prst="rect">
            <a:avLst/>
          </a:prstGeom>
        </p:spPr>
      </p:pic>
      <p:pic>
        <p:nvPicPr>
          <p:cNvPr id="50" name="Image 4" descr="wind">    </p:cNvPr>
          <p:cNvPicPr>
            <a:picLocks noChangeAspect="1"/>
          </p:cNvPicPr>
          <p:nvPr/>
        </p:nvPicPr>
        <p:blipFill>
          <a:blip r:embed="rId5"/>
          <a:stretch>
            <a:fillRect/>
          </a:stretch>
        </p:blipFill>
        <p:spPr>
          <a:xfrm>
            <a:off x="7849768" y="2331720"/>
            <a:ext cx="457200" cy="457200"/>
          </a:xfrm>
          <a:prstGeom prst="rect">
            <a:avLst/>
          </a:prstGeom>
        </p:spPr>
      </p:pic>
      <p:pic>
        <p:nvPicPr>
          <p:cNvPr id="51" name="Image 5" descr="droplet">    </p:cNvPr>
          <p:cNvPicPr>
            <a:picLocks noChangeAspect="1"/>
          </p:cNvPicPr>
          <p:nvPr/>
        </p:nvPicPr>
        <p:blipFill>
          <a:blip r:embed="rId6"/>
          <a:stretch>
            <a:fillRect/>
          </a:stretch>
        </p:blipFill>
        <p:spPr>
          <a:xfrm>
            <a:off x="246568" y="3200400"/>
            <a:ext cx="457200" cy="457200"/>
          </a:xfrm>
          <a:prstGeom prst="rect">
            <a:avLst/>
          </a:prstGeom>
        </p:spPr>
      </p:pic>
      <p:pic>
        <p:nvPicPr>
          <p:cNvPr id="52" name="Image 6" descr="battery-charging">    </p:cNvPr>
          <p:cNvPicPr>
            <a:picLocks noChangeAspect="1"/>
          </p:cNvPicPr>
          <p:nvPr/>
        </p:nvPicPr>
        <p:blipFill>
          <a:blip r:embed="rId7"/>
          <a:stretch>
            <a:fillRect/>
          </a:stretch>
        </p:blipFill>
        <p:spPr>
          <a:xfrm>
            <a:off x="2147368" y="3200400"/>
            <a:ext cx="457200" cy="457200"/>
          </a:xfrm>
          <a:prstGeom prst="rect">
            <a:avLst/>
          </a:prstGeom>
        </p:spPr>
      </p:pic>
      <p:pic>
        <p:nvPicPr>
          <p:cNvPr id="53" name="Image 7" descr="sprout">    </p:cNvPr>
          <p:cNvPicPr>
            <a:picLocks noChangeAspect="1"/>
          </p:cNvPicPr>
          <p:nvPr/>
        </p:nvPicPr>
        <p:blipFill>
          <a:blip r:embed="rId8"/>
          <a:stretch>
            <a:fillRect/>
          </a:stretch>
        </p:blipFill>
        <p:spPr>
          <a:xfrm>
            <a:off x="4048168" y="3200400"/>
            <a:ext cx="457200" cy="457200"/>
          </a:xfrm>
          <a:prstGeom prst="rect">
            <a:avLst/>
          </a:prstGeom>
        </p:spPr>
      </p:pic>
      <p:pic>
        <p:nvPicPr>
          <p:cNvPr id="54" name="Image 8" descr="heart-pulse">    </p:cNvPr>
          <p:cNvPicPr>
            <a:picLocks noChangeAspect="1"/>
          </p:cNvPicPr>
          <p:nvPr/>
        </p:nvPicPr>
        <p:blipFill>
          <a:blip r:embed="rId9"/>
          <a:stretch>
            <a:fillRect/>
          </a:stretch>
        </p:blipFill>
        <p:spPr>
          <a:xfrm>
            <a:off x="5948968" y="3200400"/>
            <a:ext cx="457200" cy="457200"/>
          </a:xfrm>
          <a:prstGeom prst="rect">
            <a:avLst/>
          </a:prstGeom>
        </p:spPr>
      </p:pic>
      <p:pic>
        <p:nvPicPr>
          <p:cNvPr id="55" name="Image 9" descr="stethoscope">    </p:cNvPr>
          <p:cNvPicPr>
            <a:picLocks noChangeAspect="1"/>
          </p:cNvPicPr>
          <p:nvPr/>
        </p:nvPicPr>
        <p:blipFill>
          <a:blip r:embed="rId10"/>
          <a:stretch>
            <a:fillRect/>
          </a:stretch>
        </p:blipFill>
        <p:spPr>
          <a:xfrm>
            <a:off x="7849768" y="3200400"/>
            <a:ext cx="457200" cy="457200"/>
          </a:xfrm>
          <a:prstGeom prst="rect">
            <a:avLst/>
          </a:prstGeom>
        </p:spPr>
      </p:pic>
      <p:pic>
        <p:nvPicPr>
          <p:cNvPr id="56" name="Image 10" descr="landmark">    </p:cNvPr>
          <p:cNvPicPr>
            <a:picLocks noChangeAspect="1"/>
          </p:cNvPicPr>
          <p:nvPr/>
        </p:nvPicPr>
        <p:blipFill>
          <a:blip r:embed="rId11"/>
          <a:stretch>
            <a:fillRect/>
          </a:stretch>
        </p:blipFill>
        <p:spPr>
          <a:xfrm>
            <a:off x="932368" y="4846320"/>
            <a:ext cx="502920" cy="502920"/>
          </a:xfrm>
          <a:prstGeom prst="rect">
            <a:avLst/>
          </a:prstGeom>
        </p:spPr>
      </p:pic>
      <p:pic>
        <p:nvPicPr>
          <p:cNvPr id="57" name="Image 11" descr="train-front">    </p:cNvPr>
          <p:cNvPicPr>
            <a:picLocks noChangeAspect="1"/>
          </p:cNvPicPr>
          <p:nvPr/>
        </p:nvPicPr>
        <p:blipFill>
          <a:blip r:embed="rId12"/>
          <a:stretch>
            <a:fillRect/>
          </a:stretch>
        </p:blipFill>
        <p:spPr>
          <a:xfrm>
            <a:off x="4041328" y="4846320"/>
            <a:ext cx="502920" cy="502920"/>
          </a:xfrm>
          <a:prstGeom prst="rect">
            <a:avLst/>
          </a:prstGeom>
        </p:spPr>
      </p:pic>
      <p:pic>
        <p:nvPicPr>
          <p:cNvPr id="58" name="Image 12" descr="users">    </p:cNvPr>
          <p:cNvPicPr>
            <a:picLocks noChangeAspect="1"/>
          </p:cNvPicPr>
          <p:nvPr/>
        </p:nvPicPr>
        <p:blipFill>
          <a:blip r:embed="rId13"/>
          <a:stretch>
            <a:fillRect/>
          </a:stretch>
        </p:blipFill>
        <p:spPr>
          <a:xfrm>
            <a:off x="7150288" y="4846320"/>
            <a:ext cx="502920" cy="50292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箱は淡い塗りと上線の2種類を基本にし、濃い塗りは1枚に1か所だけ使う。矢印は強調する1つだけを紺、他はグレーで描く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パーツ集（文字・箱・矢印）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注）色は rules/slide-rules.md B-3 の指定色。図形はこのスライドからコピーして使う</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90</a:t>
            </a:r>
            <a:endParaRPr lang="en-US" sz="900" dirty="0"/>
          </a:p>
        </p:txBody>
      </p:sp>
      <p:sp>
        <p:nvSpPr>
          <p:cNvPr id="12" name="Text 9"/>
          <p:cNvSpPr txBox="1"/>
          <p:nvPr/>
        </p:nvSpPr>
        <p:spPr>
          <a:xfrm>
            <a:off x="200848" y="198792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文字の階層</a:t>
            </a:r>
            <a:endParaRPr lang="en-US" sz="1400" dirty="0"/>
          </a:p>
        </p:txBody>
      </p:sp>
      <p:sp>
        <p:nvSpPr>
          <p:cNvPr id="13" name="Shape 10"/>
          <p:cNvSpPr/>
          <p:nvPr/>
        </p:nvSpPr>
        <p:spPr>
          <a:xfrm>
            <a:off x="200848" y="2335392"/>
            <a:ext cx="3840480" cy="0"/>
          </a:xfrm>
          <a:prstGeom prst="line">
            <a:avLst/>
          </a:prstGeom>
          <a:noFill/>
          <a:ln w="12700">
            <a:solidFill>
              <a:srgbClr val="7F7F7F"/>
            </a:solidFill>
            <a:prstDash val="solid"/>
          </a:ln>
        </p:spPr>
      </p:sp>
      <p:sp>
        <p:nvSpPr>
          <p:cNvPr id="14" name="Text 11"/>
          <p:cNvSpPr txBox="1"/>
          <p:nvPr/>
        </p:nvSpPr>
        <p:spPr>
          <a:xfrm>
            <a:off x="200848" y="2445120"/>
            <a:ext cx="3840480" cy="7772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見出し（14pt太字）</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第1階層（14pt）</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第2階層（14pt）</a:t>
            </a:r>
            <a:endParaRPr lang="en-US" sz="1400" dirty="0"/>
          </a:p>
        </p:txBody>
      </p:sp>
      <p:sp>
        <p:nvSpPr>
          <p:cNvPr id="15" name="Text 12"/>
          <p:cNvSpPr txBox="1"/>
          <p:nvPr/>
        </p:nvSpPr>
        <p:spPr>
          <a:xfrm>
            <a:off x="200848" y="3313800"/>
            <a:ext cx="3840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箱の4種類（左：紺、右：グレー）</a:t>
            </a:r>
            <a:endParaRPr lang="en-US" sz="1400" dirty="0"/>
          </a:p>
        </p:txBody>
      </p:sp>
      <p:sp>
        <p:nvSpPr>
          <p:cNvPr id="16" name="Shape 13"/>
          <p:cNvSpPr/>
          <p:nvPr/>
        </p:nvSpPr>
        <p:spPr>
          <a:xfrm>
            <a:off x="200848" y="3661272"/>
            <a:ext cx="3840480" cy="0"/>
          </a:xfrm>
          <a:prstGeom prst="line">
            <a:avLst/>
          </a:prstGeom>
          <a:noFill/>
          <a:ln w="12700">
            <a:solidFill>
              <a:srgbClr val="7F7F7F"/>
            </a:solidFill>
            <a:prstDash val="solid"/>
          </a:ln>
        </p:spPr>
      </p:sp>
      <p:sp>
        <p:nvSpPr>
          <p:cNvPr id="17" name="Text 14"/>
          <p:cNvSpPr txBox="1"/>
          <p:nvPr/>
        </p:nvSpPr>
        <p:spPr>
          <a:xfrm>
            <a:off x="200848" y="3798432"/>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濃い塗り</a:t>
            </a:r>
            <a:endParaRPr lang="en-US" sz="1400" dirty="0"/>
          </a:p>
        </p:txBody>
      </p:sp>
      <p:sp>
        <p:nvSpPr>
          <p:cNvPr id="18" name="Shape 15"/>
          <p:cNvSpPr/>
          <p:nvPr/>
        </p:nvSpPr>
        <p:spPr>
          <a:xfrm>
            <a:off x="1389568" y="3798432"/>
            <a:ext cx="1097280" cy="420624"/>
          </a:xfrm>
          <a:prstGeom prst="rect">
            <a:avLst/>
          </a:prstGeom>
          <a:solidFill>
            <a:srgbClr val="000F78"/>
          </a:solidFill>
          <a:ln/>
        </p:spPr>
      </p:sp>
      <p:sp>
        <p:nvSpPr>
          <p:cNvPr id="19" name="Text 16"/>
          <p:cNvSpPr txBox="1"/>
          <p:nvPr/>
        </p:nvSpPr>
        <p:spPr>
          <a:xfrm>
            <a:off x="148100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624008" y="3798432"/>
            <a:ext cx="1097280" cy="420624"/>
          </a:xfrm>
          <a:prstGeom prst="rect">
            <a:avLst/>
          </a:prstGeom>
          <a:solidFill>
            <a:srgbClr val="7F7F7F"/>
          </a:solidFill>
          <a:ln/>
        </p:spPr>
      </p:sp>
      <p:sp>
        <p:nvSpPr>
          <p:cNvPr id="21" name="Text 18"/>
          <p:cNvSpPr txBox="1"/>
          <p:nvPr/>
        </p:nvSpPr>
        <p:spPr>
          <a:xfrm>
            <a:off x="2715448" y="3798432"/>
            <a:ext cx="914400" cy="420624"/>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200848" y="4328784"/>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淡い塗り</a:t>
            </a:r>
            <a:endParaRPr lang="en-US" sz="1400" dirty="0"/>
          </a:p>
        </p:txBody>
      </p:sp>
      <p:sp>
        <p:nvSpPr>
          <p:cNvPr id="23" name="Shape 20"/>
          <p:cNvSpPr/>
          <p:nvPr/>
        </p:nvSpPr>
        <p:spPr>
          <a:xfrm>
            <a:off x="1389568" y="4328784"/>
            <a:ext cx="1097280" cy="420624"/>
          </a:xfrm>
          <a:prstGeom prst="rect">
            <a:avLst/>
          </a:prstGeom>
          <a:solidFill>
            <a:srgbClr val="C1DDF1"/>
          </a:solidFill>
          <a:ln/>
        </p:spPr>
      </p:sp>
      <p:sp>
        <p:nvSpPr>
          <p:cNvPr id="24" name="Text 21"/>
          <p:cNvSpPr txBox="1"/>
          <p:nvPr/>
        </p:nvSpPr>
        <p:spPr>
          <a:xfrm>
            <a:off x="148100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624008" y="4328784"/>
            <a:ext cx="1097280" cy="420624"/>
          </a:xfrm>
          <a:prstGeom prst="rect">
            <a:avLst/>
          </a:prstGeom>
          <a:solidFill>
            <a:srgbClr val="CCCCCC"/>
          </a:solidFill>
          <a:ln/>
        </p:spPr>
      </p:sp>
      <p:sp>
        <p:nvSpPr>
          <p:cNvPr id="26" name="Text 23"/>
          <p:cNvSpPr txBox="1"/>
          <p:nvPr/>
        </p:nvSpPr>
        <p:spPr>
          <a:xfrm>
            <a:off x="2715448" y="4328784"/>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200848" y="4859136"/>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上線だけ</a:t>
            </a:r>
            <a:endParaRPr lang="en-US" sz="1400" dirty="0"/>
          </a:p>
        </p:txBody>
      </p:sp>
      <p:sp>
        <p:nvSpPr>
          <p:cNvPr id="28" name="Shape 25"/>
          <p:cNvSpPr/>
          <p:nvPr/>
        </p:nvSpPr>
        <p:spPr>
          <a:xfrm>
            <a:off x="1389568" y="4859136"/>
            <a:ext cx="1097280" cy="0"/>
          </a:xfrm>
          <a:prstGeom prst="line">
            <a:avLst/>
          </a:prstGeom>
          <a:noFill/>
          <a:ln w="25400">
            <a:solidFill>
              <a:srgbClr val="000F78"/>
            </a:solidFill>
            <a:prstDash val="solid"/>
          </a:ln>
        </p:spPr>
      </p:sp>
      <p:sp>
        <p:nvSpPr>
          <p:cNvPr id="29" name="Text 26"/>
          <p:cNvSpPr txBox="1"/>
          <p:nvPr/>
        </p:nvSpPr>
        <p:spPr>
          <a:xfrm>
            <a:off x="148100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624008" y="4859136"/>
            <a:ext cx="1097280" cy="0"/>
          </a:xfrm>
          <a:prstGeom prst="line">
            <a:avLst/>
          </a:prstGeom>
          <a:noFill/>
          <a:ln w="25400">
            <a:solidFill>
              <a:srgbClr val="7F7F7F"/>
            </a:solidFill>
            <a:prstDash val="solid"/>
          </a:ln>
        </p:spPr>
      </p:sp>
      <p:sp>
        <p:nvSpPr>
          <p:cNvPr id="31" name="Text 28"/>
          <p:cNvSpPr txBox="1"/>
          <p:nvPr/>
        </p:nvSpPr>
        <p:spPr>
          <a:xfrm>
            <a:off x="2715448" y="4859136"/>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200848" y="5389488"/>
            <a:ext cx="1097280" cy="43891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枠線だけ</a:t>
            </a:r>
            <a:endParaRPr lang="en-US" sz="1400" dirty="0"/>
          </a:p>
        </p:txBody>
      </p:sp>
      <p:sp>
        <p:nvSpPr>
          <p:cNvPr id="33" name="Shape 30"/>
          <p:cNvSpPr/>
          <p:nvPr/>
        </p:nvSpPr>
        <p:spPr>
          <a:xfrm>
            <a:off x="1389568" y="5389488"/>
            <a:ext cx="1097280" cy="420624"/>
          </a:xfrm>
          <a:prstGeom prst="rect">
            <a:avLst/>
          </a:prstGeom>
          <a:ln w="12700">
            <a:solidFill>
              <a:srgbClr val="000F78"/>
            </a:solidFill>
            <a:prstDash val="solid"/>
          </a:ln>
        </p:spPr>
      </p:sp>
      <p:sp>
        <p:nvSpPr>
          <p:cNvPr id="34" name="Text 31"/>
          <p:cNvSpPr txBox="1"/>
          <p:nvPr/>
        </p:nvSpPr>
        <p:spPr>
          <a:xfrm>
            <a:off x="148100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624008" y="5389488"/>
            <a:ext cx="1097280" cy="420624"/>
          </a:xfrm>
          <a:prstGeom prst="rect">
            <a:avLst/>
          </a:prstGeom>
          <a:ln w="12700">
            <a:solidFill>
              <a:srgbClr val="7F7F7F"/>
            </a:solidFill>
            <a:prstDash val="solid"/>
          </a:ln>
        </p:spPr>
      </p:sp>
      <p:sp>
        <p:nvSpPr>
          <p:cNvPr id="36" name="Text 33"/>
          <p:cNvSpPr txBox="1"/>
          <p:nvPr/>
        </p:nvSpPr>
        <p:spPr>
          <a:xfrm>
            <a:off x="2715448" y="5389488"/>
            <a:ext cx="914400" cy="420624"/>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3904168" y="4328784"/>
            <a:ext cx="0" cy="950976"/>
          </a:xfrm>
          <a:prstGeom prst="line">
            <a:avLst/>
          </a:prstGeom>
          <a:noFill/>
          <a:ln w="19050">
            <a:solidFill>
              <a:srgbClr val="000F78"/>
            </a:solidFill>
            <a:prstDash val="solid"/>
          </a:ln>
        </p:spPr>
      </p:sp>
      <p:sp>
        <p:nvSpPr>
          <p:cNvPr id="38" name="Text 35"/>
          <p:cNvSpPr txBox="1"/>
          <p:nvPr/>
        </p:nvSpPr>
        <p:spPr>
          <a:xfrm>
            <a:off x="3949888" y="4273920"/>
            <a:ext cx="274320" cy="1463040"/>
          </a:xfrm>
          <a:prstGeom prst="rect">
            <a:avLst/>
          </a:prstGeom>
          <a:noFill/>
          <a:ln/>
        </p:spPr>
        <p:txBody>
          <a:bodyPr wrap="square" lIns="0" tIns="0" rIns="0" bIns="0" rtlCol="0" anchor="t" vert="eaVert"/>
          <a:lstStyle/>
          <a:p>
            <a:pPr indent="0" marL="0">
              <a:buNone/>
            </a:pPr>
            <a:r>
              <a:rPr lang="en-US" sz="1100" dirty="0">
                <a:solidFill>
                  <a:srgbClr val="000F78"/>
                </a:solidFill>
                <a:latin typeface="Yu Gothic UI" pitchFamily="34" charset="0"/>
                <a:ea typeface="Yu Gothic UI" pitchFamily="34" charset="-122"/>
                <a:cs typeface="Yu Gothic UI" pitchFamily="34" charset="-120"/>
              </a:rPr>
              <a:t>補足：基本はこの2つ</a:t>
            </a:r>
            <a:endParaRPr lang="en-US" sz="1100" dirty="0"/>
          </a:p>
        </p:txBody>
      </p:sp>
      <p:sp>
        <p:nvSpPr>
          <p:cNvPr id="39" name="Text 36"/>
          <p:cNvSpPr txBox="1"/>
          <p:nvPr/>
        </p:nvSpPr>
        <p:spPr>
          <a:xfrm>
            <a:off x="4681408" y="1987920"/>
            <a:ext cx="2971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矢印（右2列は下向き）</a:t>
            </a:r>
            <a:endParaRPr lang="en-US" sz="1400" dirty="0"/>
          </a:p>
        </p:txBody>
      </p:sp>
      <p:sp>
        <p:nvSpPr>
          <p:cNvPr id="40" name="Shape 37"/>
          <p:cNvSpPr/>
          <p:nvPr/>
        </p:nvSpPr>
        <p:spPr>
          <a:xfrm>
            <a:off x="4681408" y="2335392"/>
            <a:ext cx="2971800" cy="0"/>
          </a:xfrm>
          <a:prstGeom prst="line">
            <a:avLst/>
          </a:prstGeom>
          <a:noFill/>
          <a:ln w="12700">
            <a:solidFill>
              <a:srgbClr val="7F7F7F"/>
            </a:solidFill>
            <a:prstDash val="solid"/>
          </a:ln>
        </p:spPr>
      </p:sp>
      <p:sp>
        <p:nvSpPr>
          <p:cNvPr id="41" name="Shape 38"/>
          <p:cNvSpPr/>
          <p:nvPr/>
        </p:nvSpPr>
        <p:spPr>
          <a:xfrm>
            <a:off x="4800280" y="2524673"/>
            <a:ext cx="184672" cy="279806"/>
          </a:xfrm>
          <a:custGeom>
            <a:avLst/>
            <a:gdLst/>
            <a:ahLst/>
            <a:cxnLst/>
            <a:rect l="l" t="t" r="r" b="b"/>
            <a:pathLst>
              <a:path w="184672" h="279806">
                <a:moveTo>
                  <a:pt x="0" y="0"/>
                </a:moveTo>
                <a:lnTo>
                  <a:pt x="84949" y="0"/>
                </a:lnTo>
                <a:lnTo>
                  <a:pt x="184672" y="139903"/>
                </a:lnTo>
                <a:lnTo>
                  <a:pt x="84949" y="279806"/>
                </a:lnTo>
                <a:lnTo>
                  <a:pt x="0" y="279806"/>
                </a:lnTo>
                <a:lnTo>
                  <a:pt x="99723" y="139903"/>
                </a:lnTo>
                <a:close/>
              </a:path>
            </a:pathLst>
          </a:custGeom>
          <a:solidFill>
            <a:srgbClr val="7F7F7F"/>
          </a:solidFill>
          <a:ln/>
        </p:spPr>
      </p:sp>
      <p:sp>
        <p:nvSpPr>
          <p:cNvPr id="42" name="Shape 39"/>
          <p:cNvSpPr/>
          <p:nvPr/>
        </p:nvSpPr>
        <p:spPr>
          <a:xfrm>
            <a:off x="4922163" y="2509128"/>
            <a:ext cx="205191" cy="310896"/>
          </a:xfrm>
          <a:custGeom>
            <a:avLst/>
            <a:gdLst/>
            <a:ahLst/>
            <a:cxnLst/>
            <a:rect l="l" t="t" r="r" b="b"/>
            <a:pathLst>
              <a:path w="205191" h="310896">
                <a:moveTo>
                  <a:pt x="0" y="0"/>
                </a:moveTo>
                <a:lnTo>
                  <a:pt x="94388" y="0"/>
                </a:lnTo>
                <a:lnTo>
                  <a:pt x="205191" y="155448"/>
                </a:lnTo>
                <a:lnTo>
                  <a:pt x="94388" y="310896"/>
                </a:lnTo>
                <a:lnTo>
                  <a:pt x="0" y="310896"/>
                </a:lnTo>
                <a:lnTo>
                  <a:pt x="110803" y="155448"/>
                </a:lnTo>
                <a:close/>
              </a:path>
            </a:pathLst>
          </a:custGeom>
          <a:solidFill>
            <a:srgbClr val="000F78"/>
          </a:solidFill>
          <a:ln/>
        </p:spPr>
      </p:sp>
      <p:sp>
        <p:nvSpPr>
          <p:cNvPr id="43" name="Shape 40"/>
          <p:cNvSpPr/>
          <p:nvPr/>
        </p:nvSpPr>
        <p:spPr>
          <a:xfrm>
            <a:off x="5367208" y="2527782"/>
            <a:ext cx="136794" cy="273588"/>
          </a:xfrm>
          <a:custGeom>
            <a:avLst/>
            <a:gdLst/>
            <a:ahLst/>
            <a:cxnLst/>
            <a:rect l="l" t="t" r="r" b="b"/>
            <a:pathLst>
              <a:path w="136794" h="273588">
                <a:moveTo>
                  <a:pt x="0" y="0"/>
                </a:moveTo>
                <a:lnTo>
                  <a:pt x="136794" y="136794"/>
                </a:lnTo>
                <a:lnTo>
                  <a:pt x="0" y="273588"/>
                </a:lnTo>
                <a:close/>
              </a:path>
            </a:pathLst>
          </a:custGeom>
          <a:solidFill>
            <a:srgbClr val="7F7F7F"/>
          </a:solidFill>
          <a:ln/>
        </p:spPr>
      </p:sp>
      <p:sp>
        <p:nvSpPr>
          <p:cNvPr id="44" name="Shape 41"/>
          <p:cNvSpPr/>
          <p:nvPr/>
        </p:nvSpPr>
        <p:spPr>
          <a:xfrm>
            <a:off x="5469803" y="2537109"/>
            <a:ext cx="114721" cy="254935"/>
          </a:xfrm>
          <a:custGeom>
            <a:avLst/>
            <a:gdLst/>
            <a:ahLst/>
            <a:cxnLst/>
            <a:rect l="l" t="t" r="r" b="b"/>
            <a:pathLst>
              <a:path w="114721" h="254935">
                <a:moveTo>
                  <a:pt x="0" y="0"/>
                </a:moveTo>
                <a:lnTo>
                  <a:pt x="114721" y="127467"/>
                </a:lnTo>
                <a:lnTo>
                  <a:pt x="0" y="254935"/>
                </a:lnTo>
              </a:path>
            </a:pathLst>
          </a:custGeom>
          <a:ln w="28067">
            <a:solidFill>
              <a:srgbClr val="000F78"/>
            </a:solidFill>
            <a:prstDash val="solid"/>
          </a:ln>
        </p:spPr>
      </p:sp>
      <p:sp>
        <p:nvSpPr>
          <p:cNvPr id="45" name="Shape 42"/>
          <p:cNvSpPr/>
          <p:nvPr/>
        </p:nvSpPr>
        <p:spPr>
          <a:xfrm>
            <a:off x="5894816" y="2563992"/>
            <a:ext cx="279806" cy="184672"/>
          </a:xfrm>
          <a:custGeom>
            <a:avLst/>
            <a:gdLst/>
            <a:ahLst/>
            <a:cxnLst/>
            <a:rect l="l" t="t" r="r" b="b"/>
            <a:pathLst>
              <a:path w="279806" h="184672">
                <a:moveTo>
                  <a:pt x="0" y="0"/>
                </a:moveTo>
                <a:lnTo>
                  <a:pt x="0" y="84949"/>
                </a:lnTo>
                <a:lnTo>
                  <a:pt x="139903" y="184672"/>
                </a:lnTo>
                <a:lnTo>
                  <a:pt x="279806" y="84949"/>
                </a:lnTo>
                <a:lnTo>
                  <a:pt x="279806" y="0"/>
                </a:lnTo>
                <a:lnTo>
                  <a:pt x="139903" y="99723"/>
                </a:lnTo>
                <a:close/>
              </a:path>
            </a:pathLst>
          </a:custGeom>
          <a:solidFill>
            <a:srgbClr val="7F7F7F"/>
          </a:solidFill>
          <a:ln/>
        </p:spPr>
      </p:sp>
      <p:sp>
        <p:nvSpPr>
          <p:cNvPr id="46" name="Shape 43"/>
          <p:cNvSpPr/>
          <p:nvPr/>
        </p:nvSpPr>
        <p:spPr>
          <a:xfrm>
            <a:off x="5879272" y="2685876"/>
            <a:ext cx="310896" cy="205191"/>
          </a:xfrm>
          <a:custGeom>
            <a:avLst/>
            <a:gdLst/>
            <a:ahLst/>
            <a:cxnLst/>
            <a:rect l="l" t="t" r="r" b="b"/>
            <a:pathLst>
              <a:path w="310896" h="205191">
                <a:moveTo>
                  <a:pt x="0" y="0"/>
                </a:moveTo>
                <a:lnTo>
                  <a:pt x="0" y="94388"/>
                </a:lnTo>
                <a:lnTo>
                  <a:pt x="155448" y="205191"/>
                </a:lnTo>
                <a:lnTo>
                  <a:pt x="310896" y="94388"/>
                </a:lnTo>
                <a:lnTo>
                  <a:pt x="310896" y="0"/>
                </a:lnTo>
                <a:lnTo>
                  <a:pt x="155448" y="110803"/>
                </a:lnTo>
                <a:close/>
              </a:path>
            </a:pathLst>
          </a:custGeom>
          <a:solidFill>
            <a:srgbClr val="000F78"/>
          </a:solidFill>
          <a:ln/>
        </p:spPr>
      </p:sp>
      <p:sp>
        <p:nvSpPr>
          <p:cNvPr id="47" name="Shape 44"/>
          <p:cNvSpPr/>
          <p:nvPr/>
        </p:nvSpPr>
        <p:spPr>
          <a:xfrm>
            <a:off x="6464853" y="2563992"/>
            <a:ext cx="273588" cy="136794"/>
          </a:xfrm>
          <a:custGeom>
            <a:avLst/>
            <a:gdLst/>
            <a:ahLst/>
            <a:cxnLst/>
            <a:rect l="l" t="t" r="r" b="b"/>
            <a:pathLst>
              <a:path w="273588" h="136794">
                <a:moveTo>
                  <a:pt x="0" y="0"/>
                </a:moveTo>
                <a:lnTo>
                  <a:pt x="136794" y="136794"/>
                </a:lnTo>
                <a:lnTo>
                  <a:pt x="273588" y="0"/>
                </a:lnTo>
                <a:close/>
              </a:path>
            </a:pathLst>
          </a:custGeom>
          <a:solidFill>
            <a:srgbClr val="7F7F7F"/>
          </a:solidFill>
          <a:ln/>
        </p:spPr>
      </p:sp>
      <p:sp>
        <p:nvSpPr>
          <p:cNvPr id="48" name="Shape 45"/>
          <p:cNvSpPr/>
          <p:nvPr/>
        </p:nvSpPr>
        <p:spPr>
          <a:xfrm>
            <a:off x="6474180" y="2666588"/>
            <a:ext cx="254935" cy="114721"/>
          </a:xfrm>
          <a:custGeom>
            <a:avLst/>
            <a:gdLst/>
            <a:ahLst/>
            <a:cxnLst/>
            <a:rect l="l" t="t" r="r" b="b"/>
            <a:pathLst>
              <a:path w="254935" h="114721">
                <a:moveTo>
                  <a:pt x="0" y="0"/>
                </a:moveTo>
                <a:lnTo>
                  <a:pt x="127467" y="114721"/>
                </a:lnTo>
                <a:lnTo>
                  <a:pt x="254935" y="0"/>
                </a:lnTo>
              </a:path>
            </a:pathLst>
          </a:custGeom>
          <a:ln w="28067">
            <a:solidFill>
              <a:srgbClr val="000F78"/>
            </a:solidFill>
            <a:prstDash val="solid"/>
          </a:ln>
        </p:spPr>
      </p:sp>
      <p:sp>
        <p:nvSpPr>
          <p:cNvPr id="49" name="Shape 46"/>
          <p:cNvSpPr/>
          <p:nvPr/>
        </p:nvSpPr>
        <p:spPr>
          <a:xfrm>
            <a:off x="4800280" y="3091601"/>
            <a:ext cx="184672" cy="279806"/>
          </a:xfrm>
          <a:custGeom>
            <a:avLst/>
            <a:gdLst/>
            <a:ahLst/>
            <a:cxnLst/>
            <a:rect l="l" t="t" r="r" b="b"/>
            <a:pathLst>
              <a:path w="184672" h="279806">
                <a:moveTo>
                  <a:pt x="0" y="0"/>
                </a:moveTo>
                <a:lnTo>
                  <a:pt x="84949" y="0"/>
                </a:lnTo>
                <a:lnTo>
                  <a:pt x="184672" y="139903"/>
                </a:lnTo>
                <a:lnTo>
                  <a:pt x="84949" y="279806"/>
                </a:lnTo>
                <a:lnTo>
                  <a:pt x="0" y="279806"/>
                </a:lnTo>
                <a:lnTo>
                  <a:pt x="99723" y="139903"/>
                </a:lnTo>
                <a:close/>
              </a:path>
            </a:pathLst>
          </a:custGeom>
          <a:solidFill>
            <a:srgbClr val="7F7F7F"/>
          </a:solidFill>
          <a:ln/>
        </p:spPr>
      </p:sp>
      <p:sp>
        <p:nvSpPr>
          <p:cNvPr id="50" name="Shape 47"/>
          <p:cNvSpPr/>
          <p:nvPr/>
        </p:nvSpPr>
        <p:spPr>
          <a:xfrm>
            <a:off x="4922163" y="3076056"/>
            <a:ext cx="205191" cy="310896"/>
          </a:xfrm>
          <a:custGeom>
            <a:avLst/>
            <a:gdLst/>
            <a:ahLst/>
            <a:cxnLst/>
            <a:rect l="l" t="t" r="r" b="b"/>
            <a:pathLst>
              <a:path w="205191" h="310896">
                <a:moveTo>
                  <a:pt x="0" y="0"/>
                </a:moveTo>
                <a:lnTo>
                  <a:pt x="94388" y="0"/>
                </a:lnTo>
                <a:lnTo>
                  <a:pt x="205191" y="155448"/>
                </a:lnTo>
                <a:lnTo>
                  <a:pt x="94388" y="310896"/>
                </a:lnTo>
                <a:lnTo>
                  <a:pt x="0" y="310896"/>
                </a:lnTo>
                <a:lnTo>
                  <a:pt x="110803" y="155448"/>
                </a:lnTo>
                <a:close/>
              </a:path>
            </a:pathLst>
          </a:custGeom>
          <a:solidFill>
            <a:srgbClr val="7F7F7F"/>
          </a:solidFill>
          <a:ln/>
        </p:spPr>
      </p:sp>
      <p:sp>
        <p:nvSpPr>
          <p:cNvPr id="51" name="Shape 48"/>
          <p:cNvSpPr/>
          <p:nvPr/>
        </p:nvSpPr>
        <p:spPr>
          <a:xfrm>
            <a:off x="5367208" y="3094710"/>
            <a:ext cx="136794" cy="273588"/>
          </a:xfrm>
          <a:custGeom>
            <a:avLst/>
            <a:gdLst/>
            <a:ahLst/>
            <a:cxnLst/>
            <a:rect l="l" t="t" r="r" b="b"/>
            <a:pathLst>
              <a:path w="136794" h="273588">
                <a:moveTo>
                  <a:pt x="0" y="0"/>
                </a:moveTo>
                <a:lnTo>
                  <a:pt x="136794" y="136794"/>
                </a:lnTo>
                <a:lnTo>
                  <a:pt x="0" y="273588"/>
                </a:lnTo>
                <a:close/>
              </a:path>
            </a:pathLst>
          </a:custGeom>
          <a:solidFill>
            <a:srgbClr val="7F7F7F"/>
          </a:solidFill>
          <a:ln/>
        </p:spPr>
      </p:sp>
      <p:sp>
        <p:nvSpPr>
          <p:cNvPr id="52" name="Shape 49"/>
          <p:cNvSpPr/>
          <p:nvPr/>
        </p:nvSpPr>
        <p:spPr>
          <a:xfrm>
            <a:off x="5469803" y="3104037"/>
            <a:ext cx="114721" cy="254935"/>
          </a:xfrm>
          <a:custGeom>
            <a:avLst/>
            <a:gdLst/>
            <a:ahLst/>
            <a:cxnLst/>
            <a:rect l="l" t="t" r="r" b="b"/>
            <a:pathLst>
              <a:path w="114721" h="254935">
                <a:moveTo>
                  <a:pt x="0" y="0"/>
                </a:moveTo>
                <a:lnTo>
                  <a:pt x="114721" y="127467"/>
                </a:lnTo>
                <a:lnTo>
                  <a:pt x="0" y="254935"/>
                </a:lnTo>
              </a:path>
            </a:pathLst>
          </a:custGeom>
          <a:ln w="28067">
            <a:solidFill>
              <a:srgbClr val="7F7F7F"/>
            </a:solidFill>
            <a:prstDash val="solid"/>
          </a:ln>
        </p:spPr>
      </p:sp>
      <p:sp>
        <p:nvSpPr>
          <p:cNvPr id="53" name="Shape 50"/>
          <p:cNvSpPr/>
          <p:nvPr/>
        </p:nvSpPr>
        <p:spPr>
          <a:xfrm>
            <a:off x="5894816" y="3130920"/>
            <a:ext cx="279806" cy="184672"/>
          </a:xfrm>
          <a:custGeom>
            <a:avLst/>
            <a:gdLst/>
            <a:ahLst/>
            <a:cxnLst/>
            <a:rect l="l" t="t" r="r" b="b"/>
            <a:pathLst>
              <a:path w="279806" h="184672">
                <a:moveTo>
                  <a:pt x="0" y="0"/>
                </a:moveTo>
                <a:lnTo>
                  <a:pt x="0" y="84949"/>
                </a:lnTo>
                <a:lnTo>
                  <a:pt x="139903" y="184672"/>
                </a:lnTo>
                <a:lnTo>
                  <a:pt x="279806" y="84949"/>
                </a:lnTo>
                <a:lnTo>
                  <a:pt x="279806" y="0"/>
                </a:lnTo>
                <a:lnTo>
                  <a:pt x="139903" y="99723"/>
                </a:lnTo>
                <a:close/>
              </a:path>
            </a:pathLst>
          </a:custGeom>
          <a:solidFill>
            <a:srgbClr val="7F7F7F"/>
          </a:solidFill>
          <a:ln/>
        </p:spPr>
      </p:sp>
      <p:sp>
        <p:nvSpPr>
          <p:cNvPr id="54" name="Shape 51"/>
          <p:cNvSpPr/>
          <p:nvPr/>
        </p:nvSpPr>
        <p:spPr>
          <a:xfrm>
            <a:off x="5879272" y="3252804"/>
            <a:ext cx="310896" cy="205191"/>
          </a:xfrm>
          <a:custGeom>
            <a:avLst/>
            <a:gdLst/>
            <a:ahLst/>
            <a:cxnLst/>
            <a:rect l="l" t="t" r="r" b="b"/>
            <a:pathLst>
              <a:path w="310896" h="205191">
                <a:moveTo>
                  <a:pt x="0" y="0"/>
                </a:moveTo>
                <a:lnTo>
                  <a:pt x="0" y="94388"/>
                </a:lnTo>
                <a:lnTo>
                  <a:pt x="155448" y="205191"/>
                </a:lnTo>
                <a:lnTo>
                  <a:pt x="310896" y="94388"/>
                </a:lnTo>
                <a:lnTo>
                  <a:pt x="310896" y="0"/>
                </a:lnTo>
                <a:lnTo>
                  <a:pt x="155448" y="110803"/>
                </a:lnTo>
                <a:close/>
              </a:path>
            </a:pathLst>
          </a:custGeom>
          <a:solidFill>
            <a:srgbClr val="7F7F7F"/>
          </a:solidFill>
          <a:ln/>
        </p:spPr>
      </p:sp>
      <p:sp>
        <p:nvSpPr>
          <p:cNvPr id="55" name="Shape 52"/>
          <p:cNvSpPr/>
          <p:nvPr/>
        </p:nvSpPr>
        <p:spPr>
          <a:xfrm>
            <a:off x="6464853" y="3130920"/>
            <a:ext cx="273588" cy="136794"/>
          </a:xfrm>
          <a:custGeom>
            <a:avLst/>
            <a:gdLst/>
            <a:ahLst/>
            <a:cxnLst/>
            <a:rect l="l" t="t" r="r" b="b"/>
            <a:pathLst>
              <a:path w="273588" h="136794">
                <a:moveTo>
                  <a:pt x="0" y="0"/>
                </a:moveTo>
                <a:lnTo>
                  <a:pt x="136794" y="136794"/>
                </a:lnTo>
                <a:lnTo>
                  <a:pt x="273588" y="0"/>
                </a:lnTo>
                <a:close/>
              </a:path>
            </a:pathLst>
          </a:custGeom>
          <a:solidFill>
            <a:srgbClr val="7F7F7F"/>
          </a:solidFill>
          <a:ln/>
        </p:spPr>
      </p:sp>
      <p:sp>
        <p:nvSpPr>
          <p:cNvPr id="56" name="Shape 53"/>
          <p:cNvSpPr/>
          <p:nvPr/>
        </p:nvSpPr>
        <p:spPr>
          <a:xfrm>
            <a:off x="6474180" y="3233516"/>
            <a:ext cx="254935" cy="114721"/>
          </a:xfrm>
          <a:custGeom>
            <a:avLst/>
            <a:gdLst/>
            <a:ahLst/>
            <a:cxnLst/>
            <a:rect l="l" t="t" r="r" b="b"/>
            <a:pathLst>
              <a:path w="254935" h="114721">
                <a:moveTo>
                  <a:pt x="0" y="0"/>
                </a:moveTo>
                <a:lnTo>
                  <a:pt x="127467" y="114721"/>
                </a:lnTo>
                <a:lnTo>
                  <a:pt x="254935" y="0"/>
                </a:lnTo>
              </a:path>
            </a:pathLst>
          </a:custGeom>
          <a:ln w="28067">
            <a:solidFill>
              <a:srgbClr val="7F7F7F"/>
            </a:solidFill>
            <a:prstDash val="solid"/>
          </a:ln>
        </p:spPr>
      </p:sp>
      <p:sp>
        <p:nvSpPr>
          <p:cNvPr id="57" name="Shape 54"/>
          <p:cNvSpPr/>
          <p:nvPr/>
        </p:nvSpPr>
        <p:spPr>
          <a:xfrm>
            <a:off x="4800280" y="3642984"/>
            <a:ext cx="310896" cy="310896"/>
          </a:xfrm>
          <a:prstGeom prst="ellipse">
            <a:avLst/>
          </a:prstGeom>
          <a:solidFill>
            <a:srgbClr val="7F7F7F"/>
          </a:solidFill>
          <a:ln/>
        </p:spPr>
      </p:sp>
      <p:sp>
        <p:nvSpPr>
          <p:cNvPr id="58" name="Shape 55"/>
          <p:cNvSpPr/>
          <p:nvPr/>
        </p:nvSpPr>
        <p:spPr>
          <a:xfrm>
            <a:off x="4928493" y="3711381"/>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
        <p:nvSpPr>
          <p:cNvPr id="59" name="Shape 56"/>
          <p:cNvSpPr/>
          <p:nvPr/>
        </p:nvSpPr>
        <p:spPr>
          <a:xfrm>
            <a:off x="5367208" y="3642984"/>
            <a:ext cx="310896" cy="310896"/>
          </a:xfrm>
          <a:prstGeom prst="ellipse">
            <a:avLst/>
          </a:prstGeom>
          <a:solidFill>
            <a:srgbClr val="000F78"/>
          </a:solidFill>
          <a:ln/>
        </p:spPr>
      </p:sp>
      <p:sp>
        <p:nvSpPr>
          <p:cNvPr id="60" name="Shape 57"/>
          <p:cNvSpPr/>
          <p:nvPr/>
        </p:nvSpPr>
        <p:spPr>
          <a:xfrm>
            <a:off x="5495421" y="3711381"/>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
        <p:nvSpPr>
          <p:cNvPr id="61" name="Shape 58"/>
          <p:cNvSpPr/>
          <p:nvPr/>
        </p:nvSpPr>
        <p:spPr>
          <a:xfrm>
            <a:off x="4800280" y="4209912"/>
            <a:ext cx="139903" cy="310896"/>
          </a:xfrm>
          <a:custGeom>
            <a:avLst/>
            <a:gdLst/>
            <a:ahLst/>
            <a:cxnLst/>
            <a:rect l="l" t="t" r="r" b="b"/>
            <a:pathLst>
              <a:path w="139903" h="310896">
                <a:moveTo>
                  <a:pt x="0" y="0"/>
                </a:moveTo>
                <a:lnTo>
                  <a:pt x="139903" y="155448"/>
                </a:lnTo>
                <a:lnTo>
                  <a:pt x="0" y="310896"/>
                </a:lnTo>
              </a:path>
            </a:pathLst>
          </a:custGeom>
          <a:ln w="19431">
            <a:solidFill>
              <a:srgbClr val="CCCCCC"/>
            </a:solidFill>
            <a:prstDash val="solid"/>
          </a:ln>
        </p:spPr>
      </p:sp>
      <p:sp>
        <p:nvSpPr>
          <p:cNvPr id="62" name="Shape 59"/>
          <p:cNvSpPr/>
          <p:nvPr/>
        </p:nvSpPr>
        <p:spPr>
          <a:xfrm>
            <a:off x="5367208" y="4209912"/>
            <a:ext cx="139903" cy="310896"/>
          </a:xfrm>
          <a:custGeom>
            <a:avLst/>
            <a:gdLst/>
            <a:ahLst/>
            <a:cxnLst/>
            <a:rect l="l" t="t" r="r" b="b"/>
            <a:pathLst>
              <a:path w="139903" h="310896">
                <a:moveTo>
                  <a:pt x="0" y="0"/>
                </a:moveTo>
                <a:lnTo>
                  <a:pt x="139903" y="155448"/>
                </a:lnTo>
                <a:lnTo>
                  <a:pt x="0" y="310896"/>
                </a:lnTo>
              </a:path>
            </a:pathLst>
          </a:custGeom>
          <a:ln w="19431">
            <a:solidFill>
              <a:srgbClr val="000F78"/>
            </a:solidFill>
            <a:prstDash val="solid"/>
          </a:ln>
        </p:spPr>
      </p:sp>
      <p:sp>
        <p:nvSpPr>
          <p:cNvPr id="63" name="Shape 60"/>
          <p:cNvSpPr/>
          <p:nvPr/>
        </p:nvSpPr>
        <p:spPr>
          <a:xfrm>
            <a:off x="5414775" y="4209912"/>
            <a:ext cx="139903" cy="310896"/>
          </a:xfrm>
          <a:custGeom>
            <a:avLst/>
            <a:gdLst/>
            <a:ahLst/>
            <a:cxnLst/>
            <a:rect l="l" t="t" r="r" b="b"/>
            <a:pathLst>
              <a:path w="139903" h="310896">
                <a:moveTo>
                  <a:pt x="0" y="0"/>
                </a:moveTo>
                <a:lnTo>
                  <a:pt x="139903" y="155448"/>
                </a:lnTo>
                <a:lnTo>
                  <a:pt x="0" y="310896"/>
                </a:lnTo>
              </a:path>
            </a:pathLst>
          </a:custGeom>
          <a:ln w="19431">
            <a:solidFill>
              <a:srgbClr val="000F78"/>
            </a:solidFill>
            <a:prstDash val="solid"/>
          </a:ln>
        </p:spPr>
      </p:sp>
      <p:sp>
        <p:nvSpPr>
          <p:cNvPr id="64" name="Text 61"/>
          <p:cNvSpPr txBox="1"/>
          <p:nvPr/>
        </p:nvSpPr>
        <p:spPr>
          <a:xfrm>
            <a:off x="6994840" y="2490840"/>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二重の矢羽</a:t>
            </a:r>
            <a:endParaRPr lang="en-US" sz="1100" dirty="0"/>
          </a:p>
        </p:txBody>
      </p:sp>
      <p:sp>
        <p:nvSpPr>
          <p:cNvPr id="65" name="Text 62"/>
          <p:cNvSpPr txBox="1"/>
          <p:nvPr/>
        </p:nvSpPr>
        <p:spPr>
          <a:xfrm>
            <a:off x="6994840" y="3057768"/>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三角＋線</a:t>
            </a:r>
            <a:endParaRPr lang="en-US" sz="1100" dirty="0"/>
          </a:p>
        </p:txBody>
      </p:sp>
      <p:sp>
        <p:nvSpPr>
          <p:cNvPr id="66" name="Text 63"/>
          <p:cNvSpPr txBox="1"/>
          <p:nvPr/>
        </p:nvSpPr>
        <p:spPr>
          <a:xfrm>
            <a:off x="6994840" y="3624696"/>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丸</a:t>
            </a:r>
            <a:endParaRPr lang="en-US" sz="1100" dirty="0"/>
          </a:p>
        </p:txBody>
      </p:sp>
      <p:sp>
        <p:nvSpPr>
          <p:cNvPr id="67" name="Text 64"/>
          <p:cNvSpPr txBox="1"/>
          <p:nvPr/>
        </p:nvSpPr>
        <p:spPr>
          <a:xfrm>
            <a:off x="6994840" y="4191624"/>
            <a:ext cx="731520" cy="347472"/>
          </a:xfrm>
          <a:prstGeom prst="rect">
            <a:avLst/>
          </a:prstGeom>
          <a:noFill/>
          <a:ln/>
        </p:spPr>
        <p:txBody>
          <a:bodyPr wrap="square" lIns="0" tIns="0" rIns="0" bIns="0" rtlCol="0" anchor="ctr"/>
          <a:lstStyle/>
          <a:p>
            <a:pPr indent="0" marL="0">
              <a:buNone/>
            </a:pPr>
            <a:r>
              <a:rPr lang="en-US" sz="1100" dirty="0">
                <a:solidFill>
                  <a:srgbClr val="3F3F3F"/>
                </a:solidFill>
                <a:latin typeface="Yu Gothic UI" pitchFamily="34" charset="0"/>
                <a:ea typeface="Yu Gothic UI" pitchFamily="34" charset="-122"/>
                <a:cs typeface="Yu Gothic UI" pitchFamily="34" charset="-120"/>
              </a:rPr>
              <a:t>線</a:t>
            </a:r>
            <a:endParaRPr lang="en-US" sz="1100" dirty="0"/>
          </a:p>
        </p:txBody>
      </p:sp>
      <p:sp>
        <p:nvSpPr>
          <p:cNvPr id="68" name="Shape 65"/>
          <p:cNvSpPr/>
          <p:nvPr/>
        </p:nvSpPr>
        <p:spPr>
          <a:xfrm>
            <a:off x="8110408" y="2673720"/>
            <a:ext cx="1594440" cy="685800"/>
          </a:xfrm>
          <a:prstGeom prst="rect">
            <a:avLst/>
          </a:prstGeom>
          <a:solidFill>
            <a:srgbClr val="E0EEF8"/>
          </a:solidFill>
          <a:ln/>
        </p:spPr>
      </p:sp>
      <p:sp>
        <p:nvSpPr>
          <p:cNvPr id="69" name="Text 66"/>
          <p:cNvSpPr txBox="1"/>
          <p:nvPr/>
        </p:nvSpPr>
        <p:spPr>
          <a:xfrm>
            <a:off x="8201848" y="274687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70" name="Shape 67"/>
          <p:cNvSpPr/>
          <p:nvPr/>
        </p:nvSpPr>
        <p:spPr>
          <a:xfrm>
            <a:off x="7790368" y="2445120"/>
            <a:ext cx="320040" cy="274320"/>
          </a:xfrm>
          <a:prstGeom prst="line">
            <a:avLst/>
          </a:prstGeom>
          <a:noFill/>
          <a:ln w="9525">
            <a:solidFill>
              <a:srgbClr val="7F7F7F"/>
            </a:solidFill>
            <a:prstDash val="solid"/>
          </a:ln>
        </p:spPr>
      </p:sp>
      <p:sp>
        <p:nvSpPr>
          <p:cNvPr id="71" name="Shape 68"/>
          <p:cNvSpPr/>
          <p:nvPr/>
        </p:nvSpPr>
        <p:spPr>
          <a:xfrm>
            <a:off x="8110408" y="3725280"/>
            <a:ext cx="1594440" cy="685800"/>
          </a:xfrm>
          <a:prstGeom prst="rect">
            <a:avLst/>
          </a:prstGeom>
          <a:solidFill>
            <a:srgbClr val="E0EEF8"/>
          </a:solidFill>
          <a:ln/>
        </p:spPr>
      </p:sp>
      <p:sp>
        <p:nvSpPr>
          <p:cNvPr id="72" name="Text 69"/>
          <p:cNvSpPr txBox="1"/>
          <p:nvPr/>
        </p:nvSpPr>
        <p:spPr>
          <a:xfrm>
            <a:off x="8201848" y="3798432"/>
            <a:ext cx="14572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補足：確認事項・ポイント等</a:t>
            </a:r>
            <a:endParaRPr lang="en-US" sz="1100" dirty="0"/>
          </a:p>
          <a:p>
            <a:pPr indent="0" marL="0">
              <a:buNone/>
            </a:pPr>
            <a:r>
              <a:rPr lang="en-US" sz="1100" dirty="0">
                <a:solidFill>
                  <a:srgbClr val="3F3F3F"/>
                </a:solidFill>
                <a:latin typeface="Yu Gothic UI" pitchFamily="34" charset="0"/>
                <a:ea typeface="Yu Gothic UI" pitchFamily="34" charset="-122"/>
                <a:cs typeface="Yu Gothic UI" pitchFamily="34" charset="-120"/>
              </a:rPr>
              <a:t>XX</a:t>
            </a:r>
            <a:endParaRPr lang="en-US" sz="1100" dirty="0"/>
          </a:p>
        </p:txBody>
      </p:sp>
      <p:sp>
        <p:nvSpPr>
          <p:cNvPr id="73" name="Shape 70"/>
          <p:cNvSpPr/>
          <p:nvPr/>
        </p:nvSpPr>
        <p:spPr>
          <a:xfrm>
            <a:off x="7790368" y="3496680"/>
            <a:ext cx="320040" cy="274320"/>
          </a:xfrm>
          <a:prstGeom prst="line">
            <a:avLst/>
          </a:prstGeom>
          <a:noFill/>
          <a:ln w="9525">
            <a:solidFill>
              <a:srgbClr val="7F7F7F"/>
            </a:solidFill>
            <a:prstDash val="solid"/>
          </a:ln>
        </p:spPr>
      </p:sp>
      <p:sp>
        <p:nvSpPr>
          <p:cNvPr id="74" name="Text 71"/>
          <p:cNvSpPr txBox="1"/>
          <p:nvPr/>
        </p:nvSpPr>
        <p:spPr>
          <a:xfrm>
            <a:off x="7790368" y="4502520"/>
            <a:ext cx="1914480" cy="54864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補足：図の該当箇所から細線を引く（1枚に2つまで）</a:t>
            </a:r>
            <a:endParaRPr lang="en-US" sz="1100" dirty="0"/>
          </a:p>
        </p:txBody>
      </p:sp>
      <p:sp>
        <p:nvSpPr>
          <p:cNvPr id="75" name="Text 72"/>
          <p:cNvSpPr txBox="1"/>
          <p:nvPr/>
        </p:nvSpPr>
        <p:spPr>
          <a:xfrm>
            <a:off x="4681408" y="5096880"/>
            <a:ext cx="50234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76" name="Shape 73"/>
          <p:cNvSpPr/>
          <p:nvPr/>
        </p:nvSpPr>
        <p:spPr>
          <a:xfrm>
            <a:off x="4681408" y="5444352"/>
            <a:ext cx="5023440" cy="0"/>
          </a:xfrm>
          <a:prstGeom prst="line">
            <a:avLst/>
          </a:prstGeom>
          <a:noFill/>
          <a:ln w="12700">
            <a:solidFill>
              <a:srgbClr val="7F7F7F"/>
            </a:solidFill>
            <a:prstDash val="solid"/>
          </a:ln>
        </p:spPr>
      </p:sp>
      <p:sp>
        <p:nvSpPr>
          <p:cNvPr id="77" name="Text 74"/>
          <p:cNvSpPr txBox="1"/>
          <p:nvPr/>
        </p:nvSpPr>
        <p:spPr>
          <a:xfrm>
            <a:off x="4681408" y="5554080"/>
            <a:ext cx="502344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紺の濃い塗り（白文字）は、立てたい1点に1か所だけ</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比べる相手・区分の箱は淡い塗りか上線にする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塗りと枠線は重ねない（rules H-3）</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番号・演算子・状態の印は文字を打たずに図形で作り、紺を基本、比べる相手はグレーにする。1枚で使う形は1種類にそろえる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パーツ集（番号・演算子・状態の印）</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注）図形はこのスライドからコピーして使う。数字は Arial の白抜き</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出所）自作の書式（HG_pptFMT）のパーツ集を基に作成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91</a:t>
            </a:r>
            <a:endParaRPr lang="en-US" sz="900" dirty="0"/>
          </a:p>
        </p:txBody>
      </p:sp>
      <p:sp>
        <p:nvSpPr>
          <p:cNvPr id="12" name="Text 9"/>
          <p:cNvSpPr txBox="1"/>
          <p:nvPr/>
        </p:nvSpPr>
        <p:spPr>
          <a:xfrm>
            <a:off x="20084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番号（左：紺、右：グレー）</a:t>
            </a:r>
            <a:endParaRPr lang="en-US" sz="1400" dirty="0"/>
          </a:p>
        </p:txBody>
      </p:sp>
      <p:sp>
        <p:nvSpPr>
          <p:cNvPr id="13" name="Shape 10"/>
          <p:cNvSpPr/>
          <p:nvPr/>
        </p:nvSpPr>
        <p:spPr>
          <a:xfrm>
            <a:off x="200848" y="2335392"/>
            <a:ext cx="2985120" cy="0"/>
          </a:xfrm>
          <a:prstGeom prst="line">
            <a:avLst/>
          </a:prstGeom>
          <a:noFill/>
          <a:ln w="12700">
            <a:solidFill>
              <a:srgbClr val="7F7F7F"/>
            </a:solidFill>
            <a:prstDash val="solid"/>
          </a:ln>
        </p:spPr>
      </p:sp>
      <p:sp>
        <p:nvSpPr>
          <p:cNvPr id="14" name="Text 11"/>
          <p:cNvSpPr txBox="1"/>
          <p:nvPr/>
        </p:nvSpPr>
        <p:spPr>
          <a:xfrm>
            <a:off x="20084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四角</a:t>
            </a:r>
            <a:endParaRPr lang="en-US" sz="1400" dirty="0"/>
          </a:p>
        </p:txBody>
      </p:sp>
      <p:sp>
        <p:nvSpPr>
          <p:cNvPr id="15" name="Shape 12"/>
          <p:cNvSpPr/>
          <p:nvPr/>
        </p:nvSpPr>
        <p:spPr>
          <a:xfrm>
            <a:off x="292288" y="2810880"/>
            <a:ext cx="292608" cy="292608"/>
          </a:xfrm>
          <a:prstGeom prst="rect">
            <a:avLst/>
          </a:prstGeom>
          <a:solidFill>
            <a:srgbClr val="000F78"/>
          </a:solidFill>
          <a:ln/>
        </p:spPr>
      </p:sp>
      <p:sp>
        <p:nvSpPr>
          <p:cNvPr id="16" name="Text 13"/>
          <p:cNvSpPr txBox="1"/>
          <p:nvPr/>
        </p:nvSpPr>
        <p:spPr>
          <a:xfrm>
            <a:off x="29228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Shape 14"/>
          <p:cNvSpPr/>
          <p:nvPr/>
        </p:nvSpPr>
        <p:spPr>
          <a:xfrm>
            <a:off x="676336" y="2810880"/>
            <a:ext cx="292608" cy="292608"/>
          </a:xfrm>
          <a:prstGeom prst="rect">
            <a:avLst/>
          </a:prstGeom>
          <a:solidFill>
            <a:srgbClr val="7F7F7F"/>
          </a:solidFill>
          <a:ln/>
        </p:spPr>
      </p:sp>
      <p:sp>
        <p:nvSpPr>
          <p:cNvPr id="18" name="Text 15"/>
          <p:cNvSpPr txBox="1"/>
          <p:nvPr/>
        </p:nvSpPr>
        <p:spPr>
          <a:xfrm>
            <a:off x="67633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Shape 16"/>
          <p:cNvSpPr/>
          <p:nvPr/>
        </p:nvSpPr>
        <p:spPr>
          <a:xfrm>
            <a:off x="292288" y="3249792"/>
            <a:ext cx="292608" cy="292608"/>
          </a:xfrm>
          <a:prstGeom prst="rect">
            <a:avLst/>
          </a:prstGeom>
          <a:solidFill>
            <a:srgbClr val="000F78"/>
          </a:solidFill>
          <a:ln/>
        </p:spPr>
      </p:sp>
      <p:sp>
        <p:nvSpPr>
          <p:cNvPr id="20" name="Text 17"/>
          <p:cNvSpPr txBox="1"/>
          <p:nvPr/>
        </p:nvSpPr>
        <p:spPr>
          <a:xfrm>
            <a:off x="29228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Shape 18"/>
          <p:cNvSpPr/>
          <p:nvPr/>
        </p:nvSpPr>
        <p:spPr>
          <a:xfrm>
            <a:off x="676336" y="3249792"/>
            <a:ext cx="292608" cy="292608"/>
          </a:xfrm>
          <a:prstGeom prst="rect">
            <a:avLst/>
          </a:prstGeom>
          <a:solidFill>
            <a:srgbClr val="7F7F7F"/>
          </a:solidFill>
          <a:ln/>
        </p:spPr>
      </p:sp>
      <p:sp>
        <p:nvSpPr>
          <p:cNvPr id="22" name="Text 19"/>
          <p:cNvSpPr txBox="1"/>
          <p:nvPr/>
        </p:nvSpPr>
        <p:spPr>
          <a:xfrm>
            <a:off x="67633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3" name="Shape 20"/>
          <p:cNvSpPr/>
          <p:nvPr/>
        </p:nvSpPr>
        <p:spPr>
          <a:xfrm>
            <a:off x="292288" y="3688704"/>
            <a:ext cx="292608" cy="292608"/>
          </a:xfrm>
          <a:prstGeom prst="rect">
            <a:avLst/>
          </a:prstGeom>
          <a:solidFill>
            <a:srgbClr val="000F78"/>
          </a:solidFill>
          <a:ln/>
        </p:spPr>
      </p:sp>
      <p:sp>
        <p:nvSpPr>
          <p:cNvPr id="24" name="Text 21"/>
          <p:cNvSpPr txBox="1"/>
          <p:nvPr/>
        </p:nvSpPr>
        <p:spPr>
          <a:xfrm>
            <a:off x="29228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Shape 22"/>
          <p:cNvSpPr/>
          <p:nvPr/>
        </p:nvSpPr>
        <p:spPr>
          <a:xfrm>
            <a:off x="676336" y="3688704"/>
            <a:ext cx="292608" cy="292608"/>
          </a:xfrm>
          <a:prstGeom prst="rect">
            <a:avLst/>
          </a:prstGeom>
          <a:solidFill>
            <a:srgbClr val="7F7F7F"/>
          </a:solidFill>
          <a:ln/>
        </p:spPr>
      </p:sp>
      <p:sp>
        <p:nvSpPr>
          <p:cNvPr id="26" name="Text 23"/>
          <p:cNvSpPr txBox="1"/>
          <p:nvPr/>
        </p:nvSpPr>
        <p:spPr>
          <a:xfrm>
            <a:off x="67633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Shape 24"/>
          <p:cNvSpPr/>
          <p:nvPr/>
        </p:nvSpPr>
        <p:spPr>
          <a:xfrm>
            <a:off x="292288" y="4127616"/>
            <a:ext cx="292608" cy="292608"/>
          </a:xfrm>
          <a:prstGeom prst="rect">
            <a:avLst/>
          </a:prstGeom>
          <a:solidFill>
            <a:srgbClr val="000F78"/>
          </a:solidFill>
          <a:ln/>
        </p:spPr>
      </p:sp>
      <p:sp>
        <p:nvSpPr>
          <p:cNvPr id="28" name="Text 25"/>
          <p:cNvSpPr txBox="1"/>
          <p:nvPr/>
        </p:nvSpPr>
        <p:spPr>
          <a:xfrm>
            <a:off x="29228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Shape 26"/>
          <p:cNvSpPr/>
          <p:nvPr/>
        </p:nvSpPr>
        <p:spPr>
          <a:xfrm>
            <a:off x="676336" y="4127616"/>
            <a:ext cx="292608" cy="292608"/>
          </a:xfrm>
          <a:prstGeom prst="rect">
            <a:avLst/>
          </a:prstGeom>
          <a:solidFill>
            <a:srgbClr val="7F7F7F"/>
          </a:solidFill>
          <a:ln/>
        </p:spPr>
      </p:sp>
      <p:sp>
        <p:nvSpPr>
          <p:cNvPr id="30" name="Text 27"/>
          <p:cNvSpPr txBox="1"/>
          <p:nvPr/>
        </p:nvSpPr>
        <p:spPr>
          <a:xfrm>
            <a:off x="67633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116096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ひし形</a:t>
            </a:r>
            <a:endParaRPr lang="en-US" sz="1400" dirty="0"/>
          </a:p>
        </p:txBody>
      </p:sp>
      <p:sp>
        <p:nvSpPr>
          <p:cNvPr id="32" name="Shape 29"/>
          <p:cNvSpPr/>
          <p:nvPr/>
        </p:nvSpPr>
        <p:spPr>
          <a:xfrm>
            <a:off x="1252408" y="2810880"/>
            <a:ext cx="292608" cy="292608"/>
          </a:xfrm>
          <a:prstGeom prst="diamond">
            <a:avLst/>
          </a:prstGeom>
          <a:solidFill>
            <a:srgbClr val="000F78"/>
          </a:solidFill>
          <a:ln/>
        </p:spPr>
      </p:sp>
      <p:sp>
        <p:nvSpPr>
          <p:cNvPr id="33" name="Text 30"/>
          <p:cNvSpPr txBox="1"/>
          <p:nvPr/>
        </p:nvSpPr>
        <p:spPr>
          <a:xfrm>
            <a:off x="125240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4" name="Shape 31"/>
          <p:cNvSpPr/>
          <p:nvPr/>
        </p:nvSpPr>
        <p:spPr>
          <a:xfrm>
            <a:off x="1636456" y="2810880"/>
            <a:ext cx="292608" cy="292608"/>
          </a:xfrm>
          <a:prstGeom prst="diamond">
            <a:avLst/>
          </a:prstGeom>
          <a:solidFill>
            <a:srgbClr val="7F7F7F"/>
          </a:solidFill>
          <a:ln/>
        </p:spPr>
      </p:sp>
      <p:sp>
        <p:nvSpPr>
          <p:cNvPr id="35" name="Text 32"/>
          <p:cNvSpPr txBox="1"/>
          <p:nvPr/>
        </p:nvSpPr>
        <p:spPr>
          <a:xfrm>
            <a:off x="163645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6" name="Shape 33"/>
          <p:cNvSpPr/>
          <p:nvPr/>
        </p:nvSpPr>
        <p:spPr>
          <a:xfrm>
            <a:off x="1252408" y="3249792"/>
            <a:ext cx="292608" cy="292608"/>
          </a:xfrm>
          <a:prstGeom prst="diamond">
            <a:avLst/>
          </a:prstGeom>
          <a:solidFill>
            <a:srgbClr val="000F78"/>
          </a:solidFill>
          <a:ln/>
        </p:spPr>
      </p:sp>
      <p:sp>
        <p:nvSpPr>
          <p:cNvPr id="37" name="Text 34"/>
          <p:cNvSpPr txBox="1"/>
          <p:nvPr/>
        </p:nvSpPr>
        <p:spPr>
          <a:xfrm>
            <a:off x="125240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8" name="Shape 35"/>
          <p:cNvSpPr/>
          <p:nvPr/>
        </p:nvSpPr>
        <p:spPr>
          <a:xfrm>
            <a:off x="1636456" y="3249792"/>
            <a:ext cx="292608" cy="292608"/>
          </a:xfrm>
          <a:prstGeom prst="diamond">
            <a:avLst/>
          </a:prstGeom>
          <a:solidFill>
            <a:srgbClr val="7F7F7F"/>
          </a:solidFill>
          <a:ln/>
        </p:spPr>
      </p:sp>
      <p:sp>
        <p:nvSpPr>
          <p:cNvPr id="39" name="Text 36"/>
          <p:cNvSpPr txBox="1"/>
          <p:nvPr/>
        </p:nvSpPr>
        <p:spPr>
          <a:xfrm>
            <a:off x="163645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40" name="Shape 37"/>
          <p:cNvSpPr/>
          <p:nvPr/>
        </p:nvSpPr>
        <p:spPr>
          <a:xfrm>
            <a:off x="1252408" y="3688704"/>
            <a:ext cx="292608" cy="292608"/>
          </a:xfrm>
          <a:prstGeom prst="diamond">
            <a:avLst/>
          </a:prstGeom>
          <a:solidFill>
            <a:srgbClr val="000F78"/>
          </a:solidFill>
          <a:ln/>
        </p:spPr>
      </p:sp>
      <p:sp>
        <p:nvSpPr>
          <p:cNvPr id="41" name="Text 38"/>
          <p:cNvSpPr txBox="1"/>
          <p:nvPr/>
        </p:nvSpPr>
        <p:spPr>
          <a:xfrm>
            <a:off x="125240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2" name="Shape 39"/>
          <p:cNvSpPr/>
          <p:nvPr/>
        </p:nvSpPr>
        <p:spPr>
          <a:xfrm>
            <a:off x="1636456" y="3688704"/>
            <a:ext cx="292608" cy="292608"/>
          </a:xfrm>
          <a:prstGeom prst="diamond">
            <a:avLst/>
          </a:prstGeom>
          <a:solidFill>
            <a:srgbClr val="7F7F7F"/>
          </a:solidFill>
          <a:ln/>
        </p:spPr>
      </p:sp>
      <p:sp>
        <p:nvSpPr>
          <p:cNvPr id="43" name="Text 40"/>
          <p:cNvSpPr txBox="1"/>
          <p:nvPr/>
        </p:nvSpPr>
        <p:spPr>
          <a:xfrm>
            <a:off x="163645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4" name="Shape 41"/>
          <p:cNvSpPr/>
          <p:nvPr/>
        </p:nvSpPr>
        <p:spPr>
          <a:xfrm>
            <a:off x="1252408" y="4127616"/>
            <a:ext cx="292608" cy="292608"/>
          </a:xfrm>
          <a:prstGeom prst="diamond">
            <a:avLst/>
          </a:prstGeom>
          <a:solidFill>
            <a:srgbClr val="000F78"/>
          </a:solidFill>
          <a:ln/>
        </p:spPr>
      </p:sp>
      <p:sp>
        <p:nvSpPr>
          <p:cNvPr id="45" name="Text 42"/>
          <p:cNvSpPr txBox="1"/>
          <p:nvPr/>
        </p:nvSpPr>
        <p:spPr>
          <a:xfrm>
            <a:off x="125240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6" name="Shape 43"/>
          <p:cNvSpPr/>
          <p:nvPr/>
        </p:nvSpPr>
        <p:spPr>
          <a:xfrm>
            <a:off x="1636456" y="4127616"/>
            <a:ext cx="292608" cy="292608"/>
          </a:xfrm>
          <a:prstGeom prst="diamond">
            <a:avLst/>
          </a:prstGeom>
          <a:solidFill>
            <a:srgbClr val="7F7F7F"/>
          </a:solidFill>
          <a:ln/>
        </p:spPr>
      </p:sp>
      <p:sp>
        <p:nvSpPr>
          <p:cNvPr id="47" name="Text 44"/>
          <p:cNvSpPr txBox="1"/>
          <p:nvPr/>
        </p:nvSpPr>
        <p:spPr>
          <a:xfrm>
            <a:off x="163645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8" name="Text 45"/>
          <p:cNvSpPr txBox="1"/>
          <p:nvPr/>
        </p:nvSpPr>
        <p:spPr>
          <a:xfrm>
            <a:off x="2121088" y="2445120"/>
            <a:ext cx="82296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丸</a:t>
            </a:r>
            <a:endParaRPr lang="en-US" sz="1400" dirty="0"/>
          </a:p>
        </p:txBody>
      </p:sp>
      <p:sp>
        <p:nvSpPr>
          <p:cNvPr id="49" name="Shape 46"/>
          <p:cNvSpPr/>
          <p:nvPr/>
        </p:nvSpPr>
        <p:spPr>
          <a:xfrm>
            <a:off x="2212528" y="2810880"/>
            <a:ext cx="292608" cy="292608"/>
          </a:xfrm>
          <a:prstGeom prst="ellipse">
            <a:avLst/>
          </a:prstGeom>
          <a:solidFill>
            <a:srgbClr val="000F78"/>
          </a:solidFill>
          <a:ln/>
        </p:spPr>
      </p:sp>
      <p:sp>
        <p:nvSpPr>
          <p:cNvPr id="50" name="Text 47"/>
          <p:cNvSpPr txBox="1"/>
          <p:nvPr/>
        </p:nvSpPr>
        <p:spPr>
          <a:xfrm>
            <a:off x="2212528"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1" name="Shape 48"/>
          <p:cNvSpPr/>
          <p:nvPr/>
        </p:nvSpPr>
        <p:spPr>
          <a:xfrm>
            <a:off x="2596576" y="2810880"/>
            <a:ext cx="292608" cy="292608"/>
          </a:xfrm>
          <a:prstGeom prst="ellipse">
            <a:avLst/>
          </a:prstGeom>
          <a:solidFill>
            <a:srgbClr val="7F7F7F"/>
          </a:solidFill>
          <a:ln/>
        </p:spPr>
      </p:sp>
      <p:sp>
        <p:nvSpPr>
          <p:cNvPr id="52" name="Text 49"/>
          <p:cNvSpPr txBox="1"/>
          <p:nvPr/>
        </p:nvSpPr>
        <p:spPr>
          <a:xfrm>
            <a:off x="2596576" y="2810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3" name="Shape 50"/>
          <p:cNvSpPr/>
          <p:nvPr/>
        </p:nvSpPr>
        <p:spPr>
          <a:xfrm>
            <a:off x="2212528" y="3249792"/>
            <a:ext cx="292608" cy="292608"/>
          </a:xfrm>
          <a:prstGeom prst="ellipse">
            <a:avLst/>
          </a:prstGeom>
          <a:solidFill>
            <a:srgbClr val="000F78"/>
          </a:solidFill>
          <a:ln/>
        </p:spPr>
      </p:sp>
      <p:sp>
        <p:nvSpPr>
          <p:cNvPr id="54" name="Text 51"/>
          <p:cNvSpPr txBox="1"/>
          <p:nvPr/>
        </p:nvSpPr>
        <p:spPr>
          <a:xfrm>
            <a:off x="2212528"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5" name="Shape 52"/>
          <p:cNvSpPr/>
          <p:nvPr/>
        </p:nvSpPr>
        <p:spPr>
          <a:xfrm>
            <a:off x="2596576" y="3249792"/>
            <a:ext cx="292608" cy="292608"/>
          </a:xfrm>
          <a:prstGeom prst="ellipse">
            <a:avLst/>
          </a:prstGeom>
          <a:solidFill>
            <a:srgbClr val="7F7F7F"/>
          </a:solidFill>
          <a:ln/>
        </p:spPr>
      </p:sp>
      <p:sp>
        <p:nvSpPr>
          <p:cNvPr id="56" name="Text 53"/>
          <p:cNvSpPr txBox="1"/>
          <p:nvPr/>
        </p:nvSpPr>
        <p:spPr>
          <a:xfrm>
            <a:off x="2596576" y="32497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7" name="Shape 54"/>
          <p:cNvSpPr/>
          <p:nvPr/>
        </p:nvSpPr>
        <p:spPr>
          <a:xfrm>
            <a:off x="2212528" y="3688704"/>
            <a:ext cx="292608" cy="292608"/>
          </a:xfrm>
          <a:prstGeom prst="ellipse">
            <a:avLst/>
          </a:prstGeom>
          <a:solidFill>
            <a:srgbClr val="000F78"/>
          </a:solidFill>
          <a:ln/>
        </p:spPr>
      </p:sp>
      <p:sp>
        <p:nvSpPr>
          <p:cNvPr id="58" name="Text 55"/>
          <p:cNvSpPr txBox="1"/>
          <p:nvPr/>
        </p:nvSpPr>
        <p:spPr>
          <a:xfrm>
            <a:off x="2212528"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59" name="Shape 56"/>
          <p:cNvSpPr/>
          <p:nvPr/>
        </p:nvSpPr>
        <p:spPr>
          <a:xfrm>
            <a:off x="2596576" y="3688704"/>
            <a:ext cx="292608" cy="292608"/>
          </a:xfrm>
          <a:prstGeom prst="ellipse">
            <a:avLst/>
          </a:prstGeom>
          <a:solidFill>
            <a:srgbClr val="7F7F7F"/>
          </a:solidFill>
          <a:ln/>
        </p:spPr>
      </p:sp>
      <p:sp>
        <p:nvSpPr>
          <p:cNvPr id="60" name="Text 57"/>
          <p:cNvSpPr txBox="1"/>
          <p:nvPr/>
        </p:nvSpPr>
        <p:spPr>
          <a:xfrm>
            <a:off x="2596576" y="36887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61" name="Shape 58"/>
          <p:cNvSpPr/>
          <p:nvPr/>
        </p:nvSpPr>
        <p:spPr>
          <a:xfrm>
            <a:off x="2212528" y="4127616"/>
            <a:ext cx="292608" cy="292608"/>
          </a:xfrm>
          <a:prstGeom prst="ellipse">
            <a:avLst/>
          </a:prstGeom>
          <a:solidFill>
            <a:srgbClr val="000F78"/>
          </a:solidFill>
          <a:ln/>
        </p:spPr>
      </p:sp>
      <p:sp>
        <p:nvSpPr>
          <p:cNvPr id="62" name="Text 59"/>
          <p:cNvSpPr txBox="1"/>
          <p:nvPr/>
        </p:nvSpPr>
        <p:spPr>
          <a:xfrm>
            <a:off x="2212528"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3" name="Shape 60"/>
          <p:cNvSpPr/>
          <p:nvPr/>
        </p:nvSpPr>
        <p:spPr>
          <a:xfrm>
            <a:off x="2596576" y="4127616"/>
            <a:ext cx="292608" cy="292608"/>
          </a:xfrm>
          <a:prstGeom prst="ellipse">
            <a:avLst/>
          </a:prstGeom>
          <a:solidFill>
            <a:srgbClr val="7F7F7F"/>
          </a:solidFill>
          <a:ln/>
        </p:spPr>
      </p:sp>
      <p:sp>
        <p:nvSpPr>
          <p:cNvPr id="64" name="Text 61"/>
          <p:cNvSpPr txBox="1"/>
          <p:nvPr/>
        </p:nvSpPr>
        <p:spPr>
          <a:xfrm>
            <a:off x="2596576" y="41276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5" name="Text 62"/>
          <p:cNvSpPr txBox="1"/>
          <p:nvPr/>
        </p:nvSpPr>
        <p:spPr>
          <a:xfrm>
            <a:off x="346028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演算子（計算式・T15）</a:t>
            </a:r>
            <a:endParaRPr lang="en-US" sz="1400" dirty="0"/>
          </a:p>
        </p:txBody>
      </p:sp>
      <p:sp>
        <p:nvSpPr>
          <p:cNvPr id="66" name="Shape 63"/>
          <p:cNvSpPr/>
          <p:nvPr/>
        </p:nvSpPr>
        <p:spPr>
          <a:xfrm>
            <a:off x="3460288" y="2335392"/>
            <a:ext cx="2985120" cy="0"/>
          </a:xfrm>
          <a:prstGeom prst="line">
            <a:avLst/>
          </a:prstGeom>
          <a:noFill/>
          <a:ln w="12700">
            <a:solidFill>
              <a:srgbClr val="7F7F7F"/>
            </a:solidFill>
            <a:prstDash val="solid"/>
          </a:ln>
        </p:spPr>
      </p:sp>
      <p:sp>
        <p:nvSpPr>
          <p:cNvPr id="67" name="Shape 64"/>
          <p:cNvSpPr/>
          <p:nvPr/>
        </p:nvSpPr>
        <p:spPr>
          <a:xfrm>
            <a:off x="3460288" y="2536560"/>
            <a:ext cx="329184" cy="329184"/>
          </a:xfrm>
          <a:prstGeom prst="ellipse">
            <a:avLst/>
          </a:prstGeom>
          <a:solidFill>
            <a:srgbClr val="000F78"/>
          </a:solidFill>
          <a:ln/>
        </p:spPr>
      </p:sp>
      <p:sp>
        <p:nvSpPr>
          <p:cNvPr id="68" name="Text 65"/>
          <p:cNvSpPr txBox="1"/>
          <p:nvPr/>
        </p:nvSpPr>
        <p:spPr>
          <a:xfrm>
            <a:off x="3460288" y="25365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387176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足す</a:t>
            </a:r>
            <a:endParaRPr lang="en-US" sz="1400" dirty="0"/>
          </a:p>
        </p:txBody>
      </p:sp>
      <p:sp>
        <p:nvSpPr>
          <p:cNvPr id="70" name="Shape 67"/>
          <p:cNvSpPr/>
          <p:nvPr/>
        </p:nvSpPr>
        <p:spPr>
          <a:xfrm>
            <a:off x="4952848" y="2536560"/>
            <a:ext cx="329184" cy="329184"/>
          </a:xfrm>
          <a:prstGeom prst="ellipse">
            <a:avLst/>
          </a:prstGeom>
          <a:solidFill>
            <a:srgbClr val="000F78"/>
          </a:solidFill>
          <a:ln/>
        </p:spPr>
      </p:sp>
      <p:sp>
        <p:nvSpPr>
          <p:cNvPr id="71" name="Text 68"/>
          <p:cNvSpPr txBox="1"/>
          <p:nvPr/>
        </p:nvSpPr>
        <p:spPr>
          <a:xfrm>
            <a:off x="4952848" y="253656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2" name="Text 69"/>
          <p:cNvSpPr txBox="1"/>
          <p:nvPr/>
        </p:nvSpPr>
        <p:spPr>
          <a:xfrm>
            <a:off x="5364328" y="2536560"/>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引く</a:t>
            </a:r>
            <a:endParaRPr lang="en-US" sz="1400" dirty="0"/>
          </a:p>
        </p:txBody>
      </p:sp>
      <p:sp>
        <p:nvSpPr>
          <p:cNvPr id="73" name="Shape 70"/>
          <p:cNvSpPr/>
          <p:nvPr/>
        </p:nvSpPr>
        <p:spPr>
          <a:xfrm>
            <a:off x="3460288" y="3103488"/>
            <a:ext cx="329184" cy="329184"/>
          </a:xfrm>
          <a:prstGeom prst="ellipse">
            <a:avLst/>
          </a:prstGeom>
          <a:solidFill>
            <a:srgbClr val="000F78"/>
          </a:solidFill>
          <a:ln/>
        </p:spPr>
      </p:sp>
      <p:sp>
        <p:nvSpPr>
          <p:cNvPr id="74" name="Text 71"/>
          <p:cNvSpPr txBox="1"/>
          <p:nvPr/>
        </p:nvSpPr>
        <p:spPr>
          <a:xfrm>
            <a:off x="3460288" y="310348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5" name="Text 72"/>
          <p:cNvSpPr txBox="1"/>
          <p:nvPr/>
        </p:nvSpPr>
        <p:spPr>
          <a:xfrm>
            <a:off x="387176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掛ける</a:t>
            </a:r>
            <a:endParaRPr lang="en-US" sz="1400" dirty="0"/>
          </a:p>
        </p:txBody>
      </p:sp>
      <p:sp>
        <p:nvSpPr>
          <p:cNvPr id="76" name="Shape 73"/>
          <p:cNvSpPr/>
          <p:nvPr/>
        </p:nvSpPr>
        <p:spPr>
          <a:xfrm>
            <a:off x="4952848" y="3103488"/>
            <a:ext cx="329184" cy="329184"/>
          </a:xfrm>
          <a:prstGeom prst="ellipse">
            <a:avLst/>
          </a:prstGeom>
          <a:solidFill>
            <a:srgbClr val="000F78"/>
          </a:solidFill>
          <a:ln/>
        </p:spPr>
      </p:sp>
      <p:sp>
        <p:nvSpPr>
          <p:cNvPr id="77" name="Text 74"/>
          <p:cNvSpPr txBox="1"/>
          <p:nvPr/>
        </p:nvSpPr>
        <p:spPr>
          <a:xfrm>
            <a:off x="4952848" y="310348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78" name="Text 75"/>
          <p:cNvSpPr txBox="1"/>
          <p:nvPr/>
        </p:nvSpPr>
        <p:spPr>
          <a:xfrm>
            <a:off x="5364328" y="3103488"/>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割る</a:t>
            </a:r>
            <a:endParaRPr lang="en-US" sz="1400" dirty="0"/>
          </a:p>
        </p:txBody>
      </p:sp>
      <p:sp>
        <p:nvSpPr>
          <p:cNvPr id="79" name="Shape 76"/>
          <p:cNvSpPr/>
          <p:nvPr/>
        </p:nvSpPr>
        <p:spPr>
          <a:xfrm>
            <a:off x="3460288" y="3670416"/>
            <a:ext cx="329184" cy="329184"/>
          </a:xfrm>
          <a:prstGeom prst="ellipse">
            <a:avLst/>
          </a:prstGeom>
          <a:solidFill>
            <a:srgbClr val="000F78"/>
          </a:solidFill>
          <a:ln/>
        </p:spPr>
      </p:sp>
      <p:sp>
        <p:nvSpPr>
          <p:cNvPr id="80" name="Text 77"/>
          <p:cNvSpPr txBox="1"/>
          <p:nvPr/>
        </p:nvSpPr>
        <p:spPr>
          <a:xfrm>
            <a:off x="3460288" y="36704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81" name="Text 78"/>
          <p:cNvSpPr txBox="1"/>
          <p:nvPr/>
        </p:nvSpPr>
        <p:spPr>
          <a:xfrm>
            <a:off x="387176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等しい</a:t>
            </a:r>
            <a:endParaRPr lang="en-US" sz="1400" dirty="0"/>
          </a:p>
        </p:txBody>
      </p:sp>
      <p:sp>
        <p:nvSpPr>
          <p:cNvPr id="82" name="Shape 79"/>
          <p:cNvSpPr/>
          <p:nvPr/>
        </p:nvSpPr>
        <p:spPr>
          <a:xfrm>
            <a:off x="4952848" y="3670416"/>
            <a:ext cx="329184" cy="329184"/>
          </a:xfrm>
          <a:prstGeom prst="ellipse">
            <a:avLst/>
          </a:prstGeom>
          <a:solidFill>
            <a:srgbClr val="000F78"/>
          </a:solidFill>
          <a:ln/>
        </p:spPr>
      </p:sp>
      <p:sp>
        <p:nvSpPr>
          <p:cNvPr id="83" name="Text 80"/>
          <p:cNvSpPr txBox="1"/>
          <p:nvPr/>
        </p:nvSpPr>
        <p:spPr>
          <a:xfrm>
            <a:off x="4952848" y="36704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84" name="Text 81"/>
          <p:cNvSpPr txBox="1"/>
          <p:nvPr/>
        </p:nvSpPr>
        <p:spPr>
          <a:xfrm>
            <a:off x="5364328" y="3670416"/>
            <a:ext cx="103536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ほぼ等しい</a:t>
            </a:r>
            <a:endParaRPr lang="en-US" sz="1400" dirty="0"/>
          </a:p>
        </p:txBody>
      </p:sp>
      <p:sp>
        <p:nvSpPr>
          <p:cNvPr id="85" name="Text 82"/>
          <p:cNvSpPr txBox="1"/>
          <p:nvPr/>
        </p:nvSpPr>
        <p:spPr>
          <a:xfrm>
            <a:off x="6719728" y="1987920"/>
            <a:ext cx="2985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状態の印</a:t>
            </a:r>
            <a:endParaRPr lang="en-US" sz="1400" dirty="0"/>
          </a:p>
        </p:txBody>
      </p:sp>
      <p:sp>
        <p:nvSpPr>
          <p:cNvPr id="86" name="Shape 83"/>
          <p:cNvSpPr/>
          <p:nvPr/>
        </p:nvSpPr>
        <p:spPr>
          <a:xfrm>
            <a:off x="6719728" y="2335392"/>
            <a:ext cx="2985120" cy="0"/>
          </a:xfrm>
          <a:prstGeom prst="line">
            <a:avLst/>
          </a:prstGeom>
          <a:noFill/>
          <a:ln w="12700">
            <a:solidFill>
              <a:srgbClr val="7F7F7F"/>
            </a:solidFill>
            <a:prstDash val="solid"/>
          </a:ln>
        </p:spPr>
      </p:sp>
      <p:sp>
        <p:nvSpPr>
          <p:cNvPr id="87" name="Shape 84"/>
          <p:cNvSpPr/>
          <p:nvPr/>
        </p:nvSpPr>
        <p:spPr>
          <a:xfrm>
            <a:off x="6719728" y="2490840"/>
            <a:ext cx="310896" cy="310896"/>
          </a:xfrm>
          <a:prstGeom prst="ellipse">
            <a:avLst/>
          </a:prstGeom>
          <a:solidFill>
            <a:srgbClr val="000F78"/>
          </a:solidFill>
          <a:ln/>
        </p:spPr>
      </p:sp>
      <p:sp>
        <p:nvSpPr>
          <p:cNvPr id="88" name="Text 85"/>
          <p:cNvSpPr txBox="1"/>
          <p:nvPr/>
        </p:nvSpPr>
        <p:spPr>
          <a:xfrm>
            <a:off x="6719728" y="2490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89" name="Text 86"/>
          <p:cNvSpPr txBox="1"/>
          <p:nvPr/>
        </p:nvSpPr>
        <p:spPr>
          <a:xfrm>
            <a:off x="7131208" y="2490840"/>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完了・該当</a:t>
            </a:r>
            <a:endParaRPr lang="en-US" sz="1400" dirty="0"/>
          </a:p>
        </p:txBody>
      </p:sp>
      <p:sp>
        <p:nvSpPr>
          <p:cNvPr id="90" name="Shape 87"/>
          <p:cNvSpPr/>
          <p:nvPr/>
        </p:nvSpPr>
        <p:spPr>
          <a:xfrm>
            <a:off x="6719728" y="2911464"/>
            <a:ext cx="310896" cy="310896"/>
          </a:xfrm>
          <a:prstGeom prst="ellipse">
            <a:avLst/>
          </a:prstGeom>
          <a:solidFill>
            <a:srgbClr val="000F78"/>
          </a:solidFill>
          <a:ln/>
        </p:spPr>
      </p:sp>
      <p:sp>
        <p:nvSpPr>
          <p:cNvPr id="91" name="Text 88"/>
          <p:cNvSpPr txBox="1"/>
          <p:nvPr/>
        </p:nvSpPr>
        <p:spPr>
          <a:xfrm>
            <a:off x="6719728" y="2911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2" name="Text 89"/>
          <p:cNvSpPr txBox="1"/>
          <p:nvPr/>
        </p:nvSpPr>
        <p:spPr>
          <a:xfrm>
            <a:off x="7131208" y="2911464"/>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増える・上がる</a:t>
            </a:r>
            <a:endParaRPr lang="en-US" sz="1400" dirty="0"/>
          </a:p>
        </p:txBody>
      </p:sp>
      <p:sp>
        <p:nvSpPr>
          <p:cNvPr id="93" name="Shape 90"/>
          <p:cNvSpPr/>
          <p:nvPr/>
        </p:nvSpPr>
        <p:spPr>
          <a:xfrm>
            <a:off x="6719728" y="3332088"/>
            <a:ext cx="310896" cy="310896"/>
          </a:xfrm>
          <a:prstGeom prst="ellipse">
            <a:avLst/>
          </a:prstGeom>
          <a:solidFill>
            <a:srgbClr val="000F78"/>
          </a:solidFill>
          <a:ln/>
        </p:spPr>
      </p:sp>
      <p:sp>
        <p:nvSpPr>
          <p:cNvPr id="94" name="Text 91"/>
          <p:cNvSpPr txBox="1"/>
          <p:nvPr/>
        </p:nvSpPr>
        <p:spPr>
          <a:xfrm>
            <a:off x="6719728" y="3332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5" name="Text 92"/>
          <p:cNvSpPr txBox="1"/>
          <p:nvPr/>
        </p:nvSpPr>
        <p:spPr>
          <a:xfrm>
            <a:off x="7131208" y="3332088"/>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減る・下がる</a:t>
            </a:r>
            <a:endParaRPr lang="en-US" sz="1400" dirty="0"/>
          </a:p>
        </p:txBody>
      </p:sp>
      <p:sp>
        <p:nvSpPr>
          <p:cNvPr id="96" name="Shape 93"/>
          <p:cNvSpPr/>
          <p:nvPr/>
        </p:nvSpPr>
        <p:spPr>
          <a:xfrm>
            <a:off x="6719728" y="3752712"/>
            <a:ext cx="310896" cy="310896"/>
          </a:xfrm>
          <a:prstGeom prst="ellipse">
            <a:avLst/>
          </a:prstGeom>
          <a:solidFill>
            <a:srgbClr val="000F78"/>
          </a:solidFill>
          <a:ln/>
        </p:spPr>
      </p:sp>
      <p:sp>
        <p:nvSpPr>
          <p:cNvPr id="97" name="Text 94"/>
          <p:cNvSpPr txBox="1"/>
          <p:nvPr/>
        </p:nvSpPr>
        <p:spPr>
          <a:xfrm>
            <a:off x="6719728" y="3752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98" name="Text 95"/>
          <p:cNvSpPr txBox="1"/>
          <p:nvPr/>
        </p:nvSpPr>
        <p:spPr>
          <a:xfrm>
            <a:off x="7131208" y="3752712"/>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未確認・論点</a:t>
            </a:r>
            <a:endParaRPr lang="en-US" sz="1400" dirty="0"/>
          </a:p>
        </p:txBody>
      </p:sp>
      <p:sp>
        <p:nvSpPr>
          <p:cNvPr id="99" name="Shape 96"/>
          <p:cNvSpPr/>
          <p:nvPr/>
        </p:nvSpPr>
        <p:spPr>
          <a:xfrm>
            <a:off x="6719728" y="4173336"/>
            <a:ext cx="310896" cy="310896"/>
          </a:xfrm>
          <a:prstGeom prst="ellipse">
            <a:avLst/>
          </a:prstGeom>
          <a:solidFill>
            <a:srgbClr val="000F78"/>
          </a:solidFill>
          <a:ln/>
        </p:spPr>
      </p:sp>
      <p:sp>
        <p:nvSpPr>
          <p:cNvPr id="100" name="Text 97"/>
          <p:cNvSpPr txBox="1"/>
          <p:nvPr/>
        </p:nvSpPr>
        <p:spPr>
          <a:xfrm>
            <a:off x="6719728" y="41733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UI" pitchFamily="34" charset="0"/>
                <a:ea typeface="Yu Gothic UI" pitchFamily="34" charset="-122"/>
                <a:cs typeface="Yu Gothic UI" pitchFamily="34" charset="-120"/>
              </a:rPr>
              <a:t>→</a:t>
            </a:r>
            <a:endParaRPr lang="en-US" sz="1300" dirty="0"/>
          </a:p>
        </p:txBody>
      </p:sp>
      <p:sp>
        <p:nvSpPr>
          <p:cNvPr id="101" name="Text 98"/>
          <p:cNvSpPr txBox="1"/>
          <p:nvPr/>
        </p:nvSpPr>
        <p:spPr>
          <a:xfrm>
            <a:off x="7131208" y="4173336"/>
            <a:ext cx="2527920" cy="310896"/>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次へ・移行</a:t>
            </a:r>
            <a:endParaRPr lang="en-US" sz="1400" dirty="0"/>
          </a:p>
        </p:txBody>
      </p:sp>
      <p:sp>
        <p:nvSpPr>
          <p:cNvPr id="102" name="Text 99"/>
          <p:cNvSpPr txBox="1"/>
          <p:nvPr/>
        </p:nvSpPr>
        <p:spPr>
          <a:xfrm>
            <a:off x="7131208" y="4621392"/>
            <a:ext cx="2527920" cy="329184"/>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循環（P45）</a:t>
            </a:r>
            <a:endParaRPr lang="en-US" sz="1400" dirty="0"/>
          </a:p>
        </p:txBody>
      </p:sp>
      <p:sp>
        <p:nvSpPr>
          <p:cNvPr id="103" name="Text 100"/>
          <p:cNvSpPr txBox="1"/>
          <p:nvPr/>
        </p:nvSpPr>
        <p:spPr>
          <a:xfrm>
            <a:off x="200848" y="4959720"/>
            <a:ext cx="9504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使い分け</a:t>
            </a:r>
            <a:endParaRPr lang="en-US" sz="1400" dirty="0"/>
          </a:p>
        </p:txBody>
      </p:sp>
      <p:sp>
        <p:nvSpPr>
          <p:cNvPr id="104" name="Shape 101"/>
          <p:cNvSpPr/>
          <p:nvPr/>
        </p:nvSpPr>
        <p:spPr>
          <a:xfrm>
            <a:off x="200848" y="5307192"/>
            <a:ext cx="9504000" cy="0"/>
          </a:xfrm>
          <a:prstGeom prst="line">
            <a:avLst/>
          </a:prstGeom>
          <a:noFill/>
          <a:ln w="12700">
            <a:solidFill>
              <a:srgbClr val="7F7F7F"/>
            </a:solidFill>
            <a:prstDash val="solid"/>
          </a:ln>
        </p:spPr>
      </p:sp>
      <p:sp>
        <p:nvSpPr>
          <p:cNvPr id="105" name="Text 102"/>
          <p:cNvSpPr txBox="1"/>
          <p:nvPr/>
        </p:nvSpPr>
        <p:spPr>
          <a:xfrm>
            <a:off x="200848" y="5389488"/>
            <a:ext cx="9504000" cy="7772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番号は後のページで参照するときだけ振る。並列の項目には振らない</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番号の形（四角・ひし形・丸）は1つの資料で1種類にそろえ、強調する番号だけ紺にする</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状態の印は凡例で意味を書き、信号機の3色（赤・黄・緑）にしない</a:t>
            </a:r>
            <a:endParaRPr lang="en-US" sz="1400" dirty="0"/>
          </a:p>
        </p:txBody>
      </p:sp>
      <p:pic>
        <p:nvPicPr>
          <p:cNvPr id="106" name="Image 0" descr="refresh-cw">    </p:cNvPr>
          <p:cNvPicPr>
            <a:picLocks noChangeAspect="1"/>
          </p:cNvPicPr>
          <p:nvPr/>
        </p:nvPicPr>
        <p:blipFill>
          <a:blip r:embed="rId1"/>
          <a:stretch>
            <a:fillRect/>
          </a:stretch>
        </p:blipFill>
        <p:spPr>
          <a:xfrm>
            <a:off x="6719728" y="4621392"/>
            <a:ext cx="310896" cy="310896"/>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目次は番号と章名を縦の線とともに1列に並べ、右に各章で答える問いを添える。章扉では該当する章だけを紺・太字にする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92</a:t>
            </a:r>
            <a:endParaRPr lang="en-US" sz="900" dirty="0"/>
          </a:p>
        </p:txBody>
      </p:sp>
      <p:sp>
        <p:nvSpPr>
          <p:cNvPr id="10" name="Shape 7"/>
          <p:cNvSpPr/>
          <p:nvPr/>
        </p:nvSpPr>
        <p:spPr>
          <a:xfrm>
            <a:off x="749488" y="1576440"/>
            <a:ext cx="0" cy="731520"/>
          </a:xfrm>
          <a:prstGeom prst="line">
            <a:avLst/>
          </a:prstGeom>
          <a:noFill/>
          <a:ln w="19050">
            <a:solidFill>
              <a:srgbClr val="7F7F7F"/>
            </a:solidFill>
            <a:prstDash val="solid"/>
          </a:ln>
        </p:spPr>
      </p:sp>
      <p:sp>
        <p:nvSpPr>
          <p:cNvPr id="11" name="Text 8"/>
          <p:cNvSpPr txBox="1"/>
          <p:nvPr/>
        </p:nvSpPr>
        <p:spPr>
          <a:xfrm>
            <a:off x="978088" y="157644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81008" y="157644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3" name="Text 10"/>
          <p:cNvSpPr txBox="1"/>
          <p:nvPr/>
        </p:nvSpPr>
        <p:spPr>
          <a:xfrm>
            <a:off x="5321488" y="179589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Shape 11"/>
          <p:cNvSpPr/>
          <p:nvPr/>
        </p:nvSpPr>
        <p:spPr>
          <a:xfrm>
            <a:off x="749488" y="2628000"/>
            <a:ext cx="0" cy="731520"/>
          </a:xfrm>
          <a:prstGeom prst="line">
            <a:avLst/>
          </a:prstGeom>
          <a:noFill/>
          <a:ln w="19050">
            <a:solidFill>
              <a:srgbClr val="7F7F7F"/>
            </a:solidFill>
            <a:prstDash val="solid"/>
          </a:ln>
        </p:spPr>
      </p:sp>
      <p:sp>
        <p:nvSpPr>
          <p:cNvPr id="15" name="Text 12"/>
          <p:cNvSpPr txBox="1"/>
          <p:nvPr/>
        </p:nvSpPr>
        <p:spPr>
          <a:xfrm>
            <a:off x="978088" y="262800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1481008" y="262800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7" name="Text 14"/>
          <p:cNvSpPr txBox="1"/>
          <p:nvPr/>
        </p:nvSpPr>
        <p:spPr>
          <a:xfrm>
            <a:off x="5321488" y="284745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749488" y="3679560"/>
            <a:ext cx="0" cy="731520"/>
          </a:xfrm>
          <a:prstGeom prst="line">
            <a:avLst/>
          </a:prstGeom>
          <a:noFill/>
          <a:ln w="19050">
            <a:solidFill>
              <a:srgbClr val="7F7F7F"/>
            </a:solidFill>
            <a:prstDash val="solid"/>
          </a:ln>
        </p:spPr>
      </p:sp>
      <p:sp>
        <p:nvSpPr>
          <p:cNvPr id="19" name="Text 16"/>
          <p:cNvSpPr txBox="1"/>
          <p:nvPr/>
        </p:nvSpPr>
        <p:spPr>
          <a:xfrm>
            <a:off x="978088" y="367956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1481008" y="367956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1" name="Text 18"/>
          <p:cNvSpPr txBox="1"/>
          <p:nvPr/>
        </p:nvSpPr>
        <p:spPr>
          <a:xfrm>
            <a:off x="5321488" y="389901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749488" y="4731120"/>
            <a:ext cx="0" cy="731520"/>
          </a:xfrm>
          <a:prstGeom prst="line">
            <a:avLst/>
          </a:prstGeom>
          <a:noFill/>
          <a:ln w="19050">
            <a:solidFill>
              <a:srgbClr val="7F7F7F"/>
            </a:solidFill>
            <a:prstDash val="solid"/>
          </a:ln>
        </p:spPr>
      </p:sp>
      <p:sp>
        <p:nvSpPr>
          <p:cNvPr id="23" name="Text 20"/>
          <p:cNvSpPr txBox="1"/>
          <p:nvPr/>
        </p:nvSpPr>
        <p:spPr>
          <a:xfrm>
            <a:off x="978088" y="4731120"/>
            <a:ext cx="457200" cy="731520"/>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1481008" y="4731120"/>
            <a:ext cx="3657600" cy="731520"/>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5" name="Text 22"/>
          <p:cNvSpPr txBox="1"/>
          <p:nvPr/>
        </p:nvSpPr>
        <p:spPr>
          <a:xfrm>
            <a:off x="5321488" y="4950576"/>
            <a:ext cx="438336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構成</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報告書の構成は章番号と章名を淡い帯で示し、右に各章の要点を1行で添える。帯の色は全章で同じにし、強調には使わない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93</a:t>
            </a:r>
            <a:endParaRPr lang="en-US" sz="900" dirty="0"/>
          </a:p>
        </p:txBody>
      </p:sp>
      <p:sp>
        <p:nvSpPr>
          <p:cNvPr id="10" name="Shape 7"/>
          <p:cNvSpPr/>
          <p:nvPr/>
        </p:nvSpPr>
        <p:spPr>
          <a:xfrm>
            <a:off x="200848" y="1530720"/>
            <a:ext cx="45720" cy="475488"/>
          </a:xfrm>
          <a:prstGeom prst="rect">
            <a:avLst/>
          </a:prstGeom>
          <a:solidFill>
            <a:srgbClr val="000F78"/>
          </a:solidFill>
          <a:ln/>
        </p:spPr>
      </p:sp>
      <p:sp>
        <p:nvSpPr>
          <p:cNvPr id="11" name="Shape 8"/>
          <p:cNvSpPr/>
          <p:nvPr/>
        </p:nvSpPr>
        <p:spPr>
          <a:xfrm>
            <a:off x="310576" y="1530720"/>
            <a:ext cx="5120640" cy="475488"/>
          </a:xfrm>
          <a:prstGeom prst="rect">
            <a:avLst/>
          </a:prstGeom>
          <a:solidFill>
            <a:srgbClr val="E0EEF8"/>
          </a:solidFill>
          <a:ln/>
        </p:spPr>
      </p:sp>
      <p:sp>
        <p:nvSpPr>
          <p:cNvPr id="12" name="Text 9"/>
          <p:cNvSpPr txBox="1"/>
          <p:nvPr/>
        </p:nvSpPr>
        <p:spPr>
          <a:xfrm>
            <a:off x="429448" y="153072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1.</a:t>
            </a:r>
            <a:endParaRPr lang="en-US" sz="1600" dirty="0"/>
          </a:p>
        </p:txBody>
      </p:sp>
      <p:sp>
        <p:nvSpPr>
          <p:cNvPr id="13" name="Text 10"/>
          <p:cNvSpPr txBox="1"/>
          <p:nvPr/>
        </p:nvSpPr>
        <p:spPr>
          <a:xfrm>
            <a:off x="932368" y="153072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4" name="Text 11"/>
          <p:cNvSpPr txBox="1"/>
          <p:nvPr/>
        </p:nvSpPr>
        <p:spPr>
          <a:xfrm>
            <a:off x="5687248" y="162216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00848" y="2152512"/>
            <a:ext cx="45720" cy="475488"/>
          </a:xfrm>
          <a:prstGeom prst="rect">
            <a:avLst/>
          </a:prstGeom>
          <a:solidFill>
            <a:srgbClr val="000F78"/>
          </a:solidFill>
          <a:ln/>
        </p:spPr>
      </p:sp>
      <p:sp>
        <p:nvSpPr>
          <p:cNvPr id="16" name="Shape 13"/>
          <p:cNvSpPr/>
          <p:nvPr/>
        </p:nvSpPr>
        <p:spPr>
          <a:xfrm>
            <a:off x="310576" y="2152512"/>
            <a:ext cx="5120640" cy="475488"/>
          </a:xfrm>
          <a:prstGeom prst="rect">
            <a:avLst/>
          </a:prstGeom>
          <a:solidFill>
            <a:srgbClr val="E0EEF8"/>
          </a:solidFill>
          <a:ln/>
        </p:spPr>
      </p:sp>
      <p:sp>
        <p:nvSpPr>
          <p:cNvPr id="17" name="Text 14"/>
          <p:cNvSpPr txBox="1"/>
          <p:nvPr/>
        </p:nvSpPr>
        <p:spPr>
          <a:xfrm>
            <a:off x="429448" y="215251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932368" y="215251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19" name="Text 16"/>
          <p:cNvSpPr txBox="1"/>
          <p:nvPr/>
        </p:nvSpPr>
        <p:spPr>
          <a:xfrm>
            <a:off x="5687248" y="224395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00848" y="2774304"/>
            <a:ext cx="45720" cy="475488"/>
          </a:xfrm>
          <a:prstGeom prst="rect">
            <a:avLst/>
          </a:prstGeom>
          <a:solidFill>
            <a:srgbClr val="000F78"/>
          </a:solidFill>
          <a:ln/>
        </p:spPr>
      </p:sp>
      <p:sp>
        <p:nvSpPr>
          <p:cNvPr id="21" name="Shape 18"/>
          <p:cNvSpPr/>
          <p:nvPr/>
        </p:nvSpPr>
        <p:spPr>
          <a:xfrm>
            <a:off x="310576" y="2774304"/>
            <a:ext cx="5120640" cy="475488"/>
          </a:xfrm>
          <a:prstGeom prst="rect">
            <a:avLst/>
          </a:prstGeom>
          <a:solidFill>
            <a:srgbClr val="E0EEF8"/>
          </a:solidFill>
          <a:ln/>
        </p:spPr>
      </p:sp>
      <p:sp>
        <p:nvSpPr>
          <p:cNvPr id="22" name="Text 19"/>
          <p:cNvSpPr txBox="1"/>
          <p:nvPr/>
        </p:nvSpPr>
        <p:spPr>
          <a:xfrm>
            <a:off x="429448" y="2774304"/>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3.</a:t>
            </a:r>
            <a:endParaRPr lang="en-US" sz="1600" dirty="0"/>
          </a:p>
        </p:txBody>
      </p:sp>
      <p:sp>
        <p:nvSpPr>
          <p:cNvPr id="23" name="Text 20"/>
          <p:cNvSpPr txBox="1"/>
          <p:nvPr/>
        </p:nvSpPr>
        <p:spPr>
          <a:xfrm>
            <a:off x="932368" y="2774304"/>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4" name="Text 21"/>
          <p:cNvSpPr txBox="1"/>
          <p:nvPr/>
        </p:nvSpPr>
        <p:spPr>
          <a:xfrm>
            <a:off x="5687248" y="2865744"/>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396096"/>
            <a:ext cx="45720" cy="475488"/>
          </a:xfrm>
          <a:prstGeom prst="rect">
            <a:avLst/>
          </a:prstGeom>
          <a:solidFill>
            <a:srgbClr val="000F78"/>
          </a:solidFill>
          <a:ln/>
        </p:spPr>
      </p:sp>
      <p:sp>
        <p:nvSpPr>
          <p:cNvPr id="26" name="Shape 23"/>
          <p:cNvSpPr/>
          <p:nvPr/>
        </p:nvSpPr>
        <p:spPr>
          <a:xfrm>
            <a:off x="310576" y="3396096"/>
            <a:ext cx="5120640" cy="475488"/>
          </a:xfrm>
          <a:prstGeom prst="rect">
            <a:avLst/>
          </a:prstGeom>
          <a:solidFill>
            <a:srgbClr val="E0EEF8"/>
          </a:solidFill>
          <a:ln/>
        </p:spPr>
      </p:sp>
      <p:sp>
        <p:nvSpPr>
          <p:cNvPr id="27" name="Text 24"/>
          <p:cNvSpPr txBox="1"/>
          <p:nvPr/>
        </p:nvSpPr>
        <p:spPr>
          <a:xfrm>
            <a:off x="429448" y="3396096"/>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4.</a:t>
            </a:r>
            <a:endParaRPr lang="en-US" sz="1600" dirty="0"/>
          </a:p>
        </p:txBody>
      </p:sp>
      <p:sp>
        <p:nvSpPr>
          <p:cNvPr id="28" name="Text 25"/>
          <p:cNvSpPr txBox="1"/>
          <p:nvPr/>
        </p:nvSpPr>
        <p:spPr>
          <a:xfrm>
            <a:off x="932368" y="3396096"/>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29" name="Text 26"/>
          <p:cNvSpPr txBox="1"/>
          <p:nvPr/>
        </p:nvSpPr>
        <p:spPr>
          <a:xfrm>
            <a:off x="5687248" y="3487536"/>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200848" y="4017888"/>
            <a:ext cx="45720" cy="475488"/>
          </a:xfrm>
          <a:prstGeom prst="rect">
            <a:avLst/>
          </a:prstGeom>
          <a:solidFill>
            <a:srgbClr val="000F78"/>
          </a:solidFill>
          <a:ln/>
        </p:spPr>
      </p:sp>
      <p:sp>
        <p:nvSpPr>
          <p:cNvPr id="31" name="Shape 28"/>
          <p:cNvSpPr/>
          <p:nvPr/>
        </p:nvSpPr>
        <p:spPr>
          <a:xfrm>
            <a:off x="310576" y="4017888"/>
            <a:ext cx="5120640" cy="475488"/>
          </a:xfrm>
          <a:prstGeom prst="rect">
            <a:avLst/>
          </a:prstGeom>
          <a:solidFill>
            <a:srgbClr val="E0EEF8"/>
          </a:solidFill>
          <a:ln/>
        </p:spPr>
      </p:sp>
      <p:sp>
        <p:nvSpPr>
          <p:cNvPr id="32" name="Text 29"/>
          <p:cNvSpPr txBox="1"/>
          <p:nvPr/>
        </p:nvSpPr>
        <p:spPr>
          <a:xfrm>
            <a:off x="429448" y="4017888"/>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5.</a:t>
            </a:r>
            <a:endParaRPr lang="en-US" sz="1600" dirty="0"/>
          </a:p>
        </p:txBody>
      </p:sp>
      <p:sp>
        <p:nvSpPr>
          <p:cNvPr id="33" name="Text 30"/>
          <p:cNvSpPr txBox="1"/>
          <p:nvPr/>
        </p:nvSpPr>
        <p:spPr>
          <a:xfrm>
            <a:off x="932368" y="4017888"/>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4" name="Text 31"/>
          <p:cNvSpPr txBox="1"/>
          <p:nvPr/>
        </p:nvSpPr>
        <p:spPr>
          <a:xfrm>
            <a:off x="5687248" y="4109328"/>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39680"/>
            <a:ext cx="45720" cy="475488"/>
          </a:xfrm>
          <a:prstGeom prst="rect">
            <a:avLst/>
          </a:prstGeom>
          <a:solidFill>
            <a:srgbClr val="000F78"/>
          </a:solidFill>
          <a:ln/>
        </p:spPr>
      </p:sp>
      <p:sp>
        <p:nvSpPr>
          <p:cNvPr id="36" name="Shape 33"/>
          <p:cNvSpPr/>
          <p:nvPr/>
        </p:nvSpPr>
        <p:spPr>
          <a:xfrm>
            <a:off x="310576" y="4639680"/>
            <a:ext cx="5120640" cy="475488"/>
          </a:xfrm>
          <a:prstGeom prst="rect">
            <a:avLst/>
          </a:prstGeom>
          <a:solidFill>
            <a:srgbClr val="E0EEF8"/>
          </a:solidFill>
          <a:ln/>
        </p:spPr>
      </p:sp>
      <p:sp>
        <p:nvSpPr>
          <p:cNvPr id="37" name="Text 34"/>
          <p:cNvSpPr txBox="1"/>
          <p:nvPr/>
        </p:nvSpPr>
        <p:spPr>
          <a:xfrm>
            <a:off x="429448" y="4639680"/>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6.</a:t>
            </a:r>
            <a:endParaRPr lang="en-US" sz="1600" dirty="0"/>
          </a:p>
        </p:txBody>
      </p:sp>
      <p:sp>
        <p:nvSpPr>
          <p:cNvPr id="38" name="Text 35"/>
          <p:cNvSpPr txBox="1"/>
          <p:nvPr/>
        </p:nvSpPr>
        <p:spPr>
          <a:xfrm>
            <a:off x="932368" y="4639680"/>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39" name="Text 36"/>
          <p:cNvSpPr txBox="1"/>
          <p:nvPr/>
        </p:nvSpPr>
        <p:spPr>
          <a:xfrm>
            <a:off x="5687248" y="4731120"/>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200848" y="5261472"/>
            <a:ext cx="45720" cy="475488"/>
          </a:xfrm>
          <a:prstGeom prst="rect">
            <a:avLst/>
          </a:prstGeom>
          <a:solidFill>
            <a:srgbClr val="000F78"/>
          </a:solidFill>
          <a:ln/>
        </p:spPr>
      </p:sp>
      <p:sp>
        <p:nvSpPr>
          <p:cNvPr id="41" name="Shape 38"/>
          <p:cNvSpPr/>
          <p:nvPr/>
        </p:nvSpPr>
        <p:spPr>
          <a:xfrm>
            <a:off x="310576" y="5261472"/>
            <a:ext cx="5120640" cy="475488"/>
          </a:xfrm>
          <a:prstGeom prst="rect">
            <a:avLst/>
          </a:prstGeom>
          <a:solidFill>
            <a:srgbClr val="E0EEF8"/>
          </a:solidFill>
          <a:ln/>
        </p:spPr>
      </p:sp>
      <p:sp>
        <p:nvSpPr>
          <p:cNvPr id="42" name="Text 39"/>
          <p:cNvSpPr txBox="1"/>
          <p:nvPr/>
        </p:nvSpPr>
        <p:spPr>
          <a:xfrm>
            <a:off x="429448" y="5261472"/>
            <a:ext cx="457200" cy="475488"/>
          </a:xfrm>
          <a:prstGeom prst="rect">
            <a:avLst/>
          </a:prstGeom>
          <a:noFill/>
          <a:ln/>
        </p:spPr>
        <p:txBody>
          <a:bodyPr wrap="square" lIns="0" tIns="0" rIns="0" bIns="0" rtlCol="0" anchor="ctr"/>
          <a:lstStyle/>
          <a:p>
            <a:pPr indent="0" marL="0">
              <a:buNone/>
            </a:pPr>
            <a:r>
              <a:rPr lang="en-US" sz="1600" dirty="0">
                <a:solidFill>
                  <a:srgbClr val="3F3F3F"/>
                </a:solidFill>
                <a:latin typeface="Arial" pitchFamily="34" charset="0"/>
                <a:ea typeface="Arial" pitchFamily="34" charset="-122"/>
                <a:cs typeface="Arial" pitchFamily="34" charset="-120"/>
              </a:rPr>
              <a:t>7.</a:t>
            </a:r>
            <a:endParaRPr lang="en-US" sz="1600" dirty="0"/>
          </a:p>
        </p:txBody>
      </p:sp>
      <p:sp>
        <p:nvSpPr>
          <p:cNvPr id="43" name="Text 40"/>
          <p:cNvSpPr txBox="1"/>
          <p:nvPr/>
        </p:nvSpPr>
        <p:spPr>
          <a:xfrm>
            <a:off x="932368" y="5261472"/>
            <a:ext cx="4389120" cy="475488"/>
          </a:xfrm>
          <a:prstGeom prst="rect">
            <a:avLst/>
          </a:prstGeom>
          <a:noFill/>
          <a:ln/>
        </p:spPr>
        <p:txBody>
          <a:bodyPr wrap="square" lIns="0" tIns="0" rIns="0" bIns="0" rtlCol="0" anchor="ctr"/>
          <a:lstStyle/>
          <a:p>
            <a:pPr indent="0" marL="0">
              <a:buNone/>
            </a:pPr>
            <a:r>
              <a:rPr lang="en-US" sz="1600" dirty="0">
                <a:solidFill>
                  <a:srgbClr val="3F3F3F"/>
                </a:solidFill>
                <a:latin typeface="Yu Gothic UI" pitchFamily="34" charset="0"/>
                <a:ea typeface="Yu Gothic UI" pitchFamily="34" charset="-122"/>
                <a:cs typeface="Yu Gothic UI" pitchFamily="34" charset="-120"/>
              </a:rPr>
              <a:t>XX</a:t>
            </a:r>
            <a:endParaRPr lang="en-US" sz="1600" dirty="0"/>
          </a:p>
        </p:txBody>
      </p:sp>
      <p:sp>
        <p:nvSpPr>
          <p:cNvPr id="44" name="Text 41"/>
          <p:cNvSpPr txBox="1"/>
          <p:nvPr/>
        </p:nvSpPr>
        <p:spPr>
          <a:xfrm>
            <a:off x="5687248" y="5352912"/>
            <a:ext cx="4017600" cy="365760"/>
          </a:xfrm>
          <a:prstGeom prst="rect">
            <a:avLst/>
          </a:prstGeom>
          <a:noFill/>
          <a:ln/>
        </p:spPr>
        <p:txBody>
          <a:bodyPr wrap="square" lIns="0" tIns="0" rIns="0" bIns="0" rtlCol="0" anchor="t"/>
          <a:lstStyle/>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背景と目的</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背景と目的は左右に並べ、左の背景から右の目的が導かれることを中央の矢印で示す。目的は検討で答える1〜2点に絞って書く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94</a:t>
            </a:r>
            <a:endParaRPr lang="en-US" sz="900" dirty="0"/>
          </a:p>
        </p:txBody>
      </p:sp>
      <p:sp>
        <p:nvSpPr>
          <p:cNvPr id="10" name="Text 7"/>
          <p:cNvSpPr txBox="1"/>
          <p:nvPr/>
        </p:nvSpPr>
        <p:spPr>
          <a:xfrm>
            <a:off x="20084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背景</a:t>
            </a:r>
            <a:endParaRPr lang="en-US" sz="1400" dirty="0"/>
          </a:p>
        </p:txBody>
      </p:sp>
      <p:sp>
        <p:nvSpPr>
          <p:cNvPr id="11" name="Shape 8"/>
          <p:cNvSpPr/>
          <p:nvPr/>
        </p:nvSpPr>
        <p:spPr>
          <a:xfrm>
            <a:off x="200848" y="1832472"/>
            <a:ext cx="4431960" cy="0"/>
          </a:xfrm>
          <a:prstGeom prst="line">
            <a:avLst/>
          </a:prstGeom>
          <a:noFill/>
          <a:ln w="12700">
            <a:solidFill>
              <a:srgbClr val="7F7F7F"/>
            </a:solidFill>
            <a:prstDash val="solid"/>
          </a:ln>
        </p:spPr>
      </p:sp>
      <p:sp>
        <p:nvSpPr>
          <p:cNvPr id="12" name="Text 9"/>
          <p:cNvSpPr txBox="1"/>
          <p:nvPr/>
        </p:nvSpPr>
        <p:spPr>
          <a:xfrm>
            <a:off x="20084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Text 10"/>
          <p:cNvSpPr txBox="1"/>
          <p:nvPr/>
        </p:nvSpPr>
        <p:spPr>
          <a:xfrm>
            <a:off x="5272888" y="1485000"/>
            <a:ext cx="44319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　　目的</a:t>
            </a:r>
            <a:endParaRPr lang="en-US" sz="1400" dirty="0"/>
          </a:p>
        </p:txBody>
      </p:sp>
      <p:sp>
        <p:nvSpPr>
          <p:cNvPr id="14" name="Shape 11"/>
          <p:cNvSpPr/>
          <p:nvPr/>
        </p:nvSpPr>
        <p:spPr>
          <a:xfrm>
            <a:off x="5272888" y="1832472"/>
            <a:ext cx="4431960" cy="0"/>
          </a:xfrm>
          <a:prstGeom prst="line">
            <a:avLst/>
          </a:prstGeom>
          <a:noFill/>
          <a:ln w="12700">
            <a:solidFill>
              <a:srgbClr val="7F7F7F"/>
            </a:solidFill>
            <a:prstDash val="solid"/>
          </a:ln>
        </p:spPr>
      </p:sp>
      <p:sp>
        <p:nvSpPr>
          <p:cNvPr id="15" name="Text 12"/>
          <p:cNvSpPr txBox="1"/>
          <p:nvPr/>
        </p:nvSpPr>
        <p:spPr>
          <a:xfrm>
            <a:off x="5272888" y="2033640"/>
            <a:ext cx="4431960" cy="22860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4952848" y="2033640"/>
            <a:ext cx="0" cy="4023360"/>
          </a:xfrm>
          <a:prstGeom prst="line">
            <a:avLst/>
          </a:prstGeom>
          <a:noFill/>
          <a:ln w="12700">
            <a:solidFill>
              <a:srgbClr val="7F7F7F"/>
            </a:solidFill>
            <a:prstDash val="solid"/>
          </a:ln>
        </p:spPr>
      </p:sp>
      <p:sp>
        <p:nvSpPr>
          <p:cNvPr id="17" name="Shape 14"/>
          <p:cNvSpPr/>
          <p:nvPr/>
        </p:nvSpPr>
        <p:spPr>
          <a:xfrm>
            <a:off x="4815688" y="3862440"/>
            <a:ext cx="274320" cy="274320"/>
          </a:xfrm>
          <a:prstGeom prst="ellipse">
            <a:avLst/>
          </a:prstGeom>
          <a:solidFill>
            <a:srgbClr val="000F78"/>
          </a:solidFill>
          <a:ln/>
        </p:spPr>
      </p:sp>
      <p:sp>
        <p:nvSpPr>
          <p:cNvPr id="18" name="Shape 15"/>
          <p:cNvSpPr/>
          <p:nvPr/>
        </p:nvSpPr>
        <p:spPr>
          <a:xfrm>
            <a:off x="4928817" y="3922790"/>
            <a:ext cx="64520" cy="153619"/>
          </a:xfrm>
          <a:custGeom>
            <a:avLst/>
            <a:gdLst/>
            <a:ahLst/>
            <a:cxnLst/>
            <a:rect l="l" t="t" r="r" b="b"/>
            <a:pathLst>
              <a:path w="64520" h="153619">
                <a:moveTo>
                  <a:pt x="0" y="0"/>
                </a:moveTo>
                <a:lnTo>
                  <a:pt x="64520" y="76810"/>
                </a:lnTo>
                <a:lnTo>
                  <a:pt x="0" y="153619"/>
                </a:lnTo>
              </a:path>
            </a:pathLst>
          </a:custGeom>
          <a:ln w="13716">
            <a:solidFill>
              <a:srgbClr val="FFFFFF"/>
            </a:solidFill>
            <a:prstDash val="solid"/>
          </a:ln>
        </p:spPr>
      </p:sp>
      <p:pic>
        <p:nvPicPr>
          <p:cNvPr id="19" name="Image 0" descr="search">    </p:cNvPr>
          <p:cNvPicPr>
            <a:picLocks noChangeAspect="1"/>
          </p:cNvPicPr>
          <p:nvPr/>
        </p:nvPicPr>
        <p:blipFill>
          <a:blip r:embed="rId1"/>
          <a:stretch>
            <a:fillRect/>
          </a:stretch>
        </p:blipFill>
        <p:spPr>
          <a:xfrm>
            <a:off x="200848" y="1503288"/>
            <a:ext cx="292608" cy="292608"/>
          </a:xfrm>
          <a:prstGeom prst="rect">
            <a:avLst/>
          </a:prstGeom>
        </p:spPr>
      </p:pic>
      <p:pic>
        <p:nvPicPr>
          <p:cNvPr id="20" name="Image 1" descr="target">    </p:cNvPr>
          <p:cNvPicPr>
            <a:picLocks noChangeAspect="1"/>
          </p:cNvPicPr>
          <p:nvPr/>
        </p:nvPicPr>
        <p:blipFill>
          <a:blip r:embed="rId2"/>
          <a:stretch>
            <a:fillRect/>
          </a:stretch>
        </p:blipFill>
        <p:spPr>
          <a:xfrm>
            <a:off x="5272888" y="1503288"/>
            <a:ext cx="292608" cy="292608"/>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ゴール・アジェンダ</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会議資料の冒頭では本日のゴールを先に示し、その下に議題を番号付きで並べる。各議題には、その場で決めることを1行添える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95</a:t>
            </a:r>
            <a:endParaRPr lang="en-US" sz="900" dirty="0"/>
          </a:p>
        </p:txBody>
      </p:sp>
      <p:sp>
        <p:nvSpPr>
          <p:cNvPr id="10" name="Shape 7"/>
          <p:cNvSpPr/>
          <p:nvPr/>
        </p:nvSpPr>
        <p:spPr>
          <a:xfrm>
            <a:off x="200848" y="1485000"/>
            <a:ext cx="9504000" cy="1188720"/>
          </a:xfrm>
          <a:prstGeom prst="rect">
            <a:avLst/>
          </a:prstGeom>
          <a:ln w="9525">
            <a:solidFill>
              <a:srgbClr val="7F7F7F"/>
            </a:solidFill>
            <a:prstDash val="solid"/>
          </a:ln>
        </p:spPr>
      </p:sp>
      <p:sp>
        <p:nvSpPr>
          <p:cNvPr id="11" name="Text 8"/>
          <p:cNvSpPr txBox="1"/>
          <p:nvPr/>
        </p:nvSpPr>
        <p:spPr>
          <a:xfrm>
            <a:off x="703768" y="1594728"/>
            <a:ext cx="182880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本日のゴール</a:t>
            </a:r>
            <a:endParaRPr lang="en-US" sz="1400" dirty="0"/>
          </a:p>
        </p:txBody>
      </p:sp>
      <p:sp>
        <p:nvSpPr>
          <p:cNvPr id="12" name="Text 9"/>
          <p:cNvSpPr txBox="1"/>
          <p:nvPr/>
        </p:nvSpPr>
        <p:spPr>
          <a:xfrm>
            <a:off x="703768" y="1987920"/>
            <a:ext cx="877248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4796485" y="2728584"/>
            <a:ext cx="312725" cy="206398"/>
          </a:xfrm>
          <a:custGeom>
            <a:avLst/>
            <a:gdLst/>
            <a:ahLst/>
            <a:cxnLst/>
            <a:rect l="l" t="t" r="r" b="b"/>
            <a:pathLst>
              <a:path w="312725" h="206398">
                <a:moveTo>
                  <a:pt x="0" y="0"/>
                </a:moveTo>
                <a:lnTo>
                  <a:pt x="0" y="94943"/>
                </a:lnTo>
                <a:lnTo>
                  <a:pt x="156362" y="206398"/>
                </a:lnTo>
                <a:lnTo>
                  <a:pt x="312725" y="94943"/>
                </a:lnTo>
                <a:lnTo>
                  <a:pt x="312725" y="0"/>
                </a:lnTo>
                <a:lnTo>
                  <a:pt x="156362" y="111455"/>
                </a:lnTo>
                <a:close/>
              </a:path>
            </a:pathLst>
          </a:custGeom>
          <a:solidFill>
            <a:srgbClr val="7F7F7F"/>
          </a:solidFill>
          <a:ln/>
        </p:spPr>
      </p:sp>
      <p:sp>
        <p:nvSpPr>
          <p:cNvPr id="14" name="Shape 11"/>
          <p:cNvSpPr/>
          <p:nvPr/>
        </p:nvSpPr>
        <p:spPr>
          <a:xfrm>
            <a:off x="4779112" y="2864807"/>
            <a:ext cx="347472" cy="229332"/>
          </a:xfrm>
          <a:custGeom>
            <a:avLst/>
            <a:gdLst/>
            <a:ahLst/>
            <a:cxnLst/>
            <a:rect l="l" t="t" r="r" b="b"/>
            <a:pathLst>
              <a:path w="347472" h="229332">
                <a:moveTo>
                  <a:pt x="0" y="0"/>
                </a:moveTo>
                <a:lnTo>
                  <a:pt x="0" y="105492"/>
                </a:lnTo>
                <a:lnTo>
                  <a:pt x="173736" y="229332"/>
                </a:lnTo>
                <a:lnTo>
                  <a:pt x="347472" y="105492"/>
                </a:lnTo>
                <a:lnTo>
                  <a:pt x="347472" y="0"/>
                </a:lnTo>
                <a:lnTo>
                  <a:pt x="173736" y="123839"/>
                </a:lnTo>
                <a:close/>
              </a:path>
            </a:pathLst>
          </a:custGeom>
          <a:solidFill>
            <a:srgbClr val="000F78"/>
          </a:solidFill>
          <a:ln/>
        </p:spPr>
      </p:sp>
      <p:sp>
        <p:nvSpPr>
          <p:cNvPr id="15" name="Shape 12"/>
          <p:cNvSpPr/>
          <p:nvPr/>
        </p:nvSpPr>
        <p:spPr>
          <a:xfrm>
            <a:off x="200848" y="3176640"/>
            <a:ext cx="9504000" cy="2904120"/>
          </a:xfrm>
          <a:prstGeom prst="rect">
            <a:avLst/>
          </a:prstGeom>
          <a:ln w="9525">
            <a:solidFill>
              <a:srgbClr val="7F7F7F"/>
            </a:solidFill>
            <a:prstDash val="solid"/>
          </a:ln>
        </p:spPr>
      </p:sp>
      <p:sp>
        <p:nvSpPr>
          <p:cNvPr id="16" name="Text 13"/>
          <p:cNvSpPr txBox="1"/>
          <p:nvPr/>
        </p:nvSpPr>
        <p:spPr>
          <a:xfrm>
            <a:off x="703768" y="3286368"/>
            <a:ext cx="2194560" cy="29260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本日のアジェンダ</a:t>
            </a:r>
            <a:endParaRPr lang="en-US" sz="1400" dirty="0"/>
          </a:p>
        </p:txBody>
      </p:sp>
      <p:sp>
        <p:nvSpPr>
          <p:cNvPr id="17" name="Shape 14"/>
          <p:cNvSpPr/>
          <p:nvPr/>
        </p:nvSpPr>
        <p:spPr>
          <a:xfrm>
            <a:off x="703768" y="3743568"/>
            <a:ext cx="274320" cy="274320"/>
          </a:xfrm>
          <a:prstGeom prst="ellipse">
            <a:avLst/>
          </a:prstGeom>
          <a:solidFill>
            <a:srgbClr val="000F78"/>
          </a:solidFill>
          <a:ln/>
        </p:spPr>
      </p:sp>
      <p:sp>
        <p:nvSpPr>
          <p:cNvPr id="18" name="Text 15"/>
          <p:cNvSpPr txBox="1"/>
          <p:nvPr/>
        </p:nvSpPr>
        <p:spPr>
          <a:xfrm>
            <a:off x="703768" y="37435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1069528" y="374356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252408" y="409104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1" name="Shape 18"/>
          <p:cNvSpPr/>
          <p:nvPr/>
        </p:nvSpPr>
        <p:spPr>
          <a:xfrm>
            <a:off x="703768" y="4566528"/>
            <a:ext cx="274320" cy="274320"/>
          </a:xfrm>
          <a:prstGeom prst="ellipse">
            <a:avLst/>
          </a:prstGeom>
          <a:solidFill>
            <a:srgbClr val="000F78"/>
          </a:solidFill>
          <a:ln/>
        </p:spPr>
      </p:sp>
      <p:sp>
        <p:nvSpPr>
          <p:cNvPr id="22" name="Text 19"/>
          <p:cNvSpPr txBox="1"/>
          <p:nvPr/>
        </p:nvSpPr>
        <p:spPr>
          <a:xfrm>
            <a:off x="703768" y="456652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3" name="Text 20"/>
          <p:cNvSpPr txBox="1"/>
          <p:nvPr/>
        </p:nvSpPr>
        <p:spPr>
          <a:xfrm>
            <a:off x="1069528" y="456652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Text 21"/>
          <p:cNvSpPr txBox="1"/>
          <p:nvPr/>
        </p:nvSpPr>
        <p:spPr>
          <a:xfrm>
            <a:off x="1252408" y="491400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sp>
        <p:nvSpPr>
          <p:cNvPr id="25" name="Shape 22"/>
          <p:cNvSpPr/>
          <p:nvPr/>
        </p:nvSpPr>
        <p:spPr>
          <a:xfrm>
            <a:off x="703768" y="5389488"/>
            <a:ext cx="274320" cy="274320"/>
          </a:xfrm>
          <a:prstGeom prst="ellipse">
            <a:avLst/>
          </a:prstGeom>
          <a:solidFill>
            <a:srgbClr val="000F78"/>
          </a:solidFill>
          <a:ln/>
        </p:spPr>
      </p:sp>
      <p:sp>
        <p:nvSpPr>
          <p:cNvPr id="26" name="Text 23"/>
          <p:cNvSpPr txBox="1"/>
          <p:nvPr/>
        </p:nvSpPr>
        <p:spPr>
          <a:xfrm>
            <a:off x="703768" y="5389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1069528" y="5389488"/>
            <a:ext cx="3657600" cy="27432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1252408" y="5736960"/>
            <a:ext cx="8132400" cy="27432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　XX</a:t>
            </a:r>
            <a:endParaRPr lang="en-US" sz="1400" dirty="0"/>
          </a:p>
        </p:txBody>
      </p:sp>
      <p:pic>
        <p:nvPicPr>
          <p:cNvPr id="29" name="Image 0" descr="target">    </p:cNvPr>
          <p:cNvPicPr>
            <a:picLocks noChangeAspect="1"/>
          </p:cNvPicPr>
          <p:nvPr/>
        </p:nvPicPr>
        <p:blipFill>
          <a:blip r:embed="rId1"/>
          <a:stretch>
            <a:fillRect/>
          </a:stretch>
        </p:blipFill>
        <p:spPr>
          <a:xfrm>
            <a:off x="338008" y="1594728"/>
            <a:ext cx="292608" cy="292608"/>
          </a:xfrm>
          <a:prstGeom prst="rect">
            <a:avLst/>
          </a:prstGeom>
        </p:spPr>
      </p:pic>
      <p:pic>
        <p:nvPicPr>
          <p:cNvPr id="30" name="Image 1" descr="file-text">    </p:cNvPr>
          <p:cNvPicPr>
            <a:picLocks noChangeAspect="1"/>
          </p:cNvPicPr>
          <p:nvPr/>
        </p:nvPicPr>
        <p:blipFill>
          <a:blip r:embed="rId2"/>
          <a:stretch>
            <a:fillRect/>
          </a:stretch>
        </p:blipFill>
        <p:spPr>
          <a:xfrm>
            <a:off x="338008" y="3286368"/>
            <a:ext cx="292608" cy="292608"/>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表の基本形は表頭の下に線を1本引き、行の間を細い線で区切る。表頭・表側には色を使わず、目立たせたい所だけ着色する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96</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Text 15"/>
          <p:cNvSpPr txBox="1"/>
          <p:nvPr/>
        </p:nvSpPr>
        <p:spPr>
          <a:xfrm>
            <a:off x="292288" y="2399400"/>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200848" y="3112632"/>
            <a:ext cx="9504000" cy="0"/>
          </a:xfrm>
          <a:prstGeom prst="line">
            <a:avLst/>
          </a:prstGeom>
          <a:noFill/>
          <a:ln w="9525">
            <a:solidFill>
              <a:srgbClr val="CCCCCC"/>
            </a:solidFill>
            <a:prstDash val="solid"/>
          </a:ln>
        </p:spPr>
      </p:sp>
      <p:sp>
        <p:nvSpPr>
          <p:cNvPr id="24" name="Text 21"/>
          <p:cNvSpPr txBox="1"/>
          <p:nvPr/>
        </p:nvSpPr>
        <p:spPr>
          <a:xfrm>
            <a:off x="292288" y="3149208"/>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200848" y="3862440"/>
            <a:ext cx="9504000" cy="0"/>
          </a:xfrm>
          <a:prstGeom prst="line">
            <a:avLst/>
          </a:prstGeom>
          <a:noFill/>
          <a:ln w="9525">
            <a:solidFill>
              <a:srgbClr val="CCCCCC"/>
            </a:solidFill>
            <a:prstDash val="solid"/>
          </a:ln>
        </p:spPr>
      </p:sp>
      <p:sp>
        <p:nvSpPr>
          <p:cNvPr id="30" name="Text 27"/>
          <p:cNvSpPr txBox="1"/>
          <p:nvPr/>
        </p:nvSpPr>
        <p:spPr>
          <a:xfrm>
            <a:off x="292288" y="3899016"/>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Text 28"/>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200848" y="4612248"/>
            <a:ext cx="9504000" cy="0"/>
          </a:xfrm>
          <a:prstGeom prst="line">
            <a:avLst/>
          </a:prstGeom>
          <a:noFill/>
          <a:ln w="9525">
            <a:solidFill>
              <a:srgbClr val="CCCCCC"/>
            </a:solidFill>
            <a:prstDash val="solid"/>
          </a:ln>
        </p:spPr>
      </p:sp>
      <p:sp>
        <p:nvSpPr>
          <p:cNvPr id="36" name="Text 33"/>
          <p:cNvSpPr txBox="1"/>
          <p:nvPr/>
        </p:nvSpPr>
        <p:spPr>
          <a:xfrm>
            <a:off x="292288" y="4648824"/>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Text 34"/>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200848" y="5362056"/>
            <a:ext cx="9504000" cy="0"/>
          </a:xfrm>
          <a:prstGeom prst="line">
            <a:avLst/>
          </a:prstGeom>
          <a:noFill/>
          <a:ln w="9525">
            <a:solidFill>
              <a:srgbClr val="CCCCCC"/>
            </a:solidFill>
            <a:prstDash val="solid"/>
          </a:ln>
        </p:spPr>
      </p:sp>
      <p:sp>
        <p:nvSpPr>
          <p:cNvPr id="42" name="Text 39"/>
          <p:cNvSpPr txBox="1"/>
          <p:nvPr/>
        </p:nvSpPr>
        <p:spPr>
          <a:xfrm>
            <a:off x="292288" y="5398632"/>
            <a:ext cx="1188720" cy="658368"/>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表側（左端の列）で行の区分を立てたいときだけ、表側をグレーで塗る。塗るのは表側の1列だけにし、表頭と中のマスは塗らない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97</a:t>
            </a:r>
            <a:endParaRPr lang="en-US" sz="900" dirty="0"/>
          </a:p>
        </p:txBody>
      </p:sp>
      <p:sp>
        <p:nvSpPr>
          <p:cNvPr id="12" name="Text 9"/>
          <p:cNvSpPr txBox="1"/>
          <p:nvPr/>
        </p:nvSpPr>
        <p:spPr>
          <a:xfrm>
            <a:off x="292288" y="1987920"/>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6638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36969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57300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7763188" y="1987920"/>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200848" y="2335392"/>
            <a:ext cx="9504000" cy="0"/>
          </a:xfrm>
          <a:prstGeom prst="line">
            <a:avLst/>
          </a:prstGeom>
          <a:noFill/>
          <a:ln w="12700">
            <a:solidFill>
              <a:srgbClr val="7F7F7F"/>
            </a:solidFill>
            <a:prstDash val="solid"/>
          </a:ln>
        </p:spPr>
      </p:sp>
      <p:sp>
        <p:nvSpPr>
          <p:cNvPr id="18" name="Shape 15"/>
          <p:cNvSpPr/>
          <p:nvPr/>
        </p:nvSpPr>
        <p:spPr>
          <a:xfrm>
            <a:off x="200848" y="2371968"/>
            <a:ext cx="1298448" cy="3712464"/>
          </a:xfrm>
          <a:prstGeom prst="rect">
            <a:avLst/>
          </a:prstGeom>
          <a:solidFill>
            <a:srgbClr val="CCCCCC"/>
          </a:solidFill>
          <a:ln/>
        </p:spPr>
      </p:sp>
      <p:sp>
        <p:nvSpPr>
          <p:cNvPr id="19" name="Text 16"/>
          <p:cNvSpPr txBox="1"/>
          <p:nvPr/>
        </p:nvSpPr>
        <p:spPr>
          <a:xfrm>
            <a:off x="292288" y="2399400"/>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6638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36969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57300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7763188" y="2454264"/>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1572448" y="3112632"/>
            <a:ext cx="8132400" cy="0"/>
          </a:xfrm>
          <a:prstGeom prst="line">
            <a:avLst/>
          </a:prstGeom>
          <a:noFill/>
          <a:ln w="9525">
            <a:solidFill>
              <a:srgbClr val="CCCCCC"/>
            </a:solidFill>
            <a:prstDash val="solid"/>
          </a:ln>
        </p:spPr>
      </p:sp>
      <p:sp>
        <p:nvSpPr>
          <p:cNvPr id="25" name="Text 22"/>
          <p:cNvSpPr txBox="1"/>
          <p:nvPr/>
        </p:nvSpPr>
        <p:spPr>
          <a:xfrm>
            <a:off x="292288" y="3149208"/>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6638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36969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7300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763188" y="3204072"/>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572448" y="3862440"/>
            <a:ext cx="8132400" cy="0"/>
          </a:xfrm>
          <a:prstGeom prst="line">
            <a:avLst/>
          </a:prstGeom>
          <a:noFill/>
          <a:ln w="9525">
            <a:solidFill>
              <a:srgbClr val="CCCCCC"/>
            </a:solidFill>
            <a:prstDash val="solid"/>
          </a:ln>
        </p:spPr>
      </p:sp>
      <p:sp>
        <p:nvSpPr>
          <p:cNvPr id="31" name="Text 28"/>
          <p:cNvSpPr txBox="1"/>
          <p:nvPr/>
        </p:nvSpPr>
        <p:spPr>
          <a:xfrm>
            <a:off x="292288" y="3899016"/>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Text 29"/>
          <p:cNvSpPr txBox="1"/>
          <p:nvPr/>
        </p:nvSpPr>
        <p:spPr>
          <a:xfrm>
            <a:off x="16638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36969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7300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7763188" y="3953880"/>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572448" y="4612248"/>
            <a:ext cx="8132400" cy="0"/>
          </a:xfrm>
          <a:prstGeom prst="line">
            <a:avLst/>
          </a:prstGeom>
          <a:noFill/>
          <a:ln w="9525">
            <a:solidFill>
              <a:srgbClr val="CCCCCC"/>
            </a:solidFill>
            <a:prstDash val="solid"/>
          </a:ln>
        </p:spPr>
      </p:sp>
      <p:sp>
        <p:nvSpPr>
          <p:cNvPr id="37" name="Text 34"/>
          <p:cNvSpPr txBox="1"/>
          <p:nvPr/>
        </p:nvSpPr>
        <p:spPr>
          <a:xfrm>
            <a:off x="292288" y="4648824"/>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8" name="Text 35"/>
          <p:cNvSpPr txBox="1"/>
          <p:nvPr/>
        </p:nvSpPr>
        <p:spPr>
          <a:xfrm>
            <a:off x="16638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36969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57300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7763188" y="4703688"/>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1572448" y="5362056"/>
            <a:ext cx="8132400" cy="0"/>
          </a:xfrm>
          <a:prstGeom prst="line">
            <a:avLst/>
          </a:prstGeom>
          <a:noFill/>
          <a:ln w="9525">
            <a:solidFill>
              <a:srgbClr val="CCCCCC"/>
            </a:solidFill>
            <a:prstDash val="solid"/>
          </a:ln>
        </p:spPr>
      </p:sp>
      <p:sp>
        <p:nvSpPr>
          <p:cNvPr id="43" name="Text 40"/>
          <p:cNvSpPr txBox="1"/>
          <p:nvPr/>
        </p:nvSpPr>
        <p:spPr>
          <a:xfrm>
            <a:off x="292288" y="5398632"/>
            <a:ext cx="1188720" cy="658368"/>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16638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36969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57300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7763188" y="5453496"/>
            <a:ext cx="18502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表頭が2段になるときは、上の段の見出しを下の段の列にまたがせ、その下に細い線を引いて束ねる範囲を示す。線は束ねる列の幅だけにする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98</a:t>
            </a:r>
            <a:endParaRPr lang="en-US" sz="900" dirty="0"/>
          </a:p>
        </p:txBody>
      </p:sp>
      <p:sp>
        <p:nvSpPr>
          <p:cNvPr id="12" name="Text 9"/>
          <p:cNvSpPr txBox="1"/>
          <p:nvPr/>
        </p:nvSpPr>
        <p:spPr>
          <a:xfrm>
            <a:off x="5638648" y="1987920"/>
            <a:ext cx="4066200" cy="292608"/>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5730088" y="2317104"/>
            <a:ext cx="3883320" cy="0"/>
          </a:xfrm>
          <a:prstGeom prst="line">
            <a:avLst/>
          </a:prstGeom>
          <a:noFill/>
          <a:ln w="9525">
            <a:solidFill>
              <a:srgbClr val="7F7F7F"/>
            </a:solidFill>
            <a:prstDash val="solid"/>
          </a:ln>
        </p:spPr>
      </p:sp>
      <p:sp>
        <p:nvSpPr>
          <p:cNvPr id="14" name="Text 11"/>
          <p:cNvSpPr txBox="1"/>
          <p:nvPr/>
        </p:nvSpPr>
        <p:spPr>
          <a:xfrm>
            <a:off x="292288" y="2371968"/>
            <a:ext cx="128016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5" name="Text 12"/>
          <p:cNvSpPr txBox="1"/>
          <p:nvPr/>
        </p:nvSpPr>
        <p:spPr>
          <a:xfrm>
            <a:off x="16638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36969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7300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7763188" y="2371968"/>
            <a:ext cx="18502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200848" y="2719440"/>
            <a:ext cx="9504000" cy="0"/>
          </a:xfrm>
          <a:prstGeom prst="line">
            <a:avLst/>
          </a:prstGeom>
          <a:noFill/>
          <a:ln w="12700">
            <a:solidFill>
              <a:srgbClr val="7F7F7F"/>
            </a:solidFill>
            <a:prstDash val="solid"/>
          </a:ln>
        </p:spPr>
      </p:sp>
      <p:sp>
        <p:nvSpPr>
          <p:cNvPr id="20" name="Text 17"/>
          <p:cNvSpPr txBox="1"/>
          <p:nvPr/>
        </p:nvSpPr>
        <p:spPr>
          <a:xfrm>
            <a:off x="292288" y="2783448"/>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Text 18"/>
          <p:cNvSpPr txBox="1"/>
          <p:nvPr/>
        </p:nvSpPr>
        <p:spPr>
          <a:xfrm>
            <a:off x="16638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36969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57300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Text 21"/>
          <p:cNvSpPr txBox="1"/>
          <p:nvPr/>
        </p:nvSpPr>
        <p:spPr>
          <a:xfrm>
            <a:off x="7763188" y="2838312"/>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200848" y="3460104"/>
            <a:ext cx="9504000" cy="0"/>
          </a:xfrm>
          <a:prstGeom prst="line">
            <a:avLst/>
          </a:prstGeom>
          <a:noFill/>
          <a:ln w="9525">
            <a:solidFill>
              <a:srgbClr val="CCCCCC"/>
            </a:solidFill>
            <a:prstDash val="solid"/>
          </a:ln>
        </p:spPr>
      </p:sp>
      <p:sp>
        <p:nvSpPr>
          <p:cNvPr id="26" name="Text 23"/>
          <p:cNvSpPr txBox="1"/>
          <p:nvPr/>
        </p:nvSpPr>
        <p:spPr>
          <a:xfrm>
            <a:off x="292288" y="3496680"/>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16638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36969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57300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763188" y="3551544"/>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00848" y="4173336"/>
            <a:ext cx="9504000" cy="0"/>
          </a:xfrm>
          <a:prstGeom prst="line">
            <a:avLst/>
          </a:prstGeom>
          <a:noFill/>
          <a:ln w="9525">
            <a:solidFill>
              <a:srgbClr val="CCCCCC"/>
            </a:solidFill>
            <a:prstDash val="solid"/>
          </a:ln>
        </p:spPr>
      </p:sp>
      <p:sp>
        <p:nvSpPr>
          <p:cNvPr id="32" name="Text 29"/>
          <p:cNvSpPr txBox="1"/>
          <p:nvPr/>
        </p:nvSpPr>
        <p:spPr>
          <a:xfrm>
            <a:off x="292288" y="4209912"/>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6638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36969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57300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763188" y="4264776"/>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00848" y="4886568"/>
            <a:ext cx="9504000" cy="0"/>
          </a:xfrm>
          <a:prstGeom prst="line">
            <a:avLst/>
          </a:prstGeom>
          <a:noFill/>
          <a:ln w="9525">
            <a:solidFill>
              <a:srgbClr val="CCCCCC"/>
            </a:solidFill>
            <a:prstDash val="solid"/>
          </a:ln>
        </p:spPr>
      </p:sp>
      <p:sp>
        <p:nvSpPr>
          <p:cNvPr id="38" name="Text 35"/>
          <p:cNvSpPr txBox="1"/>
          <p:nvPr/>
        </p:nvSpPr>
        <p:spPr>
          <a:xfrm>
            <a:off x="292288" y="4923144"/>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Text 36"/>
          <p:cNvSpPr txBox="1"/>
          <p:nvPr/>
        </p:nvSpPr>
        <p:spPr>
          <a:xfrm>
            <a:off x="16638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36969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7300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763188" y="4978008"/>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00848" y="5599800"/>
            <a:ext cx="9504000" cy="0"/>
          </a:xfrm>
          <a:prstGeom prst="line">
            <a:avLst/>
          </a:prstGeom>
          <a:noFill/>
          <a:ln w="9525">
            <a:solidFill>
              <a:srgbClr val="CCCCCC"/>
            </a:solidFill>
            <a:prstDash val="solid"/>
          </a:ln>
        </p:spPr>
      </p:sp>
      <p:sp>
        <p:nvSpPr>
          <p:cNvPr id="44" name="Text 41"/>
          <p:cNvSpPr txBox="1"/>
          <p:nvPr/>
        </p:nvSpPr>
        <p:spPr>
          <a:xfrm>
            <a:off x="292288" y="5636376"/>
            <a:ext cx="1188720" cy="621792"/>
          </a:xfrm>
          <a:prstGeom prst="rect">
            <a:avLst/>
          </a:prstGeom>
          <a:noFill/>
          <a:ln/>
        </p:spPr>
        <p:txBody>
          <a:bodyPr wrap="square" lIns="0" tIns="0" rIns="0" bIns="0" rtlCol="0" anchor="ct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Text 42"/>
          <p:cNvSpPr txBox="1"/>
          <p:nvPr/>
        </p:nvSpPr>
        <p:spPr>
          <a:xfrm>
            <a:off x="16638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6" name="Text 43"/>
          <p:cNvSpPr txBox="1"/>
          <p:nvPr/>
        </p:nvSpPr>
        <p:spPr>
          <a:xfrm>
            <a:off x="36969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Text 44"/>
          <p:cNvSpPr txBox="1"/>
          <p:nvPr/>
        </p:nvSpPr>
        <p:spPr>
          <a:xfrm>
            <a:off x="57300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7763188" y="5691240"/>
            <a:ext cx="1850220" cy="60350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大分類をグレーの塊で左に置き、中段に項目名の枠、右に説明を並べる。枠は項目名の入力欄として使い、強調には使わない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99</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166808" y="1987920"/>
            <a:ext cx="2103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103120" cy="0"/>
          </a:xfrm>
          <a:prstGeom prst="line">
            <a:avLst/>
          </a:prstGeom>
          <a:noFill/>
          <a:ln w="12700">
            <a:solidFill>
              <a:srgbClr val="7F7F7F"/>
            </a:solidFill>
            <a:prstDash val="solid"/>
          </a:ln>
        </p:spPr>
      </p:sp>
      <p:sp>
        <p:nvSpPr>
          <p:cNvPr id="16" name="Text 13"/>
          <p:cNvSpPr txBox="1"/>
          <p:nvPr/>
        </p:nvSpPr>
        <p:spPr>
          <a:xfrm>
            <a:off x="4498528" y="1987920"/>
            <a:ext cx="52063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498528" y="2335392"/>
            <a:ext cx="5206320" cy="0"/>
          </a:xfrm>
          <a:prstGeom prst="line">
            <a:avLst/>
          </a:prstGeom>
          <a:noFill/>
          <a:ln w="12700">
            <a:solidFill>
              <a:srgbClr val="7F7F7F"/>
            </a:solidFill>
            <a:prstDash val="solid"/>
          </a:ln>
        </p:spPr>
      </p:sp>
      <p:sp>
        <p:nvSpPr>
          <p:cNvPr id="18" name="Shape 15"/>
          <p:cNvSpPr/>
          <p:nvPr/>
        </p:nvSpPr>
        <p:spPr>
          <a:xfrm>
            <a:off x="200848" y="2490840"/>
            <a:ext cx="1828800" cy="1792224"/>
          </a:xfrm>
          <a:prstGeom prst="rect">
            <a:avLst/>
          </a:prstGeom>
          <a:solidFill>
            <a:srgbClr val="CCCCCC"/>
          </a:solidFill>
          <a:ln/>
        </p:spPr>
      </p:sp>
      <p:sp>
        <p:nvSpPr>
          <p:cNvPr id="19" name="Text 16"/>
          <p:cNvSpPr txBox="1"/>
          <p:nvPr/>
        </p:nvSpPr>
        <p:spPr>
          <a:xfrm>
            <a:off x="292288" y="2536560"/>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536560"/>
            <a:ext cx="2103120" cy="484632"/>
          </a:xfrm>
          <a:prstGeom prst="rect">
            <a:avLst/>
          </a:prstGeom>
          <a:ln w="9525">
            <a:solidFill>
              <a:srgbClr val="7F7F7F"/>
            </a:solidFill>
            <a:prstDash val="solid"/>
          </a:ln>
        </p:spPr>
      </p:sp>
      <p:sp>
        <p:nvSpPr>
          <p:cNvPr id="21" name="Text 18"/>
          <p:cNvSpPr txBox="1"/>
          <p:nvPr/>
        </p:nvSpPr>
        <p:spPr>
          <a:xfrm>
            <a:off x="2258248" y="253656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Text 19"/>
          <p:cNvSpPr txBox="1"/>
          <p:nvPr/>
        </p:nvSpPr>
        <p:spPr>
          <a:xfrm>
            <a:off x="4498528" y="260056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4498528" y="3076056"/>
            <a:ext cx="5206320" cy="0"/>
          </a:xfrm>
          <a:prstGeom prst="line">
            <a:avLst/>
          </a:prstGeom>
          <a:noFill/>
          <a:ln w="9525">
            <a:solidFill>
              <a:srgbClr val="CCCCCC"/>
            </a:solidFill>
            <a:prstDash val="solid"/>
          </a:ln>
        </p:spPr>
      </p:sp>
      <p:sp>
        <p:nvSpPr>
          <p:cNvPr id="24" name="Shape 21"/>
          <p:cNvSpPr/>
          <p:nvPr/>
        </p:nvSpPr>
        <p:spPr>
          <a:xfrm>
            <a:off x="2166808" y="3158352"/>
            <a:ext cx="2103120" cy="484632"/>
          </a:xfrm>
          <a:prstGeom prst="rect">
            <a:avLst/>
          </a:prstGeom>
          <a:ln w="9525">
            <a:solidFill>
              <a:srgbClr val="7F7F7F"/>
            </a:solidFill>
            <a:prstDash val="solid"/>
          </a:ln>
        </p:spPr>
      </p:sp>
      <p:sp>
        <p:nvSpPr>
          <p:cNvPr id="25" name="Text 22"/>
          <p:cNvSpPr txBox="1"/>
          <p:nvPr/>
        </p:nvSpPr>
        <p:spPr>
          <a:xfrm>
            <a:off x="2258248" y="3158352"/>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4498528" y="3222360"/>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4498528" y="3697848"/>
            <a:ext cx="5206320" cy="0"/>
          </a:xfrm>
          <a:prstGeom prst="line">
            <a:avLst/>
          </a:prstGeom>
          <a:noFill/>
          <a:ln w="9525">
            <a:solidFill>
              <a:srgbClr val="CCCCCC"/>
            </a:solidFill>
            <a:prstDash val="solid"/>
          </a:ln>
        </p:spPr>
      </p:sp>
      <p:sp>
        <p:nvSpPr>
          <p:cNvPr id="28" name="Shape 25"/>
          <p:cNvSpPr/>
          <p:nvPr/>
        </p:nvSpPr>
        <p:spPr>
          <a:xfrm>
            <a:off x="2166808" y="3780144"/>
            <a:ext cx="2103120" cy="484632"/>
          </a:xfrm>
          <a:prstGeom prst="rect">
            <a:avLst/>
          </a:prstGeom>
          <a:ln w="9525">
            <a:solidFill>
              <a:srgbClr val="7F7F7F"/>
            </a:solidFill>
            <a:prstDash val="solid"/>
          </a:ln>
        </p:spPr>
      </p:sp>
      <p:sp>
        <p:nvSpPr>
          <p:cNvPr id="29" name="Text 26"/>
          <p:cNvSpPr txBox="1"/>
          <p:nvPr/>
        </p:nvSpPr>
        <p:spPr>
          <a:xfrm>
            <a:off x="2258248" y="3780144"/>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4498528" y="3844152"/>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4498528" y="4319640"/>
            <a:ext cx="5206320" cy="0"/>
          </a:xfrm>
          <a:prstGeom prst="line">
            <a:avLst/>
          </a:prstGeom>
          <a:noFill/>
          <a:ln w="9525">
            <a:solidFill>
              <a:srgbClr val="CCCCCC"/>
            </a:solidFill>
            <a:prstDash val="solid"/>
          </a:ln>
        </p:spPr>
      </p:sp>
      <p:sp>
        <p:nvSpPr>
          <p:cNvPr id="32" name="Shape 29"/>
          <p:cNvSpPr/>
          <p:nvPr/>
        </p:nvSpPr>
        <p:spPr>
          <a:xfrm>
            <a:off x="200848" y="4356216"/>
            <a:ext cx="1828800" cy="1792224"/>
          </a:xfrm>
          <a:prstGeom prst="rect">
            <a:avLst/>
          </a:prstGeom>
          <a:solidFill>
            <a:srgbClr val="CCCCCC"/>
          </a:solidFill>
          <a:ln/>
        </p:spPr>
      </p:sp>
      <p:sp>
        <p:nvSpPr>
          <p:cNvPr id="33" name="Text 30"/>
          <p:cNvSpPr txBox="1"/>
          <p:nvPr/>
        </p:nvSpPr>
        <p:spPr>
          <a:xfrm>
            <a:off x="292288" y="4401936"/>
            <a:ext cx="164592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2166808" y="4401936"/>
            <a:ext cx="2103120" cy="484632"/>
          </a:xfrm>
          <a:prstGeom prst="rect">
            <a:avLst/>
          </a:prstGeom>
          <a:ln w="9525">
            <a:solidFill>
              <a:srgbClr val="7F7F7F"/>
            </a:solidFill>
            <a:prstDash val="solid"/>
          </a:ln>
        </p:spPr>
      </p:sp>
      <p:sp>
        <p:nvSpPr>
          <p:cNvPr id="35" name="Text 32"/>
          <p:cNvSpPr txBox="1"/>
          <p:nvPr/>
        </p:nvSpPr>
        <p:spPr>
          <a:xfrm>
            <a:off x="2258248" y="4401936"/>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4498528" y="4465944"/>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4498528" y="4941432"/>
            <a:ext cx="5206320" cy="0"/>
          </a:xfrm>
          <a:prstGeom prst="line">
            <a:avLst/>
          </a:prstGeom>
          <a:noFill/>
          <a:ln w="9525">
            <a:solidFill>
              <a:srgbClr val="CCCCCC"/>
            </a:solidFill>
            <a:prstDash val="solid"/>
          </a:ln>
        </p:spPr>
      </p:sp>
      <p:sp>
        <p:nvSpPr>
          <p:cNvPr id="38" name="Shape 35"/>
          <p:cNvSpPr/>
          <p:nvPr/>
        </p:nvSpPr>
        <p:spPr>
          <a:xfrm>
            <a:off x="2166808" y="5023728"/>
            <a:ext cx="2103120" cy="484632"/>
          </a:xfrm>
          <a:prstGeom prst="rect">
            <a:avLst/>
          </a:prstGeom>
          <a:ln w="9525">
            <a:solidFill>
              <a:srgbClr val="7F7F7F"/>
            </a:solidFill>
            <a:prstDash val="solid"/>
          </a:ln>
        </p:spPr>
      </p:sp>
      <p:sp>
        <p:nvSpPr>
          <p:cNvPr id="39" name="Text 36"/>
          <p:cNvSpPr txBox="1"/>
          <p:nvPr/>
        </p:nvSpPr>
        <p:spPr>
          <a:xfrm>
            <a:off x="2258248" y="5023728"/>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4498528" y="5087736"/>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Shape 38"/>
          <p:cNvSpPr/>
          <p:nvPr/>
        </p:nvSpPr>
        <p:spPr>
          <a:xfrm>
            <a:off x="4498528" y="5563224"/>
            <a:ext cx="5206320" cy="0"/>
          </a:xfrm>
          <a:prstGeom prst="line">
            <a:avLst/>
          </a:prstGeom>
          <a:noFill/>
          <a:ln w="9525">
            <a:solidFill>
              <a:srgbClr val="CCCCCC"/>
            </a:solidFill>
            <a:prstDash val="solid"/>
          </a:ln>
        </p:spPr>
      </p:sp>
      <p:sp>
        <p:nvSpPr>
          <p:cNvPr id="42" name="Shape 39"/>
          <p:cNvSpPr/>
          <p:nvPr/>
        </p:nvSpPr>
        <p:spPr>
          <a:xfrm>
            <a:off x="2166808" y="5645520"/>
            <a:ext cx="2103120" cy="484632"/>
          </a:xfrm>
          <a:prstGeom prst="rect">
            <a:avLst/>
          </a:prstGeom>
          <a:ln w="9525">
            <a:solidFill>
              <a:srgbClr val="7F7F7F"/>
            </a:solidFill>
            <a:prstDash val="solid"/>
          </a:ln>
        </p:spPr>
      </p:sp>
      <p:sp>
        <p:nvSpPr>
          <p:cNvPr id="43" name="Text 40"/>
          <p:cNvSpPr txBox="1"/>
          <p:nvPr/>
        </p:nvSpPr>
        <p:spPr>
          <a:xfrm>
            <a:off x="2258248" y="5645520"/>
            <a:ext cx="192024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4" name="Text 41"/>
          <p:cNvSpPr txBox="1"/>
          <p:nvPr/>
        </p:nvSpPr>
        <p:spPr>
          <a:xfrm>
            <a:off x="4498528" y="5709528"/>
            <a:ext cx="520632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グループに分けた項目に番号を振るときは、左に区分名と括弧の線を置き、番号付きの行を並べる。番号は後で参照するときだけ振る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100</a:t>
            </a:r>
            <a:endParaRPr lang="en-US" sz="900" dirty="0"/>
          </a:p>
        </p:txBody>
      </p:sp>
      <p:sp>
        <p:nvSpPr>
          <p:cNvPr id="12" name="Text 9"/>
          <p:cNvSpPr txBox="1"/>
          <p:nvPr/>
        </p:nvSpPr>
        <p:spPr>
          <a:xfrm>
            <a:off x="1252408" y="1987920"/>
            <a:ext cx="1737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252408" y="2335392"/>
            <a:ext cx="1737360" cy="0"/>
          </a:xfrm>
          <a:prstGeom prst="line">
            <a:avLst/>
          </a:prstGeom>
          <a:noFill/>
          <a:ln w="12700">
            <a:solidFill>
              <a:srgbClr val="7F7F7F"/>
            </a:solidFill>
            <a:prstDash val="solid"/>
          </a:ln>
        </p:spPr>
      </p:sp>
      <p:sp>
        <p:nvSpPr>
          <p:cNvPr id="14" name="Text 11"/>
          <p:cNvSpPr txBox="1"/>
          <p:nvPr/>
        </p:nvSpPr>
        <p:spPr>
          <a:xfrm>
            <a:off x="3126928" y="1987920"/>
            <a:ext cx="19202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3126928" y="2335392"/>
            <a:ext cx="1920240" cy="0"/>
          </a:xfrm>
          <a:prstGeom prst="line">
            <a:avLst/>
          </a:prstGeom>
          <a:noFill/>
          <a:ln w="12700">
            <a:solidFill>
              <a:srgbClr val="7F7F7F"/>
            </a:solidFill>
            <a:prstDash val="solid"/>
          </a:ln>
        </p:spPr>
      </p:sp>
      <p:sp>
        <p:nvSpPr>
          <p:cNvPr id="16" name="Text 13"/>
          <p:cNvSpPr txBox="1"/>
          <p:nvPr/>
        </p:nvSpPr>
        <p:spPr>
          <a:xfrm>
            <a:off x="5275768" y="1987920"/>
            <a:ext cx="4429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275768" y="2335392"/>
            <a:ext cx="4429080" cy="0"/>
          </a:xfrm>
          <a:prstGeom prst="line">
            <a:avLst/>
          </a:prstGeom>
          <a:noFill/>
          <a:ln w="12700">
            <a:solidFill>
              <a:srgbClr val="7F7F7F"/>
            </a:solidFill>
            <a:prstDash val="solid"/>
          </a:ln>
        </p:spPr>
      </p:sp>
      <p:sp>
        <p:nvSpPr>
          <p:cNvPr id="18" name="Text 15"/>
          <p:cNvSpPr txBox="1"/>
          <p:nvPr/>
        </p:nvSpPr>
        <p:spPr>
          <a:xfrm>
            <a:off x="200848" y="2490840"/>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1142680" y="2536560"/>
            <a:ext cx="0" cy="1700784"/>
          </a:xfrm>
          <a:prstGeom prst="line">
            <a:avLst/>
          </a:prstGeom>
          <a:noFill/>
          <a:ln w="15875">
            <a:solidFill>
              <a:srgbClr val="7F7F7F"/>
            </a:solidFill>
            <a:prstDash val="solid"/>
          </a:ln>
        </p:spPr>
      </p:sp>
      <p:sp>
        <p:nvSpPr>
          <p:cNvPr id="20" name="Shape 17"/>
          <p:cNvSpPr/>
          <p:nvPr/>
        </p:nvSpPr>
        <p:spPr>
          <a:xfrm>
            <a:off x="1252408" y="2536560"/>
            <a:ext cx="1737360" cy="484632"/>
          </a:xfrm>
          <a:prstGeom prst="rect">
            <a:avLst/>
          </a:prstGeom>
          <a:solidFill>
            <a:srgbClr val="CCCCCC"/>
          </a:solidFill>
          <a:ln/>
        </p:spPr>
      </p:sp>
      <p:sp>
        <p:nvSpPr>
          <p:cNvPr id="21" name="Shape 18"/>
          <p:cNvSpPr/>
          <p:nvPr/>
        </p:nvSpPr>
        <p:spPr>
          <a:xfrm>
            <a:off x="1325560" y="2660004"/>
            <a:ext cx="237744" cy="237744"/>
          </a:xfrm>
          <a:prstGeom prst="ellipse">
            <a:avLst/>
          </a:prstGeom>
          <a:solidFill>
            <a:srgbClr val="000F78"/>
          </a:solidFill>
          <a:ln/>
        </p:spPr>
      </p:sp>
      <p:sp>
        <p:nvSpPr>
          <p:cNvPr id="22" name="Text 19"/>
          <p:cNvSpPr txBox="1"/>
          <p:nvPr/>
        </p:nvSpPr>
        <p:spPr>
          <a:xfrm>
            <a:off x="1325560" y="266000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1636456" y="253656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4" name="Shape 21"/>
          <p:cNvSpPr/>
          <p:nvPr/>
        </p:nvSpPr>
        <p:spPr>
          <a:xfrm>
            <a:off x="3126928" y="2536560"/>
            <a:ext cx="1920240" cy="484632"/>
          </a:xfrm>
          <a:prstGeom prst="rect">
            <a:avLst/>
          </a:prstGeom>
          <a:ln w="9525">
            <a:solidFill>
              <a:srgbClr val="7F7F7F"/>
            </a:solidFill>
            <a:prstDash val="solid"/>
          </a:ln>
        </p:spPr>
      </p:sp>
      <p:sp>
        <p:nvSpPr>
          <p:cNvPr id="25" name="Text 22"/>
          <p:cNvSpPr txBox="1"/>
          <p:nvPr/>
        </p:nvSpPr>
        <p:spPr>
          <a:xfrm>
            <a:off x="3218368" y="253656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5275768" y="260056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Shape 24"/>
          <p:cNvSpPr/>
          <p:nvPr/>
        </p:nvSpPr>
        <p:spPr>
          <a:xfrm>
            <a:off x="5275768" y="3076056"/>
            <a:ext cx="4429080" cy="0"/>
          </a:xfrm>
          <a:prstGeom prst="line">
            <a:avLst/>
          </a:prstGeom>
          <a:noFill/>
          <a:ln w="9525">
            <a:solidFill>
              <a:srgbClr val="CCCCCC"/>
            </a:solidFill>
            <a:prstDash val="solid"/>
          </a:ln>
        </p:spPr>
      </p:sp>
      <p:sp>
        <p:nvSpPr>
          <p:cNvPr id="28" name="Shape 25"/>
          <p:cNvSpPr/>
          <p:nvPr/>
        </p:nvSpPr>
        <p:spPr>
          <a:xfrm>
            <a:off x="1252408" y="3158352"/>
            <a:ext cx="1737360" cy="484632"/>
          </a:xfrm>
          <a:prstGeom prst="rect">
            <a:avLst/>
          </a:prstGeom>
          <a:solidFill>
            <a:srgbClr val="CCCCCC"/>
          </a:solidFill>
          <a:ln/>
        </p:spPr>
      </p:sp>
      <p:sp>
        <p:nvSpPr>
          <p:cNvPr id="29" name="Shape 26"/>
          <p:cNvSpPr/>
          <p:nvPr/>
        </p:nvSpPr>
        <p:spPr>
          <a:xfrm>
            <a:off x="1325560" y="3281796"/>
            <a:ext cx="237744" cy="237744"/>
          </a:xfrm>
          <a:prstGeom prst="ellipse">
            <a:avLst/>
          </a:prstGeom>
          <a:solidFill>
            <a:srgbClr val="000F78"/>
          </a:solidFill>
          <a:ln/>
        </p:spPr>
      </p:sp>
      <p:sp>
        <p:nvSpPr>
          <p:cNvPr id="30" name="Text 27"/>
          <p:cNvSpPr txBox="1"/>
          <p:nvPr/>
        </p:nvSpPr>
        <p:spPr>
          <a:xfrm>
            <a:off x="1325560" y="328179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8"/>
          <p:cNvSpPr txBox="1"/>
          <p:nvPr/>
        </p:nvSpPr>
        <p:spPr>
          <a:xfrm>
            <a:off x="1636456" y="3158352"/>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2" name="Shape 29"/>
          <p:cNvSpPr/>
          <p:nvPr/>
        </p:nvSpPr>
        <p:spPr>
          <a:xfrm>
            <a:off x="3126928" y="3158352"/>
            <a:ext cx="1920240" cy="484632"/>
          </a:xfrm>
          <a:prstGeom prst="rect">
            <a:avLst/>
          </a:prstGeom>
          <a:ln w="9525">
            <a:solidFill>
              <a:srgbClr val="7F7F7F"/>
            </a:solidFill>
            <a:prstDash val="solid"/>
          </a:ln>
        </p:spPr>
      </p:sp>
      <p:sp>
        <p:nvSpPr>
          <p:cNvPr id="33" name="Text 30"/>
          <p:cNvSpPr txBox="1"/>
          <p:nvPr/>
        </p:nvSpPr>
        <p:spPr>
          <a:xfrm>
            <a:off x="3218368" y="3158352"/>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275768" y="3222360"/>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5275768" y="3697848"/>
            <a:ext cx="4429080" cy="0"/>
          </a:xfrm>
          <a:prstGeom prst="line">
            <a:avLst/>
          </a:prstGeom>
          <a:noFill/>
          <a:ln w="9525">
            <a:solidFill>
              <a:srgbClr val="CCCCCC"/>
            </a:solidFill>
            <a:prstDash val="solid"/>
          </a:ln>
        </p:spPr>
      </p:sp>
      <p:sp>
        <p:nvSpPr>
          <p:cNvPr id="36" name="Shape 33"/>
          <p:cNvSpPr/>
          <p:nvPr/>
        </p:nvSpPr>
        <p:spPr>
          <a:xfrm>
            <a:off x="1252408" y="3780144"/>
            <a:ext cx="1737360" cy="484632"/>
          </a:xfrm>
          <a:prstGeom prst="rect">
            <a:avLst/>
          </a:prstGeom>
          <a:solidFill>
            <a:srgbClr val="CCCCCC"/>
          </a:solidFill>
          <a:ln/>
        </p:spPr>
      </p:sp>
      <p:sp>
        <p:nvSpPr>
          <p:cNvPr id="37" name="Shape 34"/>
          <p:cNvSpPr/>
          <p:nvPr/>
        </p:nvSpPr>
        <p:spPr>
          <a:xfrm>
            <a:off x="1325560" y="3903588"/>
            <a:ext cx="237744" cy="237744"/>
          </a:xfrm>
          <a:prstGeom prst="ellipse">
            <a:avLst/>
          </a:prstGeom>
          <a:solidFill>
            <a:srgbClr val="000F78"/>
          </a:solidFill>
          <a:ln/>
        </p:spPr>
      </p:sp>
      <p:sp>
        <p:nvSpPr>
          <p:cNvPr id="38" name="Text 35"/>
          <p:cNvSpPr txBox="1"/>
          <p:nvPr/>
        </p:nvSpPr>
        <p:spPr>
          <a:xfrm>
            <a:off x="1325560" y="390358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6"/>
          <p:cNvSpPr txBox="1"/>
          <p:nvPr/>
        </p:nvSpPr>
        <p:spPr>
          <a:xfrm>
            <a:off x="1636456" y="3780144"/>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Shape 37"/>
          <p:cNvSpPr/>
          <p:nvPr/>
        </p:nvSpPr>
        <p:spPr>
          <a:xfrm>
            <a:off x="3126928" y="3780144"/>
            <a:ext cx="1920240" cy="484632"/>
          </a:xfrm>
          <a:prstGeom prst="rect">
            <a:avLst/>
          </a:prstGeom>
          <a:ln w="9525">
            <a:solidFill>
              <a:srgbClr val="7F7F7F"/>
            </a:solidFill>
            <a:prstDash val="solid"/>
          </a:ln>
        </p:spPr>
      </p:sp>
      <p:sp>
        <p:nvSpPr>
          <p:cNvPr id="41" name="Text 38"/>
          <p:cNvSpPr txBox="1"/>
          <p:nvPr/>
        </p:nvSpPr>
        <p:spPr>
          <a:xfrm>
            <a:off x="3218368" y="3780144"/>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5275768" y="3844152"/>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5275768" y="4319640"/>
            <a:ext cx="4429080" cy="0"/>
          </a:xfrm>
          <a:prstGeom prst="line">
            <a:avLst/>
          </a:prstGeom>
          <a:noFill/>
          <a:ln w="9525">
            <a:solidFill>
              <a:srgbClr val="CCCCCC"/>
            </a:solidFill>
            <a:prstDash val="solid"/>
          </a:ln>
        </p:spPr>
      </p:sp>
      <p:sp>
        <p:nvSpPr>
          <p:cNvPr id="44" name="Text 41"/>
          <p:cNvSpPr txBox="1"/>
          <p:nvPr/>
        </p:nvSpPr>
        <p:spPr>
          <a:xfrm>
            <a:off x="200848" y="4356216"/>
            <a:ext cx="822960" cy="1773936"/>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42680" y="4401936"/>
            <a:ext cx="0" cy="1700784"/>
          </a:xfrm>
          <a:prstGeom prst="line">
            <a:avLst/>
          </a:prstGeom>
          <a:noFill/>
          <a:ln w="15875">
            <a:solidFill>
              <a:srgbClr val="7F7F7F"/>
            </a:solidFill>
            <a:prstDash val="solid"/>
          </a:ln>
        </p:spPr>
      </p:sp>
      <p:sp>
        <p:nvSpPr>
          <p:cNvPr id="46" name="Shape 43"/>
          <p:cNvSpPr/>
          <p:nvPr/>
        </p:nvSpPr>
        <p:spPr>
          <a:xfrm>
            <a:off x="1252408" y="4401936"/>
            <a:ext cx="1737360" cy="484632"/>
          </a:xfrm>
          <a:prstGeom prst="rect">
            <a:avLst/>
          </a:prstGeom>
          <a:solidFill>
            <a:srgbClr val="CCCCCC"/>
          </a:solidFill>
          <a:ln/>
        </p:spPr>
      </p:sp>
      <p:sp>
        <p:nvSpPr>
          <p:cNvPr id="47" name="Shape 44"/>
          <p:cNvSpPr/>
          <p:nvPr/>
        </p:nvSpPr>
        <p:spPr>
          <a:xfrm>
            <a:off x="1325560" y="4525380"/>
            <a:ext cx="237744" cy="237744"/>
          </a:xfrm>
          <a:prstGeom prst="ellipse">
            <a:avLst/>
          </a:prstGeom>
          <a:solidFill>
            <a:srgbClr val="000F78"/>
          </a:solidFill>
          <a:ln/>
        </p:spPr>
      </p:sp>
      <p:sp>
        <p:nvSpPr>
          <p:cNvPr id="48" name="Text 45"/>
          <p:cNvSpPr txBox="1"/>
          <p:nvPr/>
        </p:nvSpPr>
        <p:spPr>
          <a:xfrm>
            <a:off x="1325560" y="45253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9" name="Text 46"/>
          <p:cNvSpPr txBox="1"/>
          <p:nvPr/>
        </p:nvSpPr>
        <p:spPr>
          <a:xfrm>
            <a:off x="1636456" y="4401936"/>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3126928" y="4401936"/>
            <a:ext cx="1920240" cy="484632"/>
          </a:xfrm>
          <a:prstGeom prst="rect">
            <a:avLst/>
          </a:prstGeom>
          <a:ln w="9525">
            <a:solidFill>
              <a:srgbClr val="7F7F7F"/>
            </a:solidFill>
            <a:prstDash val="solid"/>
          </a:ln>
        </p:spPr>
      </p:sp>
      <p:sp>
        <p:nvSpPr>
          <p:cNvPr id="51" name="Text 48"/>
          <p:cNvSpPr txBox="1"/>
          <p:nvPr/>
        </p:nvSpPr>
        <p:spPr>
          <a:xfrm>
            <a:off x="3218368" y="4401936"/>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2" name="Text 49"/>
          <p:cNvSpPr txBox="1"/>
          <p:nvPr/>
        </p:nvSpPr>
        <p:spPr>
          <a:xfrm>
            <a:off x="5275768" y="4465944"/>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275768" y="4941432"/>
            <a:ext cx="4429080" cy="0"/>
          </a:xfrm>
          <a:prstGeom prst="line">
            <a:avLst/>
          </a:prstGeom>
          <a:noFill/>
          <a:ln w="9525">
            <a:solidFill>
              <a:srgbClr val="CCCCCC"/>
            </a:solidFill>
            <a:prstDash val="solid"/>
          </a:ln>
        </p:spPr>
      </p:sp>
      <p:sp>
        <p:nvSpPr>
          <p:cNvPr id="54" name="Shape 51"/>
          <p:cNvSpPr/>
          <p:nvPr/>
        </p:nvSpPr>
        <p:spPr>
          <a:xfrm>
            <a:off x="1252408" y="5023728"/>
            <a:ext cx="1737360" cy="484632"/>
          </a:xfrm>
          <a:prstGeom prst="rect">
            <a:avLst/>
          </a:prstGeom>
          <a:solidFill>
            <a:srgbClr val="CCCCCC"/>
          </a:solidFill>
          <a:ln/>
        </p:spPr>
      </p:sp>
      <p:sp>
        <p:nvSpPr>
          <p:cNvPr id="55" name="Shape 52"/>
          <p:cNvSpPr/>
          <p:nvPr/>
        </p:nvSpPr>
        <p:spPr>
          <a:xfrm>
            <a:off x="1325560" y="5147172"/>
            <a:ext cx="237744" cy="237744"/>
          </a:xfrm>
          <a:prstGeom prst="ellipse">
            <a:avLst/>
          </a:prstGeom>
          <a:solidFill>
            <a:srgbClr val="000F78"/>
          </a:solidFill>
          <a:ln/>
        </p:spPr>
      </p:sp>
      <p:sp>
        <p:nvSpPr>
          <p:cNvPr id="56" name="Text 53"/>
          <p:cNvSpPr txBox="1"/>
          <p:nvPr/>
        </p:nvSpPr>
        <p:spPr>
          <a:xfrm>
            <a:off x="1325560" y="51471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57" name="Text 54"/>
          <p:cNvSpPr txBox="1"/>
          <p:nvPr/>
        </p:nvSpPr>
        <p:spPr>
          <a:xfrm>
            <a:off x="1636456" y="5023728"/>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8" name="Shape 55"/>
          <p:cNvSpPr/>
          <p:nvPr/>
        </p:nvSpPr>
        <p:spPr>
          <a:xfrm>
            <a:off x="3126928" y="5023728"/>
            <a:ext cx="1920240" cy="484632"/>
          </a:xfrm>
          <a:prstGeom prst="rect">
            <a:avLst/>
          </a:prstGeom>
          <a:ln w="9525">
            <a:solidFill>
              <a:srgbClr val="7F7F7F"/>
            </a:solidFill>
            <a:prstDash val="solid"/>
          </a:ln>
        </p:spPr>
      </p:sp>
      <p:sp>
        <p:nvSpPr>
          <p:cNvPr id="59" name="Text 56"/>
          <p:cNvSpPr txBox="1"/>
          <p:nvPr/>
        </p:nvSpPr>
        <p:spPr>
          <a:xfrm>
            <a:off x="3218368" y="5023728"/>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5275768" y="5087736"/>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Shape 58"/>
          <p:cNvSpPr/>
          <p:nvPr/>
        </p:nvSpPr>
        <p:spPr>
          <a:xfrm>
            <a:off x="5275768" y="5563224"/>
            <a:ext cx="4429080" cy="0"/>
          </a:xfrm>
          <a:prstGeom prst="line">
            <a:avLst/>
          </a:prstGeom>
          <a:noFill/>
          <a:ln w="9525">
            <a:solidFill>
              <a:srgbClr val="CCCCCC"/>
            </a:solidFill>
            <a:prstDash val="solid"/>
          </a:ln>
        </p:spPr>
      </p:sp>
      <p:sp>
        <p:nvSpPr>
          <p:cNvPr id="62" name="Shape 59"/>
          <p:cNvSpPr/>
          <p:nvPr/>
        </p:nvSpPr>
        <p:spPr>
          <a:xfrm>
            <a:off x="1252408" y="5645520"/>
            <a:ext cx="1737360" cy="484632"/>
          </a:xfrm>
          <a:prstGeom prst="rect">
            <a:avLst/>
          </a:prstGeom>
          <a:solidFill>
            <a:srgbClr val="CCCCCC"/>
          </a:solidFill>
          <a:ln/>
        </p:spPr>
      </p:sp>
      <p:sp>
        <p:nvSpPr>
          <p:cNvPr id="63" name="Shape 60"/>
          <p:cNvSpPr/>
          <p:nvPr/>
        </p:nvSpPr>
        <p:spPr>
          <a:xfrm>
            <a:off x="1325560" y="5768964"/>
            <a:ext cx="237744" cy="237744"/>
          </a:xfrm>
          <a:prstGeom prst="ellipse">
            <a:avLst/>
          </a:prstGeom>
          <a:solidFill>
            <a:srgbClr val="000F78"/>
          </a:solidFill>
          <a:ln/>
        </p:spPr>
      </p:sp>
      <p:sp>
        <p:nvSpPr>
          <p:cNvPr id="64" name="Text 61"/>
          <p:cNvSpPr txBox="1"/>
          <p:nvPr/>
        </p:nvSpPr>
        <p:spPr>
          <a:xfrm>
            <a:off x="1325560" y="57689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65" name="Text 62"/>
          <p:cNvSpPr txBox="1"/>
          <p:nvPr/>
        </p:nvSpPr>
        <p:spPr>
          <a:xfrm>
            <a:off x="1636456" y="5645520"/>
            <a:ext cx="12801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6" name="Shape 63"/>
          <p:cNvSpPr/>
          <p:nvPr/>
        </p:nvSpPr>
        <p:spPr>
          <a:xfrm>
            <a:off x="3126928" y="5645520"/>
            <a:ext cx="1920240" cy="484632"/>
          </a:xfrm>
          <a:prstGeom prst="rect">
            <a:avLst/>
          </a:prstGeom>
          <a:ln w="9525">
            <a:solidFill>
              <a:srgbClr val="7F7F7F"/>
            </a:solidFill>
            <a:prstDash val="solid"/>
          </a:ln>
        </p:spPr>
      </p:sp>
      <p:sp>
        <p:nvSpPr>
          <p:cNvPr id="67" name="Text 64"/>
          <p:cNvSpPr txBox="1"/>
          <p:nvPr/>
        </p:nvSpPr>
        <p:spPr>
          <a:xfrm>
            <a:off x="3218368" y="5645520"/>
            <a:ext cx="1737360" cy="48463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8" name="Text 65"/>
          <p:cNvSpPr txBox="1"/>
          <p:nvPr/>
        </p:nvSpPr>
        <p:spPr>
          <a:xfrm>
            <a:off x="5275768" y="5709528"/>
            <a:ext cx="4429080" cy="438912"/>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表（数値）</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数値の表は半角数字・3桁区切りで右にそろえ、線は行の間だけに引く。強調したい数値だけを紺にし、文字を一段大きくする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101</a:t>
            </a:r>
            <a:endParaRPr lang="en-US" sz="900" dirty="0"/>
          </a:p>
        </p:txBody>
      </p:sp>
      <p:sp>
        <p:nvSpPr>
          <p:cNvPr id="12" name="Text 9"/>
          <p:cNvSpPr txBox="1"/>
          <p:nvPr/>
        </p:nvSpPr>
        <p:spPr>
          <a:xfrm>
            <a:off x="200848" y="1987920"/>
            <a:ext cx="11887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項目</a:t>
            </a:r>
            <a:endParaRPr lang="en-US" sz="1400" dirty="0"/>
          </a:p>
        </p:txBody>
      </p:sp>
      <p:sp>
        <p:nvSpPr>
          <p:cNvPr id="13" name="Text 10"/>
          <p:cNvSpPr txBox="1"/>
          <p:nvPr/>
        </p:nvSpPr>
        <p:spPr>
          <a:xfrm>
            <a:off x="138956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4" name="Text 11"/>
          <p:cNvSpPr txBox="1"/>
          <p:nvPr/>
        </p:nvSpPr>
        <p:spPr>
          <a:xfrm>
            <a:off x="242897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346838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Text 13"/>
          <p:cNvSpPr txBox="1"/>
          <p:nvPr/>
        </p:nvSpPr>
        <p:spPr>
          <a:xfrm>
            <a:off x="450779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554720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658661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762602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8665438" y="1987920"/>
            <a:ext cx="947970" cy="292608"/>
          </a:xfrm>
          <a:prstGeom prst="rect">
            <a:avLst/>
          </a:prstGeom>
          <a:noFill/>
          <a:ln/>
        </p:spPr>
        <p:txBody>
          <a:bodyPr wrap="square" lIns="0" tIns="0" rIns="0" bIns="0" rtlCol="0" anchor="t"/>
          <a:lstStyle/>
          <a:p>
            <a:pPr algn="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200848" y="2335392"/>
            <a:ext cx="9504000" cy="0"/>
          </a:xfrm>
          <a:prstGeom prst="line">
            <a:avLst/>
          </a:prstGeom>
          <a:noFill/>
          <a:ln w="12700">
            <a:solidFill>
              <a:srgbClr val="7F7F7F"/>
            </a:solidFill>
            <a:prstDash val="solid"/>
          </a:ln>
        </p:spPr>
      </p:sp>
      <p:sp>
        <p:nvSpPr>
          <p:cNvPr id="22" name="Text 19"/>
          <p:cNvSpPr txBox="1"/>
          <p:nvPr/>
        </p:nvSpPr>
        <p:spPr>
          <a:xfrm>
            <a:off x="200848" y="2399400"/>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Text 20"/>
          <p:cNvSpPr txBox="1"/>
          <p:nvPr/>
        </p:nvSpPr>
        <p:spPr>
          <a:xfrm>
            <a:off x="138956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4" name="Text 21"/>
          <p:cNvSpPr txBox="1"/>
          <p:nvPr/>
        </p:nvSpPr>
        <p:spPr>
          <a:xfrm>
            <a:off x="242897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5" name="Text 22"/>
          <p:cNvSpPr txBox="1"/>
          <p:nvPr/>
        </p:nvSpPr>
        <p:spPr>
          <a:xfrm>
            <a:off x="346838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6" name="Text 23"/>
          <p:cNvSpPr txBox="1"/>
          <p:nvPr/>
        </p:nvSpPr>
        <p:spPr>
          <a:xfrm>
            <a:off x="450779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7" name="Text 24"/>
          <p:cNvSpPr txBox="1"/>
          <p:nvPr/>
        </p:nvSpPr>
        <p:spPr>
          <a:xfrm>
            <a:off x="554720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8" name="Text 25"/>
          <p:cNvSpPr txBox="1"/>
          <p:nvPr/>
        </p:nvSpPr>
        <p:spPr>
          <a:xfrm>
            <a:off x="658661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29" name="Text 26"/>
          <p:cNvSpPr txBox="1"/>
          <p:nvPr/>
        </p:nvSpPr>
        <p:spPr>
          <a:xfrm>
            <a:off x="762602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0" name="Text 27"/>
          <p:cNvSpPr txBox="1"/>
          <p:nvPr/>
        </p:nvSpPr>
        <p:spPr>
          <a:xfrm>
            <a:off x="8665438" y="2399400"/>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1" name="Shape 28"/>
          <p:cNvSpPr/>
          <p:nvPr/>
        </p:nvSpPr>
        <p:spPr>
          <a:xfrm>
            <a:off x="200848" y="3076056"/>
            <a:ext cx="9504000" cy="0"/>
          </a:xfrm>
          <a:prstGeom prst="line">
            <a:avLst/>
          </a:prstGeom>
          <a:noFill/>
          <a:ln w="9525">
            <a:solidFill>
              <a:srgbClr val="CCCCCC"/>
            </a:solidFill>
            <a:prstDash val="solid"/>
          </a:ln>
        </p:spPr>
      </p:sp>
      <p:sp>
        <p:nvSpPr>
          <p:cNvPr id="32" name="Text 29"/>
          <p:cNvSpPr txBox="1"/>
          <p:nvPr/>
        </p:nvSpPr>
        <p:spPr>
          <a:xfrm>
            <a:off x="200848" y="3112632"/>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38956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4" name="Text 31"/>
          <p:cNvSpPr txBox="1"/>
          <p:nvPr/>
        </p:nvSpPr>
        <p:spPr>
          <a:xfrm>
            <a:off x="242897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5" name="Text 32"/>
          <p:cNvSpPr txBox="1"/>
          <p:nvPr/>
        </p:nvSpPr>
        <p:spPr>
          <a:xfrm>
            <a:off x="346838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6" name="Text 33"/>
          <p:cNvSpPr txBox="1"/>
          <p:nvPr/>
        </p:nvSpPr>
        <p:spPr>
          <a:xfrm>
            <a:off x="450779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7" name="Text 34"/>
          <p:cNvSpPr txBox="1"/>
          <p:nvPr/>
        </p:nvSpPr>
        <p:spPr>
          <a:xfrm>
            <a:off x="554720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8" name="Text 35"/>
          <p:cNvSpPr txBox="1"/>
          <p:nvPr/>
        </p:nvSpPr>
        <p:spPr>
          <a:xfrm>
            <a:off x="658661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39" name="Text 36"/>
          <p:cNvSpPr txBox="1"/>
          <p:nvPr/>
        </p:nvSpPr>
        <p:spPr>
          <a:xfrm>
            <a:off x="762602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0" name="Text 37"/>
          <p:cNvSpPr txBox="1"/>
          <p:nvPr/>
        </p:nvSpPr>
        <p:spPr>
          <a:xfrm>
            <a:off x="8665438" y="3112632"/>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1" name="Shape 38"/>
          <p:cNvSpPr/>
          <p:nvPr/>
        </p:nvSpPr>
        <p:spPr>
          <a:xfrm>
            <a:off x="200848" y="3789288"/>
            <a:ext cx="9504000" cy="0"/>
          </a:xfrm>
          <a:prstGeom prst="line">
            <a:avLst/>
          </a:prstGeom>
          <a:noFill/>
          <a:ln w="9525">
            <a:solidFill>
              <a:srgbClr val="CCCCCC"/>
            </a:solidFill>
            <a:prstDash val="solid"/>
          </a:ln>
        </p:spPr>
      </p:sp>
      <p:sp>
        <p:nvSpPr>
          <p:cNvPr id="42" name="Text 39"/>
          <p:cNvSpPr txBox="1"/>
          <p:nvPr/>
        </p:nvSpPr>
        <p:spPr>
          <a:xfrm>
            <a:off x="200848" y="3825864"/>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138956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4" name="Text 41"/>
          <p:cNvSpPr txBox="1"/>
          <p:nvPr/>
        </p:nvSpPr>
        <p:spPr>
          <a:xfrm>
            <a:off x="242897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5" name="Text 42"/>
          <p:cNvSpPr txBox="1"/>
          <p:nvPr/>
        </p:nvSpPr>
        <p:spPr>
          <a:xfrm>
            <a:off x="346838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6" name="Text 43"/>
          <p:cNvSpPr txBox="1"/>
          <p:nvPr/>
        </p:nvSpPr>
        <p:spPr>
          <a:xfrm>
            <a:off x="4507798" y="3825864"/>
            <a:ext cx="947970" cy="621792"/>
          </a:xfrm>
          <a:prstGeom prst="rect">
            <a:avLst/>
          </a:prstGeom>
          <a:noFill/>
          <a:ln/>
        </p:spPr>
        <p:txBody>
          <a:bodyPr wrap="square" lIns="0" tIns="0" rIns="0" bIns="0" rtlCol="0" anchor="ctr"/>
          <a:lstStyle/>
          <a:p>
            <a:pPr algn="r" indent="0" marL="0">
              <a:buNone/>
            </a:pPr>
            <a:r>
              <a:rPr lang="en-US" sz="1800" b="1" dirty="0">
                <a:solidFill>
                  <a:srgbClr val="000F78"/>
                </a:solidFill>
                <a:latin typeface="Arial" pitchFamily="34" charset="0"/>
                <a:ea typeface="Arial" pitchFamily="34" charset="-122"/>
                <a:cs typeface="Arial" pitchFamily="34" charset="-120"/>
              </a:rPr>
              <a:t>00,000</a:t>
            </a:r>
            <a:endParaRPr lang="en-US" sz="1800" dirty="0"/>
          </a:p>
        </p:txBody>
      </p:sp>
      <p:sp>
        <p:nvSpPr>
          <p:cNvPr id="47" name="Text 44"/>
          <p:cNvSpPr txBox="1"/>
          <p:nvPr/>
        </p:nvSpPr>
        <p:spPr>
          <a:xfrm>
            <a:off x="554720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8" name="Text 45"/>
          <p:cNvSpPr txBox="1"/>
          <p:nvPr/>
        </p:nvSpPr>
        <p:spPr>
          <a:xfrm>
            <a:off x="658661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49" name="Text 46"/>
          <p:cNvSpPr txBox="1"/>
          <p:nvPr/>
        </p:nvSpPr>
        <p:spPr>
          <a:xfrm>
            <a:off x="762602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0" name="Text 47"/>
          <p:cNvSpPr txBox="1"/>
          <p:nvPr/>
        </p:nvSpPr>
        <p:spPr>
          <a:xfrm>
            <a:off x="8665438" y="3825864"/>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1" name="Shape 48"/>
          <p:cNvSpPr/>
          <p:nvPr/>
        </p:nvSpPr>
        <p:spPr>
          <a:xfrm>
            <a:off x="200848" y="4502520"/>
            <a:ext cx="9504000" cy="0"/>
          </a:xfrm>
          <a:prstGeom prst="line">
            <a:avLst/>
          </a:prstGeom>
          <a:noFill/>
          <a:ln w="9525">
            <a:solidFill>
              <a:srgbClr val="CCCCCC"/>
            </a:solidFill>
            <a:prstDash val="solid"/>
          </a:ln>
        </p:spPr>
      </p:sp>
      <p:sp>
        <p:nvSpPr>
          <p:cNvPr id="52" name="Text 49"/>
          <p:cNvSpPr txBox="1"/>
          <p:nvPr/>
        </p:nvSpPr>
        <p:spPr>
          <a:xfrm>
            <a:off x="200848" y="4539096"/>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Text 50"/>
          <p:cNvSpPr txBox="1"/>
          <p:nvPr/>
        </p:nvSpPr>
        <p:spPr>
          <a:xfrm>
            <a:off x="138956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4" name="Text 51"/>
          <p:cNvSpPr txBox="1"/>
          <p:nvPr/>
        </p:nvSpPr>
        <p:spPr>
          <a:xfrm>
            <a:off x="242897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5" name="Text 52"/>
          <p:cNvSpPr txBox="1"/>
          <p:nvPr/>
        </p:nvSpPr>
        <p:spPr>
          <a:xfrm>
            <a:off x="346838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6" name="Text 53"/>
          <p:cNvSpPr txBox="1"/>
          <p:nvPr/>
        </p:nvSpPr>
        <p:spPr>
          <a:xfrm>
            <a:off x="450779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7" name="Text 54"/>
          <p:cNvSpPr txBox="1"/>
          <p:nvPr/>
        </p:nvSpPr>
        <p:spPr>
          <a:xfrm>
            <a:off x="554720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8" name="Text 55"/>
          <p:cNvSpPr txBox="1"/>
          <p:nvPr/>
        </p:nvSpPr>
        <p:spPr>
          <a:xfrm>
            <a:off x="658661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59" name="Text 56"/>
          <p:cNvSpPr txBox="1"/>
          <p:nvPr/>
        </p:nvSpPr>
        <p:spPr>
          <a:xfrm>
            <a:off x="762602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0" name="Text 57"/>
          <p:cNvSpPr txBox="1"/>
          <p:nvPr/>
        </p:nvSpPr>
        <p:spPr>
          <a:xfrm>
            <a:off x="8665438" y="4539096"/>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1" name="Shape 58"/>
          <p:cNvSpPr/>
          <p:nvPr/>
        </p:nvSpPr>
        <p:spPr>
          <a:xfrm>
            <a:off x="200848" y="5215752"/>
            <a:ext cx="9504000" cy="0"/>
          </a:xfrm>
          <a:prstGeom prst="line">
            <a:avLst/>
          </a:prstGeom>
          <a:noFill/>
          <a:ln w="9525">
            <a:solidFill>
              <a:srgbClr val="CCCCCC"/>
            </a:solidFill>
            <a:prstDash val="solid"/>
          </a:ln>
        </p:spPr>
      </p:sp>
      <p:sp>
        <p:nvSpPr>
          <p:cNvPr id="62" name="Text 59"/>
          <p:cNvSpPr txBox="1"/>
          <p:nvPr/>
        </p:nvSpPr>
        <p:spPr>
          <a:xfrm>
            <a:off x="200848" y="5252328"/>
            <a:ext cx="1188720" cy="621792"/>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3" name="Text 60"/>
          <p:cNvSpPr txBox="1"/>
          <p:nvPr/>
        </p:nvSpPr>
        <p:spPr>
          <a:xfrm>
            <a:off x="138956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4" name="Text 61"/>
          <p:cNvSpPr txBox="1"/>
          <p:nvPr/>
        </p:nvSpPr>
        <p:spPr>
          <a:xfrm>
            <a:off x="242897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5" name="Text 62"/>
          <p:cNvSpPr txBox="1"/>
          <p:nvPr/>
        </p:nvSpPr>
        <p:spPr>
          <a:xfrm>
            <a:off x="346838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6" name="Text 63"/>
          <p:cNvSpPr txBox="1"/>
          <p:nvPr/>
        </p:nvSpPr>
        <p:spPr>
          <a:xfrm>
            <a:off x="450779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7" name="Text 64"/>
          <p:cNvSpPr txBox="1"/>
          <p:nvPr/>
        </p:nvSpPr>
        <p:spPr>
          <a:xfrm>
            <a:off x="554720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8" name="Text 65"/>
          <p:cNvSpPr txBox="1"/>
          <p:nvPr/>
        </p:nvSpPr>
        <p:spPr>
          <a:xfrm>
            <a:off x="658661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69" name="Text 66"/>
          <p:cNvSpPr txBox="1"/>
          <p:nvPr/>
        </p:nvSpPr>
        <p:spPr>
          <a:xfrm>
            <a:off x="762602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
        <p:nvSpPr>
          <p:cNvPr id="70" name="Text 67"/>
          <p:cNvSpPr txBox="1"/>
          <p:nvPr/>
        </p:nvSpPr>
        <p:spPr>
          <a:xfrm>
            <a:off x="8665438" y="5252328"/>
            <a:ext cx="947970" cy="621792"/>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00,000</a:t>
            </a:r>
            <a:endParaRPr lang="en-US" sz="1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工程を列、観点を行に置く表では、列見出しを矢印の線で左から右へつなぎ、工程の順番を示す。各マスは2〜3行に収める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102</a:t>
            </a:r>
            <a:endParaRPr lang="en-US" sz="900" dirty="0"/>
          </a:p>
        </p:txBody>
      </p:sp>
      <p:sp>
        <p:nvSpPr>
          <p:cNvPr id="12" name="Text 9"/>
          <p:cNvSpPr txBox="1"/>
          <p:nvPr/>
        </p:nvSpPr>
        <p:spPr>
          <a:xfrm>
            <a:off x="143528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435288" y="2335392"/>
            <a:ext cx="2662032" cy="0"/>
          </a:xfrm>
          <a:prstGeom prst="line">
            <a:avLst/>
          </a:prstGeom>
          <a:noFill/>
          <a:ln w="12700">
            <a:solidFill>
              <a:srgbClr val="7F7F7F"/>
            </a:solidFill>
            <a:prstDash val="solid"/>
          </a:ln>
        </p:spPr>
      </p:sp>
      <p:sp>
        <p:nvSpPr>
          <p:cNvPr id="14" name="Shape 11"/>
          <p:cNvSpPr/>
          <p:nvPr/>
        </p:nvSpPr>
        <p:spPr>
          <a:xfrm>
            <a:off x="3987592" y="2243952"/>
            <a:ext cx="109728" cy="91440"/>
          </a:xfrm>
          <a:prstGeom prst="line">
            <a:avLst/>
          </a:prstGeom>
          <a:noFill/>
          <a:ln w="12700">
            <a:solidFill>
              <a:srgbClr val="7F7F7F"/>
            </a:solidFill>
            <a:prstDash val="solid"/>
          </a:ln>
        </p:spPr>
      </p:sp>
      <p:sp>
        <p:nvSpPr>
          <p:cNvPr id="15" name="Shape 12"/>
          <p:cNvSpPr/>
          <p:nvPr/>
        </p:nvSpPr>
        <p:spPr>
          <a:xfrm flipV="1">
            <a:off x="3987592" y="2335392"/>
            <a:ext cx="109728" cy="91440"/>
          </a:xfrm>
          <a:prstGeom prst="line">
            <a:avLst/>
          </a:prstGeom>
          <a:noFill/>
          <a:ln w="12700">
            <a:solidFill>
              <a:srgbClr val="7F7F7F"/>
            </a:solidFill>
            <a:prstDash val="solid"/>
          </a:ln>
        </p:spPr>
      </p:sp>
      <p:sp>
        <p:nvSpPr>
          <p:cNvPr id="16" name="Text 13"/>
          <p:cNvSpPr txBox="1"/>
          <p:nvPr/>
        </p:nvSpPr>
        <p:spPr>
          <a:xfrm>
            <a:off x="420704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207048" y="2335392"/>
            <a:ext cx="2662032" cy="0"/>
          </a:xfrm>
          <a:prstGeom prst="line">
            <a:avLst/>
          </a:prstGeom>
          <a:noFill/>
          <a:ln w="12700">
            <a:solidFill>
              <a:srgbClr val="7F7F7F"/>
            </a:solidFill>
            <a:prstDash val="solid"/>
          </a:ln>
        </p:spPr>
      </p:sp>
      <p:sp>
        <p:nvSpPr>
          <p:cNvPr id="18" name="Shape 15"/>
          <p:cNvSpPr/>
          <p:nvPr/>
        </p:nvSpPr>
        <p:spPr>
          <a:xfrm>
            <a:off x="6759352" y="2243952"/>
            <a:ext cx="109728" cy="91440"/>
          </a:xfrm>
          <a:prstGeom prst="line">
            <a:avLst/>
          </a:prstGeom>
          <a:noFill/>
          <a:ln w="12700">
            <a:solidFill>
              <a:srgbClr val="7F7F7F"/>
            </a:solidFill>
            <a:prstDash val="solid"/>
          </a:ln>
        </p:spPr>
      </p:sp>
      <p:sp>
        <p:nvSpPr>
          <p:cNvPr id="19" name="Shape 16"/>
          <p:cNvSpPr/>
          <p:nvPr/>
        </p:nvSpPr>
        <p:spPr>
          <a:xfrm flipV="1">
            <a:off x="6759352" y="2335392"/>
            <a:ext cx="109728" cy="91440"/>
          </a:xfrm>
          <a:prstGeom prst="line">
            <a:avLst/>
          </a:prstGeom>
          <a:noFill/>
          <a:ln w="12700">
            <a:solidFill>
              <a:srgbClr val="7F7F7F"/>
            </a:solidFill>
            <a:prstDash val="solid"/>
          </a:ln>
        </p:spPr>
      </p:sp>
      <p:sp>
        <p:nvSpPr>
          <p:cNvPr id="20" name="Text 17"/>
          <p:cNvSpPr txBox="1"/>
          <p:nvPr/>
        </p:nvSpPr>
        <p:spPr>
          <a:xfrm>
            <a:off x="6978808" y="2006208"/>
            <a:ext cx="25431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6978808" y="2335392"/>
            <a:ext cx="266203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25" name="Shape 22"/>
          <p:cNvSpPr/>
          <p:nvPr/>
        </p:nvSpPr>
        <p:spPr>
          <a:xfrm>
            <a:off x="1279840" y="2518272"/>
            <a:ext cx="0" cy="1005840"/>
          </a:xfrm>
          <a:prstGeom prst="line">
            <a:avLst/>
          </a:prstGeom>
          <a:noFill/>
          <a:ln w="12700">
            <a:solidFill>
              <a:srgbClr val="7F7F7F"/>
            </a:solidFill>
            <a:prstDash val="solid"/>
          </a:ln>
        </p:spPr>
      </p:sp>
      <p:sp>
        <p:nvSpPr>
          <p:cNvPr id="26" name="Shape 23"/>
          <p:cNvSpPr/>
          <p:nvPr/>
        </p:nvSpPr>
        <p:spPr>
          <a:xfrm>
            <a:off x="200848" y="3524112"/>
            <a:ext cx="1078992" cy="0"/>
          </a:xfrm>
          <a:prstGeom prst="line">
            <a:avLst/>
          </a:prstGeom>
          <a:noFill/>
          <a:ln w="12700">
            <a:solidFill>
              <a:srgbClr val="7F7F7F"/>
            </a:solidFill>
            <a:prstDash val="solid"/>
          </a:ln>
        </p:spPr>
      </p:sp>
      <p:sp>
        <p:nvSpPr>
          <p:cNvPr id="27" name="Text 24"/>
          <p:cNvSpPr txBox="1"/>
          <p:nvPr/>
        </p:nvSpPr>
        <p:spPr>
          <a:xfrm>
            <a:off x="148100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425276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7024528" y="2563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Shape 27"/>
          <p:cNvSpPr/>
          <p:nvPr/>
        </p:nvSpPr>
        <p:spPr>
          <a:xfrm>
            <a:off x="1389568" y="3569832"/>
            <a:ext cx="8315280" cy="0"/>
          </a:xfrm>
          <a:prstGeom prst="line">
            <a:avLst/>
          </a:prstGeom>
          <a:noFill/>
          <a:ln w="9525">
            <a:solidFill>
              <a:srgbClr val="CCCCCC"/>
            </a:solidFill>
            <a:prstDash val="solid"/>
          </a:ln>
        </p:spPr>
      </p:sp>
      <p:sp>
        <p:nvSpPr>
          <p:cNvPr id="31" name="Text 28"/>
          <p:cNvSpPr txBox="1"/>
          <p:nvPr/>
        </p:nvSpPr>
        <p:spPr>
          <a:xfrm>
            <a:off x="200848" y="3615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2" name="Shape 29"/>
          <p:cNvSpPr/>
          <p:nvPr/>
        </p:nvSpPr>
        <p:spPr>
          <a:xfrm>
            <a:off x="1279840" y="3661272"/>
            <a:ext cx="0" cy="1005840"/>
          </a:xfrm>
          <a:prstGeom prst="line">
            <a:avLst/>
          </a:prstGeom>
          <a:noFill/>
          <a:ln w="12700">
            <a:solidFill>
              <a:srgbClr val="7F7F7F"/>
            </a:solidFill>
            <a:prstDash val="solid"/>
          </a:ln>
        </p:spPr>
      </p:sp>
      <p:sp>
        <p:nvSpPr>
          <p:cNvPr id="33" name="Shape 30"/>
          <p:cNvSpPr/>
          <p:nvPr/>
        </p:nvSpPr>
        <p:spPr>
          <a:xfrm>
            <a:off x="200848" y="4667112"/>
            <a:ext cx="1078992" cy="0"/>
          </a:xfrm>
          <a:prstGeom prst="line">
            <a:avLst/>
          </a:prstGeom>
          <a:noFill/>
          <a:ln w="12700">
            <a:solidFill>
              <a:srgbClr val="7F7F7F"/>
            </a:solidFill>
            <a:prstDash val="solid"/>
          </a:ln>
        </p:spPr>
      </p:sp>
      <p:sp>
        <p:nvSpPr>
          <p:cNvPr id="34" name="Text 31"/>
          <p:cNvSpPr txBox="1"/>
          <p:nvPr/>
        </p:nvSpPr>
        <p:spPr>
          <a:xfrm>
            <a:off x="148100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25276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024528" y="3706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1389568" y="4712832"/>
            <a:ext cx="8315280" cy="0"/>
          </a:xfrm>
          <a:prstGeom prst="line">
            <a:avLst/>
          </a:prstGeom>
          <a:noFill/>
          <a:ln w="9525">
            <a:solidFill>
              <a:srgbClr val="CCCCCC"/>
            </a:solidFill>
            <a:prstDash val="solid"/>
          </a:ln>
        </p:spPr>
      </p:sp>
      <p:sp>
        <p:nvSpPr>
          <p:cNvPr id="38" name="Text 35"/>
          <p:cNvSpPr txBox="1"/>
          <p:nvPr/>
        </p:nvSpPr>
        <p:spPr>
          <a:xfrm>
            <a:off x="200848" y="4758552"/>
            <a:ext cx="1005840" cy="105156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XXX</a:t>
            </a:r>
            <a:endParaRPr lang="en-US" sz="1400" dirty="0"/>
          </a:p>
        </p:txBody>
      </p:sp>
      <p:sp>
        <p:nvSpPr>
          <p:cNvPr id="39" name="Shape 36"/>
          <p:cNvSpPr/>
          <p:nvPr/>
        </p:nvSpPr>
        <p:spPr>
          <a:xfrm>
            <a:off x="1279840" y="4804272"/>
            <a:ext cx="0" cy="1005840"/>
          </a:xfrm>
          <a:prstGeom prst="line">
            <a:avLst/>
          </a:prstGeom>
          <a:noFill/>
          <a:ln w="12700">
            <a:solidFill>
              <a:srgbClr val="7F7F7F"/>
            </a:solidFill>
            <a:prstDash val="solid"/>
          </a:ln>
        </p:spPr>
      </p:sp>
      <p:sp>
        <p:nvSpPr>
          <p:cNvPr id="40" name="Shape 37"/>
          <p:cNvSpPr/>
          <p:nvPr/>
        </p:nvSpPr>
        <p:spPr>
          <a:xfrm>
            <a:off x="200848" y="5810112"/>
            <a:ext cx="1078992" cy="0"/>
          </a:xfrm>
          <a:prstGeom prst="line">
            <a:avLst/>
          </a:prstGeom>
          <a:noFill/>
          <a:ln w="12700">
            <a:solidFill>
              <a:srgbClr val="7F7F7F"/>
            </a:solidFill>
            <a:prstDash val="solid"/>
          </a:ln>
        </p:spPr>
      </p:sp>
      <p:sp>
        <p:nvSpPr>
          <p:cNvPr id="41" name="Text 38"/>
          <p:cNvSpPr txBox="1"/>
          <p:nvPr/>
        </p:nvSpPr>
        <p:spPr>
          <a:xfrm>
            <a:off x="148100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425276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Text 40"/>
          <p:cNvSpPr txBox="1"/>
          <p:nvPr/>
        </p:nvSpPr>
        <p:spPr>
          <a:xfrm>
            <a:off x="7024528" y="4849992"/>
            <a:ext cx="2588880" cy="9601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工程×観点</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行を大分類で束ねるときは、左に区分名と縦の線を置き、行の名前をグレーの塊で示す。列見出しは工程の矢印の線にする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103</a:t>
            </a:r>
            <a:endParaRPr lang="en-US" sz="900" dirty="0"/>
          </a:p>
        </p:txBody>
      </p:sp>
      <p:sp>
        <p:nvSpPr>
          <p:cNvPr id="12" name="Text 9"/>
          <p:cNvSpPr txBox="1"/>
          <p:nvPr/>
        </p:nvSpPr>
        <p:spPr>
          <a:xfrm>
            <a:off x="244112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441128" y="2335392"/>
            <a:ext cx="2326752" cy="0"/>
          </a:xfrm>
          <a:prstGeom prst="line">
            <a:avLst/>
          </a:prstGeom>
          <a:noFill/>
          <a:ln w="12700">
            <a:solidFill>
              <a:srgbClr val="7F7F7F"/>
            </a:solidFill>
            <a:prstDash val="solid"/>
          </a:ln>
        </p:spPr>
      </p:sp>
      <p:sp>
        <p:nvSpPr>
          <p:cNvPr id="14" name="Shape 11"/>
          <p:cNvSpPr/>
          <p:nvPr/>
        </p:nvSpPr>
        <p:spPr>
          <a:xfrm>
            <a:off x="4658152" y="2243952"/>
            <a:ext cx="109728" cy="91440"/>
          </a:xfrm>
          <a:prstGeom prst="line">
            <a:avLst/>
          </a:prstGeom>
          <a:noFill/>
          <a:ln w="12700">
            <a:solidFill>
              <a:srgbClr val="7F7F7F"/>
            </a:solidFill>
            <a:prstDash val="solid"/>
          </a:ln>
        </p:spPr>
      </p:sp>
      <p:sp>
        <p:nvSpPr>
          <p:cNvPr id="15" name="Shape 12"/>
          <p:cNvSpPr/>
          <p:nvPr/>
        </p:nvSpPr>
        <p:spPr>
          <a:xfrm flipV="1">
            <a:off x="4658152" y="2335392"/>
            <a:ext cx="109728" cy="91440"/>
          </a:xfrm>
          <a:prstGeom prst="line">
            <a:avLst/>
          </a:prstGeom>
          <a:noFill/>
          <a:ln w="12700">
            <a:solidFill>
              <a:srgbClr val="7F7F7F"/>
            </a:solidFill>
            <a:prstDash val="solid"/>
          </a:ln>
        </p:spPr>
      </p:sp>
      <p:sp>
        <p:nvSpPr>
          <p:cNvPr id="16" name="Text 13"/>
          <p:cNvSpPr txBox="1"/>
          <p:nvPr/>
        </p:nvSpPr>
        <p:spPr>
          <a:xfrm>
            <a:off x="487760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4877608" y="2335392"/>
            <a:ext cx="2326752" cy="0"/>
          </a:xfrm>
          <a:prstGeom prst="line">
            <a:avLst/>
          </a:prstGeom>
          <a:noFill/>
          <a:ln w="12700">
            <a:solidFill>
              <a:srgbClr val="7F7F7F"/>
            </a:solidFill>
            <a:prstDash val="solid"/>
          </a:ln>
        </p:spPr>
      </p:sp>
      <p:sp>
        <p:nvSpPr>
          <p:cNvPr id="18" name="Shape 15"/>
          <p:cNvSpPr/>
          <p:nvPr/>
        </p:nvSpPr>
        <p:spPr>
          <a:xfrm>
            <a:off x="7094632" y="2243952"/>
            <a:ext cx="109728" cy="91440"/>
          </a:xfrm>
          <a:prstGeom prst="line">
            <a:avLst/>
          </a:prstGeom>
          <a:noFill/>
          <a:ln w="12700">
            <a:solidFill>
              <a:srgbClr val="7F7F7F"/>
            </a:solidFill>
            <a:prstDash val="solid"/>
          </a:ln>
        </p:spPr>
      </p:sp>
      <p:sp>
        <p:nvSpPr>
          <p:cNvPr id="19" name="Shape 16"/>
          <p:cNvSpPr/>
          <p:nvPr/>
        </p:nvSpPr>
        <p:spPr>
          <a:xfrm flipV="1">
            <a:off x="7094632" y="2335392"/>
            <a:ext cx="109728" cy="91440"/>
          </a:xfrm>
          <a:prstGeom prst="line">
            <a:avLst/>
          </a:prstGeom>
          <a:noFill/>
          <a:ln w="12700">
            <a:solidFill>
              <a:srgbClr val="7F7F7F"/>
            </a:solidFill>
            <a:prstDash val="solid"/>
          </a:ln>
        </p:spPr>
      </p:sp>
      <p:sp>
        <p:nvSpPr>
          <p:cNvPr id="20" name="Text 17"/>
          <p:cNvSpPr txBox="1"/>
          <p:nvPr/>
        </p:nvSpPr>
        <p:spPr>
          <a:xfrm>
            <a:off x="7314088" y="2006208"/>
            <a:ext cx="220788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7314088" y="2335392"/>
            <a:ext cx="2326752" cy="0"/>
          </a:xfrm>
          <a:prstGeom prst="line">
            <a:avLst/>
          </a:prstGeom>
          <a:noFill/>
          <a:ln w="12700">
            <a:solidFill>
              <a:srgbClr val="7F7F7F"/>
            </a:solidFill>
            <a:prstDash val="solid"/>
          </a:ln>
        </p:spPr>
      </p:sp>
      <p:sp>
        <p:nvSpPr>
          <p:cNvPr id="22" name="Shape 19"/>
          <p:cNvSpPr/>
          <p:nvPr/>
        </p:nvSpPr>
        <p:spPr>
          <a:xfrm>
            <a:off x="9531112" y="2243952"/>
            <a:ext cx="109728" cy="91440"/>
          </a:xfrm>
          <a:prstGeom prst="line">
            <a:avLst/>
          </a:prstGeom>
          <a:noFill/>
          <a:ln w="12700">
            <a:solidFill>
              <a:srgbClr val="7F7F7F"/>
            </a:solidFill>
            <a:prstDash val="solid"/>
          </a:ln>
        </p:spPr>
      </p:sp>
      <p:sp>
        <p:nvSpPr>
          <p:cNvPr id="23" name="Shape 20"/>
          <p:cNvSpPr/>
          <p:nvPr/>
        </p:nvSpPr>
        <p:spPr>
          <a:xfrm flipV="1">
            <a:off x="9531112" y="2335392"/>
            <a:ext cx="109728" cy="91440"/>
          </a:xfrm>
          <a:prstGeom prst="line">
            <a:avLst/>
          </a:prstGeom>
          <a:noFill/>
          <a:ln w="12700">
            <a:solidFill>
              <a:srgbClr val="7F7F7F"/>
            </a:solidFill>
            <a:prstDash val="solid"/>
          </a:ln>
        </p:spPr>
      </p:sp>
      <p:sp>
        <p:nvSpPr>
          <p:cNvPr id="24" name="Text 21"/>
          <p:cNvSpPr txBox="1"/>
          <p:nvPr/>
        </p:nvSpPr>
        <p:spPr>
          <a:xfrm>
            <a:off x="200848" y="2472552"/>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1115248" y="2518272"/>
            <a:ext cx="0" cy="1673352"/>
          </a:xfrm>
          <a:prstGeom prst="line">
            <a:avLst/>
          </a:prstGeom>
          <a:noFill/>
          <a:ln w="15875">
            <a:solidFill>
              <a:srgbClr val="7F7F7F"/>
            </a:solidFill>
            <a:prstDash val="solid"/>
          </a:ln>
        </p:spPr>
      </p:sp>
      <p:sp>
        <p:nvSpPr>
          <p:cNvPr id="26" name="Shape 23"/>
          <p:cNvSpPr/>
          <p:nvPr/>
        </p:nvSpPr>
        <p:spPr>
          <a:xfrm>
            <a:off x="1206688" y="2509128"/>
            <a:ext cx="1097280" cy="512064"/>
          </a:xfrm>
          <a:prstGeom prst="rect">
            <a:avLst/>
          </a:prstGeom>
          <a:solidFill>
            <a:srgbClr val="CCCCCC"/>
          </a:solidFill>
          <a:ln/>
        </p:spPr>
      </p:sp>
      <p:sp>
        <p:nvSpPr>
          <p:cNvPr id="27" name="Text 24"/>
          <p:cNvSpPr txBox="1"/>
          <p:nvPr/>
        </p:nvSpPr>
        <p:spPr>
          <a:xfrm>
            <a:off x="1206688" y="250912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248684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Text 26"/>
          <p:cNvSpPr txBox="1"/>
          <p:nvPr/>
        </p:nvSpPr>
        <p:spPr>
          <a:xfrm>
            <a:off x="492332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7359808" y="250912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395408" y="3057768"/>
            <a:ext cx="7309440" cy="0"/>
          </a:xfrm>
          <a:prstGeom prst="line">
            <a:avLst/>
          </a:prstGeom>
          <a:noFill/>
          <a:ln w="9525">
            <a:solidFill>
              <a:srgbClr val="CCCCCC"/>
            </a:solidFill>
            <a:prstDash val="solid"/>
          </a:ln>
        </p:spPr>
      </p:sp>
      <p:sp>
        <p:nvSpPr>
          <p:cNvPr id="32" name="Shape 29"/>
          <p:cNvSpPr/>
          <p:nvPr/>
        </p:nvSpPr>
        <p:spPr>
          <a:xfrm>
            <a:off x="1206688" y="3112632"/>
            <a:ext cx="1097280" cy="512064"/>
          </a:xfrm>
          <a:prstGeom prst="rect">
            <a:avLst/>
          </a:prstGeom>
          <a:solidFill>
            <a:srgbClr val="CCCCCC"/>
          </a:solidFill>
          <a:ln/>
        </p:spPr>
      </p:sp>
      <p:sp>
        <p:nvSpPr>
          <p:cNvPr id="33" name="Text 30"/>
          <p:cNvSpPr txBox="1"/>
          <p:nvPr/>
        </p:nvSpPr>
        <p:spPr>
          <a:xfrm>
            <a:off x="1206688" y="3112632"/>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248684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5" name="Text 32"/>
          <p:cNvSpPr txBox="1"/>
          <p:nvPr/>
        </p:nvSpPr>
        <p:spPr>
          <a:xfrm>
            <a:off x="492332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Text 33"/>
          <p:cNvSpPr txBox="1"/>
          <p:nvPr/>
        </p:nvSpPr>
        <p:spPr>
          <a:xfrm>
            <a:off x="7359808" y="3112632"/>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2395408" y="3661272"/>
            <a:ext cx="7309440" cy="0"/>
          </a:xfrm>
          <a:prstGeom prst="line">
            <a:avLst/>
          </a:prstGeom>
          <a:noFill/>
          <a:ln w="9525">
            <a:solidFill>
              <a:srgbClr val="CCCCCC"/>
            </a:solidFill>
            <a:prstDash val="solid"/>
          </a:ln>
        </p:spPr>
      </p:sp>
      <p:sp>
        <p:nvSpPr>
          <p:cNvPr id="38" name="Shape 35"/>
          <p:cNvSpPr/>
          <p:nvPr/>
        </p:nvSpPr>
        <p:spPr>
          <a:xfrm>
            <a:off x="1206688" y="3716136"/>
            <a:ext cx="1097280" cy="512064"/>
          </a:xfrm>
          <a:prstGeom prst="rect">
            <a:avLst/>
          </a:prstGeom>
          <a:solidFill>
            <a:srgbClr val="CCCCCC"/>
          </a:solidFill>
          <a:ln/>
        </p:spPr>
      </p:sp>
      <p:sp>
        <p:nvSpPr>
          <p:cNvPr id="39" name="Text 36"/>
          <p:cNvSpPr txBox="1"/>
          <p:nvPr/>
        </p:nvSpPr>
        <p:spPr>
          <a:xfrm>
            <a:off x="1206688" y="3716136"/>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248684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492332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Text 39"/>
          <p:cNvSpPr txBox="1"/>
          <p:nvPr/>
        </p:nvSpPr>
        <p:spPr>
          <a:xfrm>
            <a:off x="7359808" y="3716136"/>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3" name="Shape 40"/>
          <p:cNvSpPr/>
          <p:nvPr/>
        </p:nvSpPr>
        <p:spPr>
          <a:xfrm>
            <a:off x="2395408" y="4264776"/>
            <a:ext cx="7309440" cy="0"/>
          </a:xfrm>
          <a:prstGeom prst="line">
            <a:avLst/>
          </a:prstGeom>
          <a:noFill/>
          <a:ln w="9525">
            <a:solidFill>
              <a:srgbClr val="CCCCCC"/>
            </a:solidFill>
            <a:prstDash val="solid"/>
          </a:ln>
        </p:spPr>
      </p:sp>
      <p:sp>
        <p:nvSpPr>
          <p:cNvPr id="44" name="Text 41"/>
          <p:cNvSpPr txBox="1"/>
          <p:nvPr/>
        </p:nvSpPr>
        <p:spPr>
          <a:xfrm>
            <a:off x="200848" y="4283064"/>
            <a:ext cx="822960" cy="1719072"/>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5" name="Shape 42"/>
          <p:cNvSpPr/>
          <p:nvPr/>
        </p:nvSpPr>
        <p:spPr>
          <a:xfrm>
            <a:off x="1115248" y="4328784"/>
            <a:ext cx="0" cy="1673352"/>
          </a:xfrm>
          <a:prstGeom prst="line">
            <a:avLst/>
          </a:prstGeom>
          <a:noFill/>
          <a:ln w="15875">
            <a:solidFill>
              <a:srgbClr val="7F7F7F"/>
            </a:solidFill>
            <a:prstDash val="solid"/>
          </a:ln>
        </p:spPr>
      </p:sp>
      <p:sp>
        <p:nvSpPr>
          <p:cNvPr id="46" name="Shape 43"/>
          <p:cNvSpPr/>
          <p:nvPr/>
        </p:nvSpPr>
        <p:spPr>
          <a:xfrm>
            <a:off x="1206688" y="4319640"/>
            <a:ext cx="1097280" cy="512064"/>
          </a:xfrm>
          <a:prstGeom prst="rect">
            <a:avLst/>
          </a:prstGeom>
          <a:solidFill>
            <a:srgbClr val="CCCCCC"/>
          </a:solidFill>
          <a:ln/>
        </p:spPr>
      </p:sp>
      <p:sp>
        <p:nvSpPr>
          <p:cNvPr id="47" name="Text 44"/>
          <p:cNvSpPr txBox="1"/>
          <p:nvPr/>
        </p:nvSpPr>
        <p:spPr>
          <a:xfrm>
            <a:off x="1206688" y="4319640"/>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8" name="Text 45"/>
          <p:cNvSpPr txBox="1"/>
          <p:nvPr/>
        </p:nvSpPr>
        <p:spPr>
          <a:xfrm>
            <a:off x="248684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9" name="Text 46"/>
          <p:cNvSpPr txBox="1"/>
          <p:nvPr/>
        </p:nvSpPr>
        <p:spPr>
          <a:xfrm>
            <a:off x="492332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Text 47"/>
          <p:cNvSpPr txBox="1"/>
          <p:nvPr/>
        </p:nvSpPr>
        <p:spPr>
          <a:xfrm>
            <a:off x="7359808" y="4319640"/>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1" name="Shape 48"/>
          <p:cNvSpPr/>
          <p:nvPr/>
        </p:nvSpPr>
        <p:spPr>
          <a:xfrm>
            <a:off x="2395408" y="4868280"/>
            <a:ext cx="7309440" cy="0"/>
          </a:xfrm>
          <a:prstGeom prst="line">
            <a:avLst/>
          </a:prstGeom>
          <a:noFill/>
          <a:ln w="9525">
            <a:solidFill>
              <a:srgbClr val="CCCCCC"/>
            </a:solidFill>
            <a:prstDash val="solid"/>
          </a:ln>
        </p:spPr>
      </p:sp>
      <p:sp>
        <p:nvSpPr>
          <p:cNvPr id="52" name="Shape 49"/>
          <p:cNvSpPr/>
          <p:nvPr/>
        </p:nvSpPr>
        <p:spPr>
          <a:xfrm>
            <a:off x="1206688" y="4923144"/>
            <a:ext cx="1097280" cy="512064"/>
          </a:xfrm>
          <a:prstGeom prst="rect">
            <a:avLst/>
          </a:prstGeom>
          <a:solidFill>
            <a:srgbClr val="CCCCCC"/>
          </a:solidFill>
          <a:ln/>
        </p:spPr>
      </p:sp>
      <p:sp>
        <p:nvSpPr>
          <p:cNvPr id="53" name="Text 50"/>
          <p:cNvSpPr txBox="1"/>
          <p:nvPr/>
        </p:nvSpPr>
        <p:spPr>
          <a:xfrm>
            <a:off x="1206688" y="4923144"/>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4" name="Text 51"/>
          <p:cNvSpPr txBox="1"/>
          <p:nvPr/>
        </p:nvSpPr>
        <p:spPr>
          <a:xfrm>
            <a:off x="248684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5" name="Text 52"/>
          <p:cNvSpPr txBox="1"/>
          <p:nvPr/>
        </p:nvSpPr>
        <p:spPr>
          <a:xfrm>
            <a:off x="492332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6" name="Text 53"/>
          <p:cNvSpPr txBox="1"/>
          <p:nvPr/>
        </p:nvSpPr>
        <p:spPr>
          <a:xfrm>
            <a:off x="7359808" y="4923144"/>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7" name="Shape 54"/>
          <p:cNvSpPr/>
          <p:nvPr/>
        </p:nvSpPr>
        <p:spPr>
          <a:xfrm>
            <a:off x="2395408" y="5471784"/>
            <a:ext cx="7309440" cy="0"/>
          </a:xfrm>
          <a:prstGeom prst="line">
            <a:avLst/>
          </a:prstGeom>
          <a:noFill/>
          <a:ln w="9525">
            <a:solidFill>
              <a:srgbClr val="CCCCCC"/>
            </a:solidFill>
            <a:prstDash val="solid"/>
          </a:ln>
        </p:spPr>
      </p:sp>
      <p:sp>
        <p:nvSpPr>
          <p:cNvPr id="58" name="Shape 55"/>
          <p:cNvSpPr/>
          <p:nvPr/>
        </p:nvSpPr>
        <p:spPr>
          <a:xfrm>
            <a:off x="1206688" y="5526648"/>
            <a:ext cx="1097280" cy="512064"/>
          </a:xfrm>
          <a:prstGeom prst="rect">
            <a:avLst/>
          </a:prstGeom>
          <a:solidFill>
            <a:srgbClr val="CCCCCC"/>
          </a:solidFill>
          <a:ln/>
        </p:spPr>
      </p:sp>
      <p:sp>
        <p:nvSpPr>
          <p:cNvPr id="59" name="Text 56"/>
          <p:cNvSpPr txBox="1"/>
          <p:nvPr/>
        </p:nvSpPr>
        <p:spPr>
          <a:xfrm>
            <a:off x="1206688" y="5526648"/>
            <a:ext cx="1097280" cy="512064"/>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0" name="Text 57"/>
          <p:cNvSpPr txBox="1"/>
          <p:nvPr/>
        </p:nvSpPr>
        <p:spPr>
          <a:xfrm>
            <a:off x="248684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1" name="Text 58"/>
          <p:cNvSpPr txBox="1"/>
          <p:nvPr/>
        </p:nvSpPr>
        <p:spPr>
          <a:xfrm>
            <a:off x="492332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62" name="Text 59"/>
          <p:cNvSpPr txBox="1"/>
          <p:nvPr/>
        </p:nvSpPr>
        <p:spPr>
          <a:xfrm>
            <a:off x="7359808" y="5526648"/>
            <a:ext cx="2253600" cy="512064"/>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縦の工程フローでは左に工程を上から下へ並べ、右に各工程の中身を書く。強調したい工程だけを淡い紺で塗り、他はグレーにする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104</a:t>
            </a:r>
            <a:endParaRPr lang="en-US" sz="900" dirty="0"/>
          </a:p>
        </p:txBody>
      </p:sp>
      <p:sp>
        <p:nvSpPr>
          <p:cNvPr id="12" name="Shape 9"/>
          <p:cNvSpPr/>
          <p:nvPr/>
        </p:nvSpPr>
        <p:spPr>
          <a:xfrm>
            <a:off x="200848" y="1987920"/>
            <a:ext cx="1463040" cy="786384"/>
          </a:xfrm>
          <a:prstGeom prst="rect">
            <a:avLst/>
          </a:prstGeom>
          <a:solidFill>
            <a:srgbClr val="CCCCCC"/>
          </a:solidFill>
          <a:ln/>
        </p:spPr>
      </p:sp>
      <p:sp>
        <p:nvSpPr>
          <p:cNvPr id="13" name="Shape 10"/>
          <p:cNvSpPr/>
          <p:nvPr/>
        </p:nvSpPr>
        <p:spPr>
          <a:xfrm rot="10800000">
            <a:off x="200848" y="2765160"/>
            <a:ext cx="1463040" cy="137160"/>
          </a:xfrm>
          <a:prstGeom prst="triangle">
            <a:avLst/>
          </a:prstGeom>
          <a:solidFill>
            <a:srgbClr val="CCCCCC"/>
          </a:solidFill>
          <a:ln/>
        </p:spPr>
      </p:sp>
      <p:sp>
        <p:nvSpPr>
          <p:cNvPr id="14" name="Text 11"/>
          <p:cNvSpPr txBox="1"/>
          <p:nvPr/>
        </p:nvSpPr>
        <p:spPr>
          <a:xfrm>
            <a:off x="200848" y="1987920"/>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Text 12"/>
          <p:cNvSpPr txBox="1"/>
          <p:nvPr/>
        </p:nvSpPr>
        <p:spPr>
          <a:xfrm>
            <a:off x="1938208" y="2033640"/>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6" name="Shape 13"/>
          <p:cNvSpPr/>
          <p:nvPr/>
        </p:nvSpPr>
        <p:spPr>
          <a:xfrm>
            <a:off x="1938208" y="2948040"/>
            <a:ext cx="7766640" cy="0"/>
          </a:xfrm>
          <a:prstGeom prst="line">
            <a:avLst/>
          </a:prstGeom>
          <a:noFill/>
          <a:ln w="9525">
            <a:solidFill>
              <a:srgbClr val="CCCCCC"/>
            </a:solidFill>
            <a:prstDash val="solid"/>
          </a:ln>
        </p:spPr>
      </p:sp>
      <p:sp>
        <p:nvSpPr>
          <p:cNvPr id="17" name="Shape 14"/>
          <p:cNvSpPr/>
          <p:nvPr/>
        </p:nvSpPr>
        <p:spPr>
          <a:xfrm>
            <a:off x="200848" y="3012048"/>
            <a:ext cx="1463040" cy="786384"/>
          </a:xfrm>
          <a:prstGeom prst="rect">
            <a:avLst/>
          </a:prstGeom>
          <a:solidFill>
            <a:srgbClr val="CCCCCC"/>
          </a:solidFill>
          <a:ln/>
        </p:spPr>
      </p:sp>
      <p:sp>
        <p:nvSpPr>
          <p:cNvPr id="18" name="Shape 15"/>
          <p:cNvSpPr/>
          <p:nvPr/>
        </p:nvSpPr>
        <p:spPr>
          <a:xfrm rot="10800000">
            <a:off x="200848" y="3789288"/>
            <a:ext cx="1463040" cy="137160"/>
          </a:xfrm>
          <a:prstGeom prst="triangle">
            <a:avLst/>
          </a:prstGeom>
          <a:solidFill>
            <a:srgbClr val="CCCCCC"/>
          </a:solidFill>
          <a:ln/>
        </p:spPr>
      </p:sp>
      <p:sp>
        <p:nvSpPr>
          <p:cNvPr id="19" name="Text 16"/>
          <p:cNvSpPr txBox="1"/>
          <p:nvPr/>
        </p:nvSpPr>
        <p:spPr>
          <a:xfrm>
            <a:off x="200848" y="3012048"/>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1938208" y="3057768"/>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972168"/>
            <a:ext cx="7766640" cy="0"/>
          </a:xfrm>
          <a:prstGeom prst="line">
            <a:avLst/>
          </a:prstGeom>
          <a:noFill/>
          <a:ln w="9525">
            <a:solidFill>
              <a:srgbClr val="CCCCCC"/>
            </a:solidFill>
            <a:prstDash val="solid"/>
          </a:ln>
        </p:spPr>
      </p:sp>
      <p:sp>
        <p:nvSpPr>
          <p:cNvPr id="22" name="Shape 19"/>
          <p:cNvSpPr/>
          <p:nvPr/>
        </p:nvSpPr>
        <p:spPr>
          <a:xfrm>
            <a:off x="200848" y="4036176"/>
            <a:ext cx="1463040" cy="786384"/>
          </a:xfrm>
          <a:prstGeom prst="rect">
            <a:avLst/>
          </a:prstGeom>
          <a:solidFill>
            <a:srgbClr val="C1DDF1"/>
          </a:solidFill>
          <a:ln/>
        </p:spPr>
      </p:sp>
      <p:sp>
        <p:nvSpPr>
          <p:cNvPr id="23" name="Shape 20"/>
          <p:cNvSpPr/>
          <p:nvPr/>
        </p:nvSpPr>
        <p:spPr>
          <a:xfrm rot="10800000">
            <a:off x="200848" y="4813416"/>
            <a:ext cx="1463040" cy="137160"/>
          </a:xfrm>
          <a:prstGeom prst="triangle">
            <a:avLst/>
          </a:prstGeom>
          <a:solidFill>
            <a:srgbClr val="C1DDF1"/>
          </a:solidFill>
          <a:ln/>
        </p:spPr>
      </p:sp>
      <p:sp>
        <p:nvSpPr>
          <p:cNvPr id="24" name="Text 21"/>
          <p:cNvSpPr txBox="1"/>
          <p:nvPr/>
        </p:nvSpPr>
        <p:spPr>
          <a:xfrm>
            <a:off x="200848" y="4036176"/>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Text 22"/>
          <p:cNvSpPr txBox="1"/>
          <p:nvPr/>
        </p:nvSpPr>
        <p:spPr>
          <a:xfrm>
            <a:off x="1938208" y="4081896"/>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26" name="Shape 23"/>
          <p:cNvSpPr/>
          <p:nvPr/>
        </p:nvSpPr>
        <p:spPr>
          <a:xfrm>
            <a:off x="1938208" y="4996296"/>
            <a:ext cx="7766640" cy="0"/>
          </a:xfrm>
          <a:prstGeom prst="line">
            <a:avLst/>
          </a:prstGeom>
          <a:noFill/>
          <a:ln w="9525">
            <a:solidFill>
              <a:srgbClr val="CCCCCC"/>
            </a:solidFill>
            <a:prstDash val="solid"/>
          </a:ln>
        </p:spPr>
      </p:sp>
      <p:sp>
        <p:nvSpPr>
          <p:cNvPr id="27" name="Shape 24"/>
          <p:cNvSpPr/>
          <p:nvPr/>
        </p:nvSpPr>
        <p:spPr>
          <a:xfrm>
            <a:off x="200848" y="5060304"/>
            <a:ext cx="1463040" cy="786384"/>
          </a:xfrm>
          <a:prstGeom prst="rect">
            <a:avLst/>
          </a:prstGeom>
          <a:solidFill>
            <a:srgbClr val="CCCCCC"/>
          </a:solidFill>
          <a:ln/>
        </p:spPr>
      </p:sp>
      <p:sp>
        <p:nvSpPr>
          <p:cNvPr id="28" name="Shape 25"/>
          <p:cNvSpPr/>
          <p:nvPr/>
        </p:nvSpPr>
        <p:spPr>
          <a:xfrm rot="10800000">
            <a:off x="200848" y="5837544"/>
            <a:ext cx="1463040" cy="137160"/>
          </a:xfrm>
          <a:prstGeom prst="triangle">
            <a:avLst/>
          </a:prstGeom>
          <a:solidFill>
            <a:srgbClr val="CCCCCC"/>
          </a:solidFill>
          <a:ln/>
        </p:spPr>
      </p:sp>
      <p:sp>
        <p:nvSpPr>
          <p:cNvPr id="29" name="Text 26"/>
          <p:cNvSpPr txBox="1"/>
          <p:nvPr/>
        </p:nvSpPr>
        <p:spPr>
          <a:xfrm>
            <a:off x="200848" y="5060304"/>
            <a:ext cx="1463040" cy="82296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0" name="Text 27"/>
          <p:cNvSpPr txBox="1"/>
          <p:nvPr/>
        </p:nvSpPr>
        <p:spPr>
          <a:xfrm>
            <a:off x="1938208" y="5106024"/>
            <a:ext cx="7766640" cy="841248"/>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フローチャート</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工程ごとに観点が2つあるときは、右側を2列に分けて列の上に見出しと線を置く。強調する工程の行だけ文字を紺・太字にする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105</a:t>
            </a:r>
            <a:endParaRPr lang="en-US" sz="900" dirty="0"/>
          </a:p>
        </p:txBody>
      </p:sp>
      <p:sp>
        <p:nvSpPr>
          <p:cNvPr id="12" name="Text 9"/>
          <p:cNvSpPr txBox="1"/>
          <p:nvPr/>
        </p:nvSpPr>
        <p:spPr>
          <a:xfrm>
            <a:off x="193820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1938208" y="2335392"/>
            <a:ext cx="3746160" cy="0"/>
          </a:xfrm>
          <a:prstGeom prst="line">
            <a:avLst/>
          </a:prstGeom>
          <a:noFill/>
          <a:ln w="12700">
            <a:solidFill>
              <a:srgbClr val="7F7F7F"/>
            </a:solidFill>
            <a:prstDash val="solid"/>
          </a:ln>
        </p:spPr>
      </p:sp>
      <p:sp>
        <p:nvSpPr>
          <p:cNvPr id="14" name="Text 11"/>
          <p:cNvSpPr txBox="1"/>
          <p:nvPr/>
        </p:nvSpPr>
        <p:spPr>
          <a:xfrm>
            <a:off x="5958688" y="1987920"/>
            <a:ext cx="37461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958688" y="2335392"/>
            <a:ext cx="3746160" cy="0"/>
          </a:xfrm>
          <a:prstGeom prst="line">
            <a:avLst/>
          </a:prstGeom>
          <a:noFill/>
          <a:ln w="12700">
            <a:solidFill>
              <a:srgbClr val="7F7F7F"/>
            </a:solidFill>
            <a:prstDash val="solid"/>
          </a:ln>
        </p:spPr>
      </p:sp>
      <p:sp>
        <p:nvSpPr>
          <p:cNvPr id="16" name="Shape 13"/>
          <p:cNvSpPr/>
          <p:nvPr/>
        </p:nvSpPr>
        <p:spPr>
          <a:xfrm>
            <a:off x="200848" y="2445120"/>
            <a:ext cx="1463040" cy="694944"/>
          </a:xfrm>
          <a:prstGeom prst="rect">
            <a:avLst/>
          </a:prstGeom>
          <a:solidFill>
            <a:srgbClr val="CCCCCC"/>
          </a:solidFill>
          <a:ln/>
        </p:spPr>
      </p:sp>
      <p:sp>
        <p:nvSpPr>
          <p:cNvPr id="17" name="Shape 14"/>
          <p:cNvSpPr/>
          <p:nvPr/>
        </p:nvSpPr>
        <p:spPr>
          <a:xfrm rot="10800000">
            <a:off x="200848" y="3130920"/>
            <a:ext cx="1463040" cy="137160"/>
          </a:xfrm>
          <a:prstGeom prst="triangle">
            <a:avLst/>
          </a:prstGeom>
          <a:solidFill>
            <a:srgbClr val="CCCCCC"/>
          </a:solidFill>
          <a:ln/>
        </p:spPr>
      </p:sp>
      <p:sp>
        <p:nvSpPr>
          <p:cNvPr id="18" name="Text 15"/>
          <p:cNvSpPr txBox="1"/>
          <p:nvPr/>
        </p:nvSpPr>
        <p:spPr>
          <a:xfrm>
            <a:off x="200848" y="24451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193820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Text 17"/>
          <p:cNvSpPr txBox="1"/>
          <p:nvPr/>
        </p:nvSpPr>
        <p:spPr>
          <a:xfrm>
            <a:off x="5958688" y="24908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1938208" y="3304656"/>
            <a:ext cx="3746160" cy="0"/>
          </a:xfrm>
          <a:prstGeom prst="line">
            <a:avLst/>
          </a:prstGeom>
          <a:noFill/>
          <a:ln w="9525">
            <a:solidFill>
              <a:srgbClr val="CCCCCC"/>
            </a:solidFill>
            <a:prstDash val="solid"/>
          </a:ln>
        </p:spPr>
      </p:sp>
      <p:sp>
        <p:nvSpPr>
          <p:cNvPr id="22" name="Shape 19"/>
          <p:cNvSpPr/>
          <p:nvPr/>
        </p:nvSpPr>
        <p:spPr>
          <a:xfrm>
            <a:off x="5958688" y="3304656"/>
            <a:ext cx="3746160" cy="0"/>
          </a:xfrm>
          <a:prstGeom prst="line">
            <a:avLst/>
          </a:prstGeom>
          <a:noFill/>
          <a:ln w="9525">
            <a:solidFill>
              <a:srgbClr val="CCCCCC"/>
            </a:solidFill>
            <a:prstDash val="solid"/>
          </a:ln>
        </p:spPr>
      </p:sp>
      <p:sp>
        <p:nvSpPr>
          <p:cNvPr id="23" name="Shape 20"/>
          <p:cNvSpPr/>
          <p:nvPr/>
        </p:nvSpPr>
        <p:spPr>
          <a:xfrm>
            <a:off x="200848" y="3359520"/>
            <a:ext cx="1463040" cy="694944"/>
          </a:xfrm>
          <a:prstGeom prst="rect">
            <a:avLst/>
          </a:prstGeom>
          <a:solidFill>
            <a:srgbClr val="CCCCCC"/>
          </a:solidFill>
          <a:ln/>
        </p:spPr>
      </p:sp>
      <p:sp>
        <p:nvSpPr>
          <p:cNvPr id="24" name="Shape 21"/>
          <p:cNvSpPr/>
          <p:nvPr/>
        </p:nvSpPr>
        <p:spPr>
          <a:xfrm rot="10800000">
            <a:off x="200848" y="4045320"/>
            <a:ext cx="1463040" cy="137160"/>
          </a:xfrm>
          <a:prstGeom prst="triangle">
            <a:avLst/>
          </a:prstGeom>
          <a:solidFill>
            <a:srgbClr val="CCCCCC"/>
          </a:solidFill>
          <a:ln/>
        </p:spPr>
      </p:sp>
      <p:sp>
        <p:nvSpPr>
          <p:cNvPr id="25" name="Text 22"/>
          <p:cNvSpPr txBox="1"/>
          <p:nvPr/>
        </p:nvSpPr>
        <p:spPr>
          <a:xfrm>
            <a:off x="200848" y="33595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Text 23"/>
          <p:cNvSpPr txBox="1"/>
          <p:nvPr/>
        </p:nvSpPr>
        <p:spPr>
          <a:xfrm>
            <a:off x="193820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7" name="Text 24"/>
          <p:cNvSpPr txBox="1"/>
          <p:nvPr/>
        </p:nvSpPr>
        <p:spPr>
          <a:xfrm>
            <a:off x="5958688" y="34052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1938208" y="4219056"/>
            <a:ext cx="3746160" cy="0"/>
          </a:xfrm>
          <a:prstGeom prst="line">
            <a:avLst/>
          </a:prstGeom>
          <a:noFill/>
          <a:ln w="9525">
            <a:solidFill>
              <a:srgbClr val="CCCCCC"/>
            </a:solidFill>
            <a:prstDash val="solid"/>
          </a:ln>
        </p:spPr>
      </p:sp>
      <p:sp>
        <p:nvSpPr>
          <p:cNvPr id="29" name="Shape 26"/>
          <p:cNvSpPr/>
          <p:nvPr/>
        </p:nvSpPr>
        <p:spPr>
          <a:xfrm>
            <a:off x="5958688" y="4219056"/>
            <a:ext cx="3746160" cy="0"/>
          </a:xfrm>
          <a:prstGeom prst="line">
            <a:avLst/>
          </a:prstGeom>
          <a:noFill/>
          <a:ln w="9525">
            <a:solidFill>
              <a:srgbClr val="CCCCCC"/>
            </a:solidFill>
            <a:prstDash val="solid"/>
          </a:ln>
        </p:spPr>
      </p:sp>
      <p:sp>
        <p:nvSpPr>
          <p:cNvPr id="30" name="Shape 27"/>
          <p:cNvSpPr/>
          <p:nvPr/>
        </p:nvSpPr>
        <p:spPr>
          <a:xfrm>
            <a:off x="200848" y="4273920"/>
            <a:ext cx="1463040" cy="694944"/>
          </a:xfrm>
          <a:prstGeom prst="rect">
            <a:avLst/>
          </a:prstGeom>
          <a:solidFill>
            <a:srgbClr val="C1DDF1"/>
          </a:solidFill>
          <a:ln/>
        </p:spPr>
      </p:sp>
      <p:sp>
        <p:nvSpPr>
          <p:cNvPr id="31" name="Shape 28"/>
          <p:cNvSpPr/>
          <p:nvPr/>
        </p:nvSpPr>
        <p:spPr>
          <a:xfrm rot="10800000">
            <a:off x="200848" y="4959720"/>
            <a:ext cx="1463040" cy="137160"/>
          </a:xfrm>
          <a:prstGeom prst="triangle">
            <a:avLst/>
          </a:prstGeom>
          <a:solidFill>
            <a:srgbClr val="C1DDF1"/>
          </a:solidFill>
          <a:ln/>
        </p:spPr>
      </p:sp>
      <p:sp>
        <p:nvSpPr>
          <p:cNvPr id="32" name="Text 29"/>
          <p:cNvSpPr txBox="1"/>
          <p:nvPr/>
        </p:nvSpPr>
        <p:spPr>
          <a:xfrm>
            <a:off x="200848" y="42739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3" name="Text 30"/>
          <p:cNvSpPr txBox="1"/>
          <p:nvPr/>
        </p:nvSpPr>
        <p:spPr>
          <a:xfrm>
            <a:off x="193820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4" name="Text 31"/>
          <p:cNvSpPr txBox="1"/>
          <p:nvPr/>
        </p:nvSpPr>
        <p:spPr>
          <a:xfrm>
            <a:off x="5958688" y="43196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b="1" dirty="0">
                <a:solidFill>
                  <a:srgbClr val="000F78"/>
                </a:solidFill>
                <a:latin typeface="Yu Gothic UI" pitchFamily="34" charset="0"/>
                <a:ea typeface="Yu Gothic UI" pitchFamily="34" charset="-122"/>
                <a:cs typeface="Yu Gothic UI" pitchFamily="34" charset="-120"/>
              </a:rPr>
              <a:t>XX</a:t>
            </a:r>
            <a:endParaRPr lang="en-US" sz="1400" dirty="0"/>
          </a:p>
        </p:txBody>
      </p:sp>
      <p:sp>
        <p:nvSpPr>
          <p:cNvPr id="35" name="Shape 32"/>
          <p:cNvSpPr/>
          <p:nvPr/>
        </p:nvSpPr>
        <p:spPr>
          <a:xfrm>
            <a:off x="1938208" y="5133456"/>
            <a:ext cx="3746160" cy="0"/>
          </a:xfrm>
          <a:prstGeom prst="line">
            <a:avLst/>
          </a:prstGeom>
          <a:noFill/>
          <a:ln w="9525">
            <a:solidFill>
              <a:srgbClr val="CCCCCC"/>
            </a:solidFill>
            <a:prstDash val="solid"/>
          </a:ln>
        </p:spPr>
      </p:sp>
      <p:sp>
        <p:nvSpPr>
          <p:cNvPr id="36" name="Shape 33"/>
          <p:cNvSpPr/>
          <p:nvPr/>
        </p:nvSpPr>
        <p:spPr>
          <a:xfrm>
            <a:off x="5958688" y="5133456"/>
            <a:ext cx="3746160" cy="0"/>
          </a:xfrm>
          <a:prstGeom prst="line">
            <a:avLst/>
          </a:prstGeom>
          <a:noFill/>
          <a:ln w="9525">
            <a:solidFill>
              <a:srgbClr val="CCCCCC"/>
            </a:solidFill>
            <a:prstDash val="solid"/>
          </a:ln>
        </p:spPr>
      </p:sp>
      <p:sp>
        <p:nvSpPr>
          <p:cNvPr id="37" name="Shape 34"/>
          <p:cNvSpPr/>
          <p:nvPr/>
        </p:nvSpPr>
        <p:spPr>
          <a:xfrm>
            <a:off x="200848" y="5188320"/>
            <a:ext cx="1463040" cy="694944"/>
          </a:xfrm>
          <a:prstGeom prst="rect">
            <a:avLst/>
          </a:prstGeom>
          <a:solidFill>
            <a:srgbClr val="CCCCCC"/>
          </a:solidFill>
          <a:ln/>
        </p:spPr>
      </p:sp>
      <p:sp>
        <p:nvSpPr>
          <p:cNvPr id="38" name="Shape 35"/>
          <p:cNvSpPr/>
          <p:nvPr/>
        </p:nvSpPr>
        <p:spPr>
          <a:xfrm rot="10800000">
            <a:off x="200848" y="5874120"/>
            <a:ext cx="1463040" cy="137160"/>
          </a:xfrm>
          <a:prstGeom prst="triangle">
            <a:avLst/>
          </a:prstGeom>
          <a:solidFill>
            <a:srgbClr val="CCCCCC"/>
          </a:solidFill>
          <a:ln/>
        </p:spPr>
      </p:sp>
      <p:sp>
        <p:nvSpPr>
          <p:cNvPr id="39" name="Text 36"/>
          <p:cNvSpPr txBox="1"/>
          <p:nvPr/>
        </p:nvSpPr>
        <p:spPr>
          <a:xfrm>
            <a:off x="200848" y="5188320"/>
            <a:ext cx="1463040" cy="731520"/>
          </a:xfrm>
          <a:prstGeom prst="rect">
            <a:avLst/>
          </a:prstGeom>
          <a:noFill/>
          <a:ln/>
        </p:spPr>
        <p:txBody>
          <a:bodyPr wrap="square" lIns="0" tIns="0" rIns="0" bIns="0" rtlCol="0" anchor="ct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0" name="Text 37"/>
          <p:cNvSpPr txBox="1"/>
          <p:nvPr/>
        </p:nvSpPr>
        <p:spPr>
          <a:xfrm>
            <a:off x="193820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1" name="Text 38"/>
          <p:cNvSpPr txBox="1"/>
          <p:nvPr/>
        </p:nvSpPr>
        <p:spPr>
          <a:xfrm>
            <a:off x="5958688" y="5234040"/>
            <a:ext cx="374616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計算式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計算式は上段に項と演算子を並べ、下段に各項の定義と出所を書く。算定値の箱だけを淡い紺にし、項の箱は同じ色にそろえる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106</a:t>
            </a:r>
            <a:endParaRPr lang="en-US" sz="900" dirty="0"/>
          </a:p>
        </p:txBody>
      </p:sp>
      <p:sp>
        <p:nvSpPr>
          <p:cNvPr id="12" name="Text 9"/>
          <p:cNvSpPr txBox="1"/>
          <p:nvPr/>
        </p:nvSpPr>
        <p:spPr>
          <a:xfrm>
            <a:off x="200848" y="1987920"/>
            <a:ext cx="10058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算定式</a:t>
            </a:r>
            <a:endParaRPr lang="en-US" sz="1400" dirty="0"/>
          </a:p>
        </p:txBody>
      </p:sp>
      <p:sp>
        <p:nvSpPr>
          <p:cNvPr id="13" name="Text 10"/>
          <p:cNvSpPr txBox="1"/>
          <p:nvPr/>
        </p:nvSpPr>
        <p:spPr>
          <a:xfrm>
            <a:off x="200848" y="3450960"/>
            <a:ext cx="1005840" cy="36576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各項の説明</a:t>
            </a:r>
            <a:endParaRPr lang="en-US" sz="1400" dirty="0"/>
          </a:p>
        </p:txBody>
      </p:sp>
      <p:sp>
        <p:nvSpPr>
          <p:cNvPr id="14" name="Shape 11"/>
          <p:cNvSpPr/>
          <p:nvPr/>
        </p:nvSpPr>
        <p:spPr>
          <a:xfrm>
            <a:off x="1298128" y="1942200"/>
            <a:ext cx="0" cy="4434840"/>
          </a:xfrm>
          <a:prstGeom prst="line">
            <a:avLst/>
          </a:prstGeom>
          <a:noFill/>
          <a:ln w="12700">
            <a:solidFill>
              <a:srgbClr val="7F7F7F"/>
            </a:solidFill>
            <a:prstDash val="solid"/>
          </a:ln>
        </p:spPr>
      </p:sp>
      <p:sp>
        <p:nvSpPr>
          <p:cNvPr id="15" name="Shape 12"/>
          <p:cNvSpPr/>
          <p:nvPr/>
        </p:nvSpPr>
        <p:spPr>
          <a:xfrm>
            <a:off x="1435288" y="1987920"/>
            <a:ext cx="1691640" cy="685800"/>
          </a:xfrm>
          <a:prstGeom prst="rect">
            <a:avLst/>
          </a:prstGeom>
          <a:solidFill>
            <a:srgbClr val="E0EEF8"/>
          </a:solidFill>
          <a:ln/>
        </p:spPr>
      </p:sp>
      <p:sp>
        <p:nvSpPr>
          <p:cNvPr id="16" name="Text 13"/>
          <p:cNvSpPr txBox="1"/>
          <p:nvPr/>
        </p:nvSpPr>
        <p:spPr>
          <a:xfrm>
            <a:off x="143528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項1</a:t>
            </a:r>
            <a:endParaRPr lang="en-US" sz="1400" dirty="0"/>
          </a:p>
        </p:txBody>
      </p:sp>
      <p:sp>
        <p:nvSpPr>
          <p:cNvPr id="17" name="Shape 14"/>
          <p:cNvSpPr/>
          <p:nvPr/>
        </p:nvSpPr>
        <p:spPr>
          <a:xfrm>
            <a:off x="3231124" y="2184516"/>
            <a:ext cx="292608" cy="292608"/>
          </a:xfrm>
          <a:prstGeom prst="ellipse">
            <a:avLst/>
          </a:prstGeom>
          <a:solidFill>
            <a:srgbClr val="000F78"/>
          </a:solidFill>
          <a:ln/>
        </p:spPr>
      </p:sp>
      <p:sp>
        <p:nvSpPr>
          <p:cNvPr id="18" name="Text 15"/>
          <p:cNvSpPr txBox="1"/>
          <p:nvPr/>
        </p:nvSpPr>
        <p:spPr>
          <a:xfrm>
            <a:off x="323112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19" name="Text 16"/>
          <p:cNvSpPr txBox="1"/>
          <p:nvPr/>
        </p:nvSpPr>
        <p:spPr>
          <a:xfrm>
            <a:off x="143528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0" name="Shape 17"/>
          <p:cNvSpPr/>
          <p:nvPr/>
        </p:nvSpPr>
        <p:spPr>
          <a:xfrm>
            <a:off x="3627928" y="1987920"/>
            <a:ext cx="1691640" cy="685800"/>
          </a:xfrm>
          <a:prstGeom prst="rect">
            <a:avLst/>
          </a:prstGeom>
          <a:solidFill>
            <a:srgbClr val="E0EEF8"/>
          </a:solidFill>
          <a:ln/>
        </p:spPr>
      </p:sp>
      <p:sp>
        <p:nvSpPr>
          <p:cNvPr id="21" name="Text 18"/>
          <p:cNvSpPr txBox="1"/>
          <p:nvPr/>
        </p:nvSpPr>
        <p:spPr>
          <a:xfrm>
            <a:off x="3627928" y="1987920"/>
            <a:ext cx="1691640" cy="685800"/>
          </a:xfrm>
          <a:prstGeom prst="rect">
            <a:avLst/>
          </a:prstGeom>
          <a:noFill/>
          <a:ln/>
        </p:spPr>
        <p:txBody>
          <a:bodyPr wrap="square" lIns="0" tIns="0" rIns="0" bIns="0" rtlCol="0" anchor="ct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項2</a:t>
            </a:r>
            <a:endParaRPr lang="en-US" sz="1400" dirty="0"/>
          </a:p>
        </p:txBody>
      </p:sp>
      <p:sp>
        <p:nvSpPr>
          <p:cNvPr id="22" name="Shape 19"/>
          <p:cNvSpPr/>
          <p:nvPr/>
        </p:nvSpPr>
        <p:spPr>
          <a:xfrm>
            <a:off x="5423764" y="2184516"/>
            <a:ext cx="292608" cy="292608"/>
          </a:xfrm>
          <a:prstGeom prst="ellipse">
            <a:avLst/>
          </a:prstGeom>
          <a:solidFill>
            <a:srgbClr val="000F78"/>
          </a:solidFill>
          <a:ln/>
        </p:spPr>
      </p:sp>
      <p:sp>
        <p:nvSpPr>
          <p:cNvPr id="23" name="Text 20"/>
          <p:cNvSpPr txBox="1"/>
          <p:nvPr/>
        </p:nvSpPr>
        <p:spPr>
          <a:xfrm>
            <a:off x="542376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24" name="Text 21"/>
          <p:cNvSpPr txBox="1"/>
          <p:nvPr/>
        </p:nvSpPr>
        <p:spPr>
          <a:xfrm>
            <a:off x="362792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25" name="Shape 22"/>
          <p:cNvSpPr/>
          <p:nvPr/>
        </p:nvSpPr>
        <p:spPr>
          <a:xfrm>
            <a:off x="5820568" y="1987920"/>
            <a:ext cx="1691640" cy="685800"/>
          </a:xfrm>
          <a:prstGeom prst="rect">
            <a:avLst/>
          </a:prstGeom>
          <a:solidFill>
            <a:srgbClr val="E0EEF8"/>
          </a:solidFill>
          <a:ln/>
        </p:spPr>
      </p:sp>
      <p:sp>
        <p:nvSpPr>
          <p:cNvPr id="26" name="Text 23"/>
          <p:cNvSpPr txBox="1"/>
          <p:nvPr/>
        </p:nvSpPr>
        <p:spPr>
          <a:xfrm>
            <a:off x="5820568" y="2006208"/>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項3</a:t>
            </a:r>
            <a:endParaRPr lang="en-US" sz="1400" dirty="0"/>
          </a:p>
        </p:txBody>
      </p:sp>
      <p:sp>
        <p:nvSpPr>
          <p:cNvPr id="27" name="Shape 24"/>
          <p:cNvSpPr/>
          <p:nvPr/>
        </p:nvSpPr>
        <p:spPr>
          <a:xfrm>
            <a:off x="6049168" y="2330820"/>
            <a:ext cx="1234440" cy="0"/>
          </a:xfrm>
          <a:prstGeom prst="line">
            <a:avLst/>
          </a:prstGeom>
          <a:noFill/>
          <a:ln w="9525">
            <a:solidFill>
              <a:srgbClr val="3F3F3F"/>
            </a:solidFill>
            <a:prstDash val="solid"/>
          </a:ln>
        </p:spPr>
      </p:sp>
      <p:sp>
        <p:nvSpPr>
          <p:cNvPr id="28" name="Text 25"/>
          <p:cNvSpPr txBox="1"/>
          <p:nvPr/>
        </p:nvSpPr>
        <p:spPr>
          <a:xfrm>
            <a:off x="5820568" y="2353680"/>
            <a:ext cx="1691640" cy="301752"/>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項4</a:t>
            </a:r>
            <a:endParaRPr lang="en-US" sz="1400" dirty="0"/>
          </a:p>
        </p:txBody>
      </p:sp>
      <p:sp>
        <p:nvSpPr>
          <p:cNvPr id="29" name="Shape 26"/>
          <p:cNvSpPr/>
          <p:nvPr/>
        </p:nvSpPr>
        <p:spPr>
          <a:xfrm>
            <a:off x="7616404" y="2184516"/>
            <a:ext cx="292608" cy="292608"/>
          </a:xfrm>
          <a:prstGeom prst="ellipse">
            <a:avLst/>
          </a:prstGeom>
          <a:solidFill>
            <a:srgbClr val="000F78"/>
          </a:solidFill>
          <a:ln/>
        </p:spPr>
      </p:sp>
      <p:sp>
        <p:nvSpPr>
          <p:cNvPr id="30" name="Text 27"/>
          <p:cNvSpPr txBox="1"/>
          <p:nvPr/>
        </p:nvSpPr>
        <p:spPr>
          <a:xfrm>
            <a:off x="7616404" y="2184516"/>
            <a:ext cx="29260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582056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2" name="Shape 29"/>
          <p:cNvSpPr/>
          <p:nvPr/>
        </p:nvSpPr>
        <p:spPr>
          <a:xfrm>
            <a:off x="8013208" y="1987920"/>
            <a:ext cx="1691640" cy="685800"/>
          </a:xfrm>
          <a:prstGeom prst="rect">
            <a:avLst/>
          </a:prstGeom>
          <a:solidFill>
            <a:srgbClr val="C1DDF1"/>
          </a:solidFill>
          <a:ln/>
        </p:spPr>
      </p:sp>
      <p:sp>
        <p:nvSpPr>
          <p:cNvPr id="33" name="Text 30"/>
          <p:cNvSpPr txBox="1"/>
          <p:nvPr/>
        </p:nvSpPr>
        <p:spPr>
          <a:xfrm>
            <a:off x="8013208" y="1987920"/>
            <a:ext cx="1691640" cy="6858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算定値</a:t>
            </a:r>
            <a:endParaRPr lang="en-US" sz="1400" dirty="0"/>
          </a:p>
        </p:txBody>
      </p:sp>
      <p:sp>
        <p:nvSpPr>
          <p:cNvPr id="34" name="Text 31"/>
          <p:cNvSpPr txBox="1"/>
          <p:nvPr/>
        </p:nvSpPr>
        <p:spPr>
          <a:xfrm>
            <a:off x="8013208" y="3450960"/>
            <a:ext cx="1691640" cy="20116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出所：XX</a:t>
            </a:r>
            <a:endParaRPr lang="en-US" sz="1400" dirty="0"/>
          </a:p>
        </p:txBody>
      </p:sp>
      <p:sp>
        <p:nvSpPr>
          <p:cNvPr id="35" name="Shape 32"/>
          <p:cNvSpPr/>
          <p:nvPr/>
        </p:nvSpPr>
        <p:spPr>
          <a:xfrm>
            <a:off x="1435288" y="3222360"/>
            <a:ext cx="8269560" cy="0"/>
          </a:xfrm>
          <a:prstGeom prst="line">
            <a:avLst/>
          </a:prstGeom>
          <a:noFill/>
          <a:ln w="9525">
            <a:solidFill>
              <a:srgbClr val="CCCCCC"/>
            </a:solidFill>
            <a:prstDash val="solid"/>
          </a:ln>
        </p:spPr>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ツリー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ツリーは左から右へ分解し、同じ階層の箱を同じ大きさにそろえる。親から子への線は親の右端から出し、交差させずに直角で結ぶ</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107</a:t>
            </a:r>
            <a:endParaRPr lang="en-US" sz="900" dirty="0"/>
          </a:p>
        </p:txBody>
      </p:sp>
      <p:sp>
        <p:nvSpPr>
          <p:cNvPr id="12" name="Text 9"/>
          <p:cNvSpPr txBox="1"/>
          <p:nvPr/>
        </p:nvSpPr>
        <p:spPr>
          <a:xfrm>
            <a:off x="200848" y="1987920"/>
            <a:ext cx="15544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1554480" cy="0"/>
          </a:xfrm>
          <a:prstGeom prst="line">
            <a:avLst/>
          </a:prstGeom>
          <a:noFill/>
          <a:ln w="12700">
            <a:solidFill>
              <a:srgbClr val="7F7F7F"/>
            </a:solidFill>
            <a:prstDash val="solid"/>
          </a:ln>
        </p:spPr>
      </p:sp>
      <p:sp>
        <p:nvSpPr>
          <p:cNvPr id="14" name="Text 11"/>
          <p:cNvSpPr txBox="1"/>
          <p:nvPr/>
        </p:nvSpPr>
        <p:spPr>
          <a:xfrm>
            <a:off x="2166808" y="1987920"/>
            <a:ext cx="27432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2166808" y="2335392"/>
            <a:ext cx="2743200" cy="0"/>
          </a:xfrm>
          <a:prstGeom prst="line">
            <a:avLst/>
          </a:prstGeom>
          <a:noFill/>
          <a:ln w="12700">
            <a:solidFill>
              <a:srgbClr val="7F7F7F"/>
            </a:solidFill>
            <a:prstDash val="solid"/>
          </a:ln>
        </p:spPr>
      </p:sp>
      <p:sp>
        <p:nvSpPr>
          <p:cNvPr id="16" name="Text 13"/>
          <p:cNvSpPr txBox="1"/>
          <p:nvPr/>
        </p:nvSpPr>
        <p:spPr>
          <a:xfrm>
            <a:off x="5321488" y="1987920"/>
            <a:ext cx="438336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Shape 14"/>
          <p:cNvSpPr/>
          <p:nvPr/>
        </p:nvSpPr>
        <p:spPr>
          <a:xfrm>
            <a:off x="5321488" y="2335392"/>
            <a:ext cx="4383360" cy="0"/>
          </a:xfrm>
          <a:prstGeom prst="line">
            <a:avLst/>
          </a:prstGeom>
          <a:noFill/>
          <a:ln w="12700">
            <a:solidFill>
              <a:srgbClr val="7F7F7F"/>
            </a:solidFill>
            <a:prstDash val="solid"/>
          </a:ln>
        </p:spPr>
      </p:sp>
      <p:sp>
        <p:nvSpPr>
          <p:cNvPr id="18" name="Shape 15"/>
          <p:cNvSpPr/>
          <p:nvPr/>
        </p:nvSpPr>
        <p:spPr>
          <a:xfrm>
            <a:off x="200848" y="2490840"/>
            <a:ext cx="1554480" cy="3544200"/>
          </a:xfrm>
          <a:prstGeom prst="rect">
            <a:avLst/>
          </a:prstGeom>
          <a:solidFill>
            <a:srgbClr val="E0EEF8"/>
          </a:solidFill>
          <a:ln/>
        </p:spPr>
      </p:sp>
      <p:sp>
        <p:nvSpPr>
          <p:cNvPr id="19" name="Text 16"/>
          <p:cNvSpPr txBox="1"/>
          <p:nvPr/>
        </p:nvSpPr>
        <p:spPr>
          <a:xfrm>
            <a:off x="292288" y="2582280"/>
            <a:ext cx="137160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0" name="Shape 17"/>
          <p:cNvSpPr/>
          <p:nvPr/>
        </p:nvSpPr>
        <p:spPr>
          <a:xfrm>
            <a:off x="2166808" y="2490840"/>
            <a:ext cx="2743200" cy="1417320"/>
          </a:xfrm>
          <a:prstGeom prst="rect">
            <a:avLst/>
          </a:prstGeom>
          <a:ln w="9525">
            <a:solidFill>
              <a:srgbClr val="7F7F7F"/>
            </a:solidFill>
            <a:prstDash val="solid"/>
          </a:ln>
        </p:spPr>
      </p:sp>
      <p:sp>
        <p:nvSpPr>
          <p:cNvPr id="21" name="Text 18"/>
          <p:cNvSpPr txBox="1"/>
          <p:nvPr/>
        </p:nvSpPr>
        <p:spPr>
          <a:xfrm>
            <a:off x="2258248" y="25639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1938208" y="3199500"/>
            <a:ext cx="228600" cy="0"/>
          </a:xfrm>
          <a:prstGeom prst="line">
            <a:avLst/>
          </a:prstGeom>
          <a:noFill/>
          <a:ln w="9525">
            <a:solidFill>
              <a:srgbClr val="7F7F7F"/>
            </a:solidFill>
            <a:prstDash val="solid"/>
          </a:ln>
        </p:spPr>
      </p:sp>
      <p:sp>
        <p:nvSpPr>
          <p:cNvPr id="23" name="Shape 20"/>
          <p:cNvSpPr/>
          <p:nvPr/>
        </p:nvSpPr>
        <p:spPr>
          <a:xfrm>
            <a:off x="5321488" y="2490840"/>
            <a:ext cx="4383360" cy="411480"/>
          </a:xfrm>
          <a:prstGeom prst="rect">
            <a:avLst/>
          </a:prstGeom>
          <a:ln w="9525">
            <a:solidFill>
              <a:srgbClr val="7F7F7F"/>
            </a:solidFill>
            <a:prstDash val="solid"/>
          </a:ln>
        </p:spPr>
      </p:sp>
      <p:sp>
        <p:nvSpPr>
          <p:cNvPr id="24" name="Text 21"/>
          <p:cNvSpPr txBox="1"/>
          <p:nvPr/>
        </p:nvSpPr>
        <p:spPr>
          <a:xfrm>
            <a:off x="5412928" y="24908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5" name="Shape 22"/>
          <p:cNvSpPr/>
          <p:nvPr/>
        </p:nvSpPr>
        <p:spPr>
          <a:xfrm>
            <a:off x="5138608" y="2696580"/>
            <a:ext cx="182880" cy="0"/>
          </a:xfrm>
          <a:prstGeom prst="line">
            <a:avLst/>
          </a:prstGeom>
          <a:noFill/>
          <a:ln w="9525">
            <a:solidFill>
              <a:srgbClr val="7F7F7F"/>
            </a:solidFill>
            <a:prstDash val="solid"/>
          </a:ln>
        </p:spPr>
      </p:sp>
      <p:sp>
        <p:nvSpPr>
          <p:cNvPr id="26" name="Shape 23"/>
          <p:cNvSpPr/>
          <p:nvPr/>
        </p:nvSpPr>
        <p:spPr>
          <a:xfrm>
            <a:off x="5321488" y="2993760"/>
            <a:ext cx="4383360" cy="411480"/>
          </a:xfrm>
          <a:prstGeom prst="rect">
            <a:avLst/>
          </a:prstGeom>
          <a:ln w="9525">
            <a:solidFill>
              <a:srgbClr val="7F7F7F"/>
            </a:solidFill>
            <a:prstDash val="solid"/>
          </a:ln>
        </p:spPr>
      </p:sp>
      <p:sp>
        <p:nvSpPr>
          <p:cNvPr id="27" name="Text 24"/>
          <p:cNvSpPr txBox="1"/>
          <p:nvPr/>
        </p:nvSpPr>
        <p:spPr>
          <a:xfrm>
            <a:off x="5412928" y="29937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Shape 25"/>
          <p:cNvSpPr/>
          <p:nvPr/>
        </p:nvSpPr>
        <p:spPr>
          <a:xfrm>
            <a:off x="5138608" y="3199500"/>
            <a:ext cx="182880" cy="0"/>
          </a:xfrm>
          <a:prstGeom prst="line">
            <a:avLst/>
          </a:prstGeom>
          <a:noFill/>
          <a:ln w="9525">
            <a:solidFill>
              <a:srgbClr val="7F7F7F"/>
            </a:solidFill>
            <a:prstDash val="solid"/>
          </a:ln>
        </p:spPr>
      </p:sp>
      <p:sp>
        <p:nvSpPr>
          <p:cNvPr id="29" name="Shape 26"/>
          <p:cNvSpPr/>
          <p:nvPr/>
        </p:nvSpPr>
        <p:spPr>
          <a:xfrm>
            <a:off x="5321488" y="3496680"/>
            <a:ext cx="4383360" cy="411480"/>
          </a:xfrm>
          <a:prstGeom prst="rect">
            <a:avLst/>
          </a:prstGeom>
          <a:ln w="9525">
            <a:solidFill>
              <a:srgbClr val="7F7F7F"/>
            </a:solidFill>
            <a:prstDash val="solid"/>
          </a:ln>
        </p:spPr>
      </p:sp>
      <p:sp>
        <p:nvSpPr>
          <p:cNvPr id="30" name="Text 27"/>
          <p:cNvSpPr txBox="1"/>
          <p:nvPr/>
        </p:nvSpPr>
        <p:spPr>
          <a:xfrm>
            <a:off x="5412928" y="349668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5138608" y="3702420"/>
            <a:ext cx="182880" cy="0"/>
          </a:xfrm>
          <a:prstGeom prst="line">
            <a:avLst/>
          </a:prstGeom>
          <a:noFill/>
          <a:ln w="9525">
            <a:solidFill>
              <a:srgbClr val="7F7F7F"/>
            </a:solidFill>
            <a:prstDash val="solid"/>
          </a:ln>
        </p:spPr>
      </p:sp>
      <p:sp>
        <p:nvSpPr>
          <p:cNvPr id="32" name="Shape 29"/>
          <p:cNvSpPr/>
          <p:nvPr/>
        </p:nvSpPr>
        <p:spPr>
          <a:xfrm>
            <a:off x="4910008" y="3199500"/>
            <a:ext cx="228600" cy="0"/>
          </a:xfrm>
          <a:prstGeom prst="line">
            <a:avLst/>
          </a:prstGeom>
          <a:noFill/>
          <a:ln w="9525">
            <a:solidFill>
              <a:srgbClr val="7F7F7F"/>
            </a:solidFill>
            <a:prstDash val="solid"/>
          </a:ln>
        </p:spPr>
      </p:sp>
      <p:sp>
        <p:nvSpPr>
          <p:cNvPr id="33" name="Shape 30"/>
          <p:cNvSpPr/>
          <p:nvPr/>
        </p:nvSpPr>
        <p:spPr>
          <a:xfrm>
            <a:off x="5138608" y="2696580"/>
            <a:ext cx="0" cy="1005840"/>
          </a:xfrm>
          <a:prstGeom prst="line">
            <a:avLst/>
          </a:prstGeom>
          <a:noFill/>
          <a:ln w="9525">
            <a:solidFill>
              <a:srgbClr val="7F7F7F"/>
            </a:solidFill>
            <a:prstDash val="solid"/>
          </a:ln>
        </p:spPr>
      </p:sp>
      <p:sp>
        <p:nvSpPr>
          <p:cNvPr id="34" name="Shape 31"/>
          <p:cNvSpPr/>
          <p:nvPr/>
        </p:nvSpPr>
        <p:spPr>
          <a:xfrm>
            <a:off x="2166808" y="4091040"/>
            <a:ext cx="2743200" cy="914400"/>
          </a:xfrm>
          <a:prstGeom prst="rect">
            <a:avLst/>
          </a:prstGeom>
          <a:ln w="9525">
            <a:solidFill>
              <a:srgbClr val="7F7F7F"/>
            </a:solidFill>
            <a:prstDash val="solid"/>
          </a:ln>
        </p:spPr>
      </p:sp>
      <p:sp>
        <p:nvSpPr>
          <p:cNvPr id="35" name="Text 32"/>
          <p:cNvSpPr txBox="1"/>
          <p:nvPr/>
        </p:nvSpPr>
        <p:spPr>
          <a:xfrm>
            <a:off x="2258248" y="416419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6" name="Shape 33"/>
          <p:cNvSpPr/>
          <p:nvPr/>
        </p:nvSpPr>
        <p:spPr>
          <a:xfrm>
            <a:off x="1938208" y="4548240"/>
            <a:ext cx="228600" cy="0"/>
          </a:xfrm>
          <a:prstGeom prst="line">
            <a:avLst/>
          </a:prstGeom>
          <a:noFill/>
          <a:ln w="9525">
            <a:solidFill>
              <a:srgbClr val="7F7F7F"/>
            </a:solidFill>
            <a:prstDash val="solid"/>
          </a:ln>
        </p:spPr>
      </p:sp>
      <p:sp>
        <p:nvSpPr>
          <p:cNvPr id="37" name="Shape 34"/>
          <p:cNvSpPr/>
          <p:nvPr/>
        </p:nvSpPr>
        <p:spPr>
          <a:xfrm>
            <a:off x="5321488" y="4091040"/>
            <a:ext cx="4383360" cy="411480"/>
          </a:xfrm>
          <a:prstGeom prst="rect">
            <a:avLst/>
          </a:prstGeom>
          <a:ln w="9525">
            <a:solidFill>
              <a:srgbClr val="7F7F7F"/>
            </a:solidFill>
            <a:prstDash val="solid"/>
          </a:ln>
        </p:spPr>
      </p:sp>
      <p:sp>
        <p:nvSpPr>
          <p:cNvPr id="38" name="Text 35"/>
          <p:cNvSpPr txBox="1"/>
          <p:nvPr/>
        </p:nvSpPr>
        <p:spPr>
          <a:xfrm>
            <a:off x="5412928" y="409104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9" name="Shape 36"/>
          <p:cNvSpPr/>
          <p:nvPr/>
        </p:nvSpPr>
        <p:spPr>
          <a:xfrm>
            <a:off x="5138608" y="4296780"/>
            <a:ext cx="182880" cy="0"/>
          </a:xfrm>
          <a:prstGeom prst="line">
            <a:avLst/>
          </a:prstGeom>
          <a:noFill/>
          <a:ln w="9525">
            <a:solidFill>
              <a:srgbClr val="7F7F7F"/>
            </a:solidFill>
            <a:prstDash val="solid"/>
          </a:ln>
        </p:spPr>
      </p:sp>
      <p:sp>
        <p:nvSpPr>
          <p:cNvPr id="40" name="Shape 37"/>
          <p:cNvSpPr/>
          <p:nvPr/>
        </p:nvSpPr>
        <p:spPr>
          <a:xfrm>
            <a:off x="5321488" y="4593960"/>
            <a:ext cx="4383360" cy="411480"/>
          </a:xfrm>
          <a:prstGeom prst="rect">
            <a:avLst/>
          </a:prstGeom>
          <a:ln w="9525">
            <a:solidFill>
              <a:srgbClr val="7F7F7F"/>
            </a:solidFill>
            <a:prstDash val="solid"/>
          </a:ln>
        </p:spPr>
      </p:sp>
      <p:sp>
        <p:nvSpPr>
          <p:cNvPr id="41" name="Text 38"/>
          <p:cNvSpPr txBox="1"/>
          <p:nvPr/>
        </p:nvSpPr>
        <p:spPr>
          <a:xfrm>
            <a:off x="5412928" y="4593960"/>
            <a:ext cx="4200480" cy="4114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2" name="Shape 39"/>
          <p:cNvSpPr/>
          <p:nvPr/>
        </p:nvSpPr>
        <p:spPr>
          <a:xfrm>
            <a:off x="5138608" y="4799700"/>
            <a:ext cx="182880" cy="0"/>
          </a:xfrm>
          <a:prstGeom prst="line">
            <a:avLst/>
          </a:prstGeom>
          <a:noFill/>
          <a:ln w="9525">
            <a:solidFill>
              <a:srgbClr val="7F7F7F"/>
            </a:solidFill>
            <a:prstDash val="solid"/>
          </a:ln>
        </p:spPr>
      </p:sp>
      <p:sp>
        <p:nvSpPr>
          <p:cNvPr id="43" name="Shape 40"/>
          <p:cNvSpPr/>
          <p:nvPr/>
        </p:nvSpPr>
        <p:spPr>
          <a:xfrm>
            <a:off x="4910008" y="4548240"/>
            <a:ext cx="228600" cy="0"/>
          </a:xfrm>
          <a:prstGeom prst="line">
            <a:avLst/>
          </a:prstGeom>
          <a:noFill/>
          <a:ln w="9525">
            <a:solidFill>
              <a:srgbClr val="7F7F7F"/>
            </a:solidFill>
            <a:prstDash val="solid"/>
          </a:ln>
        </p:spPr>
      </p:sp>
      <p:sp>
        <p:nvSpPr>
          <p:cNvPr id="44" name="Shape 41"/>
          <p:cNvSpPr/>
          <p:nvPr/>
        </p:nvSpPr>
        <p:spPr>
          <a:xfrm>
            <a:off x="5138608" y="4296780"/>
            <a:ext cx="0" cy="502920"/>
          </a:xfrm>
          <a:prstGeom prst="line">
            <a:avLst/>
          </a:prstGeom>
          <a:noFill/>
          <a:ln w="9525">
            <a:solidFill>
              <a:srgbClr val="7F7F7F"/>
            </a:solidFill>
            <a:prstDash val="solid"/>
          </a:ln>
        </p:spPr>
      </p:sp>
      <p:sp>
        <p:nvSpPr>
          <p:cNvPr id="45" name="Shape 42"/>
          <p:cNvSpPr/>
          <p:nvPr/>
        </p:nvSpPr>
        <p:spPr>
          <a:xfrm>
            <a:off x="2166808" y="5188320"/>
            <a:ext cx="2743200" cy="846720"/>
          </a:xfrm>
          <a:prstGeom prst="rect">
            <a:avLst/>
          </a:prstGeom>
          <a:ln w="9525">
            <a:solidFill>
              <a:srgbClr val="7F7F7F"/>
            </a:solidFill>
            <a:prstDash val="solid"/>
          </a:ln>
        </p:spPr>
      </p:sp>
      <p:sp>
        <p:nvSpPr>
          <p:cNvPr id="46" name="Text 43"/>
          <p:cNvSpPr txBox="1"/>
          <p:nvPr/>
        </p:nvSpPr>
        <p:spPr>
          <a:xfrm>
            <a:off x="2258248" y="5261472"/>
            <a:ext cx="2560320" cy="640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47" name="Shape 44"/>
          <p:cNvSpPr/>
          <p:nvPr/>
        </p:nvSpPr>
        <p:spPr>
          <a:xfrm>
            <a:off x="1938208" y="5611680"/>
            <a:ext cx="228600" cy="0"/>
          </a:xfrm>
          <a:prstGeom prst="line">
            <a:avLst/>
          </a:prstGeom>
          <a:noFill/>
          <a:ln w="9525">
            <a:solidFill>
              <a:srgbClr val="7F7F7F"/>
            </a:solidFill>
            <a:prstDash val="solid"/>
          </a:ln>
        </p:spPr>
      </p:sp>
      <p:sp>
        <p:nvSpPr>
          <p:cNvPr id="48" name="Shape 45"/>
          <p:cNvSpPr/>
          <p:nvPr/>
        </p:nvSpPr>
        <p:spPr>
          <a:xfrm>
            <a:off x="5321488" y="5188320"/>
            <a:ext cx="4383360" cy="377640"/>
          </a:xfrm>
          <a:prstGeom prst="rect">
            <a:avLst/>
          </a:prstGeom>
          <a:ln w="9525">
            <a:solidFill>
              <a:srgbClr val="7F7F7F"/>
            </a:solidFill>
            <a:prstDash val="solid"/>
          </a:ln>
        </p:spPr>
      </p:sp>
      <p:sp>
        <p:nvSpPr>
          <p:cNvPr id="49" name="Text 46"/>
          <p:cNvSpPr txBox="1"/>
          <p:nvPr/>
        </p:nvSpPr>
        <p:spPr>
          <a:xfrm>
            <a:off x="5412928" y="518832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0" name="Shape 47"/>
          <p:cNvSpPr/>
          <p:nvPr/>
        </p:nvSpPr>
        <p:spPr>
          <a:xfrm>
            <a:off x="5138608" y="5377140"/>
            <a:ext cx="182880" cy="0"/>
          </a:xfrm>
          <a:prstGeom prst="line">
            <a:avLst/>
          </a:prstGeom>
          <a:noFill/>
          <a:ln w="9525">
            <a:solidFill>
              <a:srgbClr val="7F7F7F"/>
            </a:solidFill>
            <a:prstDash val="solid"/>
          </a:ln>
        </p:spPr>
      </p:sp>
      <p:sp>
        <p:nvSpPr>
          <p:cNvPr id="51" name="Shape 48"/>
          <p:cNvSpPr/>
          <p:nvPr/>
        </p:nvSpPr>
        <p:spPr>
          <a:xfrm>
            <a:off x="5321488" y="5657400"/>
            <a:ext cx="4383360" cy="377640"/>
          </a:xfrm>
          <a:prstGeom prst="rect">
            <a:avLst/>
          </a:prstGeom>
          <a:ln w="9525">
            <a:solidFill>
              <a:srgbClr val="7F7F7F"/>
            </a:solidFill>
            <a:prstDash val="solid"/>
          </a:ln>
        </p:spPr>
      </p:sp>
      <p:sp>
        <p:nvSpPr>
          <p:cNvPr id="52" name="Text 49"/>
          <p:cNvSpPr txBox="1"/>
          <p:nvPr/>
        </p:nvSpPr>
        <p:spPr>
          <a:xfrm>
            <a:off x="5412928" y="5657400"/>
            <a:ext cx="4200480" cy="377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53" name="Shape 50"/>
          <p:cNvSpPr/>
          <p:nvPr/>
        </p:nvSpPr>
        <p:spPr>
          <a:xfrm>
            <a:off x="5138608" y="5846220"/>
            <a:ext cx="182880" cy="0"/>
          </a:xfrm>
          <a:prstGeom prst="line">
            <a:avLst/>
          </a:prstGeom>
          <a:noFill/>
          <a:ln w="9525">
            <a:solidFill>
              <a:srgbClr val="7F7F7F"/>
            </a:solidFill>
            <a:prstDash val="solid"/>
          </a:ln>
        </p:spPr>
      </p:sp>
      <p:sp>
        <p:nvSpPr>
          <p:cNvPr id="54" name="Shape 51"/>
          <p:cNvSpPr/>
          <p:nvPr/>
        </p:nvSpPr>
        <p:spPr>
          <a:xfrm>
            <a:off x="4910008" y="5611680"/>
            <a:ext cx="228600" cy="0"/>
          </a:xfrm>
          <a:prstGeom prst="line">
            <a:avLst/>
          </a:prstGeom>
          <a:noFill/>
          <a:ln w="9525">
            <a:solidFill>
              <a:srgbClr val="7F7F7F"/>
            </a:solidFill>
            <a:prstDash val="solid"/>
          </a:ln>
        </p:spPr>
      </p:sp>
      <p:sp>
        <p:nvSpPr>
          <p:cNvPr id="55" name="Shape 52"/>
          <p:cNvSpPr/>
          <p:nvPr/>
        </p:nvSpPr>
        <p:spPr>
          <a:xfrm>
            <a:off x="5138608" y="5377140"/>
            <a:ext cx="0" cy="469080"/>
          </a:xfrm>
          <a:prstGeom prst="line">
            <a:avLst/>
          </a:prstGeom>
          <a:noFill/>
          <a:ln w="9525">
            <a:solidFill>
              <a:srgbClr val="7F7F7F"/>
            </a:solidFill>
            <a:prstDash val="solid"/>
          </a:ln>
        </p:spPr>
      </p:sp>
      <p:sp>
        <p:nvSpPr>
          <p:cNvPr id="56" name="Shape 53"/>
          <p:cNvSpPr/>
          <p:nvPr/>
        </p:nvSpPr>
        <p:spPr>
          <a:xfrm>
            <a:off x="1755328" y="4262940"/>
            <a:ext cx="182880" cy="0"/>
          </a:xfrm>
          <a:prstGeom prst="line">
            <a:avLst/>
          </a:prstGeom>
          <a:noFill/>
          <a:ln w="9525">
            <a:solidFill>
              <a:srgbClr val="7F7F7F"/>
            </a:solidFill>
            <a:prstDash val="solid"/>
          </a:ln>
        </p:spPr>
      </p:sp>
      <p:sp>
        <p:nvSpPr>
          <p:cNvPr id="57" name="Shape 54"/>
          <p:cNvSpPr/>
          <p:nvPr/>
        </p:nvSpPr>
        <p:spPr>
          <a:xfrm>
            <a:off x="1938208" y="3199500"/>
            <a:ext cx="0" cy="2412180"/>
          </a:xfrm>
          <a:prstGeom prst="line">
            <a:avLst/>
          </a:prstGeom>
          <a:noFill/>
          <a:ln w="9525">
            <a:solidFill>
              <a:srgbClr val="7F7F7F"/>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課題・打手</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課題と打手を整理するときは、左に課題をグレーの塊で置き、矢羽で右の打手の2列に結ぶ。1つの課題に打手を1行で対応させる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108</a:t>
            </a:r>
            <a:endParaRPr lang="en-US" sz="900" dirty="0"/>
          </a:p>
        </p:txBody>
      </p:sp>
      <p:sp>
        <p:nvSpPr>
          <p:cNvPr id="12" name="Text 9"/>
          <p:cNvSpPr txBox="1"/>
          <p:nvPr/>
        </p:nvSpPr>
        <p:spPr>
          <a:xfrm>
            <a:off x="200848" y="1987920"/>
            <a:ext cx="18288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3" name="Shape 10"/>
          <p:cNvSpPr/>
          <p:nvPr/>
        </p:nvSpPr>
        <p:spPr>
          <a:xfrm>
            <a:off x="200848" y="2335392"/>
            <a:ext cx="1828800" cy="0"/>
          </a:xfrm>
          <a:prstGeom prst="line">
            <a:avLst/>
          </a:prstGeom>
          <a:noFill/>
          <a:ln w="12700">
            <a:solidFill>
              <a:srgbClr val="7F7F7F"/>
            </a:solidFill>
            <a:prstDash val="solid"/>
          </a:ln>
        </p:spPr>
      </p:sp>
      <p:sp>
        <p:nvSpPr>
          <p:cNvPr id="14" name="Text 11"/>
          <p:cNvSpPr txBox="1"/>
          <p:nvPr/>
        </p:nvSpPr>
        <p:spPr>
          <a:xfrm>
            <a:off x="2486848" y="1987920"/>
            <a:ext cx="72180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打手</a:t>
            </a:r>
            <a:endParaRPr lang="en-US" sz="1400" dirty="0"/>
          </a:p>
        </p:txBody>
      </p:sp>
      <p:sp>
        <p:nvSpPr>
          <p:cNvPr id="15" name="Shape 12"/>
          <p:cNvSpPr/>
          <p:nvPr/>
        </p:nvSpPr>
        <p:spPr>
          <a:xfrm>
            <a:off x="2486848" y="2335392"/>
            <a:ext cx="7218000" cy="0"/>
          </a:xfrm>
          <a:prstGeom prst="line">
            <a:avLst/>
          </a:prstGeom>
          <a:noFill/>
          <a:ln w="12700">
            <a:solidFill>
              <a:srgbClr val="7F7F7F"/>
            </a:solidFill>
            <a:prstDash val="solid"/>
          </a:ln>
        </p:spPr>
      </p:sp>
      <p:sp>
        <p:nvSpPr>
          <p:cNvPr id="16" name="Shape 13"/>
          <p:cNvSpPr/>
          <p:nvPr/>
        </p:nvSpPr>
        <p:spPr>
          <a:xfrm>
            <a:off x="200848" y="2490840"/>
            <a:ext cx="1828800" cy="1097280"/>
          </a:xfrm>
          <a:prstGeom prst="rect">
            <a:avLst/>
          </a:prstGeom>
          <a:solidFill>
            <a:srgbClr val="CCCCCC"/>
          </a:solidFill>
          <a:ln/>
        </p:spPr>
      </p:sp>
      <p:sp>
        <p:nvSpPr>
          <p:cNvPr id="17" name="Text 14"/>
          <p:cNvSpPr txBox="1"/>
          <p:nvPr/>
        </p:nvSpPr>
        <p:spPr>
          <a:xfrm>
            <a:off x="292288" y="256399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課題／事象1</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Shape 15"/>
          <p:cNvSpPr/>
          <p:nvPr/>
        </p:nvSpPr>
        <p:spPr>
          <a:xfrm>
            <a:off x="2102800" y="294273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19" name="Shape 16"/>
          <p:cNvSpPr/>
          <p:nvPr/>
        </p:nvSpPr>
        <p:spPr>
          <a:xfrm>
            <a:off x="2199360" y="295151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20" name="Text 17"/>
          <p:cNvSpPr txBox="1"/>
          <p:nvPr/>
        </p:nvSpPr>
        <p:spPr>
          <a:xfrm>
            <a:off x="2486848" y="253656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1" name="Shape 18"/>
          <p:cNvSpPr/>
          <p:nvPr/>
        </p:nvSpPr>
        <p:spPr>
          <a:xfrm>
            <a:off x="4315648" y="2490840"/>
            <a:ext cx="0" cy="1097280"/>
          </a:xfrm>
          <a:prstGeom prst="line">
            <a:avLst/>
          </a:prstGeom>
          <a:noFill/>
          <a:ln w="9525">
            <a:solidFill>
              <a:srgbClr val="7F7F7F"/>
            </a:solidFill>
            <a:prstDash val="solid"/>
          </a:ln>
        </p:spPr>
      </p:sp>
      <p:sp>
        <p:nvSpPr>
          <p:cNvPr id="22" name="Text 19"/>
          <p:cNvSpPr txBox="1"/>
          <p:nvPr/>
        </p:nvSpPr>
        <p:spPr>
          <a:xfrm>
            <a:off x="4498528" y="253656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3" name="Shape 20"/>
          <p:cNvSpPr/>
          <p:nvPr/>
        </p:nvSpPr>
        <p:spPr>
          <a:xfrm>
            <a:off x="2486848" y="3652128"/>
            <a:ext cx="7218000" cy="0"/>
          </a:xfrm>
          <a:prstGeom prst="line">
            <a:avLst/>
          </a:prstGeom>
          <a:noFill/>
          <a:ln w="9525">
            <a:solidFill>
              <a:srgbClr val="CCCCCC"/>
            </a:solidFill>
            <a:prstDash val="solid"/>
          </a:ln>
        </p:spPr>
      </p:sp>
      <p:sp>
        <p:nvSpPr>
          <p:cNvPr id="24" name="Shape 21"/>
          <p:cNvSpPr/>
          <p:nvPr/>
        </p:nvSpPr>
        <p:spPr>
          <a:xfrm>
            <a:off x="200848" y="3725280"/>
            <a:ext cx="1828800" cy="1097280"/>
          </a:xfrm>
          <a:prstGeom prst="rect">
            <a:avLst/>
          </a:prstGeom>
          <a:solidFill>
            <a:srgbClr val="CCCCCC"/>
          </a:solidFill>
          <a:ln/>
        </p:spPr>
      </p:sp>
      <p:sp>
        <p:nvSpPr>
          <p:cNvPr id="25" name="Text 22"/>
          <p:cNvSpPr txBox="1"/>
          <p:nvPr/>
        </p:nvSpPr>
        <p:spPr>
          <a:xfrm>
            <a:off x="292288" y="379843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課題／事象2</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6" name="Shape 23"/>
          <p:cNvSpPr/>
          <p:nvPr/>
        </p:nvSpPr>
        <p:spPr>
          <a:xfrm>
            <a:off x="2102800" y="417717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27" name="Shape 24"/>
          <p:cNvSpPr/>
          <p:nvPr/>
        </p:nvSpPr>
        <p:spPr>
          <a:xfrm>
            <a:off x="2199360" y="418595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28" name="Text 25"/>
          <p:cNvSpPr txBox="1"/>
          <p:nvPr/>
        </p:nvSpPr>
        <p:spPr>
          <a:xfrm>
            <a:off x="2486848" y="377100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9" name="Shape 26"/>
          <p:cNvSpPr/>
          <p:nvPr/>
        </p:nvSpPr>
        <p:spPr>
          <a:xfrm>
            <a:off x="4315648" y="3725280"/>
            <a:ext cx="0" cy="1097280"/>
          </a:xfrm>
          <a:prstGeom prst="line">
            <a:avLst/>
          </a:prstGeom>
          <a:noFill/>
          <a:ln w="9525">
            <a:solidFill>
              <a:srgbClr val="7F7F7F"/>
            </a:solidFill>
            <a:prstDash val="solid"/>
          </a:ln>
        </p:spPr>
      </p:sp>
      <p:sp>
        <p:nvSpPr>
          <p:cNvPr id="30" name="Text 27"/>
          <p:cNvSpPr txBox="1"/>
          <p:nvPr/>
        </p:nvSpPr>
        <p:spPr>
          <a:xfrm>
            <a:off x="4498528" y="377100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1" name="Shape 28"/>
          <p:cNvSpPr/>
          <p:nvPr/>
        </p:nvSpPr>
        <p:spPr>
          <a:xfrm>
            <a:off x="2486848" y="4886568"/>
            <a:ext cx="7218000" cy="0"/>
          </a:xfrm>
          <a:prstGeom prst="line">
            <a:avLst/>
          </a:prstGeom>
          <a:noFill/>
          <a:ln w="9525">
            <a:solidFill>
              <a:srgbClr val="CCCCCC"/>
            </a:solidFill>
            <a:prstDash val="solid"/>
          </a:ln>
        </p:spPr>
      </p:sp>
      <p:sp>
        <p:nvSpPr>
          <p:cNvPr id="32" name="Shape 29"/>
          <p:cNvSpPr/>
          <p:nvPr/>
        </p:nvSpPr>
        <p:spPr>
          <a:xfrm>
            <a:off x="200848" y="4959720"/>
            <a:ext cx="1828800" cy="1097280"/>
          </a:xfrm>
          <a:prstGeom prst="rect">
            <a:avLst/>
          </a:prstGeom>
          <a:solidFill>
            <a:srgbClr val="CCCCCC"/>
          </a:solidFill>
          <a:ln/>
        </p:spPr>
      </p:sp>
      <p:sp>
        <p:nvSpPr>
          <p:cNvPr id="33" name="Text 30"/>
          <p:cNvSpPr txBox="1"/>
          <p:nvPr/>
        </p:nvSpPr>
        <p:spPr>
          <a:xfrm>
            <a:off x="292288" y="5032872"/>
            <a:ext cx="1645920" cy="96012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課題／事象3</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4" name="Shape 31"/>
          <p:cNvSpPr/>
          <p:nvPr/>
        </p:nvSpPr>
        <p:spPr>
          <a:xfrm>
            <a:off x="2102800" y="5411616"/>
            <a:ext cx="128748" cy="257495"/>
          </a:xfrm>
          <a:custGeom>
            <a:avLst/>
            <a:gdLst/>
            <a:ahLst/>
            <a:cxnLst/>
            <a:rect l="l" t="t" r="r" b="b"/>
            <a:pathLst>
              <a:path w="128748" h="257495">
                <a:moveTo>
                  <a:pt x="0" y="0"/>
                </a:moveTo>
                <a:lnTo>
                  <a:pt x="128748" y="128748"/>
                </a:lnTo>
                <a:lnTo>
                  <a:pt x="0" y="257495"/>
                </a:lnTo>
                <a:close/>
              </a:path>
            </a:pathLst>
          </a:custGeom>
          <a:solidFill>
            <a:srgbClr val="7F7F7F"/>
          </a:solidFill>
          <a:ln/>
        </p:spPr>
      </p:sp>
      <p:sp>
        <p:nvSpPr>
          <p:cNvPr id="35" name="Shape 32"/>
          <p:cNvSpPr/>
          <p:nvPr/>
        </p:nvSpPr>
        <p:spPr>
          <a:xfrm>
            <a:off x="2199360" y="5420395"/>
            <a:ext cx="107972" cy="239939"/>
          </a:xfrm>
          <a:custGeom>
            <a:avLst/>
            <a:gdLst/>
            <a:ahLst/>
            <a:cxnLst/>
            <a:rect l="l" t="t" r="r" b="b"/>
            <a:pathLst>
              <a:path w="107972" h="239939">
                <a:moveTo>
                  <a:pt x="0" y="0"/>
                </a:moveTo>
                <a:lnTo>
                  <a:pt x="107972" y="119969"/>
                </a:lnTo>
                <a:lnTo>
                  <a:pt x="0" y="239939"/>
                </a:lnTo>
              </a:path>
            </a:pathLst>
          </a:custGeom>
          <a:ln w="26416">
            <a:solidFill>
              <a:srgbClr val="000F78"/>
            </a:solidFill>
            <a:prstDash val="solid"/>
          </a:ln>
        </p:spPr>
      </p:sp>
      <p:sp>
        <p:nvSpPr>
          <p:cNvPr id="36" name="Text 33"/>
          <p:cNvSpPr txBox="1"/>
          <p:nvPr/>
        </p:nvSpPr>
        <p:spPr>
          <a:xfrm>
            <a:off x="2486848" y="5005440"/>
            <a:ext cx="16916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37" name="Shape 34"/>
          <p:cNvSpPr/>
          <p:nvPr/>
        </p:nvSpPr>
        <p:spPr>
          <a:xfrm>
            <a:off x="4315648" y="4959720"/>
            <a:ext cx="0" cy="1097280"/>
          </a:xfrm>
          <a:prstGeom prst="line">
            <a:avLst/>
          </a:prstGeom>
          <a:noFill/>
          <a:ln w="9525">
            <a:solidFill>
              <a:srgbClr val="7F7F7F"/>
            </a:solidFill>
            <a:prstDash val="solid"/>
          </a:ln>
        </p:spPr>
      </p:sp>
      <p:sp>
        <p:nvSpPr>
          <p:cNvPr id="38" name="Text 35"/>
          <p:cNvSpPr txBox="1"/>
          <p:nvPr/>
        </p:nvSpPr>
        <p:spPr>
          <a:xfrm>
            <a:off x="4498528" y="5005440"/>
            <a:ext cx="5206320" cy="1005840"/>
          </a:xfrm>
          <a:prstGeom prst="rect">
            <a:avLst/>
          </a:prstGeom>
          <a:noFill/>
          <a:ln/>
        </p:spPr>
        <p:txBody>
          <a:bodyPr wrap="square" lIns="0" tIns="0" rIns="0" bIns="0" rtlCol="0" anchor="t"/>
          <a:lstStyle/>
          <a:p>
            <a:pPr marL="152400" indent="-152400">
              <a:spcAft>
                <a:spcPts val="200"/>
              </a:spcAft>
              <a:buSzPct val="100000"/>
              <a:buChar char="■"/>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課題とアクション</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課題とアクションのように左右が対になる内容は、中央の縦線で分け、見出しの線の交点に丸を置いて左から右への関係を示す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109</a:t>
            </a:r>
            <a:endParaRPr lang="en-US" sz="900" dirty="0"/>
          </a:p>
        </p:txBody>
      </p:sp>
      <p:sp>
        <p:nvSpPr>
          <p:cNvPr id="12" name="Text 9"/>
          <p:cNvSpPr txBox="1"/>
          <p:nvPr/>
        </p:nvSpPr>
        <p:spPr>
          <a:xfrm>
            <a:off x="20084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614840" cy="0"/>
          </a:xfrm>
          <a:prstGeom prst="line">
            <a:avLst/>
          </a:prstGeom>
          <a:noFill/>
          <a:ln w="12700">
            <a:solidFill>
              <a:srgbClr val="7F7F7F"/>
            </a:solidFill>
            <a:prstDash val="solid"/>
          </a:ln>
        </p:spPr>
      </p:sp>
      <p:sp>
        <p:nvSpPr>
          <p:cNvPr id="14" name="Text 11"/>
          <p:cNvSpPr txBox="1"/>
          <p:nvPr/>
        </p:nvSpPr>
        <p:spPr>
          <a:xfrm>
            <a:off x="5090008" y="1987920"/>
            <a:ext cx="46148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5" name="Shape 12"/>
          <p:cNvSpPr/>
          <p:nvPr/>
        </p:nvSpPr>
        <p:spPr>
          <a:xfrm>
            <a:off x="5090008" y="2335392"/>
            <a:ext cx="4614840" cy="0"/>
          </a:xfrm>
          <a:prstGeom prst="line">
            <a:avLst/>
          </a:prstGeom>
          <a:noFill/>
          <a:ln w="12700">
            <a:solidFill>
              <a:srgbClr val="7F7F7F"/>
            </a:solidFill>
            <a:prstDash val="solid"/>
          </a:ln>
        </p:spPr>
      </p:sp>
      <p:sp>
        <p:nvSpPr>
          <p:cNvPr id="16" name="Shape 13"/>
          <p:cNvSpPr/>
          <p:nvPr/>
        </p:nvSpPr>
        <p:spPr>
          <a:xfrm>
            <a:off x="4843120" y="2225664"/>
            <a:ext cx="219456" cy="219456"/>
          </a:xfrm>
          <a:prstGeom prst="ellipse">
            <a:avLst/>
          </a:prstGeom>
          <a:solidFill>
            <a:srgbClr val="FFFFFF"/>
          </a:solidFill>
          <a:ln w="12700">
            <a:solidFill>
              <a:srgbClr val="7F7F7F"/>
            </a:solidFill>
            <a:prstDash val="solid"/>
          </a:ln>
        </p:spPr>
      </p:sp>
      <p:sp>
        <p:nvSpPr>
          <p:cNvPr id="17" name="Shape 14"/>
          <p:cNvSpPr/>
          <p:nvPr/>
        </p:nvSpPr>
        <p:spPr>
          <a:xfrm>
            <a:off x="4952848" y="2445120"/>
            <a:ext cx="0" cy="3589920"/>
          </a:xfrm>
          <a:prstGeom prst="line">
            <a:avLst/>
          </a:prstGeom>
          <a:noFill/>
          <a:ln w="12700">
            <a:solidFill>
              <a:srgbClr val="7F7F7F"/>
            </a:solidFill>
            <a:prstDash val="solid"/>
          </a:ln>
        </p:spPr>
      </p:sp>
      <p:sp>
        <p:nvSpPr>
          <p:cNvPr id="18" name="Text 15"/>
          <p:cNvSpPr txBox="1"/>
          <p:nvPr/>
        </p:nvSpPr>
        <p:spPr>
          <a:xfrm>
            <a:off x="20084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5227168" y="2582280"/>
            <a:ext cx="434052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前提と検討事項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前提情報と、それを踏まえた検討事項を左右に置き、左の見出しの線を右の欄へ矢印でつなぐ。右の欄は縦の線で左と区切る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110</a:t>
            </a:r>
            <a:endParaRPr lang="en-US" sz="900" dirty="0"/>
          </a:p>
        </p:txBody>
      </p:sp>
      <p:sp>
        <p:nvSpPr>
          <p:cNvPr id="12" name="Text 9"/>
          <p:cNvSpPr txBox="1"/>
          <p:nvPr/>
        </p:nvSpPr>
        <p:spPr>
          <a:xfrm>
            <a:off x="200848" y="2024496"/>
            <a:ext cx="4752000" cy="292608"/>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53680"/>
            <a:ext cx="4889160" cy="0"/>
          </a:xfrm>
          <a:prstGeom prst="line">
            <a:avLst/>
          </a:prstGeom>
          <a:noFill/>
          <a:ln w="12700">
            <a:solidFill>
              <a:srgbClr val="7F7F7F"/>
            </a:solidFill>
            <a:prstDash val="solid"/>
            <a:tailEnd type="triangle"/>
          </a:ln>
        </p:spPr>
      </p:sp>
      <p:sp>
        <p:nvSpPr>
          <p:cNvPr id="14" name="Shape 11"/>
          <p:cNvSpPr/>
          <p:nvPr/>
        </p:nvSpPr>
        <p:spPr>
          <a:xfrm>
            <a:off x="4998568" y="2152512"/>
            <a:ext cx="4706280" cy="0"/>
          </a:xfrm>
          <a:prstGeom prst="line">
            <a:avLst/>
          </a:prstGeom>
          <a:noFill/>
          <a:ln w="12700">
            <a:solidFill>
              <a:srgbClr val="7F7F7F"/>
            </a:solidFill>
            <a:prstDash val="solid"/>
          </a:ln>
        </p:spPr>
      </p:sp>
      <p:sp>
        <p:nvSpPr>
          <p:cNvPr id="15" name="Shape 12"/>
          <p:cNvSpPr/>
          <p:nvPr/>
        </p:nvSpPr>
        <p:spPr>
          <a:xfrm>
            <a:off x="4998568" y="2152512"/>
            <a:ext cx="0" cy="3882528"/>
          </a:xfrm>
          <a:prstGeom prst="line">
            <a:avLst/>
          </a:prstGeom>
          <a:noFill/>
          <a:ln w="12700">
            <a:solidFill>
              <a:srgbClr val="7F7F7F"/>
            </a:solidFill>
            <a:prstDash val="solid"/>
          </a:ln>
        </p:spPr>
      </p:sp>
      <p:sp>
        <p:nvSpPr>
          <p:cNvPr id="16" name="Text 13"/>
          <p:cNvSpPr txBox="1"/>
          <p:nvPr/>
        </p:nvSpPr>
        <p:spPr>
          <a:xfrm>
            <a:off x="5272888" y="2243952"/>
            <a:ext cx="438624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7" name="Text 14"/>
          <p:cNvSpPr txBox="1"/>
          <p:nvPr/>
        </p:nvSpPr>
        <p:spPr>
          <a:xfrm>
            <a:off x="200848" y="2536560"/>
            <a:ext cx="447768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8" name="Text 15"/>
          <p:cNvSpPr txBox="1"/>
          <p:nvPr/>
        </p:nvSpPr>
        <p:spPr>
          <a:xfrm>
            <a:off x="5272888" y="2673720"/>
            <a:ext cx="4386240" cy="32004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事実と示唆</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事実の図を左に大きく置き、右の帯に示唆を2〜3点書く。帯の左端に矢印を置き、左の事実から示唆を導いたことを示す</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111</a:t>
            </a:r>
            <a:endParaRPr lang="en-US" sz="900" dirty="0"/>
          </a:p>
        </p:txBody>
      </p:sp>
      <p:sp>
        <p:nvSpPr>
          <p:cNvPr id="12" name="Text 9"/>
          <p:cNvSpPr txBox="1"/>
          <p:nvPr/>
        </p:nvSpPr>
        <p:spPr>
          <a:xfrm>
            <a:off x="200848" y="1987920"/>
            <a:ext cx="67150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6715080" cy="0"/>
          </a:xfrm>
          <a:prstGeom prst="line">
            <a:avLst/>
          </a:prstGeom>
          <a:noFill/>
          <a:ln w="12700">
            <a:solidFill>
              <a:srgbClr val="7F7F7F"/>
            </a:solidFill>
            <a:prstDash val="solid"/>
          </a:ln>
        </p:spPr>
      </p:sp>
      <p:sp>
        <p:nvSpPr>
          <p:cNvPr id="14" name="Text 11"/>
          <p:cNvSpPr txBox="1"/>
          <p:nvPr/>
        </p:nvSpPr>
        <p:spPr>
          <a:xfrm>
            <a:off x="200848" y="3816720"/>
            <a:ext cx="6715080" cy="36576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（グラフ・表を置く）</a:t>
            </a:r>
            <a:endParaRPr lang="en-US" sz="1400" dirty="0"/>
          </a:p>
        </p:txBody>
      </p:sp>
      <p:sp>
        <p:nvSpPr>
          <p:cNvPr id="15" name="Shape 12"/>
          <p:cNvSpPr/>
          <p:nvPr/>
        </p:nvSpPr>
        <p:spPr>
          <a:xfrm>
            <a:off x="200848" y="5989320"/>
            <a:ext cx="6715080" cy="0"/>
          </a:xfrm>
          <a:prstGeom prst="line">
            <a:avLst/>
          </a:prstGeom>
          <a:noFill/>
          <a:ln w="9525">
            <a:solidFill>
              <a:srgbClr val="CCCCCC"/>
            </a:solidFill>
            <a:prstDash val="solid"/>
          </a:ln>
        </p:spPr>
      </p:sp>
      <p:sp>
        <p:nvSpPr>
          <p:cNvPr id="16" name="Shape 13"/>
          <p:cNvSpPr/>
          <p:nvPr/>
        </p:nvSpPr>
        <p:spPr>
          <a:xfrm>
            <a:off x="7235968" y="1896480"/>
            <a:ext cx="2468880" cy="4184280"/>
          </a:xfrm>
          <a:prstGeom prst="rect">
            <a:avLst/>
          </a:prstGeom>
          <a:solidFill>
            <a:srgbClr val="E0EEF8"/>
          </a:solidFill>
          <a:ln/>
        </p:spPr>
      </p:sp>
      <p:sp>
        <p:nvSpPr>
          <p:cNvPr id="17" name="Text 14"/>
          <p:cNvSpPr txBox="1"/>
          <p:nvPr/>
        </p:nvSpPr>
        <p:spPr>
          <a:xfrm>
            <a:off x="7418848" y="1987920"/>
            <a:ext cx="2103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XXXX</a:t>
            </a:r>
            <a:endParaRPr lang="en-US" sz="1400" dirty="0"/>
          </a:p>
        </p:txBody>
      </p:sp>
      <p:sp>
        <p:nvSpPr>
          <p:cNvPr id="18" name="Text 15"/>
          <p:cNvSpPr txBox="1"/>
          <p:nvPr/>
        </p:nvSpPr>
        <p:spPr>
          <a:xfrm>
            <a:off x="7464568" y="2993760"/>
            <a:ext cx="2103120" cy="29260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lvl="1" marL="3048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Shape 16"/>
          <p:cNvSpPr/>
          <p:nvPr/>
        </p:nvSpPr>
        <p:spPr>
          <a:xfrm>
            <a:off x="7080520" y="3856032"/>
            <a:ext cx="310896" cy="310896"/>
          </a:xfrm>
          <a:prstGeom prst="ellipse">
            <a:avLst/>
          </a:prstGeom>
          <a:solidFill>
            <a:srgbClr val="000F78"/>
          </a:solidFill>
          <a:ln/>
        </p:spPr>
      </p:sp>
      <p:sp>
        <p:nvSpPr>
          <p:cNvPr id="20" name="Shape 17"/>
          <p:cNvSpPr/>
          <p:nvPr/>
        </p:nvSpPr>
        <p:spPr>
          <a:xfrm>
            <a:off x="7208733" y="3924429"/>
            <a:ext cx="73123" cy="174102"/>
          </a:xfrm>
          <a:custGeom>
            <a:avLst/>
            <a:gdLst/>
            <a:ahLst/>
            <a:cxnLst/>
            <a:rect l="l" t="t" r="r" b="b"/>
            <a:pathLst>
              <a:path w="73123" h="174102">
                <a:moveTo>
                  <a:pt x="0" y="0"/>
                </a:moveTo>
                <a:lnTo>
                  <a:pt x="73123" y="87051"/>
                </a:lnTo>
                <a:lnTo>
                  <a:pt x="0" y="174102"/>
                </a:lnTo>
              </a:path>
            </a:pathLst>
          </a:custGeom>
          <a:ln w="15545">
            <a:solidFill>
              <a:srgbClr val="FFFFFF"/>
            </a:solidFill>
            <a:prstDash val="solid"/>
          </a:ln>
        </p:spPr>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テンプレート集　コメント・文書引用</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発言や文書を引用するときは、上に示唆を書き、その根拠となる引用を下の枠に入れる。枠の右下に発言者か出所を必ず書く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テンプレート</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注）テンプレート。XXを中身に差し替え、使わない行・列は消す（ガイド線②〜④からはみ出さない）</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出所）自作の書式（HG_pptFMT）を基に作成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112</a:t>
            </a:r>
            <a:endParaRPr lang="en-US" sz="900" dirty="0"/>
          </a:p>
        </p:txBody>
      </p:sp>
      <p:sp>
        <p:nvSpPr>
          <p:cNvPr id="12" name="Text 9"/>
          <p:cNvSpPr txBox="1"/>
          <p:nvPr/>
        </p:nvSpPr>
        <p:spPr>
          <a:xfrm>
            <a:off x="20084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3" name="Shape 10"/>
          <p:cNvSpPr/>
          <p:nvPr/>
        </p:nvSpPr>
        <p:spPr>
          <a:xfrm>
            <a:off x="200848" y="2335392"/>
            <a:ext cx="4569120" cy="0"/>
          </a:xfrm>
          <a:prstGeom prst="line">
            <a:avLst/>
          </a:prstGeom>
          <a:noFill/>
          <a:ln w="12700">
            <a:solidFill>
              <a:srgbClr val="7F7F7F"/>
            </a:solidFill>
            <a:prstDash val="solid"/>
          </a:ln>
        </p:spPr>
      </p:sp>
      <p:sp>
        <p:nvSpPr>
          <p:cNvPr id="14" name="Text 11"/>
          <p:cNvSpPr txBox="1"/>
          <p:nvPr/>
        </p:nvSpPr>
        <p:spPr>
          <a:xfrm>
            <a:off x="20084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15" name="Text 12"/>
          <p:cNvSpPr txBox="1"/>
          <p:nvPr/>
        </p:nvSpPr>
        <p:spPr>
          <a:xfrm>
            <a:off x="20084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16" name="Shape 13"/>
          <p:cNvSpPr/>
          <p:nvPr/>
        </p:nvSpPr>
        <p:spPr>
          <a:xfrm>
            <a:off x="200848" y="3405240"/>
            <a:ext cx="4569120" cy="2629800"/>
          </a:xfrm>
          <a:prstGeom prst="rect">
            <a:avLst/>
          </a:prstGeom>
          <a:solidFill>
            <a:srgbClr val="E0EEF8"/>
          </a:solidFill>
          <a:ln/>
        </p:spPr>
      </p:sp>
      <p:sp>
        <p:nvSpPr>
          <p:cNvPr id="17" name="Text 14"/>
          <p:cNvSpPr txBox="1"/>
          <p:nvPr/>
        </p:nvSpPr>
        <p:spPr>
          <a:xfrm>
            <a:off x="29228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18" name="Text 15"/>
          <p:cNvSpPr txBox="1"/>
          <p:nvPr/>
        </p:nvSpPr>
        <p:spPr>
          <a:xfrm>
            <a:off x="61232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19" name="Text 16"/>
          <p:cNvSpPr txBox="1"/>
          <p:nvPr/>
        </p:nvSpPr>
        <p:spPr>
          <a:xfrm>
            <a:off x="47516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0" name="Text 17"/>
          <p:cNvSpPr txBox="1"/>
          <p:nvPr/>
        </p:nvSpPr>
        <p:spPr>
          <a:xfrm>
            <a:off x="426704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1" name="Text 18"/>
          <p:cNvSpPr txBox="1"/>
          <p:nvPr/>
        </p:nvSpPr>
        <p:spPr>
          <a:xfrm>
            <a:off x="5135728" y="1987920"/>
            <a:ext cx="456912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2" name="Shape 19"/>
          <p:cNvSpPr/>
          <p:nvPr/>
        </p:nvSpPr>
        <p:spPr>
          <a:xfrm>
            <a:off x="5135728" y="2335392"/>
            <a:ext cx="4569120" cy="0"/>
          </a:xfrm>
          <a:prstGeom prst="line">
            <a:avLst/>
          </a:prstGeom>
          <a:noFill/>
          <a:ln w="12700">
            <a:solidFill>
              <a:srgbClr val="7F7F7F"/>
            </a:solidFill>
            <a:prstDash val="solid"/>
          </a:ln>
        </p:spPr>
      </p:sp>
      <p:sp>
        <p:nvSpPr>
          <p:cNvPr id="23" name="Text 20"/>
          <p:cNvSpPr txBox="1"/>
          <p:nvPr/>
        </p:nvSpPr>
        <p:spPr>
          <a:xfrm>
            <a:off x="5135728" y="2490840"/>
            <a:ext cx="4569120" cy="29260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示唆</a:t>
            </a:r>
            <a:endParaRPr lang="en-US" sz="1400" dirty="0"/>
          </a:p>
        </p:txBody>
      </p:sp>
      <p:sp>
        <p:nvSpPr>
          <p:cNvPr id="24" name="Text 21"/>
          <p:cNvSpPr txBox="1"/>
          <p:nvPr/>
        </p:nvSpPr>
        <p:spPr>
          <a:xfrm>
            <a:off x="5135728" y="2829168"/>
            <a:ext cx="4569120" cy="3200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補足説明</a:t>
            </a:r>
            <a:endParaRPr lang="en-US" sz="1400" dirty="0"/>
          </a:p>
        </p:txBody>
      </p:sp>
      <p:sp>
        <p:nvSpPr>
          <p:cNvPr id="25" name="Shape 22"/>
          <p:cNvSpPr/>
          <p:nvPr/>
        </p:nvSpPr>
        <p:spPr>
          <a:xfrm>
            <a:off x="5135728" y="3405240"/>
            <a:ext cx="4569120" cy="2629800"/>
          </a:xfrm>
          <a:prstGeom prst="rect">
            <a:avLst/>
          </a:prstGeom>
          <a:solidFill>
            <a:srgbClr val="E0EEF8"/>
          </a:solidFill>
          <a:ln/>
        </p:spPr>
      </p:sp>
      <p:sp>
        <p:nvSpPr>
          <p:cNvPr id="26" name="Text 23"/>
          <p:cNvSpPr txBox="1"/>
          <p:nvPr/>
        </p:nvSpPr>
        <p:spPr>
          <a:xfrm>
            <a:off x="5227168" y="3423528"/>
            <a:ext cx="457200" cy="457200"/>
          </a:xfrm>
          <a:prstGeom prst="rect">
            <a:avLst/>
          </a:prstGeom>
          <a:noFill/>
          <a:ln/>
        </p:spPr>
        <p:txBody>
          <a:bodyPr wrap="square" lIns="0" tIns="0" rIns="0" bIns="0" rtlCol="0" anchor="t"/>
          <a:lstStyle/>
          <a:p>
            <a:pP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
        <p:nvSpPr>
          <p:cNvPr id="27" name="Text 24"/>
          <p:cNvSpPr txBox="1"/>
          <p:nvPr/>
        </p:nvSpPr>
        <p:spPr>
          <a:xfrm>
            <a:off x="5547208" y="3953880"/>
            <a:ext cx="3929040" cy="109728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a:p>
            <a:pPr marL="152400" indent="-152400">
              <a:spcAft>
                <a:spcPts val="200"/>
              </a:spcAft>
              <a:buSzPct val="100000"/>
              <a:buChar char="•"/>
            </a:pPr>
            <a:r>
              <a:rPr lang="en-US" sz="1400" dirty="0">
                <a:solidFill>
                  <a:srgbClr val="3F3F3F"/>
                </a:solidFill>
                <a:latin typeface="Yu Gothic UI" pitchFamily="34" charset="0"/>
                <a:ea typeface="Yu Gothic UI" pitchFamily="34" charset="-122"/>
                <a:cs typeface="Yu Gothic UI" pitchFamily="34" charset="-120"/>
              </a:rPr>
              <a:t>XX</a:t>
            </a:r>
            <a:endParaRPr lang="en-US" sz="1400" dirty="0"/>
          </a:p>
        </p:txBody>
      </p:sp>
      <p:sp>
        <p:nvSpPr>
          <p:cNvPr id="28" name="Text 25"/>
          <p:cNvSpPr txBox="1"/>
          <p:nvPr/>
        </p:nvSpPr>
        <p:spPr>
          <a:xfrm>
            <a:off x="5410048" y="5349240"/>
            <a:ext cx="3791880" cy="274320"/>
          </a:xfrm>
          <a:prstGeom prst="rect">
            <a:avLst/>
          </a:prstGeom>
          <a:noFill/>
          <a:ln/>
        </p:spPr>
        <p:txBody>
          <a:bodyPr wrap="square" lIns="0" tIns="0" rIns="0" bIns="0" rtlCol="0" anchor="t"/>
          <a:lstStyle/>
          <a:p>
            <a:pPr algn="r" indent="0" marL="0">
              <a:buNone/>
            </a:pPr>
            <a:r>
              <a:rPr lang="en-US" sz="1100" dirty="0">
                <a:solidFill>
                  <a:srgbClr val="3F3F3F"/>
                </a:solidFill>
                <a:latin typeface="Yu Gothic UI" pitchFamily="34" charset="0"/>
                <a:ea typeface="Yu Gothic UI" pitchFamily="34" charset="-122"/>
                <a:cs typeface="Yu Gothic UI" pitchFamily="34" charset="-120"/>
              </a:rPr>
              <a:t>出所 or 発言者</a:t>
            </a:r>
            <a:endParaRPr lang="en-US" sz="1100" dirty="0"/>
          </a:p>
        </p:txBody>
      </p:sp>
      <p:sp>
        <p:nvSpPr>
          <p:cNvPr id="29" name="Text 26"/>
          <p:cNvSpPr txBox="1"/>
          <p:nvPr/>
        </p:nvSpPr>
        <p:spPr>
          <a:xfrm>
            <a:off x="9201928" y="5532120"/>
            <a:ext cx="457200" cy="457200"/>
          </a:xfrm>
          <a:prstGeom prst="rect">
            <a:avLst/>
          </a:prstGeom>
          <a:noFill/>
          <a:ln/>
        </p:spPr>
        <p:txBody>
          <a:bodyPr wrap="square" lIns="0" tIns="0" rIns="0" bIns="0" rtlCol="0" anchor="t"/>
          <a:lstStyle/>
          <a:p>
            <a:pPr algn="r" indent="0" marL="0">
              <a:buNone/>
            </a:pPr>
            <a:r>
              <a:rPr lang="en-US" sz="2800" b="1" dirty="0">
                <a:solidFill>
                  <a:srgbClr val="7F7F7F"/>
                </a:solidFill>
                <a:latin typeface="Georgia" pitchFamily="34" charset="0"/>
                <a:ea typeface="Georgia" pitchFamily="34" charset="-122"/>
                <a:cs typeface="Georgia" pitchFamily="34" charset="-120"/>
              </a:rPr>
              <a:t>”</a:t>
            </a:r>
            <a:endParaRPr lang="en-US" sz="2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CCCCCC"/>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型の見本を組み合わせて、表紙から判断事項までを通した24枚の完成例。</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3F3F3F"/>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744728" y="365760"/>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注）赤字は営業損失（2024年度決算）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出所）みなと鉄道「決算書」（各年度）を基に作成（架空の完成例）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113</a:t>
            </a:r>
            <a:endParaRPr lang="en-US" sz="900" dirty="0"/>
          </a:p>
        </p:txBody>
      </p:sp>
      <p:sp>
        <p:nvSpPr>
          <p:cNvPr id="10" name="Text 7"/>
          <p:cNvSpPr txBox="1"/>
          <p:nvPr/>
        </p:nvSpPr>
        <p:spPr>
          <a:xfrm>
            <a:off x="200848" y="1572768"/>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389568" y="1572768"/>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389568" y="1938528"/>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00848" y="2569464"/>
            <a:ext cx="9504000" cy="0"/>
          </a:xfrm>
          <a:prstGeom prst="line">
            <a:avLst/>
          </a:prstGeom>
          <a:noFill/>
          <a:ln w="9525">
            <a:solidFill>
              <a:srgbClr val="CCCCCC"/>
            </a:solidFill>
            <a:prstDash val="solid"/>
          </a:ln>
        </p:spPr>
      </p:sp>
      <p:sp>
        <p:nvSpPr>
          <p:cNvPr id="14" name="Text 11"/>
          <p:cNvSpPr txBox="1"/>
          <p:nvPr/>
        </p:nvSpPr>
        <p:spPr>
          <a:xfrm>
            <a:off x="200848" y="2734056"/>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389568" y="2734056"/>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389568" y="3099816"/>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00848" y="3730752"/>
            <a:ext cx="9504000" cy="0"/>
          </a:xfrm>
          <a:prstGeom prst="line">
            <a:avLst/>
          </a:prstGeom>
          <a:noFill/>
          <a:ln w="9525">
            <a:solidFill>
              <a:srgbClr val="CCCCCC"/>
            </a:solidFill>
            <a:prstDash val="solid"/>
          </a:ln>
        </p:spPr>
      </p:sp>
      <p:sp>
        <p:nvSpPr>
          <p:cNvPr id="18" name="Text 15"/>
          <p:cNvSpPr txBox="1"/>
          <p:nvPr/>
        </p:nvSpPr>
        <p:spPr>
          <a:xfrm>
            <a:off x="200848" y="3895344"/>
            <a:ext cx="100584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389568" y="3895344"/>
            <a:ext cx="8315280" cy="310896"/>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389568" y="4261104"/>
            <a:ext cx="8315280" cy="310896"/>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00848" y="5047488"/>
            <a:ext cx="9504000" cy="0"/>
          </a:xfrm>
          <a:prstGeom prst="line">
            <a:avLst/>
          </a:prstGeom>
          <a:noFill/>
          <a:ln w="19050">
            <a:solidFill>
              <a:srgbClr val="000F78"/>
            </a:solidFill>
            <a:prstDash val="solid"/>
          </a:ln>
        </p:spPr>
      </p:sp>
      <p:sp>
        <p:nvSpPr>
          <p:cNvPr id="22" name="Text 19"/>
          <p:cNvSpPr txBox="1"/>
          <p:nvPr/>
        </p:nvSpPr>
        <p:spPr>
          <a:xfrm>
            <a:off x="200848" y="5212080"/>
            <a:ext cx="100584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3" name="Text 20"/>
          <p:cNvSpPr txBox="1"/>
          <p:nvPr/>
        </p:nvSpPr>
        <p:spPr>
          <a:xfrm>
            <a:off x="1389568" y="5212080"/>
            <a:ext cx="8315280"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上下分離（案B）を基本方針とし、2026年度に法定協議会を設けて実施計画を策定する。2028年4月の移行を目指し、並行して増収策で鉄道会社の収支を黒字にする</a:t>
            </a:r>
            <a:endParaRPr lang="en-US" sz="14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114</a:t>
            </a:r>
            <a:endParaRPr lang="en-US" sz="9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200848" y="1965960"/>
          <a:ext cx="9504000" cy="914400"/>
        </p:xfrm>
        <a:graphic>
          <a:graphicData uri="http://schemas.openxmlformats.org/drawingml/2006/table">
            <a:tbl>
              <a:tblPr/>
              <a:tblGrid>
                <a:gridCol w="1737360"/>
                <a:gridCol w="3017520"/>
                <a:gridCol w="3651840"/>
                <a:gridCol w="109728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出所）関係者ヒアリング（2026年4〜6月、32件）、沿線住民アンケート（2026年5月）を基に作成（架空の完成例）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115</a:t>
            </a:r>
            <a:endParaRPr lang="en-US" sz="900" dirty="0"/>
          </a:p>
        </p:txBody>
      </p:sp>
      <p:sp>
        <p:nvSpPr>
          <p:cNvPr id="12" name="Text 9"/>
          <p:cNvSpPr txBox="1"/>
          <p:nvPr/>
        </p:nvSpPr>
        <p:spPr>
          <a:xfrm>
            <a:off x="13895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1389568" y="2249424"/>
            <a:ext cx="2588880" cy="0"/>
          </a:xfrm>
          <a:prstGeom prst="line">
            <a:avLst/>
          </a:prstGeom>
          <a:noFill/>
          <a:ln w="12700">
            <a:solidFill>
              <a:srgbClr val="7F7F7F"/>
            </a:solidFill>
            <a:prstDash val="solid"/>
          </a:ln>
        </p:spPr>
      </p:sp>
      <p:sp>
        <p:nvSpPr>
          <p:cNvPr id="14" name="Text 11"/>
          <p:cNvSpPr txBox="1"/>
          <p:nvPr/>
        </p:nvSpPr>
        <p:spPr>
          <a:xfrm>
            <a:off x="13895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32</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13895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沿線3市・県・事業者・学校・利用者団体</a:t>
            </a:r>
            <a:endParaRPr lang="en-US" sz="1400" dirty="0"/>
          </a:p>
        </p:txBody>
      </p:sp>
      <p:sp>
        <p:nvSpPr>
          <p:cNvPr id="16" name="Text 13"/>
          <p:cNvSpPr txBox="1"/>
          <p:nvPr/>
        </p:nvSpPr>
        <p:spPr>
          <a:xfrm>
            <a:off x="13895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2026年4〜6月</a:t>
            </a:r>
            <a:endParaRPr lang="en-US" sz="1400" dirty="0"/>
          </a:p>
        </p:txBody>
      </p:sp>
      <p:sp>
        <p:nvSpPr>
          <p:cNvPr id="17" name="Text 14"/>
          <p:cNvSpPr txBox="1"/>
          <p:nvPr/>
        </p:nvSpPr>
        <p:spPr>
          <a:xfrm>
            <a:off x="13895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第2章・第3章</a:t>
            </a:r>
            <a:endParaRPr lang="en-US" sz="1400" dirty="0"/>
          </a:p>
        </p:txBody>
      </p:sp>
      <p:sp>
        <p:nvSpPr>
          <p:cNvPr id="18" name="Text 15"/>
          <p:cNvSpPr txBox="1"/>
          <p:nvPr/>
        </p:nvSpPr>
        <p:spPr>
          <a:xfrm>
            <a:off x="42527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沿線住民アンケート</a:t>
            </a:r>
            <a:endParaRPr lang="en-US" sz="1400" dirty="0"/>
          </a:p>
        </p:txBody>
      </p:sp>
      <p:sp>
        <p:nvSpPr>
          <p:cNvPr id="19" name="Shape 16"/>
          <p:cNvSpPr/>
          <p:nvPr/>
        </p:nvSpPr>
        <p:spPr>
          <a:xfrm>
            <a:off x="4252768" y="2249424"/>
            <a:ext cx="2588880" cy="0"/>
          </a:xfrm>
          <a:prstGeom prst="line">
            <a:avLst/>
          </a:prstGeom>
          <a:noFill/>
          <a:ln w="15875">
            <a:solidFill>
              <a:srgbClr val="3F3F3F"/>
            </a:solidFill>
            <a:prstDash val="solid"/>
          </a:ln>
        </p:spPr>
      </p:sp>
      <p:sp>
        <p:nvSpPr>
          <p:cNvPr id="20" name="Text 17"/>
          <p:cNvSpPr txBox="1"/>
          <p:nvPr/>
        </p:nvSpPr>
        <p:spPr>
          <a:xfrm>
            <a:off x="4252768" y="2331720"/>
            <a:ext cx="2588880"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3F3F3F"/>
                </a:solidFill>
                <a:latin typeface="Yu Gothic UI" pitchFamily="34" charset="0"/>
                <a:ea typeface="Yu Gothic UI" pitchFamily="34" charset="-122"/>
                <a:cs typeface="Yu Gothic UI" pitchFamily="34" charset="-120"/>
              </a:rPr>
              <a:t> 件</a:t>
            </a:r>
            <a:endParaRPr lang="en-US" sz="1400" dirty="0"/>
          </a:p>
        </p:txBody>
      </p:sp>
      <p:sp>
        <p:nvSpPr>
          <p:cNvPr id="21" name="Text 18"/>
          <p:cNvSpPr txBox="1"/>
          <p:nvPr/>
        </p:nvSpPr>
        <p:spPr>
          <a:xfrm>
            <a:off x="42527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無作為抽出の3,000人に郵送</a:t>
            </a:r>
            <a:endParaRPr lang="en-US" sz="1400" dirty="0"/>
          </a:p>
        </p:txBody>
      </p:sp>
      <p:sp>
        <p:nvSpPr>
          <p:cNvPr id="22" name="Text 19"/>
          <p:cNvSpPr txBox="1"/>
          <p:nvPr/>
        </p:nvSpPr>
        <p:spPr>
          <a:xfrm>
            <a:off x="42527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2026年5月、回収率40%</a:t>
            </a:r>
            <a:endParaRPr lang="en-US" sz="1400" dirty="0"/>
          </a:p>
        </p:txBody>
      </p:sp>
      <p:sp>
        <p:nvSpPr>
          <p:cNvPr id="23" name="Text 20"/>
          <p:cNvSpPr txBox="1"/>
          <p:nvPr/>
        </p:nvSpPr>
        <p:spPr>
          <a:xfrm>
            <a:off x="4252768" y="5074920"/>
            <a:ext cx="25888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第1章（存続の意向）</a:t>
            </a:r>
            <a:endParaRPr lang="en-US" sz="1400" dirty="0"/>
          </a:p>
        </p:txBody>
      </p:sp>
      <p:sp>
        <p:nvSpPr>
          <p:cNvPr id="24" name="Text 21"/>
          <p:cNvSpPr txBox="1"/>
          <p:nvPr/>
        </p:nvSpPr>
        <p:spPr>
          <a:xfrm>
            <a:off x="7115968" y="1901952"/>
            <a:ext cx="25888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運行・決算データ</a:t>
            </a:r>
            <a:endParaRPr lang="en-US" sz="1400" dirty="0"/>
          </a:p>
        </p:txBody>
      </p:sp>
      <p:sp>
        <p:nvSpPr>
          <p:cNvPr id="25" name="Shape 22"/>
          <p:cNvSpPr/>
          <p:nvPr/>
        </p:nvSpPr>
        <p:spPr>
          <a:xfrm>
            <a:off x="7115968" y="2249424"/>
            <a:ext cx="2588880" cy="0"/>
          </a:xfrm>
          <a:prstGeom prst="line">
            <a:avLst/>
          </a:prstGeom>
          <a:noFill/>
          <a:ln w="12700">
            <a:solidFill>
              <a:srgbClr val="7F7F7F"/>
            </a:solidFill>
            <a:prstDash val="solid"/>
          </a:ln>
        </p:spPr>
      </p:sp>
      <p:sp>
        <p:nvSpPr>
          <p:cNvPr id="26" name="Text 23"/>
          <p:cNvSpPr txBox="1"/>
          <p:nvPr/>
        </p:nvSpPr>
        <p:spPr>
          <a:xfrm>
            <a:off x="7115968" y="2331720"/>
            <a:ext cx="2588880" cy="914400"/>
          </a:xfrm>
          <a:prstGeom prst="rect">
            <a:avLst/>
          </a:prstGeom>
          <a:noFill/>
          <a:ln/>
        </p:spPr>
        <p:txBody>
          <a:bodyPr wrap="square" lIns="0" tIns="0" rIns="0" bIns="0" rtlCol="0" anchor="ctr"/>
          <a:lstStyle/>
          <a:p>
            <a:pPr indent="0" marL="0">
              <a:buNone/>
            </a:pPr>
            <a:r>
              <a:rPr lang="en-US" sz="4000" b="1" dirty="0">
                <a:solidFill>
                  <a:srgbClr val="3F3F3F"/>
                </a:solidFill>
                <a:latin typeface="Arial" pitchFamily="34" charset="0"/>
                <a:ea typeface="Arial" pitchFamily="34" charset="-122"/>
                <a:cs typeface="Arial" pitchFamily="34" charset="-120"/>
              </a:rPr>
              <a:t>10</a:t>
            </a:r>
            <a:pPr indent="0" marL="0">
              <a:buNone/>
            </a:pPr>
            <a:r>
              <a:rPr lang="en-US" sz="1600" dirty="0">
                <a:solidFill>
                  <a:srgbClr val="3F3F3F"/>
                </a:solidFill>
                <a:latin typeface="Yu Gothic UI" pitchFamily="34" charset="0"/>
                <a:ea typeface="Yu Gothic UI" pitchFamily="34" charset="-122"/>
                <a:cs typeface="Yu Gothic UI" pitchFamily="34" charset="-120"/>
              </a:rPr>
              <a:t> 年分</a:t>
            </a:r>
            <a:endParaRPr lang="en-US" sz="1400" dirty="0"/>
          </a:p>
        </p:txBody>
      </p:sp>
      <p:sp>
        <p:nvSpPr>
          <p:cNvPr id="27" name="Text 24"/>
          <p:cNvSpPr txBox="1"/>
          <p:nvPr/>
        </p:nvSpPr>
        <p:spPr>
          <a:xfrm>
            <a:off x="7115968" y="352044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駅別乗降・定期券種別・費目別決算</a:t>
            </a:r>
            <a:endParaRPr lang="en-US" sz="1400" dirty="0"/>
          </a:p>
        </p:txBody>
      </p:sp>
      <p:sp>
        <p:nvSpPr>
          <p:cNvPr id="28" name="Text 25"/>
          <p:cNvSpPr txBox="1"/>
          <p:nvPr/>
        </p:nvSpPr>
        <p:spPr>
          <a:xfrm>
            <a:off x="7115968" y="429768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2014〜2024年度</a:t>
            </a:r>
            <a:endParaRPr lang="en-US" sz="1400" dirty="0"/>
          </a:p>
        </p:txBody>
      </p:sp>
      <p:sp>
        <p:nvSpPr>
          <p:cNvPr id="29" name="Text 26"/>
          <p:cNvSpPr txBox="1"/>
          <p:nvPr/>
        </p:nvSpPr>
        <p:spPr>
          <a:xfrm>
            <a:off x="7115968" y="5074920"/>
            <a:ext cx="2588880" cy="64008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第1章・第2章</a:t>
            </a:r>
            <a:endParaRPr lang="en-US" sz="1400" dirty="0"/>
          </a:p>
        </p:txBody>
      </p:sp>
      <p:sp>
        <p:nvSpPr>
          <p:cNvPr id="30" name="Text 27"/>
          <p:cNvSpPr txBox="1"/>
          <p:nvPr/>
        </p:nvSpPr>
        <p:spPr>
          <a:xfrm>
            <a:off x="200848" y="352044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対象</a:t>
            </a:r>
            <a:endParaRPr lang="en-US" sz="1400" dirty="0"/>
          </a:p>
        </p:txBody>
      </p:sp>
      <p:sp>
        <p:nvSpPr>
          <p:cNvPr id="31" name="Shape 28"/>
          <p:cNvSpPr/>
          <p:nvPr/>
        </p:nvSpPr>
        <p:spPr>
          <a:xfrm>
            <a:off x="200848" y="3456432"/>
            <a:ext cx="9504000" cy="0"/>
          </a:xfrm>
          <a:prstGeom prst="line">
            <a:avLst/>
          </a:prstGeom>
          <a:noFill/>
          <a:ln w="9525">
            <a:solidFill>
              <a:srgbClr val="CCCCCC"/>
            </a:solidFill>
            <a:prstDash val="solid"/>
          </a:ln>
        </p:spPr>
      </p:sp>
      <p:sp>
        <p:nvSpPr>
          <p:cNvPr id="32" name="Text 29"/>
          <p:cNvSpPr txBox="1"/>
          <p:nvPr/>
        </p:nvSpPr>
        <p:spPr>
          <a:xfrm>
            <a:off x="200848" y="429768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時期</a:t>
            </a:r>
            <a:endParaRPr lang="en-US" sz="1400" dirty="0"/>
          </a:p>
        </p:txBody>
      </p:sp>
      <p:sp>
        <p:nvSpPr>
          <p:cNvPr id="33" name="Shape 30"/>
          <p:cNvSpPr/>
          <p:nvPr/>
        </p:nvSpPr>
        <p:spPr>
          <a:xfrm>
            <a:off x="200848" y="4233672"/>
            <a:ext cx="9504000" cy="0"/>
          </a:xfrm>
          <a:prstGeom prst="line">
            <a:avLst/>
          </a:prstGeom>
          <a:noFill/>
          <a:ln w="9525">
            <a:solidFill>
              <a:srgbClr val="CCCCCC"/>
            </a:solidFill>
            <a:prstDash val="solid"/>
          </a:ln>
        </p:spPr>
      </p:sp>
      <p:sp>
        <p:nvSpPr>
          <p:cNvPr id="34" name="Text 31"/>
          <p:cNvSpPr txBox="1"/>
          <p:nvPr/>
        </p:nvSpPr>
        <p:spPr>
          <a:xfrm>
            <a:off x="200848" y="5074920"/>
            <a:ext cx="1097280" cy="64008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使った章</a:t>
            </a:r>
            <a:endParaRPr lang="en-US" sz="1400" dirty="0"/>
          </a:p>
        </p:txBody>
      </p:sp>
      <p:sp>
        <p:nvSpPr>
          <p:cNvPr id="35" name="Shape 32"/>
          <p:cNvSpPr/>
          <p:nvPr/>
        </p:nvSpPr>
        <p:spPr>
          <a:xfrm>
            <a:off x="200848" y="5010912"/>
            <a:ext cx="9504000" cy="0"/>
          </a:xfrm>
          <a:prstGeom prst="line">
            <a:avLst/>
          </a:prstGeom>
          <a:noFill/>
          <a:ln w="9525">
            <a:solidFill>
              <a:srgbClr val="CCCCCC"/>
            </a:solidFill>
            <a:prstDash val="solid"/>
          </a:ln>
        </p:spPr>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3F3F3F"/>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注）輸送人員は定期・定期外の合計。2020年度は感染症の影響を含む</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出所）みなと鉄道「鉄道統計年報」提出資料（各年度）を基に作成（架空の完成例）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117</a:t>
            </a:r>
            <a:endParaRPr lang="en-US" sz="900" dirty="0"/>
          </a:p>
        </p:txBody>
      </p:sp>
      <p:graphicFrame>
        <p:nvGraphicFramePr>
          <p:cNvPr id="12" name="Chart 0" descr=""/>
          <p:cNvGraphicFramePr/>
          <p:nvPr/>
        </p:nvGraphicFramePr>
        <p:xfrm>
          <a:off x="200848" y="1965960"/>
          <a:ext cx="62578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023808" y="2377440"/>
            <a:ext cx="4754880" cy="0"/>
          </a:xfrm>
          <a:prstGeom prst="line">
            <a:avLst/>
          </a:prstGeom>
          <a:noFill/>
          <a:ln w="15875">
            <a:solidFill>
              <a:srgbClr val="000F78"/>
            </a:solidFill>
            <a:prstDash val="solid"/>
            <a:tailEnd type="triangle"/>
          </a:ln>
        </p:spPr>
      </p:sp>
      <p:sp>
        <p:nvSpPr>
          <p:cNvPr id="14" name="Text 10"/>
          <p:cNvSpPr txBox="1"/>
          <p:nvPr/>
        </p:nvSpPr>
        <p:spPr>
          <a:xfrm>
            <a:off x="1298128" y="2011680"/>
            <a:ext cx="4206240" cy="292608"/>
          </a:xfrm>
          <a:prstGeom prst="rect">
            <a:avLst/>
          </a:prstGeom>
          <a:noFill/>
          <a:ln/>
        </p:spPr>
        <p:txBody>
          <a:bodyPr wrap="square" lIns="0" tIns="0" rIns="0" bIns="0" rtlCol="0" anchor="t"/>
          <a:lstStyle/>
          <a:p>
            <a:pPr algn="ctr" indent="0" marL="0">
              <a:buNone/>
            </a:pPr>
            <a:r>
              <a:rPr lang="en-US" sz="1200" b="1" dirty="0">
                <a:solidFill>
                  <a:srgbClr val="000F78"/>
                </a:solidFill>
                <a:latin typeface="Yu Gothic UI" pitchFamily="34" charset="0"/>
                <a:ea typeface="Yu Gothic UI" pitchFamily="34" charset="-122"/>
                <a:cs typeface="Yu Gothic UI" pitchFamily="34" charset="-120"/>
              </a:rPr>
              <a:t>年平均 −2.8%（10年で−25%）</a:t>
            </a:r>
            <a:endParaRPr lang="en-US" sz="12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10年で52万人減った（−25%）</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2014年度の210万人から2024年度は158万人へ。年平均で2.8%ずつ減っている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感染症前の水準には戻らない</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2020年度の131万人から持ち直したが、2024年度の158万人は2018年度（186万人）を15%下回る</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3F3F3F"/>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注）利用目的は駅での聞き取り調査（各年度10月の平日）</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利用実態調査を基に作成（架空の完成例）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118</a:t>
            </a:r>
            <a:endParaRPr lang="en-US" sz="900" dirty="0"/>
          </a:p>
        </p:txBody>
      </p:sp>
      <p:graphicFrame>
        <p:nvGraphicFramePr>
          <p:cNvPr id="12" name="Chart 0" descr=""/>
          <p:cNvGraphicFramePr/>
          <p:nvPr/>
        </p:nvGraphicFramePr>
        <p:xfrm>
          <a:off x="200848" y="1920240"/>
          <a:ext cx="402336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315648" y="22402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観光</a:t>
            </a:r>
            <a:endParaRPr lang="en-US" sz="1200" dirty="0"/>
          </a:p>
        </p:txBody>
      </p:sp>
      <p:sp>
        <p:nvSpPr>
          <p:cNvPr id="14" name="Text 10"/>
          <p:cNvSpPr txBox="1"/>
          <p:nvPr/>
        </p:nvSpPr>
        <p:spPr>
          <a:xfrm>
            <a:off x="4315648" y="269748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a:t>
            </a:r>
            <a:endParaRPr lang="en-US" sz="1200" dirty="0"/>
          </a:p>
        </p:txBody>
      </p:sp>
      <p:sp>
        <p:nvSpPr>
          <p:cNvPr id="15" name="Text 11"/>
          <p:cNvSpPr txBox="1"/>
          <p:nvPr/>
        </p:nvSpPr>
        <p:spPr>
          <a:xfrm>
            <a:off x="4315648" y="3429000"/>
            <a:ext cx="114300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通勤</a:t>
            </a:r>
            <a:endParaRPr lang="en-US" sz="1200" dirty="0"/>
          </a:p>
        </p:txBody>
      </p:sp>
      <p:sp>
        <p:nvSpPr>
          <p:cNvPr id="16" name="Text 12"/>
          <p:cNvSpPr txBox="1"/>
          <p:nvPr/>
        </p:nvSpPr>
        <p:spPr>
          <a:xfrm>
            <a:off x="4315648" y="4709160"/>
            <a:ext cx="114300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通学</a:t>
            </a:r>
            <a:endParaRPr lang="en-US" sz="1200" dirty="0"/>
          </a:p>
        </p:txBody>
      </p:sp>
      <p:sp>
        <p:nvSpPr>
          <p:cNvPr id="17" name="Text 13"/>
          <p:cNvSpPr txBox="1"/>
          <p:nvPr/>
        </p:nvSpPr>
        <p:spPr>
          <a:xfrm>
            <a:off x="5504368" y="4709160"/>
            <a:ext cx="731520" cy="274320"/>
          </a:xfrm>
          <a:prstGeom prst="rect">
            <a:avLst/>
          </a:prstGeom>
          <a:noFill/>
          <a:ln/>
        </p:spPr>
        <p:txBody>
          <a:bodyPr wrap="square" lIns="0" tIns="0" rIns="0" bIns="0" rtlCol="0" anchor="t"/>
          <a:lstStyle/>
          <a:p>
            <a:pPr indent="0" marL="0">
              <a:buNone/>
            </a:pPr>
            <a:r>
              <a:rPr lang="en-US" sz="1200" b="1" dirty="0">
                <a:solidFill>
                  <a:srgbClr val="000F78"/>
                </a:solidFill>
                <a:latin typeface="Arial" pitchFamily="34" charset="0"/>
                <a:ea typeface="Arial" pitchFamily="34" charset="-122"/>
                <a:cs typeface="Arial" pitchFamily="34" charset="-120"/>
              </a:rPr>
              <a:t>−6pt</a:t>
            </a:r>
            <a:endParaRPr lang="en-US" sz="1200" dirty="0"/>
          </a:p>
        </p:txBody>
      </p:sp>
      <p:sp>
        <p:nvSpPr>
          <p:cNvPr id="18" name="Text 14"/>
          <p:cNvSpPr txBox="1"/>
          <p:nvPr/>
        </p:nvSpPr>
        <p:spPr>
          <a:xfrm>
            <a:off x="5504368" y="22402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19" name="Text 15"/>
          <p:cNvSpPr txBox="1"/>
          <p:nvPr/>
        </p:nvSpPr>
        <p:spPr>
          <a:xfrm>
            <a:off x="5504368" y="2697480"/>
            <a:ext cx="731520" cy="274320"/>
          </a:xfrm>
          <a:prstGeom prst="rect">
            <a:avLst/>
          </a:prstGeom>
          <a:noFill/>
          <a:ln/>
        </p:spPr>
        <p:txBody>
          <a:bodyPr wrap="square" lIns="0" tIns="0" rIns="0" bIns="0" rtlCol="0" anchor="t"/>
          <a:lstStyle/>
          <a:p>
            <a:pPr indent="0" marL="0">
              <a:buNone/>
            </a:pPr>
            <a:r>
              <a:rPr lang="en-US" sz="1200" dirty="0">
                <a:solidFill>
                  <a:srgbClr val="3F3F3F"/>
                </a:solidFill>
                <a:latin typeface="Arial" pitchFamily="34" charset="0"/>
                <a:ea typeface="Arial" pitchFamily="34" charset="-122"/>
                <a:cs typeface="Arial" pitchFamily="34" charset="-120"/>
              </a:rPr>
              <a:t>＋4pt</a:t>
            </a:r>
            <a:endParaRPr lang="en-US" sz="1200" dirty="0"/>
          </a:p>
        </p:txBody>
      </p:sp>
      <p:sp>
        <p:nvSpPr>
          <p:cNvPr id="20" name="Shape 16"/>
          <p:cNvSpPr/>
          <p:nvPr/>
        </p:nvSpPr>
        <p:spPr>
          <a:xfrm>
            <a:off x="6687328" y="1874520"/>
            <a:ext cx="3017520" cy="4251960"/>
          </a:xfrm>
          <a:prstGeom prst="rect">
            <a:avLst/>
          </a:prstGeom>
          <a:solidFill>
            <a:srgbClr val="E0EEF8"/>
          </a:solidFill>
          <a:ln/>
        </p:spPr>
      </p:sp>
      <p:sp>
        <p:nvSpPr>
          <p:cNvPr id="21" name="Text 17"/>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通学は10年で6pt下がった</a:t>
            </a:r>
            <a:endParaRPr lang="en-US" sz="1400" dirty="0"/>
          </a:p>
        </p:txBody>
      </p:sp>
      <p:sp>
        <p:nvSpPr>
          <p:cNvPr id="22" name="Text 18"/>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通学の利用は2014年度の109万人から2024年度は73万人へ。沿線の高校生の減少による</a:t>
            </a:r>
            <a:endParaRPr lang="en-US" sz="1200" dirty="0"/>
          </a:p>
        </p:txBody>
      </p:sp>
      <p:sp>
        <p:nvSpPr>
          <p:cNvPr id="23" name="Shape 19"/>
          <p:cNvSpPr/>
          <p:nvPr/>
        </p:nvSpPr>
        <p:spPr>
          <a:xfrm>
            <a:off x="6870208" y="3936492"/>
            <a:ext cx="2651760" cy="0"/>
          </a:xfrm>
          <a:prstGeom prst="line">
            <a:avLst/>
          </a:prstGeom>
          <a:noFill/>
          <a:ln w="9525">
            <a:solidFill>
              <a:srgbClr val="CCCCCC"/>
            </a:solidFill>
            <a:prstDash val="solid"/>
          </a:ln>
        </p:spPr>
      </p:sp>
      <p:sp>
        <p:nvSpPr>
          <p:cNvPr id="24" name="Text 20"/>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日中の通院・買物と観光が伸びた</a:t>
            </a:r>
            <a:endParaRPr lang="en-US" sz="1400" dirty="0"/>
          </a:p>
        </p:txBody>
      </p:sp>
      <p:sp>
        <p:nvSpPr>
          <p:cNvPr id="25" name="Text 21"/>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通院・買物も観光も＋4pt。日中の便を増やせば、さらに伸ばせる余地がある</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119</a:t>
            </a:r>
            <a:endParaRPr lang="en-US" sz="900" dirty="0"/>
          </a:p>
        </p:txBody>
      </p:sp>
      <p:sp>
        <p:nvSpPr>
          <p:cNvPr id="10" name="Text 7"/>
          <p:cNvSpPr txBox="1"/>
          <p:nvPr/>
        </p:nvSpPr>
        <p:spPr>
          <a:xfrm>
            <a:off x="200848" y="1485000"/>
            <a:ext cx="54864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輸送人員の見通し（万人、2025–2045年度（予測））</a:t>
            </a:r>
            <a:endParaRPr lang="en-US" sz="1400" dirty="0"/>
          </a:p>
        </p:txBody>
      </p:sp>
      <p:sp>
        <p:nvSpPr>
          <p:cNvPr id="11" name="Shape 8"/>
          <p:cNvSpPr/>
          <p:nvPr/>
        </p:nvSpPr>
        <p:spPr>
          <a:xfrm>
            <a:off x="200848" y="1832472"/>
            <a:ext cx="5486400" cy="0"/>
          </a:xfrm>
          <a:prstGeom prst="line">
            <a:avLst/>
          </a:prstGeom>
          <a:noFill/>
          <a:ln w="12700">
            <a:solidFill>
              <a:srgbClr val="7F7F7F"/>
            </a:solidFill>
            <a:prstDash val="solid"/>
          </a:ln>
        </p:spPr>
      </p:sp>
      <p:graphicFrame>
        <p:nvGraphicFramePr>
          <p:cNvPr id="12" name="Chart 0" descr=""/>
          <p:cNvGraphicFramePr/>
          <p:nvPr/>
        </p:nvGraphicFramePr>
        <p:xfrm>
          <a:off x="200848"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818568" y="251460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818568"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818568" y="438912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5961568" y="1485000"/>
            <a:ext cx="374328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各シナリオの前提（2045年度）</a:t>
            </a:r>
            <a:endParaRPr lang="en-US" sz="1400" dirty="0"/>
          </a:p>
        </p:txBody>
      </p:sp>
      <p:sp>
        <p:nvSpPr>
          <p:cNvPr id="17" name="Shape 13"/>
          <p:cNvSpPr/>
          <p:nvPr/>
        </p:nvSpPr>
        <p:spPr>
          <a:xfrm>
            <a:off x="5961568" y="1832472"/>
            <a:ext cx="3743280" cy="0"/>
          </a:xfrm>
          <a:prstGeom prst="line">
            <a:avLst/>
          </a:prstGeom>
          <a:noFill/>
          <a:ln w="12700">
            <a:solidFill>
              <a:srgbClr val="7F7F7F"/>
            </a:solidFill>
            <a:prstDash val="solid"/>
          </a:ln>
        </p:spPr>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61568" y="1965960"/>
          <a:ext cx="3743280" cy="914400"/>
        </p:xfrm>
        <a:graphic>
          <a:graphicData uri="http://schemas.openxmlformats.org/drawingml/2006/table">
            <a:tbl>
              <a:tblPr/>
              <a:tblGrid>
                <a:gridCol w="914400"/>
                <a:gridCol w="1414440"/>
                <a:gridCol w="1414440"/>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±0pt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−2pt</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9" name="Shape 14"/>
          <p:cNvSpPr/>
          <p:nvPr/>
        </p:nvSpPr>
        <p:spPr>
          <a:xfrm>
            <a:off x="5961568" y="4526280"/>
            <a:ext cx="3743280" cy="0"/>
          </a:xfrm>
          <a:prstGeom prst="line">
            <a:avLst/>
          </a:prstGeom>
          <a:noFill/>
          <a:ln w="9525">
            <a:solidFill>
              <a:srgbClr val="CCCCCC"/>
            </a:solidFill>
            <a:prstDash val="solid"/>
          </a:ln>
        </p:spPr>
      </p:sp>
      <p:sp>
        <p:nvSpPr>
          <p:cNvPr id="20" name="Text 15"/>
          <p:cNvSpPr txBox="1"/>
          <p:nvPr/>
        </p:nvSpPr>
        <p:spPr>
          <a:xfrm>
            <a:off x="5961568" y="4663440"/>
            <a:ext cx="3743280" cy="64008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沿線人口は2020年の8.4万人から、2045年に6.3万人へ減る（基本）</a:t>
            </a:r>
            <a:endParaRPr lang="en-US" sz="14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3F3F3F"/>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注）設問「みなと鉄道を今後も残すべきだと思いますか」。無回答を除く</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出所）沿線住民アンケート（2026年5月、n＝1,200）を基に作成（架空の完成例）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120</a:t>
            </a:r>
            <a:endParaRPr lang="en-US" sz="900" dirty="0"/>
          </a:p>
        </p:txBody>
      </p:sp>
      <p:graphicFrame>
        <p:nvGraphicFramePr>
          <p:cNvPr id="12" name="Chart 0" descr=""/>
          <p:cNvGraphicFramePr/>
          <p:nvPr/>
        </p:nvGraphicFramePr>
        <p:xfrm>
          <a:off x="200848" y="2286000"/>
          <a:ext cx="6257880" cy="37947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886648" y="1984248"/>
            <a:ext cx="164592" cy="164592"/>
          </a:xfrm>
          <a:prstGeom prst="rect">
            <a:avLst/>
          </a:prstGeom>
          <a:solidFill>
            <a:srgbClr val="000F78"/>
          </a:solidFill>
          <a:ln/>
        </p:spPr>
      </p:sp>
      <p:sp>
        <p:nvSpPr>
          <p:cNvPr id="14" name="Text 10"/>
          <p:cNvSpPr txBox="1"/>
          <p:nvPr/>
        </p:nvSpPr>
        <p:spPr>
          <a:xfrm>
            <a:off x="1106104" y="1929384"/>
            <a:ext cx="1188720" cy="27432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そう思う</a:t>
            </a:r>
            <a:endParaRPr lang="en-US" sz="1200" dirty="0"/>
          </a:p>
        </p:txBody>
      </p:sp>
      <p:sp>
        <p:nvSpPr>
          <p:cNvPr id="15" name="Shape 11"/>
          <p:cNvSpPr/>
          <p:nvPr/>
        </p:nvSpPr>
        <p:spPr>
          <a:xfrm>
            <a:off x="2258248" y="1984248"/>
            <a:ext cx="164592" cy="164592"/>
          </a:xfrm>
          <a:prstGeom prst="rect">
            <a:avLst/>
          </a:prstGeom>
          <a:solidFill>
            <a:srgbClr val="7F7F7F"/>
          </a:solidFill>
          <a:ln/>
        </p:spPr>
      </p:sp>
      <p:sp>
        <p:nvSpPr>
          <p:cNvPr id="16" name="Text 12"/>
          <p:cNvSpPr txBox="1"/>
          <p:nvPr/>
        </p:nvSpPr>
        <p:spPr>
          <a:xfrm>
            <a:off x="24777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ややそう思う</a:t>
            </a:r>
            <a:endParaRPr lang="en-US" sz="1200" dirty="0"/>
          </a:p>
        </p:txBody>
      </p:sp>
      <p:sp>
        <p:nvSpPr>
          <p:cNvPr id="17" name="Shape 13"/>
          <p:cNvSpPr/>
          <p:nvPr/>
        </p:nvSpPr>
        <p:spPr>
          <a:xfrm>
            <a:off x="3629848" y="1984248"/>
            <a:ext cx="164592" cy="164592"/>
          </a:xfrm>
          <a:prstGeom prst="rect">
            <a:avLst/>
          </a:prstGeom>
          <a:solidFill>
            <a:srgbClr val="CCCCCC"/>
          </a:solidFill>
          <a:ln/>
        </p:spPr>
      </p:sp>
      <p:sp>
        <p:nvSpPr>
          <p:cNvPr id="18" name="Text 14"/>
          <p:cNvSpPr txBox="1"/>
          <p:nvPr/>
        </p:nvSpPr>
        <p:spPr>
          <a:xfrm>
            <a:off x="38493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どちらでもない</a:t>
            </a:r>
            <a:endParaRPr lang="en-US" sz="1200" dirty="0"/>
          </a:p>
        </p:txBody>
      </p:sp>
      <p:sp>
        <p:nvSpPr>
          <p:cNvPr id="19" name="Shape 15"/>
          <p:cNvSpPr/>
          <p:nvPr/>
        </p:nvSpPr>
        <p:spPr>
          <a:xfrm>
            <a:off x="5001448" y="1984248"/>
            <a:ext cx="164592" cy="164592"/>
          </a:xfrm>
          <a:prstGeom prst="rect">
            <a:avLst/>
          </a:prstGeom>
          <a:solidFill>
            <a:srgbClr val="E0EEF8"/>
          </a:solidFill>
          <a:ln/>
        </p:spPr>
      </p:sp>
      <p:sp>
        <p:nvSpPr>
          <p:cNvPr id="20" name="Text 16"/>
          <p:cNvSpPr txBox="1"/>
          <p:nvPr/>
        </p:nvSpPr>
        <p:spPr>
          <a:xfrm>
            <a:off x="5220904" y="1929384"/>
            <a:ext cx="1188720" cy="27432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そう思わない</a:t>
            </a:r>
            <a:endParaRPr lang="en-US" sz="1200" dirty="0"/>
          </a:p>
        </p:txBody>
      </p:sp>
      <p:sp>
        <p:nvSpPr>
          <p:cNvPr id="21" name="Shape 17"/>
          <p:cNvSpPr/>
          <p:nvPr/>
        </p:nvSpPr>
        <p:spPr>
          <a:xfrm>
            <a:off x="6687328" y="1874520"/>
            <a:ext cx="3017520" cy="4251960"/>
          </a:xfrm>
          <a:prstGeom prst="rect">
            <a:avLst/>
          </a:prstGeom>
          <a:solidFill>
            <a:srgbClr val="E0EEF8"/>
          </a:solidFill>
          <a:ln/>
        </p:spPr>
      </p:sp>
      <p:sp>
        <p:nvSpPr>
          <p:cNvPr id="22" name="Text 1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存続を望むのは68%</a:t>
            </a:r>
            <a:endParaRPr lang="en-US" sz="1400" dirty="0"/>
          </a:p>
        </p:txBody>
      </p:sp>
      <p:sp>
        <p:nvSpPr>
          <p:cNvPr id="23" name="Text 1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「そう思う」41%と「ややそう思う」27%の計。「そう思わない」は14%にとどまる</a:t>
            </a:r>
            <a:endParaRPr lang="en-US" sz="1200" dirty="0"/>
          </a:p>
        </p:txBody>
      </p:sp>
      <p:sp>
        <p:nvSpPr>
          <p:cNvPr id="24" name="Shape 20"/>
          <p:cNvSpPr/>
          <p:nvPr/>
        </p:nvSpPr>
        <p:spPr>
          <a:xfrm>
            <a:off x="6870208" y="3936492"/>
            <a:ext cx="2651760" cy="0"/>
          </a:xfrm>
          <a:prstGeom prst="line">
            <a:avLst/>
          </a:prstGeom>
          <a:noFill/>
          <a:ln w="9525">
            <a:solidFill>
              <a:srgbClr val="CCCCCC"/>
            </a:solidFill>
            <a:prstDash val="solid"/>
          </a:ln>
        </p:spPr>
      </p:sp>
      <p:sp>
        <p:nvSpPr>
          <p:cNvPr id="25" name="Text 2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10〜20代と70代以上は7割以上</a:t>
            </a:r>
            <a:endParaRPr lang="en-US" sz="1400" dirty="0"/>
          </a:p>
        </p:txBody>
      </p:sp>
      <p:sp>
        <p:nvSpPr>
          <p:cNvPr id="26" name="Text 2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通学と通院で日常的に使う層。この2つの層の足を確保できるかが、合意の前提になる</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3F3F3F"/>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注）営業損失の増減を費目別に分解。運賃収入の減少は損失の増加要因として表示</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出所）みなと鉄道「決算書」（2014・2024年度）を基に作成（架空の完成例）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122</a:t>
            </a:r>
            <a:endParaRPr lang="en-US" sz="900" dirty="0"/>
          </a:p>
        </p:txBody>
      </p:sp>
      <p:sp>
        <p:nvSpPr>
          <p:cNvPr id="12" name="Shape 9"/>
          <p:cNvSpPr/>
          <p:nvPr/>
        </p:nvSpPr>
        <p:spPr>
          <a:xfrm>
            <a:off x="321264" y="4295851"/>
            <a:ext cx="571980" cy="1190549"/>
          </a:xfrm>
          <a:prstGeom prst="rect">
            <a:avLst/>
          </a:prstGeom>
          <a:solidFill>
            <a:srgbClr val="7F7F7F"/>
          </a:solidFill>
          <a:ln/>
        </p:spPr>
      </p:sp>
      <p:sp>
        <p:nvSpPr>
          <p:cNvPr id="13" name="Text 10"/>
          <p:cNvSpPr txBox="1"/>
          <p:nvPr/>
        </p:nvSpPr>
        <p:spPr>
          <a:xfrm>
            <a:off x="321264" y="4003243"/>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23095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893244" y="4295851"/>
            <a:ext cx="252875" cy="0"/>
          </a:xfrm>
          <a:prstGeom prst="line">
            <a:avLst/>
          </a:prstGeom>
          <a:noFill/>
          <a:ln w="6350">
            <a:solidFill>
              <a:srgbClr val="CCCCCC"/>
            </a:solidFill>
            <a:prstDash val="dash"/>
          </a:ln>
        </p:spPr>
      </p:sp>
      <p:sp>
        <p:nvSpPr>
          <p:cNvPr id="16" name="Shape 13"/>
          <p:cNvSpPr/>
          <p:nvPr/>
        </p:nvSpPr>
        <p:spPr>
          <a:xfrm>
            <a:off x="1146119" y="3218688"/>
            <a:ext cx="571980" cy="1077163"/>
          </a:xfrm>
          <a:prstGeom prst="rect">
            <a:avLst/>
          </a:prstGeom>
          <a:solidFill>
            <a:srgbClr val="000F78"/>
          </a:solidFill>
          <a:ln/>
        </p:spPr>
      </p:sp>
      <p:sp>
        <p:nvSpPr>
          <p:cNvPr id="17" name="Text 14"/>
          <p:cNvSpPr txBox="1"/>
          <p:nvPr/>
        </p:nvSpPr>
        <p:spPr>
          <a:xfrm>
            <a:off x="1146119" y="2926080"/>
            <a:ext cx="8686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05580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1718099" y="3218688"/>
            <a:ext cx="252875" cy="0"/>
          </a:xfrm>
          <a:prstGeom prst="line">
            <a:avLst/>
          </a:prstGeom>
          <a:noFill/>
          <a:ln w="6350">
            <a:solidFill>
              <a:srgbClr val="CCCCCC"/>
            </a:solidFill>
            <a:prstDash val="dash"/>
          </a:ln>
        </p:spPr>
      </p:sp>
      <p:sp>
        <p:nvSpPr>
          <p:cNvPr id="20" name="Shape 17"/>
          <p:cNvSpPr/>
          <p:nvPr/>
        </p:nvSpPr>
        <p:spPr>
          <a:xfrm>
            <a:off x="1970974" y="2765146"/>
            <a:ext cx="571980" cy="453542"/>
          </a:xfrm>
          <a:prstGeom prst="rect">
            <a:avLst/>
          </a:prstGeom>
          <a:solidFill>
            <a:srgbClr val="CCCCCC"/>
          </a:solidFill>
          <a:ln/>
        </p:spPr>
      </p:sp>
      <p:sp>
        <p:nvSpPr>
          <p:cNvPr id="21" name="Text 18"/>
          <p:cNvSpPr txBox="1"/>
          <p:nvPr/>
        </p:nvSpPr>
        <p:spPr>
          <a:xfrm>
            <a:off x="1970974" y="247253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188066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2542954" y="2765146"/>
            <a:ext cx="252875" cy="0"/>
          </a:xfrm>
          <a:prstGeom prst="line">
            <a:avLst/>
          </a:prstGeom>
          <a:noFill/>
          <a:ln w="6350">
            <a:solidFill>
              <a:srgbClr val="CCCCCC"/>
            </a:solidFill>
            <a:prstDash val="dash"/>
          </a:ln>
        </p:spPr>
      </p:sp>
      <p:sp>
        <p:nvSpPr>
          <p:cNvPr id="24" name="Shape 21"/>
          <p:cNvSpPr/>
          <p:nvPr/>
        </p:nvSpPr>
        <p:spPr>
          <a:xfrm>
            <a:off x="2795829" y="2481682"/>
            <a:ext cx="571980" cy="283464"/>
          </a:xfrm>
          <a:prstGeom prst="rect">
            <a:avLst/>
          </a:prstGeom>
          <a:solidFill>
            <a:srgbClr val="CCCCCC"/>
          </a:solidFill>
          <a:ln/>
        </p:spPr>
      </p:sp>
      <p:sp>
        <p:nvSpPr>
          <p:cNvPr id="25" name="Text 22"/>
          <p:cNvSpPr txBox="1"/>
          <p:nvPr/>
        </p:nvSpPr>
        <p:spPr>
          <a:xfrm>
            <a:off x="2795829" y="2189074"/>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270551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3367809" y="2481682"/>
            <a:ext cx="252875" cy="0"/>
          </a:xfrm>
          <a:prstGeom prst="line">
            <a:avLst/>
          </a:prstGeom>
          <a:noFill/>
          <a:ln w="6350">
            <a:solidFill>
              <a:srgbClr val="CCCCCC"/>
            </a:solidFill>
            <a:prstDash val="dash"/>
          </a:ln>
        </p:spPr>
      </p:sp>
      <p:sp>
        <p:nvSpPr>
          <p:cNvPr id="28" name="Shape 25"/>
          <p:cNvSpPr/>
          <p:nvPr/>
        </p:nvSpPr>
        <p:spPr>
          <a:xfrm>
            <a:off x="3620684" y="2368296"/>
            <a:ext cx="571980" cy="113386"/>
          </a:xfrm>
          <a:prstGeom prst="rect">
            <a:avLst/>
          </a:prstGeom>
          <a:solidFill>
            <a:srgbClr val="CCCCCC"/>
          </a:solidFill>
          <a:ln/>
        </p:spPr>
      </p:sp>
      <p:sp>
        <p:nvSpPr>
          <p:cNvPr id="29" name="Text 26"/>
          <p:cNvSpPr txBox="1"/>
          <p:nvPr/>
        </p:nvSpPr>
        <p:spPr>
          <a:xfrm>
            <a:off x="3620684"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353037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4192664" y="2368296"/>
            <a:ext cx="252875" cy="0"/>
          </a:xfrm>
          <a:prstGeom prst="line">
            <a:avLst/>
          </a:prstGeom>
          <a:noFill/>
          <a:ln w="6350">
            <a:solidFill>
              <a:srgbClr val="CCCCCC"/>
            </a:solidFill>
            <a:prstDash val="dash"/>
          </a:ln>
        </p:spPr>
      </p:sp>
      <p:sp>
        <p:nvSpPr>
          <p:cNvPr id="32" name="Shape 29"/>
          <p:cNvSpPr/>
          <p:nvPr/>
        </p:nvSpPr>
        <p:spPr>
          <a:xfrm>
            <a:off x="4445539" y="2368296"/>
            <a:ext cx="571980" cy="170078"/>
          </a:xfrm>
          <a:prstGeom prst="rect">
            <a:avLst/>
          </a:prstGeom>
          <a:solidFill>
            <a:srgbClr val="CCCCCC"/>
          </a:solidFill>
          <a:ln/>
        </p:spPr>
      </p:sp>
      <p:sp>
        <p:nvSpPr>
          <p:cNvPr id="33" name="Text 30"/>
          <p:cNvSpPr txBox="1"/>
          <p:nvPr/>
        </p:nvSpPr>
        <p:spPr>
          <a:xfrm>
            <a:off x="4445539" y="2075688"/>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4355227"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017519" y="2538374"/>
            <a:ext cx="252875" cy="0"/>
          </a:xfrm>
          <a:prstGeom prst="line">
            <a:avLst/>
          </a:prstGeom>
          <a:noFill/>
          <a:ln w="6350">
            <a:solidFill>
              <a:srgbClr val="CCCCCC"/>
            </a:solidFill>
            <a:prstDash val="dash"/>
          </a:ln>
        </p:spPr>
      </p:sp>
      <p:sp>
        <p:nvSpPr>
          <p:cNvPr id="36" name="Shape 33"/>
          <p:cNvSpPr/>
          <p:nvPr/>
        </p:nvSpPr>
        <p:spPr>
          <a:xfrm>
            <a:off x="5270394" y="2538374"/>
            <a:ext cx="571980" cy="2948026"/>
          </a:xfrm>
          <a:prstGeom prst="rect">
            <a:avLst/>
          </a:prstGeom>
          <a:solidFill>
            <a:srgbClr val="7F7F7F"/>
          </a:solidFill>
          <a:ln/>
        </p:spPr>
      </p:sp>
      <p:sp>
        <p:nvSpPr>
          <p:cNvPr id="37" name="Text 34"/>
          <p:cNvSpPr txBox="1"/>
          <p:nvPr/>
        </p:nvSpPr>
        <p:spPr>
          <a:xfrm>
            <a:off x="5270394" y="2245766"/>
            <a:ext cx="868680" cy="256032"/>
          </a:xfrm>
          <a:prstGeom prst="rect">
            <a:avLst/>
          </a:prstGeom>
          <a:noFill/>
          <a:ln/>
        </p:spPr>
        <p:txBody>
          <a:bodyPr wrap="square" lIns="0" tIns="0" rIns="0" bIns="0" rtlCol="0" anchor="t"/>
          <a:lstStyle/>
          <a:p>
            <a:pPr algn="ctr" indent="0" marL="0">
              <a:buNone/>
            </a:pPr>
            <a:r>
              <a:rPr lang="en-US" sz="1400" dirty="0">
                <a:solidFill>
                  <a:srgbClr val="3F3F3F"/>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5180082" y="5559552"/>
            <a:ext cx="752605"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3F3F3F"/>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00848" y="5486400"/>
            <a:ext cx="6257880" cy="0"/>
          </a:xfrm>
          <a:prstGeom prst="line">
            <a:avLst/>
          </a:prstGeom>
          <a:noFill/>
          <a:ln w="9525">
            <a:solidFill>
              <a:srgbClr val="CCCCCC"/>
            </a:solidFill>
            <a:prstDash val="solid"/>
          </a:ln>
        </p:spPr>
      </p:sp>
      <p:sp>
        <p:nvSpPr>
          <p:cNvPr id="40" name="Shape 37"/>
          <p:cNvSpPr/>
          <p:nvPr/>
        </p:nvSpPr>
        <p:spPr>
          <a:xfrm>
            <a:off x="6687328" y="1874520"/>
            <a:ext cx="3017520" cy="4251960"/>
          </a:xfrm>
          <a:prstGeom prst="rect">
            <a:avLst/>
          </a:prstGeom>
          <a:solidFill>
            <a:srgbClr val="E0EEF8"/>
          </a:solidFill>
          <a:ln/>
        </p:spPr>
      </p:sp>
      <p:sp>
        <p:nvSpPr>
          <p:cNvPr id="41" name="Text 38"/>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増加3.1億円の6割は運賃収入の減少</a:t>
            </a:r>
            <a:endParaRPr lang="en-US" sz="1400" dirty="0"/>
          </a:p>
        </p:txBody>
      </p:sp>
      <p:sp>
        <p:nvSpPr>
          <p:cNvPr id="42" name="Text 39"/>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運賃収入の減少で1.9億円。輸送人員の減少（−52万人）がそのまま効いている。乗る人が減れば、赤字は今後も広がり続ける。定期外の利用の減少が、とくに大きい</a:t>
            </a:r>
            <a:endParaRPr lang="en-US" sz="1200" dirty="0"/>
          </a:p>
        </p:txBody>
      </p:sp>
      <p:sp>
        <p:nvSpPr>
          <p:cNvPr id="43" name="Shape 40"/>
          <p:cNvSpPr/>
          <p:nvPr/>
        </p:nvSpPr>
        <p:spPr>
          <a:xfrm>
            <a:off x="6870208" y="3936492"/>
            <a:ext cx="2651760" cy="0"/>
          </a:xfrm>
          <a:prstGeom prst="line">
            <a:avLst/>
          </a:prstGeom>
          <a:noFill/>
          <a:ln w="9525">
            <a:solidFill>
              <a:srgbClr val="CCCCCC"/>
            </a:solidFill>
            <a:prstDash val="solid"/>
          </a:ln>
        </p:spPr>
      </p:sp>
      <p:sp>
        <p:nvSpPr>
          <p:cNvPr id="44" name="Text 41"/>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修繕費と動力費で1.3億円増えた</a:t>
            </a:r>
            <a:endParaRPr lang="en-US" sz="1400" dirty="0"/>
          </a:p>
        </p:txBody>
      </p:sp>
      <p:sp>
        <p:nvSpPr>
          <p:cNvPr id="45" name="Text 42"/>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施設の老朽化で修繕費が0.8億円、電気料金の上昇で動力費が0.5億円増えた。費用の増加は外部要因によるもので、会社の努力では抑えにくい。2つの費目は、今後10年も増え続ける見込みである</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注）1人当たり営業費用＝営業費用÷輸送人員。平均は営業距離20〜40kmの10社</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出所）国土交通省「鉄道統計年報」（2024年度）を基に作成（架空の完成例）</a:t>
            </a:r>
            <a:endParaRPr lang="en-US" sz="900" dirty="0"/>
          </a:p>
        </p:txBody>
      </p:sp>
      <p:sp>
        <p:nvSpPr>
          <p:cNvPr id="8" name="Text 6"/>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123</a:t>
            </a:r>
            <a:endParaRPr lang="en-US" sz="900" dirty="0"/>
          </a:p>
        </p:txBody>
      </p:sp>
      <p:sp>
        <p:nvSpPr>
          <p:cNvPr id="10" name="Text 7"/>
          <p:cNvSpPr txBox="1"/>
          <p:nvPr/>
        </p:nvSpPr>
        <p:spPr>
          <a:xfrm>
            <a:off x="200848" y="1530720"/>
            <a:ext cx="420336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00848" y="1878192"/>
            <a:ext cx="2767690" cy="0"/>
          </a:xfrm>
          <a:prstGeom prst="line">
            <a:avLst/>
          </a:prstGeom>
          <a:noFill/>
          <a:ln w="15875">
            <a:solidFill>
              <a:srgbClr val="3F3F3F"/>
            </a:solidFill>
            <a:prstDash val="solid"/>
          </a:ln>
        </p:spPr>
      </p:sp>
      <p:sp>
        <p:nvSpPr>
          <p:cNvPr id="12" name="Text 9"/>
          <p:cNvSpPr txBox="1"/>
          <p:nvPr/>
        </p:nvSpPr>
        <p:spPr>
          <a:xfrm>
            <a:off x="200848" y="1965960"/>
            <a:ext cx="2767690"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13" name="Text 10"/>
          <p:cNvSpPr txBox="1"/>
          <p:nvPr/>
        </p:nvSpPr>
        <p:spPr>
          <a:xfrm>
            <a:off x="200848" y="3337560"/>
            <a:ext cx="420336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14" name="Shape 11"/>
          <p:cNvSpPr/>
          <p:nvPr/>
        </p:nvSpPr>
        <p:spPr>
          <a:xfrm>
            <a:off x="200848" y="3675888"/>
            <a:ext cx="2767690" cy="0"/>
          </a:xfrm>
          <a:prstGeom prst="line">
            <a:avLst/>
          </a:prstGeom>
          <a:noFill/>
          <a:ln w="9525">
            <a:solidFill>
              <a:srgbClr val="CCCCCC"/>
            </a:solidFill>
            <a:prstDash val="solid"/>
          </a:ln>
        </p:spPr>
      </p:sp>
      <p:sp>
        <p:nvSpPr>
          <p:cNvPr id="15" name="Text 12"/>
          <p:cNvSpPr txBox="1"/>
          <p:nvPr/>
        </p:nvSpPr>
        <p:spPr>
          <a:xfrm>
            <a:off x="200848" y="37673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16" name="Text 13"/>
          <p:cNvSpPr txBox="1"/>
          <p:nvPr/>
        </p:nvSpPr>
        <p:spPr>
          <a:xfrm>
            <a:off x="2306245" y="3767328"/>
            <a:ext cx="1005840"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437 円</a:t>
            </a:r>
            <a:endParaRPr lang="en-US" sz="1400" dirty="0"/>
          </a:p>
        </p:txBody>
      </p:sp>
      <p:sp>
        <p:nvSpPr>
          <p:cNvPr id="17" name="Text 14"/>
          <p:cNvSpPr txBox="1"/>
          <p:nvPr/>
        </p:nvSpPr>
        <p:spPr>
          <a:xfrm>
            <a:off x="200848" y="42245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18" name="Text 15"/>
          <p:cNvSpPr txBox="1"/>
          <p:nvPr/>
        </p:nvSpPr>
        <p:spPr>
          <a:xfrm>
            <a:off x="2306245" y="4224528"/>
            <a:ext cx="1005840" cy="384048"/>
          </a:xfrm>
          <a:prstGeom prst="rect">
            <a:avLst/>
          </a:prstGeom>
          <a:noFill/>
          <a:ln/>
        </p:spPr>
        <p:txBody>
          <a:bodyPr wrap="square" lIns="0" tIns="0" rIns="0" bIns="0" rtlCol="0" anchor="ctr"/>
          <a:lstStyle/>
          <a:p>
            <a:pPr algn="r" indent="0" marL="0">
              <a:buNone/>
            </a:pPr>
            <a:r>
              <a:rPr lang="en-US" sz="1400" b="1" dirty="0">
                <a:solidFill>
                  <a:srgbClr val="3F3F3F"/>
                </a:solidFill>
                <a:latin typeface="Arial" pitchFamily="34" charset="0"/>
                <a:ea typeface="Arial" pitchFamily="34" charset="-122"/>
                <a:cs typeface="Arial" pitchFamily="34" charset="-120"/>
              </a:rPr>
              <a:t>203 円</a:t>
            </a:r>
            <a:endParaRPr lang="en-US" sz="1400" dirty="0"/>
          </a:p>
        </p:txBody>
      </p:sp>
      <p:sp>
        <p:nvSpPr>
          <p:cNvPr id="19" name="Text 16"/>
          <p:cNvSpPr txBox="1"/>
          <p:nvPr/>
        </p:nvSpPr>
        <p:spPr>
          <a:xfrm>
            <a:off x="200848" y="4681728"/>
            <a:ext cx="319752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20" name="Text 17"/>
          <p:cNvSpPr txBox="1"/>
          <p:nvPr/>
        </p:nvSpPr>
        <p:spPr>
          <a:xfrm>
            <a:off x="2306245" y="4681728"/>
            <a:ext cx="1005840"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297 円</a:t>
            </a:r>
            <a:endParaRPr lang="en-US" sz="1400" dirty="0"/>
          </a:p>
        </p:txBody>
      </p:sp>
      <p:sp>
        <p:nvSpPr>
          <p:cNvPr id="21" name="Text 18"/>
          <p:cNvSpPr txBox="1"/>
          <p:nvPr/>
        </p:nvSpPr>
        <p:spPr>
          <a:xfrm>
            <a:off x="3691038" y="1530720"/>
            <a:ext cx="2767690" cy="292608"/>
          </a:xfrm>
          <a:prstGeom prst="rect">
            <a:avLst/>
          </a:prstGeom>
          <a:noFill/>
          <a:ln/>
        </p:spPr>
        <p:txBody>
          <a:bodyPr wrap="square" lIns="0" tIns="0" rIns="0" bIns="0" rtlCol="0" anchor="b"/>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同規模10社の平均</a:t>
            </a:r>
            <a:endParaRPr lang="en-US" sz="1400" dirty="0"/>
          </a:p>
        </p:txBody>
      </p:sp>
      <p:sp>
        <p:nvSpPr>
          <p:cNvPr id="22" name="Shape 19"/>
          <p:cNvSpPr/>
          <p:nvPr/>
        </p:nvSpPr>
        <p:spPr>
          <a:xfrm>
            <a:off x="3691038" y="1878192"/>
            <a:ext cx="2767690" cy="0"/>
          </a:xfrm>
          <a:prstGeom prst="line">
            <a:avLst/>
          </a:prstGeom>
          <a:noFill/>
          <a:ln w="12700">
            <a:solidFill>
              <a:srgbClr val="7F7F7F"/>
            </a:solidFill>
            <a:prstDash val="solid"/>
          </a:ln>
        </p:spPr>
      </p:sp>
      <p:sp>
        <p:nvSpPr>
          <p:cNvPr id="23" name="Text 20"/>
          <p:cNvSpPr txBox="1"/>
          <p:nvPr/>
        </p:nvSpPr>
        <p:spPr>
          <a:xfrm>
            <a:off x="3691038" y="1965960"/>
            <a:ext cx="2767690"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pPr algn="ctr" indent="0" marL="0">
              <a:buNone/>
            </a:pPr>
            <a:r>
              <a:rPr lang="en-US" sz="1600" dirty="0">
                <a:solidFill>
                  <a:srgbClr val="3F3F3F"/>
                </a:solidFill>
                <a:latin typeface="Arial" pitchFamily="34" charset="0"/>
                <a:ea typeface="Arial" pitchFamily="34" charset="-122"/>
                <a:cs typeface="Arial" pitchFamily="34" charset="-120"/>
              </a:rPr>
              <a:t>  円／人</a:t>
            </a:r>
            <a:endParaRPr lang="en-US" sz="1400" dirty="0"/>
          </a:p>
        </p:txBody>
      </p:sp>
      <p:sp>
        <p:nvSpPr>
          <p:cNvPr id="24" name="Text 21"/>
          <p:cNvSpPr txBox="1"/>
          <p:nvPr/>
        </p:nvSpPr>
        <p:spPr>
          <a:xfrm>
            <a:off x="3691038" y="3337560"/>
            <a:ext cx="276769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内訳</a:t>
            </a:r>
            <a:endParaRPr lang="en-US" sz="1400" dirty="0"/>
          </a:p>
        </p:txBody>
      </p:sp>
      <p:sp>
        <p:nvSpPr>
          <p:cNvPr id="25" name="Shape 22"/>
          <p:cNvSpPr/>
          <p:nvPr/>
        </p:nvSpPr>
        <p:spPr>
          <a:xfrm>
            <a:off x="3691038" y="3675888"/>
            <a:ext cx="2767690" cy="0"/>
          </a:xfrm>
          <a:prstGeom prst="line">
            <a:avLst/>
          </a:prstGeom>
          <a:noFill/>
          <a:ln w="9525">
            <a:solidFill>
              <a:srgbClr val="CCCCCC"/>
            </a:solidFill>
            <a:prstDash val="solid"/>
          </a:ln>
        </p:spPr>
      </p:sp>
      <p:sp>
        <p:nvSpPr>
          <p:cNvPr id="26" name="Text 23"/>
          <p:cNvSpPr txBox="1"/>
          <p:nvPr/>
        </p:nvSpPr>
        <p:spPr>
          <a:xfrm>
            <a:off x="3691038" y="37673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7" name="Text 24"/>
          <p:cNvSpPr txBox="1"/>
          <p:nvPr/>
        </p:nvSpPr>
        <p:spPr>
          <a:xfrm>
            <a:off x="5796435" y="37673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330 円</a:t>
            </a:r>
            <a:endParaRPr lang="en-US" sz="1400" dirty="0"/>
          </a:p>
        </p:txBody>
      </p:sp>
      <p:sp>
        <p:nvSpPr>
          <p:cNvPr id="28" name="Text 25"/>
          <p:cNvSpPr txBox="1"/>
          <p:nvPr/>
        </p:nvSpPr>
        <p:spPr>
          <a:xfrm>
            <a:off x="3691038" y="42245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9" name="Text 26"/>
          <p:cNvSpPr txBox="1"/>
          <p:nvPr/>
        </p:nvSpPr>
        <p:spPr>
          <a:xfrm>
            <a:off x="5796435" y="42245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120 円</a:t>
            </a:r>
            <a:endParaRPr lang="en-US" sz="1400" dirty="0"/>
          </a:p>
        </p:txBody>
      </p:sp>
      <p:sp>
        <p:nvSpPr>
          <p:cNvPr id="30" name="Text 27"/>
          <p:cNvSpPr txBox="1"/>
          <p:nvPr/>
        </p:nvSpPr>
        <p:spPr>
          <a:xfrm>
            <a:off x="3691038" y="4681728"/>
            <a:ext cx="2767690" cy="384048"/>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その他（減価償却・動力ほか）</a:t>
            </a:r>
            <a:endParaRPr lang="en-US" sz="1400" dirty="0"/>
          </a:p>
        </p:txBody>
      </p:sp>
      <p:sp>
        <p:nvSpPr>
          <p:cNvPr id="31" name="Text 28"/>
          <p:cNvSpPr txBox="1"/>
          <p:nvPr/>
        </p:nvSpPr>
        <p:spPr>
          <a:xfrm>
            <a:off x="5796435" y="4681728"/>
            <a:ext cx="662292" cy="384048"/>
          </a:xfrm>
          <a:prstGeom prst="rect">
            <a:avLst/>
          </a:prstGeom>
          <a:noFill/>
          <a:ln/>
        </p:spPr>
        <p:txBody>
          <a:bodyPr wrap="square" lIns="0" tIns="0" rIns="0" bIns="0" rtlCol="0" anchor="ctr"/>
          <a:lstStyle/>
          <a:p>
            <a:pPr algn="r" indent="0" marL="0">
              <a:buNone/>
            </a:pPr>
            <a:r>
              <a:rPr lang="en-US" sz="1400" dirty="0">
                <a:solidFill>
                  <a:srgbClr val="3F3F3F"/>
                </a:solidFill>
                <a:latin typeface="Arial" pitchFamily="34" charset="0"/>
                <a:ea typeface="Arial" pitchFamily="34" charset="-122"/>
                <a:cs typeface="Arial" pitchFamily="34" charset="-120"/>
              </a:rPr>
              <a:t>170 円</a:t>
            </a:r>
            <a:endParaRPr lang="en-US" sz="1400" dirty="0"/>
          </a:p>
        </p:txBody>
      </p:sp>
      <p:sp>
        <p:nvSpPr>
          <p:cNvPr id="32" name="Text 29"/>
          <p:cNvSpPr txBox="1"/>
          <p:nvPr/>
        </p:nvSpPr>
        <p:spPr>
          <a:xfrm>
            <a:off x="2968537" y="2240280"/>
            <a:ext cx="722501" cy="548640"/>
          </a:xfrm>
          <a:prstGeom prst="rect">
            <a:avLst/>
          </a:prstGeom>
          <a:noFill/>
          <a:ln/>
        </p:spPr>
        <p:txBody>
          <a:bodyPr wrap="square" lIns="0" tIns="0" rIns="0" bIns="0" rtlCol="0" anchor="ctr"/>
          <a:lstStyle/>
          <a:p>
            <a:pPr algn="ctr" indent="0" marL="0">
              <a:buNone/>
            </a:pPr>
            <a:r>
              <a:rPr lang="en-US" sz="2200" b="1" dirty="0">
                <a:solidFill>
                  <a:srgbClr val="000F78"/>
                </a:solidFill>
                <a:latin typeface="Arial" pitchFamily="34" charset="0"/>
                <a:ea typeface="Arial" pitchFamily="34" charset="-122"/>
                <a:cs typeface="Arial" pitchFamily="34" charset="-120"/>
              </a:rPr>
              <a:t>×1.5</a:t>
            </a:r>
            <a:endParaRPr lang="en-US" sz="2200" dirty="0"/>
          </a:p>
        </p:txBody>
      </p:sp>
      <p:sp>
        <p:nvSpPr>
          <p:cNvPr id="33" name="Shape 30"/>
          <p:cNvSpPr/>
          <p:nvPr/>
        </p:nvSpPr>
        <p:spPr>
          <a:xfrm>
            <a:off x="200848" y="5257800"/>
            <a:ext cx="6257880" cy="0"/>
          </a:xfrm>
          <a:prstGeom prst="line">
            <a:avLst/>
          </a:prstGeom>
          <a:noFill/>
          <a:ln w="9525">
            <a:solidFill>
              <a:srgbClr val="CCCCCC"/>
            </a:solidFill>
            <a:prstDash val="solid"/>
          </a:ln>
        </p:spPr>
      </p:sp>
      <p:sp>
        <p:nvSpPr>
          <p:cNvPr id="34" name="Text 31"/>
          <p:cNvSpPr txBox="1"/>
          <p:nvPr/>
        </p:nvSpPr>
        <p:spPr>
          <a:xfrm>
            <a:off x="200848" y="5349240"/>
            <a:ext cx="625788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差317円の6割は人件費と修繕費（＋107円、＋83円）による</a:t>
            </a:r>
            <a:endParaRPr lang="en-US" sz="1400" dirty="0"/>
          </a:p>
        </p:txBody>
      </p:sp>
      <p:sp>
        <p:nvSpPr>
          <p:cNvPr id="35" name="Text 32"/>
          <p:cNvSpPr txBox="1"/>
          <p:nvPr/>
        </p:nvSpPr>
        <p:spPr>
          <a:xfrm>
            <a:off x="200848" y="5760720"/>
            <a:ext cx="625788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
        <p:nvSpPr>
          <p:cNvPr id="36" name="Shape 33"/>
          <p:cNvSpPr/>
          <p:nvPr/>
        </p:nvSpPr>
        <p:spPr>
          <a:xfrm>
            <a:off x="6687328" y="1874520"/>
            <a:ext cx="3017520" cy="4251960"/>
          </a:xfrm>
          <a:prstGeom prst="rect">
            <a:avLst/>
          </a:prstGeom>
          <a:solidFill>
            <a:srgbClr val="E0EEF8"/>
          </a:solidFill>
          <a:ln/>
        </p:spPr>
      </p:sp>
      <p:sp>
        <p:nvSpPr>
          <p:cNvPr id="37" name="Text 34"/>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1人当たり営業費用は平均の1.5倍</a:t>
            </a:r>
            <a:endParaRPr lang="en-US" sz="1400" dirty="0"/>
          </a:p>
        </p:txBody>
      </p:sp>
      <p:sp>
        <p:nvSpPr>
          <p:cNvPr id="38" name="Text 35"/>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みなと鉄道937円、同規模10社の平均620円で、差は317円。差は10年前の2倍に広がっている。規模の小ささでは、差の半分も説明できない</a:t>
            </a:r>
            <a:endParaRPr lang="en-US" sz="1200" dirty="0"/>
          </a:p>
        </p:txBody>
      </p:sp>
      <p:sp>
        <p:nvSpPr>
          <p:cNvPr id="39" name="Shape 36"/>
          <p:cNvSpPr/>
          <p:nvPr/>
        </p:nvSpPr>
        <p:spPr>
          <a:xfrm>
            <a:off x="6870208" y="3936492"/>
            <a:ext cx="2651760" cy="0"/>
          </a:xfrm>
          <a:prstGeom prst="line">
            <a:avLst/>
          </a:prstGeom>
          <a:noFill/>
          <a:ln w="9525">
            <a:solidFill>
              <a:srgbClr val="CCCCCC"/>
            </a:solidFill>
            <a:prstDash val="solid"/>
          </a:ln>
        </p:spPr>
      </p:sp>
      <p:sp>
        <p:nvSpPr>
          <p:cNvPr id="40" name="Text 37"/>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差の6割は人件費と修繕費</a:t>
            </a:r>
            <a:endParaRPr lang="en-US" sz="1400" dirty="0"/>
          </a:p>
        </p:txBody>
      </p:sp>
      <p:sp>
        <p:nvSpPr>
          <p:cNvPr id="41" name="Text 38"/>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人件費が107円、修繕費が83円高い。利用の少なさに対して施設が大きい。施設の維持を会社だけで担う形には、無理がある。施設を公的に持てば、差の大半は解消する</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3F3F3F"/>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注）平均運賃＝運賃収入÷輸送人員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124</a:t>
            </a:r>
            <a:endParaRPr lang="en-US" sz="900" dirty="0"/>
          </a:p>
        </p:txBody>
      </p:sp>
      <p:sp>
        <p:nvSpPr>
          <p:cNvPr id="12" name="Shape 9"/>
          <p:cNvSpPr/>
          <p:nvPr/>
        </p:nvSpPr>
        <p:spPr>
          <a:xfrm>
            <a:off x="200848"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29228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29228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193820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349688"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44112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44112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087048" y="20116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498528"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589968" y="2103120"/>
            <a:ext cx="15544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589968" y="2423160"/>
            <a:ext cx="15544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218368" y="2926080"/>
            <a:ext cx="0" cy="411480"/>
          </a:xfrm>
          <a:prstGeom prst="line">
            <a:avLst/>
          </a:prstGeom>
          <a:noFill/>
          <a:ln w="9525">
            <a:solidFill>
              <a:srgbClr val="CCCCCC"/>
            </a:solidFill>
            <a:prstDash val="solid"/>
          </a:ln>
        </p:spPr>
      </p:sp>
      <p:sp>
        <p:nvSpPr>
          <p:cNvPr id="24" name="Shape 21"/>
          <p:cNvSpPr/>
          <p:nvPr/>
        </p:nvSpPr>
        <p:spPr>
          <a:xfrm>
            <a:off x="1115248" y="3337560"/>
            <a:ext cx="3291840" cy="0"/>
          </a:xfrm>
          <a:prstGeom prst="line">
            <a:avLst/>
          </a:prstGeom>
          <a:noFill/>
          <a:ln w="9525">
            <a:solidFill>
              <a:srgbClr val="CCCCCC"/>
            </a:solidFill>
            <a:prstDash val="solid"/>
          </a:ln>
        </p:spPr>
      </p:sp>
      <p:sp>
        <p:nvSpPr>
          <p:cNvPr id="25" name="Shape 22"/>
          <p:cNvSpPr/>
          <p:nvPr/>
        </p:nvSpPr>
        <p:spPr>
          <a:xfrm>
            <a:off x="200848"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292288"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292288"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6181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029648"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121088" y="3703320"/>
            <a:ext cx="123444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121088" y="4023360"/>
            <a:ext cx="123444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446968" y="3611880"/>
            <a:ext cx="411480" cy="914400"/>
          </a:xfrm>
          <a:prstGeom prst="rect">
            <a:avLst/>
          </a:prstGeom>
          <a:noFill/>
          <a:ln/>
        </p:spPr>
        <p:txBody>
          <a:bodyPr wrap="square" lIns="0" tIns="0" rIns="0" bIns="0" rtlCol="0" anchor="ctr"/>
          <a:lstStyle/>
          <a:p>
            <a:pPr algn="ctr" indent="0" marL="0">
              <a:buNone/>
            </a:pPr>
            <a:r>
              <a:rPr lang="en-US" sz="2000" b="1" dirty="0">
                <a:solidFill>
                  <a:srgbClr val="3F3F3F"/>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858448"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3949888" y="3703320"/>
            <a:ext cx="109728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3949888" y="4023360"/>
            <a:ext cx="1097280" cy="411480"/>
          </a:xfrm>
          <a:prstGeom prst="rect">
            <a:avLst/>
          </a:prstGeom>
          <a:noFill/>
          <a:ln/>
        </p:spPr>
        <p:txBody>
          <a:bodyPr wrap="square" lIns="0" tIns="0" rIns="0" bIns="0" rtlCol="0" anchor="t"/>
          <a:lstStyle/>
          <a:p>
            <a:pPr algn="ctr" indent="0" marL="0">
              <a:buNone/>
            </a:pPr>
            <a:r>
              <a:rPr lang="en-US" sz="1800" b="1" dirty="0">
                <a:solidFill>
                  <a:srgbClr val="3F3F3F"/>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914080" y="3337560"/>
            <a:ext cx="0" cy="274320"/>
          </a:xfrm>
          <a:prstGeom prst="line">
            <a:avLst/>
          </a:prstGeom>
          <a:noFill/>
          <a:ln w="9525">
            <a:solidFill>
              <a:srgbClr val="CCCCCC"/>
            </a:solidFill>
            <a:prstDash val="solid"/>
          </a:ln>
        </p:spPr>
      </p:sp>
      <p:sp>
        <p:nvSpPr>
          <p:cNvPr id="37" name="Shape 34"/>
          <p:cNvSpPr/>
          <p:nvPr/>
        </p:nvSpPr>
        <p:spPr>
          <a:xfrm>
            <a:off x="2742880" y="3337560"/>
            <a:ext cx="0" cy="274320"/>
          </a:xfrm>
          <a:prstGeom prst="line">
            <a:avLst/>
          </a:prstGeom>
          <a:noFill/>
          <a:ln w="9525">
            <a:solidFill>
              <a:srgbClr val="CCCCCC"/>
            </a:solidFill>
            <a:prstDash val="solid"/>
          </a:ln>
        </p:spPr>
      </p:sp>
      <p:sp>
        <p:nvSpPr>
          <p:cNvPr id="38" name="Shape 35"/>
          <p:cNvSpPr/>
          <p:nvPr/>
        </p:nvSpPr>
        <p:spPr>
          <a:xfrm>
            <a:off x="4498528" y="3337560"/>
            <a:ext cx="0" cy="274320"/>
          </a:xfrm>
          <a:prstGeom prst="line">
            <a:avLst/>
          </a:prstGeom>
          <a:noFill/>
          <a:ln w="9525">
            <a:solidFill>
              <a:srgbClr val="CCCCCC"/>
            </a:solidFill>
            <a:prstDash val="solid"/>
          </a:ln>
        </p:spPr>
      </p:sp>
      <p:sp>
        <p:nvSpPr>
          <p:cNvPr id="39" name="Shape 36"/>
          <p:cNvSpPr/>
          <p:nvPr/>
        </p:nvSpPr>
        <p:spPr>
          <a:xfrm>
            <a:off x="5367208" y="2926080"/>
            <a:ext cx="0" cy="411480"/>
          </a:xfrm>
          <a:prstGeom prst="line">
            <a:avLst/>
          </a:prstGeom>
          <a:noFill/>
          <a:ln w="9525">
            <a:solidFill>
              <a:srgbClr val="CCCCCC"/>
            </a:solidFill>
            <a:prstDash val="solid"/>
          </a:ln>
        </p:spPr>
      </p:sp>
      <p:sp>
        <p:nvSpPr>
          <p:cNvPr id="40" name="Text 37"/>
          <p:cNvSpPr txBox="1"/>
          <p:nvPr/>
        </p:nvSpPr>
        <p:spPr>
          <a:xfrm>
            <a:off x="5595808" y="3429000"/>
            <a:ext cx="4109040" cy="27432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595808" y="3749040"/>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424688" y="3749040"/>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595808" y="4078224"/>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424688" y="4078224"/>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595808" y="4407408"/>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424688" y="4407408"/>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595808" y="4736592"/>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424688" y="4736592"/>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595808" y="5065776"/>
            <a:ext cx="2011680" cy="292608"/>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424688" y="5065776"/>
            <a:ext cx="1280160" cy="292608"/>
          </a:xfrm>
          <a:prstGeom prst="rect">
            <a:avLst/>
          </a:prstGeom>
          <a:noFill/>
          <a:ln/>
        </p:spPr>
        <p:txBody>
          <a:bodyPr wrap="square" lIns="0" tIns="0" rIns="0" bIns="0" rtlCol="0" anchor="t"/>
          <a:lstStyle/>
          <a:p>
            <a:pPr algn="r" indent="0" marL="0">
              <a:buNone/>
            </a:pPr>
            <a:r>
              <a:rPr lang="en-US" sz="1400" dirty="0">
                <a:solidFill>
                  <a:srgbClr val="3F3F3F"/>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00848" y="5623560"/>
            <a:ext cx="594360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3F3F3F"/>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注）各前提を基本ケース（営業損失5.2億円）から±10%動かし、他は固定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出所）みなと鉄道「決算書」（2024年度）を基に試算（架空の完成例）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125</a:t>
            </a:r>
            <a:endParaRPr lang="en-US" sz="900" dirty="0"/>
          </a:p>
        </p:txBody>
      </p:sp>
      <p:sp>
        <p:nvSpPr>
          <p:cNvPr id="12" name="Text 9"/>
          <p:cNvSpPr txBox="1"/>
          <p:nvPr/>
        </p:nvSpPr>
        <p:spPr>
          <a:xfrm>
            <a:off x="2667495" y="1901952"/>
            <a:ext cx="2011680" cy="256032"/>
          </a:xfrm>
          <a:prstGeom prst="rect">
            <a:avLst/>
          </a:prstGeom>
          <a:noFill/>
          <a:ln/>
        </p:spPr>
        <p:txBody>
          <a:bodyPr wrap="square" lIns="0" tIns="0" rIns="0" bIns="0" rtlCol="0" anchor="t"/>
          <a:lstStyle/>
          <a:p>
            <a:pPr algn="r" indent="0" marL="0">
              <a:buNone/>
            </a:pPr>
            <a:r>
              <a:rPr lang="en-US" sz="1400" dirty="0">
                <a:solidFill>
                  <a:srgbClr val="3F3F3F"/>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4232913" y="1901952"/>
            <a:ext cx="2011680" cy="256032"/>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00848" y="2286000"/>
            <a:ext cx="21945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2405589" y="2350008"/>
            <a:ext cx="1706908" cy="329184"/>
          </a:xfrm>
          <a:prstGeom prst="rect">
            <a:avLst/>
          </a:prstGeom>
          <a:solidFill>
            <a:srgbClr val="000F78"/>
          </a:solidFill>
          <a:ln/>
        </p:spPr>
      </p:sp>
      <p:sp>
        <p:nvSpPr>
          <p:cNvPr id="16" name="Shape 13"/>
          <p:cNvSpPr/>
          <p:nvPr/>
        </p:nvSpPr>
        <p:spPr>
          <a:xfrm>
            <a:off x="4112497" y="2350008"/>
            <a:ext cx="1706908" cy="329184"/>
          </a:xfrm>
          <a:prstGeom prst="rect">
            <a:avLst/>
          </a:prstGeom>
          <a:solidFill>
            <a:srgbClr val="000F78"/>
          </a:solidFill>
          <a:ln/>
        </p:spPr>
      </p:sp>
      <p:sp>
        <p:nvSpPr>
          <p:cNvPr id="17" name="Text 14"/>
          <p:cNvSpPr txBox="1"/>
          <p:nvPr/>
        </p:nvSpPr>
        <p:spPr>
          <a:xfrm>
            <a:off x="1773401" y="2286000"/>
            <a:ext cx="914400" cy="457200"/>
          </a:xfrm>
          <a:prstGeom prst="rect">
            <a:avLst/>
          </a:prstGeom>
          <a:noFill/>
          <a:ln/>
        </p:spPr>
        <p:txBody>
          <a:bodyPr wrap="square" lIns="0" tIns="0" rIns="0" bIns="0" rtlCol="0" anchor="ctr"/>
          <a:lstStyle/>
          <a:p>
            <a:pPr algn="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8" name="Text 15"/>
          <p:cNvSpPr txBox="1"/>
          <p:nvPr/>
        </p:nvSpPr>
        <p:spPr>
          <a:xfrm>
            <a:off x="5849509" y="2286000"/>
            <a:ext cx="609219" cy="457200"/>
          </a:xfrm>
          <a:prstGeom prst="rect">
            <a:avLst/>
          </a:prstGeom>
          <a:noFill/>
          <a:ln/>
        </p:spPr>
        <p:txBody>
          <a:bodyPr wrap="square" lIns="0" tIns="0" rIns="0" bIns="0" rtlCol="0" anchor="ctr"/>
          <a:lstStyle/>
          <a:p>
            <a:pPr indent="0" marL="0">
              <a:buNone/>
            </a:pPr>
            <a:r>
              <a:rPr lang="en-US" sz="1200" b="1" dirty="0">
                <a:solidFill>
                  <a:srgbClr val="000F78"/>
                </a:solidFill>
                <a:latin typeface="Arial" pitchFamily="34" charset="0"/>
                <a:ea typeface="Arial" pitchFamily="34" charset="-122"/>
                <a:cs typeface="Arial" pitchFamily="34" charset="-120"/>
              </a:rPr>
              <a:t>＋0.81</a:t>
            </a:r>
            <a:endParaRPr lang="en-US" sz="1200" dirty="0"/>
          </a:p>
        </p:txBody>
      </p:sp>
      <p:sp>
        <p:nvSpPr>
          <p:cNvPr id="19" name="Text 16"/>
          <p:cNvSpPr txBox="1"/>
          <p:nvPr/>
        </p:nvSpPr>
        <p:spPr>
          <a:xfrm>
            <a:off x="200848" y="3035808"/>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2658464" y="3099816"/>
            <a:ext cx="1454033" cy="329184"/>
          </a:xfrm>
          <a:prstGeom prst="rect">
            <a:avLst/>
          </a:prstGeom>
          <a:solidFill>
            <a:srgbClr val="CCCCCC"/>
          </a:solidFill>
          <a:ln/>
        </p:spPr>
      </p:sp>
      <p:sp>
        <p:nvSpPr>
          <p:cNvPr id="21" name="Shape 18"/>
          <p:cNvSpPr/>
          <p:nvPr/>
        </p:nvSpPr>
        <p:spPr>
          <a:xfrm>
            <a:off x="4112497" y="3099816"/>
            <a:ext cx="1454033" cy="329184"/>
          </a:xfrm>
          <a:prstGeom prst="rect">
            <a:avLst/>
          </a:prstGeom>
          <a:solidFill>
            <a:srgbClr val="CCCCCC"/>
          </a:solidFill>
          <a:ln/>
        </p:spPr>
      </p:sp>
      <p:sp>
        <p:nvSpPr>
          <p:cNvPr id="22" name="Text 19"/>
          <p:cNvSpPr txBox="1"/>
          <p:nvPr/>
        </p:nvSpPr>
        <p:spPr>
          <a:xfrm>
            <a:off x="2026276" y="3035808"/>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3" name="Text 20"/>
          <p:cNvSpPr txBox="1"/>
          <p:nvPr/>
        </p:nvSpPr>
        <p:spPr>
          <a:xfrm>
            <a:off x="5596634" y="3035808"/>
            <a:ext cx="862094"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＋0.69</a:t>
            </a:r>
            <a:endParaRPr lang="en-US" sz="1200" dirty="0"/>
          </a:p>
        </p:txBody>
      </p:sp>
      <p:sp>
        <p:nvSpPr>
          <p:cNvPr id="24" name="Text 21"/>
          <p:cNvSpPr txBox="1"/>
          <p:nvPr/>
        </p:nvSpPr>
        <p:spPr>
          <a:xfrm>
            <a:off x="200848" y="3785616"/>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3438163" y="3849624"/>
            <a:ext cx="674334" cy="329184"/>
          </a:xfrm>
          <a:prstGeom prst="rect">
            <a:avLst/>
          </a:prstGeom>
          <a:solidFill>
            <a:srgbClr val="CCCCCC"/>
          </a:solidFill>
          <a:ln/>
        </p:spPr>
      </p:sp>
      <p:sp>
        <p:nvSpPr>
          <p:cNvPr id="26" name="Shape 23"/>
          <p:cNvSpPr/>
          <p:nvPr/>
        </p:nvSpPr>
        <p:spPr>
          <a:xfrm>
            <a:off x="4112497" y="3849624"/>
            <a:ext cx="674334" cy="329184"/>
          </a:xfrm>
          <a:prstGeom prst="rect">
            <a:avLst/>
          </a:prstGeom>
          <a:solidFill>
            <a:srgbClr val="CCCCCC"/>
          </a:solidFill>
          <a:ln/>
        </p:spPr>
      </p:sp>
      <p:sp>
        <p:nvSpPr>
          <p:cNvPr id="27" name="Text 24"/>
          <p:cNvSpPr txBox="1"/>
          <p:nvPr/>
        </p:nvSpPr>
        <p:spPr>
          <a:xfrm>
            <a:off x="2805975" y="3785616"/>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8" name="Text 25"/>
          <p:cNvSpPr txBox="1"/>
          <p:nvPr/>
        </p:nvSpPr>
        <p:spPr>
          <a:xfrm>
            <a:off x="4816935" y="3785616"/>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＋0.32</a:t>
            </a:r>
            <a:endParaRPr lang="en-US" sz="1200" dirty="0"/>
          </a:p>
        </p:txBody>
      </p:sp>
      <p:sp>
        <p:nvSpPr>
          <p:cNvPr id="29" name="Text 26"/>
          <p:cNvSpPr txBox="1"/>
          <p:nvPr/>
        </p:nvSpPr>
        <p:spPr>
          <a:xfrm>
            <a:off x="200848" y="4535424"/>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3669965" y="4599432"/>
            <a:ext cx="442532" cy="329184"/>
          </a:xfrm>
          <a:prstGeom prst="rect">
            <a:avLst/>
          </a:prstGeom>
          <a:solidFill>
            <a:srgbClr val="CCCCCC"/>
          </a:solidFill>
          <a:ln/>
        </p:spPr>
      </p:sp>
      <p:sp>
        <p:nvSpPr>
          <p:cNvPr id="31" name="Shape 28"/>
          <p:cNvSpPr/>
          <p:nvPr/>
        </p:nvSpPr>
        <p:spPr>
          <a:xfrm>
            <a:off x="4112497" y="4599432"/>
            <a:ext cx="442532" cy="329184"/>
          </a:xfrm>
          <a:prstGeom prst="rect">
            <a:avLst/>
          </a:prstGeom>
          <a:solidFill>
            <a:srgbClr val="CCCCCC"/>
          </a:solidFill>
          <a:ln/>
        </p:spPr>
      </p:sp>
      <p:sp>
        <p:nvSpPr>
          <p:cNvPr id="32" name="Text 29"/>
          <p:cNvSpPr txBox="1"/>
          <p:nvPr/>
        </p:nvSpPr>
        <p:spPr>
          <a:xfrm>
            <a:off x="3037777" y="4535424"/>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3" name="Text 30"/>
          <p:cNvSpPr txBox="1"/>
          <p:nvPr/>
        </p:nvSpPr>
        <p:spPr>
          <a:xfrm>
            <a:off x="4585133" y="4535424"/>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＋0.21</a:t>
            </a:r>
            <a:endParaRPr lang="en-US" sz="1200" dirty="0"/>
          </a:p>
        </p:txBody>
      </p:sp>
      <p:sp>
        <p:nvSpPr>
          <p:cNvPr id="34" name="Text 31"/>
          <p:cNvSpPr txBox="1"/>
          <p:nvPr/>
        </p:nvSpPr>
        <p:spPr>
          <a:xfrm>
            <a:off x="200848" y="5285232"/>
            <a:ext cx="2194560" cy="45720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3817476" y="5349240"/>
            <a:ext cx="295021" cy="329184"/>
          </a:xfrm>
          <a:prstGeom prst="rect">
            <a:avLst/>
          </a:prstGeom>
          <a:solidFill>
            <a:srgbClr val="CCCCCC"/>
          </a:solidFill>
          <a:ln/>
        </p:spPr>
      </p:sp>
      <p:sp>
        <p:nvSpPr>
          <p:cNvPr id="36" name="Shape 33"/>
          <p:cNvSpPr/>
          <p:nvPr/>
        </p:nvSpPr>
        <p:spPr>
          <a:xfrm>
            <a:off x="4112497" y="5349240"/>
            <a:ext cx="295021" cy="329184"/>
          </a:xfrm>
          <a:prstGeom prst="rect">
            <a:avLst/>
          </a:prstGeom>
          <a:solidFill>
            <a:srgbClr val="CCCCCC"/>
          </a:solidFill>
          <a:ln/>
        </p:spPr>
      </p:sp>
      <p:sp>
        <p:nvSpPr>
          <p:cNvPr id="37" name="Text 34"/>
          <p:cNvSpPr txBox="1"/>
          <p:nvPr/>
        </p:nvSpPr>
        <p:spPr>
          <a:xfrm>
            <a:off x="3185287" y="5285232"/>
            <a:ext cx="914400" cy="457200"/>
          </a:xfrm>
          <a:prstGeom prst="rect">
            <a:avLst/>
          </a:prstGeom>
          <a:noFill/>
          <a:ln/>
        </p:spPr>
        <p:txBody>
          <a:bodyPr wrap="square" lIns="0" tIns="0" rIns="0" bIns="0" rtlCol="0" anchor="ctr"/>
          <a:lstStyle/>
          <a:p>
            <a:pPr algn="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8" name="Text 35"/>
          <p:cNvSpPr txBox="1"/>
          <p:nvPr/>
        </p:nvSpPr>
        <p:spPr>
          <a:xfrm>
            <a:off x="4437622" y="5285232"/>
            <a:ext cx="914400" cy="457200"/>
          </a:xfrm>
          <a:prstGeom prst="rect">
            <a:avLst/>
          </a:prstGeom>
          <a:noFill/>
          <a:ln/>
        </p:spPr>
        <p:txBody>
          <a:bodyPr wrap="square" lIns="0" tIns="0" rIns="0" bIns="0" rtlCol="0" anchor="ctr"/>
          <a:lstStyle/>
          <a:p>
            <a:pPr indent="0" marL="0">
              <a:buNone/>
            </a:pPr>
            <a:r>
              <a:rPr lang="en-US" sz="1200" dirty="0">
                <a:solidFill>
                  <a:srgbClr val="3F3F3F"/>
                </a:solidFill>
                <a:latin typeface="Arial" pitchFamily="34" charset="0"/>
                <a:ea typeface="Arial" pitchFamily="34" charset="-122"/>
                <a:cs typeface="Arial" pitchFamily="34" charset="-120"/>
              </a:rPr>
              <a:t>＋0.14</a:t>
            </a:r>
            <a:endParaRPr lang="en-US" sz="1200" dirty="0"/>
          </a:p>
        </p:txBody>
      </p:sp>
      <p:sp>
        <p:nvSpPr>
          <p:cNvPr id="39" name="Shape 36"/>
          <p:cNvSpPr/>
          <p:nvPr/>
        </p:nvSpPr>
        <p:spPr>
          <a:xfrm>
            <a:off x="4112497" y="2148840"/>
            <a:ext cx="0" cy="3886200"/>
          </a:xfrm>
          <a:prstGeom prst="line">
            <a:avLst/>
          </a:prstGeom>
          <a:noFill/>
          <a:ln w="12700">
            <a:solidFill>
              <a:srgbClr val="7F7F7F"/>
            </a:solidFill>
            <a:prstDash val="solid"/>
          </a:ln>
        </p:spPr>
      </p:sp>
      <p:sp>
        <p:nvSpPr>
          <p:cNvPr id="40" name="Text 37"/>
          <p:cNvSpPr txBox="1"/>
          <p:nvPr/>
        </p:nvSpPr>
        <p:spPr>
          <a:xfrm>
            <a:off x="3510413" y="6080760"/>
            <a:ext cx="1828800" cy="27432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00848" y="5897880"/>
            <a:ext cx="548640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
        <p:nvSpPr>
          <p:cNvPr id="42" name="Shape 39"/>
          <p:cNvSpPr/>
          <p:nvPr/>
        </p:nvSpPr>
        <p:spPr>
          <a:xfrm>
            <a:off x="6687328" y="1874520"/>
            <a:ext cx="3017520" cy="4251960"/>
          </a:xfrm>
          <a:prstGeom prst="rect">
            <a:avLst/>
          </a:prstGeom>
          <a:solidFill>
            <a:srgbClr val="E0EEF8"/>
          </a:solidFill>
          <a:ln/>
        </p:spPr>
      </p:sp>
      <p:sp>
        <p:nvSpPr>
          <p:cNvPr id="43" name="Text 4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輸送人員の10%で収支が0.8億円動く</a:t>
            </a:r>
            <a:endParaRPr lang="en-US" sz="1400" dirty="0"/>
          </a:p>
        </p:txBody>
      </p:sp>
      <p:sp>
        <p:nvSpPr>
          <p:cNvPr id="44" name="Text 4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輸送人員±0.81億円、人件費±0.69億円。上位2つで影響の7割を占める。利用の見通しが外れると、どの形態でも収支が崩れる。利用の促進策が、どの形態でも欠かせない</a:t>
            </a:r>
            <a:endParaRPr lang="en-US" sz="1200" dirty="0"/>
          </a:p>
        </p:txBody>
      </p:sp>
      <p:sp>
        <p:nvSpPr>
          <p:cNvPr id="45" name="Shape 42"/>
          <p:cNvSpPr/>
          <p:nvPr/>
        </p:nvSpPr>
        <p:spPr>
          <a:xfrm>
            <a:off x="6870208" y="3936492"/>
            <a:ext cx="2651760" cy="0"/>
          </a:xfrm>
          <a:prstGeom prst="line">
            <a:avLst/>
          </a:prstGeom>
          <a:noFill/>
          <a:ln w="9525">
            <a:solidFill>
              <a:srgbClr val="CCCCCC"/>
            </a:solidFill>
            <a:prstDash val="solid"/>
          </a:ln>
        </p:spPr>
      </p:sp>
      <p:sp>
        <p:nvSpPr>
          <p:cNvPr id="46" name="Text 4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修繕費から下の影響は小さい</a:t>
            </a:r>
            <a:endParaRPr lang="en-US" sz="1400" dirty="0"/>
          </a:p>
        </p:txBody>
      </p:sp>
      <p:sp>
        <p:nvSpPr>
          <p:cNvPr id="47" name="Text 4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修繕費±0.32、減価償却費±0.21、動力費±0.14億円。輸送人員の見通しを最も精査する。精査の結果は、移行計画の判断点に反映させる。費用の側の前提は、既存の決算で確度が高い</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126</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3F3F3F"/>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127</a:t>
            </a:r>
            <a:endParaRPr lang="en-US" sz="9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200848" y="1984248"/>
          <a:ext cx="6257880" cy="914400"/>
        </p:xfrm>
        <a:graphic>
          <a:graphicData uri="http://schemas.openxmlformats.org/drawingml/2006/table">
            <a:tbl>
              <a:tblPr/>
              <a:tblGrid>
                <a:gridCol w="1806252"/>
                <a:gridCol w="1445001"/>
                <a:gridCol w="1445001"/>
                <a:gridCol w="1561626"/>
              </a:tblGrid>
              <a:tr h="731520">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3F3F3F"/>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2296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452101" y="1938528"/>
            <a:ext cx="1445001" cy="4114800"/>
          </a:xfrm>
          <a:prstGeom prst="rect">
            <a:avLst/>
          </a:prstGeom>
          <a:ln w="19050">
            <a:solidFill>
              <a:srgbClr val="000F78"/>
            </a:solidFill>
            <a:prstDash val="solid"/>
          </a:ln>
        </p:spPr>
      </p:sp>
      <p:sp>
        <p:nvSpPr>
          <p:cNvPr id="14" name="Shape 10"/>
          <p:cNvSpPr/>
          <p:nvPr/>
        </p:nvSpPr>
        <p:spPr>
          <a:xfrm>
            <a:off x="6687328" y="1874520"/>
            <a:ext cx="3017520" cy="4251960"/>
          </a:xfrm>
          <a:prstGeom prst="rect">
            <a:avLst/>
          </a:prstGeom>
          <a:solidFill>
            <a:srgbClr val="E0EEF8"/>
          </a:solidFill>
          <a:ln/>
        </p:spPr>
      </p:sp>
      <p:sp>
        <p:nvSpPr>
          <p:cNvPr id="15" name="Text 1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上下分離は4基準中3つで最も高い</a:t>
            </a:r>
            <a:endParaRPr lang="en-US" sz="1400" dirty="0"/>
          </a:p>
        </p:txBody>
      </p:sp>
      <p:sp>
        <p:nvSpPr>
          <p:cNvPr id="16" name="Text 1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公的負担・利便性・持続性で最上位。実現性だけが「中」にとどまる。施設を公的に持つことで、会社の負担が大きく減る。利便性は現行の運行本数を保つことで確保する</a:t>
            </a:r>
            <a:endParaRPr lang="en-US" sz="1200" dirty="0"/>
          </a:p>
        </p:txBody>
      </p:sp>
      <p:sp>
        <p:nvSpPr>
          <p:cNvPr id="17" name="Shape 13"/>
          <p:cNvSpPr/>
          <p:nvPr/>
        </p:nvSpPr>
        <p:spPr>
          <a:xfrm>
            <a:off x="6870208" y="3936492"/>
            <a:ext cx="2651760" cy="0"/>
          </a:xfrm>
          <a:prstGeom prst="line">
            <a:avLst/>
          </a:prstGeom>
          <a:noFill/>
          <a:ln w="9525">
            <a:solidFill>
              <a:srgbClr val="CCCCCC"/>
            </a:solidFill>
            <a:prstDash val="solid"/>
          </a:ln>
        </p:spPr>
      </p:sp>
      <p:sp>
        <p:nvSpPr>
          <p:cNvPr id="18" name="Text 1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実現性は国の認定と3市の合意次第</a:t>
            </a:r>
            <a:endParaRPr lang="en-US" sz="1400" dirty="0"/>
          </a:p>
        </p:txBody>
      </p:sp>
      <p:sp>
        <p:nvSpPr>
          <p:cNvPr id="19" name="Text 1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鉄道事業再構築事業の認定と、負担割合の合意が前提になる（第4章）。2つの前提がそろうまで、BRT転換を代わりの案として残す。認定の申請は、2027年度に行う</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3F3F3F"/>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注）国の補助は施設費用と使用料の差額の2分の1と仮定</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出所）国土交通省「鉄道事業再構築事業」の制度資料を基に作成（架空の完成例）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128</a:t>
            </a:r>
            <a:endParaRPr lang="en-US" sz="900" dirty="0"/>
          </a:p>
        </p:txBody>
      </p:sp>
      <p:sp>
        <p:nvSpPr>
          <p:cNvPr id="12" name="Shape 9"/>
          <p:cNvSpPr/>
          <p:nvPr/>
        </p:nvSpPr>
        <p:spPr>
          <a:xfrm>
            <a:off x="1023808"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65804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38372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132768"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7670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492688"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333168"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6967408"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693088" y="3246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333168"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6967408"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693088" y="5532120"/>
            <a:ext cx="2331720" cy="310896"/>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121088" y="2670048"/>
            <a:ext cx="1965960" cy="0"/>
          </a:xfrm>
          <a:prstGeom prst="line">
            <a:avLst/>
          </a:prstGeom>
          <a:noFill/>
          <a:ln w="15875">
            <a:solidFill>
              <a:srgbClr val="7F7F7F"/>
            </a:solidFill>
            <a:prstDash val="solid"/>
            <a:tailEnd type="triangle"/>
          </a:ln>
        </p:spPr>
      </p:sp>
      <p:sp>
        <p:nvSpPr>
          <p:cNvPr id="25" name="Text 22"/>
          <p:cNvSpPr txBox="1"/>
          <p:nvPr/>
        </p:nvSpPr>
        <p:spPr>
          <a:xfrm>
            <a:off x="1938208" y="2286000"/>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230048" y="2514600"/>
            <a:ext cx="2057400" cy="0"/>
          </a:xfrm>
          <a:prstGeom prst="line">
            <a:avLst/>
          </a:prstGeom>
          <a:noFill/>
          <a:ln w="22225">
            <a:solidFill>
              <a:srgbClr val="000F78"/>
            </a:solidFill>
            <a:prstDash val="solid"/>
            <a:tailEnd type="triangle"/>
          </a:ln>
        </p:spPr>
      </p:sp>
      <p:sp>
        <p:nvSpPr>
          <p:cNvPr id="27" name="Text 24"/>
          <p:cNvSpPr txBox="1"/>
          <p:nvPr/>
        </p:nvSpPr>
        <p:spPr>
          <a:xfrm>
            <a:off x="5047168"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287448" y="2880360"/>
            <a:ext cx="-2011680" cy="0"/>
          </a:xfrm>
          <a:prstGeom prst="line">
            <a:avLst/>
          </a:prstGeom>
          <a:noFill/>
          <a:ln w="15875">
            <a:solidFill>
              <a:srgbClr val="7F7F7F"/>
            </a:solidFill>
            <a:prstDash val="solid"/>
            <a:tailEnd type="triangle"/>
          </a:ln>
        </p:spPr>
      </p:sp>
      <p:sp>
        <p:nvSpPr>
          <p:cNvPr id="29" name="Text 26"/>
          <p:cNvSpPr txBox="1"/>
          <p:nvPr/>
        </p:nvSpPr>
        <p:spPr>
          <a:xfrm>
            <a:off x="5047168" y="2944368"/>
            <a:ext cx="2377440" cy="310896"/>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854376" y="3246120"/>
            <a:ext cx="0" cy="1143000"/>
          </a:xfrm>
          <a:prstGeom prst="line">
            <a:avLst/>
          </a:prstGeom>
          <a:noFill/>
          <a:ln w="15875">
            <a:solidFill>
              <a:srgbClr val="7F7F7F"/>
            </a:solidFill>
            <a:prstDash val="solid"/>
            <a:tailEnd type="triangle"/>
          </a:ln>
        </p:spPr>
      </p:sp>
      <p:sp>
        <p:nvSpPr>
          <p:cNvPr id="31" name="Text 28"/>
          <p:cNvSpPr txBox="1"/>
          <p:nvPr/>
        </p:nvSpPr>
        <p:spPr>
          <a:xfrm>
            <a:off x="8018968" y="3611880"/>
            <a:ext cx="914400" cy="2743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126928"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00848" y="5120640"/>
            <a:ext cx="603504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00848" y="5486400"/>
            <a:ext cx="6035040" cy="274320"/>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注）実質負担＝自治体の支出−国の補助。2030年度の試算</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129</a:t>
            </a:r>
            <a:endParaRPr lang="en-US" sz="900" dirty="0"/>
          </a:p>
        </p:txBody>
      </p:sp>
      <p:graphicFrame>
        <p:nvGraphicFramePr>
          <p:cNvPr id="12" name="Chart 0" descr=""/>
          <p:cNvGraphicFramePr/>
          <p:nvPr/>
        </p:nvGraphicFramePr>
        <p:xfrm>
          <a:off x="200848" y="1965960"/>
          <a:ext cx="4335004"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716477" y="4526280"/>
            <a:ext cx="1746043" cy="320040"/>
          </a:xfrm>
          <a:prstGeom prst="rect">
            <a:avLst/>
          </a:prstGeom>
          <a:noFill/>
          <a:ln/>
        </p:spPr>
        <p:txBody>
          <a:bodyPr wrap="square" lIns="0" tIns="0" rIns="0" bIns="0" rtlCol="0" anchor="t"/>
          <a:lstStyle/>
          <a:p>
            <a:pPr indent="0" marL="0">
              <a:buNone/>
            </a:pPr>
            <a:r>
              <a:rPr lang="en-US" sz="1200" b="1" dirty="0">
                <a:solidFill>
                  <a:srgbClr val="000F78"/>
                </a:solidFill>
                <a:latin typeface="Yu Gothic UI" pitchFamily="34" charset="0"/>
                <a:ea typeface="Yu Gothic UI" pitchFamily="34" charset="-122"/>
                <a:cs typeface="Yu Gothic UI" pitchFamily="34" charset="-120"/>
              </a:rPr>
              <a:t>現行維持の約3分の1</a:t>
            </a:r>
            <a:endParaRPr lang="en-US" sz="1200" dirty="0"/>
          </a:p>
        </p:txBody>
      </p:sp>
      <p:sp>
        <p:nvSpPr>
          <p:cNvPr id="14" name="Text 10"/>
          <p:cNvSpPr txBox="1"/>
          <p:nvPr/>
        </p:nvSpPr>
        <p:spPr>
          <a:xfrm>
            <a:off x="4716477" y="4846320"/>
            <a:ext cx="1742251"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
        <p:nvSpPr>
          <p:cNvPr id="15" name="Shape 11"/>
          <p:cNvSpPr/>
          <p:nvPr/>
        </p:nvSpPr>
        <p:spPr>
          <a:xfrm>
            <a:off x="6687328" y="1874520"/>
            <a:ext cx="3017520" cy="4251960"/>
          </a:xfrm>
          <a:prstGeom prst="rect">
            <a:avLst/>
          </a:prstGeom>
          <a:solidFill>
            <a:srgbClr val="E0EEF8"/>
          </a:solidFill>
          <a:ln/>
        </p:spPr>
      </p:sp>
      <p:sp>
        <p:nvSpPr>
          <p:cNvPr id="16" name="Text 12"/>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上下分離の実質負担は年2.2億円</a:t>
            </a:r>
            <a:endParaRPr lang="en-US" sz="1400" dirty="0"/>
          </a:p>
        </p:txBody>
      </p:sp>
      <p:sp>
        <p:nvSpPr>
          <p:cNvPr id="17" name="Text 13"/>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現行維持の6.3億円の約3分の1。BRT転換（2.4億円）より0.2億円少ない。3つの形態の中で、自治体の負担が最も小さい。現行維持との差は年4.1億円に上る</a:t>
            </a:r>
            <a:endParaRPr lang="en-US" sz="1200" dirty="0"/>
          </a:p>
        </p:txBody>
      </p:sp>
      <p:sp>
        <p:nvSpPr>
          <p:cNvPr id="18" name="Shape 14"/>
          <p:cNvSpPr/>
          <p:nvPr/>
        </p:nvSpPr>
        <p:spPr>
          <a:xfrm>
            <a:off x="6870208" y="3936492"/>
            <a:ext cx="2651760" cy="0"/>
          </a:xfrm>
          <a:prstGeom prst="line">
            <a:avLst/>
          </a:prstGeom>
          <a:noFill/>
          <a:ln w="9525">
            <a:solidFill>
              <a:srgbClr val="CCCCCC"/>
            </a:solidFill>
            <a:prstDash val="solid"/>
          </a:ln>
        </p:spPr>
      </p:sp>
      <p:sp>
        <p:nvSpPr>
          <p:cNvPr id="19" name="Text 15"/>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BRT転換より利便性も保てる</a:t>
            </a:r>
            <a:endParaRPr lang="en-US" sz="1400" dirty="0"/>
          </a:p>
        </p:txBody>
      </p:sp>
      <p:sp>
        <p:nvSpPr>
          <p:cNvPr id="20" name="Text 16"/>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BRTは所要時間が延び、通学の定期利用者が離れる恐れがある。負担と利便の両面で、上下分離が最も優れている。BRTへの転換は、道路の整備にも時間がかかる</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3F3F3F"/>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注）増収額は2030年度の年額。施策の間の重複は除いた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出所）みなと鉄道 増収策の検討資料を基に作成（架空の完成例）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130</a:t>
            </a:r>
            <a:endParaRPr lang="en-US" sz="9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9504000" cy="914400"/>
        </p:xfrm>
        <a:graphic>
          <a:graphicData uri="http://schemas.openxmlformats.org/drawingml/2006/table">
            <a:tbl>
              <a:tblPr/>
              <a:tblGrid>
                <a:gridCol w="2651760"/>
                <a:gridCol w="1005840"/>
                <a:gridCol w="3200400"/>
                <a:gridCol w="1371600"/>
                <a:gridCol w="1274400"/>
              </a:tblGrid>
              <a:tr h="41148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dirty="0">
                          <a:solidFill>
                            <a:srgbClr val="3F3F3F"/>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548640">
                <a:tc>
                  <a:txBody>
                    <a:bodyP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b="1" dirty="0">
                          <a:solidFill>
                            <a:srgbClr val="3F3F3F"/>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3904168" y="2487168"/>
            <a:ext cx="2743200" cy="237744"/>
          </a:xfrm>
          <a:prstGeom prst="rect">
            <a:avLst/>
          </a:prstGeom>
          <a:solidFill>
            <a:srgbClr val="000F78"/>
          </a:solidFill>
          <a:ln/>
        </p:spPr>
      </p:sp>
      <p:sp>
        <p:nvSpPr>
          <p:cNvPr id="14" name="Shape 10"/>
          <p:cNvSpPr/>
          <p:nvPr/>
        </p:nvSpPr>
        <p:spPr>
          <a:xfrm>
            <a:off x="3904168" y="3035808"/>
            <a:ext cx="2057400" cy="237744"/>
          </a:xfrm>
          <a:prstGeom prst="rect">
            <a:avLst/>
          </a:prstGeom>
          <a:solidFill>
            <a:srgbClr val="CCCCCC"/>
          </a:solidFill>
          <a:ln/>
        </p:spPr>
      </p:sp>
      <p:sp>
        <p:nvSpPr>
          <p:cNvPr id="15" name="Shape 11"/>
          <p:cNvSpPr/>
          <p:nvPr/>
        </p:nvSpPr>
        <p:spPr>
          <a:xfrm>
            <a:off x="3904168" y="3584448"/>
            <a:ext cx="1028700" cy="237744"/>
          </a:xfrm>
          <a:prstGeom prst="rect">
            <a:avLst/>
          </a:prstGeom>
          <a:solidFill>
            <a:srgbClr val="CCCCCC"/>
          </a:solidFill>
          <a:ln/>
        </p:spPr>
      </p:sp>
      <p:sp>
        <p:nvSpPr>
          <p:cNvPr id="16" name="Shape 12"/>
          <p:cNvSpPr/>
          <p:nvPr/>
        </p:nvSpPr>
        <p:spPr>
          <a:xfrm>
            <a:off x="3904168" y="4133088"/>
            <a:ext cx="685800" cy="237744"/>
          </a:xfrm>
          <a:prstGeom prst="rect">
            <a:avLst/>
          </a:prstGeom>
          <a:solidFill>
            <a:srgbClr val="CCCCCC"/>
          </a:solidFill>
          <a:ln/>
        </p:spPr>
      </p:sp>
      <p:sp>
        <p:nvSpPr>
          <p:cNvPr id="17" name="Shape 13"/>
          <p:cNvSpPr/>
          <p:nvPr/>
        </p:nvSpPr>
        <p:spPr>
          <a:xfrm>
            <a:off x="3904168" y="4681728"/>
            <a:ext cx="342900" cy="237744"/>
          </a:xfrm>
          <a:prstGeom prst="rect">
            <a:avLst/>
          </a:prstGeom>
          <a:solidFill>
            <a:srgbClr val="CCCCCC"/>
          </a:solidFill>
          <a:ln/>
        </p:spPr>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131</a:t>
            </a:r>
            <a:endParaRPr lang="en-US" sz="900" dirty="0"/>
          </a:p>
        </p:txBody>
      </p:sp>
      <p:sp>
        <p:nvSpPr>
          <p:cNvPr id="9" name="Text 6"/>
          <p:cNvSpPr txBox="1"/>
          <p:nvPr/>
        </p:nvSpPr>
        <p:spPr>
          <a:xfrm>
            <a:off x="475168" y="173736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389568"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1" name="Shape 8"/>
          <p:cNvSpPr/>
          <p:nvPr/>
        </p:nvSpPr>
        <p:spPr>
          <a:xfrm>
            <a:off x="475168" y="2487168"/>
            <a:ext cx="8955360" cy="0"/>
          </a:xfrm>
          <a:prstGeom prst="line">
            <a:avLst/>
          </a:prstGeom>
          <a:noFill/>
          <a:ln w="9525">
            <a:solidFill>
              <a:srgbClr val="CCCCCC"/>
            </a:solidFill>
            <a:prstDash val="solid"/>
          </a:ln>
        </p:spPr>
      </p:sp>
      <p:sp>
        <p:nvSpPr>
          <p:cNvPr id="12" name="Text 9"/>
          <p:cNvSpPr txBox="1"/>
          <p:nvPr/>
        </p:nvSpPr>
        <p:spPr>
          <a:xfrm>
            <a:off x="475168" y="269748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02</a:t>
            </a:r>
            <a:endParaRPr lang="en-US" sz="2200" dirty="0"/>
          </a:p>
        </p:txBody>
      </p:sp>
      <p:sp>
        <p:nvSpPr>
          <p:cNvPr id="13" name="Text 10"/>
          <p:cNvSpPr txBox="1"/>
          <p:nvPr/>
        </p:nvSpPr>
        <p:spPr>
          <a:xfrm>
            <a:off x="1389568"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4" name="Shape 11"/>
          <p:cNvSpPr/>
          <p:nvPr/>
        </p:nvSpPr>
        <p:spPr>
          <a:xfrm>
            <a:off x="475168" y="3447288"/>
            <a:ext cx="8955360" cy="0"/>
          </a:xfrm>
          <a:prstGeom prst="line">
            <a:avLst/>
          </a:prstGeom>
          <a:noFill/>
          <a:ln w="9525">
            <a:solidFill>
              <a:srgbClr val="CCCCCC"/>
            </a:solidFill>
            <a:prstDash val="solid"/>
          </a:ln>
        </p:spPr>
      </p:sp>
      <p:sp>
        <p:nvSpPr>
          <p:cNvPr id="15" name="Text 12"/>
          <p:cNvSpPr txBox="1"/>
          <p:nvPr/>
        </p:nvSpPr>
        <p:spPr>
          <a:xfrm>
            <a:off x="475168" y="3657600"/>
            <a:ext cx="731520" cy="548640"/>
          </a:xfrm>
          <a:prstGeom prst="rect">
            <a:avLst/>
          </a:prstGeom>
          <a:noFill/>
          <a:ln/>
        </p:spPr>
        <p:txBody>
          <a:bodyPr wrap="square" lIns="0" tIns="0" rIns="0" bIns="0" rtlCol="0" anchor="ctr"/>
          <a:lstStyle/>
          <a:p>
            <a:pPr indent="0" marL="0">
              <a:buNone/>
            </a:pPr>
            <a:r>
              <a:rPr lang="en-US" sz="2200" b="1" dirty="0">
                <a:solidFill>
                  <a:srgbClr val="CCCCCC"/>
                </a:solidFill>
                <a:latin typeface="Arial" pitchFamily="34" charset="0"/>
                <a:ea typeface="Arial" pitchFamily="34" charset="-122"/>
                <a:cs typeface="Arial" pitchFamily="34" charset="-120"/>
              </a:rPr>
              <a:t>03</a:t>
            </a:r>
            <a:endParaRPr lang="en-US" sz="2200" dirty="0"/>
          </a:p>
        </p:txBody>
      </p:sp>
      <p:sp>
        <p:nvSpPr>
          <p:cNvPr id="16" name="Text 13"/>
          <p:cNvSpPr txBox="1"/>
          <p:nvPr/>
        </p:nvSpPr>
        <p:spPr>
          <a:xfrm>
            <a:off x="1389568"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7" name="Shape 14"/>
          <p:cNvSpPr/>
          <p:nvPr/>
        </p:nvSpPr>
        <p:spPr>
          <a:xfrm>
            <a:off x="475168" y="4407408"/>
            <a:ext cx="8955360" cy="0"/>
          </a:xfrm>
          <a:prstGeom prst="line">
            <a:avLst/>
          </a:prstGeom>
          <a:noFill/>
          <a:ln w="9525">
            <a:solidFill>
              <a:srgbClr val="CCCCCC"/>
            </a:solidFill>
            <a:prstDash val="solid"/>
          </a:ln>
        </p:spPr>
      </p:sp>
      <p:sp>
        <p:nvSpPr>
          <p:cNvPr id="18" name="Text 15"/>
          <p:cNvSpPr txBox="1"/>
          <p:nvPr/>
        </p:nvSpPr>
        <p:spPr>
          <a:xfrm>
            <a:off x="475168"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19" name="Text 16"/>
          <p:cNvSpPr txBox="1"/>
          <p:nvPr/>
        </p:nvSpPr>
        <p:spPr>
          <a:xfrm>
            <a:off x="1389568"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0" name="Shape 17"/>
          <p:cNvSpPr/>
          <p:nvPr/>
        </p:nvSpPr>
        <p:spPr>
          <a:xfrm>
            <a:off x="475168" y="5367528"/>
            <a:ext cx="8955360" cy="0"/>
          </a:xfrm>
          <a:prstGeom prst="line">
            <a:avLst/>
          </a:prstGeom>
          <a:noFill/>
          <a:ln w="9525">
            <a:solidFill>
              <a:srgbClr val="CCCCCC"/>
            </a:solidFill>
            <a:prstDash val="solid"/>
          </a:ln>
        </p:spPr>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3F3F3F"/>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注）◆は判断の時期</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出所）沿線地域公共交通活性化協議会 事務局資料を基に作成（架空の完成例）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132</a:t>
            </a:r>
            <a:endParaRPr lang="en-US" sz="900" dirty="0"/>
          </a:p>
        </p:txBody>
      </p:sp>
      <p:sp>
        <p:nvSpPr>
          <p:cNvPr id="12" name="Text 9"/>
          <p:cNvSpPr txBox="1"/>
          <p:nvPr/>
        </p:nvSpPr>
        <p:spPr>
          <a:xfrm>
            <a:off x="200848" y="2715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期間</a:t>
            </a:r>
            <a:endParaRPr lang="en-US" sz="1400" dirty="0"/>
          </a:p>
        </p:txBody>
      </p:sp>
      <p:sp>
        <p:nvSpPr>
          <p:cNvPr id="13" name="Shape 10"/>
          <p:cNvSpPr/>
          <p:nvPr/>
        </p:nvSpPr>
        <p:spPr>
          <a:xfrm>
            <a:off x="200848" y="3191256"/>
            <a:ext cx="9504000" cy="0"/>
          </a:xfrm>
          <a:prstGeom prst="line">
            <a:avLst/>
          </a:prstGeom>
          <a:noFill/>
          <a:ln w="9525">
            <a:solidFill>
              <a:srgbClr val="CCCCCC"/>
            </a:solidFill>
            <a:prstDash val="solid"/>
          </a:ln>
        </p:spPr>
      </p:sp>
      <p:sp>
        <p:nvSpPr>
          <p:cNvPr id="14" name="Text 11"/>
          <p:cNvSpPr txBox="1"/>
          <p:nvPr/>
        </p:nvSpPr>
        <p:spPr>
          <a:xfrm>
            <a:off x="200848" y="3264408"/>
            <a:ext cx="1325880" cy="9144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主な取組</a:t>
            </a:r>
            <a:endParaRPr lang="en-US" sz="1400" dirty="0"/>
          </a:p>
        </p:txBody>
      </p:sp>
      <p:sp>
        <p:nvSpPr>
          <p:cNvPr id="15" name="Shape 12"/>
          <p:cNvSpPr/>
          <p:nvPr/>
        </p:nvSpPr>
        <p:spPr>
          <a:xfrm>
            <a:off x="200848" y="4242816"/>
            <a:ext cx="9504000" cy="0"/>
          </a:xfrm>
          <a:prstGeom prst="line">
            <a:avLst/>
          </a:prstGeom>
          <a:noFill/>
          <a:ln w="9525">
            <a:solidFill>
              <a:srgbClr val="CCCCCC"/>
            </a:solidFill>
            <a:prstDash val="solid"/>
          </a:ln>
        </p:spPr>
      </p:sp>
      <p:sp>
        <p:nvSpPr>
          <p:cNvPr id="16" name="Text 13"/>
          <p:cNvSpPr txBox="1"/>
          <p:nvPr/>
        </p:nvSpPr>
        <p:spPr>
          <a:xfrm>
            <a:off x="200848" y="43159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次へ進む条件</a:t>
            </a:r>
            <a:endParaRPr lang="en-US" sz="1400" dirty="0"/>
          </a:p>
        </p:txBody>
      </p:sp>
      <p:sp>
        <p:nvSpPr>
          <p:cNvPr id="17" name="Shape 14"/>
          <p:cNvSpPr/>
          <p:nvPr/>
        </p:nvSpPr>
        <p:spPr>
          <a:xfrm>
            <a:off x="200848" y="4928616"/>
            <a:ext cx="9504000" cy="0"/>
          </a:xfrm>
          <a:prstGeom prst="line">
            <a:avLst/>
          </a:prstGeom>
          <a:noFill/>
          <a:ln w="9525">
            <a:solidFill>
              <a:srgbClr val="CCCCCC"/>
            </a:solidFill>
            <a:prstDash val="solid"/>
          </a:ln>
        </p:spPr>
      </p:sp>
      <p:sp>
        <p:nvSpPr>
          <p:cNvPr id="18" name="Text 15"/>
          <p:cNvSpPr txBox="1"/>
          <p:nvPr/>
        </p:nvSpPr>
        <p:spPr>
          <a:xfrm>
            <a:off x="200848" y="5001768"/>
            <a:ext cx="13258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担い手</a:t>
            </a:r>
            <a:endParaRPr lang="en-US" sz="1400" dirty="0"/>
          </a:p>
        </p:txBody>
      </p:sp>
      <p:sp>
        <p:nvSpPr>
          <p:cNvPr id="19" name="Shape 16"/>
          <p:cNvSpPr/>
          <p:nvPr/>
        </p:nvSpPr>
        <p:spPr>
          <a:xfrm>
            <a:off x="1618168" y="1938528"/>
            <a:ext cx="2756520" cy="566928"/>
          </a:xfrm>
          <a:prstGeom prst="homePlate">
            <a:avLst/>
          </a:prstGeom>
          <a:solidFill>
            <a:srgbClr val="000F78"/>
          </a:solidFill>
          <a:ln/>
        </p:spPr>
      </p:sp>
      <p:sp>
        <p:nvSpPr>
          <p:cNvPr id="20" name="Text 17"/>
          <p:cNvSpPr txBox="1"/>
          <p:nvPr/>
        </p:nvSpPr>
        <p:spPr>
          <a:xfrm>
            <a:off x="1892488" y="1938528"/>
            <a:ext cx="2207880" cy="566928"/>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21" name="Text 18"/>
          <p:cNvSpPr txBox="1"/>
          <p:nvPr/>
        </p:nvSpPr>
        <p:spPr>
          <a:xfrm>
            <a:off x="170960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2026年度</a:t>
            </a:r>
            <a:endParaRPr lang="en-US" sz="1400" dirty="0"/>
          </a:p>
        </p:txBody>
      </p:sp>
      <p:sp>
        <p:nvSpPr>
          <p:cNvPr id="22" name="Text 19"/>
          <p:cNvSpPr txBox="1"/>
          <p:nvPr/>
        </p:nvSpPr>
        <p:spPr>
          <a:xfrm>
            <a:off x="170960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法定協議会を設置</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再構築実施計画を策定</a:t>
            </a:r>
            <a:endParaRPr lang="en-US" sz="1400" dirty="0"/>
          </a:p>
        </p:txBody>
      </p:sp>
      <p:sp>
        <p:nvSpPr>
          <p:cNvPr id="23" name="Text 20"/>
          <p:cNvSpPr txBox="1"/>
          <p:nvPr/>
        </p:nvSpPr>
        <p:spPr>
          <a:xfrm>
            <a:off x="1709608" y="4315968"/>
            <a:ext cx="2055480" cy="5486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3市の負担割合に合意</a:t>
            </a:r>
            <a:endParaRPr lang="en-US" sz="1400" dirty="0"/>
          </a:p>
        </p:txBody>
      </p:sp>
      <p:sp>
        <p:nvSpPr>
          <p:cNvPr id="24" name="Text 21"/>
          <p:cNvSpPr txBox="1"/>
          <p:nvPr/>
        </p:nvSpPr>
        <p:spPr>
          <a:xfrm>
            <a:off x="170960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県・沿線3市</a:t>
            </a:r>
            <a:endParaRPr lang="en-US" sz="1400" dirty="0"/>
          </a:p>
        </p:txBody>
      </p:sp>
      <p:sp>
        <p:nvSpPr>
          <p:cNvPr id="25" name="Shape 22"/>
          <p:cNvSpPr/>
          <p:nvPr/>
        </p:nvSpPr>
        <p:spPr>
          <a:xfrm>
            <a:off x="4283248" y="1938528"/>
            <a:ext cx="2756520" cy="566928"/>
          </a:xfrm>
          <a:prstGeom prst="chevron">
            <a:avLst/>
          </a:prstGeom>
          <a:solidFill>
            <a:srgbClr val="CCCCCC"/>
          </a:solidFill>
          <a:ln/>
        </p:spPr>
      </p:sp>
      <p:sp>
        <p:nvSpPr>
          <p:cNvPr id="26" name="Text 23"/>
          <p:cNvSpPr txBox="1"/>
          <p:nvPr/>
        </p:nvSpPr>
        <p:spPr>
          <a:xfrm>
            <a:off x="455756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段階2　移行を準備する</a:t>
            </a:r>
            <a:endParaRPr lang="en-US" sz="1400" dirty="0"/>
          </a:p>
        </p:txBody>
      </p:sp>
      <p:sp>
        <p:nvSpPr>
          <p:cNvPr id="27" name="Text 24"/>
          <p:cNvSpPr txBox="1"/>
          <p:nvPr/>
        </p:nvSpPr>
        <p:spPr>
          <a:xfrm>
            <a:off x="445088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2027年度</a:t>
            </a:r>
            <a:endParaRPr lang="en-US" sz="1400" dirty="0"/>
          </a:p>
        </p:txBody>
      </p:sp>
      <p:sp>
        <p:nvSpPr>
          <p:cNvPr id="28" name="Text 25"/>
          <p:cNvSpPr txBox="1"/>
          <p:nvPr/>
        </p:nvSpPr>
        <p:spPr>
          <a:xfrm>
            <a:off x="445088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国の認定を申請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施設の譲渡契約を締結</a:t>
            </a:r>
            <a:endParaRPr lang="en-US" sz="1400" dirty="0"/>
          </a:p>
        </p:txBody>
      </p:sp>
      <p:sp>
        <p:nvSpPr>
          <p:cNvPr id="29" name="Text 26"/>
          <p:cNvSpPr txBox="1"/>
          <p:nvPr/>
        </p:nvSpPr>
        <p:spPr>
          <a:xfrm>
            <a:off x="445088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国の認定を得る</a:t>
            </a:r>
            <a:endParaRPr lang="en-US" sz="1400" dirty="0"/>
          </a:p>
        </p:txBody>
      </p:sp>
      <p:sp>
        <p:nvSpPr>
          <p:cNvPr id="30" name="Text 27"/>
          <p:cNvSpPr txBox="1"/>
          <p:nvPr/>
        </p:nvSpPr>
        <p:spPr>
          <a:xfrm>
            <a:off x="445088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県・みなと鉄道</a:t>
            </a:r>
            <a:endParaRPr lang="en-US" sz="1400" dirty="0"/>
          </a:p>
        </p:txBody>
      </p:sp>
      <p:sp>
        <p:nvSpPr>
          <p:cNvPr id="31" name="Shape 28"/>
          <p:cNvSpPr/>
          <p:nvPr/>
        </p:nvSpPr>
        <p:spPr>
          <a:xfrm>
            <a:off x="6948328" y="1938528"/>
            <a:ext cx="2756520" cy="566928"/>
          </a:xfrm>
          <a:prstGeom prst="chevron">
            <a:avLst/>
          </a:prstGeom>
          <a:solidFill>
            <a:srgbClr val="CCCCCC"/>
          </a:solidFill>
          <a:ln/>
        </p:spPr>
      </p:sp>
      <p:sp>
        <p:nvSpPr>
          <p:cNvPr id="32" name="Text 29"/>
          <p:cNvSpPr txBox="1"/>
          <p:nvPr/>
        </p:nvSpPr>
        <p:spPr>
          <a:xfrm>
            <a:off x="7222648" y="1938528"/>
            <a:ext cx="2207880" cy="566928"/>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段階3　移行する</a:t>
            </a:r>
            <a:endParaRPr lang="en-US" sz="1400" dirty="0"/>
          </a:p>
        </p:txBody>
      </p:sp>
      <p:sp>
        <p:nvSpPr>
          <p:cNvPr id="33" name="Text 30"/>
          <p:cNvSpPr txBox="1"/>
          <p:nvPr/>
        </p:nvSpPr>
        <p:spPr>
          <a:xfrm>
            <a:off x="7192168" y="2715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2028年4月〜</a:t>
            </a:r>
            <a:endParaRPr lang="en-US" sz="1400" dirty="0"/>
          </a:p>
        </p:txBody>
      </p:sp>
      <p:sp>
        <p:nvSpPr>
          <p:cNvPr id="34" name="Text 31"/>
          <p:cNvSpPr txBox="1"/>
          <p:nvPr/>
        </p:nvSpPr>
        <p:spPr>
          <a:xfrm>
            <a:off x="7192168" y="3310128"/>
            <a:ext cx="2421240" cy="9144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上下分離で運行開始</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増収策を本格実施</a:t>
            </a:r>
            <a:endParaRPr lang="en-US" sz="1400" dirty="0"/>
          </a:p>
        </p:txBody>
      </p:sp>
      <p:sp>
        <p:nvSpPr>
          <p:cNvPr id="35" name="Text 32"/>
          <p:cNvSpPr txBox="1"/>
          <p:nvPr/>
        </p:nvSpPr>
        <p:spPr>
          <a:xfrm>
            <a:off x="7192168" y="43159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会社の収支が黒字</a:t>
            </a:r>
            <a:endParaRPr lang="en-US" sz="1400" dirty="0"/>
          </a:p>
        </p:txBody>
      </p:sp>
      <p:sp>
        <p:nvSpPr>
          <p:cNvPr id="36" name="Text 33"/>
          <p:cNvSpPr txBox="1"/>
          <p:nvPr/>
        </p:nvSpPr>
        <p:spPr>
          <a:xfrm>
            <a:off x="7192168" y="5001768"/>
            <a:ext cx="2421240" cy="5486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みなと鉄道</a:t>
            </a:r>
            <a:endParaRPr lang="en-US" sz="1400" dirty="0"/>
          </a:p>
        </p:txBody>
      </p:sp>
      <p:sp>
        <p:nvSpPr>
          <p:cNvPr id="37" name="Shape 34"/>
          <p:cNvSpPr/>
          <p:nvPr/>
        </p:nvSpPr>
        <p:spPr>
          <a:xfrm>
            <a:off x="3883960" y="4434840"/>
            <a:ext cx="310896" cy="310896"/>
          </a:xfrm>
          <a:prstGeom prst="diamond">
            <a:avLst/>
          </a:prstGeom>
          <a:solidFill>
            <a:srgbClr val="7F7F7F"/>
          </a:solidFill>
          <a:ln/>
        </p:spPr>
      </p:sp>
      <p:sp>
        <p:nvSpPr>
          <p:cNvPr id="38" name="Text 35"/>
          <p:cNvSpPr txBox="1"/>
          <p:nvPr/>
        </p:nvSpPr>
        <p:spPr>
          <a:xfrm>
            <a:off x="1618168" y="5733288"/>
            <a:ext cx="8086680" cy="320040"/>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判断点：2027年3月の協議会で負担割合に合意できれば、国の認定申請に進む</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3F3F3F"/>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注）現行維持との比較。輸送人員は基本シナリオ</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出所）みなと市・沿線3市の試算を基に作成（架空の完成例）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133</a:t>
            </a:r>
            <a:endParaRPr lang="en-US" sz="900" dirty="0"/>
          </a:p>
        </p:txBody>
      </p:sp>
      <p:sp>
        <p:nvSpPr>
          <p:cNvPr id="12" name="Text 9"/>
          <p:cNvSpPr txBox="1"/>
          <p:nvPr/>
        </p:nvSpPr>
        <p:spPr>
          <a:xfrm>
            <a:off x="261056" y="1965960"/>
            <a:ext cx="219312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261056" y="2423160"/>
            <a:ext cx="1444053" cy="822960"/>
          </a:xfrm>
          <a:prstGeom prst="rect">
            <a:avLst/>
          </a:prstGeom>
          <a:noFill/>
          <a:ln/>
        </p:spPr>
        <p:txBody>
          <a:bodyPr wrap="square" lIns="0" tIns="0" rIns="0" bIns="0" rtlCol="0" anchor="ctr"/>
          <a:lstStyle/>
          <a:p>
            <a:pPr algn="ctr" indent="0" marL="0">
              <a:buNone/>
            </a:pPr>
            <a:r>
              <a:rPr lang="en-US" sz="3200" b="1" dirty="0">
                <a:solidFill>
                  <a:srgbClr val="000F78"/>
                </a:solidFill>
                <a:latin typeface="Arial" pitchFamily="34" charset="0"/>
                <a:ea typeface="Arial" pitchFamily="34" charset="-122"/>
                <a:cs typeface="Arial" pitchFamily="34" charset="-120"/>
              </a:rPr>
              <a:t>−4.1</a:t>
            </a:r>
            <a:endParaRPr lang="en-US" sz="3200" dirty="0"/>
          </a:p>
        </p:txBody>
      </p:sp>
      <p:sp>
        <p:nvSpPr>
          <p:cNvPr id="14" name="Text 11"/>
          <p:cNvSpPr txBox="1"/>
          <p:nvPr/>
        </p:nvSpPr>
        <p:spPr>
          <a:xfrm>
            <a:off x="26105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15" name="Shape 12"/>
          <p:cNvSpPr/>
          <p:nvPr/>
        </p:nvSpPr>
        <p:spPr>
          <a:xfrm>
            <a:off x="351369" y="3794760"/>
            <a:ext cx="1263428" cy="0"/>
          </a:xfrm>
          <a:prstGeom prst="line">
            <a:avLst/>
          </a:prstGeom>
          <a:noFill/>
          <a:ln w="9525">
            <a:solidFill>
              <a:srgbClr val="CCCCCC"/>
            </a:solidFill>
            <a:prstDash val="solid"/>
          </a:ln>
        </p:spPr>
      </p:sp>
      <p:sp>
        <p:nvSpPr>
          <p:cNvPr id="16" name="Text 13"/>
          <p:cNvSpPr txBox="1"/>
          <p:nvPr/>
        </p:nvSpPr>
        <p:spPr>
          <a:xfrm>
            <a:off x="26105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17" name="Text 14"/>
          <p:cNvSpPr txBox="1"/>
          <p:nvPr/>
        </p:nvSpPr>
        <p:spPr>
          <a:xfrm>
            <a:off x="261056" y="4224528"/>
            <a:ext cx="1444053" cy="5486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6.3 → 2.2億円</a:t>
            </a:r>
            <a:endParaRPr lang="en-US" sz="1400" dirty="0"/>
          </a:p>
        </p:txBody>
      </p:sp>
      <p:sp>
        <p:nvSpPr>
          <p:cNvPr id="18" name="Text 15"/>
          <p:cNvSpPr txBox="1"/>
          <p:nvPr/>
        </p:nvSpPr>
        <p:spPr>
          <a:xfrm>
            <a:off x="29116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補足：上下分離と国の補助による</a:t>
            </a:r>
            <a:endParaRPr lang="en-US" sz="1100" dirty="0"/>
          </a:p>
        </p:txBody>
      </p:sp>
      <p:sp>
        <p:nvSpPr>
          <p:cNvPr id="19" name="Shape 16"/>
          <p:cNvSpPr/>
          <p:nvPr/>
        </p:nvSpPr>
        <p:spPr>
          <a:xfrm>
            <a:off x="1765318" y="1965960"/>
            <a:ext cx="0" cy="3931920"/>
          </a:xfrm>
          <a:prstGeom prst="line">
            <a:avLst/>
          </a:prstGeom>
          <a:noFill/>
          <a:ln w="9525">
            <a:solidFill>
              <a:srgbClr val="CCCCCC"/>
            </a:solidFill>
            <a:prstDash val="solid"/>
          </a:ln>
        </p:spPr>
      </p:sp>
      <p:sp>
        <p:nvSpPr>
          <p:cNvPr id="20" name="Text 17"/>
          <p:cNvSpPr txBox="1"/>
          <p:nvPr/>
        </p:nvSpPr>
        <p:spPr>
          <a:xfrm>
            <a:off x="1825526" y="1965960"/>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会社の営業収支</a:t>
            </a:r>
            <a:endParaRPr lang="en-US" sz="1400" dirty="0"/>
          </a:p>
        </p:txBody>
      </p:sp>
      <p:sp>
        <p:nvSpPr>
          <p:cNvPr id="21" name="Text 18"/>
          <p:cNvSpPr txBox="1"/>
          <p:nvPr/>
        </p:nvSpPr>
        <p:spPr>
          <a:xfrm>
            <a:off x="182552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＋0.1</a:t>
            </a:r>
            <a:endParaRPr lang="en-US" sz="3200" dirty="0"/>
          </a:p>
        </p:txBody>
      </p:sp>
      <p:sp>
        <p:nvSpPr>
          <p:cNvPr id="22" name="Text 19"/>
          <p:cNvSpPr txBox="1"/>
          <p:nvPr/>
        </p:nvSpPr>
        <p:spPr>
          <a:xfrm>
            <a:off x="182552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億円／年</a:t>
            </a:r>
            <a:endParaRPr lang="en-US" sz="1400" dirty="0"/>
          </a:p>
        </p:txBody>
      </p:sp>
      <p:sp>
        <p:nvSpPr>
          <p:cNvPr id="23" name="Shape 20"/>
          <p:cNvSpPr/>
          <p:nvPr/>
        </p:nvSpPr>
        <p:spPr>
          <a:xfrm>
            <a:off x="1915839" y="3794760"/>
            <a:ext cx="1263428" cy="0"/>
          </a:xfrm>
          <a:prstGeom prst="line">
            <a:avLst/>
          </a:prstGeom>
          <a:noFill/>
          <a:ln w="9525">
            <a:solidFill>
              <a:srgbClr val="CCCCCC"/>
            </a:solidFill>
            <a:prstDash val="solid"/>
          </a:ln>
        </p:spPr>
      </p:sp>
      <p:sp>
        <p:nvSpPr>
          <p:cNvPr id="24" name="Text 21"/>
          <p:cNvSpPr txBox="1"/>
          <p:nvPr/>
        </p:nvSpPr>
        <p:spPr>
          <a:xfrm>
            <a:off x="182552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25" name="Text 22"/>
          <p:cNvSpPr txBox="1"/>
          <p:nvPr/>
        </p:nvSpPr>
        <p:spPr>
          <a:xfrm>
            <a:off x="182552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−5.2 → ＋0.1億円</a:t>
            </a:r>
            <a:endParaRPr lang="en-US" sz="1400" dirty="0"/>
          </a:p>
        </p:txBody>
      </p:sp>
      <p:sp>
        <p:nvSpPr>
          <p:cNvPr id="26" name="Text 23"/>
          <p:cNvSpPr txBox="1"/>
          <p:nvPr/>
        </p:nvSpPr>
        <p:spPr>
          <a:xfrm>
            <a:off x="185563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補足：施設費用の移管と増収策による</a:t>
            </a:r>
            <a:endParaRPr lang="en-US" sz="1100" dirty="0"/>
          </a:p>
        </p:txBody>
      </p:sp>
      <p:sp>
        <p:nvSpPr>
          <p:cNvPr id="27" name="Shape 24"/>
          <p:cNvSpPr/>
          <p:nvPr/>
        </p:nvSpPr>
        <p:spPr>
          <a:xfrm>
            <a:off x="3329788" y="1965960"/>
            <a:ext cx="0" cy="3931920"/>
          </a:xfrm>
          <a:prstGeom prst="line">
            <a:avLst/>
          </a:prstGeom>
          <a:noFill/>
          <a:ln w="9525">
            <a:solidFill>
              <a:srgbClr val="CCCCCC"/>
            </a:solidFill>
            <a:prstDash val="solid"/>
          </a:ln>
        </p:spPr>
      </p:sp>
      <p:sp>
        <p:nvSpPr>
          <p:cNvPr id="28" name="Text 25"/>
          <p:cNvSpPr txBox="1"/>
          <p:nvPr/>
        </p:nvSpPr>
        <p:spPr>
          <a:xfrm>
            <a:off x="3389996" y="1965960"/>
            <a:ext cx="2193120"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運行本数</a:t>
            </a:r>
            <a:endParaRPr lang="en-US" sz="1400" dirty="0"/>
          </a:p>
        </p:txBody>
      </p:sp>
      <p:sp>
        <p:nvSpPr>
          <p:cNvPr id="29" name="Text 26"/>
          <p:cNvSpPr txBox="1"/>
          <p:nvPr/>
        </p:nvSpPr>
        <p:spPr>
          <a:xfrm>
            <a:off x="338999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44</a:t>
            </a:r>
            <a:endParaRPr lang="en-US" sz="3200" dirty="0"/>
          </a:p>
        </p:txBody>
      </p:sp>
      <p:sp>
        <p:nvSpPr>
          <p:cNvPr id="30" name="Text 27"/>
          <p:cNvSpPr txBox="1"/>
          <p:nvPr/>
        </p:nvSpPr>
        <p:spPr>
          <a:xfrm>
            <a:off x="3389996" y="3291840"/>
            <a:ext cx="2193120"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本／日</a:t>
            </a:r>
            <a:endParaRPr lang="en-US" sz="1400" dirty="0"/>
          </a:p>
        </p:txBody>
      </p:sp>
      <p:sp>
        <p:nvSpPr>
          <p:cNvPr id="31" name="Shape 28"/>
          <p:cNvSpPr/>
          <p:nvPr/>
        </p:nvSpPr>
        <p:spPr>
          <a:xfrm>
            <a:off x="3480309" y="3794760"/>
            <a:ext cx="1263428" cy="0"/>
          </a:xfrm>
          <a:prstGeom prst="line">
            <a:avLst/>
          </a:prstGeom>
          <a:noFill/>
          <a:ln w="9525">
            <a:solidFill>
              <a:srgbClr val="CCCCCC"/>
            </a:solidFill>
            <a:prstDash val="solid"/>
          </a:ln>
        </p:spPr>
      </p:sp>
      <p:sp>
        <p:nvSpPr>
          <p:cNvPr id="32" name="Text 29"/>
          <p:cNvSpPr txBox="1"/>
          <p:nvPr/>
        </p:nvSpPr>
        <p:spPr>
          <a:xfrm>
            <a:off x="3389996" y="3931920"/>
            <a:ext cx="2193120"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33" name="Text 30"/>
          <p:cNvSpPr txBox="1"/>
          <p:nvPr/>
        </p:nvSpPr>
        <p:spPr>
          <a:xfrm>
            <a:off x="338999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44 → 44本</a:t>
            </a:r>
            <a:endParaRPr lang="en-US" sz="1400" dirty="0"/>
          </a:p>
        </p:txBody>
      </p:sp>
      <p:sp>
        <p:nvSpPr>
          <p:cNvPr id="34" name="Text 31"/>
          <p:cNvSpPr txBox="1"/>
          <p:nvPr/>
        </p:nvSpPr>
        <p:spPr>
          <a:xfrm>
            <a:off x="342010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補足：現行の本数を維持する前提</a:t>
            </a:r>
            <a:endParaRPr lang="en-US" sz="1100" dirty="0"/>
          </a:p>
        </p:txBody>
      </p:sp>
      <p:sp>
        <p:nvSpPr>
          <p:cNvPr id="35" name="Shape 32"/>
          <p:cNvSpPr/>
          <p:nvPr/>
        </p:nvSpPr>
        <p:spPr>
          <a:xfrm>
            <a:off x="4894258" y="1965960"/>
            <a:ext cx="0" cy="3931920"/>
          </a:xfrm>
          <a:prstGeom prst="line">
            <a:avLst/>
          </a:prstGeom>
          <a:noFill/>
          <a:ln w="9525">
            <a:solidFill>
              <a:srgbClr val="CCCCCC"/>
            </a:solidFill>
            <a:prstDash val="solid"/>
          </a:ln>
        </p:spPr>
      </p:sp>
      <p:sp>
        <p:nvSpPr>
          <p:cNvPr id="36" name="Text 33"/>
          <p:cNvSpPr txBox="1"/>
          <p:nvPr/>
        </p:nvSpPr>
        <p:spPr>
          <a:xfrm>
            <a:off x="4954466" y="1965960"/>
            <a:ext cx="1504262" cy="320040"/>
          </a:xfrm>
          <a:prstGeom prst="rect">
            <a:avLst/>
          </a:prstGeom>
          <a:noFill/>
          <a:ln/>
        </p:spPr>
        <p:txBody>
          <a:bodyPr wrap="square" lIns="0" tIns="0" rIns="0" bIns="0" rtlCol="0" anchor="t"/>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輸送人員</a:t>
            </a:r>
            <a:endParaRPr lang="en-US" sz="1400" dirty="0"/>
          </a:p>
        </p:txBody>
      </p:sp>
      <p:sp>
        <p:nvSpPr>
          <p:cNvPr id="37" name="Text 34"/>
          <p:cNvSpPr txBox="1"/>
          <p:nvPr/>
        </p:nvSpPr>
        <p:spPr>
          <a:xfrm>
            <a:off x="4954466" y="2423160"/>
            <a:ext cx="1444053" cy="822960"/>
          </a:xfrm>
          <a:prstGeom prst="rect">
            <a:avLst/>
          </a:prstGeom>
          <a:noFill/>
          <a:ln/>
        </p:spPr>
        <p:txBody>
          <a:bodyPr wrap="square" lIns="0" tIns="0" rIns="0" bIns="0" rtlCol="0" anchor="ctr"/>
          <a:lstStyle/>
          <a:p>
            <a:pPr algn="ctr" indent="0" marL="0">
              <a:buNone/>
            </a:pPr>
            <a:r>
              <a:rPr lang="en-US" sz="3200" b="1" dirty="0">
                <a:solidFill>
                  <a:srgbClr val="3F3F3F"/>
                </a:solidFill>
                <a:latin typeface="Arial" pitchFamily="34" charset="0"/>
                <a:ea typeface="Arial" pitchFamily="34" charset="-122"/>
                <a:cs typeface="Arial" pitchFamily="34" charset="-120"/>
              </a:rPr>
              <a:t>＋4%</a:t>
            </a:r>
            <a:endParaRPr lang="en-US" sz="3200" dirty="0"/>
          </a:p>
        </p:txBody>
      </p:sp>
      <p:sp>
        <p:nvSpPr>
          <p:cNvPr id="38" name="Text 35"/>
          <p:cNvSpPr txBox="1"/>
          <p:nvPr/>
        </p:nvSpPr>
        <p:spPr>
          <a:xfrm>
            <a:off x="4954466" y="3291840"/>
            <a:ext cx="1504262" cy="292608"/>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（2030年度）</a:t>
            </a:r>
            <a:endParaRPr lang="en-US" sz="1400" dirty="0"/>
          </a:p>
        </p:txBody>
      </p:sp>
      <p:sp>
        <p:nvSpPr>
          <p:cNvPr id="39" name="Shape 36"/>
          <p:cNvSpPr/>
          <p:nvPr/>
        </p:nvSpPr>
        <p:spPr>
          <a:xfrm>
            <a:off x="5044779" y="3794760"/>
            <a:ext cx="1263428" cy="0"/>
          </a:xfrm>
          <a:prstGeom prst="line">
            <a:avLst/>
          </a:prstGeom>
          <a:noFill/>
          <a:ln w="9525">
            <a:solidFill>
              <a:srgbClr val="CCCCCC"/>
            </a:solidFill>
            <a:prstDash val="solid"/>
          </a:ln>
        </p:spPr>
      </p:sp>
      <p:sp>
        <p:nvSpPr>
          <p:cNvPr id="40" name="Text 37"/>
          <p:cNvSpPr txBox="1"/>
          <p:nvPr/>
        </p:nvSpPr>
        <p:spPr>
          <a:xfrm>
            <a:off x="4954466" y="3931920"/>
            <a:ext cx="1504262" cy="2743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現行→実行後</a:t>
            </a:r>
            <a:endParaRPr lang="en-US" sz="1100" dirty="0"/>
          </a:p>
        </p:txBody>
      </p:sp>
      <p:sp>
        <p:nvSpPr>
          <p:cNvPr id="41" name="Text 38"/>
          <p:cNvSpPr txBox="1"/>
          <p:nvPr/>
        </p:nvSpPr>
        <p:spPr>
          <a:xfrm>
            <a:off x="4954466" y="4224528"/>
            <a:ext cx="1444053" cy="548640"/>
          </a:xfrm>
          <a:prstGeom prst="rect">
            <a:avLst/>
          </a:prstGeom>
          <a:noFill/>
          <a:ln/>
        </p:spPr>
        <p:txBody>
          <a:bodyPr wrap="square" lIns="0" tIns="0" rIns="0" bIns="0" rtlCol="0" anchor="t"/>
          <a:lstStyle/>
          <a:p>
            <a:pPr algn="ctr" indent="0" marL="0">
              <a:buNone/>
            </a:pPr>
            <a:r>
              <a:rPr lang="en-US" sz="1400" dirty="0">
                <a:solidFill>
                  <a:srgbClr val="3F3F3F"/>
                </a:solidFill>
                <a:latin typeface="Yu Gothic UI" pitchFamily="34" charset="0"/>
                <a:ea typeface="Yu Gothic UI" pitchFamily="34" charset="-122"/>
                <a:cs typeface="Yu Gothic UI" pitchFamily="34" charset="-120"/>
              </a:rPr>
              <a:t>148 → 154万人</a:t>
            </a:r>
            <a:endParaRPr lang="en-US" sz="1400" dirty="0"/>
          </a:p>
        </p:txBody>
      </p:sp>
      <p:sp>
        <p:nvSpPr>
          <p:cNvPr id="42" name="Text 39"/>
          <p:cNvSpPr txBox="1"/>
          <p:nvPr/>
        </p:nvSpPr>
        <p:spPr>
          <a:xfrm>
            <a:off x="4984570" y="4937760"/>
            <a:ext cx="1383845" cy="731520"/>
          </a:xfrm>
          <a:prstGeom prst="rect">
            <a:avLst/>
          </a:prstGeom>
          <a:noFill/>
          <a:ln/>
        </p:spPr>
        <p:txBody>
          <a:bodyPr wrap="square" lIns="0" tIns="0" rIns="0" bIns="0" rtlCol="0" anchor="t"/>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補足：基本シナリオとの比較</a:t>
            </a:r>
            <a:endParaRPr lang="en-US" sz="1100" dirty="0"/>
          </a:p>
        </p:txBody>
      </p:sp>
      <p:sp>
        <p:nvSpPr>
          <p:cNvPr id="43" name="Shape 40"/>
          <p:cNvSpPr/>
          <p:nvPr/>
        </p:nvSpPr>
        <p:spPr>
          <a:xfrm>
            <a:off x="6687328" y="1874520"/>
            <a:ext cx="3017520" cy="4251960"/>
          </a:xfrm>
          <a:prstGeom prst="rect">
            <a:avLst/>
          </a:prstGeom>
          <a:solidFill>
            <a:srgbClr val="E0EEF8"/>
          </a:solidFill>
          <a:ln/>
        </p:spPr>
      </p:sp>
      <p:sp>
        <p:nvSpPr>
          <p:cNvPr id="44" name="Text 41"/>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自治体の実質負担は年4.1億円減る</a:t>
            </a:r>
            <a:endParaRPr lang="en-US" sz="1400" dirty="0"/>
          </a:p>
        </p:txBody>
      </p:sp>
      <p:sp>
        <p:nvSpPr>
          <p:cNvPr id="45" name="Text 42"/>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現行維持の6.3億円から2.2億円へ。国の補助と線路使用料で施設の費用を賄う。増収策だけでは、負担の減少は1.0億円にとどまる。残りの3.1億円は、上下分離の効果である</a:t>
            </a:r>
            <a:endParaRPr lang="en-US" sz="1200" dirty="0"/>
          </a:p>
        </p:txBody>
      </p:sp>
      <p:sp>
        <p:nvSpPr>
          <p:cNvPr id="46" name="Shape 43"/>
          <p:cNvSpPr/>
          <p:nvPr/>
        </p:nvSpPr>
        <p:spPr>
          <a:xfrm>
            <a:off x="6870208" y="3936492"/>
            <a:ext cx="2651760" cy="0"/>
          </a:xfrm>
          <a:prstGeom prst="line">
            <a:avLst/>
          </a:prstGeom>
          <a:noFill/>
          <a:ln w="9525">
            <a:solidFill>
              <a:srgbClr val="CCCCCC"/>
            </a:solidFill>
            <a:prstDash val="solid"/>
          </a:ln>
        </p:spPr>
      </p:sp>
      <p:sp>
        <p:nvSpPr>
          <p:cNvPr id="47" name="Text 44"/>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会社の収支は黒字に転じる</a:t>
            </a:r>
            <a:endParaRPr lang="en-US" sz="1400" dirty="0"/>
          </a:p>
        </p:txBody>
      </p:sp>
      <p:sp>
        <p:nvSpPr>
          <p:cNvPr id="48" name="Text 45"/>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営業損失5.2億円から＋0.1億円へ。運行本数は1日44本を保つ。利用者の利便を落とさずに、収支を立て直せる。黒字は2030年度以降も続く見込みである</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200848" y="1485000"/>
            <a:ext cx="8315280" cy="274320"/>
          </a:xfrm>
          <a:prstGeom prst="rect">
            <a:avLst/>
          </a:prstGeom>
          <a:noFill/>
          <a:ln/>
        </p:spPr>
        <p:txBody>
          <a:bodyPr wrap="square" lIns="0" tIns="0" rIns="0" bIns="0" rtlCol="0" anchor="b"/>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3F3F3F"/>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00848" y="1814184"/>
            <a:ext cx="9504000" cy="0"/>
          </a:xfrm>
          <a:prstGeom prst="line">
            <a:avLst/>
          </a:prstGeom>
          <a:noFill/>
          <a:ln w="15875">
            <a:solidFill>
              <a:srgbClr val="3F3F3F"/>
            </a:solidFill>
            <a:prstDash val="solid"/>
          </a:ln>
        </p:spPr>
      </p:sp>
      <p:sp>
        <p:nvSpPr>
          <p:cNvPr id="8" name="Text 6"/>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00848" y="6272784"/>
            <a:ext cx="8863920" cy="384048"/>
          </a:xfrm>
          <a:prstGeom prst="rect">
            <a:avLst/>
          </a:prstGeom>
          <a:noFill/>
          <a:ln/>
        </p:spPr>
        <p:txBody>
          <a:bodyPr wrap="square" lIns="0" tIns="0" rIns="0" bIns="0" rtlCol="0" anchor="t"/>
          <a:lstStyle/>
          <a:p>
            <a:pPr indent="0" marL="0">
              <a:buNone/>
            </a:pPr>
            <a:r>
              <a:rPr lang="en-US" sz="900" dirty="0">
                <a:solidFill>
                  <a:srgbClr val="3F3F3F"/>
                </a:solidFill>
                <a:latin typeface="Yu Gothic UI" pitchFamily="34" charset="0"/>
                <a:ea typeface="Yu Gothic UI" pitchFamily="34" charset="-122"/>
                <a:cs typeface="Yu Gothic UI" pitchFamily="34" charset="-120"/>
              </a:rPr>
              <a:t>注）影響額は2030年度の自治体の実質負担への影響</a:t>
            </a:r>
            <a:endParaRPr lang="en-US" sz="900" dirty="0"/>
          </a:p>
          <a:p>
            <a:pPr indent="0" marL="0">
              <a:buNone/>
            </a:pPr>
            <a:r>
              <a:rPr lang="en-US" sz="900" dirty="0">
                <a:solidFill>
                  <a:srgbClr val="3F3F3F"/>
                </a:solidFill>
                <a:latin typeface="Yu Gothic UI" pitchFamily="34" charset="0"/>
                <a:ea typeface="Yu Gothic UI" pitchFamily="34" charset="-122"/>
                <a:cs typeface="Yu Gothic UI" pitchFamily="34" charset="-120"/>
              </a:rPr>
              <a:t>出所）事務局の試算を基に作成（架空の完成例）</a:t>
            </a:r>
            <a:endParaRPr lang="en-US" sz="900" dirty="0"/>
          </a:p>
        </p:txBody>
      </p:sp>
      <p:sp>
        <p:nvSpPr>
          <p:cNvPr id="10" name="Text 8"/>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134</a:t>
            </a:r>
            <a:endParaRPr lang="en-US" sz="9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200848" y="1920240"/>
          <a:ext cx="6257880" cy="914400"/>
        </p:xfrm>
        <a:graphic>
          <a:graphicData uri="http://schemas.openxmlformats.org/drawingml/2006/table">
            <a:tbl>
              <a:tblPr/>
              <a:tblGrid>
                <a:gridCol w="1806252"/>
                <a:gridCol w="1986877"/>
                <a:gridCol w="602084"/>
                <a:gridCol w="1862667"/>
              </a:tblGrid>
              <a:tr h="457200">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3F3F3F"/>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91440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914400">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400" dirty="0">
                          <a:solidFill>
                            <a:srgbClr val="3F3F3F"/>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
        <p:nvSpPr>
          <p:cNvPr id="13" name="Shape 9"/>
          <p:cNvSpPr/>
          <p:nvPr/>
        </p:nvSpPr>
        <p:spPr>
          <a:xfrm>
            <a:off x="6687328" y="1874520"/>
            <a:ext cx="3017520" cy="4251960"/>
          </a:xfrm>
          <a:prstGeom prst="rect">
            <a:avLst/>
          </a:prstGeom>
          <a:solidFill>
            <a:srgbClr val="E0EEF8"/>
          </a:solidFill>
          <a:ln/>
        </p:spPr>
      </p:sp>
      <p:sp>
        <p:nvSpPr>
          <p:cNvPr id="14" name="Text 10"/>
          <p:cNvSpPr txBox="1"/>
          <p:nvPr/>
        </p:nvSpPr>
        <p:spPr>
          <a:xfrm>
            <a:off x="6870208" y="205740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国の補助が得られないと負担は4.3億円</a:t>
            </a:r>
            <a:endParaRPr lang="en-US" sz="1400" dirty="0"/>
          </a:p>
        </p:txBody>
      </p:sp>
      <p:sp>
        <p:nvSpPr>
          <p:cNvPr id="15" name="Text 11"/>
          <p:cNvSpPr txBox="1"/>
          <p:nvPr/>
        </p:nvSpPr>
        <p:spPr>
          <a:xfrm>
            <a:off x="6870208" y="266090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補助（2.1億円）がなければ、実質負担は上下分離の2.2億円から4.3億円に増える。補助の可否が、計画の成否を最も大きく左右する。国との協議を、移行計画の最初の作業とする</a:t>
            </a:r>
            <a:endParaRPr lang="en-US" sz="1200" dirty="0"/>
          </a:p>
        </p:txBody>
      </p:sp>
      <p:sp>
        <p:nvSpPr>
          <p:cNvPr id="16" name="Shape 12"/>
          <p:cNvSpPr/>
          <p:nvPr/>
        </p:nvSpPr>
        <p:spPr>
          <a:xfrm>
            <a:off x="6870208" y="3936492"/>
            <a:ext cx="2651760" cy="0"/>
          </a:xfrm>
          <a:prstGeom prst="line">
            <a:avLst/>
          </a:prstGeom>
          <a:noFill/>
          <a:ln w="9525">
            <a:solidFill>
              <a:srgbClr val="CCCCCC"/>
            </a:solidFill>
            <a:prstDash val="solid"/>
          </a:ln>
        </p:spPr>
      </p:sp>
      <p:sp>
        <p:nvSpPr>
          <p:cNvPr id="17" name="Text 13"/>
          <p:cNvSpPr txBox="1"/>
          <p:nvPr/>
        </p:nvSpPr>
        <p:spPr>
          <a:xfrm>
            <a:off x="6870208" y="4046220"/>
            <a:ext cx="2651760" cy="566928"/>
          </a:xfrm>
          <a:prstGeom prst="rect">
            <a:avLst/>
          </a:prstGeom>
          <a:noFill/>
          <a:ln/>
        </p:spPr>
        <p:txBody>
          <a:bodyPr wrap="square" lIns="0" tIns="0" rIns="0" bIns="0" rtlCol="0" anchor="t"/>
          <a:lstStyle/>
          <a:p>
            <a:pPr indent="0" marL="0">
              <a:buNone/>
            </a:pPr>
            <a:r>
              <a:rPr lang="en-US" sz="1400" b="1" dirty="0">
                <a:solidFill>
                  <a:srgbClr val="3F3F3F"/>
                </a:solidFill>
                <a:latin typeface="Yu Gothic UI" pitchFamily="34" charset="0"/>
                <a:ea typeface="Yu Gothic UI" pitchFamily="34" charset="-122"/>
                <a:cs typeface="Yu Gothic UI" pitchFamily="34" charset="-120"/>
              </a:rPr>
              <a:t>それでも現行維持より2.0億円少ない</a:t>
            </a:r>
            <a:endParaRPr lang="en-US" sz="1400" dirty="0"/>
          </a:p>
        </p:txBody>
      </p:sp>
      <p:sp>
        <p:nvSpPr>
          <p:cNvPr id="18" name="Text 14"/>
          <p:cNvSpPr txBox="1"/>
          <p:nvPr/>
        </p:nvSpPr>
        <p:spPr>
          <a:xfrm>
            <a:off x="6870208" y="4649724"/>
            <a:ext cx="2651760" cy="1211580"/>
          </a:xfrm>
          <a:prstGeom prst="rect">
            <a:avLst/>
          </a:prstGeom>
          <a:noFill/>
          <a:ln/>
        </p:spPr>
        <p:txBody>
          <a:bodyPr wrap="square" lIns="0" tIns="0" rIns="0" bIns="0" rtlCol="0" anchor="t"/>
          <a:lstStyle/>
          <a:p>
            <a:pPr indent="0" marL="0">
              <a:buNone/>
            </a:pPr>
            <a:r>
              <a:rPr lang="en-US" sz="1200" dirty="0">
                <a:solidFill>
                  <a:srgbClr val="3F3F3F"/>
                </a:solidFill>
                <a:latin typeface="Yu Gothic UI" pitchFamily="34" charset="0"/>
                <a:ea typeface="Yu Gothic UI" pitchFamily="34" charset="-122"/>
                <a:cs typeface="Yu Gothic UI" pitchFamily="34" charset="-120"/>
              </a:rPr>
              <a:t>現行維持の6.3億円を下回るため、上下分離の優位は変わらない。補助の申請は、移行の2年前から国と協議して進める。補助の可否を見て、3市の負担割合を決め直す</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Shape 0"/>
          <p:cNvSpPr/>
          <p:nvPr/>
        </p:nvSpPr>
        <p:spPr>
          <a:xfrm>
            <a:off x="200848" y="261000"/>
            <a:ext cx="50292" cy="932688"/>
          </a:xfrm>
          <a:prstGeom prst="rect">
            <a:avLst/>
          </a:prstGeom>
          <a:solidFill>
            <a:srgbClr val="000F78"/>
          </a:solidFill>
          <a:ln/>
        </p:spPr>
      </p:sp>
      <p:sp>
        <p:nvSpPr>
          <p:cNvPr id="3" name="Text 1"/>
          <p:cNvSpPr txBox="1"/>
          <p:nvPr/>
        </p:nvSpPr>
        <p:spPr>
          <a:xfrm>
            <a:off x="347152" y="261000"/>
            <a:ext cx="9357696" cy="219456"/>
          </a:xfrm>
          <a:prstGeom prst="rect">
            <a:avLst/>
          </a:prstGeom>
          <a:noFill/>
          <a:ln/>
        </p:spPr>
        <p:txBody>
          <a:bodyPr wrap="square" lIns="0" tIns="0" rIns="0" bIns="0" rtlCol="0" anchor="t"/>
          <a:lstStyle/>
          <a:p>
            <a:pPr indent="0" marL="0">
              <a:buNone/>
            </a:pPr>
            <a:r>
              <a:rPr lang="en-US" sz="1100" dirty="0">
                <a:solidFill>
                  <a:srgbClr val="3F3F3F"/>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347152" y="498744"/>
            <a:ext cx="9357696" cy="694944"/>
          </a:xfrm>
          <a:prstGeom prst="rect">
            <a:avLst/>
          </a:prstGeom>
          <a:noFill/>
          <a:ln/>
        </p:spPr>
        <p:txBody>
          <a:bodyPr wrap="square" lIns="0" tIns="0" rIns="0" bIns="0" rtlCol="0" anchor="ctr"/>
          <a:lstStyle/>
          <a:p>
            <a:pPr indent="0" marL="0">
              <a:lnSpc>
                <a:spcPct val="100000"/>
              </a:lnSpc>
              <a:buNone/>
            </a:pPr>
            <a:r>
              <a:rPr lang="en-US" sz="2000"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00848" y="1330848"/>
            <a:ext cx="9504000" cy="0"/>
          </a:xfrm>
          <a:prstGeom prst="line">
            <a:avLst/>
          </a:prstGeom>
          <a:noFill/>
          <a:ln w="9525">
            <a:solidFill>
              <a:srgbClr val="CCCCCC"/>
            </a:solidFill>
            <a:prstDash val="solid"/>
          </a:ln>
        </p:spPr>
      </p:sp>
      <p:sp>
        <p:nvSpPr>
          <p:cNvPr id="6" name="Text 4"/>
          <p:cNvSpPr txBox="1"/>
          <p:nvPr/>
        </p:nvSpPr>
        <p:spPr>
          <a:xfrm>
            <a:off x="8744728" y="1503288"/>
            <a:ext cx="960120" cy="237744"/>
          </a:xfrm>
          <a:prstGeom prst="rect">
            <a:avLst/>
          </a:prstGeom>
          <a:noFill/>
          <a:ln w="9525">
            <a:solidFill>
              <a:srgbClr val="CCCCCC"/>
            </a:solidFill>
          </a:ln>
        </p:spPr>
        <p:txBody>
          <a:bodyPr wrap="square" lIns="0" tIns="0" rIns="0" bIns="0" rtlCol="0" anchor="ctr"/>
          <a:lstStyle/>
          <a:p>
            <a:pPr algn="ctr" indent="0" marL="0">
              <a:buNone/>
            </a:pPr>
            <a:r>
              <a:rPr lang="en-US" sz="1100" dirty="0">
                <a:solidFill>
                  <a:srgbClr val="3F3F3F"/>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9247648" y="6473952"/>
            <a:ext cx="457200" cy="182880"/>
          </a:xfrm>
          <a:prstGeom prst="rect">
            <a:avLst/>
          </a:prstGeom>
          <a:noFill/>
          <a:ln/>
        </p:spPr>
        <p:txBody>
          <a:bodyPr wrap="square" lIns="0" tIns="0" rIns="0" bIns="0" rtlCol="0" anchor="t"/>
          <a:lstStyle/>
          <a:p>
            <a:pPr algn="r" indent="0" marL="0">
              <a:buNone/>
            </a:pPr>
            <a:r>
              <a:rPr lang="en-US" sz="900" dirty="0">
                <a:solidFill>
                  <a:srgbClr val="3F3F3F"/>
                </a:solidFill>
                <a:latin typeface="Yu Gothic UI" pitchFamily="34" charset="0"/>
                <a:ea typeface="Yu Gothic UI" pitchFamily="34" charset="-122"/>
                <a:cs typeface="Yu Gothic UI" pitchFamily="34" charset="-120"/>
              </a:rPr>
              <a:t>135</a:t>
            </a:r>
            <a:endParaRPr lang="en-US" sz="900" dirty="0"/>
          </a:p>
        </p:txBody>
      </p:sp>
      <p:sp>
        <p:nvSpPr>
          <p:cNvPr id="9" name="Shape 6"/>
          <p:cNvSpPr/>
          <p:nvPr/>
        </p:nvSpPr>
        <p:spPr>
          <a:xfrm>
            <a:off x="200848" y="1485000"/>
            <a:ext cx="8406720" cy="685800"/>
          </a:xfrm>
          <a:prstGeom prst="rect">
            <a:avLst/>
          </a:prstGeom>
          <a:solidFill>
            <a:srgbClr val="C1DDF1"/>
          </a:solidFill>
          <a:ln/>
        </p:spPr>
      </p:sp>
      <p:sp>
        <p:nvSpPr>
          <p:cNvPr id="10" name="Text 7"/>
          <p:cNvSpPr txBox="1"/>
          <p:nvPr/>
        </p:nvSpPr>
        <p:spPr>
          <a:xfrm>
            <a:off x="383728" y="1485000"/>
            <a:ext cx="237744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1" name="Text 8"/>
          <p:cNvSpPr txBox="1"/>
          <p:nvPr/>
        </p:nvSpPr>
        <p:spPr>
          <a:xfrm>
            <a:off x="2852608" y="1485000"/>
            <a:ext cx="5572080" cy="68580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2" name="Text 9"/>
          <p:cNvSpPr txBox="1"/>
          <p:nvPr/>
        </p:nvSpPr>
        <p:spPr>
          <a:xfrm>
            <a:off x="200848" y="2331720"/>
            <a:ext cx="512064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選択肢</a:t>
            </a:r>
            <a:endParaRPr lang="en-US" sz="1400" dirty="0"/>
          </a:p>
        </p:txBody>
      </p:sp>
      <p:sp>
        <p:nvSpPr>
          <p:cNvPr id="13" name="Shape 10"/>
          <p:cNvSpPr/>
          <p:nvPr/>
        </p:nvSpPr>
        <p:spPr>
          <a:xfrm>
            <a:off x="200848" y="2679192"/>
            <a:ext cx="5120640" cy="0"/>
          </a:xfrm>
          <a:prstGeom prst="line">
            <a:avLst/>
          </a:prstGeom>
          <a:noFill/>
          <a:ln w="12700">
            <a:solidFill>
              <a:srgbClr val="7F7F7F"/>
            </a:solidFill>
            <a:prstDash val="solid"/>
          </a:ln>
        </p:spPr>
      </p:sp>
      <p:sp>
        <p:nvSpPr>
          <p:cNvPr id="14" name="Text 11"/>
          <p:cNvSpPr txBox="1"/>
          <p:nvPr/>
        </p:nvSpPr>
        <p:spPr>
          <a:xfrm>
            <a:off x="310576" y="278892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案A　現行維持</a:t>
            </a:r>
            <a:endParaRPr lang="en-US" sz="1400" dirty="0"/>
          </a:p>
        </p:txBody>
      </p:sp>
      <p:sp>
        <p:nvSpPr>
          <p:cNvPr id="15" name="Text 12"/>
          <p:cNvSpPr txBox="1"/>
          <p:nvPr/>
        </p:nvSpPr>
        <p:spPr>
          <a:xfrm>
            <a:off x="2166808" y="278892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6.3億円</a:t>
            </a:r>
            <a:endParaRPr lang="en-US" sz="1400" dirty="0"/>
          </a:p>
        </p:txBody>
      </p:sp>
      <p:sp>
        <p:nvSpPr>
          <p:cNvPr id="16" name="Text 13"/>
          <p:cNvSpPr txBox="1"/>
          <p:nvPr/>
        </p:nvSpPr>
        <p:spPr>
          <a:xfrm>
            <a:off x="4041328" y="278892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高</a:t>
            </a:r>
            <a:endParaRPr lang="en-US" sz="1400" dirty="0"/>
          </a:p>
        </p:txBody>
      </p:sp>
      <p:sp>
        <p:nvSpPr>
          <p:cNvPr id="17" name="Shape 14"/>
          <p:cNvSpPr/>
          <p:nvPr/>
        </p:nvSpPr>
        <p:spPr>
          <a:xfrm>
            <a:off x="200848" y="3657600"/>
            <a:ext cx="5120640" cy="0"/>
          </a:xfrm>
          <a:prstGeom prst="line">
            <a:avLst/>
          </a:prstGeom>
          <a:noFill/>
          <a:ln w="9525">
            <a:solidFill>
              <a:srgbClr val="CCCCCC"/>
            </a:solidFill>
            <a:prstDash val="solid"/>
          </a:ln>
        </p:spPr>
      </p:sp>
      <p:sp>
        <p:nvSpPr>
          <p:cNvPr id="18" name="Text 15"/>
          <p:cNvSpPr txBox="1"/>
          <p:nvPr/>
        </p:nvSpPr>
        <p:spPr>
          <a:xfrm>
            <a:off x="310576"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19" name="Text 16"/>
          <p:cNvSpPr txBox="1"/>
          <p:nvPr/>
        </p:nvSpPr>
        <p:spPr>
          <a:xfrm>
            <a:off x="2166808" y="3749040"/>
            <a:ext cx="182880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0" name="Text 17"/>
          <p:cNvSpPr txBox="1"/>
          <p:nvPr/>
        </p:nvSpPr>
        <p:spPr>
          <a:xfrm>
            <a:off x="4041328" y="3749040"/>
            <a:ext cx="1280160" cy="7772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1" name="Shape 18"/>
          <p:cNvSpPr/>
          <p:nvPr/>
        </p:nvSpPr>
        <p:spPr>
          <a:xfrm>
            <a:off x="200848" y="4617720"/>
            <a:ext cx="5120640" cy="0"/>
          </a:xfrm>
          <a:prstGeom prst="line">
            <a:avLst/>
          </a:prstGeom>
          <a:noFill/>
          <a:ln w="9525">
            <a:solidFill>
              <a:srgbClr val="CCCCCC"/>
            </a:solidFill>
            <a:prstDash val="solid"/>
          </a:ln>
        </p:spPr>
      </p:sp>
      <p:sp>
        <p:nvSpPr>
          <p:cNvPr id="22" name="Text 19"/>
          <p:cNvSpPr txBox="1"/>
          <p:nvPr/>
        </p:nvSpPr>
        <p:spPr>
          <a:xfrm>
            <a:off x="310576" y="4709160"/>
            <a:ext cx="1828800" cy="777240"/>
          </a:xfrm>
          <a:prstGeom prst="rect">
            <a:avLst/>
          </a:prstGeom>
          <a:noFill/>
          <a:ln/>
        </p:spPr>
        <p:txBody>
          <a:bodyPr wrap="square" lIns="0" tIns="0" rIns="0" bIns="0" rtlCol="0" anchor="ctr"/>
          <a:lstStyle/>
          <a:p>
            <a:pPr indent="0" marL="0">
              <a:buNone/>
            </a:pPr>
            <a:r>
              <a:rPr lang="en-US" sz="1400" b="1" dirty="0">
                <a:solidFill>
                  <a:srgbClr val="3F3F3F"/>
                </a:solidFill>
                <a:latin typeface="Yu Gothic UI" pitchFamily="34" charset="0"/>
                <a:ea typeface="Yu Gothic UI" pitchFamily="34" charset="-122"/>
                <a:cs typeface="Yu Gothic UI" pitchFamily="34" charset="-120"/>
              </a:rPr>
              <a:t>案C　BRT転換</a:t>
            </a:r>
            <a:endParaRPr lang="en-US" sz="1400" dirty="0"/>
          </a:p>
        </p:txBody>
      </p:sp>
      <p:sp>
        <p:nvSpPr>
          <p:cNvPr id="23" name="Text 20"/>
          <p:cNvSpPr txBox="1"/>
          <p:nvPr/>
        </p:nvSpPr>
        <p:spPr>
          <a:xfrm>
            <a:off x="2166808" y="4709160"/>
            <a:ext cx="182880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実質負担 2.4億円</a:t>
            </a:r>
            <a:endParaRPr lang="en-US" sz="1400" dirty="0"/>
          </a:p>
        </p:txBody>
      </p:sp>
      <p:sp>
        <p:nvSpPr>
          <p:cNvPr id="24" name="Text 21"/>
          <p:cNvSpPr txBox="1"/>
          <p:nvPr/>
        </p:nvSpPr>
        <p:spPr>
          <a:xfrm>
            <a:off x="4041328" y="4709160"/>
            <a:ext cx="1280160" cy="777240"/>
          </a:xfrm>
          <a:prstGeom prst="rect">
            <a:avLst/>
          </a:prstGeom>
          <a:noFill/>
          <a:ln/>
        </p:spPr>
        <p:txBody>
          <a:bodyPr wrap="square" lIns="0" tIns="0" rIns="0" bIns="0" rtlCol="0" anchor="ctr"/>
          <a:lstStyle/>
          <a:p>
            <a:pPr indent="0" marL="0">
              <a:buNone/>
            </a:pPr>
            <a:r>
              <a:rPr lang="en-US" sz="1400" dirty="0">
                <a:solidFill>
                  <a:srgbClr val="3F3F3F"/>
                </a:solidFill>
                <a:latin typeface="Yu Gothic UI" pitchFamily="34" charset="0"/>
                <a:ea typeface="Yu Gothic UI" pitchFamily="34" charset="-122"/>
                <a:cs typeface="Yu Gothic UI" pitchFamily="34" charset="-120"/>
              </a:rPr>
              <a:t>利便性 中</a:t>
            </a:r>
            <a:endParaRPr lang="en-US" sz="1400" dirty="0"/>
          </a:p>
        </p:txBody>
      </p:sp>
      <p:sp>
        <p:nvSpPr>
          <p:cNvPr id="25" name="Shape 22"/>
          <p:cNvSpPr/>
          <p:nvPr/>
        </p:nvSpPr>
        <p:spPr>
          <a:xfrm>
            <a:off x="200848" y="3675888"/>
            <a:ext cx="5120640" cy="914400"/>
          </a:xfrm>
          <a:prstGeom prst="rect">
            <a:avLst/>
          </a:prstGeom>
          <a:ln w="19050">
            <a:solidFill>
              <a:srgbClr val="000F78"/>
            </a:solidFill>
            <a:prstDash val="solid"/>
          </a:ln>
        </p:spPr>
      </p:sp>
      <p:sp>
        <p:nvSpPr>
          <p:cNvPr id="26" name="Text 23"/>
          <p:cNvSpPr txBox="1"/>
          <p:nvPr/>
        </p:nvSpPr>
        <p:spPr>
          <a:xfrm>
            <a:off x="5687248" y="23317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判断の前提</a:t>
            </a:r>
            <a:endParaRPr lang="en-US" sz="1400" dirty="0"/>
          </a:p>
        </p:txBody>
      </p:sp>
      <p:sp>
        <p:nvSpPr>
          <p:cNvPr id="27" name="Shape 24"/>
          <p:cNvSpPr/>
          <p:nvPr/>
        </p:nvSpPr>
        <p:spPr>
          <a:xfrm>
            <a:off x="5687248" y="2679192"/>
            <a:ext cx="4017600" cy="0"/>
          </a:xfrm>
          <a:prstGeom prst="line">
            <a:avLst/>
          </a:prstGeom>
          <a:noFill/>
          <a:ln w="12700">
            <a:solidFill>
              <a:srgbClr val="7F7F7F"/>
            </a:solidFill>
            <a:prstDash val="solid"/>
          </a:ln>
        </p:spPr>
      </p:sp>
      <p:sp>
        <p:nvSpPr>
          <p:cNvPr id="28" name="Text 25"/>
          <p:cNvSpPr txBox="1"/>
          <p:nvPr/>
        </p:nvSpPr>
        <p:spPr>
          <a:xfrm>
            <a:off x="5687248" y="2788920"/>
            <a:ext cx="4017600" cy="1188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国の補助は施設費用差額の2分の1</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線路使用料は年1.0億円</a:t>
            </a:r>
            <a:endParaRPr lang="en-US" sz="1400" dirty="0"/>
          </a:p>
          <a:p>
            <a:pPr marL="177800" indent="-177800">
              <a:spcAft>
                <a:spcPts val="400"/>
              </a:spcAft>
              <a:buSzPct val="100000"/>
              <a:buChar char="•"/>
            </a:pPr>
            <a:r>
              <a:rPr lang="en-US" sz="1400" dirty="0">
                <a:solidFill>
                  <a:srgbClr val="3F3F3F"/>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29" name="Text 26"/>
          <p:cNvSpPr txBox="1"/>
          <p:nvPr/>
        </p:nvSpPr>
        <p:spPr>
          <a:xfrm>
            <a:off x="5687248" y="4160520"/>
            <a:ext cx="4017600" cy="292608"/>
          </a:xfrm>
          <a:prstGeom prst="rect">
            <a:avLst/>
          </a:prstGeom>
          <a:noFill/>
          <a:ln/>
        </p:spPr>
        <p:txBody>
          <a:bodyPr wrap="square" lIns="0" tIns="0" rIns="0" bIns="0" rtlCol="0" anchor="b"/>
          <a:lstStyle/>
          <a:p>
            <a:pPr algn="l" indent="0" marL="0">
              <a:buNone/>
            </a:pPr>
            <a:r>
              <a:rPr lang="en-US" sz="1400" b="1" dirty="0">
                <a:solidFill>
                  <a:srgbClr val="3F3F3F"/>
                </a:solidFill>
                <a:latin typeface="Yu Gothic UI" pitchFamily="34" charset="0"/>
                <a:ea typeface="Yu Gothic UI" pitchFamily="34" charset="-122"/>
                <a:cs typeface="Yu Gothic UI" pitchFamily="34" charset="-120"/>
              </a:rPr>
              <a:t>決定後の動き</a:t>
            </a:r>
            <a:endParaRPr lang="en-US" sz="1400" dirty="0"/>
          </a:p>
        </p:txBody>
      </p:sp>
      <p:sp>
        <p:nvSpPr>
          <p:cNvPr id="30" name="Shape 27"/>
          <p:cNvSpPr/>
          <p:nvPr/>
        </p:nvSpPr>
        <p:spPr>
          <a:xfrm>
            <a:off x="5687248" y="4507992"/>
            <a:ext cx="4017600" cy="0"/>
          </a:xfrm>
          <a:prstGeom prst="line">
            <a:avLst/>
          </a:prstGeom>
          <a:noFill/>
          <a:ln w="12700">
            <a:solidFill>
              <a:srgbClr val="7F7F7F"/>
            </a:solidFill>
            <a:prstDash val="solid"/>
          </a:ln>
        </p:spPr>
      </p:sp>
      <p:sp>
        <p:nvSpPr>
          <p:cNvPr id="31" name="Text 28"/>
          <p:cNvSpPr txBox="1"/>
          <p:nvPr/>
        </p:nvSpPr>
        <p:spPr>
          <a:xfrm>
            <a:off x="5687248" y="4617720"/>
            <a:ext cx="4017600" cy="1188720"/>
          </a:xfrm>
          <a:prstGeom prst="rect">
            <a:avLst/>
          </a:prstGeom>
          <a:noFill/>
          <a:ln/>
        </p:spPr>
        <p:txBody>
          <a:bodyPr wrap="square" lIns="0" tIns="0" rIns="0" bIns="0" rtlCol="0" anchor="t"/>
          <a:lstStyle/>
          <a:p>
            <a:pPr indent="0" marL="0">
              <a:buNone/>
            </a:pPr>
            <a:r>
              <a:rPr lang="en-US" sz="1400" dirty="0">
                <a:solidFill>
                  <a:srgbClr val="3F3F3F"/>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3F3F3F"/>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2026-10-29T00:07:08Z</dcterms:created>
  <dcterms:modified xsi:type="dcterms:W3CDTF">2026-10-29T00:07:08Z</dcterms:modified>
</cp:coreProperties>
</file>