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619125"/>
            <a:ext cx="11788974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201513" y="2819400"/>
            <a:ext cx="1151930" cy="35868"/>
          </a:xfrm>
          <a:prstGeom prst="rect">
            <a:avLst/>
          </a:prstGeom>
          <a:solidFill>
            <a:srgbClr val="1A4A9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01513" y="270421"/>
            <a:ext cx="1148334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パーツ一覧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9088" y="420886"/>
            <a:ext cx="758904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パーツ01｜表紙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513" y="2020342"/>
            <a:ext cx="1187494" cy="476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25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Text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513" y="3116610"/>
            <a:ext cx="2434721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ラベル 1：Text 2に基づく整理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513" y="6575078"/>
            <a:ext cx="55211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パーツ一覧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919436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01513" y="235907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201513" y="279871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201513" y="271314"/>
            <a:ext cx="1326952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パーツ02｜全体マップ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201513" y="505271"/>
            <a:ext cx="1212723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全体マップ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513" y="1601986"/>
            <a:ext cx="60489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ラベル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5357" y="1603325"/>
            <a:ext cx="43045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10095" y="1650950"/>
            <a:ext cx="310658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→ P.3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513" y="2041624"/>
            <a:ext cx="60489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ラベル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5357" y="2042964"/>
            <a:ext cx="46126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588" y="2090589"/>
            <a:ext cx="316385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→ P.4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513" y="2481262"/>
            <a:ext cx="60489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ラベル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5357" y="2482602"/>
            <a:ext cx="46234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9053" y="2530227"/>
            <a:ext cx="311741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→ P.5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513" y="2920901"/>
            <a:ext cx="60489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ラベル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5357" y="2922240"/>
            <a:ext cx="46667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10392" y="2969865"/>
            <a:ext cx="310348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→ P.6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43904" y="6567488"/>
            <a:ext cx="6749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2067371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01513" y="2511028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201513" y="295468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201513" y="271314"/>
            <a:ext cx="961977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パーツ03｜目次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201513" y="505271"/>
            <a:ext cx="547164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目次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513" y="1757958"/>
            <a:ext cx="17089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9362" y="1748433"/>
            <a:ext cx="54886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88485" y="1777008"/>
            <a:ext cx="20200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P.4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513" y="2201614"/>
            <a:ext cx="17089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9362" y="2192089"/>
            <a:ext cx="57966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4522" y="2220664"/>
            <a:ext cx="19596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P.6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513" y="2645271"/>
            <a:ext cx="17089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362" y="2635746"/>
            <a:ext cx="58075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4367" y="2664321"/>
            <a:ext cx="19612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P.8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20686" y="6567488"/>
            <a:ext cx="9164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619125"/>
            <a:ext cx="11788974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201513" y="270421"/>
            <a:ext cx="1148334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パーツ一覧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56318" y="420886"/>
            <a:ext cx="782586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パーツ04｜章扉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513" y="2613273"/>
            <a:ext cx="296418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513" y="2985790"/>
            <a:ext cx="1425857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ラベル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Freeform 2"/>
          <p:cNvSpPr/>
          <p:nvPr/>
        </p:nvSpPr>
        <p:spPr>
          <a:xfrm>
            <a:off x="201513" y="1484561"/>
            <a:ext cx="2839194" cy="969466"/>
          </a:xfrm>
          <a:custGeom>
            <a:avLst/>
            <a:gdLst/>
            <a:ahLst/>
            <a:cxnLst/>
            <a:rect l="l" t="t" r="r" b="b"/>
            <a:pathLst>
              <a:path w="2839194" h="969466">
                <a:moveTo>
                  <a:pt x="0" y="0"/>
                </a:moveTo>
                <a:lnTo>
                  <a:pt x="2623194" y="0"/>
                </a:lnTo>
                <a:lnTo>
                  <a:pt x="2839194" y="484733"/>
                </a:lnTo>
                <a:lnTo>
                  <a:pt x="2623194" y="969466"/>
                </a:lnTo>
                <a:lnTo>
                  <a:pt x="0" y="969466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Freeform 3"/>
          <p:cNvSpPr/>
          <p:nvPr/>
        </p:nvSpPr>
        <p:spPr>
          <a:xfrm>
            <a:off x="3040707" y="1484561"/>
            <a:ext cx="2983260" cy="969466"/>
          </a:xfrm>
          <a:custGeom>
            <a:avLst/>
            <a:gdLst/>
            <a:ahLst/>
            <a:cxnLst/>
            <a:rect l="l" t="t" r="r" b="b"/>
            <a:pathLst>
              <a:path w="2983260" h="969466">
                <a:moveTo>
                  <a:pt x="0" y="0"/>
                </a:moveTo>
                <a:lnTo>
                  <a:pt x="2767260" y="0"/>
                </a:lnTo>
                <a:lnTo>
                  <a:pt x="2983260" y="484733"/>
                </a:lnTo>
                <a:lnTo>
                  <a:pt x="2767260" y="969466"/>
                </a:lnTo>
                <a:lnTo>
                  <a:pt x="0" y="969466"/>
                </a:lnTo>
                <a:lnTo>
                  <a:pt x="216001" y="484733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Freeform 4"/>
          <p:cNvSpPr/>
          <p:nvPr/>
        </p:nvSpPr>
        <p:spPr>
          <a:xfrm>
            <a:off x="6023967" y="1484561"/>
            <a:ext cx="2983260" cy="969466"/>
          </a:xfrm>
          <a:custGeom>
            <a:avLst/>
            <a:gdLst/>
            <a:ahLst/>
            <a:cxnLst/>
            <a:rect l="l" t="t" r="r" b="b"/>
            <a:pathLst>
              <a:path w="2983260" h="969466">
                <a:moveTo>
                  <a:pt x="0" y="0"/>
                </a:moveTo>
                <a:lnTo>
                  <a:pt x="2767260" y="0"/>
                </a:lnTo>
                <a:lnTo>
                  <a:pt x="2983260" y="484733"/>
                </a:lnTo>
                <a:lnTo>
                  <a:pt x="2767260" y="969466"/>
                </a:lnTo>
                <a:lnTo>
                  <a:pt x="0" y="969466"/>
                </a:lnTo>
                <a:lnTo>
                  <a:pt x="216001" y="484733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Freeform 5"/>
          <p:cNvSpPr/>
          <p:nvPr/>
        </p:nvSpPr>
        <p:spPr>
          <a:xfrm>
            <a:off x="9007227" y="1484561"/>
            <a:ext cx="2983260" cy="969466"/>
          </a:xfrm>
          <a:custGeom>
            <a:avLst/>
            <a:gdLst/>
            <a:ahLst/>
            <a:cxnLst/>
            <a:rect l="l" t="t" r="r" b="b"/>
            <a:pathLst>
              <a:path w="2983260" h="969466">
                <a:moveTo>
                  <a:pt x="0" y="0"/>
                </a:moveTo>
                <a:lnTo>
                  <a:pt x="2767259" y="0"/>
                </a:lnTo>
                <a:lnTo>
                  <a:pt x="2983260" y="484733"/>
                </a:lnTo>
                <a:lnTo>
                  <a:pt x="2767259" y="969466"/>
                </a:lnTo>
                <a:lnTo>
                  <a:pt x="0" y="969466"/>
                </a:lnTo>
                <a:lnTo>
                  <a:pt x="216000" y="484733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01513" y="271314"/>
            <a:ext cx="2011859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パーツ05｜矢羽（プロセス・変遷）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201513" y="505271"/>
            <a:ext cx="2453604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矢羽（プロセス・変遷）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446" y="1654969"/>
            <a:ext cx="947118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YYYY年M月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446" y="1873597"/>
            <a:ext cx="50011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ラベル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446" y="2106513"/>
            <a:ext cx="34115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706" y="1654969"/>
            <a:ext cx="947118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YYYY年M月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706" y="1873597"/>
            <a:ext cx="527661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ラベル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706" y="2106513"/>
            <a:ext cx="36529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966" y="1654969"/>
            <a:ext cx="947118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YYYY年M月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966" y="1873597"/>
            <a:ext cx="529828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ラベル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966" y="2106513"/>
            <a:ext cx="36622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1226" y="1654969"/>
            <a:ext cx="336042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現在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1226" y="1873597"/>
            <a:ext cx="534162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ラベル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1226" y="2106513"/>
            <a:ext cx="36947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9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19793" y="6567488"/>
            <a:ext cx="9257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795165"/>
            <a:ext cx="6688485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1513" y="1925836"/>
          <a:ext cx="6688484" cy="130939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408509"/>
                <a:gridCol w="5279975"/>
              </a:tblGrid>
              <a:tr h="434876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YYYY年M月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66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1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39638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YYYY年M月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66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2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34876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YYYY年M月〜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66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3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Freeform 4"/>
          <p:cNvSpPr/>
          <p:nvPr/>
        </p:nvSpPr>
        <p:spPr>
          <a:xfrm>
            <a:off x="7105948" y="2188369"/>
            <a:ext cx="209550" cy="342900"/>
          </a:xfrm>
          <a:custGeom>
            <a:avLst/>
            <a:gdLst/>
            <a:ahLst/>
            <a:cxnLst/>
            <a:rect l="l" t="t" r="r" b="b"/>
            <a:pathLst>
              <a:path w="209550" h="342900">
                <a:moveTo>
                  <a:pt x="0" y="0"/>
                </a:moveTo>
                <a:lnTo>
                  <a:pt x="0" y="342900"/>
                </a:lnTo>
                <a:lnTo>
                  <a:pt x="209550" y="17145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7531447" y="1795165"/>
            <a:ext cx="4459040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201513" y="271314"/>
            <a:ext cx="200025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パーツ06｜前提→帰結の2カラム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201513" y="505271"/>
            <a:ext cx="2422029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前提→帰結の2カラム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513" y="1525191"/>
            <a:ext cx="167954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Text 1の推移（事実）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31447" y="1525191"/>
            <a:ext cx="158187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Text 2に起きる変化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3372" y="2131516"/>
            <a:ext cx="172334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7000" indent="-1270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4（語尾は階層内で統一）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3372" y="2449860"/>
            <a:ext cx="403217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7000" indent="-1270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3372" y="2768203"/>
            <a:ext cx="40492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7000" indent="-1270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16519" y="6567488"/>
            <a:ext cx="9597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795165"/>
            <a:ext cx="6688485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1513" y="1925836"/>
          <a:ext cx="6688485" cy="143976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768525"/>
                <a:gridCol w="1408509"/>
                <a:gridCol w="3511451"/>
              </a:tblGrid>
              <a:tr h="478334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ラベル 2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0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 3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66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1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83096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ラベル 4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0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 5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66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2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78334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ラベル 6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0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 7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66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3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Freeform 4"/>
          <p:cNvSpPr/>
          <p:nvPr/>
        </p:nvSpPr>
        <p:spPr>
          <a:xfrm>
            <a:off x="7105948" y="2253555"/>
            <a:ext cx="209550" cy="342900"/>
          </a:xfrm>
          <a:custGeom>
            <a:avLst/>
            <a:gdLst/>
            <a:ahLst/>
            <a:cxnLst/>
            <a:rect l="l" t="t" r="r" b="b"/>
            <a:pathLst>
              <a:path w="209550" h="342900">
                <a:moveTo>
                  <a:pt x="0" y="0"/>
                </a:moveTo>
                <a:lnTo>
                  <a:pt x="0" y="342900"/>
                </a:lnTo>
                <a:lnTo>
                  <a:pt x="209550" y="17145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7531447" y="1795165"/>
            <a:ext cx="4459040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201513" y="271314"/>
            <a:ext cx="2182118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パーツ07｜大型数値の表＋読み取り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201513" y="505271"/>
            <a:ext cx="2794278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大型数値の表＋読み取り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513" y="1525191"/>
            <a:ext cx="199359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数値で見るText 1の現状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31447" y="1525191"/>
            <a:ext cx="201619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数値から言える意味合い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3372" y="2196703"/>
            <a:ext cx="40832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7000" indent="-1270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3372" y="2515046"/>
            <a:ext cx="403217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7000" indent="-1270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3372" y="2833390"/>
            <a:ext cx="40492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7000" indent="-1270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20984" y="6567488"/>
            <a:ext cx="9133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201513" y="1484561"/>
            <a:ext cx="5822454" cy="22709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201513" y="1886694"/>
            <a:ext cx="5822454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6167884" y="1484561"/>
            <a:ext cx="5822603" cy="22709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6167884" y="1886694"/>
            <a:ext cx="5822603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sp>
        <p:nvSpPr>
          <p:cNvPr id="7" name="Rectangle 6"/>
          <p:cNvSpPr/>
          <p:nvPr/>
        </p:nvSpPr>
        <p:spPr>
          <a:xfrm>
            <a:off x="201513" y="3899446"/>
            <a:ext cx="5822454" cy="22709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8" name="Connector 7"/>
          <p:cNvCxnSpPr/>
          <p:nvPr/>
        </p:nvCxnSpPr>
        <p:spPr>
          <a:xfrm>
            <a:off x="201513" y="4301579"/>
            <a:ext cx="5822454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6167884" y="3899446"/>
            <a:ext cx="5822603" cy="22709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0" name="Connector 9"/>
          <p:cNvCxnSpPr/>
          <p:nvPr/>
        </p:nvCxnSpPr>
        <p:spPr>
          <a:xfrm>
            <a:off x="6167884" y="4301579"/>
            <a:ext cx="5822603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201513" y="271314"/>
            <a:ext cx="1657255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パーツ08｜並列カード 2×2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201513" y="505271"/>
            <a:ext cx="1704773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並列カード 2×2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430" y="1610469"/>
            <a:ext cx="267478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ラベル 1：ラベル 2（主語＋何をするで統一）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514" y="2045940"/>
            <a:ext cx="5737442" cy="3682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7000" indent="-12700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  <a:p>
            <a:pPr algn="l" marL="127000" indent="-12700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1801" y="1610469"/>
            <a:ext cx="116551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ラベル 3：ラベル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9884" y="2045940"/>
            <a:ext cx="5737596" cy="3682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7000" indent="-12700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  <a:p>
            <a:pPr algn="l" marL="127000" indent="-12700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430" y="4025354"/>
            <a:ext cx="116071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ラベル 5：ラベル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514" y="4460825"/>
            <a:ext cx="5737442" cy="3682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7000" indent="-12700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5</a:t>
            </a:r>
          </a:p>
          <a:p>
            <a:pPr algn="l" marL="127000" indent="-12700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1801" y="4025354"/>
            <a:ext cx="115251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ラベル 7：ラベル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9884" y="4460825"/>
            <a:ext cx="5737596" cy="3682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7000" indent="-12700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7</a:t>
            </a:r>
          </a:p>
          <a:p>
            <a:pPr algn="l" marL="127000" indent="-12700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19496" y="6567488"/>
            <a:ext cx="9288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513" y="1484561"/>
          <a:ext cx="11788974" cy="2692897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51745"/>
                <a:gridCol w="4049762"/>
                <a:gridCol w="2699742"/>
                <a:gridCol w="2987725"/>
              </a:tblGrid>
              <a:tr h="405408">
                <a:tc>
                  <a:txBody>
                    <a:bodyPr wrap="square"/>
                    <a:lstStyle/>
                    <a:p>
                      <a:pPr algn="l">
                        <a:lnSpc>
                          <a:spcPts val="17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 1（軸）</a:t>
                      </a:r>
                      <a:endParaRPr sz="100"/>
                    </a:p>
                  </a:txBody>
                  <a:tcPr marT="90000" marR="90000" marB="90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7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 2</a:t>
                      </a:r>
                      <a:endParaRPr sz="100"/>
                    </a:p>
                  </a:txBody>
                  <a:tcPr marT="90000" marR="90000" marB="90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7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 3</a:t>
                      </a:r>
                      <a:endParaRPr sz="100"/>
                    </a:p>
                  </a:txBody>
                  <a:tcPr marT="90000" marR="90000" marB="90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7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 4</a:t>
                      </a:r>
                      <a:endParaRPr sz="100"/>
                    </a:p>
                  </a:txBody>
                  <a:tcPr marT="90000" marR="90000" marB="90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2626"/>
                      </a:solidFill>
                    </a:lnB>
                    <a:noFill/>
                  </a:tcPr>
                </a:tc>
              </a:tr>
              <a:tr h="764084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ラベル 5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66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1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66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 6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marL="146050" indent="-146050">
                        <a:lnSpc>
                          <a:spcPts val="18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Yu Gothic"/>
                        <a:buChar char="•"/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1</a:t>
                      </a:r>
                      <a:endParaRPr sz="100"/>
                    </a:p>
                    <a:p>
                      <a:pPr algn="l" marL="146050" indent="-146050">
                        <a:lnSpc>
                          <a:spcPts val="18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Yu Gothic"/>
                        <a:buChar char="•"/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2</a:t>
                      </a:r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764084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ラベル 8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66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2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66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 9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marL="146050" indent="-146050">
                        <a:lnSpc>
                          <a:spcPts val="18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Yu Gothic"/>
                        <a:buChar char="•"/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3</a:t>
                      </a:r>
                      <a:endParaRPr sz="100"/>
                    </a:p>
                    <a:p>
                      <a:pPr algn="l" marL="146050" indent="-146050">
                        <a:lnSpc>
                          <a:spcPts val="18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Yu Gothic"/>
                        <a:buChar char="•"/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4</a:t>
                      </a:r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759321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ラベル 11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66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3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66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 12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marL="146050" indent="-146050">
                        <a:lnSpc>
                          <a:spcPts val="18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Yu Gothic"/>
                        <a:buChar char="•"/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5</a:t>
                      </a:r>
                      <a:endParaRPr sz="100"/>
                    </a:p>
                    <a:p>
                      <a:pPr algn="l" marL="146050" indent="-146050">
                        <a:lnSpc>
                          <a:spcPts val="18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Yu Gothic"/>
                        <a:buChar char="•"/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6</a:t>
                      </a:r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1513" y="271314"/>
            <a:ext cx="1356205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パーツ09｜軸のある表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01513" y="505271"/>
            <a:ext cx="1265503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軸のある表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25746" y="6567488"/>
            <a:ext cx="8638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619125"/>
            <a:ext cx="11788974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201513" y="270421"/>
            <a:ext cx="1148334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パーツ一覧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9551" y="420886"/>
            <a:ext cx="872823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パーツ10｜裏表紙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513" y="2802880"/>
            <a:ext cx="890623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会社名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513" y="3250406"/>
            <a:ext cx="61341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連絡先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513" y="6575078"/>
            <a:ext cx="55211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パーツ一覧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201513" y="1484561"/>
            <a:ext cx="2231975" cy="188103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2721471" y="1795165"/>
            <a:ext cx="9269016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21471" y="1925836"/>
          <a:ext cx="9269016" cy="143976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624459"/>
                <a:gridCol w="1120527"/>
                <a:gridCol w="6524030"/>
              </a:tblGrid>
              <a:tr h="478334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ラベル 7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0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 8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66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1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83096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ラベル 9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0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 10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66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2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78334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ラベル 11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0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 12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66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3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01513" y="271314"/>
            <a:ext cx="1578471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パーツ11｜主張パネル＋図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201513" y="505271"/>
            <a:ext cx="1783092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主張パネル＋図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7463" y="1681460"/>
            <a:ext cx="190702" cy="3619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6A6A6"/>
                </a:solidFill>
                <a:latin typeface="Yu Mincho"/>
                <a:ea typeface="Yu Mincho"/>
                <a:cs typeface="Yu Minch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463" y="2084636"/>
            <a:ext cx="106831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9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6A6A6"/>
                </a:solidFill>
                <a:latin typeface="Yu Gothic"/>
                <a:ea typeface="Yu Gothic"/>
                <a:cs typeface="Yu Gothic"/>
              </a:rPr>
              <a:t>ラベル 1（区分名）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463" y="2437954"/>
            <a:ext cx="1846127" cy="4756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9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Mincho"/>
                <a:ea typeface="Yu Mincho"/>
                <a:cs typeface="Yu Mincho"/>
              </a:rPr>
              <a:t>Text 1（この1枚の主張を1文で）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1471" y="1525191"/>
            <a:ext cx="59344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指標名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5473" y="1597521"/>
            <a:ext cx="112666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単位、YYYY〜YYYY年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19645" y="6567488"/>
            <a:ext cx="9272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411420" y="1484561"/>
            <a:ext cx="143917" cy="143917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1314509" y="1484561"/>
            <a:ext cx="143917" cy="14391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513" y="1808411"/>
          <a:ext cx="11788973" cy="2692897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195661"/>
                <a:gridCol w="2195661"/>
                <a:gridCol w="7397651"/>
              </a:tblGrid>
              <a:tr h="405408">
                <a:tc>
                  <a:txBody>
                    <a:bodyPr wrap="square"/>
                    <a:lstStyle/>
                    <a:p>
                      <a:pPr algn="l">
                        <a:lnSpc>
                          <a:spcPts val="17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打ち手</a:t>
                      </a:r>
                      <a:endParaRPr sz="100"/>
                    </a:p>
                  </a:txBody>
                  <a:tcPr marT="90000" marR="90000" marB="90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7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効果の幅（単位）</a:t>
                      </a:r>
                      <a:endParaRPr sz="100"/>
                    </a:p>
                  </a:txBody>
                  <a:tcPr marT="90000" marR="90000" marB="90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7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前提・制約</a:t>
                      </a:r>
                      <a:endParaRPr sz="100"/>
                    </a:p>
                  </a:txBody>
                  <a:tcPr marT="90000" marR="90000" marB="90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2626"/>
                      </a:solidFill>
                    </a:lnB>
                    <a:noFill/>
                  </a:tcPr>
                </a:tc>
              </a:tr>
              <a:tr h="764084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ラベル 2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sz="8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marL="146050" indent="-146050">
                        <a:lnSpc>
                          <a:spcPts val="18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Yu Gothic"/>
                        <a:buChar char="•"/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1</a:t>
                      </a:r>
                      <a:endParaRPr sz="100"/>
                    </a:p>
                    <a:p>
                      <a:pPr algn="l" marL="146050" indent="-146050">
                        <a:lnSpc>
                          <a:spcPts val="18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Yu Gothic"/>
                        <a:buChar char="•"/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2</a:t>
                      </a:r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764084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ラベル 5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sz="8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marL="146050" indent="-146050">
                        <a:lnSpc>
                          <a:spcPts val="18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Yu Gothic"/>
                        <a:buChar char="•"/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3</a:t>
                      </a:r>
                      <a:endParaRPr sz="100"/>
                    </a:p>
                    <a:p>
                      <a:pPr algn="l" marL="146050" indent="-146050">
                        <a:lnSpc>
                          <a:spcPts val="18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Yu Gothic"/>
                        <a:buChar char="•"/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4</a:t>
                      </a:r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759321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ラベル 8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sz="8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marL="146050" indent="-146050">
                        <a:lnSpc>
                          <a:spcPts val="18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Yu Gothic"/>
                        <a:buChar char="•"/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5</a:t>
                      </a:r>
                      <a:endParaRPr sz="100"/>
                    </a:p>
                    <a:p>
                      <a:pPr algn="l" marL="146050" indent="-146050">
                        <a:lnSpc>
                          <a:spcPts val="18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Yu Gothic"/>
                        <a:buChar char="•"/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6</a:t>
                      </a:r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Freeform 5"/>
          <p:cNvSpPr/>
          <p:nvPr/>
        </p:nvSpPr>
        <p:spPr>
          <a:xfrm>
            <a:off x="2491829" y="2496889"/>
            <a:ext cx="1716733" cy="197942"/>
          </a:xfrm>
          <a:custGeom>
            <a:avLst/>
            <a:gdLst/>
            <a:ahLst/>
            <a:cxnLst/>
            <a:rect l="l" t="t" r="r" b="b"/>
            <a:pathLst>
              <a:path w="1716733" h="197942">
                <a:moveTo>
                  <a:pt x="0" y="0"/>
                </a:moveTo>
                <a:lnTo>
                  <a:pt x="1572733" y="0"/>
                </a:lnTo>
                <a:lnTo>
                  <a:pt x="1716733" y="98971"/>
                </a:lnTo>
                <a:lnTo>
                  <a:pt x="1572733" y="197942"/>
                </a:lnTo>
                <a:lnTo>
                  <a:pt x="0" y="197942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Freeform 6"/>
          <p:cNvSpPr/>
          <p:nvPr/>
        </p:nvSpPr>
        <p:spPr>
          <a:xfrm>
            <a:off x="2491829" y="3260973"/>
            <a:ext cx="1213991" cy="197941"/>
          </a:xfrm>
          <a:custGeom>
            <a:avLst/>
            <a:gdLst/>
            <a:ahLst/>
            <a:cxnLst/>
            <a:rect l="l" t="t" r="r" b="b"/>
            <a:pathLst>
              <a:path w="1213991" h="197941">
                <a:moveTo>
                  <a:pt x="0" y="0"/>
                </a:moveTo>
                <a:lnTo>
                  <a:pt x="1069991" y="0"/>
                </a:lnTo>
                <a:lnTo>
                  <a:pt x="1213991" y="98971"/>
                </a:lnTo>
                <a:lnTo>
                  <a:pt x="1069991" y="197941"/>
                </a:lnTo>
                <a:lnTo>
                  <a:pt x="0" y="197941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Freeform 7"/>
          <p:cNvSpPr/>
          <p:nvPr/>
        </p:nvSpPr>
        <p:spPr>
          <a:xfrm>
            <a:off x="2491829" y="4025057"/>
            <a:ext cx="871984" cy="197941"/>
          </a:xfrm>
          <a:custGeom>
            <a:avLst/>
            <a:gdLst/>
            <a:ahLst/>
            <a:cxnLst/>
            <a:rect l="l" t="t" r="r" b="b"/>
            <a:pathLst>
              <a:path w="871984" h="197941">
                <a:moveTo>
                  <a:pt x="0" y="0"/>
                </a:moveTo>
                <a:lnTo>
                  <a:pt x="727984" y="0"/>
                </a:lnTo>
                <a:lnTo>
                  <a:pt x="871984" y="98970"/>
                </a:lnTo>
                <a:lnTo>
                  <a:pt x="727984" y="197941"/>
                </a:lnTo>
                <a:lnTo>
                  <a:pt x="0" y="197941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01513" y="271314"/>
            <a:ext cx="1628775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パーツ12｜打ち手の効果表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201513" y="505271"/>
            <a:ext cx="1825347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打ち手の効果表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9213" y="1486049"/>
            <a:ext cx="527971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増やす方向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12302" y="1486049"/>
            <a:ext cx="516362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減らす方向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9730" y="2522488"/>
            <a:ext cx="54886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＋00〜00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9730" y="3286571"/>
            <a:ext cx="54886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＋00〜00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9730" y="4050655"/>
            <a:ext cx="26004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−00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19496" y="6567488"/>
            <a:ext cx="9288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9396115" y="1484561"/>
            <a:ext cx="143917" cy="143917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265718" y="1484561"/>
            <a:ext cx="143917" cy="143917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0882461" y="1484561"/>
            <a:ext cx="143917" cy="143917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1589693" y="1484561"/>
            <a:ext cx="143917" cy="143917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201513" y="2119015"/>
            <a:ext cx="6193036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01513" y="2249686"/>
          <a:ext cx="6193036" cy="2165153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550021"/>
                <a:gridCol w="1821359"/>
                <a:gridCol w="1821656"/>
              </a:tblGrid>
              <a:tr h="346472">
                <a:tc>
                  <a:txBody>
                    <a:bodyPr wrap="square"/>
                    <a:lstStyle/>
                    <a:p>
                      <a:pPr algn="l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指標カテゴリー</a:t>
                      </a:r>
                      <a:endParaRPr sz="100"/>
                    </a:p>
                  </a:txBody>
                  <a:tcPr marT="72000" marR="72000" marB="72000" marL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前月比</a:t>
                      </a:r>
                      <a:endParaRPr sz="100"/>
                    </a:p>
                  </a:txBody>
                  <a:tcPr marT="72000" marR="72000" marB="72000" marL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前年比</a:t>
                      </a:r>
                      <a:endParaRPr sz="100"/>
                    </a:p>
                  </a:txBody>
                  <a:tcPr marT="72000" marR="72000" marB="72000" marL="72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2626"/>
                      </a:solidFill>
                    </a:lnB>
                    <a:noFill/>
                  </a:tcPr>
                </a:tc>
              </a:tr>
              <a:tr h="455861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ラベル 1</a:t>
                      </a:r>
                      <a:endParaRPr sz="100"/>
                    </a:p>
                  </a:txBody>
                  <a:tcPr marT="79200" marR="90000" marB="792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sz="800"/>
                    </a:p>
                  </a:txBody>
                  <a:tcPr marT="79200" marR="90000" marB="792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sz="800"/>
                    </a:p>
                  </a:txBody>
                  <a:tcPr marT="79200" marR="90000" marB="792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</a:tr>
              <a:tr h="455861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ラベル 2</a:t>
                      </a:r>
                      <a:endParaRPr sz="100"/>
                    </a:p>
                  </a:txBody>
                  <a:tcPr marT="79200" marR="90000" marB="792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sz="800"/>
                    </a:p>
                  </a:txBody>
                  <a:tcPr marT="79200" marR="90000" marB="792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sz="800"/>
                    </a:p>
                  </a:txBody>
                  <a:tcPr marT="79200" marR="90000" marB="792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</a:tr>
              <a:tr h="455861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ラベル 3</a:t>
                      </a:r>
                      <a:endParaRPr sz="100"/>
                    </a:p>
                  </a:txBody>
                  <a:tcPr marT="79200" marR="90000" marB="792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sz="800"/>
                    </a:p>
                  </a:txBody>
                  <a:tcPr marT="79200" marR="90000" marB="792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sz="800"/>
                    </a:p>
                  </a:txBody>
                  <a:tcPr marT="79200" marR="90000" marB="792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</a:tr>
              <a:tr h="451098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ラベル 4</a:t>
                      </a:r>
                      <a:endParaRPr sz="100"/>
                    </a:p>
                  </a:txBody>
                  <a:tcPr marT="79200" marR="90000" marB="792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sz="800"/>
                    </a:p>
                  </a:txBody>
                  <a:tcPr marT="79200" marR="90000" marB="792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sz="800"/>
                    </a:p>
                  </a:txBody>
                  <a:tcPr marT="79200" marR="90000" marB="792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846189" y="2680097"/>
            <a:ext cx="1636812" cy="28798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662785" y="2680097"/>
            <a:ext cx="1641872" cy="287982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846189" y="3135957"/>
            <a:ext cx="1636812" cy="287982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662785" y="3135957"/>
            <a:ext cx="1641872" cy="287982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846189" y="3591818"/>
            <a:ext cx="1636812" cy="28798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662785" y="3591818"/>
            <a:ext cx="1641872" cy="28798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846189" y="4047679"/>
            <a:ext cx="1636812" cy="287982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662785" y="4047679"/>
            <a:ext cx="1641872" cy="28798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Freeform 16"/>
          <p:cNvSpPr/>
          <p:nvPr/>
        </p:nvSpPr>
        <p:spPr>
          <a:xfrm>
            <a:off x="6610499" y="2940100"/>
            <a:ext cx="209550" cy="342900"/>
          </a:xfrm>
          <a:custGeom>
            <a:avLst/>
            <a:gdLst/>
            <a:ahLst/>
            <a:cxnLst/>
            <a:rect l="l" t="t" r="r" b="b"/>
            <a:pathLst>
              <a:path w="209550" h="342900">
                <a:moveTo>
                  <a:pt x="0" y="0"/>
                </a:moveTo>
                <a:lnTo>
                  <a:pt x="0" y="342900"/>
                </a:lnTo>
                <a:lnTo>
                  <a:pt x="209550" y="17145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8" name="Connector 17"/>
          <p:cNvCxnSpPr/>
          <p:nvPr/>
        </p:nvCxnSpPr>
        <p:spPr>
          <a:xfrm>
            <a:off x="7035998" y="2119015"/>
            <a:ext cx="4954489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201513" y="271314"/>
            <a:ext cx="2384262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パーツ13｜状態ヒートマップ＋右コメント</a:t>
            </a:r>
          </a:p>
        </p:txBody>
      </p:sp>
      <p:sp>
        <p:nvSpPr>
          <p:cNvPr id="20" name="Title"/>
          <p:cNvSpPr txBox="1"/>
          <p:nvPr/>
        </p:nvSpPr>
        <p:spPr>
          <a:xfrm>
            <a:off x="201513" y="505271"/>
            <a:ext cx="3187732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状態ヒートマップ＋右コメント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93907" y="1486049"/>
            <a:ext cx="493145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大きく改善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3510" y="1486049"/>
            <a:ext cx="230172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改善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0254" y="1486049"/>
            <a:ext cx="324279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横ばい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87485" y="1486049"/>
            <a:ext cx="230172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悪化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513" y="1849041"/>
            <a:ext cx="200659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指標カテゴリー別の状況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2423" y="1921371"/>
            <a:ext cx="87406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YYYY年M月時点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5998" y="1849041"/>
            <a:ext cx="127138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次に見るべき点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7923" y="2883247"/>
            <a:ext cx="37674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7000" indent="-1270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7923" y="3201591"/>
            <a:ext cx="403527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7000" indent="-1270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7923" y="3519934"/>
            <a:ext cx="4046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7000" indent="-1270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71871" y="6567488"/>
            <a:ext cx="14241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pic>
        <p:nvPicPr>
          <p:cNvPr id="3" name="Picture 2" descr="img_1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9867" y="1484561"/>
            <a:ext cx="165497" cy="165497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9649867" y="1484561"/>
            <a:ext cx="165497" cy="165497"/>
          </a:xfrm>
          <a:prstGeom prst="ellipse">
            <a:avLst/>
          </a:prstGeom>
          <a:noFill/>
          <a:ln w="9525">
            <a:solidFill>
              <a:srgbClr val="262626"/>
            </a:solidFill>
          </a:ln>
        </p:spPr>
        <p:txBody>
          <a:bodyPr rtlCol="0" anchor="ctr"/>
          <a:lstStyle/>
          <a:p/>
        </p:txBody>
      </p:sp>
      <p:pic>
        <p:nvPicPr>
          <p:cNvPr id="5" name="Picture 4" descr="img_14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3469" y="1484561"/>
            <a:ext cx="165497" cy="16549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373469" y="1484561"/>
            <a:ext cx="165497" cy="165497"/>
          </a:xfrm>
          <a:prstGeom prst="ellipse">
            <a:avLst/>
          </a:prstGeom>
          <a:noFill/>
          <a:ln w="9525">
            <a:solidFill>
              <a:srgbClr val="262626"/>
            </a:solidFill>
          </a:ln>
        </p:spPr>
        <p:txBody>
          <a:bodyPr rtlCol="0" anchor="ctr"/>
          <a:lstStyle/>
          <a:p/>
        </p:txBody>
      </p:sp>
      <p:pic>
        <p:nvPicPr>
          <p:cNvPr id="7" name="Picture 6" descr="img_14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0073" y="1484561"/>
            <a:ext cx="165497" cy="165497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1300073" y="1484561"/>
            <a:ext cx="165497" cy="165497"/>
          </a:xfrm>
          <a:prstGeom prst="ellipse">
            <a:avLst/>
          </a:prstGeom>
          <a:noFill/>
          <a:ln w="9525">
            <a:solidFill>
              <a:srgbClr val="262626"/>
            </a:solidFill>
          </a:ln>
        </p:spPr>
        <p:txBody>
          <a:bodyPr rtlCol="0" anchor="ctr"/>
          <a:lstStyle/>
          <a:p/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01513" y="1829991"/>
          <a:ext cx="11788974" cy="2692897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979712"/>
                <a:gridCol w="1403747"/>
                <a:gridCol w="1403747"/>
                <a:gridCol w="7001768"/>
              </a:tblGrid>
              <a:tr h="405408">
                <a:tc>
                  <a:txBody>
                    <a:bodyPr wrap="square"/>
                    <a:lstStyle/>
                    <a:p>
                      <a:pPr algn="l">
                        <a:lnSpc>
                          <a:spcPts val="17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評価軸</a:t>
                      </a:r>
                      <a:endParaRPr sz="100"/>
                    </a:p>
                  </a:txBody>
                  <a:tcPr marT="90000" marR="90000" marB="90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7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 1案</a:t>
                      </a:r>
                      <a:endParaRPr sz="100"/>
                    </a:p>
                  </a:txBody>
                  <a:tcPr marT="90000" marR="90000" marB="90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17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 2案</a:t>
                      </a:r>
                      <a:endParaRPr sz="100"/>
                    </a:p>
                  </a:txBody>
                  <a:tcPr marT="90000" marR="90000" marB="90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2626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7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判断の理由</a:t>
                      </a:r>
                      <a:endParaRPr sz="100"/>
                    </a:p>
                  </a:txBody>
                  <a:tcPr marT="90000" marR="90000" marB="90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2626"/>
                      </a:solidFill>
                    </a:lnB>
                    <a:noFill/>
                  </a:tcPr>
                </a:tc>
              </a:tr>
              <a:tr h="764084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ラベル 3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sz="8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sz="8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marL="146050" indent="-146050">
                        <a:lnSpc>
                          <a:spcPts val="18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Yu Gothic"/>
                        <a:buChar char="•"/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1</a:t>
                      </a:r>
                      <a:endParaRPr sz="100"/>
                    </a:p>
                    <a:p>
                      <a:pPr algn="l" marL="146050" indent="-146050">
                        <a:lnSpc>
                          <a:spcPts val="18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Yu Gothic"/>
                        <a:buChar char="•"/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2</a:t>
                      </a:r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764084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ラベル 4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sz="8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sz="8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marL="146050" indent="-146050">
                        <a:lnSpc>
                          <a:spcPts val="18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Yu Gothic"/>
                        <a:buChar char="•"/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3</a:t>
                      </a:r>
                      <a:endParaRPr sz="100"/>
                    </a:p>
                    <a:p>
                      <a:pPr algn="l" marL="146050" indent="-146050">
                        <a:lnSpc>
                          <a:spcPts val="18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Yu Gothic"/>
                        <a:buChar char="•"/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4</a:t>
                      </a:r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759321">
                <a:tc>
                  <a:txBody>
                    <a:bodyPr wrap="square"/>
                    <a:lstStyle/>
                    <a:p>
                      <a:pPr algn="l">
                        <a:lnSpc>
                          <a:spcPts val="168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4D4D4D"/>
                          </a:solidFill>
                          <a:latin typeface="Yu Mincho"/>
                          <a:ea typeface="Yu Mincho"/>
                          <a:cs typeface="Yu Mincho"/>
                        </a:rPr>
                        <a:t>ラベル 5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9525">
                      <a:solidFill>
                        <a:srgbClr val="262626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sz="8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sz="8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marL="146050" indent="-146050">
                        <a:lnSpc>
                          <a:spcPts val="18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Yu Gothic"/>
                        <a:buChar char="•"/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5</a:t>
                      </a:r>
                      <a:endParaRPr sz="100"/>
                    </a:p>
                    <a:p>
                      <a:pPr algn="l" marL="146050" indent="-146050">
                        <a:lnSpc>
                          <a:spcPts val="18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Font typeface="Yu Gothic"/>
                        <a:buChar char="•"/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6</a:t>
                      </a:r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" name="Picture 9" descr="img_14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2731" y="2523679"/>
            <a:ext cx="165497" cy="165497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2802731" y="2523679"/>
            <a:ext cx="165497" cy="165497"/>
          </a:xfrm>
          <a:prstGeom prst="ellipse">
            <a:avLst/>
          </a:prstGeom>
          <a:noFill/>
          <a:ln w="9525">
            <a:solidFill>
              <a:srgbClr val="262626"/>
            </a:solidFill>
          </a:ln>
        </p:spPr>
        <p:txBody>
          <a:bodyPr rtlCol="0" anchor="ctr"/>
          <a:lstStyle/>
          <a:p/>
        </p:txBody>
      </p:sp>
      <p:pic>
        <p:nvPicPr>
          <p:cNvPr id="12" name="Picture 11" descr="img_14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4097" y="2523679"/>
            <a:ext cx="165497" cy="165497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4204097" y="2523679"/>
            <a:ext cx="165497" cy="165497"/>
          </a:xfrm>
          <a:prstGeom prst="ellipse">
            <a:avLst/>
          </a:prstGeom>
          <a:noFill/>
          <a:ln w="9525">
            <a:solidFill>
              <a:srgbClr val="262626"/>
            </a:solidFill>
          </a:ln>
        </p:spPr>
        <p:txBody>
          <a:bodyPr rtlCol="0" anchor="ctr"/>
          <a:lstStyle/>
          <a:p/>
        </p:txBody>
      </p:sp>
      <p:pic>
        <p:nvPicPr>
          <p:cNvPr id="14" name="Picture 13" descr="img_14_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2731" y="3287762"/>
            <a:ext cx="165497" cy="16549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802731" y="3287762"/>
            <a:ext cx="165497" cy="165497"/>
          </a:xfrm>
          <a:prstGeom prst="ellipse">
            <a:avLst/>
          </a:prstGeom>
          <a:noFill/>
          <a:ln w="9525">
            <a:solidFill>
              <a:srgbClr val="262626"/>
            </a:solidFill>
          </a:ln>
        </p:spPr>
        <p:txBody>
          <a:bodyPr rtlCol="0" anchor="ctr"/>
          <a:lstStyle/>
          <a:p/>
        </p:txBody>
      </p:sp>
      <p:pic>
        <p:nvPicPr>
          <p:cNvPr id="16" name="Picture 15" descr="img_14_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4097" y="3287762"/>
            <a:ext cx="165497" cy="165497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4204097" y="3287762"/>
            <a:ext cx="165497" cy="165497"/>
          </a:xfrm>
          <a:prstGeom prst="ellipse">
            <a:avLst/>
          </a:prstGeom>
          <a:noFill/>
          <a:ln w="9525">
            <a:solidFill>
              <a:srgbClr val="262626"/>
            </a:solidFill>
          </a:ln>
        </p:spPr>
        <p:txBody>
          <a:bodyPr rtlCol="0" anchor="ctr"/>
          <a:lstStyle/>
          <a:p/>
        </p:txBody>
      </p:sp>
      <p:pic>
        <p:nvPicPr>
          <p:cNvPr id="18" name="Picture 17" descr="img_14_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02731" y="4051846"/>
            <a:ext cx="165497" cy="165497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2802731" y="4051846"/>
            <a:ext cx="165497" cy="165497"/>
          </a:xfrm>
          <a:prstGeom prst="ellipse">
            <a:avLst/>
          </a:prstGeom>
          <a:noFill/>
          <a:ln w="9525">
            <a:solidFill>
              <a:srgbClr val="262626"/>
            </a:solidFill>
          </a:ln>
        </p:spPr>
        <p:txBody>
          <a:bodyPr rtlCol="0" anchor="ctr"/>
          <a:lstStyle/>
          <a:p/>
        </p:txBody>
      </p:sp>
      <p:pic>
        <p:nvPicPr>
          <p:cNvPr id="20" name="Picture 19" descr="img_14_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4097" y="4051846"/>
            <a:ext cx="165497" cy="165497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4204097" y="4051846"/>
            <a:ext cx="165497" cy="165497"/>
          </a:xfrm>
          <a:prstGeom prst="ellipse">
            <a:avLst/>
          </a:prstGeom>
          <a:noFill/>
          <a:ln w="9525">
            <a:solidFill>
              <a:srgbClr val="262626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01513" y="271314"/>
            <a:ext cx="2614267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パーツ14｜充足度評価表（ハーベイボール）</a:t>
            </a:r>
          </a:p>
        </p:txBody>
      </p:sp>
      <p:sp>
        <p:nvSpPr>
          <p:cNvPr id="23" name="Title"/>
          <p:cNvSpPr txBox="1"/>
          <p:nvPr/>
        </p:nvSpPr>
        <p:spPr>
          <a:xfrm>
            <a:off x="201513" y="505271"/>
            <a:ext cx="3607653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充足度評価表（ハーベイボール）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9239" y="1496764"/>
            <a:ext cx="318861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満たす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2842" y="1496764"/>
            <a:ext cx="52998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一部満たす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19446" y="1496764"/>
            <a:ext cx="50893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満たさない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97469" y="6567488"/>
            <a:ext cx="11578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795165"/>
            <a:ext cx="11788974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sp>
        <p:nvSpPr>
          <p:cNvPr id="4" name="Rectangle 3"/>
          <p:cNvSpPr/>
          <p:nvPr/>
        </p:nvSpPr>
        <p:spPr>
          <a:xfrm>
            <a:off x="973038" y="335741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124099" y="335741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275159" y="335741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426220" y="335741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577280" y="335741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728341" y="335741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879402" y="335741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030462" y="335741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181523" y="335741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332583" y="335741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73038" y="350847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24099" y="350847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275159" y="350847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426220" y="350847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577280" y="350847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728341" y="350847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879402" y="350847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2030462" y="350847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2181523" y="350847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2332583" y="3508474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973038" y="365953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124099" y="365953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275159" y="365953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426220" y="365953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577280" y="365953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728341" y="365953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879402" y="365953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2030462" y="365953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2181523" y="365953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332583" y="365953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973038" y="381059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1124099" y="381059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1275159" y="381059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1426220" y="381059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1577280" y="381059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1728341" y="381059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879402" y="381059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030462" y="381059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2181523" y="381059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2332583" y="3810595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973038" y="3961656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1124099" y="3961656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1275159" y="3961656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1426220" y="3961656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577280" y="3961656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1728341" y="3961656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1879402" y="3961656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2030462" y="3961656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2181523" y="3961656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2332583" y="3961656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973038" y="4112716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1124099" y="4112716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275159" y="4112716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426220" y="4112716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1577280" y="4112716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1728341" y="4112716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1879402" y="4112716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2030462" y="4112716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2181523" y="4112716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2332583" y="4112716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973038" y="4263777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1124099" y="4263777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1275159" y="4263777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1426220" y="4263777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1577280" y="4263777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1728341" y="4263777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1879402" y="4263777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2030462" y="4263777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2181523" y="4263777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2332583" y="4263777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973038" y="441483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1124099" y="441483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1275159" y="441483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1426220" y="441483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1577280" y="441483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1728341" y="441483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1879402" y="441483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2030462" y="441483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2181523" y="441483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332583" y="441483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973038" y="456589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1124099" y="456589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275159" y="456589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1426220" y="456589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1577280" y="456589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1728341" y="456589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1879402" y="456589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2030462" y="456589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2181523" y="456589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2332583" y="4565898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973038" y="4716959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1124099" y="4716959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1275159" y="4716959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1426220" y="4716959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1577280" y="4716959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1728341" y="4716959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1879402" y="4716959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2030462" y="4716959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2181523" y="4716959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2332583" y="4716959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973038" y="4868019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1124099" y="4868019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3956298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4107359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4258419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4409480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4560540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4711601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4862661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5013722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5164782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5315843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3956298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4107359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4258419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4409480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4560540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4711601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4862661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5013722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5164782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5315843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3956298" y="373499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4107359" y="373499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4258419" y="373499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4409480" y="373499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4560540" y="373499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4711601" y="373499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4862661" y="373499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5013722" y="373499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5164782" y="373499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5315843" y="373499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3956298" y="388605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4107359" y="388605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8" name="Rectangle 137"/>
          <p:cNvSpPr/>
          <p:nvPr/>
        </p:nvSpPr>
        <p:spPr>
          <a:xfrm>
            <a:off x="4258419" y="388605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4409480" y="388605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4560540" y="388605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1" name="Rectangle 140"/>
          <p:cNvSpPr/>
          <p:nvPr/>
        </p:nvSpPr>
        <p:spPr>
          <a:xfrm>
            <a:off x="4711601" y="388605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4862661" y="388605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5013722" y="388605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4" name="Rectangle 143"/>
          <p:cNvSpPr/>
          <p:nvPr/>
        </p:nvSpPr>
        <p:spPr>
          <a:xfrm>
            <a:off x="5164782" y="388605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5" name="Rectangle 144"/>
          <p:cNvSpPr/>
          <p:nvPr/>
        </p:nvSpPr>
        <p:spPr>
          <a:xfrm>
            <a:off x="5315843" y="388605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6" name="Rectangle 145"/>
          <p:cNvSpPr/>
          <p:nvPr/>
        </p:nvSpPr>
        <p:spPr>
          <a:xfrm>
            <a:off x="3956298" y="4037112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7" name="Rectangle 146"/>
          <p:cNvSpPr/>
          <p:nvPr/>
        </p:nvSpPr>
        <p:spPr>
          <a:xfrm>
            <a:off x="4107359" y="4037112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8" name="Rectangle 147"/>
          <p:cNvSpPr/>
          <p:nvPr/>
        </p:nvSpPr>
        <p:spPr>
          <a:xfrm>
            <a:off x="4258419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9" name="Rectangle 148"/>
          <p:cNvSpPr/>
          <p:nvPr/>
        </p:nvSpPr>
        <p:spPr>
          <a:xfrm>
            <a:off x="4409480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0" name="Rectangle 149"/>
          <p:cNvSpPr/>
          <p:nvPr/>
        </p:nvSpPr>
        <p:spPr>
          <a:xfrm>
            <a:off x="4560540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1" name="Rectangle 150"/>
          <p:cNvSpPr/>
          <p:nvPr/>
        </p:nvSpPr>
        <p:spPr>
          <a:xfrm>
            <a:off x="4711601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2" name="Rectangle 151"/>
          <p:cNvSpPr/>
          <p:nvPr/>
        </p:nvSpPr>
        <p:spPr>
          <a:xfrm>
            <a:off x="4862661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3" name="Rectangle 152"/>
          <p:cNvSpPr/>
          <p:nvPr/>
        </p:nvSpPr>
        <p:spPr>
          <a:xfrm>
            <a:off x="5013722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4" name="Rectangle 153"/>
          <p:cNvSpPr/>
          <p:nvPr/>
        </p:nvSpPr>
        <p:spPr>
          <a:xfrm>
            <a:off x="5164782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5" name="Rectangle 154"/>
          <p:cNvSpPr/>
          <p:nvPr/>
        </p:nvSpPr>
        <p:spPr>
          <a:xfrm>
            <a:off x="5315843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6" name="Rectangle 155"/>
          <p:cNvSpPr/>
          <p:nvPr/>
        </p:nvSpPr>
        <p:spPr>
          <a:xfrm>
            <a:off x="3956298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7" name="Rectangle 156"/>
          <p:cNvSpPr/>
          <p:nvPr/>
        </p:nvSpPr>
        <p:spPr>
          <a:xfrm>
            <a:off x="4107359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8" name="Rectangle 157"/>
          <p:cNvSpPr/>
          <p:nvPr/>
        </p:nvSpPr>
        <p:spPr>
          <a:xfrm>
            <a:off x="4258419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9" name="Rectangle 158"/>
          <p:cNvSpPr/>
          <p:nvPr/>
        </p:nvSpPr>
        <p:spPr>
          <a:xfrm>
            <a:off x="4409480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0" name="Rectangle 159"/>
          <p:cNvSpPr/>
          <p:nvPr/>
        </p:nvSpPr>
        <p:spPr>
          <a:xfrm>
            <a:off x="4560540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1" name="Rectangle 160"/>
          <p:cNvSpPr/>
          <p:nvPr/>
        </p:nvSpPr>
        <p:spPr>
          <a:xfrm>
            <a:off x="4711601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2" name="Rectangle 161"/>
          <p:cNvSpPr/>
          <p:nvPr/>
        </p:nvSpPr>
        <p:spPr>
          <a:xfrm>
            <a:off x="4862661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3" name="Rectangle 162"/>
          <p:cNvSpPr/>
          <p:nvPr/>
        </p:nvSpPr>
        <p:spPr>
          <a:xfrm>
            <a:off x="5013722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4" name="Rectangle 163"/>
          <p:cNvSpPr/>
          <p:nvPr/>
        </p:nvSpPr>
        <p:spPr>
          <a:xfrm>
            <a:off x="5164782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5" name="Rectangle 164"/>
          <p:cNvSpPr/>
          <p:nvPr/>
        </p:nvSpPr>
        <p:spPr>
          <a:xfrm>
            <a:off x="5315843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6" name="Rectangle 165"/>
          <p:cNvSpPr/>
          <p:nvPr/>
        </p:nvSpPr>
        <p:spPr>
          <a:xfrm>
            <a:off x="3956298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>
            <a:off x="4107359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8" name="Rectangle 167"/>
          <p:cNvSpPr/>
          <p:nvPr/>
        </p:nvSpPr>
        <p:spPr>
          <a:xfrm>
            <a:off x="4258419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9" name="Rectangle 168"/>
          <p:cNvSpPr/>
          <p:nvPr/>
        </p:nvSpPr>
        <p:spPr>
          <a:xfrm>
            <a:off x="4409480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0" name="Rectangle 169"/>
          <p:cNvSpPr/>
          <p:nvPr/>
        </p:nvSpPr>
        <p:spPr>
          <a:xfrm>
            <a:off x="4560540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1" name="Rectangle 170"/>
          <p:cNvSpPr/>
          <p:nvPr/>
        </p:nvSpPr>
        <p:spPr>
          <a:xfrm>
            <a:off x="4711601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2" name="Rectangle 171"/>
          <p:cNvSpPr/>
          <p:nvPr/>
        </p:nvSpPr>
        <p:spPr>
          <a:xfrm>
            <a:off x="4862661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3" name="Rectangle 172"/>
          <p:cNvSpPr/>
          <p:nvPr/>
        </p:nvSpPr>
        <p:spPr>
          <a:xfrm>
            <a:off x="5013722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4" name="Rectangle 173"/>
          <p:cNvSpPr/>
          <p:nvPr/>
        </p:nvSpPr>
        <p:spPr>
          <a:xfrm>
            <a:off x="5164782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5" name="Rectangle 174"/>
          <p:cNvSpPr/>
          <p:nvPr/>
        </p:nvSpPr>
        <p:spPr>
          <a:xfrm>
            <a:off x="5315843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6" name="Rectangle 175"/>
          <p:cNvSpPr/>
          <p:nvPr/>
        </p:nvSpPr>
        <p:spPr>
          <a:xfrm>
            <a:off x="3956298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7" name="Rectangle 176"/>
          <p:cNvSpPr/>
          <p:nvPr/>
        </p:nvSpPr>
        <p:spPr>
          <a:xfrm>
            <a:off x="4107359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8" name="Rectangle 177"/>
          <p:cNvSpPr/>
          <p:nvPr/>
        </p:nvSpPr>
        <p:spPr>
          <a:xfrm>
            <a:off x="4258419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9" name="Rectangle 178"/>
          <p:cNvSpPr/>
          <p:nvPr/>
        </p:nvSpPr>
        <p:spPr>
          <a:xfrm>
            <a:off x="4409480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0" name="Rectangle 179"/>
          <p:cNvSpPr/>
          <p:nvPr/>
        </p:nvSpPr>
        <p:spPr>
          <a:xfrm>
            <a:off x="4560540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1" name="Rectangle 180"/>
          <p:cNvSpPr/>
          <p:nvPr/>
        </p:nvSpPr>
        <p:spPr>
          <a:xfrm>
            <a:off x="4711601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2" name="Rectangle 181"/>
          <p:cNvSpPr/>
          <p:nvPr/>
        </p:nvSpPr>
        <p:spPr>
          <a:xfrm>
            <a:off x="4862661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3" name="Rectangle 182"/>
          <p:cNvSpPr/>
          <p:nvPr/>
        </p:nvSpPr>
        <p:spPr>
          <a:xfrm>
            <a:off x="5013722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4" name="Rectangle 183"/>
          <p:cNvSpPr/>
          <p:nvPr/>
        </p:nvSpPr>
        <p:spPr>
          <a:xfrm>
            <a:off x="5164782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5" name="Rectangle 184"/>
          <p:cNvSpPr/>
          <p:nvPr/>
        </p:nvSpPr>
        <p:spPr>
          <a:xfrm>
            <a:off x="5315843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6" name="Rectangle 185"/>
          <p:cNvSpPr/>
          <p:nvPr/>
        </p:nvSpPr>
        <p:spPr>
          <a:xfrm>
            <a:off x="3956298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7" name="Rectangle 186"/>
          <p:cNvSpPr/>
          <p:nvPr/>
        </p:nvSpPr>
        <p:spPr>
          <a:xfrm>
            <a:off x="4107359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8" name="Rectangle 187"/>
          <p:cNvSpPr/>
          <p:nvPr/>
        </p:nvSpPr>
        <p:spPr>
          <a:xfrm>
            <a:off x="4258419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9" name="Rectangle 188"/>
          <p:cNvSpPr/>
          <p:nvPr/>
        </p:nvSpPr>
        <p:spPr>
          <a:xfrm>
            <a:off x="4409480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0" name="Rectangle 189"/>
          <p:cNvSpPr/>
          <p:nvPr/>
        </p:nvSpPr>
        <p:spPr>
          <a:xfrm>
            <a:off x="4560540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1" name="Rectangle 190"/>
          <p:cNvSpPr/>
          <p:nvPr/>
        </p:nvSpPr>
        <p:spPr>
          <a:xfrm>
            <a:off x="4711601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4862661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5013722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5164782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5" name="Rectangle 194"/>
          <p:cNvSpPr/>
          <p:nvPr/>
        </p:nvSpPr>
        <p:spPr>
          <a:xfrm>
            <a:off x="5315843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3956298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4107359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4258419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4409480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4560540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1" name="Rectangle 200"/>
          <p:cNvSpPr/>
          <p:nvPr/>
        </p:nvSpPr>
        <p:spPr>
          <a:xfrm>
            <a:off x="4711601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2" name="Rectangle 201"/>
          <p:cNvSpPr/>
          <p:nvPr/>
        </p:nvSpPr>
        <p:spPr>
          <a:xfrm>
            <a:off x="4862661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5013722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5164782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5315843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6939558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7090618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7241679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7392739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7543800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7694861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2" name="Rectangle 211"/>
          <p:cNvSpPr/>
          <p:nvPr/>
        </p:nvSpPr>
        <p:spPr>
          <a:xfrm>
            <a:off x="7845921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7996982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8148042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5" name="Rectangle 214"/>
          <p:cNvSpPr/>
          <p:nvPr/>
        </p:nvSpPr>
        <p:spPr>
          <a:xfrm>
            <a:off x="8299103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6" name="Rectangle 215"/>
          <p:cNvSpPr/>
          <p:nvPr/>
        </p:nvSpPr>
        <p:spPr>
          <a:xfrm>
            <a:off x="6939558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7" name="Rectangle 216"/>
          <p:cNvSpPr/>
          <p:nvPr/>
        </p:nvSpPr>
        <p:spPr>
          <a:xfrm>
            <a:off x="7090618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8" name="Rectangle 217"/>
          <p:cNvSpPr/>
          <p:nvPr/>
        </p:nvSpPr>
        <p:spPr>
          <a:xfrm>
            <a:off x="7241679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9" name="Rectangle 218"/>
          <p:cNvSpPr/>
          <p:nvPr/>
        </p:nvSpPr>
        <p:spPr>
          <a:xfrm>
            <a:off x="7392739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0" name="Rectangle 219"/>
          <p:cNvSpPr/>
          <p:nvPr/>
        </p:nvSpPr>
        <p:spPr>
          <a:xfrm>
            <a:off x="7543800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1" name="Rectangle 220"/>
          <p:cNvSpPr/>
          <p:nvPr/>
        </p:nvSpPr>
        <p:spPr>
          <a:xfrm>
            <a:off x="7694861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2" name="Rectangle 221"/>
          <p:cNvSpPr/>
          <p:nvPr/>
        </p:nvSpPr>
        <p:spPr>
          <a:xfrm>
            <a:off x="7845921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3" name="Rectangle 222"/>
          <p:cNvSpPr/>
          <p:nvPr/>
        </p:nvSpPr>
        <p:spPr>
          <a:xfrm>
            <a:off x="7996982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4" name="Rectangle 223"/>
          <p:cNvSpPr/>
          <p:nvPr/>
        </p:nvSpPr>
        <p:spPr>
          <a:xfrm>
            <a:off x="8148042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5" name="Rectangle 224"/>
          <p:cNvSpPr/>
          <p:nvPr/>
        </p:nvSpPr>
        <p:spPr>
          <a:xfrm>
            <a:off x="8299103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6" name="Rectangle 225"/>
          <p:cNvSpPr/>
          <p:nvPr/>
        </p:nvSpPr>
        <p:spPr>
          <a:xfrm>
            <a:off x="6939558" y="3734991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7" name="Rectangle 226"/>
          <p:cNvSpPr/>
          <p:nvPr/>
        </p:nvSpPr>
        <p:spPr>
          <a:xfrm>
            <a:off x="7090618" y="373499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8" name="Rectangle 227"/>
          <p:cNvSpPr/>
          <p:nvPr/>
        </p:nvSpPr>
        <p:spPr>
          <a:xfrm>
            <a:off x="7241679" y="373499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9" name="Rectangle 228"/>
          <p:cNvSpPr/>
          <p:nvPr/>
        </p:nvSpPr>
        <p:spPr>
          <a:xfrm>
            <a:off x="7392739" y="373499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0" name="Rectangle 229"/>
          <p:cNvSpPr/>
          <p:nvPr/>
        </p:nvSpPr>
        <p:spPr>
          <a:xfrm>
            <a:off x="7543800" y="373499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1" name="Rectangle 230"/>
          <p:cNvSpPr/>
          <p:nvPr/>
        </p:nvSpPr>
        <p:spPr>
          <a:xfrm>
            <a:off x="7694861" y="373499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2" name="Rectangle 231"/>
          <p:cNvSpPr/>
          <p:nvPr/>
        </p:nvSpPr>
        <p:spPr>
          <a:xfrm>
            <a:off x="7845921" y="373499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3" name="Rectangle 232"/>
          <p:cNvSpPr/>
          <p:nvPr/>
        </p:nvSpPr>
        <p:spPr>
          <a:xfrm>
            <a:off x="7996982" y="373499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4" name="Rectangle 233"/>
          <p:cNvSpPr/>
          <p:nvPr/>
        </p:nvSpPr>
        <p:spPr>
          <a:xfrm>
            <a:off x="8148042" y="373499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5" name="Rectangle 234"/>
          <p:cNvSpPr/>
          <p:nvPr/>
        </p:nvSpPr>
        <p:spPr>
          <a:xfrm>
            <a:off x="8299103" y="373499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6" name="Rectangle 235"/>
          <p:cNvSpPr/>
          <p:nvPr/>
        </p:nvSpPr>
        <p:spPr>
          <a:xfrm>
            <a:off x="6939558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7" name="Rectangle 236"/>
          <p:cNvSpPr/>
          <p:nvPr/>
        </p:nvSpPr>
        <p:spPr>
          <a:xfrm>
            <a:off x="7090618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8" name="Rectangle 237"/>
          <p:cNvSpPr/>
          <p:nvPr/>
        </p:nvSpPr>
        <p:spPr>
          <a:xfrm>
            <a:off x="7241679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9" name="Rectangle 238"/>
          <p:cNvSpPr/>
          <p:nvPr/>
        </p:nvSpPr>
        <p:spPr>
          <a:xfrm>
            <a:off x="7392739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0" name="Rectangle 239"/>
          <p:cNvSpPr/>
          <p:nvPr/>
        </p:nvSpPr>
        <p:spPr>
          <a:xfrm>
            <a:off x="7543800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1" name="Rectangle 240"/>
          <p:cNvSpPr/>
          <p:nvPr/>
        </p:nvSpPr>
        <p:spPr>
          <a:xfrm>
            <a:off x="7694861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2" name="Rectangle 241"/>
          <p:cNvSpPr/>
          <p:nvPr/>
        </p:nvSpPr>
        <p:spPr>
          <a:xfrm>
            <a:off x="7845921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3" name="Rectangle 242"/>
          <p:cNvSpPr/>
          <p:nvPr/>
        </p:nvSpPr>
        <p:spPr>
          <a:xfrm>
            <a:off x="7996982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4" name="Rectangle 243"/>
          <p:cNvSpPr/>
          <p:nvPr/>
        </p:nvSpPr>
        <p:spPr>
          <a:xfrm>
            <a:off x="8148042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5" name="Rectangle 244"/>
          <p:cNvSpPr/>
          <p:nvPr/>
        </p:nvSpPr>
        <p:spPr>
          <a:xfrm>
            <a:off x="8299103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6" name="Rectangle 245"/>
          <p:cNvSpPr/>
          <p:nvPr/>
        </p:nvSpPr>
        <p:spPr>
          <a:xfrm>
            <a:off x="6939558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7" name="Rectangle 246"/>
          <p:cNvSpPr/>
          <p:nvPr/>
        </p:nvSpPr>
        <p:spPr>
          <a:xfrm>
            <a:off x="7090618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8" name="Rectangle 247"/>
          <p:cNvSpPr/>
          <p:nvPr/>
        </p:nvSpPr>
        <p:spPr>
          <a:xfrm>
            <a:off x="7241679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9" name="Rectangle 248"/>
          <p:cNvSpPr/>
          <p:nvPr/>
        </p:nvSpPr>
        <p:spPr>
          <a:xfrm>
            <a:off x="7392739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0" name="Rectangle 249"/>
          <p:cNvSpPr/>
          <p:nvPr/>
        </p:nvSpPr>
        <p:spPr>
          <a:xfrm>
            <a:off x="7543800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1" name="Rectangle 250"/>
          <p:cNvSpPr/>
          <p:nvPr/>
        </p:nvSpPr>
        <p:spPr>
          <a:xfrm>
            <a:off x="7694861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2" name="Rectangle 251"/>
          <p:cNvSpPr/>
          <p:nvPr/>
        </p:nvSpPr>
        <p:spPr>
          <a:xfrm>
            <a:off x="7845921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3" name="Rectangle 252"/>
          <p:cNvSpPr/>
          <p:nvPr/>
        </p:nvSpPr>
        <p:spPr>
          <a:xfrm>
            <a:off x="7996982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4" name="Rectangle 253"/>
          <p:cNvSpPr/>
          <p:nvPr/>
        </p:nvSpPr>
        <p:spPr>
          <a:xfrm>
            <a:off x="8148042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5" name="Rectangle 254"/>
          <p:cNvSpPr/>
          <p:nvPr/>
        </p:nvSpPr>
        <p:spPr>
          <a:xfrm>
            <a:off x="8299103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6" name="Rectangle 255"/>
          <p:cNvSpPr/>
          <p:nvPr/>
        </p:nvSpPr>
        <p:spPr>
          <a:xfrm>
            <a:off x="6939558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7" name="Rectangle 256"/>
          <p:cNvSpPr/>
          <p:nvPr/>
        </p:nvSpPr>
        <p:spPr>
          <a:xfrm>
            <a:off x="7090618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8" name="Rectangle 257"/>
          <p:cNvSpPr/>
          <p:nvPr/>
        </p:nvSpPr>
        <p:spPr>
          <a:xfrm>
            <a:off x="7241679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9" name="Rectangle 258"/>
          <p:cNvSpPr/>
          <p:nvPr/>
        </p:nvSpPr>
        <p:spPr>
          <a:xfrm>
            <a:off x="7392739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0" name="Rectangle 259"/>
          <p:cNvSpPr/>
          <p:nvPr/>
        </p:nvSpPr>
        <p:spPr>
          <a:xfrm>
            <a:off x="7543800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1" name="Rectangle 260"/>
          <p:cNvSpPr/>
          <p:nvPr/>
        </p:nvSpPr>
        <p:spPr>
          <a:xfrm>
            <a:off x="7694861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2" name="Rectangle 261"/>
          <p:cNvSpPr/>
          <p:nvPr/>
        </p:nvSpPr>
        <p:spPr>
          <a:xfrm>
            <a:off x="7845921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3" name="Rectangle 262"/>
          <p:cNvSpPr/>
          <p:nvPr/>
        </p:nvSpPr>
        <p:spPr>
          <a:xfrm>
            <a:off x="7996982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4" name="Rectangle 263"/>
          <p:cNvSpPr/>
          <p:nvPr/>
        </p:nvSpPr>
        <p:spPr>
          <a:xfrm>
            <a:off x="8148042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5" name="Rectangle 264"/>
          <p:cNvSpPr/>
          <p:nvPr/>
        </p:nvSpPr>
        <p:spPr>
          <a:xfrm>
            <a:off x="8299103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6" name="Rectangle 265"/>
          <p:cNvSpPr/>
          <p:nvPr/>
        </p:nvSpPr>
        <p:spPr>
          <a:xfrm>
            <a:off x="6939558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7" name="Rectangle 266"/>
          <p:cNvSpPr/>
          <p:nvPr/>
        </p:nvSpPr>
        <p:spPr>
          <a:xfrm>
            <a:off x="7090618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8" name="Rectangle 267"/>
          <p:cNvSpPr/>
          <p:nvPr/>
        </p:nvSpPr>
        <p:spPr>
          <a:xfrm>
            <a:off x="7241679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9" name="Rectangle 268"/>
          <p:cNvSpPr/>
          <p:nvPr/>
        </p:nvSpPr>
        <p:spPr>
          <a:xfrm>
            <a:off x="7392739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0" name="Rectangle 269"/>
          <p:cNvSpPr/>
          <p:nvPr/>
        </p:nvSpPr>
        <p:spPr>
          <a:xfrm>
            <a:off x="7543800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1" name="Rectangle 270"/>
          <p:cNvSpPr/>
          <p:nvPr/>
        </p:nvSpPr>
        <p:spPr>
          <a:xfrm>
            <a:off x="7694861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2" name="Rectangle 271"/>
          <p:cNvSpPr/>
          <p:nvPr/>
        </p:nvSpPr>
        <p:spPr>
          <a:xfrm>
            <a:off x="7845921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3" name="Rectangle 272"/>
          <p:cNvSpPr/>
          <p:nvPr/>
        </p:nvSpPr>
        <p:spPr>
          <a:xfrm>
            <a:off x="7996982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4" name="Rectangle 273"/>
          <p:cNvSpPr/>
          <p:nvPr/>
        </p:nvSpPr>
        <p:spPr>
          <a:xfrm>
            <a:off x="8148042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5" name="Rectangle 274"/>
          <p:cNvSpPr/>
          <p:nvPr/>
        </p:nvSpPr>
        <p:spPr>
          <a:xfrm>
            <a:off x="8299103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6" name="Rectangle 275"/>
          <p:cNvSpPr/>
          <p:nvPr/>
        </p:nvSpPr>
        <p:spPr>
          <a:xfrm>
            <a:off x="6939558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7" name="Rectangle 276"/>
          <p:cNvSpPr/>
          <p:nvPr/>
        </p:nvSpPr>
        <p:spPr>
          <a:xfrm>
            <a:off x="7090618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8" name="Rectangle 277"/>
          <p:cNvSpPr/>
          <p:nvPr/>
        </p:nvSpPr>
        <p:spPr>
          <a:xfrm>
            <a:off x="7241679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9" name="Rectangle 278"/>
          <p:cNvSpPr/>
          <p:nvPr/>
        </p:nvSpPr>
        <p:spPr>
          <a:xfrm>
            <a:off x="7392739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0" name="Rectangle 279"/>
          <p:cNvSpPr/>
          <p:nvPr/>
        </p:nvSpPr>
        <p:spPr>
          <a:xfrm>
            <a:off x="7543800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1" name="Rectangle 280"/>
          <p:cNvSpPr/>
          <p:nvPr/>
        </p:nvSpPr>
        <p:spPr>
          <a:xfrm>
            <a:off x="7694861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2" name="Rectangle 281"/>
          <p:cNvSpPr/>
          <p:nvPr/>
        </p:nvSpPr>
        <p:spPr>
          <a:xfrm>
            <a:off x="7845921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3" name="Rectangle 282"/>
          <p:cNvSpPr/>
          <p:nvPr/>
        </p:nvSpPr>
        <p:spPr>
          <a:xfrm>
            <a:off x="7996982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4" name="Rectangle 283"/>
          <p:cNvSpPr/>
          <p:nvPr/>
        </p:nvSpPr>
        <p:spPr>
          <a:xfrm>
            <a:off x="8148042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5" name="Rectangle 284"/>
          <p:cNvSpPr/>
          <p:nvPr/>
        </p:nvSpPr>
        <p:spPr>
          <a:xfrm>
            <a:off x="8299103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6" name="Rectangle 285"/>
          <p:cNvSpPr/>
          <p:nvPr/>
        </p:nvSpPr>
        <p:spPr>
          <a:xfrm>
            <a:off x="6939558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7" name="Rectangle 286"/>
          <p:cNvSpPr/>
          <p:nvPr/>
        </p:nvSpPr>
        <p:spPr>
          <a:xfrm>
            <a:off x="7090618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8" name="Rectangle 287"/>
          <p:cNvSpPr/>
          <p:nvPr/>
        </p:nvSpPr>
        <p:spPr>
          <a:xfrm>
            <a:off x="7241679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9" name="Rectangle 288"/>
          <p:cNvSpPr/>
          <p:nvPr/>
        </p:nvSpPr>
        <p:spPr>
          <a:xfrm>
            <a:off x="7392739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0" name="Rectangle 289"/>
          <p:cNvSpPr/>
          <p:nvPr/>
        </p:nvSpPr>
        <p:spPr>
          <a:xfrm>
            <a:off x="7543800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1" name="Rectangle 290"/>
          <p:cNvSpPr/>
          <p:nvPr/>
        </p:nvSpPr>
        <p:spPr>
          <a:xfrm>
            <a:off x="7694861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2" name="Rectangle 291"/>
          <p:cNvSpPr/>
          <p:nvPr/>
        </p:nvSpPr>
        <p:spPr>
          <a:xfrm>
            <a:off x="7845921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3" name="Rectangle 292"/>
          <p:cNvSpPr/>
          <p:nvPr/>
        </p:nvSpPr>
        <p:spPr>
          <a:xfrm>
            <a:off x="7996982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4" name="Rectangle 293"/>
          <p:cNvSpPr/>
          <p:nvPr/>
        </p:nvSpPr>
        <p:spPr>
          <a:xfrm>
            <a:off x="8148042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5" name="Rectangle 294"/>
          <p:cNvSpPr/>
          <p:nvPr/>
        </p:nvSpPr>
        <p:spPr>
          <a:xfrm>
            <a:off x="8299103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6" name="Rectangle 295"/>
          <p:cNvSpPr/>
          <p:nvPr/>
        </p:nvSpPr>
        <p:spPr>
          <a:xfrm>
            <a:off x="6939558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7" name="Rectangle 296"/>
          <p:cNvSpPr/>
          <p:nvPr/>
        </p:nvSpPr>
        <p:spPr>
          <a:xfrm>
            <a:off x="7090618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8" name="Rectangle 297"/>
          <p:cNvSpPr/>
          <p:nvPr/>
        </p:nvSpPr>
        <p:spPr>
          <a:xfrm>
            <a:off x="7241679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9" name="Rectangle 298"/>
          <p:cNvSpPr/>
          <p:nvPr/>
        </p:nvSpPr>
        <p:spPr>
          <a:xfrm>
            <a:off x="7392739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0" name="Rectangle 299"/>
          <p:cNvSpPr/>
          <p:nvPr/>
        </p:nvSpPr>
        <p:spPr>
          <a:xfrm>
            <a:off x="7543800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1" name="Rectangle 300"/>
          <p:cNvSpPr/>
          <p:nvPr/>
        </p:nvSpPr>
        <p:spPr>
          <a:xfrm>
            <a:off x="7694861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2" name="Rectangle 301"/>
          <p:cNvSpPr/>
          <p:nvPr/>
        </p:nvSpPr>
        <p:spPr>
          <a:xfrm>
            <a:off x="7845921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3" name="Rectangle 302"/>
          <p:cNvSpPr/>
          <p:nvPr/>
        </p:nvSpPr>
        <p:spPr>
          <a:xfrm>
            <a:off x="7996982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4" name="Rectangle 303"/>
          <p:cNvSpPr/>
          <p:nvPr/>
        </p:nvSpPr>
        <p:spPr>
          <a:xfrm>
            <a:off x="8148042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5" name="Rectangle 304"/>
          <p:cNvSpPr/>
          <p:nvPr/>
        </p:nvSpPr>
        <p:spPr>
          <a:xfrm>
            <a:off x="9922818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6" name="Rectangle 305"/>
          <p:cNvSpPr/>
          <p:nvPr/>
        </p:nvSpPr>
        <p:spPr>
          <a:xfrm>
            <a:off x="10073878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7" name="Rectangle 306"/>
          <p:cNvSpPr/>
          <p:nvPr/>
        </p:nvSpPr>
        <p:spPr>
          <a:xfrm>
            <a:off x="10224939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8" name="Rectangle 307"/>
          <p:cNvSpPr/>
          <p:nvPr/>
        </p:nvSpPr>
        <p:spPr>
          <a:xfrm>
            <a:off x="10375999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9" name="Rectangle 308"/>
          <p:cNvSpPr/>
          <p:nvPr/>
        </p:nvSpPr>
        <p:spPr>
          <a:xfrm>
            <a:off x="10527060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0" name="Rectangle 309"/>
          <p:cNvSpPr/>
          <p:nvPr/>
        </p:nvSpPr>
        <p:spPr>
          <a:xfrm>
            <a:off x="10678120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1" name="Rectangle 310"/>
          <p:cNvSpPr/>
          <p:nvPr/>
        </p:nvSpPr>
        <p:spPr>
          <a:xfrm>
            <a:off x="10829181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2" name="Rectangle 311"/>
          <p:cNvSpPr/>
          <p:nvPr/>
        </p:nvSpPr>
        <p:spPr>
          <a:xfrm>
            <a:off x="10980241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3" name="Rectangle 312"/>
          <p:cNvSpPr/>
          <p:nvPr/>
        </p:nvSpPr>
        <p:spPr>
          <a:xfrm>
            <a:off x="11131302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4" name="Rectangle 313"/>
          <p:cNvSpPr/>
          <p:nvPr/>
        </p:nvSpPr>
        <p:spPr>
          <a:xfrm>
            <a:off x="11282362" y="343287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5" name="Rectangle 314"/>
          <p:cNvSpPr/>
          <p:nvPr/>
        </p:nvSpPr>
        <p:spPr>
          <a:xfrm>
            <a:off x="9922818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6" name="Rectangle 315"/>
          <p:cNvSpPr/>
          <p:nvPr/>
        </p:nvSpPr>
        <p:spPr>
          <a:xfrm>
            <a:off x="10073878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7" name="Rectangle 316"/>
          <p:cNvSpPr/>
          <p:nvPr/>
        </p:nvSpPr>
        <p:spPr>
          <a:xfrm>
            <a:off x="10224939" y="3583930"/>
            <a:ext cx="107900" cy="1079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8" name="Rectangle 317"/>
          <p:cNvSpPr/>
          <p:nvPr/>
        </p:nvSpPr>
        <p:spPr>
          <a:xfrm>
            <a:off x="10375999" y="3583930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9" name="Rectangle 318"/>
          <p:cNvSpPr/>
          <p:nvPr/>
        </p:nvSpPr>
        <p:spPr>
          <a:xfrm>
            <a:off x="10527060" y="3583930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0" name="Rectangle 319"/>
          <p:cNvSpPr/>
          <p:nvPr/>
        </p:nvSpPr>
        <p:spPr>
          <a:xfrm>
            <a:off x="10678120" y="3583930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1" name="Rectangle 320"/>
          <p:cNvSpPr/>
          <p:nvPr/>
        </p:nvSpPr>
        <p:spPr>
          <a:xfrm>
            <a:off x="10829181" y="3583930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2" name="Rectangle 321"/>
          <p:cNvSpPr/>
          <p:nvPr/>
        </p:nvSpPr>
        <p:spPr>
          <a:xfrm>
            <a:off x="10980241" y="3583930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3" name="Rectangle 322"/>
          <p:cNvSpPr/>
          <p:nvPr/>
        </p:nvSpPr>
        <p:spPr>
          <a:xfrm>
            <a:off x="11131302" y="3583930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4" name="Rectangle 323"/>
          <p:cNvSpPr/>
          <p:nvPr/>
        </p:nvSpPr>
        <p:spPr>
          <a:xfrm>
            <a:off x="11282362" y="3583930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5" name="Rectangle 324"/>
          <p:cNvSpPr/>
          <p:nvPr/>
        </p:nvSpPr>
        <p:spPr>
          <a:xfrm>
            <a:off x="9922818" y="373499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6" name="Rectangle 325"/>
          <p:cNvSpPr/>
          <p:nvPr/>
        </p:nvSpPr>
        <p:spPr>
          <a:xfrm>
            <a:off x="10073878" y="373499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7" name="Rectangle 326"/>
          <p:cNvSpPr/>
          <p:nvPr/>
        </p:nvSpPr>
        <p:spPr>
          <a:xfrm>
            <a:off x="10224939" y="373499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8" name="Rectangle 327"/>
          <p:cNvSpPr/>
          <p:nvPr/>
        </p:nvSpPr>
        <p:spPr>
          <a:xfrm>
            <a:off x="10375999" y="373499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9" name="Rectangle 328"/>
          <p:cNvSpPr/>
          <p:nvPr/>
        </p:nvSpPr>
        <p:spPr>
          <a:xfrm>
            <a:off x="10527060" y="373499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0" name="Rectangle 329"/>
          <p:cNvSpPr/>
          <p:nvPr/>
        </p:nvSpPr>
        <p:spPr>
          <a:xfrm>
            <a:off x="10678120" y="373499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1" name="Rectangle 330"/>
          <p:cNvSpPr/>
          <p:nvPr/>
        </p:nvSpPr>
        <p:spPr>
          <a:xfrm>
            <a:off x="10829181" y="373499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2" name="Rectangle 331"/>
          <p:cNvSpPr/>
          <p:nvPr/>
        </p:nvSpPr>
        <p:spPr>
          <a:xfrm>
            <a:off x="10980241" y="373499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3" name="Rectangle 332"/>
          <p:cNvSpPr/>
          <p:nvPr/>
        </p:nvSpPr>
        <p:spPr>
          <a:xfrm>
            <a:off x="11131302" y="373499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4" name="Rectangle 333"/>
          <p:cNvSpPr/>
          <p:nvPr/>
        </p:nvSpPr>
        <p:spPr>
          <a:xfrm>
            <a:off x="11282362" y="373499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5" name="Rectangle 334"/>
          <p:cNvSpPr/>
          <p:nvPr/>
        </p:nvSpPr>
        <p:spPr>
          <a:xfrm>
            <a:off x="9922818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6" name="Rectangle 335"/>
          <p:cNvSpPr/>
          <p:nvPr/>
        </p:nvSpPr>
        <p:spPr>
          <a:xfrm>
            <a:off x="10073878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7" name="Rectangle 336"/>
          <p:cNvSpPr/>
          <p:nvPr/>
        </p:nvSpPr>
        <p:spPr>
          <a:xfrm>
            <a:off x="10224939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8" name="Rectangle 337"/>
          <p:cNvSpPr/>
          <p:nvPr/>
        </p:nvSpPr>
        <p:spPr>
          <a:xfrm>
            <a:off x="10375999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9" name="Rectangle 338"/>
          <p:cNvSpPr/>
          <p:nvPr/>
        </p:nvSpPr>
        <p:spPr>
          <a:xfrm>
            <a:off x="10527060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0" name="Rectangle 339"/>
          <p:cNvSpPr/>
          <p:nvPr/>
        </p:nvSpPr>
        <p:spPr>
          <a:xfrm>
            <a:off x="10678120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1" name="Rectangle 340"/>
          <p:cNvSpPr/>
          <p:nvPr/>
        </p:nvSpPr>
        <p:spPr>
          <a:xfrm>
            <a:off x="10829181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2" name="Rectangle 341"/>
          <p:cNvSpPr/>
          <p:nvPr/>
        </p:nvSpPr>
        <p:spPr>
          <a:xfrm>
            <a:off x="10980241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3" name="Rectangle 342"/>
          <p:cNvSpPr/>
          <p:nvPr/>
        </p:nvSpPr>
        <p:spPr>
          <a:xfrm>
            <a:off x="11131302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4" name="Rectangle 343"/>
          <p:cNvSpPr/>
          <p:nvPr/>
        </p:nvSpPr>
        <p:spPr>
          <a:xfrm>
            <a:off x="11282362" y="3886051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5" name="Rectangle 344"/>
          <p:cNvSpPr/>
          <p:nvPr/>
        </p:nvSpPr>
        <p:spPr>
          <a:xfrm>
            <a:off x="9922818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6" name="Rectangle 345"/>
          <p:cNvSpPr/>
          <p:nvPr/>
        </p:nvSpPr>
        <p:spPr>
          <a:xfrm>
            <a:off x="10073878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7" name="Rectangle 346"/>
          <p:cNvSpPr/>
          <p:nvPr/>
        </p:nvSpPr>
        <p:spPr>
          <a:xfrm>
            <a:off x="10224939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8" name="Rectangle 347"/>
          <p:cNvSpPr/>
          <p:nvPr/>
        </p:nvSpPr>
        <p:spPr>
          <a:xfrm>
            <a:off x="10375999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9" name="Rectangle 348"/>
          <p:cNvSpPr/>
          <p:nvPr/>
        </p:nvSpPr>
        <p:spPr>
          <a:xfrm>
            <a:off x="10527060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0" name="Rectangle 349"/>
          <p:cNvSpPr/>
          <p:nvPr/>
        </p:nvSpPr>
        <p:spPr>
          <a:xfrm>
            <a:off x="10678120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1" name="Rectangle 350"/>
          <p:cNvSpPr/>
          <p:nvPr/>
        </p:nvSpPr>
        <p:spPr>
          <a:xfrm>
            <a:off x="10829181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2" name="Rectangle 351"/>
          <p:cNvSpPr/>
          <p:nvPr/>
        </p:nvSpPr>
        <p:spPr>
          <a:xfrm>
            <a:off x="10980241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3" name="Rectangle 352"/>
          <p:cNvSpPr/>
          <p:nvPr/>
        </p:nvSpPr>
        <p:spPr>
          <a:xfrm>
            <a:off x="11131302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4" name="Rectangle 353"/>
          <p:cNvSpPr/>
          <p:nvPr/>
        </p:nvSpPr>
        <p:spPr>
          <a:xfrm>
            <a:off x="11282362" y="403711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5" name="Rectangle 354"/>
          <p:cNvSpPr/>
          <p:nvPr/>
        </p:nvSpPr>
        <p:spPr>
          <a:xfrm>
            <a:off x="9922818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6" name="Rectangle 355"/>
          <p:cNvSpPr/>
          <p:nvPr/>
        </p:nvSpPr>
        <p:spPr>
          <a:xfrm>
            <a:off x="10073878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7" name="Rectangle 356"/>
          <p:cNvSpPr/>
          <p:nvPr/>
        </p:nvSpPr>
        <p:spPr>
          <a:xfrm>
            <a:off x="10224939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8" name="Rectangle 357"/>
          <p:cNvSpPr/>
          <p:nvPr/>
        </p:nvSpPr>
        <p:spPr>
          <a:xfrm>
            <a:off x="10375999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9" name="Rectangle 358"/>
          <p:cNvSpPr/>
          <p:nvPr/>
        </p:nvSpPr>
        <p:spPr>
          <a:xfrm>
            <a:off x="10527060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0" name="Rectangle 359"/>
          <p:cNvSpPr/>
          <p:nvPr/>
        </p:nvSpPr>
        <p:spPr>
          <a:xfrm>
            <a:off x="10678120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1" name="Rectangle 360"/>
          <p:cNvSpPr/>
          <p:nvPr/>
        </p:nvSpPr>
        <p:spPr>
          <a:xfrm>
            <a:off x="10829181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2" name="Rectangle 361"/>
          <p:cNvSpPr/>
          <p:nvPr/>
        </p:nvSpPr>
        <p:spPr>
          <a:xfrm>
            <a:off x="10980241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3" name="Rectangle 362"/>
          <p:cNvSpPr/>
          <p:nvPr/>
        </p:nvSpPr>
        <p:spPr>
          <a:xfrm>
            <a:off x="11131302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4" name="Rectangle 363"/>
          <p:cNvSpPr/>
          <p:nvPr/>
        </p:nvSpPr>
        <p:spPr>
          <a:xfrm>
            <a:off x="11282362" y="4188172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5" name="Rectangle 364"/>
          <p:cNvSpPr/>
          <p:nvPr/>
        </p:nvSpPr>
        <p:spPr>
          <a:xfrm>
            <a:off x="9922818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6" name="Rectangle 365"/>
          <p:cNvSpPr/>
          <p:nvPr/>
        </p:nvSpPr>
        <p:spPr>
          <a:xfrm>
            <a:off x="10073878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7" name="Rectangle 366"/>
          <p:cNvSpPr/>
          <p:nvPr/>
        </p:nvSpPr>
        <p:spPr>
          <a:xfrm>
            <a:off x="10224939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8" name="Rectangle 367"/>
          <p:cNvSpPr/>
          <p:nvPr/>
        </p:nvSpPr>
        <p:spPr>
          <a:xfrm>
            <a:off x="10375999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9" name="Rectangle 368"/>
          <p:cNvSpPr/>
          <p:nvPr/>
        </p:nvSpPr>
        <p:spPr>
          <a:xfrm>
            <a:off x="10527060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0" name="Rectangle 369"/>
          <p:cNvSpPr/>
          <p:nvPr/>
        </p:nvSpPr>
        <p:spPr>
          <a:xfrm>
            <a:off x="10678120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1" name="Rectangle 370"/>
          <p:cNvSpPr/>
          <p:nvPr/>
        </p:nvSpPr>
        <p:spPr>
          <a:xfrm>
            <a:off x="10829181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2" name="Rectangle 371"/>
          <p:cNvSpPr/>
          <p:nvPr/>
        </p:nvSpPr>
        <p:spPr>
          <a:xfrm>
            <a:off x="10980241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3" name="Rectangle 372"/>
          <p:cNvSpPr/>
          <p:nvPr/>
        </p:nvSpPr>
        <p:spPr>
          <a:xfrm>
            <a:off x="11131302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4" name="Rectangle 373"/>
          <p:cNvSpPr/>
          <p:nvPr/>
        </p:nvSpPr>
        <p:spPr>
          <a:xfrm>
            <a:off x="11282362" y="433923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5" name="Rectangle 374"/>
          <p:cNvSpPr/>
          <p:nvPr/>
        </p:nvSpPr>
        <p:spPr>
          <a:xfrm>
            <a:off x="9922818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6" name="Rectangle 375"/>
          <p:cNvSpPr/>
          <p:nvPr/>
        </p:nvSpPr>
        <p:spPr>
          <a:xfrm>
            <a:off x="10073878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7" name="Rectangle 376"/>
          <p:cNvSpPr/>
          <p:nvPr/>
        </p:nvSpPr>
        <p:spPr>
          <a:xfrm>
            <a:off x="10224939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8" name="Rectangle 377"/>
          <p:cNvSpPr/>
          <p:nvPr/>
        </p:nvSpPr>
        <p:spPr>
          <a:xfrm>
            <a:off x="10375999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9" name="Rectangle 378"/>
          <p:cNvSpPr/>
          <p:nvPr/>
        </p:nvSpPr>
        <p:spPr>
          <a:xfrm>
            <a:off x="10527060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0" name="Rectangle 379"/>
          <p:cNvSpPr/>
          <p:nvPr/>
        </p:nvSpPr>
        <p:spPr>
          <a:xfrm>
            <a:off x="10678120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1" name="Rectangle 380"/>
          <p:cNvSpPr/>
          <p:nvPr/>
        </p:nvSpPr>
        <p:spPr>
          <a:xfrm>
            <a:off x="10829181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2" name="Rectangle 381"/>
          <p:cNvSpPr/>
          <p:nvPr/>
        </p:nvSpPr>
        <p:spPr>
          <a:xfrm>
            <a:off x="10980241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3" name="Rectangle 382"/>
          <p:cNvSpPr/>
          <p:nvPr/>
        </p:nvSpPr>
        <p:spPr>
          <a:xfrm>
            <a:off x="11131302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4" name="Rectangle 383"/>
          <p:cNvSpPr/>
          <p:nvPr/>
        </p:nvSpPr>
        <p:spPr>
          <a:xfrm>
            <a:off x="11282362" y="4490293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5" name="Rectangle 384"/>
          <p:cNvSpPr/>
          <p:nvPr/>
        </p:nvSpPr>
        <p:spPr>
          <a:xfrm>
            <a:off x="9922818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6" name="Rectangle 385"/>
          <p:cNvSpPr/>
          <p:nvPr/>
        </p:nvSpPr>
        <p:spPr>
          <a:xfrm>
            <a:off x="10073878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7" name="Rectangle 386"/>
          <p:cNvSpPr/>
          <p:nvPr/>
        </p:nvSpPr>
        <p:spPr>
          <a:xfrm>
            <a:off x="10224939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8" name="Rectangle 387"/>
          <p:cNvSpPr/>
          <p:nvPr/>
        </p:nvSpPr>
        <p:spPr>
          <a:xfrm>
            <a:off x="10375999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9" name="Rectangle 388"/>
          <p:cNvSpPr/>
          <p:nvPr/>
        </p:nvSpPr>
        <p:spPr>
          <a:xfrm>
            <a:off x="10527060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0" name="Rectangle 389"/>
          <p:cNvSpPr/>
          <p:nvPr/>
        </p:nvSpPr>
        <p:spPr>
          <a:xfrm>
            <a:off x="10678120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1" name="Rectangle 390"/>
          <p:cNvSpPr/>
          <p:nvPr/>
        </p:nvSpPr>
        <p:spPr>
          <a:xfrm>
            <a:off x="10829181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2" name="Rectangle 391"/>
          <p:cNvSpPr/>
          <p:nvPr/>
        </p:nvSpPr>
        <p:spPr>
          <a:xfrm>
            <a:off x="10980241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3" name="Rectangle 392"/>
          <p:cNvSpPr/>
          <p:nvPr/>
        </p:nvSpPr>
        <p:spPr>
          <a:xfrm>
            <a:off x="11131302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4" name="Rectangle 393"/>
          <p:cNvSpPr/>
          <p:nvPr/>
        </p:nvSpPr>
        <p:spPr>
          <a:xfrm>
            <a:off x="11282362" y="464135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5" name="Rectangle 394"/>
          <p:cNvSpPr/>
          <p:nvPr/>
        </p:nvSpPr>
        <p:spPr>
          <a:xfrm>
            <a:off x="9922818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6" name="Rectangle 395"/>
          <p:cNvSpPr/>
          <p:nvPr/>
        </p:nvSpPr>
        <p:spPr>
          <a:xfrm>
            <a:off x="10073878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7" name="Rectangle 396"/>
          <p:cNvSpPr/>
          <p:nvPr/>
        </p:nvSpPr>
        <p:spPr>
          <a:xfrm>
            <a:off x="10224939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8" name="Rectangle 397"/>
          <p:cNvSpPr/>
          <p:nvPr/>
        </p:nvSpPr>
        <p:spPr>
          <a:xfrm>
            <a:off x="10375999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9" name="Rectangle 398"/>
          <p:cNvSpPr/>
          <p:nvPr/>
        </p:nvSpPr>
        <p:spPr>
          <a:xfrm>
            <a:off x="10527060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0" name="Rectangle 399"/>
          <p:cNvSpPr/>
          <p:nvPr/>
        </p:nvSpPr>
        <p:spPr>
          <a:xfrm>
            <a:off x="10678120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1" name="Rectangle 400"/>
          <p:cNvSpPr/>
          <p:nvPr/>
        </p:nvSpPr>
        <p:spPr>
          <a:xfrm>
            <a:off x="10829181" y="4792414"/>
            <a:ext cx="107900" cy="1079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2" name="TextBox 401"/>
          <p:cNvSpPr txBox="1"/>
          <p:nvPr/>
        </p:nvSpPr>
        <p:spPr>
          <a:xfrm>
            <a:off x="201513" y="271314"/>
            <a:ext cx="1977962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パーツ15｜割合のドットマトリクス</a:t>
            </a:r>
          </a:p>
        </p:txBody>
      </p:sp>
      <p:sp>
        <p:nvSpPr>
          <p:cNvPr id="403" name="Title"/>
          <p:cNvSpPr txBox="1"/>
          <p:nvPr/>
        </p:nvSpPr>
        <p:spPr>
          <a:xfrm>
            <a:off x="201513" y="505271"/>
            <a:ext cx="2448342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割合のドットマトリクス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201513" y="1525191"/>
            <a:ext cx="229232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Text 1に取り組んでいる領域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9977586" y="1597521"/>
            <a:ext cx="211246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回答者に占める割合、n=ラベル 2、複数回答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401366" y="3038921"/>
            <a:ext cx="475964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58%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1391719" y="5075337"/>
            <a:ext cx="45878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 3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4383137" y="3114377"/>
            <a:ext cx="47906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42%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4373127" y="4999732"/>
            <a:ext cx="46218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 4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7389614" y="3114377"/>
            <a:ext cx="430613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21%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7358705" y="4999732"/>
            <a:ext cx="4577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 5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10371386" y="3114377"/>
            <a:ext cx="433709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13%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10341194" y="4999732"/>
            <a:ext cx="45909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 6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11874252" y="6567488"/>
            <a:ext cx="13993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795165"/>
            <a:ext cx="11788974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pic>
        <p:nvPicPr>
          <p:cNvPr id="4" name="Picture 3" descr="img_16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13" y="2105769"/>
            <a:ext cx="11788973" cy="40646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513" y="271314"/>
            <a:ext cx="163295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パーツ16｜進捗バブル行列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201513" y="505271"/>
            <a:ext cx="1830610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進捗バブル行列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513" y="1525191"/>
            <a:ext cx="187441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取り組み段階別の件数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17039" y="1597521"/>
            <a:ext cx="71943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件、n=ラベル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73359" y="6567488"/>
            <a:ext cx="14086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5780484" y="1297484"/>
            <a:ext cx="143917" cy="143917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575227" y="1297484"/>
            <a:ext cx="143917" cy="14391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201513" y="1795165"/>
            <a:ext cx="6859935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pic>
        <p:nvPicPr>
          <p:cNvPr id="6" name="Picture 5" descr="img_17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13" y="1925836"/>
            <a:ext cx="6859935" cy="2765971"/>
          </a:xfrm>
          <a:prstGeom prst="rect">
            <a:avLst/>
          </a:prstGeom>
        </p:spPr>
      </p:pic>
      <p:sp>
        <p:nvSpPr>
          <p:cNvPr id="7" name="Freeform 6"/>
          <p:cNvSpPr/>
          <p:nvPr/>
        </p:nvSpPr>
        <p:spPr>
          <a:xfrm>
            <a:off x="7277398" y="2916734"/>
            <a:ext cx="209550" cy="342900"/>
          </a:xfrm>
          <a:custGeom>
            <a:avLst/>
            <a:gdLst/>
            <a:ahLst/>
            <a:cxnLst/>
            <a:rect l="l" t="t" r="r" b="b"/>
            <a:pathLst>
              <a:path w="209550" h="342900">
                <a:moveTo>
                  <a:pt x="0" y="0"/>
                </a:moveTo>
                <a:lnTo>
                  <a:pt x="0" y="342900"/>
                </a:lnTo>
                <a:lnTo>
                  <a:pt x="209550" y="17145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8" name="Connector 7"/>
          <p:cNvCxnSpPr/>
          <p:nvPr/>
        </p:nvCxnSpPr>
        <p:spPr>
          <a:xfrm>
            <a:off x="7702897" y="1795165"/>
            <a:ext cx="4287590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201513" y="271314"/>
            <a:ext cx="190428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パーツ17｜分布の順位棒＋注記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201513" y="505271"/>
            <a:ext cx="2340150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分布の順位棒＋注記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8277" y="1298972"/>
            <a:ext cx="41529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上位N社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3019" y="1298972"/>
            <a:ext cx="31901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その他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513" y="1525191"/>
            <a:ext cx="59344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指標名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6434" y="1597521"/>
            <a:ext cx="112666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単位、YYYY〜YYYY年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2897" y="1525191"/>
            <a:ext cx="142492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Text 4に絞る理由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4822" y="2859881"/>
            <a:ext cx="37674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7000" indent="-1270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4822" y="3178225"/>
            <a:ext cx="403527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7000" indent="-1270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4822" y="3496568"/>
            <a:ext cx="4046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7000" indent="-1270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70085" y="6567488"/>
            <a:ext cx="14426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795165"/>
            <a:ext cx="11788974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pic>
        <p:nvPicPr>
          <p:cNvPr id="4" name="Picture 3" descr="img_18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13" y="2105769"/>
            <a:ext cx="11788973" cy="40646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513" y="271314"/>
            <a:ext cx="1618869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パーツ18｜注記つき散布図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201513" y="505271"/>
            <a:ext cx="1804142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注記つき散布図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513" y="1525191"/>
            <a:ext cx="1737277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Text 1とText 2の関係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19867" y="1597521"/>
            <a:ext cx="71649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単位、YYYY年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74401" y="6567488"/>
            <a:ext cx="139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201513" y="1484561"/>
            <a:ext cx="2839194" cy="22319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184624" y="1484561"/>
            <a:ext cx="2839343" cy="22319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167884" y="1484561"/>
            <a:ext cx="2839343" cy="22319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151144" y="1484561"/>
            <a:ext cx="2839343" cy="22319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201513" y="4040386"/>
            <a:ext cx="11788973" cy="411807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01513" y="4722019"/>
            <a:ext cx="11788973" cy="411807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01513" y="271314"/>
            <a:ext cx="1194768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パーツ19｜柱＋土台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201513" y="505271"/>
            <a:ext cx="1027759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柱＋土台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438" y="2384971"/>
            <a:ext cx="52270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ラベル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438" y="2661940"/>
            <a:ext cx="34115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6549" y="2384971"/>
            <a:ext cx="55149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ラベル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549" y="2661940"/>
            <a:ext cx="36529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9809" y="2384971"/>
            <a:ext cx="55381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ラベル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9809" y="2661940"/>
            <a:ext cx="36622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3069" y="2384971"/>
            <a:ext cx="55830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ラベル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3069" y="2661940"/>
            <a:ext cx="36947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446" y="4156770"/>
            <a:ext cx="63368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6A6A6"/>
                </a:solidFill>
                <a:latin typeface="Yu Gothic"/>
                <a:ea typeface="Yu Gothic"/>
                <a:cs typeface="Yu Gothic"/>
              </a:rPr>
              <a:t>共通条件1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343" y="4166295"/>
            <a:ext cx="146873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Text 5を全社で整えること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446" y="4838402"/>
            <a:ext cx="661237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6A6A6"/>
                </a:solidFill>
                <a:latin typeface="Yu Gothic"/>
                <a:ea typeface="Yu Gothic"/>
                <a:cs typeface="Yu Gothic"/>
              </a:rPr>
              <a:t>共通条件2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835" y="4847927"/>
            <a:ext cx="1736967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Text 6を継続的に確保すること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73061" y="6567488"/>
            <a:ext cx="14117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3390454"/>
            <a:ext cx="4850607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01513" y="3827413"/>
            <a:ext cx="4850607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201513" y="4264372"/>
            <a:ext cx="4850607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6" name="Freeform 5"/>
          <p:cNvSpPr/>
          <p:nvPr/>
        </p:nvSpPr>
        <p:spPr>
          <a:xfrm>
            <a:off x="5268069" y="2698700"/>
            <a:ext cx="1655862" cy="1074837"/>
          </a:xfrm>
          <a:custGeom>
            <a:avLst/>
            <a:gdLst/>
            <a:ahLst/>
            <a:cxnLst/>
            <a:rect l="l" t="t" r="r" b="b"/>
            <a:pathLst>
              <a:path w="1655862" h="1074837">
                <a:moveTo>
                  <a:pt x="0" y="0"/>
                </a:moveTo>
                <a:lnTo>
                  <a:pt x="1655862" y="0"/>
                </a:lnTo>
                <a:lnTo>
                  <a:pt x="1655862" y="838373"/>
                </a:lnTo>
                <a:lnTo>
                  <a:pt x="827931" y="1074837"/>
                </a:lnTo>
                <a:lnTo>
                  <a:pt x="0" y="83837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Freeform 6"/>
          <p:cNvSpPr/>
          <p:nvPr/>
        </p:nvSpPr>
        <p:spPr>
          <a:xfrm>
            <a:off x="5268069" y="3881438"/>
            <a:ext cx="1655862" cy="1074836"/>
          </a:xfrm>
          <a:custGeom>
            <a:avLst/>
            <a:gdLst/>
            <a:ahLst/>
            <a:cxnLst/>
            <a:rect l="l" t="t" r="r" b="b"/>
            <a:pathLst>
              <a:path w="1655862" h="1074836">
                <a:moveTo>
                  <a:pt x="0" y="0"/>
                </a:moveTo>
                <a:lnTo>
                  <a:pt x="1655862" y="0"/>
                </a:lnTo>
                <a:lnTo>
                  <a:pt x="1655862" y="838372"/>
                </a:lnTo>
                <a:lnTo>
                  <a:pt x="827931" y="1074836"/>
                </a:lnTo>
                <a:lnTo>
                  <a:pt x="0" y="838372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8" name="Connector 7"/>
          <p:cNvCxnSpPr/>
          <p:nvPr/>
        </p:nvCxnSpPr>
        <p:spPr>
          <a:xfrm>
            <a:off x="7139880" y="3390454"/>
            <a:ext cx="4850607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7139880" y="3827413"/>
            <a:ext cx="4850607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7139880" y="4264372"/>
            <a:ext cx="4850607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201513" y="271314"/>
            <a:ext cx="1583579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パーツ20｜対向シェブロン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201513" y="505271"/>
            <a:ext cx="1679853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対向シェブロン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513" y="3075682"/>
            <a:ext cx="43045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513" y="3512641"/>
            <a:ext cx="46126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513" y="3949601"/>
            <a:ext cx="46234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513" y="4386560"/>
            <a:ext cx="46667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7747" y="3022699"/>
            <a:ext cx="1516506" cy="413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Mincho"/>
                <a:ea typeface="Yu Mincho"/>
                <a:cs typeface="Yu Mincho"/>
              </a:rPr>
              <a:t>収益を</a:t>
            </a:r>
          </a:p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Mincho"/>
                <a:ea typeface="Yu Mincho"/>
                <a:cs typeface="Yu Mincho"/>
              </a:rPr>
              <a:t>拡大する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7747" y="4205436"/>
            <a:ext cx="1516506" cy="413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Mincho"/>
                <a:ea typeface="Yu Mincho"/>
                <a:cs typeface="Yu Mincho"/>
              </a:rPr>
              <a:t>損失を</a:t>
            </a:r>
          </a:p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Mincho"/>
                <a:ea typeface="Yu Mincho"/>
                <a:cs typeface="Yu Mincho"/>
              </a:rPr>
              <a:t>抑える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9880" y="3075682"/>
            <a:ext cx="4609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Text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9880" y="3512641"/>
            <a:ext cx="46280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Text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9880" y="3949601"/>
            <a:ext cx="45460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Text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9880" y="4386560"/>
            <a:ext cx="46249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Text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79312" y="6567488"/>
            <a:ext cx="13467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201513" y="1484561"/>
            <a:ext cx="5822454" cy="22709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446" y="1646486"/>
            <a:ext cx="740718" cy="18603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167884" y="1484561"/>
            <a:ext cx="5822603" cy="22709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347817" y="1646486"/>
            <a:ext cx="759619" cy="18603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201513" y="3899446"/>
            <a:ext cx="5822454" cy="22709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81446" y="4061371"/>
            <a:ext cx="761107" cy="18603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167884" y="3899446"/>
            <a:ext cx="5822603" cy="22709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347817" y="4061371"/>
            <a:ext cx="764084" cy="18603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01513" y="271314"/>
            <a:ext cx="2100239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パーツ21｜外部動向の根拠グリッド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201513" y="505271"/>
            <a:ext cx="2680823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外部動向の根拠グリッド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339" y="1682353"/>
            <a:ext cx="602421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ラベル 1分類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446" y="1894880"/>
            <a:ext cx="793885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YYYY年M月D日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446" y="2117229"/>
            <a:ext cx="39687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Text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446" y="2391668"/>
            <a:ext cx="34579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709" y="1682353"/>
            <a:ext cx="622078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ラベル 2分類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817" y="1894880"/>
            <a:ext cx="793885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YYYY年M月D日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817" y="2117229"/>
            <a:ext cx="39687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Text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817" y="2391668"/>
            <a:ext cx="34997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339" y="4097238"/>
            <a:ext cx="623626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ラベル 3分類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446" y="4309765"/>
            <a:ext cx="793885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YYYY年M月D日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446" y="4532114"/>
            <a:ext cx="39687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Text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446" y="4806553"/>
            <a:ext cx="34703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709" y="4097238"/>
            <a:ext cx="626721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ラベル 4分類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7817" y="4309765"/>
            <a:ext cx="793885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YYYY年M月D日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7817" y="4532114"/>
            <a:ext cx="39687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Text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7817" y="4806553"/>
            <a:ext cx="34687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513" y="6274743"/>
            <a:ext cx="337145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1（YYYY年M月D日）、Source 2（YYYY年M月D日）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73210" y="6567488"/>
            <a:ext cx="14101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795165"/>
            <a:ext cx="11788974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pic>
        <p:nvPicPr>
          <p:cNvPr id="4" name="Picture 3" descr="img_22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13" y="2105769"/>
            <a:ext cx="11788973" cy="40646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513" y="271314"/>
            <a:ext cx="1530798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パーツ22｜比例円の対比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201513" y="505271"/>
            <a:ext cx="1595652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比例円の対比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513" y="1525191"/>
            <a:ext cx="161066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Text 1に占める割合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491" y="1597521"/>
            <a:ext cx="112248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％、YYYY年 / YYYY年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513" y="6274743"/>
            <a:ext cx="202981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1。円の面積は割合に比例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73061" y="6567488"/>
            <a:ext cx="14117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714881" y="1997869"/>
            <a:ext cx="143917" cy="143917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1505307" y="1997869"/>
            <a:ext cx="143917" cy="143917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201513" y="1795165"/>
            <a:ext cx="11788974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pic>
        <p:nvPicPr>
          <p:cNvPr id="6" name="Picture 5" descr="img_23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13" y="2249835"/>
            <a:ext cx="11788973" cy="39205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1513" y="271314"/>
            <a:ext cx="2083832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パーツ23｜増減の縦棒＋左右合計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201513" y="505271"/>
            <a:ext cx="2604206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増減の縦棒＋左右合計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2673" y="1999357"/>
            <a:ext cx="410801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増える分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3100" y="1999357"/>
            <a:ext cx="31793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減る分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513" y="1525191"/>
            <a:ext cx="59344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指標名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5473" y="1597521"/>
            <a:ext cx="112666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単位、YYYY〜YYYY年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48654" y="6567488"/>
            <a:ext cx="16655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8773864" y="1997869"/>
            <a:ext cx="143917" cy="143917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9987409" y="1997869"/>
            <a:ext cx="143917" cy="143917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0905679" y="1997869"/>
            <a:ext cx="143917" cy="143917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201513" y="1795165"/>
            <a:ext cx="11788974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pic>
        <p:nvPicPr>
          <p:cNvPr id="7" name="Picture 6" descr="img_24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13" y="2249835"/>
            <a:ext cx="11788973" cy="39205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513" y="271314"/>
            <a:ext cx="2232422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パーツ24｜シナリオ線＋成長率チップ</a:t>
            </a:r>
          </a:p>
        </p:txBody>
      </p:sp>
      <p:sp>
        <p:nvSpPr>
          <p:cNvPr id="9" name="Title"/>
          <p:cNvSpPr txBox="1"/>
          <p:nvPr/>
        </p:nvSpPr>
        <p:spPr>
          <a:xfrm>
            <a:off x="201513" y="505271"/>
            <a:ext cx="2862846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シナリオ線＋成長率チップ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1657" y="1999357"/>
            <a:ext cx="85084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3が進む場合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5202" y="1999357"/>
            <a:ext cx="543758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現状の延長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3471" y="1999357"/>
            <a:ext cx="94154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4が遅れる場合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513" y="1525191"/>
            <a:ext cx="59344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指標名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5473" y="1597521"/>
            <a:ext cx="112666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単位、YYYY〜YYYY年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74252" y="6567488"/>
            <a:ext cx="13993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795165"/>
            <a:ext cx="4743599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sp>
        <p:nvSpPr>
          <p:cNvPr id="4" name="Freeform 3"/>
          <p:cNvSpPr/>
          <p:nvPr/>
        </p:nvSpPr>
        <p:spPr>
          <a:xfrm>
            <a:off x="5161062" y="2336453"/>
            <a:ext cx="209550" cy="342900"/>
          </a:xfrm>
          <a:custGeom>
            <a:avLst/>
            <a:gdLst/>
            <a:ahLst/>
            <a:cxnLst/>
            <a:rect l="l" t="t" r="r" b="b"/>
            <a:pathLst>
              <a:path w="209550" h="342900">
                <a:moveTo>
                  <a:pt x="0" y="0"/>
                </a:moveTo>
                <a:lnTo>
                  <a:pt x="0" y="342900"/>
                </a:lnTo>
                <a:lnTo>
                  <a:pt x="209550" y="17145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5586561" y="1795165"/>
            <a:ext cx="6403926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586561" y="1925836"/>
          <a:ext cx="6403925" cy="1605409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187648"/>
                <a:gridCol w="5216277"/>
              </a:tblGrid>
              <a:tr h="533549">
                <a:tc>
                  <a:txBody>
                    <a:bodyPr wrap="square"/>
                    <a:lstStyle/>
                    <a:p>
                      <a:pPr algn="l">
                        <a:lnSpc>
                          <a:spcPts val="24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 1社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66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4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38311">
                <a:tc>
                  <a:txBody>
                    <a:bodyPr wrap="square"/>
                    <a:lstStyle/>
                    <a:p>
                      <a:pPr algn="l">
                        <a:lnSpc>
                          <a:spcPts val="24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 2件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66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5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33549">
                <a:tc>
                  <a:txBody>
                    <a:bodyPr wrap="square"/>
                    <a:lstStyle/>
                    <a:p>
                      <a:pPr algn="l">
                        <a:lnSpc>
                          <a:spcPts val="24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262626"/>
                          </a:solidFill>
                          <a:latin typeface="Yu Gothic"/>
                          <a:ea typeface="Yu Gothic"/>
                          <a:cs typeface="Yu Gothic"/>
                        </a:rPr>
                        <a:t>Nか月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66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6</a:t>
                      </a:r>
                      <a:endParaRPr sz="100"/>
                    </a:p>
                  </a:txBody>
                  <a:tcPr marT="108000" marR="90000" marB="108000" marL="9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1513" y="271314"/>
            <a:ext cx="1386233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パーツ25｜調査の土台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201513" y="505271"/>
            <a:ext cx="1331595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調査の土台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513" y="1525191"/>
            <a:ext cx="58972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調べ方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438" y="2279600"/>
            <a:ext cx="37674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7000" indent="-1270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438" y="2597944"/>
            <a:ext cx="403527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7000" indent="-1270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438" y="2916287"/>
            <a:ext cx="4046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7000" indent="-12700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6561" y="1525191"/>
            <a:ext cx="961049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調べた対象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513" y="6274743"/>
            <a:ext cx="24472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1（調査期間 YYYY年M月〜M月）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51035" y="6567488"/>
            <a:ext cx="16408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795165"/>
            <a:ext cx="5822454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01513" y="2360712"/>
            <a:ext cx="582245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201513" y="2800350"/>
            <a:ext cx="582245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167884" y="1795165"/>
            <a:ext cx="5822603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167884" y="2360712"/>
            <a:ext cx="5822603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6167884" y="2800350"/>
            <a:ext cx="5822603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201513" y="271314"/>
            <a:ext cx="210209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パーツ26｜課題と打ち手の2カラム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201513" y="505271"/>
            <a:ext cx="2598944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課題と打ち手の2カラム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513" y="1525191"/>
            <a:ext cx="159302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いま起きている課題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513" y="2043261"/>
            <a:ext cx="60489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ラベル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5357" y="2044601"/>
            <a:ext cx="43045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513" y="2482900"/>
            <a:ext cx="60489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ラベル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5357" y="2484239"/>
            <a:ext cx="46126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513" y="2922538"/>
            <a:ext cx="60489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ラベル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5357" y="2923877"/>
            <a:ext cx="46234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7884" y="1525191"/>
            <a:ext cx="126364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これから打つ手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7884" y="2043261"/>
            <a:ext cx="60489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ラベル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1728" y="2044601"/>
            <a:ext cx="46667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7884" y="2482900"/>
            <a:ext cx="60489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ラベル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1728" y="2484239"/>
            <a:ext cx="4609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7884" y="2922538"/>
            <a:ext cx="60489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ラベル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1728" y="2923877"/>
            <a:ext cx="46280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50142" y="6567488"/>
            <a:ext cx="16500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619125"/>
            <a:ext cx="11788974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509861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01513" y="3302198"/>
            <a:ext cx="11788974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201513" y="3962698"/>
            <a:ext cx="11788974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01513" y="4535686"/>
            <a:ext cx="11788974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201513" y="270421"/>
            <a:ext cx="1148334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パーツ一覧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6336" y="420886"/>
            <a:ext cx="2363367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パーツ27｜セパレーター（章扉＝アジェンダ再掲）</a:t>
            </a:r>
          </a:p>
        </p:txBody>
      </p:sp>
      <p:sp>
        <p:nvSpPr>
          <p:cNvPr id="9" name="Title"/>
          <p:cNvSpPr txBox="1"/>
          <p:nvPr/>
        </p:nvSpPr>
        <p:spPr>
          <a:xfrm>
            <a:off x="201513" y="688330"/>
            <a:ext cx="8333125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セパレーター（章扉＝アジェンダ再掲。section は "s chap" でページ番号なし）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513" y="2918520"/>
            <a:ext cx="203859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3B3B3"/>
                </a:solidFill>
                <a:latin typeface="Yu Mincho"/>
                <a:ea typeface="Yu Mincho"/>
                <a:cs typeface="Yu Minch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379" y="2908995"/>
            <a:ext cx="722531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3B3B3"/>
                </a:solidFill>
                <a:latin typeface="Yu Mincho"/>
                <a:ea typeface="Yu Mincho"/>
                <a:cs typeface="Yu Mincho"/>
              </a:rPr>
              <a:t>ラベル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88485" y="2966145"/>
            <a:ext cx="20200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3B3B3"/>
                </a:solidFill>
                <a:latin typeface="Yu Gothic"/>
                <a:ea typeface="Yu Gothic"/>
                <a:cs typeface="Yu Gothic"/>
              </a:rPr>
              <a:t>P.4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513" y="3501033"/>
            <a:ext cx="269950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9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4A9C"/>
                </a:solidFill>
                <a:latin typeface="Yu Mincho"/>
                <a:ea typeface="Yu Mincho"/>
                <a:cs typeface="Yu Minch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379" y="3481983"/>
            <a:ext cx="1003923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ラベル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92355" y="3605808"/>
            <a:ext cx="19813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P.9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513" y="4152007"/>
            <a:ext cx="203859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3B3B3"/>
                </a:solidFill>
                <a:latin typeface="Yu Mincho"/>
                <a:ea typeface="Yu Mincho"/>
                <a:cs typeface="Yu Minch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379" y="4142482"/>
            <a:ext cx="722531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3B3B3"/>
                </a:solidFill>
                <a:latin typeface="Yu Mincho"/>
                <a:ea typeface="Yu Mincho"/>
                <a:cs typeface="Yu Mincho"/>
              </a:rPr>
              <a:t>ラベル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54898" y="4199632"/>
            <a:ext cx="23558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3B3B3"/>
                </a:solidFill>
                <a:latin typeface="Yu Gothic"/>
                <a:ea typeface="Yu Gothic"/>
                <a:cs typeface="Yu Gothic"/>
              </a:rPr>
              <a:t>P.15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513" y="4724995"/>
            <a:ext cx="203859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3B3B3"/>
                </a:solidFill>
                <a:latin typeface="Yu Mincho"/>
                <a:ea typeface="Yu Mincho"/>
                <a:cs typeface="Yu Minch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379" y="4715470"/>
            <a:ext cx="722531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3B3B3"/>
                </a:solidFill>
                <a:latin typeface="Yu Mincho"/>
                <a:ea typeface="Yu Mincho"/>
                <a:cs typeface="Yu Mincho"/>
              </a:rPr>
              <a:t>ラベル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44373" y="4772620"/>
            <a:ext cx="24611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3B3B3"/>
                </a:solidFill>
                <a:latin typeface="Yu Gothic"/>
                <a:ea typeface="Yu Gothic"/>
                <a:cs typeface="Yu Gothic"/>
              </a:rPr>
              <a:t>P.21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132731" y="1484561"/>
            <a:ext cx="0" cy="323998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01513" y="1803797"/>
            <a:ext cx="935980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37493" y="1803797"/>
            <a:ext cx="5759649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2112169" y="1644551"/>
            <a:ext cx="4698653" cy="11311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Freeform 6"/>
          <p:cNvSpPr/>
          <p:nvPr/>
        </p:nvSpPr>
        <p:spPr>
          <a:xfrm>
            <a:off x="6810821" y="1599902"/>
            <a:ext cx="86321" cy="100757"/>
          </a:xfrm>
          <a:custGeom>
            <a:avLst/>
            <a:gdLst/>
            <a:ahLst/>
            <a:cxnLst/>
            <a:rect l="l" t="t" r="r" b="b"/>
            <a:pathLst>
              <a:path w="86321" h="100757">
                <a:moveTo>
                  <a:pt x="0" y="0"/>
                </a:moveTo>
                <a:lnTo>
                  <a:pt x="86321" y="50379"/>
                </a:lnTo>
                <a:lnTo>
                  <a:pt x="0" y="100757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8" name="Connector 7"/>
          <p:cNvCxnSpPr/>
          <p:nvPr/>
        </p:nvCxnSpPr>
        <p:spPr>
          <a:xfrm>
            <a:off x="1132731" y="1808559"/>
            <a:ext cx="0" cy="1007864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1132731" y="2816423"/>
            <a:ext cx="0" cy="1007865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1132731" y="3824288"/>
            <a:ext cx="0" cy="1007864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201513" y="2821186"/>
            <a:ext cx="6695629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201513" y="3829050"/>
            <a:ext cx="6695629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1245394" y="1988493"/>
            <a:ext cx="1223962" cy="64799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386608" y="1905744"/>
            <a:ext cx="165497" cy="165497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685306" y="2996357"/>
            <a:ext cx="1223962" cy="64799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826520" y="2913608"/>
            <a:ext cx="165497" cy="165497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Freeform 16"/>
          <p:cNvSpPr/>
          <p:nvPr/>
        </p:nvSpPr>
        <p:spPr>
          <a:xfrm>
            <a:off x="4269284" y="2996357"/>
            <a:ext cx="935980" cy="647997"/>
          </a:xfrm>
          <a:custGeom>
            <a:avLst/>
            <a:gdLst/>
            <a:ahLst/>
            <a:cxnLst/>
            <a:rect l="l" t="t" r="r" b="b"/>
            <a:pathLst>
              <a:path w="935980" h="647997">
                <a:moveTo>
                  <a:pt x="467990" y="0"/>
                </a:moveTo>
                <a:lnTo>
                  <a:pt x="935980" y="323998"/>
                </a:lnTo>
                <a:lnTo>
                  <a:pt x="467990" y="647997"/>
                </a:lnTo>
                <a:lnTo>
                  <a:pt x="0" y="323998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565130" y="2996357"/>
            <a:ext cx="1223962" cy="64799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706344" y="2913608"/>
            <a:ext cx="165497" cy="165497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565130" y="4004221"/>
            <a:ext cx="1223962" cy="64799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706344" y="3921472"/>
            <a:ext cx="165497" cy="165497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2" name="Picture 21" descr="img_28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13" y="1484561"/>
            <a:ext cx="6695926" cy="3347889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0871448" y="1297484"/>
            <a:ext cx="143917" cy="143917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1488192" y="1297484"/>
            <a:ext cx="143917" cy="143917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25" name="Connector 24"/>
          <p:cNvCxnSpPr/>
          <p:nvPr/>
        </p:nvCxnSpPr>
        <p:spPr>
          <a:xfrm>
            <a:off x="7185422" y="1795165"/>
            <a:ext cx="4805065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7185422" y="1954560"/>
            <a:ext cx="165497" cy="165497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27" name="Connector 26"/>
          <p:cNvCxnSpPr/>
          <p:nvPr/>
        </p:nvCxnSpPr>
        <p:spPr>
          <a:xfrm>
            <a:off x="7185422" y="2269331"/>
            <a:ext cx="4805065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7185422" y="2418011"/>
            <a:ext cx="165497" cy="165497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29" name="Connector 28"/>
          <p:cNvCxnSpPr/>
          <p:nvPr/>
        </p:nvCxnSpPr>
        <p:spPr>
          <a:xfrm>
            <a:off x="7185422" y="2732782"/>
            <a:ext cx="4805065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7185422" y="2881461"/>
            <a:ext cx="165497" cy="165497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31" name="Connector 30"/>
          <p:cNvCxnSpPr/>
          <p:nvPr/>
        </p:nvCxnSpPr>
        <p:spPr>
          <a:xfrm>
            <a:off x="7185422" y="3196233"/>
            <a:ext cx="4805065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2" name="Rectangle 31"/>
          <p:cNvSpPr/>
          <p:nvPr/>
        </p:nvSpPr>
        <p:spPr>
          <a:xfrm>
            <a:off x="7185422" y="3344912"/>
            <a:ext cx="165497" cy="165497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01513" y="271314"/>
            <a:ext cx="2257187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パーツ28｜スイムレーン＋番号の付箋</a:t>
            </a:r>
          </a:p>
        </p:txBody>
      </p:sp>
      <p:sp>
        <p:nvSpPr>
          <p:cNvPr id="34" name="Title"/>
          <p:cNvSpPr txBox="1"/>
          <p:nvPr/>
        </p:nvSpPr>
        <p:spPr>
          <a:xfrm>
            <a:off x="201513" y="505271"/>
            <a:ext cx="7333238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スイムレーン＋番号の付箋（課題・適用例を工程に重ね、右に一覧）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513" y="1555403"/>
            <a:ext cx="46404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担い手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1410" y="1555403"/>
            <a:ext cx="770823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業務の流れ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513" y="2229296"/>
            <a:ext cx="558153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ラベル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513" y="3237161"/>
            <a:ext cx="558153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ラベル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513" y="4245025"/>
            <a:ext cx="558153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ラベル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53294" y="2058293"/>
            <a:ext cx="38789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3294" y="2258318"/>
            <a:ext cx="987499" cy="297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→ ラベル 4（Excel）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45990" y="1915418"/>
            <a:ext cx="6749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49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93206" y="3143250"/>
            <a:ext cx="414207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93206" y="3343275"/>
            <a:ext cx="96708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→ ラベル 5（PDF）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75187" y="2923282"/>
            <a:ext cx="8978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49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08504" y="3242221"/>
            <a:ext cx="45739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ラベル 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73030" y="3143250"/>
            <a:ext cx="41621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73030" y="3343275"/>
            <a:ext cx="59948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→ ラベル 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54267" y="2923282"/>
            <a:ext cx="9148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49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73030" y="4151114"/>
            <a:ext cx="42024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73030" y="4351139"/>
            <a:ext cx="60582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→ ラベル 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52481" y="3931146"/>
            <a:ext cx="9504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49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9241" y="1298972"/>
            <a:ext cx="230172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課題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85984" y="1298972"/>
            <a:ext cx="335732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適用例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85422" y="1525191"/>
            <a:ext cx="112960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課題と適用例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44804" y="1964234"/>
            <a:ext cx="6749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49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0520" y="1944886"/>
            <a:ext cx="44160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34089" y="2427684"/>
            <a:ext cx="8978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49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0520" y="2408337"/>
            <a:ext cx="44330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33345" y="2891135"/>
            <a:ext cx="9148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49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0520" y="2871788"/>
            <a:ext cx="43541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31559" y="3354586"/>
            <a:ext cx="9504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49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0520" y="3335238"/>
            <a:ext cx="443151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848654" y="6567488"/>
            <a:ext cx="16655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348680" y="1484561"/>
            <a:ext cx="0" cy="323998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01513" y="1803797"/>
            <a:ext cx="1151930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353443" y="1803797"/>
            <a:ext cx="10637044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1897261" y="1644551"/>
            <a:ext cx="10006905" cy="11311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Freeform 6"/>
          <p:cNvSpPr/>
          <p:nvPr/>
        </p:nvSpPr>
        <p:spPr>
          <a:xfrm>
            <a:off x="11904166" y="1599902"/>
            <a:ext cx="86321" cy="100757"/>
          </a:xfrm>
          <a:custGeom>
            <a:avLst/>
            <a:gdLst/>
            <a:ahLst/>
            <a:cxnLst/>
            <a:rect l="l" t="t" r="r" b="b"/>
            <a:pathLst>
              <a:path w="86321" h="100757">
                <a:moveTo>
                  <a:pt x="0" y="0"/>
                </a:moveTo>
                <a:lnTo>
                  <a:pt x="86321" y="50379"/>
                </a:lnTo>
                <a:lnTo>
                  <a:pt x="0" y="100757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8" name="Connector 7"/>
          <p:cNvCxnSpPr/>
          <p:nvPr/>
        </p:nvCxnSpPr>
        <p:spPr>
          <a:xfrm>
            <a:off x="1348680" y="1808559"/>
            <a:ext cx="0" cy="1007864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1348680" y="2816423"/>
            <a:ext cx="0" cy="503932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1348680" y="3320355"/>
            <a:ext cx="0" cy="1272481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sp>
        <p:nvSpPr>
          <p:cNvPr id="11" name="Freeform 10"/>
          <p:cNvSpPr/>
          <p:nvPr/>
        </p:nvSpPr>
        <p:spPr>
          <a:xfrm>
            <a:off x="1461343" y="1952476"/>
            <a:ext cx="2551361" cy="863947"/>
          </a:xfrm>
          <a:custGeom>
            <a:avLst/>
            <a:gdLst/>
            <a:ahLst/>
            <a:cxnLst/>
            <a:rect l="l" t="t" r="r" b="b"/>
            <a:pathLst>
              <a:path w="2551361" h="863947">
                <a:moveTo>
                  <a:pt x="0" y="0"/>
                </a:moveTo>
                <a:lnTo>
                  <a:pt x="2371361" y="0"/>
                </a:lnTo>
                <a:lnTo>
                  <a:pt x="2551361" y="431974"/>
                </a:lnTo>
                <a:lnTo>
                  <a:pt x="2371361" y="863947"/>
                </a:lnTo>
                <a:lnTo>
                  <a:pt x="0" y="86394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Freeform 11"/>
          <p:cNvSpPr/>
          <p:nvPr/>
        </p:nvSpPr>
        <p:spPr>
          <a:xfrm>
            <a:off x="4120604" y="1952476"/>
            <a:ext cx="2551361" cy="863947"/>
          </a:xfrm>
          <a:custGeom>
            <a:avLst/>
            <a:gdLst/>
            <a:ahLst/>
            <a:cxnLst/>
            <a:rect l="l" t="t" r="r" b="b"/>
            <a:pathLst>
              <a:path w="2551361" h="863947">
                <a:moveTo>
                  <a:pt x="0" y="0"/>
                </a:moveTo>
                <a:lnTo>
                  <a:pt x="2371361" y="0"/>
                </a:lnTo>
                <a:lnTo>
                  <a:pt x="2551361" y="431974"/>
                </a:lnTo>
                <a:lnTo>
                  <a:pt x="2371361" y="863947"/>
                </a:lnTo>
                <a:lnTo>
                  <a:pt x="0" y="863947"/>
                </a:lnTo>
                <a:lnTo>
                  <a:pt x="180000" y="431974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Freeform 12"/>
          <p:cNvSpPr/>
          <p:nvPr/>
        </p:nvSpPr>
        <p:spPr>
          <a:xfrm>
            <a:off x="6779865" y="1952476"/>
            <a:ext cx="2551361" cy="863947"/>
          </a:xfrm>
          <a:custGeom>
            <a:avLst/>
            <a:gdLst/>
            <a:ahLst/>
            <a:cxnLst/>
            <a:rect l="l" t="t" r="r" b="b"/>
            <a:pathLst>
              <a:path w="2551361" h="863947">
                <a:moveTo>
                  <a:pt x="0" y="0"/>
                </a:moveTo>
                <a:lnTo>
                  <a:pt x="2371361" y="0"/>
                </a:lnTo>
                <a:lnTo>
                  <a:pt x="2551361" y="431974"/>
                </a:lnTo>
                <a:lnTo>
                  <a:pt x="2371361" y="863947"/>
                </a:lnTo>
                <a:lnTo>
                  <a:pt x="0" y="863947"/>
                </a:lnTo>
                <a:lnTo>
                  <a:pt x="180000" y="431974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Freeform 13"/>
          <p:cNvSpPr/>
          <p:nvPr/>
        </p:nvSpPr>
        <p:spPr>
          <a:xfrm>
            <a:off x="9439126" y="1952476"/>
            <a:ext cx="2551361" cy="863947"/>
          </a:xfrm>
          <a:custGeom>
            <a:avLst/>
            <a:gdLst/>
            <a:ahLst/>
            <a:cxnLst/>
            <a:rect l="l" t="t" r="r" b="b"/>
            <a:pathLst>
              <a:path w="2551361" h="863947">
                <a:moveTo>
                  <a:pt x="0" y="0"/>
                </a:moveTo>
                <a:lnTo>
                  <a:pt x="2371361" y="0"/>
                </a:lnTo>
                <a:lnTo>
                  <a:pt x="2551361" y="431974"/>
                </a:lnTo>
                <a:lnTo>
                  <a:pt x="2371361" y="863947"/>
                </a:lnTo>
                <a:lnTo>
                  <a:pt x="0" y="863947"/>
                </a:lnTo>
                <a:lnTo>
                  <a:pt x="180000" y="431974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Freeform 14"/>
          <p:cNvSpPr/>
          <p:nvPr/>
        </p:nvSpPr>
        <p:spPr>
          <a:xfrm>
            <a:off x="2575024" y="2978348"/>
            <a:ext cx="323999" cy="179934"/>
          </a:xfrm>
          <a:custGeom>
            <a:avLst/>
            <a:gdLst/>
            <a:ahLst/>
            <a:cxnLst/>
            <a:rect l="l" t="t" r="r" b="b"/>
            <a:pathLst>
              <a:path w="323999" h="179934">
                <a:moveTo>
                  <a:pt x="0" y="0"/>
                </a:moveTo>
                <a:lnTo>
                  <a:pt x="323999" y="0"/>
                </a:lnTo>
                <a:lnTo>
                  <a:pt x="162000" y="179934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Freeform 15"/>
          <p:cNvSpPr/>
          <p:nvPr/>
        </p:nvSpPr>
        <p:spPr>
          <a:xfrm>
            <a:off x="5234285" y="2978348"/>
            <a:ext cx="323999" cy="179934"/>
          </a:xfrm>
          <a:custGeom>
            <a:avLst/>
            <a:gdLst/>
            <a:ahLst/>
            <a:cxnLst/>
            <a:rect l="l" t="t" r="r" b="b"/>
            <a:pathLst>
              <a:path w="323999" h="179934">
                <a:moveTo>
                  <a:pt x="0" y="0"/>
                </a:moveTo>
                <a:lnTo>
                  <a:pt x="323999" y="0"/>
                </a:lnTo>
                <a:lnTo>
                  <a:pt x="162000" y="179934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Freeform 16"/>
          <p:cNvSpPr/>
          <p:nvPr/>
        </p:nvSpPr>
        <p:spPr>
          <a:xfrm>
            <a:off x="7893546" y="2978348"/>
            <a:ext cx="323999" cy="179934"/>
          </a:xfrm>
          <a:custGeom>
            <a:avLst/>
            <a:gdLst/>
            <a:ahLst/>
            <a:cxnLst/>
            <a:rect l="l" t="t" r="r" b="b"/>
            <a:pathLst>
              <a:path w="323999" h="179934">
                <a:moveTo>
                  <a:pt x="0" y="0"/>
                </a:moveTo>
                <a:lnTo>
                  <a:pt x="323999" y="0"/>
                </a:lnTo>
                <a:lnTo>
                  <a:pt x="162000" y="179934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Freeform 17"/>
          <p:cNvSpPr/>
          <p:nvPr/>
        </p:nvSpPr>
        <p:spPr>
          <a:xfrm>
            <a:off x="10552807" y="2978348"/>
            <a:ext cx="323999" cy="179934"/>
          </a:xfrm>
          <a:custGeom>
            <a:avLst/>
            <a:gdLst/>
            <a:ahLst/>
            <a:cxnLst/>
            <a:rect l="l" t="t" r="r" b="b"/>
            <a:pathLst>
              <a:path w="323999" h="179934">
                <a:moveTo>
                  <a:pt x="0" y="0"/>
                </a:moveTo>
                <a:lnTo>
                  <a:pt x="323999" y="0"/>
                </a:lnTo>
                <a:lnTo>
                  <a:pt x="161999" y="179934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9" name="Connector 18"/>
          <p:cNvCxnSpPr/>
          <p:nvPr/>
        </p:nvCxnSpPr>
        <p:spPr>
          <a:xfrm>
            <a:off x="1461343" y="3592264"/>
            <a:ext cx="2551361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120604" y="3592264"/>
            <a:ext cx="2551361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6779865" y="3592264"/>
            <a:ext cx="2551361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9439126" y="3592264"/>
            <a:ext cx="2551361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201513" y="271314"/>
            <a:ext cx="1450312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パーツ29｜表と裏の2段</a:t>
            </a:r>
          </a:p>
        </p:txBody>
      </p:sp>
      <p:sp>
        <p:nvSpPr>
          <p:cNvPr id="24" name="Title"/>
          <p:cNvSpPr txBox="1"/>
          <p:nvPr/>
        </p:nvSpPr>
        <p:spPr>
          <a:xfrm>
            <a:off x="201513" y="505271"/>
            <a:ext cx="6837009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表と裏の2段（利用者から見た流れ／裏側の処理を縦に対応）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513" y="1555403"/>
            <a:ext cx="44423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表と裏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7360" y="1555403"/>
            <a:ext cx="32273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手順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513" y="2127200"/>
            <a:ext cx="1132271" cy="3662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利用者から</a:t>
            </a:r>
          </a:p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見た流れ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513" y="3873401"/>
            <a:ext cx="773763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裏側の処理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5260" y="2275880"/>
            <a:ext cx="9319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949" y="2287339"/>
            <a:ext cx="461879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6595" y="2275880"/>
            <a:ext cx="12724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3026" y="2287339"/>
            <a:ext cx="4933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5856" y="2275880"/>
            <a:ext cx="12987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4817" y="2287339"/>
            <a:ext cx="495776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5117" y="2275880"/>
            <a:ext cx="13513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09138" y="2287339"/>
            <a:ext cx="500729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1343" y="3329880"/>
            <a:ext cx="568833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ラベル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3268" y="3715494"/>
            <a:ext cx="4609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955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3268" y="4017466"/>
            <a:ext cx="46280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955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23268" y="4319439"/>
            <a:ext cx="45460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955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20604" y="3329880"/>
            <a:ext cx="600254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ラベル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82529" y="3715494"/>
            <a:ext cx="46249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955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82529" y="4017466"/>
            <a:ext cx="46280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955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82529" y="4319439"/>
            <a:ext cx="526113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955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79865" y="3329880"/>
            <a:ext cx="60273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ラベル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1790" y="3715494"/>
            <a:ext cx="49221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955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1790" y="4017466"/>
            <a:ext cx="52301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955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1790" y="4319439"/>
            <a:ext cx="52410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955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39126" y="3329880"/>
            <a:ext cx="607683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ラベル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051" y="3715494"/>
            <a:ext cx="52843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955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051" y="4017466"/>
            <a:ext cx="52270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955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051" y="4319439"/>
            <a:ext cx="52456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955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1513" y="6274743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51184" y="6567488"/>
            <a:ext cx="16392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80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795165"/>
            <a:ext cx="5000328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9823" y="1795165"/>
            <a:ext cx="6500515" cy="0"/>
          </a:xfrm>
          <a:prstGeom prst="line">
            <a:avLst/>
          </a:prstGeom>
          <a:ln w="9525">
            <a:solidFill>
              <a:srgbClr val="26262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345757" y="1799927"/>
            <a:ext cx="0" cy="781943"/>
          </a:xfrm>
          <a:prstGeom prst="line">
            <a:avLst/>
          </a:prstGeom>
          <a:ln w="9525">
            <a:solidFill>
              <a:srgbClr val="666666"/>
            </a:solidFill>
            <a:prstDash val="sysDot"/>
          </a:ln>
        </p:spPr>
      </p:cxnSp>
      <p:cxnSp>
        <p:nvCxnSpPr>
          <p:cNvPr id="6" name="Connector 5"/>
          <p:cNvCxnSpPr/>
          <p:nvPr/>
        </p:nvCxnSpPr>
        <p:spPr>
          <a:xfrm>
            <a:off x="201513" y="2586633"/>
            <a:ext cx="5000328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5345757" y="2581870"/>
            <a:ext cx="0" cy="781943"/>
          </a:xfrm>
          <a:prstGeom prst="line">
            <a:avLst/>
          </a:prstGeom>
          <a:ln w="9525">
            <a:solidFill>
              <a:srgbClr val="666666"/>
            </a:solidFill>
            <a:prstDash val="sysDot"/>
          </a:ln>
        </p:spPr>
      </p:cxnSp>
      <p:cxnSp>
        <p:nvCxnSpPr>
          <p:cNvPr id="8" name="Connector 7"/>
          <p:cNvCxnSpPr/>
          <p:nvPr/>
        </p:nvCxnSpPr>
        <p:spPr>
          <a:xfrm>
            <a:off x="5489823" y="2586633"/>
            <a:ext cx="6500515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201513" y="3368576"/>
            <a:ext cx="5000328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5345757" y="3363813"/>
            <a:ext cx="0" cy="781943"/>
          </a:xfrm>
          <a:prstGeom prst="line">
            <a:avLst/>
          </a:prstGeom>
          <a:ln w="9525">
            <a:solidFill>
              <a:srgbClr val="666666"/>
            </a:solidFill>
            <a:prstDash val="sysDot"/>
          </a:ln>
        </p:spPr>
      </p:cxnSp>
      <p:cxnSp>
        <p:nvCxnSpPr>
          <p:cNvPr id="11" name="Connector 10"/>
          <p:cNvCxnSpPr/>
          <p:nvPr/>
        </p:nvCxnSpPr>
        <p:spPr>
          <a:xfrm>
            <a:off x="5489823" y="3368576"/>
            <a:ext cx="6500515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201513" y="4150519"/>
            <a:ext cx="5000328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5345757" y="4145756"/>
            <a:ext cx="0" cy="781943"/>
          </a:xfrm>
          <a:prstGeom prst="line">
            <a:avLst/>
          </a:prstGeom>
          <a:ln w="9525">
            <a:solidFill>
              <a:srgbClr val="666666"/>
            </a:solidFill>
            <a:prstDash val="sysDot"/>
          </a:ln>
        </p:spPr>
      </p:cxnSp>
      <p:cxnSp>
        <p:nvCxnSpPr>
          <p:cNvPr id="14" name="Connector 13"/>
          <p:cNvCxnSpPr/>
          <p:nvPr/>
        </p:nvCxnSpPr>
        <p:spPr>
          <a:xfrm>
            <a:off x="5489823" y="4150519"/>
            <a:ext cx="6500515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01513" y="4932462"/>
            <a:ext cx="5000328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5345757" y="4927699"/>
            <a:ext cx="0" cy="781943"/>
          </a:xfrm>
          <a:prstGeom prst="line">
            <a:avLst/>
          </a:prstGeom>
          <a:ln w="9525">
            <a:solidFill>
              <a:srgbClr val="666666"/>
            </a:solidFill>
            <a:prstDash val="sysDot"/>
          </a:ln>
        </p:spPr>
      </p:cxnSp>
      <p:cxnSp>
        <p:nvCxnSpPr>
          <p:cNvPr id="17" name="Connector 16"/>
          <p:cNvCxnSpPr/>
          <p:nvPr/>
        </p:nvCxnSpPr>
        <p:spPr>
          <a:xfrm>
            <a:off x="5489823" y="4932462"/>
            <a:ext cx="6500515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201513" y="271314"/>
            <a:ext cx="125049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パーツ30｜一問一答</a:t>
            </a:r>
          </a:p>
        </p:txBody>
      </p:sp>
      <p:sp>
        <p:nvSpPr>
          <p:cNvPr id="19" name="Title"/>
          <p:cNvSpPr txBox="1"/>
          <p:nvPr/>
        </p:nvSpPr>
        <p:spPr>
          <a:xfrm>
            <a:off x="201513" y="505271"/>
            <a:ext cx="6068675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一問一答（質問は相手の言葉のまま・回答は結論から）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513" y="1525191"/>
            <a:ext cx="130017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いただいた質問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9823" y="1525191"/>
            <a:ext cx="401979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2626"/>
                </a:solidFill>
                <a:latin typeface="Yu Mincho"/>
                <a:ea typeface="Yu Mincho"/>
                <a:cs typeface="Yu Mincho"/>
              </a:rPr>
              <a:t>回答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513" y="2102644"/>
            <a:ext cx="21314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Q1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144" y="2093119"/>
            <a:ext cx="61635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「Text 1」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1748" y="1967508"/>
            <a:ext cx="46280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1748" y="2218879"/>
            <a:ext cx="45460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513" y="2889349"/>
            <a:ext cx="21314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Q2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144" y="2879824"/>
            <a:ext cx="646533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「Text 2」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51748" y="2754213"/>
            <a:ext cx="46249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1748" y="3005584"/>
            <a:ext cx="46280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513" y="3671292"/>
            <a:ext cx="21314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Q3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144" y="3661767"/>
            <a:ext cx="64885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「Text 3」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1748" y="3536156"/>
            <a:ext cx="526113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51748" y="3787527"/>
            <a:ext cx="49221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513" y="4453235"/>
            <a:ext cx="21314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Q4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144" y="4443710"/>
            <a:ext cx="65349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「Text 4」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51748" y="4318099"/>
            <a:ext cx="52301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51748" y="4569470"/>
            <a:ext cx="52410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513" y="5235178"/>
            <a:ext cx="21314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Mincho"/>
                <a:ea typeface="Yu Mincho"/>
                <a:cs typeface="Yu Mincho"/>
              </a:rPr>
              <a:t>Q5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144" y="5225653"/>
            <a:ext cx="64792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「Text 5」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51748" y="5100042"/>
            <a:ext cx="52843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51748" y="5351413"/>
            <a:ext cx="52270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050" indent="-146050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49844" y="6567488"/>
            <a:ext cx="16531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489174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01513" y="254972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201513" y="3610273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201513" y="271165"/>
            <a:ext cx="2037707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パーツ01｜executive_summary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201513" y="504974"/>
            <a:ext cx="2572476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エグゼクティブサマリー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513" y="1625352"/>
            <a:ext cx="108054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論点1｜ラベル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8384" y="1644402"/>
            <a:ext cx="344405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3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1（そのページのタイトルと同じ主張を1文で）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3852" y="1943695"/>
            <a:ext cx="131410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304" indent="-146304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Yu Gothic"/>
              <a:buChar char="–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2（根拠・数字）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3852" y="2177653"/>
            <a:ext cx="204111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304" indent="-146304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Yu Gothic"/>
              <a:buChar char="–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3（意味合い・次の打ち手）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91626" y="1615827"/>
            <a:ext cx="59886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→ P.3〜4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513" y="2685901"/>
            <a:ext cx="1146786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論点2｜ラベル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8384" y="2704951"/>
            <a:ext cx="3484912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3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4（そのページのタイトルと同じ主張を1文で）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3852" y="3004245"/>
            <a:ext cx="131379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304" indent="-146304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Yu Gothic"/>
              <a:buChar char="–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5（根拠・数字）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3852" y="3238202"/>
            <a:ext cx="204157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304" indent="-146304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Yu Gothic"/>
              <a:buChar char="–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6（意味合い・次の打ち手）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94722" y="2676376"/>
            <a:ext cx="59576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→ P.5〜6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513" y="3746450"/>
            <a:ext cx="1151894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論点3｜ラベル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8384" y="3765500"/>
            <a:ext cx="3469124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3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7（そのページのタイトルと同じ主張を1文で）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3852" y="4064794"/>
            <a:ext cx="131549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304" indent="-146304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Yu Gothic"/>
              <a:buChar char="–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8（根拠・数字）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23852" y="4298752"/>
            <a:ext cx="204157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46304" indent="-146304">
              <a:lnSpc>
                <a:spcPts val="1843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Yu Gothic"/>
              <a:buChar char="–"/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9（意味合い・次の打ち手）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00603" y="3736925"/>
            <a:ext cx="58988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→ P.7〜8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56095" y="6561981"/>
            <a:ext cx="15881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370040" y="2128986"/>
            <a:ext cx="7620447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4370040" y="2778323"/>
            <a:ext cx="7620447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4370040" y="3427661"/>
            <a:ext cx="7620447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70040" y="4076998"/>
            <a:ext cx="7620447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201513" y="271165"/>
            <a:ext cx="1759565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パーツ02｜evidence_basis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201513" y="504974"/>
            <a:ext cx="1344751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調査の土台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513" y="1512987"/>
            <a:ext cx="181946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指標名、単位、YYYY〜YYYY年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040" y="1611957"/>
            <a:ext cx="838772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180+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7821" y="1792932"/>
            <a:ext cx="36251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040" y="2261295"/>
            <a:ext cx="809363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2.4M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7821" y="2442270"/>
            <a:ext cx="38820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040" y="2910632"/>
            <a:ext cx="633841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640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7821" y="3091607"/>
            <a:ext cx="38913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040" y="3559969"/>
            <a:ext cx="428911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7821" y="3740944"/>
            <a:ext cx="39284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49993" y="6561981"/>
            <a:ext cx="16516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201513" y="271165"/>
            <a:ext cx="157274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パーツ03｜big_stat_pair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01513" y="504974"/>
            <a:ext cx="1878128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大型数値の対比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513" y="1484412"/>
            <a:ext cx="185676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指標名、単位、YYYY〜YYYY年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513" y="1769269"/>
            <a:ext cx="2656213" cy="1371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300"/>
              </a:lnSpc>
              <a:spcBef>
                <a:spcPts val="0"/>
              </a:spcBef>
              <a:spcAft>
                <a:spcPts val="0"/>
              </a:spcAft>
            </a:pPr>
            <a:r>
              <a:rPr sz="89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18%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513" y="3332708"/>
            <a:ext cx="552736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513" y="3612207"/>
            <a:ext cx="112821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注）前提や注記を記載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1671" y="1769269"/>
            <a:ext cx="753797" cy="1371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300"/>
              </a:lnSpc>
              <a:spcBef>
                <a:spcPts val="0"/>
              </a:spcBef>
              <a:spcAft>
                <a:spcPts val="0"/>
              </a:spcAft>
            </a:pPr>
            <a:r>
              <a:rPr sz="89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71" y="3332708"/>
            <a:ext cx="586478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71" y="3612207"/>
            <a:ext cx="112821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注）前提や注記を記載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49844" y="6561981"/>
            <a:ext cx="16531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493937"/>
            <a:ext cx="2810173" cy="0"/>
          </a:xfrm>
          <a:prstGeom prst="line">
            <a:avLst/>
          </a:prstGeom>
          <a:ln w="19050">
            <a:solidFill>
              <a:srgbClr val="1F1F1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94447" y="1493937"/>
            <a:ext cx="2810173" cy="0"/>
          </a:xfrm>
          <a:prstGeom prst="line">
            <a:avLst/>
          </a:prstGeom>
          <a:ln w="19050">
            <a:solidFill>
              <a:srgbClr val="1F1F1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6187380" y="1493937"/>
            <a:ext cx="2810173" cy="0"/>
          </a:xfrm>
          <a:prstGeom prst="line">
            <a:avLst/>
          </a:prstGeom>
          <a:ln w="19050">
            <a:solidFill>
              <a:srgbClr val="1F1F1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180314" y="1493937"/>
            <a:ext cx="2810173" cy="0"/>
          </a:xfrm>
          <a:prstGeom prst="line">
            <a:avLst/>
          </a:prstGeom>
          <a:ln w="19050">
            <a:solidFill>
              <a:srgbClr val="1F1F1F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201513" y="271165"/>
            <a:ext cx="1707559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パーツ04｜kpi_dashboard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201513" y="504974"/>
            <a:ext cx="985968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KPI一覧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274" y="1731913"/>
            <a:ext cx="45429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274" y="1953964"/>
            <a:ext cx="872823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73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-18%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274" y="2401937"/>
            <a:ext cx="417302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274" y="2627412"/>
            <a:ext cx="112821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注）前提や注記を記載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7208" y="1731913"/>
            <a:ext cx="48107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7208" y="1953964"/>
            <a:ext cx="110638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73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0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208" y="2401937"/>
            <a:ext cx="445627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7208" y="2627412"/>
            <a:ext cx="112821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注）前提や注記を記載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41" y="1731913"/>
            <a:ext cx="48308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41" y="1953964"/>
            <a:ext cx="740640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73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2 /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41" y="2401937"/>
            <a:ext cx="447949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41" y="2627412"/>
            <a:ext cx="112821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注）前提や注記を記載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075" y="1731913"/>
            <a:ext cx="48726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075" y="1953964"/>
            <a:ext cx="76323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73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$6M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075" y="2401937"/>
            <a:ext cx="452283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075" y="2627412"/>
            <a:ext cx="112821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注）前提や注記を記載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47761" y="6561981"/>
            <a:ext cx="16748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763018"/>
            <a:ext cx="6086178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01513" y="4628108"/>
            <a:ext cx="6086178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381446" y="3530352"/>
            <a:ext cx="1024384" cy="1092994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948607" y="3214688"/>
            <a:ext cx="1024533" cy="1408658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515916" y="2947541"/>
            <a:ext cx="1024384" cy="1675805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83076" y="2631728"/>
            <a:ext cx="1024533" cy="1991618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>
            <a:off x="6810524" y="1484412"/>
            <a:ext cx="0" cy="622994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6982867" y="1763018"/>
            <a:ext cx="5007620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201513" y="271165"/>
            <a:ext cx="158574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パーツ05｜chart_insight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201513" y="504974"/>
            <a:ext cx="2192179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単一チャート＋含意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513" y="1474887"/>
            <a:ext cx="97761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57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指標名、単位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903" y="3268414"/>
            <a:ext cx="24147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116" y="4674691"/>
            <a:ext cx="45104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8167" y="2952750"/>
            <a:ext cx="20556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1804" y="4674691"/>
            <a:ext cx="47828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3038" y="2685604"/>
            <a:ext cx="25013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8497" y="4674691"/>
            <a:ext cx="47936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3443" y="2369790"/>
            <a:ext cx="243947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3797" y="4674691"/>
            <a:ext cx="48323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2867" y="1474887"/>
            <a:ext cx="74172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57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2867" y="1889671"/>
            <a:ext cx="49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513" y="6274296"/>
            <a:ext cx="1078218" cy="2970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注）前提・注記を記載</a:t>
            </a:r>
          </a:p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73359" y="6561981"/>
            <a:ext cx="14086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9929664" y="1492002"/>
            <a:ext cx="121890" cy="121890"/>
          </a:xfrm>
          <a:prstGeom prst="rect">
            <a:avLst/>
          </a:prstGeom>
          <a:solidFill>
            <a:srgbClr val="262626"/>
          </a:solidFill>
          <a:ln w="9525">
            <a:solidFill>
              <a:srgbClr val="262626"/>
            </a:solidFill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661749" y="1492002"/>
            <a:ext cx="121890" cy="121890"/>
          </a:xfrm>
          <a:prstGeom prst="rect">
            <a:avLst/>
          </a:prstGeom>
          <a:solidFill>
            <a:srgbClr val="4D4D4D"/>
          </a:solidFill>
          <a:ln w="9525">
            <a:solidFill>
              <a:srgbClr val="4D4D4D"/>
            </a:solidFill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1417052" y="1492002"/>
            <a:ext cx="121890" cy="121890"/>
          </a:xfrm>
          <a:prstGeom prst="rect">
            <a:avLst/>
          </a:prstGeom>
          <a:solidFill>
            <a:srgbClr val="A6A6A6"/>
          </a:solidFill>
          <a:ln w="9525">
            <a:solidFill>
              <a:srgbClr val="A6A6A6"/>
            </a:solidFill>
          </a:ln>
        </p:spPr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3467249" y="4624834"/>
            <a:ext cx="5257502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sp>
        <p:nvSpPr>
          <p:cNvPr id="7" name="Rectangle 6"/>
          <p:cNvSpPr/>
          <p:nvPr/>
        </p:nvSpPr>
        <p:spPr>
          <a:xfrm>
            <a:off x="3832920" y="3842891"/>
            <a:ext cx="1143000" cy="7771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832920" y="3256211"/>
            <a:ext cx="1143000" cy="58668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832920" y="2867620"/>
            <a:ext cx="1143000" cy="38859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524500" y="3545681"/>
            <a:ext cx="1143000" cy="107439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524500" y="2920901"/>
            <a:ext cx="1143000" cy="62478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524500" y="2494211"/>
            <a:ext cx="1143000" cy="42669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216080" y="3218111"/>
            <a:ext cx="1143000" cy="1401961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216080" y="2578150"/>
            <a:ext cx="1143000" cy="639961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216080" y="2113359"/>
            <a:ext cx="1143000" cy="46479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01513" y="271165"/>
            <a:ext cx="15342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パーツ06｜stacked_bar</a:t>
            </a:r>
          </a:p>
        </p:txBody>
      </p:sp>
      <p:sp>
        <p:nvSpPr>
          <p:cNvPr id="17" name="Title"/>
          <p:cNvSpPr txBox="1"/>
          <p:nvPr/>
        </p:nvSpPr>
        <p:spPr>
          <a:xfrm>
            <a:off x="201513" y="504974"/>
            <a:ext cx="1323546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積み上げ棒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12425" y="1474887"/>
            <a:ext cx="40027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44510" y="1474887"/>
            <a:ext cx="42442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9813" y="1474887"/>
            <a:ext cx="42535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513" y="1718518"/>
            <a:ext cx="84651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指標名、単位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7178" y="4159151"/>
            <a:ext cx="17971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8964" y="3477220"/>
            <a:ext cx="17599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9857" y="2989511"/>
            <a:ext cx="17414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713" y="4696271"/>
            <a:ext cx="48726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2925" y="4010471"/>
            <a:ext cx="1710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23074" y="3160961"/>
            <a:ext cx="17073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3967" y="2635151"/>
            <a:ext cx="16887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4770" y="4696271"/>
            <a:ext cx="4823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8227" y="3846761"/>
            <a:ext cx="16315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72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3762" y="2825800"/>
            <a:ext cx="17259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3762" y="2273350"/>
            <a:ext cx="17259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5729" y="4696271"/>
            <a:ext cx="48370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50142" y="6561981"/>
            <a:ext cx="16500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763018"/>
            <a:ext cx="6086178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sp>
        <p:nvSpPr>
          <p:cNvPr id="4" name="Rectangle 3"/>
          <p:cNvSpPr/>
          <p:nvPr/>
        </p:nvSpPr>
        <p:spPr>
          <a:xfrm>
            <a:off x="4402336" y="1897261"/>
            <a:ext cx="121890" cy="121890"/>
          </a:xfrm>
          <a:prstGeom prst="rect">
            <a:avLst/>
          </a:prstGeom>
          <a:solidFill>
            <a:srgbClr val="262626"/>
          </a:solidFill>
          <a:ln w="9525">
            <a:solidFill>
              <a:srgbClr val="262626"/>
            </a:solidFill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282208" y="1897261"/>
            <a:ext cx="121890" cy="121890"/>
          </a:xfrm>
          <a:prstGeom prst="rect">
            <a:avLst/>
          </a:prstGeom>
          <a:solidFill>
            <a:srgbClr val="4D4D4D"/>
          </a:solidFill>
          <a:ln w="9525">
            <a:solidFill>
              <a:srgbClr val="4D4D4D"/>
            </a:solidFill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876330" y="1897261"/>
            <a:ext cx="121890" cy="121890"/>
          </a:xfrm>
          <a:prstGeom prst="rect">
            <a:avLst/>
          </a:prstGeom>
          <a:solidFill>
            <a:srgbClr val="B3261E"/>
          </a:solidFill>
          <a:ln w="9525">
            <a:solidFill>
              <a:srgbClr val="B3261E"/>
            </a:solidFill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201513" y="4719340"/>
            <a:ext cx="6086178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sp>
        <p:nvSpPr>
          <p:cNvPr id="8" name="Rectangle 7"/>
          <p:cNvSpPr/>
          <p:nvPr/>
        </p:nvSpPr>
        <p:spPr>
          <a:xfrm>
            <a:off x="334566" y="3576340"/>
            <a:ext cx="621060" cy="113823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374279" y="4509790"/>
            <a:ext cx="621060" cy="20478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2413992" y="4441478"/>
            <a:ext cx="621209" cy="2731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453854" y="4600873"/>
            <a:ext cx="621060" cy="113705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493568" y="4623643"/>
            <a:ext cx="621060" cy="90934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533281" y="3121075"/>
            <a:ext cx="621209" cy="159350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4" name="Connector 13"/>
          <p:cNvCxnSpPr/>
          <p:nvPr/>
        </p:nvCxnSpPr>
        <p:spPr>
          <a:xfrm>
            <a:off x="6810524" y="1484412"/>
            <a:ext cx="0" cy="622994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6982867" y="1763018"/>
            <a:ext cx="5007620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201513" y="271165"/>
            <a:ext cx="127835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パーツ07｜waterfall</a:t>
            </a:r>
          </a:p>
        </p:txBody>
      </p:sp>
      <p:sp>
        <p:nvSpPr>
          <p:cNvPr id="17" name="Title"/>
          <p:cNvSpPr txBox="1"/>
          <p:nvPr/>
        </p:nvSpPr>
        <p:spPr>
          <a:xfrm>
            <a:off x="201513" y="504974"/>
            <a:ext cx="1687901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寄与度ブリッジ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513" y="1474887"/>
            <a:ext cx="97761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57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指標名、単位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5097" y="1880146"/>
            <a:ext cx="5539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起点・着地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4969" y="1880146"/>
            <a:ext cx="25679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増加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9091" y="1880146"/>
            <a:ext cx="25679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減少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895" y="3314402"/>
            <a:ext cx="32938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9573" y="4781252"/>
            <a:ext cx="45104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7246" y="4247852"/>
            <a:ext cx="32598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+18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5666" y="4781252"/>
            <a:ext cx="47828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1332" y="4179540"/>
            <a:ext cx="35864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+24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4912" y="4781252"/>
            <a:ext cx="47936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70846" y="4338935"/>
            <a:ext cx="213765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-9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2765" y="4781252"/>
            <a:ext cx="48323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0885" y="4361706"/>
            <a:ext cx="23388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+7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5106" y="4781252"/>
            <a:ext cx="47813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94611" y="2859137"/>
            <a:ext cx="32969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140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04046" y="4781252"/>
            <a:ext cx="47967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2867" y="1474887"/>
            <a:ext cx="74172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57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2867" y="1889671"/>
            <a:ext cx="49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513" y="6274296"/>
            <a:ext cx="1078218" cy="2970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注）前提・注記を記載</a:t>
            </a:r>
          </a:p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49249" y="6561981"/>
            <a:ext cx="16593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201513" y="2631281"/>
            <a:ext cx="2174825" cy="16764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604939" y="2631281"/>
            <a:ext cx="2174974" cy="4572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008513" y="2478881"/>
            <a:ext cx="2174825" cy="6096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411938" y="2021681"/>
            <a:ext cx="2174974" cy="4572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815512" y="2021681"/>
            <a:ext cx="2174974" cy="2286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01513" y="271165"/>
            <a:ext cx="163976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パーツ08｜true_waterfall</a:t>
            </a:r>
          </a:p>
        </p:txBody>
      </p:sp>
      <p:sp>
        <p:nvSpPr>
          <p:cNvPr id="9" name="Title"/>
          <p:cNvSpPr txBox="1"/>
          <p:nvPr/>
        </p:nvSpPr>
        <p:spPr>
          <a:xfrm>
            <a:off x="201513" y="504974"/>
            <a:ext cx="2250376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増減ブリッジ（厳密）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513" y="1474887"/>
            <a:ext cx="84651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指標名、単位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4686" y="2426940"/>
            <a:ext cx="12848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788" y="4389537"/>
            <a:ext cx="40027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9167" y="2426940"/>
            <a:ext cx="18636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−3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140" y="4389537"/>
            <a:ext cx="42442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0423" y="2274540"/>
            <a:ext cx="19085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+4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3250" y="4389537"/>
            <a:ext cx="42535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6167" y="1817340"/>
            <a:ext cx="18636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+3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973" y="4389537"/>
            <a:ext cx="4287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5529" y="1817340"/>
            <a:ext cx="15479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0866" y="4389537"/>
            <a:ext cx="42426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98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45975" y="6561981"/>
            <a:ext cx="16934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34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693813"/>
            <a:ext cx="2787253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sp>
        <p:nvSpPr>
          <p:cNvPr id="4" name="Rectangle 3"/>
          <p:cNvSpPr/>
          <p:nvPr/>
        </p:nvSpPr>
        <p:spPr>
          <a:xfrm>
            <a:off x="331738" y="2692152"/>
            <a:ext cx="60766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91233" y="2341662"/>
            <a:ext cx="607665" cy="80769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2250877" y="1808262"/>
            <a:ext cx="607665" cy="134109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3202037" y="1693813"/>
            <a:ext cx="2787253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sp>
        <p:nvSpPr>
          <p:cNvPr id="8" name="Rectangle 7"/>
          <p:cNvSpPr/>
          <p:nvPr/>
        </p:nvSpPr>
        <p:spPr>
          <a:xfrm>
            <a:off x="3332262" y="2798862"/>
            <a:ext cx="607665" cy="35049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291757" y="2509391"/>
            <a:ext cx="607665" cy="639961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251400" y="2128391"/>
            <a:ext cx="607665" cy="1020961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>
            <a:off x="6202561" y="1693813"/>
            <a:ext cx="2787253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6332786" y="2966591"/>
            <a:ext cx="607665" cy="182761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292280" y="2829371"/>
            <a:ext cx="607665" cy="3199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251924" y="2615952"/>
            <a:ext cx="607665" cy="5334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9203085" y="1693813"/>
            <a:ext cx="2787402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sp>
        <p:nvSpPr>
          <p:cNvPr id="16" name="Rectangle 15"/>
          <p:cNvSpPr/>
          <p:nvPr/>
        </p:nvSpPr>
        <p:spPr>
          <a:xfrm>
            <a:off x="9333309" y="2875062"/>
            <a:ext cx="607665" cy="27429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0292804" y="2646462"/>
            <a:ext cx="607665" cy="50289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252448" y="2295971"/>
            <a:ext cx="607665" cy="8533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01513" y="271165"/>
            <a:ext cx="175538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パーツ09｜small_multiples</a:t>
            </a:r>
          </a:p>
        </p:txBody>
      </p:sp>
      <p:sp>
        <p:nvSpPr>
          <p:cNvPr id="20" name="Title"/>
          <p:cNvSpPr txBox="1"/>
          <p:nvPr/>
        </p:nvSpPr>
        <p:spPr>
          <a:xfrm>
            <a:off x="201513" y="504974"/>
            <a:ext cx="1878128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小図の並列比較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513" y="1484412"/>
            <a:ext cx="4287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725" y="3200698"/>
            <a:ext cx="37009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5922" y="3200698"/>
            <a:ext cx="370868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4078" y="3200698"/>
            <a:ext cx="373809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2037" y="1484412"/>
            <a:ext cx="45506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6802" y="3200698"/>
            <a:ext cx="37117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8976" y="3200698"/>
            <a:ext cx="365605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5941" y="3200698"/>
            <a:ext cx="37102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2561" y="1484412"/>
            <a:ext cx="45646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639" y="3200698"/>
            <a:ext cx="41420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7296" y="3200698"/>
            <a:ext cx="39114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820" y="3200698"/>
            <a:ext cx="41204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03085" y="1484412"/>
            <a:ext cx="51063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6419" y="3200698"/>
            <a:ext cx="41575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07848" y="3200698"/>
            <a:ext cx="41173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6897" y="3200698"/>
            <a:ext cx="41312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50291" y="6561981"/>
            <a:ext cx="16485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35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902172"/>
            <a:ext cx="3015705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217218" y="1902172"/>
            <a:ext cx="219328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10498" y="1902172"/>
            <a:ext cx="219328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603778" y="1902172"/>
            <a:ext cx="4386709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201513" y="2557462"/>
            <a:ext cx="3015705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217218" y="2557462"/>
            <a:ext cx="2193280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5410498" y="2557462"/>
            <a:ext cx="2193280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7603778" y="2557462"/>
            <a:ext cx="4386709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201513" y="3212753"/>
            <a:ext cx="3015705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3217218" y="3212753"/>
            <a:ext cx="2193280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5410498" y="3212753"/>
            <a:ext cx="2193280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7603778" y="3212753"/>
            <a:ext cx="4386709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201513" y="271165"/>
            <a:ext cx="189376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パーツ10｜comparison_table</a:t>
            </a:r>
          </a:p>
        </p:txBody>
      </p:sp>
      <p:sp>
        <p:nvSpPr>
          <p:cNvPr id="16" name="Title"/>
          <p:cNvSpPr txBox="1"/>
          <p:nvPr/>
        </p:nvSpPr>
        <p:spPr>
          <a:xfrm>
            <a:off x="201513" y="504974"/>
            <a:ext cx="1878128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選択肢の比較表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584" y="1590973"/>
            <a:ext cx="51822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評価軸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4288" y="1590973"/>
            <a:ext cx="35183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自社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7568" y="1590973"/>
            <a:ext cx="35183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競合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0848" y="1590973"/>
            <a:ext cx="35183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含意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584" y="2013496"/>
            <a:ext cx="50521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4288" y="2013496"/>
            <a:ext cx="5321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7568" y="2013496"/>
            <a:ext cx="53338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0848" y="2013496"/>
            <a:ext cx="90285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1,Text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584" y="2668786"/>
            <a:ext cx="54221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4288" y="2668786"/>
            <a:ext cx="53184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7568" y="2668786"/>
            <a:ext cx="53369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0848" y="2668786"/>
            <a:ext cx="93674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3,Text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584" y="3324076"/>
            <a:ext cx="52797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4288" y="3324076"/>
            <a:ext cx="533543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47568" y="3324076"/>
            <a:ext cx="53369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0848" y="3324076"/>
            <a:ext cx="93071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5,Text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48951" y="6561981"/>
            <a:ext cx="16624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36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513" y="1484412"/>
          <a:ext cx="11788973" cy="1592313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951309"/>
                <a:gridCol w="818406"/>
                <a:gridCol w="5104507"/>
                <a:gridCol w="4914751"/>
              </a:tblGrid>
              <a:tr h="385911">
                <a:tc>
                  <a:txBody>
                    <a:bodyPr wrap="square"/>
                    <a:lstStyle/>
                    <a:p>
                      <a:pPr algn="l">
                        <a:lnSpc>
                          <a:spcPts val="15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シナリオ</a:t>
                      </a:r>
                      <a:endParaRPr sz="100"/>
                    </a:p>
                  </a:txBody>
                  <a:tcPr marT="91440" marR="106680" marB="91440" marL="1066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5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結果</a:t>
                      </a:r>
                      <a:endParaRPr sz="100"/>
                    </a:p>
                  </a:txBody>
                  <a:tcPr marT="91440" marR="106680" marB="91440" marL="1066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5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前提</a:t>
                      </a:r>
                      <a:endParaRPr sz="100"/>
                    </a:p>
                  </a:txBody>
                  <a:tcPr marT="91440" marR="106680" marB="91440" marL="1066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5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経営への含意</a:t>
                      </a:r>
                      <a:endParaRPr sz="100"/>
                    </a:p>
                  </a:txBody>
                  <a:tcPr marT="91440" marR="106680" marB="91440" marL="1066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F1F1F"/>
                      </a:solidFill>
                    </a:lnB>
                    <a:noFill/>
                  </a:tcPr>
                </a:tc>
              </a:tr>
              <a:tr h="402134"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ラベル1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4D4D4D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1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前提1-1：TextをTextと置く／前提1-2：Textは変わらないとする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1をText 2まで積み増す／Text 3の判断をN月に前倒す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</a:tr>
              <a:tr h="402134"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ラベル2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4D4D4D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4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前提2-1：TextをTextと置く／前提2-2：Textは変わらないとする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4をText 5まで積み増す／Text 6の判断をN月に前倒す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</a:tr>
              <a:tr h="402134"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ラベル3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4D4D4D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7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前提3-1：TextをTextと置く／前提3-2：Textは変わらないとする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7をText 8まで積み増す／Text 9の判断をN月に前倒す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1513" y="271165"/>
            <a:ext cx="1641622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パーツ11｜scenario_table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01513" y="504974"/>
            <a:ext cx="1730157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シナリオ比較表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513" y="6274296"/>
            <a:ext cx="1078218" cy="2970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注）前提・注記を記載</a:t>
            </a:r>
          </a:p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5202" y="6561981"/>
            <a:ext cx="15974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37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513" y="1484412"/>
          <a:ext cx="11788973" cy="158755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999679"/>
                <a:gridCol w="4553396"/>
                <a:gridCol w="5151983"/>
                <a:gridCol w="1083915"/>
              </a:tblGrid>
              <a:tr h="385911">
                <a:tc>
                  <a:txBody>
                    <a:bodyPr wrap="square"/>
                    <a:lstStyle/>
                    <a:p>
                      <a:pPr algn="l">
                        <a:lnSpc>
                          <a:spcPts val="15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リスク</a:t>
                      </a:r>
                      <a:endParaRPr sz="100"/>
                    </a:p>
                  </a:txBody>
                  <a:tcPr marT="91440" marR="106680" marB="91440" marL="1066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5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兆候</a:t>
                      </a:r>
                      <a:endParaRPr sz="100"/>
                    </a:p>
                  </a:txBody>
                  <a:tcPr marT="91440" marR="106680" marB="91440" marL="1066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5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対応策</a:t>
                      </a:r>
                      <a:endParaRPr sz="100"/>
                    </a:p>
                  </a:txBody>
                  <a:tcPr marT="91440" marR="106680" marB="91440" marL="1066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56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担当</a:t>
                      </a:r>
                      <a:endParaRPr sz="100"/>
                    </a:p>
                  </a:txBody>
                  <a:tcPr marT="91440" marR="106680" marB="91440" marL="1066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F1F1F"/>
                      </a:solidFill>
                    </a:lnB>
                    <a:noFill/>
                  </a:tcPr>
                </a:tc>
              </a:tr>
              <a:tr h="402134"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1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1がNを下回る,Text 2のNがNか月続く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3を先に確保する,Text 4の代替案を用意する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ラベル1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</a:tr>
              <a:tr h="402134"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4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5がNを下回る,Text 6のNがNか月続く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7を先に確保する,Text 8の代替案を用意する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ラベル2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</a:tr>
              <a:tr h="397371"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7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9がNを下回る,Text 10のNがNか月続く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Text 11を先に確保する,Text 12の代替案を用意する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4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1F1F1F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ラベル3</a:t>
                      </a:r>
                      <a:endParaRPr sz="100"/>
                    </a:p>
                  </a:txBody>
                  <a:tcPr marT="106680" marR="106680" marB="106680" marL="10668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1513" y="271165"/>
            <a:ext cx="132060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パーツ12｜risk_table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01513" y="504974"/>
            <a:ext cx="1473994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リスク一覧表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49100" y="6561981"/>
            <a:ext cx="16609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38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752749"/>
            <a:ext cx="11788974" cy="0"/>
          </a:xfrm>
          <a:prstGeom prst="line">
            <a:avLst/>
          </a:prstGeom>
          <a:ln w="9525">
            <a:solidFill>
              <a:srgbClr val="8A8F94"/>
            </a:solidFill>
            <a:prstDash val="sysDot"/>
          </a:ln>
        </p:spPr>
      </p:cxnSp>
      <p:sp>
        <p:nvSpPr>
          <p:cNvPr id="4" name="Rectangle 3"/>
          <p:cNvSpPr/>
          <p:nvPr/>
        </p:nvSpPr>
        <p:spPr>
          <a:xfrm>
            <a:off x="201513" y="2199382"/>
            <a:ext cx="1384250" cy="151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799034" y="2199382"/>
            <a:ext cx="2906911" cy="151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919216" y="2199382"/>
            <a:ext cx="3183880" cy="151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316367" y="2199382"/>
            <a:ext cx="1661220" cy="151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190857" y="2199382"/>
            <a:ext cx="1799630" cy="151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201513" y="2290911"/>
            <a:ext cx="1384250" cy="60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0" name="Connector 9"/>
          <p:cNvCxnSpPr/>
          <p:nvPr/>
        </p:nvCxnSpPr>
        <p:spPr>
          <a:xfrm>
            <a:off x="201513" y="2895749"/>
            <a:ext cx="1384251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11" name="Rectangle 10"/>
          <p:cNvSpPr/>
          <p:nvPr/>
        </p:nvSpPr>
        <p:spPr>
          <a:xfrm>
            <a:off x="1799034" y="2290911"/>
            <a:ext cx="2906911" cy="60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2" name="Connector 11"/>
          <p:cNvCxnSpPr/>
          <p:nvPr/>
        </p:nvCxnSpPr>
        <p:spPr>
          <a:xfrm>
            <a:off x="1799034" y="2895749"/>
            <a:ext cx="2906911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13" name="Rectangle 12"/>
          <p:cNvSpPr/>
          <p:nvPr/>
        </p:nvSpPr>
        <p:spPr>
          <a:xfrm>
            <a:off x="4919216" y="2290911"/>
            <a:ext cx="3183880" cy="60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4" name="Connector 13"/>
          <p:cNvCxnSpPr/>
          <p:nvPr/>
        </p:nvCxnSpPr>
        <p:spPr>
          <a:xfrm>
            <a:off x="4919216" y="2895749"/>
            <a:ext cx="318388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15" name="Rectangle 14"/>
          <p:cNvSpPr/>
          <p:nvPr/>
        </p:nvSpPr>
        <p:spPr>
          <a:xfrm>
            <a:off x="8316367" y="2290911"/>
            <a:ext cx="1661220" cy="60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8316367" y="2895749"/>
            <a:ext cx="1661219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17" name="Rectangle 16"/>
          <p:cNvSpPr/>
          <p:nvPr/>
        </p:nvSpPr>
        <p:spPr>
          <a:xfrm>
            <a:off x="10190857" y="2290911"/>
            <a:ext cx="1799630" cy="60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8" name="Connector 17"/>
          <p:cNvCxnSpPr/>
          <p:nvPr/>
        </p:nvCxnSpPr>
        <p:spPr>
          <a:xfrm>
            <a:off x="10190857" y="2895749"/>
            <a:ext cx="179963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19" name="Connector 18"/>
          <p:cNvCxnSpPr/>
          <p:nvPr/>
        </p:nvCxnSpPr>
        <p:spPr>
          <a:xfrm>
            <a:off x="201513" y="3505349"/>
            <a:ext cx="1384251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20" name="Connector 19"/>
          <p:cNvCxnSpPr/>
          <p:nvPr/>
        </p:nvCxnSpPr>
        <p:spPr>
          <a:xfrm>
            <a:off x="1799034" y="3505349"/>
            <a:ext cx="2906911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21" name="Connector 20"/>
          <p:cNvCxnSpPr/>
          <p:nvPr/>
        </p:nvCxnSpPr>
        <p:spPr>
          <a:xfrm>
            <a:off x="4919216" y="3505349"/>
            <a:ext cx="318388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22" name="Connector 21"/>
          <p:cNvCxnSpPr/>
          <p:nvPr/>
        </p:nvCxnSpPr>
        <p:spPr>
          <a:xfrm>
            <a:off x="8316367" y="3505349"/>
            <a:ext cx="1661219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23" name="Connector 22"/>
          <p:cNvCxnSpPr/>
          <p:nvPr/>
        </p:nvCxnSpPr>
        <p:spPr>
          <a:xfrm>
            <a:off x="10190857" y="3505349"/>
            <a:ext cx="179963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24" name="Connector 23"/>
          <p:cNvCxnSpPr/>
          <p:nvPr/>
        </p:nvCxnSpPr>
        <p:spPr>
          <a:xfrm>
            <a:off x="201513" y="4114949"/>
            <a:ext cx="1384251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25" name="Connector 24"/>
          <p:cNvCxnSpPr/>
          <p:nvPr/>
        </p:nvCxnSpPr>
        <p:spPr>
          <a:xfrm>
            <a:off x="1799034" y="4114949"/>
            <a:ext cx="2906911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26" name="Connector 25"/>
          <p:cNvCxnSpPr/>
          <p:nvPr/>
        </p:nvCxnSpPr>
        <p:spPr>
          <a:xfrm>
            <a:off x="4919216" y="4114949"/>
            <a:ext cx="318388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27" name="Connector 26"/>
          <p:cNvCxnSpPr/>
          <p:nvPr/>
        </p:nvCxnSpPr>
        <p:spPr>
          <a:xfrm>
            <a:off x="8316367" y="4114949"/>
            <a:ext cx="1661219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28" name="Connector 27"/>
          <p:cNvCxnSpPr/>
          <p:nvPr/>
        </p:nvCxnSpPr>
        <p:spPr>
          <a:xfrm>
            <a:off x="10190857" y="4114949"/>
            <a:ext cx="179963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29" name="TextBox 28"/>
          <p:cNvSpPr txBox="1"/>
          <p:nvPr/>
        </p:nvSpPr>
        <p:spPr>
          <a:xfrm>
            <a:off x="201513" y="271165"/>
            <a:ext cx="2119277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パーツ13｜horizontal_axis_table</a:t>
            </a:r>
          </a:p>
        </p:txBody>
      </p:sp>
      <p:sp>
        <p:nvSpPr>
          <p:cNvPr id="30" name="Title"/>
          <p:cNvSpPr txBox="1"/>
          <p:nvPr/>
        </p:nvSpPr>
        <p:spPr>
          <a:xfrm>
            <a:off x="201513" y="504974"/>
            <a:ext cx="1352645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横軸評価表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513" y="1474887"/>
            <a:ext cx="3806392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網掛けの行＝Text 1（この行だけ立てている理由を1行で）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513" y="1900386"/>
            <a:ext cx="721447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9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列見出し1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99034" y="1900386"/>
            <a:ext cx="75457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9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列見出し2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9216" y="1900386"/>
            <a:ext cx="757202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9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列見出し3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6367" y="1900386"/>
            <a:ext cx="76231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9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列見出し4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0857" y="1900386"/>
            <a:ext cx="756118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9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列見出し5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8074" y="2367111"/>
            <a:ext cx="177546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05595" y="2367111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5777" y="2367111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2928" y="2367111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97418" y="2367111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513" y="2976711"/>
            <a:ext cx="177546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99034" y="2976711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19216" y="2976711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6367" y="2976711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90857" y="2976711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513" y="3586311"/>
            <a:ext cx="177546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99034" y="3586311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19216" y="3586311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16367" y="3586311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90857" y="3586311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48951" y="6561981"/>
            <a:ext cx="16624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39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214818" y="1492002"/>
            <a:ext cx="121890" cy="12189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764143" y="1492002"/>
            <a:ext cx="121890" cy="121890"/>
          </a:xfrm>
          <a:prstGeom prst="rect">
            <a:avLst/>
          </a:prstGeom>
          <a:solidFill>
            <a:srgbClr val="F2F2F2"/>
          </a:solidFill>
          <a:ln w="9525">
            <a:solidFill>
              <a:srgbClr val="E0E0E0"/>
            </a:solidFill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1228784" y="1492002"/>
            <a:ext cx="121890" cy="121890"/>
          </a:xfrm>
          <a:prstGeom prst="rect">
            <a:avLst/>
          </a:prstGeom>
          <a:solidFill>
            <a:srgbClr val="A6A6A6"/>
          </a:solidFill>
          <a:ln w="9525">
            <a:solidFill>
              <a:srgbClr val="E0E0E0"/>
            </a:solidFill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1693426" y="1492002"/>
            <a:ext cx="121890" cy="121890"/>
          </a:xfrm>
          <a:prstGeom prst="rect">
            <a:avLst/>
          </a:prstGeom>
          <a:solidFill>
            <a:srgbClr val="4D4D4D"/>
          </a:solidFill>
          <a:ln w="9525">
            <a:solidFill>
              <a:srgbClr val="E0E0E0"/>
            </a:solidFill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3256211" y="2073473"/>
            <a:ext cx="2149227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5451128" y="2073473"/>
            <a:ext cx="2149376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7646194" y="2073473"/>
            <a:ext cx="2149227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9841111" y="2073473"/>
            <a:ext cx="2149376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3256211" y="2123926"/>
            <a:ext cx="2149227" cy="34066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51128" y="2123926"/>
            <a:ext cx="2149376" cy="340668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646194" y="2123926"/>
            <a:ext cx="2149227" cy="3406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841111" y="2123926"/>
            <a:ext cx="2149376" cy="340668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256211" y="2510284"/>
            <a:ext cx="2149227" cy="359718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451128" y="2510284"/>
            <a:ext cx="2149376" cy="35971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646194" y="2510284"/>
            <a:ext cx="2149227" cy="35971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841111" y="2510284"/>
            <a:ext cx="2149376" cy="35971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256211" y="2915692"/>
            <a:ext cx="2149227" cy="34066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451128" y="2915692"/>
            <a:ext cx="2149376" cy="34066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646194" y="2915692"/>
            <a:ext cx="2149227" cy="340668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841111" y="2915692"/>
            <a:ext cx="2149376" cy="34066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3256211" y="3302050"/>
            <a:ext cx="2149227" cy="359718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451128" y="3302050"/>
            <a:ext cx="2149376" cy="35971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646194" y="3302050"/>
            <a:ext cx="2149227" cy="35971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9841111" y="3302050"/>
            <a:ext cx="2149376" cy="35971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01513" y="271165"/>
            <a:ext cx="1676757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パーツ14｜heatmap_table</a:t>
            </a:r>
          </a:p>
        </p:txBody>
      </p:sp>
      <p:sp>
        <p:nvSpPr>
          <p:cNvPr id="28" name="Title"/>
          <p:cNvSpPr txBox="1"/>
          <p:nvPr/>
        </p:nvSpPr>
        <p:spPr>
          <a:xfrm>
            <a:off x="201513" y="504974"/>
            <a:ext cx="1619179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ヒートマップ表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97579" y="1474887"/>
            <a:ext cx="22599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なし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46904" y="1474887"/>
            <a:ext cx="13792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11545" y="1474887"/>
            <a:ext cx="13792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76187" y="1474887"/>
            <a:ext cx="13792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074" y="1819424"/>
            <a:ext cx="55381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行の軸名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2771" y="1819424"/>
            <a:ext cx="58756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列見出し1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7689" y="1819424"/>
            <a:ext cx="61433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列見出し2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2755" y="1819424"/>
            <a:ext cx="61635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列見出し3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47672" y="1819424"/>
            <a:ext cx="62053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列見出し4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8074" y="2215307"/>
            <a:ext cx="58756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行見出し1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3895" y="2215307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8961" y="2215307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3878" y="2215307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38944" y="2215307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8074" y="2601664"/>
            <a:ext cx="61433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行見出し2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3895" y="2611189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8961" y="2611189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4035" y="2611189"/>
            <a:ext cx="25354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なし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38944" y="2611189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8074" y="3007072"/>
            <a:ext cx="61635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行見出し3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53895" y="3007072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8961" y="3007072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43878" y="3007072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中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38944" y="3007072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8074" y="3393430"/>
            <a:ext cx="62053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行見出し4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53895" y="3402955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8961" y="3402955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低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4035" y="3402955"/>
            <a:ext cx="25354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なし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38944" y="3402955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4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低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844486" y="6561981"/>
            <a:ext cx="17089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40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7052965" y="1492002"/>
            <a:ext cx="121890" cy="121890"/>
          </a:xfrm>
          <a:prstGeom prst="rect">
            <a:avLst/>
          </a:prstGeom>
          <a:solidFill>
            <a:srgbClr val="262626"/>
          </a:solidFill>
          <a:ln w="9525">
            <a:solidFill>
              <a:srgbClr val="262626"/>
            </a:solidFill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974062" y="1492002"/>
            <a:ext cx="121890" cy="12189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rtlCol="0" anchor="ctr"/>
          <a:lstStyle/>
          <a:p/>
        </p:txBody>
      </p:sp>
      <p:pic>
        <p:nvPicPr>
          <p:cNvPr id="5" name="Picture 4" descr="img_45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13" y="1850082"/>
            <a:ext cx="8725793" cy="28956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01513" y="4740920"/>
            <a:ext cx="8725793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206276" y="1850082"/>
            <a:ext cx="0" cy="289560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sp>
        <p:nvSpPr>
          <p:cNvPr id="8" name="Rectangle 7"/>
          <p:cNvSpPr/>
          <p:nvPr/>
        </p:nvSpPr>
        <p:spPr>
          <a:xfrm>
            <a:off x="6252716" y="2402309"/>
            <a:ext cx="467916" cy="280839"/>
          </a:xfrm>
          <a:prstGeom prst="rect">
            <a:avLst/>
          </a:prstGeom>
          <a:solidFill>
            <a:srgbClr val="262626"/>
          </a:solidFill>
          <a:ln w="9525">
            <a:solidFill>
              <a:srgbClr val="262626"/>
            </a:solidFill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91957" y="2921719"/>
            <a:ext cx="492026" cy="280839"/>
          </a:xfrm>
          <a:prstGeom prst="rect">
            <a:avLst/>
          </a:prstGeom>
          <a:solidFill>
            <a:srgbClr val="262626"/>
          </a:solidFill>
          <a:ln w="9525">
            <a:solidFill>
              <a:srgbClr val="262626"/>
            </a:solidFill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014737" y="2604269"/>
            <a:ext cx="493961" cy="280839"/>
          </a:xfrm>
          <a:prstGeom prst="rect">
            <a:avLst/>
          </a:prstGeom>
          <a:solidFill>
            <a:srgbClr val="FFFFFF"/>
          </a:solidFill>
          <a:ln w="9525">
            <a:solidFill>
              <a:srgbClr val="262626"/>
            </a:solidFill>
          </a:ln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971627" y="3499024"/>
            <a:ext cx="497681" cy="280839"/>
          </a:xfrm>
          <a:prstGeom prst="rect">
            <a:avLst/>
          </a:prstGeom>
          <a:solidFill>
            <a:srgbClr val="FFFFFF"/>
          </a:solidFill>
          <a:ln w="9525">
            <a:solidFill>
              <a:srgbClr val="262626"/>
            </a:solidFill>
          </a:ln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969145" y="3845347"/>
            <a:ext cx="493216" cy="280839"/>
          </a:xfrm>
          <a:prstGeom prst="rect">
            <a:avLst/>
          </a:prstGeom>
          <a:solidFill>
            <a:srgbClr val="FFFFFF"/>
          </a:solidFill>
          <a:ln w="9525">
            <a:solidFill>
              <a:srgbClr val="262626"/>
            </a:solidFill>
          </a:ln>
        </p:spPr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9252049" y="1484412"/>
            <a:ext cx="0" cy="3520231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9424392" y="1763018"/>
            <a:ext cx="2566095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201513" y="271165"/>
            <a:ext cx="141301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パーツ15｜matrix_2x2</a:t>
            </a:r>
          </a:p>
        </p:txBody>
      </p:sp>
      <p:sp>
        <p:nvSpPr>
          <p:cNvPr id="16" name="Title"/>
          <p:cNvSpPr txBox="1"/>
          <p:nvPr/>
        </p:nvSpPr>
        <p:spPr>
          <a:xfrm>
            <a:off x="201513" y="504974"/>
            <a:ext cx="1525226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2×2マトリクス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5726" y="1474887"/>
            <a:ext cx="59684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選んだ候補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823" y="1474887"/>
            <a:ext cx="82035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そのほかの候補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1038" y="1636812"/>
            <a:ext cx="113842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縦軸名（上ほど高い）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0981" y="4818608"/>
            <a:ext cx="113842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横軸名（右ほど高い）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8441" y="2463180"/>
            <a:ext cx="3273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施策1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7682" y="2982590"/>
            <a:ext cx="35244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施策2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0462" y="2665140"/>
            <a:ext cx="35446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施策3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7352" y="3559894"/>
            <a:ext cx="35833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施策4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4870" y="3906217"/>
            <a:ext cx="35368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04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施策5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4392" y="1474887"/>
            <a:ext cx="74172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57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7153" y="1899196"/>
            <a:ext cx="469773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60020" indent="-160020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2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7153" y="2235398"/>
            <a:ext cx="50351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60020" indent="-160020">
              <a:lnSpc>
                <a:spcPts val="1688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12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72317" y="6561981"/>
            <a:ext cx="14194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41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580656" y="1725811"/>
            <a:ext cx="2752427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6409283" y="1725811"/>
            <a:ext cx="2752428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9237911" y="1725811"/>
            <a:ext cx="2752576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3580656" y="1806773"/>
            <a:ext cx="2752427" cy="373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09283" y="1806773"/>
            <a:ext cx="2752427" cy="373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580656" y="2256532"/>
            <a:ext cx="2752427" cy="373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9283" y="2256532"/>
            <a:ext cx="2752427" cy="373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580656" y="2706291"/>
            <a:ext cx="2752427" cy="373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9283" y="2706291"/>
            <a:ext cx="2752427" cy="373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9237911" y="2706291"/>
            <a:ext cx="2752576" cy="373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01513" y="271165"/>
            <a:ext cx="1721179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パーツ16｜process_matrix</a:t>
            </a:r>
          </a:p>
        </p:txBody>
      </p:sp>
      <p:sp>
        <p:nvSpPr>
          <p:cNvPr id="14" name="Title"/>
          <p:cNvSpPr txBox="1"/>
          <p:nvPr/>
        </p:nvSpPr>
        <p:spPr>
          <a:xfrm>
            <a:off x="201513" y="504974"/>
            <a:ext cx="2462736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プロセス×観点の行列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513" y="1484412"/>
            <a:ext cx="55381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行の軸名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6346" y="1484412"/>
            <a:ext cx="58756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列見出し1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4973" y="1484412"/>
            <a:ext cx="61433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列見出し2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3601" y="1484412"/>
            <a:ext cx="61635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列見出し3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513" y="1913334"/>
            <a:ext cx="58756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行見出し1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2546" y="1913334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1173" y="1913334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513" y="2363093"/>
            <a:ext cx="61433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行見出し2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2546" y="2363093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1173" y="2363093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513" y="2812852"/>
            <a:ext cx="61635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行見出し3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2546" y="2812852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1173" y="2812852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9801" y="2812852"/>
            <a:ext cx="1537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4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46868" y="6561981"/>
            <a:ext cx="16841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42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201513" y="1530102"/>
            <a:ext cx="2012900" cy="175527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290614" y="1530102"/>
            <a:ext cx="2116485" cy="52417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4528989" y="2095202"/>
            <a:ext cx="7461349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6" name="Rectangle 5"/>
          <p:cNvSpPr/>
          <p:nvPr/>
        </p:nvSpPr>
        <p:spPr>
          <a:xfrm>
            <a:off x="2290614" y="2145655"/>
            <a:ext cx="2116485" cy="52417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4528989" y="2710755"/>
            <a:ext cx="7461349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8" name="Rectangle 7"/>
          <p:cNvSpPr/>
          <p:nvPr/>
        </p:nvSpPr>
        <p:spPr>
          <a:xfrm>
            <a:off x="2290614" y="2761208"/>
            <a:ext cx="2116485" cy="52417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>
            <a:off x="4528989" y="3326309"/>
            <a:ext cx="7461349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10" name="Rectangle 9"/>
          <p:cNvSpPr/>
          <p:nvPr/>
        </p:nvSpPr>
        <p:spPr>
          <a:xfrm>
            <a:off x="201513" y="3376761"/>
            <a:ext cx="2012900" cy="113972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290614" y="3376761"/>
            <a:ext cx="2116485" cy="52417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2" name="Connector 11"/>
          <p:cNvCxnSpPr/>
          <p:nvPr/>
        </p:nvCxnSpPr>
        <p:spPr>
          <a:xfrm>
            <a:off x="4528989" y="3941862"/>
            <a:ext cx="7461349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13" name="Rectangle 12"/>
          <p:cNvSpPr/>
          <p:nvPr/>
        </p:nvSpPr>
        <p:spPr>
          <a:xfrm>
            <a:off x="2290614" y="3992314"/>
            <a:ext cx="2116485" cy="52417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4" name="Connector 13"/>
          <p:cNvCxnSpPr/>
          <p:nvPr/>
        </p:nvCxnSpPr>
        <p:spPr>
          <a:xfrm>
            <a:off x="4528989" y="4557415"/>
            <a:ext cx="7461349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15" name="TextBox 14"/>
          <p:cNvSpPr txBox="1"/>
          <p:nvPr/>
        </p:nvSpPr>
        <p:spPr>
          <a:xfrm>
            <a:off x="201513" y="271165"/>
            <a:ext cx="1963567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パーツ17｜nested_row_matrix</a:t>
            </a:r>
          </a:p>
        </p:txBody>
      </p:sp>
      <p:sp>
        <p:nvSpPr>
          <p:cNvPr id="16" name="Title"/>
          <p:cNvSpPr txBox="1"/>
          <p:nvPr/>
        </p:nvSpPr>
        <p:spPr>
          <a:xfrm>
            <a:off x="201513" y="504974"/>
            <a:ext cx="1872865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入れ子行の行列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355" y="2311301"/>
            <a:ext cx="50521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ラベル1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320" y="1714500"/>
            <a:ext cx="48107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6569" y="1606153"/>
            <a:ext cx="36251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1920" indent="-121920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6569" y="1802606"/>
            <a:ext cx="38820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1920" indent="-121920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7240" y="2330053"/>
            <a:ext cx="48308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6569" y="2221706"/>
            <a:ext cx="38913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1920" indent="-121920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6569" y="2418159"/>
            <a:ext cx="39284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1920" indent="-121920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5224" y="2945606"/>
            <a:ext cx="48726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6569" y="2837259"/>
            <a:ext cx="38804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1920" indent="-121920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6569" y="3033712"/>
            <a:ext cx="38944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1920" indent="-121920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570" y="3850184"/>
            <a:ext cx="53663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ラベル5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6930" y="3561159"/>
            <a:ext cx="48370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6569" y="3452812"/>
            <a:ext cx="38263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1920" indent="-121920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6569" y="3649266"/>
            <a:ext cx="46033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1920" indent="-121920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7b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11570" y="4176712"/>
            <a:ext cx="47457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6569" y="4068366"/>
            <a:ext cx="38928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1920" indent="-121920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6569" y="4264819"/>
            <a:ext cx="46698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1920" indent="-121920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8b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45975" y="6561981"/>
            <a:ext cx="16934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43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731764"/>
            <a:ext cx="2267099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468612" y="1731764"/>
            <a:ext cx="3173909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642521" y="1731764"/>
            <a:ext cx="3173908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8816429" y="1731764"/>
            <a:ext cx="3173909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201513" y="2193727"/>
            <a:ext cx="2267099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8" name="Connector 7"/>
          <p:cNvCxnSpPr/>
          <p:nvPr/>
        </p:nvCxnSpPr>
        <p:spPr>
          <a:xfrm>
            <a:off x="2468612" y="2193727"/>
            <a:ext cx="3173909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9" name="Connector 8"/>
          <p:cNvCxnSpPr/>
          <p:nvPr/>
        </p:nvCxnSpPr>
        <p:spPr>
          <a:xfrm>
            <a:off x="5642521" y="2193727"/>
            <a:ext cx="3173908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10" name="Connector 9"/>
          <p:cNvCxnSpPr/>
          <p:nvPr/>
        </p:nvCxnSpPr>
        <p:spPr>
          <a:xfrm>
            <a:off x="8816429" y="2193727"/>
            <a:ext cx="3173909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11" name="Connector 10"/>
          <p:cNvCxnSpPr/>
          <p:nvPr/>
        </p:nvCxnSpPr>
        <p:spPr>
          <a:xfrm>
            <a:off x="201513" y="2655689"/>
            <a:ext cx="2267099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12" name="Connector 11"/>
          <p:cNvCxnSpPr/>
          <p:nvPr/>
        </p:nvCxnSpPr>
        <p:spPr>
          <a:xfrm>
            <a:off x="2468612" y="2655689"/>
            <a:ext cx="3173909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13" name="Connector 12"/>
          <p:cNvCxnSpPr/>
          <p:nvPr/>
        </p:nvCxnSpPr>
        <p:spPr>
          <a:xfrm>
            <a:off x="5642521" y="2655689"/>
            <a:ext cx="3173908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14" name="Connector 13"/>
          <p:cNvCxnSpPr/>
          <p:nvPr/>
        </p:nvCxnSpPr>
        <p:spPr>
          <a:xfrm>
            <a:off x="8816429" y="2655689"/>
            <a:ext cx="3173909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15" name="Connector 14"/>
          <p:cNvCxnSpPr/>
          <p:nvPr/>
        </p:nvCxnSpPr>
        <p:spPr>
          <a:xfrm>
            <a:off x="201513" y="3117652"/>
            <a:ext cx="2267099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16" name="Connector 15"/>
          <p:cNvCxnSpPr/>
          <p:nvPr/>
        </p:nvCxnSpPr>
        <p:spPr>
          <a:xfrm>
            <a:off x="2468612" y="3117652"/>
            <a:ext cx="3173909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17" name="Connector 16"/>
          <p:cNvCxnSpPr/>
          <p:nvPr/>
        </p:nvCxnSpPr>
        <p:spPr>
          <a:xfrm>
            <a:off x="5642521" y="3117652"/>
            <a:ext cx="3173908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18" name="Connector 17"/>
          <p:cNvCxnSpPr/>
          <p:nvPr/>
        </p:nvCxnSpPr>
        <p:spPr>
          <a:xfrm>
            <a:off x="8816429" y="3117652"/>
            <a:ext cx="3173909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19" name="TextBox 18"/>
          <p:cNvSpPr txBox="1"/>
          <p:nvPr/>
        </p:nvSpPr>
        <p:spPr>
          <a:xfrm>
            <a:off x="201513" y="271165"/>
            <a:ext cx="171328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パーツ18｜timeline_matrix</a:t>
            </a:r>
          </a:p>
        </p:txBody>
      </p:sp>
      <p:sp>
        <p:nvSpPr>
          <p:cNvPr id="20" name="Title"/>
          <p:cNvSpPr txBox="1"/>
          <p:nvPr/>
        </p:nvSpPr>
        <p:spPr>
          <a:xfrm>
            <a:off x="201513" y="504974"/>
            <a:ext cx="1904440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時系列マトリクス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404" y="1474887"/>
            <a:ext cx="31994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段階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0502" y="1474887"/>
            <a:ext cx="65411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列見出し1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4411" y="1474887"/>
            <a:ext cx="68414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列見出し2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8320" y="1474887"/>
            <a:ext cx="68646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列見出し3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404" y="1864072"/>
            <a:ext cx="384953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期間1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0502" y="1873597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4411" y="1873597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8320" y="1873597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404" y="2326035"/>
            <a:ext cx="41482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期間2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90502" y="2335560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4411" y="2335560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38320" y="2335560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3404" y="2787997"/>
            <a:ext cx="41714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期間3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90502" y="2797522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4411" y="2797522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38320" y="2797522"/>
            <a:ext cx="16160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42700" y="6561981"/>
            <a:ext cx="17274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44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047256" y="1807369"/>
            <a:ext cx="0" cy="1402258"/>
          </a:xfrm>
          <a:prstGeom prst="line">
            <a:avLst/>
          </a:prstGeom>
          <a:ln w="9525">
            <a:solidFill>
              <a:srgbClr val="BFBFBF"/>
            </a:solidFill>
            <a:prstDash val="sysDot"/>
          </a:ln>
        </p:spPr>
      </p:cxnSp>
      <p:sp>
        <p:nvSpPr>
          <p:cNvPr id="4" name="Rectangle 3"/>
          <p:cNvSpPr/>
          <p:nvPr/>
        </p:nvSpPr>
        <p:spPr>
          <a:xfrm>
            <a:off x="201513" y="1807369"/>
            <a:ext cx="503932" cy="210294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6096000" y="1807369"/>
            <a:ext cx="0" cy="1402258"/>
          </a:xfrm>
          <a:prstGeom prst="line">
            <a:avLst/>
          </a:prstGeom>
          <a:ln w="9525">
            <a:solidFill>
              <a:srgbClr val="BFBFBF"/>
            </a:solidFill>
            <a:prstDash val="sysDot"/>
          </a:ln>
        </p:spPr>
      </p:cxnSp>
      <p:sp>
        <p:nvSpPr>
          <p:cNvPr id="6" name="Rectangle 5"/>
          <p:cNvSpPr/>
          <p:nvPr/>
        </p:nvSpPr>
        <p:spPr>
          <a:xfrm>
            <a:off x="3250109" y="1807369"/>
            <a:ext cx="523726" cy="210294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9144595" y="1807369"/>
            <a:ext cx="0" cy="1402258"/>
          </a:xfrm>
          <a:prstGeom prst="line">
            <a:avLst/>
          </a:prstGeom>
          <a:ln w="9525">
            <a:solidFill>
              <a:srgbClr val="BFBFBF"/>
            </a:solidFill>
            <a:prstDash val="sysDot"/>
          </a:ln>
        </p:spPr>
      </p:cxnSp>
      <p:sp>
        <p:nvSpPr>
          <p:cNvPr id="8" name="Rectangle 7"/>
          <p:cNvSpPr/>
          <p:nvPr/>
        </p:nvSpPr>
        <p:spPr>
          <a:xfrm>
            <a:off x="6298853" y="1807369"/>
            <a:ext cx="525214" cy="210294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347448" y="1807369"/>
            <a:ext cx="528191" cy="210294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01513" y="271165"/>
            <a:ext cx="1814203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パーツ19｜theme_card_grid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201513" y="504974"/>
            <a:ext cx="1439787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テーマカード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513" y="1484412"/>
            <a:ext cx="185676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指標名、単位、YYYY〜YYYY年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713" y="1843534"/>
            <a:ext cx="38464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ラベル1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513" y="2170063"/>
            <a:ext cx="642973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タイトル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513" y="2475905"/>
            <a:ext cx="35152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513" y="2834432"/>
            <a:ext cx="697921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3.4x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6309" y="1843534"/>
            <a:ext cx="405229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ラベル2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0109" y="2170063"/>
            <a:ext cx="64529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タイトル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50109" y="2475905"/>
            <a:ext cx="37644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50109" y="2834432"/>
            <a:ext cx="955786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+22%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5053" y="1843534"/>
            <a:ext cx="40677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ラベル3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8853" y="2170063"/>
            <a:ext cx="64993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タイトル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8853" y="2475905"/>
            <a:ext cx="37752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8853" y="2834432"/>
            <a:ext cx="955786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-41%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3648" y="1843534"/>
            <a:ext cx="40987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ラベル4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7448" y="2170063"/>
            <a:ext cx="64436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タイトル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7448" y="2475905"/>
            <a:ext cx="38092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7448" y="2834432"/>
            <a:ext cx="750856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92%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47165" y="6561981"/>
            <a:ext cx="16810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45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493937"/>
            <a:ext cx="3777258" cy="0"/>
          </a:xfrm>
          <a:prstGeom prst="line">
            <a:avLst/>
          </a:prstGeom>
          <a:ln w="19050">
            <a:solidFill>
              <a:srgbClr val="4D4D4D"/>
            </a:solidFill>
          </a:ln>
        </p:spPr>
      </p:cxnSp>
      <p:sp>
        <p:nvSpPr>
          <p:cNvPr id="4" name="Oval 3"/>
          <p:cNvSpPr/>
          <p:nvPr/>
        </p:nvSpPr>
        <p:spPr>
          <a:xfrm>
            <a:off x="201513" y="1625352"/>
            <a:ext cx="304800" cy="304800"/>
          </a:xfrm>
          <a:prstGeom prst="ellipse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4207371" y="1493937"/>
            <a:ext cx="3777258" cy="0"/>
          </a:xfrm>
          <a:prstGeom prst="line">
            <a:avLst/>
          </a:prstGeom>
          <a:ln w="19050">
            <a:solidFill>
              <a:srgbClr val="4D4D4D"/>
            </a:solidFill>
          </a:ln>
        </p:spPr>
      </p:cxnSp>
      <p:sp>
        <p:nvSpPr>
          <p:cNvPr id="6" name="Oval 5"/>
          <p:cNvSpPr/>
          <p:nvPr/>
        </p:nvSpPr>
        <p:spPr>
          <a:xfrm>
            <a:off x="4207371" y="1625352"/>
            <a:ext cx="304800" cy="304800"/>
          </a:xfrm>
          <a:prstGeom prst="ellipse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8213229" y="1493937"/>
            <a:ext cx="3777258" cy="0"/>
          </a:xfrm>
          <a:prstGeom prst="line">
            <a:avLst/>
          </a:prstGeom>
          <a:ln w="19050">
            <a:solidFill>
              <a:srgbClr val="4D4D4D"/>
            </a:solidFill>
          </a:ln>
        </p:spPr>
      </p:cxnSp>
      <p:sp>
        <p:nvSpPr>
          <p:cNvPr id="8" name="Oval 7"/>
          <p:cNvSpPr/>
          <p:nvPr/>
        </p:nvSpPr>
        <p:spPr>
          <a:xfrm>
            <a:off x="8213229" y="1625352"/>
            <a:ext cx="304800" cy="304800"/>
          </a:xfrm>
          <a:prstGeom prst="ellipse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01513" y="271165"/>
            <a:ext cx="235717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パーツ20｜recommendation_pillars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201513" y="504974"/>
            <a:ext cx="1078063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提言の柱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022" y="1682502"/>
            <a:ext cx="87463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513" y="2027188"/>
            <a:ext cx="676251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513" y="2280345"/>
            <a:ext cx="36251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913" y="2530078"/>
            <a:ext cx="38820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1920" indent="-121920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913" y="2749302"/>
            <a:ext cx="38913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1920" indent="-121920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1700" y="1682502"/>
            <a:ext cx="118884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7371" y="2027188"/>
            <a:ext cx="678728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7371" y="2280345"/>
            <a:ext cx="39284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9771" y="2530078"/>
            <a:ext cx="38804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1920" indent="-121920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9771" y="2749302"/>
            <a:ext cx="38944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1920" indent="-121920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6367" y="1682502"/>
            <a:ext cx="12136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3229" y="2027188"/>
            <a:ext cx="683681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3229" y="2280345"/>
            <a:ext cx="38263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4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5629" y="2530078"/>
            <a:ext cx="38928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1920" indent="-121920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5629" y="2749302"/>
            <a:ext cx="38944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marL="121920" indent="-121920">
              <a:lnSpc>
                <a:spcPts val="1248"/>
              </a:lnSpc>
              <a:spcBef>
                <a:spcPts val="0"/>
              </a:spcBef>
              <a:spcAft>
                <a:spcPts val="0"/>
              </a:spcAft>
              <a:buSzPct val="100000"/>
              <a:buFont typeface="Yu Gothic"/>
              <a:buChar char="•"/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45677" y="6561981"/>
            <a:ext cx="16965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46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201513" y="2306389"/>
            <a:ext cx="2113955" cy="759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2620268" y="2306389"/>
            <a:ext cx="2113955" cy="759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039023" y="2306389"/>
            <a:ext cx="2113955" cy="759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457777" y="2306389"/>
            <a:ext cx="2113955" cy="759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876532" y="2306389"/>
            <a:ext cx="2113955" cy="759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01513" y="271165"/>
            <a:ext cx="2246197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パーツ21｜numbered_imperatives</a:t>
            </a:r>
          </a:p>
        </p:txBody>
      </p:sp>
      <p:sp>
        <p:nvSpPr>
          <p:cNvPr id="9" name="Title"/>
          <p:cNvSpPr txBox="1"/>
          <p:nvPr/>
        </p:nvSpPr>
        <p:spPr>
          <a:xfrm>
            <a:off x="201513" y="504974"/>
            <a:ext cx="1788354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番号つき打ち手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513" y="1484412"/>
            <a:ext cx="185676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指標名、単位、YYYY〜YYYY年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513" y="1788319"/>
            <a:ext cx="254782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91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513" y="2435870"/>
            <a:ext cx="70906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513" y="2754213"/>
            <a:ext cx="36251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0268" y="1788319"/>
            <a:ext cx="254782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91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0268" y="2435870"/>
            <a:ext cx="711696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0268" y="2754213"/>
            <a:ext cx="38820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9023" y="1788319"/>
            <a:ext cx="254782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91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9023" y="2435870"/>
            <a:ext cx="716804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9023" y="2754213"/>
            <a:ext cx="38913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7777" y="1788319"/>
            <a:ext cx="254782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91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7777" y="2435870"/>
            <a:ext cx="710613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7777" y="2754213"/>
            <a:ext cx="39284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6532" y="1788319"/>
            <a:ext cx="254782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91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6532" y="2435870"/>
            <a:ext cx="71231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6532" y="2754213"/>
            <a:ext cx="38804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Text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51928" y="6561981"/>
            <a:ext cx="16315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47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746349"/>
            <a:ext cx="3757017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01513" y="3554016"/>
            <a:ext cx="3757017" cy="0"/>
          </a:xfrm>
          <a:prstGeom prst="line">
            <a:avLst/>
          </a:prstGeom>
          <a:ln w="9525">
            <a:solidFill>
              <a:srgbClr val="8A8F94"/>
            </a:solidFill>
            <a:prstDash val="sysDot"/>
          </a:ln>
        </p:spPr>
      </p:cxnSp>
      <p:cxnSp>
        <p:nvCxnSpPr>
          <p:cNvPr id="5" name="Connector 4"/>
          <p:cNvCxnSpPr/>
          <p:nvPr/>
        </p:nvCxnSpPr>
        <p:spPr>
          <a:xfrm>
            <a:off x="4217491" y="1746349"/>
            <a:ext cx="3757018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217491" y="3554016"/>
            <a:ext cx="3757018" cy="0"/>
          </a:xfrm>
          <a:prstGeom prst="line">
            <a:avLst/>
          </a:prstGeom>
          <a:ln w="9525">
            <a:solidFill>
              <a:srgbClr val="8A8F94"/>
            </a:solidFill>
            <a:prstDash val="sysDot"/>
          </a:ln>
        </p:spPr>
      </p:cxnSp>
      <p:cxnSp>
        <p:nvCxnSpPr>
          <p:cNvPr id="7" name="Connector 6"/>
          <p:cNvCxnSpPr/>
          <p:nvPr/>
        </p:nvCxnSpPr>
        <p:spPr>
          <a:xfrm>
            <a:off x="8233470" y="1746349"/>
            <a:ext cx="3757017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8233470" y="3554016"/>
            <a:ext cx="3757017" cy="0"/>
          </a:xfrm>
          <a:prstGeom prst="line">
            <a:avLst/>
          </a:prstGeom>
          <a:ln w="9525">
            <a:solidFill>
              <a:srgbClr val="8A8F94"/>
            </a:solidFill>
            <a:prstDash val="sysDot"/>
          </a:ln>
        </p:spPr>
      </p:cxnSp>
      <p:sp>
        <p:nvSpPr>
          <p:cNvPr id="9" name="TextBox 8"/>
          <p:cNvSpPr txBox="1"/>
          <p:nvPr/>
        </p:nvSpPr>
        <p:spPr>
          <a:xfrm>
            <a:off x="201513" y="271165"/>
            <a:ext cx="890778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パーツ22｜scr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201513" y="504974"/>
            <a:ext cx="3779306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これまで・課題・対策（流れの3段）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513" y="1474887"/>
            <a:ext cx="63260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これまで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513" y="1878657"/>
            <a:ext cx="550104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513" y="2589163"/>
            <a:ext cx="480608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513" y="3657749"/>
            <a:ext cx="14227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注）前提や注記を記載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7491" y="1474887"/>
            <a:ext cx="367617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課題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7491" y="1878657"/>
            <a:ext cx="590812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7491" y="2589163"/>
            <a:ext cx="48633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7491" y="3657749"/>
            <a:ext cx="14227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注）前提や注記を記載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3470" y="1474887"/>
            <a:ext cx="367617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対策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3470" y="1878657"/>
            <a:ext cx="589574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3470" y="2589163"/>
            <a:ext cx="482156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8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3470" y="3657749"/>
            <a:ext cx="14227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注）前提や注記を記載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45826" y="6561981"/>
            <a:ext cx="16949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48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777305"/>
            <a:ext cx="5574507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6415980" y="1777305"/>
            <a:ext cx="5574507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201513" y="2428131"/>
            <a:ext cx="5574507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6" name="Connector 5"/>
          <p:cNvCxnSpPr/>
          <p:nvPr/>
        </p:nvCxnSpPr>
        <p:spPr>
          <a:xfrm>
            <a:off x="5776020" y="2428131"/>
            <a:ext cx="63996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7" name="Connector 6"/>
          <p:cNvCxnSpPr/>
          <p:nvPr/>
        </p:nvCxnSpPr>
        <p:spPr>
          <a:xfrm>
            <a:off x="6415980" y="2428131"/>
            <a:ext cx="5574507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8" name="Connector 7"/>
          <p:cNvCxnSpPr/>
          <p:nvPr/>
        </p:nvCxnSpPr>
        <p:spPr>
          <a:xfrm>
            <a:off x="201513" y="3078956"/>
            <a:ext cx="5574507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9" name="Connector 8"/>
          <p:cNvCxnSpPr/>
          <p:nvPr/>
        </p:nvCxnSpPr>
        <p:spPr>
          <a:xfrm>
            <a:off x="5776020" y="3078956"/>
            <a:ext cx="63996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10" name="Connector 9"/>
          <p:cNvCxnSpPr/>
          <p:nvPr/>
        </p:nvCxnSpPr>
        <p:spPr>
          <a:xfrm>
            <a:off x="6415980" y="3078956"/>
            <a:ext cx="5574507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11" name="Connector 10"/>
          <p:cNvCxnSpPr/>
          <p:nvPr/>
        </p:nvCxnSpPr>
        <p:spPr>
          <a:xfrm>
            <a:off x="201513" y="3729782"/>
            <a:ext cx="5574507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12" name="Connector 11"/>
          <p:cNvCxnSpPr/>
          <p:nvPr/>
        </p:nvCxnSpPr>
        <p:spPr>
          <a:xfrm>
            <a:off x="5776020" y="3729782"/>
            <a:ext cx="639960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cxnSp>
        <p:nvCxnSpPr>
          <p:cNvPr id="13" name="Connector 12"/>
          <p:cNvCxnSpPr/>
          <p:nvPr/>
        </p:nvCxnSpPr>
        <p:spPr>
          <a:xfrm>
            <a:off x="6415980" y="3729782"/>
            <a:ext cx="5574507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14" name="TextBox 13"/>
          <p:cNvSpPr txBox="1"/>
          <p:nvPr/>
        </p:nvSpPr>
        <p:spPr>
          <a:xfrm>
            <a:off x="201513" y="271165"/>
            <a:ext cx="225177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パーツ23｜issue_to_solution_map</a:t>
            </a:r>
          </a:p>
        </p:txBody>
      </p:sp>
      <p:sp>
        <p:nvSpPr>
          <p:cNvPr id="15" name="Title"/>
          <p:cNvSpPr txBox="1"/>
          <p:nvPr/>
        </p:nvSpPr>
        <p:spPr>
          <a:xfrm>
            <a:off x="201513" y="504974"/>
            <a:ext cx="2324362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課題と打ち手の対応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513" y="1474887"/>
            <a:ext cx="402598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課題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561" y="1474887"/>
            <a:ext cx="569607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69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打ち手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513" y="1903958"/>
            <a:ext cx="43123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561" y="1903958"/>
            <a:ext cx="47441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561" y="2139702"/>
            <a:ext cx="41219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513" y="2554784"/>
            <a:ext cx="46760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561" y="2554784"/>
            <a:ext cx="47580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561" y="2790527"/>
            <a:ext cx="41250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Text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513" y="3205609"/>
            <a:ext cx="45537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561" y="3205609"/>
            <a:ext cx="47751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561" y="3441353"/>
            <a:ext cx="41250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Text 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5215" y="2594297"/>
            <a:ext cx="207883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45677" y="6561981"/>
            <a:ext cx="16965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49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744563"/>
            <a:ext cx="3494633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4249489" y="1744563"/>
            <a:ext cx="3494782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8297614" y="1744563"/>
            <a:ext cx="3494782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201513" y="271165"/>
            <a:ext cx="2163235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パーツ24｜issue_cause_solution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201513" y="504974"/>
            <a:ext cx="2152710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課題→原因→解決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513" y="1474887"/>
            <a:ext cx="55676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1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513" y="1871216"/>
            <a:ext cx="483858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513" y="2164110"/>
            <a:ext cx="434173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4237" y="1768525"/>
            <a:ext cx="245959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9489" y="1474887"/>
            <a:ext cx="589883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1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9489" y="1871216"/>
            <a:ext cx="519613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9489" y="2164110"/>
            <a:ext cx="439281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42362" y="1768525"/>
            <a:ext cx="245959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7614" y="1474887"/>
            <a:ext cx="59251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1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7614" y="1871216"/>
            <a:ext cx="518529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7614" y="2164110"/>
            <a:ext cx="43556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48802" y="6561981"/>
            <a:ext cx="16640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50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201513" y="2509242"/>
            <a:ext cx="1676400" cy="3466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201513" y="2514005"/>
            <a:ext cx="1676400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873151" y="2509242"/>
            <a:ext cx="0" cy="346621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01513" y="2851100"/>
            <a:ext cx="1676400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211038" y="2509242"/>
            <a:ext cx="0" cy="346621"/>
          </a:xfrm>
          <a:prstGeom prst="line">
            <a:avLst/>
          </a:prstGeom>
          <a:ln w="19050">
            <a:solidFill>
              <a:srgbClr val="1F1F1F"/>
            </a:solidFill>
          </a:ln>
        </p:spPr>
      </p:cxnSp>
      <p:sp>
        <p:nvSpPr>
          <p:cNvPr id="8" name="Rectangle 7"/>
          <p:cNvSpPr/>
          <p:nvPr/>
        </p:nvSpPr>
        <p:spPr>
          <a:xfrm>
            <a:off x="2152204" y="1685032"/>
            <a:ext cx="2286000" cy="3466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>
            <a:off x="2152204" y="1689795"/>
            <a:ext cx="2286000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4433441" y="1685032"/>
            <a:ext cx="0" cy="346621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2152204" y="2026890"/>
            <a:ext cx="2286000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2161729" y="1685032"/>
            <a:ext cx="0" cy="346621"/>
          </a:xfrm>
          <a:prstGeom prst="line">
            <a:avLst/>
          </a:prstGeom>
          <a:ln w="19050">
            <a:solidFill>
              <a:srgbClr val="4D4D4D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4712494" y="1484412"/>
            <a:ext cx="7277993" cy="3359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4" name="Connector 13"/>
          <p:cNvCxnSpPr/>
          <p:nvPr/>
        </p:nvCxnSpPr>
        <p:spPr>
          <a:xfrm>
            <a:off x="4712494" y="1489174"/>
            <a:ext cx="7277993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11985724" y="1484412"/>
            <a:ext cx="0" cy="335905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712494" y="1815554"/>
            <a:ext cx="7277993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4722019" y="1484412"/>
            <a:ext cx="0" cy="335905"/>
          </a:xfrm>
          <a:prstGeom prst="line">
            <a:avLst/>
          </a:prstGeom>
          <a:ln w="19050">
            <a:solidFill>
              <a:srgbClr val="A6A6A6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4712494" y="1896517"/>
            <a:ext cx="7277993" cy="3359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9" name="Connector 18"/>
          <p:cNvCxnSpPr/>
          <p:nvPr/>
        </p:nvCxnSpPr>
        <p:spPr>
          <a:xfrm>
            <a:off x="4712494" y="1901279"/>
            <a:ext cx="7277993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11985724" y="1896517"/>
            <a:ext cx="0" cy="335905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712494" y="2227659"/>
            <a:ext cx="7277993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4722019" y="1896517"/>
            <a:ext cx="0" cy="335905"/>
          </a:xfrm>
          <a:prstGeom prst="line">
            <a:avLst/>
          </a:prstGeom>
          <a:ln w="19050">
            <a:solidFill>
              <a:srgbClr val="A6A6A6"/>
            </a:solidFill>
          </a:ln>
        </p:spPr>
      </p:cxnSp>
      <p:sp>
        <p:nvSpPr>
          <p:cNvPr id="23" name="Rectangle 22"/>
          <p:cNvSpPr/>
          <p:nvPr/>
        </p:nvSpPr>
        <p:spPr>
          <a:xfrm>
            <a:off x="2152204" y="2509242"/>
            <a:ext cx="2286000" cy="3466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24" name="Connector 23"/>
          <p:cNvCxnSpPr/>
          <p:nvPr/>
        </p:nvCxnSpPr>
        <p:spPr>
          <a:xfrm>
            <a:off x="2152204" y="2514005"/>
            <a:ext cx="2286000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4433441" y="2509242"/>
            <a:ext cx="0" cy="346621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2152204" y="2851100"/>
            <a:ext cx="2286000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2161729" y="2509242"/>
            <a:ext cx="0" cy="346621"/>
          </a:xfrm>
          <a:prstGeom prst="line">
            <a:avLst/>
          </a:prstGeom>
          <a:ln w="19050">
            <a:solidFill>
              <a:srgbClr val="4D4D4D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4712494" y="2308622"/>
            <a:ext cx="7277993" cy="3359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29" name="Connector 28"/>
          <p:cNvCxnSpPr/>
          <p:nvPr/>
        </p:nvCxnSpPr>
        <p:spPr>
          <a:xfrm>
            <a:off x="4712494" y="2313384"/>
            <a:ext cx="7277993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11985724" y="2308622"/>
            <a:ext cx="0" cy="335905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4712494" y="2639764"/>
            <a:ext cx="7277993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4722019" y="2308622"/>
            <a:ext cx="0" cy="335905"/>
          </a:xfrm>
          <a:prstGeom prst="line">
            <a:avLst/>
          </a:prstGeom>
          <a:ln w="19050">
            <a:solidFill>
              <a:srgbClr val="A6A6A6"/>
            </a:solidFill>
          </a:ln>
        </p:spPr>
      </p:cxnSp>
      <p:sp>
        <p:nvSpPr>
          <p:cNvPr id="33" name="Rectangle 32"/>
          <p:cNvSpPr/>
          <p:nvPr/>
        </p:nvSpPr>
        <p:spPr>
          <a:xfrm>
            <a:off x="4712494" y="2720727"/>
            <a:ext cx="7277993" cy="3359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34" name="Connector 33"/>
          <p:cNvCxnSpPr/>
          <p:nvPr/>
        </p:nvCxnSpPr>
        <p:spPr>
          <a:xfrm>
            <a:off x="4712494" y="2725489"/>
            <a:ext cx="7277993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985724" y="2720727"/>
            <a:ext cx="0" cy="335905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4712494" y="3051870"/>
            <a:ext cx="7277993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4722019" y="2720727"/>
            <a:ext cx="0" cy="335905"/>
          </a:xfrm>
          <a:prstGeom prst="line">
            <a:avLst/>
          </a:prstGeom>
          <a:ln w="19050">
            <a:solidFill>
              <a:srgbClr val="A6A6A6"/>
            </a:solidFill>
          </a:ln>
        </p:spPr>
      </p:cxnSp>
      <p:sp>
        <p:nvSpPr>
          <p:cNvPr id="38" name="Rectangle 37"/>
          <p:cNvSpPr/>
          <p:nvPr/>
        </p:nvSpPr>
        <p:spPr>
          <a:xfrm>
            <a:off x="2152204" y="3333452"/>
            <a:ext cx="2286000" cy="3466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39" name="Connector 38"/>
          <p:cNvCxnSpPr/>
          <p:nvPr/>
        </p:nvCxnSpPr>
        <p:spPr>
          <a:xfrm>
            <a:off x="2152204" y="3338215"/>
            <a:ext cx="2286000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4433441" y="3333452"/>
            <a:ext cx="0" cy="346621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2152204" y="3675311"/>
            <a:ext cx="2286000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2161729" y="3333452"/>
            <a:ext cx="0" cy="346621"/>
          </a:xfrm>
          <a:prstGeom prst="line">
            <a:avLst/>
          </a:prstGeom>
          <a:ln w="19050">
            <a:solidFill>
              <a:srgbClr val="4D4D4D"/>
            </a:solidFill>
          </a:ln>
        </p:spPr>
      </p:cxnSp>
      <p:sp>
        <p:nvSpPr>
          <p:cNvPr id="43" name="Rectangle 42"/>
          <p:cNvSpPr/>
          <p:nvPr/>
        </p:nvSpPr>
        <p:spPr>
          <a:xfrm>
            <a:off x="4712494" y="3132832"/>
            <a:ext cx="7277993" cy="3359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44" name="Connector 43"/>
          <p:cNvCxnSpPr/>
          <p:nvPr/>
        </p:nvCxnSpPr>
        <p:spPr>
          <a:xfrm>
            <a:off x="4712494" y="3137595"/>
            <a:ext cx="7277993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11985724" y="3132832"/>
            <a:ext cx="0" cy="335905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4712494" y="3463975"/>
            <a:ext cx="7277993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4722019" y="3132832"/>
            <a:ext cx="0" cy="335905"/>
          </a:xfrm>
          <a:prstGeom prst="line">
            <a:avLst/>
          </a:prstGeom>
          <a:ln w="19050">
            <a:solidFill>
              <a:srgbClr val="A6A6A6"/>
            </a:solidFill>
          </a:ln>
        </p:spPr>
      </p:cxnSp>
      <p:sp>
        <p:nvSpPr>
          <p:cNvPr id="48" name="Rectangle 47"/>
          <p:cNvSpPr/>
          <p:nvPr/>
        </p:nvSpPr>
        <p:spPr>
          <a:xfrm>
            <a:off x="4712494" y="3544937"/>
            <a:ext cx="7277993" cy="3359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49" name="Connector 48"/>
          <p:cNvCxnSpPr/>
          <p:nvPr/>
        </p:nvCxnSpPr>
        <p:spPr>
          <a:xfrm>
            <a:off x="4712494" y="3549700"/>
            <a:ext cx="7277993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11985724" y="3544937"/>
            <a:ext cx="0" cy="335905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4712494" y="3876080"/>
            <a:ext cx="7277993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4722019" y="3544937"/>
            <a:ext cx="0" cy="335905"/>
          </a:xfrm>
          <a:prstGeom prst="line">
            <a:avLst/>
          </a:prstGeom>
          <a:ln w="19050">
            <a:solidFill>
              <a:srgbClr val="A6A6A6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201513" y="271165"/>
            <a:ext cx="1387781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パーツ25｜issue_tree</a:t>
            </a:r>
          </a:p>
        </p:txBody>
      </p:sp>
      <p:sp>
        <p:nvSpPr>
          <p:cNvPr id="54" name="Title"/>
          <p:cNvSpPr txBox="1"/>
          <p:nvPr/>
        </p:nvSpPr>
        <p:spPr>
          <a:xfrm>
            <a:off x="201513" y="504974"/>
            <a:ext cx="1592711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イシューツリー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4863" y="2602557"/>
            <a:ext cx="97234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分解したいイシュー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5554" y="1778347"/>
            <a:ext cx="68863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サブイシュー1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5844" y="1577727"/>
            <a:ext cx="38185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論点1-1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5844" y="1989832"/>
            <a:ext cx="40074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論点1-2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85554" y="2602557"/>
            <a:ext cx="71247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サブイシュー2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5844" y="2401937"/>
            <a:ext cx="4044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論点2-1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45844" y="2814042"/>
            <a:ext cx="42318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論点2-2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85554" y="3426768"/>
            <a:ext cx="71401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サブイシュー3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45844" y="3226147"/>
            <a:ext cx="40522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論点3-1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45844" y="3638252"/>
            <a:ext cx="42411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論点3-2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874401" y="6561981"/>
            <a:ext cx="139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51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201513" y="1484412"/>
            <a:ext cx="5627787" cy="186943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424309" y="1927324"/>
            <a:ext cx="5182195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sp>
        <p:nvSpPr>
          <p:cNvPr id="5" name="Oval 4"/>
          <p:cNvSpPr/>
          <p:nvPr/>
        </p:nvSpPr>
        <p:spPr>
          <a:xfrm>
            <a:off x="5882580" y="2205782"/>
            <a:ext cx="426690" cy="42669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362700" y="1484412"/>
            <a:ext cx="5627787" cy="1869430"/>
          </a:xfrm>
          <a:prstGeom prst="rect">
            <a:avLst/>
          </a:prstGeom>
          <a:noFill/>
          <a:ln w="9525">
            <a:solidFill>
              <a:srgbClr val="4D4D4D"/>
            </a:solidFill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6585496" y="1927324"/>
            <a:ext cx="5182195" cy="0"/>
          </a:xfrm>
          <a:prstGeom prst="line">
            <a:avLst/>
          </a:prstGeom>
          <a:ln w="9525">
            <a:solidFill>
              <a:srgbClr val="4D4D4D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201513" y="271165"/>
            <a:ext cx="208909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パーツ26｜current_target_state</a:t>
            </a:r>
          </a:p>
        </p:txBody>
      </p:sp>
      <p:sp>
        <p:nvSpPr>
          <p:cNvPr id="9" name="Title"/>
          <p:cNvSpPr txBox="1"/>
          <p:nvPr/>
        </p:nvSpPr>
        <p:spPr>
          <a:xfrm>
            <a:off x="201513" y="504974"/>
            <a:ext cx="1806773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現状と目指す姿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309" y="1682502"/>
            <a:ext cx="50521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309" y="2038648"/>
            <a:ext cx="483858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270" y="2337197"/>
            <a:ext cx="434173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270" y="2606873"/>
            <a:ext cx="435257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270" y="2876550"/>
            <a:ext cx="439281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9863" y="2283768"/>
            <a:ext cx="11470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5496" y="1682502"/>
            <a:ext cx="53524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76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ラベル2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5496" y="2038648"/>
            <a:ext cx="518529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4457" y="2337197"/>
            <a:ext cx="43556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4457" y="2606873"/>
            <a:ext cx="427982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4457" y="2876550"/>
            <a:ext cx="435412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51184" y="6561981"/>
            <a:ext cx="16392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52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85859" y="1492002"/>
            <a:ext cx="121890" cy="121890"/>
          </a:xfrm>
          <a:prstGeom prst="rect">
            <a:avLst/>
          </a:prstGeom>
          <a:solidFill>
            <a:srgbClr val="262626"/>
          </a:solidFill>
          <a:ln w="9525">
            <a:solidFill>
              <a:srgbClr val="262626"/>
            </a:solidFill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1417945" y="1492002"/>
            <a:ext cx="121890" cy="121890"/>
          </a:xfrm>
          <a:prstGeom prst="rect">
            <a:avLst/>
          </a:prstGeom>
          <a:solidFill>
            <a:srgbClr val="4D4D4D"/>
          </a:solidFill>
          <a:ln w="9525">
            <a:solidFill>
              <a:srgbClr val="4D4D4D"/>
            </a:solidFill>
          </a:ln>
        </p:spPr>
        <p:txBody>
          <a:bodyPr rtlCol="0" anchor="ctr"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201513" y="3207693"/>
            <a:ext cx="3629621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351830" y="4065836"/>
            <a:ext cx="838200" cy="1524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597223" y="3761036"/>
            <a:ext cx="8382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842617" y="3303836"/>
            <a:ext cx="838200" cy="9144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>
            <a:off x="4281041" y="3207693"/>
            <a:ext cx="3629769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sp>
        <p:nvSpPr>
          <p:cNvPr id="10" name="Rectangle 9"/>
          <p:cNvSpPr/>
          <p:nvPr/>
        </p:nvSpPr>
        <p:spPr>
          <a:xfrm>
            <a:off x="4431357" y="3303836"/>
            <a:ext cx="838200" cy="9144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76751" y="3303836"/>
            <a:ext cx="838200" cy="9144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922294" y="3303836"/>
            <a:ext cx="838200" cy="9144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8360718" y="3207841"/>
            <a:ext cx="3629769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8511034" y="4073575"/>
            <a:ext cx="838200" cy="144661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511034" y="4027884"/>
            <a:ext cx="838200" cy="4569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9756428" y="3852565"/>
            <a:ext cx="838200" cy="365671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9756428" y="3806875"/>
            <a:ext cx="838200" cy="4569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001970" y="3349675"/>
            <a:ext cx="838200" cy="868561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1001970" y="3303984"/>
            <a:ext cx="838200" cy="4569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01513" y="271165"/>
            <a:ext cx="1326952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パーツ27｜calc_flow</a:t>
            </a:r>
          </a:p>
        </p:txBody>
      </p:sp>
      <p:sp>
        <p:nvSpPr>
          <p:cNvPr id="21" name="Title"/>
          <p:cNvSpPr txBox="1"/>
          <p:nvPr/>
        </p:nvSpPr>
        <p:spPr>
          <a:xfrm>
            <a:off x="201513" y="504974"/>
            <a:ext cx="2218646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計算ロジックの流れ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68620" y="1474887"/>
            <a:ext cx="40027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00706" y="1474887"/>
            <a:ext cx="42442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ラベル2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513" y="1718518"/>
            <a:ext cx="84651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指標名、単位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513" y="2995910"/>
            <a:ext cx="45599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498" y="4078039"/>
            <a:ext cx="63472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58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224" y="4294436"/>
            <a:ext cx="48726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84325" y="3925639"/>
            <a:ext cx="8560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58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75094" y="4294436"/>
            <a:ext cx="4823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29570" y="3697039"/>
            <a:ext cx="8591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58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9866" y="4294436"/>
            <a:ext cx="48370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68204" y="3095625"/>
            <a:ext cx="201847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56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81041" y="2995910"/>
            <a:ext cx="44779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19204" y="3697039"/>
            <a:ext cx="8390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58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8454" y="4294436"/>
            <a:ext cx="48385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64597" y="3697039"/>
            <a:ext cx="8390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58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4000" y="4294436"/>
            <a:ext cx="48370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0140" y="3697039"/>
            <a:ext cx="8390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58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68744" y="4294436"/>
            <a:ext cx="54515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7881" y="3095625"/>
            <a:ext cx="201847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56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=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0718" y="2996059"/>
            <a:ext cx="48339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0929" y="4081909"/>
            <a:ext cx="16299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58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1.5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60576" y="4294436"/>
            <a:ext cx="53911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97244" y="3971330"/>
            <a:ext cx="18188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58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3.8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5351" y="4294436"/>
            <a:ext cx="54035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88923" y="3719959"/>
            <a:ext cx="8591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58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0120" y="4294436"/>
            <a:ext cx="54190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50291" y="6561981"/>
            <a:ext cx="16485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53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Oval 2"/>
          <p:cNvSpPr/>
          <p:nvPr/>
        </p:nvSpPr>
        <p:spPr>
          <a:xfrm>
            <a:off x="201513" y="1651992"/>
            <a:ext cx="335161" cy="335161"/>
          </a:xfrm>
          <a:prstGeom prst="ellipse">
            <a:avLst/>
          </a:prstGeom>
          <a:noFill/>
          <a:ln w="9525">
            <a:solidFill>
              <a:srgbClr val="1F1F1F"/>
            </a:solidFill>
          </a:ln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3232547" y="1651992"/>
            <a:ext cx="335161" cy="335161"/>
          </a:xfrm>
          <a:prstGeom prst="ellipse">
            <a:avLst/>
          </a:prstGeom>
          <a:noFill/>
          <a:ln w="9525">
            <a:solidFill>
              <a:srgbClr val="1F1F1F"/>
            </a:solidFill>
          </a:ln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263580" y="1651992"/>
            <a:ext cx="335161" cy="335161"/>
          </a:xfrm>
          <a:prstGeom prst="ellipse">
            <a:avLst/>
          </a:prstGeom>
          <a:noFill/>
          <a:ln w="9525">
            <a:solidFill>
              <a:srgbClr val="1F1F1F"/>
            </a:solidFill>
          </a:ln>
        </p:spPr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294614" y="1651992"/>
            <a:ext cx="335161" cy="335161"/>
          </a:xfrm>
          <a:prstGeom prst="ellipse">
            <a:avLst/>
          </a:prstGeom>
          <a:noFill/>
          <a:ln w="9525">
            <a:solidFill>
              <a:srgbClr val="1F1F1F"/>
            </a:solidFill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01513" y="271165"/>
            <a:ext cx="160401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パーツ28｜process_flow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201513" y="504974"/>
            <a:ext cx="1777829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プロセスの段階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566" y="1720453"/>
            <a:ext cx="90868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513" y="2099518"/>
            <a:ext cx="676251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513" y="2374553"/>
            <a:ext cx="405229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8979" y="1684288"/>
            <a:ext cx="11470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9675" y="1720453"/>
            <a:ext cx="123992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2547" y="2099518"/>
            <a:ext cx="678728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2547" y="2374553"/>
            <a:ext cx="434173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0012" y="1684288"/>
            <a:ext cx="11470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518" y="1720453"/>
            <a:ext cx="126468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580" y="2099518"/>
            <a:ext cx="683681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580" y="2374553"/>
            <a:ext cx="435257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1046" y="1684288"/>
            <a:ext cx="11470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626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8021" y="1720453"/>
            <a:ext cx="131576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4614" y="2099518"/>
            <a:ext cx="677799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4614" y="2374553"/>
            <a:ext cx="439281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47165" y="6561981"/>
            <a:ext cx="16810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54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Oval 2"/>
          <p:cNvSpPr/>
          <p:nvPr/>
        </p:nvSpPr>
        <p:spPr>
          <a:xfrm>
            <a:off x="3148757" y="2515419"/>
            <a:ext cx="5894487" cy="2624286"/>
          </a:xfrm>
          <a:prstGeom prst="ellipse">
            <a:avLst/>
          </a:prstGeom>
          <a:noFill/>
          <a:ln w="9525">
            <a:solidFill>
              <a:srgbClr val="BFBFBF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5928420" y="1819424"/>
            <a:ext cx="335161" cy="335161"/>
          </a:xfrm>
          <a:prstGeom prst="ellipse">
            <a:avLst/>
          </a:prstGeom>
          <a:noFill/>
          <a:ln w="9525">
            <a:solidFill>
              <a:srgbClr val="1F1F1F"/>
            </a:solidFill>
          </a:ln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630073" y="2920603"/>
            <a:ext cx="335161" cy="335161"/>
          </a:xfrm>
          <a:prstGeom prst="ellipse">
            <a:avLst/>
          </a:prstGeom>
          <a:noFill/>
          <a:ln w="9525">
            <a:solidFill>
              <a:srgbClr val="1F1F1F"/>
            </a:solidFill>
          </a:ln>
        </p:spPr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15461" y="4701480"/>
            <a:ext cx="335161" cy="335161"/>
          </a:xfrm>
          <a:prstGeom prst="ellipse">
            <a:avLst/>
          </a:prstGeom>
          <a:noFill/>
          <a:ln w="9525">
            <a:solidFill>
              <a:srgbClr val="1F1F1F"/>
            </a:solidFill>
          </a:ln>
        </p:spPr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3641229" y="4701480"/>
            <a:ext cx="335161" cy="335161"/>
          </a:xfrm>
          <a:prstGeom prst="ellipse">
            <a:avLst/>
          </a:prstGeom>
          <a:noFill/>
          <a:ln w="9525">
            <a:solidFill>
              <a:srgbClr val="1F1F1F"/>
            </a:solidFill>
          </a:ln>
        </p:spPr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226618" y="2920603"/>
            <a:ext cx="335161" cy="335161"/>
          </a:xfrm>
          <a:prstGeom prst="ellipse">
            <a:avLst/>
          </a:prstGeom>
          <a:noFill/>
          <a:ln w="9525">
            <a:solidFill>
              <a:srgbClr val="1F1F1F"/>
            </a:solidFill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01513" y="271165"/>
            <a:ext cx="104416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パーツ29｜cycle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201513" y="504974"/>
            <a:ext cx="1489936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循環サイクル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2256" y="2881499"/>
            <a:ext cx="270927" cy="2814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2753" y="4043846"/>
            <a:ext cx="323975" cy="1792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6738" y="4682877"/>
            <a:ext cx="121670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5947" y="4043995"/>
            <a:ext cx="323975" cy="1792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7286" y="2881573"/>
            <a:ext cx="270927" cy="2814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0566" y="1887885"/>
            <a:ext cx="90868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4439" y="2236440"/>
            <a:ext cx="642973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4671" y="2493020"/>
            <a:ext cx="36251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5657" y="2989064"/>
            <a:ext cx="123992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5006" y="3337620"/>
            <a:ext cx="64529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3477" y="3594199"/>
            <a:ext cx="38820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9808" y="4769941"/>
            <a:ext cx="126468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8073" y="5118497"/>
            <a:ext cx="64993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8401" y="5375077"/>
            <a:ext cx="38913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2947" y="4769941"/>
            <a:ext cx="131576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6626" y="5118497"/>
            <a:ext cx="64436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2312" y="5375077"/>
            <a:ext cx="39284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428" y="2989064"/>
            <a:ext cx="12554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71241" y="3337620"/>
            <a:ext cx="64591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00174" y="3594199"/>
            <a:ext cx="38804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51481" y="6561981"/>
            <a:ext cx="16361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55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Freeform 2"/>
          <p:cNvSpPr/>
          <p:nvPr/>
        </p:nvSpPr>
        <p:spPr>
          <a:xfrm>
            <a:off x="201513" y="1484412"/>
            <a:ext cx="2369939" cy="1143000"/>
          </a:xfrm>
          <a:custGeom>
            <a:avLst/>
            <a:gdLst/>
            <a:ahLst/>
            <a:cxnLst/>
            <a:rect l="l" t="t" r="r" b="b"/>
            <a:pathLst>
              <a:path w="2369939" h="1143000">
                <a:moveTo>
                  <a:pt x="0" y="0"/>
                </a:moveTo>
                <a:lnTo>
                  <a:pt x="2141339" y="0"/>
                </a:lnTo>
                <a:lnTo>
                  <a:pt x="2369939" y="571500"/>
                </a:lnTo>
                <a:lnTo>
                  <a:pt x="2141339" y="1143000"/>
                </a:lnTo>
                <a:lnTo>
                  <a:pt x="0" y="11430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414784" y="1918692"/>
            <a:ext cx="274290" cy="27429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Freeform 4"/>
          <p:cNvSpPr/>
          <p:nvPr/>
        </p:nvSpPr>
        <p:spPr>
          <a:xfrm>
            <a:off x="2403872" y="1484412"/>
            <a:ext cx="2522339" cy="1143000"/>
          </a:xfrm>
          <a:custGeom>
            <a:avLst/>
            <a:gdLst/>
            <a:ahLst/>
            <a:cxnLst/>
            <a:rect l="l" t="t" r="r" b="b"/>
            <a:pathLst>
              <a:path w="2522339" h="1143000">
                <a:moveTo>
                  <a:pt x="0" y="0"/>
                </a:moveTo>
                <a:lnTo>
                  <a:pt x="2293739" y="0"/>
                </a:lnTo>
                <a:lnTo>
                  <a:pt x="2522339" y="571500"/>
                </a:lnTo>
                <a:lnTo>
                  <a:pt x="2293739" y="1143000"/>
                </a:lnTo>
                <a:lnTo>
                  <a:pt x="0" y="1143000"/>
                </a:lnTo>
                <a:lnTo>
                  <a:pt x="228600" y="5715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2769543" y="1918692"/>
            <a:ext cx="274290" cy="27429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Freeform 6"/>
          <p:cNvSpPr/>
          <p:nvPr/>
        </p:nvSpPr>
        <p:spPr>
          <a:xfrm>
            <a:off x="4758630" y="1484412"/>
            <a:ext cx="2522340" cy="1143000"/>
          </a:xfrm>
          <a:custGeom>
            <a:avLst/>
            <a:gdLst/>
            <a:ahLst/>
            <a:cxnLst/>
            <a:rect l="l" t="t" r="r" b="b"/>
            <a:pathLst>
              <a:path w="2522340" h="1143000">
                <a:moveTo>
                  <a:pt x="0" y="0"/>
                </a:moveTo>
                <a:lnTo>
                  <a:pt x="2293740" y="0"/>
                </a:lnTo>
                <a:lnTo>
                  <a:pt x="2522340" y="571500"/>
                </a:lnTo>
                <a:lnTo>
                  <a:pt x="2293740" y="1143000"/>
                </a:lnTo>
                <a:lnTo>
                  <a:pt x="0" y="1143000"/>
                </a:lnTo>
                <a:lnTo>
                  <a:pt x="228600" y="5715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5124301" y="1918692"/>
            <a:ext cx="274290" cy="27429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Freeform 8"/>
          <p:cNvSpPr/>
          <p:nvPr/>
        </p:nvSpPr>
        <p:spPr>
          <a:xfrm>
            <a:off x="7113389" y="1484412"/>
            <a:ext cx="2522339" cy="1143000"/>
          </a:xfrm>
          <a:custGeom>
            <a:avLst/>
            <a:gdLst/>
            <a:ahLst/>
            <a:cxnLst/>
            <a:rect l="l" t="t" r="r" b="b"/>
            <a:pathLst>
              <a:path w="2522339" h="1143000">
                <a:moveTo>
                  <a:pt x="0" y="0"/>
                </a:moveTo>
                <a:lnTo>
                  <a:pt x="2293739" y="0"/>
                </a:lnTo>
                <a:lnTo>
                  <a:pt x="2522339" y="571500"/>
                </a:lnTo>
                <a:lnTo>
                  <a:pt x="2293739" y="1143000"/>
                </a:lnTo>
                <a:lnTo>
                  <a:pt x="0" y="1143000"/>
                </a:lnTo>
                <a:lnTo>
                  <a:pt x="228600" y="5715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479060" y="1918692"/>
            <a:ext cx="274290" cy="27429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Freeform 10"/>
          <p:cNvSpPr/>
          <p:nvPr/>
        </p:nvSpPr>
        <p:spPr>
          <a:xfrm>
            <a:off x="9468148" y="1484412"/>
            <a:ext cx="2522339" cy="1143000"/>
          </a:xfrm>
          <a:custGeom>
            <a:avLst/>
            <a:gdLst/>
            <a:ahLst/>
            <a:cxnLst/>
            <a:rect l="l" t="t" r="r" b="b"/>
            <a:pathLst>
              <a:path w="2522339" h="1143000">
                <a:moveTo>
                  <a:pt x="0" y="0"/>
                </a:moveTo>
                <a:lnTo>
                  <a:pt x="2293739" y="0"/>
                </a:lnTo>
                <a:lnTo>
                  <a:pt x="2522339" y="571500"/>
                </a:lnTo>
                <a:lnTo>
                  <a:pt x="2293739" y="1143000"/>
                </a:lnTo>
                <a:lnTo>
                  <a:pt x="0" y="1143000"/>
                </a:lnTo>
                <a:lnTo>
                  <a:pt x="228600" y="5715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833818" y="1918692"/>
            <a:ext cx="274290" cy="27429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01513" y="271165"/>
            <a:ext cx="1537609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パーツ30｜chevron_rail</a:t>
            </a:r>
          </a:p>
        </p:txBody>
      </p:sp>
      <p:sp>
        <p:nvSpPr>
          <p:cNvPr id="14" name="Title"/>
          <p:cNvSpPr txBox="1"/>
          <p:nvPr/>
        </p:nvSpPr>
        <p:spPr>
          <a:xfrm>
            <a:off x="201513" y="504974"/>
            <a:ext cx="3444050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矢羽の段階（全体像の見出し）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238" y="1968103"/>
            <a:ext cx="80653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455" y="1887885"/>
            <a:ext cx="61016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455" y="2080022"/>
            <a:ext cx="34115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3453" y="1968103"/>
            <a:ext cx="108978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5213" y="1887885"/>
            <a:ext cx="612481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5213" y="2080022"/>
            <a:ext cx="36529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7170" y="1968103"/>
            <a:ext cx="111145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9972" y="1887885"/>
            <a:ext cx="616815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9972" y="2080022"/>
            <a:ext cx="36622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9845" y="1968103"/>
            <a:ext cx="115479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4730" y="1887885"/>
            <a:ext cx="611553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4730" y="2080022"/>
            <a:ext cx="36947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7134" y="1968103"/>
            <a:ext cx="11021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9489" y="1887885"/>
            <a:ext cx="61294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タイトル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9489" y="2080022"/>
            <a:ext cx="36498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49993" y="6561981"/>
            <a:ext cx="16516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56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" name="Freeform 2"/>
          <p:cNvSpPr/>
          <p:nvPr/>
        </p:nvSpPr>
        <p:spPr>
          <a:xfrm>
            <a:off x="1244501" y="1484412"/>
            <a:ext cx="1495871" cy="426690"/>
          </a:xfrm>
          <a:custGeom>
            <a:avLst/>
            <a:gdLst/>
            <a:ahLst/>
            <a:cxnLst/>
            <a:rect l="l" t="t" r="r" b="b"/>
            <a:pathLst>
              <a:path w="1495871" h="426690">
                <a:moveTo>
                  <a:pt x="0" y="0"/>
                </a:moveTo>
                <a:lnTo>
                  <a:pt x="1343471" y="0"/>
                </a:lnTo>
                <a:lnTo>
                  <a:pt x="1495871" y="213345"/>
                </a:lnTo>
                <a:lnTo>
                  <a:pt x="1343471" y="426690"/>
                </a:lnTo>
                <a:lnTo>
                  <a:pt x="0" y="42669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Freeform 3"/>
          <p:cNvSpPr/>
          <p:nvPr/>
        </p:nvSpPr>
        <p:spPr>
          <a:xfrm>
            <a:off x="2679502" y="1484412"/>
            <a:ext cx="1602581" cy="426690"/>
          </a:xfrm>
          <a:custGeom>
            <a:avLst/>
            <a:gdLst/>
            <a:ahLst/>
            <a:cxnLst/>
            <a:rect l="l" t="t" r="r" b="b"/>
            <a:pathLst>
              <a:path w="1602581" h="426690">
                <a:moveTo>
                  <a:pt x="0" y="0"/>
                </a:moveTo>
                <a:lnTo>
                  <a:pt x="1450181" y="0"/>
                </a:lnTo>
                <a:lnTo>
                  <a:pt x="1602581" y="213345"/>
                </a:lnTo>
                <a:lnTo>
                  <a:pt x="1450181" y="426690"/>
                </a:lnTo>
                <a:lnTo>
                  <a:pt x="0" y="426690"/>
                </a:lnTo>
                <a:lnTo>
                  <a:pt x="152400" y="213345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Freeform 4"/>
          <p:cNvSpPr/>
          <p:nvPr/>
        </p:nvSpPr>
        <p:spPr>
          <a:xfrm>
            <a:off x="4221212" y="1484412"/>
            <a:ext cx="1602581" cy="426690"/>
          </a:xfrm>
          <a:custGeom>
            <a:avLst/>
            <a:gdLst/>
            <a:ahLst/>
            <a:cxnLst/>
            <a:rect l="l" t="t" r="r" b="b"/>
            <a:pathLst>
              <a:path w="1602581" h="426690">
                <a:moveTo>
                  <a:pt x="0" y="0"/>
                </a:moveTo>
                <a:lnTo>
                  <a:pt x="1450181" y="0"/>
                </a:lnTo>
                <a:lnTo>
                  <a:pt x="1602581" y="213345"/>
                </a:lnTo>
                <a:lnTo>
                  <a:pt x="1450181" y="426690"/>
                </a:lnTo>
                <a:lnTo>
                  <a:pt x="0" y="426690"/>
                </a:lnTo>
                <a:lnTo>
                  <a:pt x="152400" y="213345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Freeform 5"/>
          <p:cNvSpPr/>
          <p:nvPr/>
        </p:nvSpPr>
        <p:spPr>
          <a:xfrm>
            <a:off x="5762923" y="1484412"/>
            <a:ext cx="1602432" cy="426690"/>
          </a:xfrm>
          <a:custGeom>
            <a:avLst/>
            <a:gdLst/>
            <a:ahLst/>
            <a:cxnLst/>
            <a:rect l="l" t="t" r="r" b="b"/>
            <a:pathLst>
              <a:path w="1602432" h="426690">
                <a:moveTo>
                  <a:pt x="0" y="0"/>
                </a:moveTo>
                <a:lnTo>
                  <a:pt x="1450032" y="0"/>
                </a:lnTo>
                <a:lnTo>
                  <a:pt x="1602432" y="213345"/>
                </a:lnTo>
                <a:lnTo>
                  <a:pt x="1450032" y="426690"/>
                </a:lnTo>
                <a:lnTo>
                  <a:pt x="0" y="426690"/>
                </a:lnTo>
                <a:lnTo>
                  <a:pt x="152400" y="213345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Freeform 6"/>
          <p:cNvSpPr/>
          <p:nvPr/>
        </p:nvSpPr>
        <p:spPr>
          <a:xfrm>
            <a:off x="7304484" y="1484412"/>
            <a:ext cx="1602582" cy="426690"/>
          </a:xfrm>
          <a:custGeom>
            <a:avLst/>
            <a:gdLst/>
            <a:ahLst/>
            <a:cxnLst/>
            <a:rect l="l" t="t" r="r" b="b"/>
            <a:pathLst>
              <a:path w="1602582" h="426690">
                <a:moveTo>
                  <a:pt x="0" y="0"/>
                </a:moveTo>
                <a:lnTo>
                  <a:pt x="1450182" y="0"/>
                </a:lnTo>
                <a:lnTo>
                  <a:pt x="1602582" y="213345"/>
                </a:lnTo>
                <a:lnTo>
                  <a:pt x="1450182" y="426690"/>
                </a:lnTo>
                <a:lnTo>
                  <a:pt x="0" y="426690"/>
                </a:lnTo>
                <a:lnTo>
                  <a:pt x="152400" y="213345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Freeform 7"/>
          <p:cNvSpPr/>
          <p:nvPr/>
        </p:nvSpPr>
        <p:spPr>
          <a:xfrm>
            <a:off x="8846195" y="1484412"/>
            <a:ext cx="1602581" cy="426690"/>
          </a:xfrm>
          <a:custGeom>
            <a:avLst/>
            <a:gdLst/>
            <a:ahLst/>
            <a:cxnLst/>
            <a:rect l="l" t="t" r="r" b="b"/>
            <a:pathLst>
              <a:path w="1602581" h="426690">
                <a:moveTo>
                  <a:pt x="0" y="0"/>
                </a:moveTo>
                <a:lnTo>
                  <a:pt x="1450181" y="0"/>
                </a:lnTo>
                <a:lnTo>
                  <a:pt x="1602581" y="213345"/>
                </a:lnTo>
                <a:lnTo>
                  <a:pt x="1450181" y="426690"/>
                </a:lnTo>
                <a:lnTo>
                  <a:pt x="0" y="426690"/>
                </a:lnTo>
                <a:lnTo>
                  <a:pt x="152400" y="213345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Freeform 8"/>
          <p:cNvSpPr/>
          <p:nvPr/>
        </p:nvSpPr>
        <p:spPr>
          <a:xfrm>
            <a:off x="10387905" y="1484412"/>
            <a:ext cx="1602433" cy="426690"/>
          </a:xfrm>
          <a:custGeom>
            <a:avLst/>
            <a:gdLst/>
            <a:ahLst/>
            <a:cxnLst/>
            <a:rect l="l" t="t" r="r" b="b"/>
            <a:pathLst>
              <a:path w="1602433" h="426690">
                <a:moveTo>
                  <a:pt x="0" y="0"/>
                </a:moveTo>
                <a:lnTo>
                  <a:pt x="1450033" y="0"/>
                </a:lnTo>
                <a:lnTo>
                  <a:pt x="1602433" y="213345"/>
                </a:lnTo>
                <a:lnTo>
                  <a:pt x="1450033" y="426690"/>
                </a:lnTo>
                <a:lnTo>
                  <a:pt x="0" y="426690"/>
                </a:lnTo>
                <a:lnTo>
                  <a:pt x="152400" y="213345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Freeform 9"/>
          <p:cNvSpPr/>
          <p:nvPr/>
        </p:nvSpPr>
        <p:spPr>
          <a:xfrm>
            <a:off x="1244501" y="2293293"/>
            <a:ext cx="1495871" cy="426690"/>
          </a:xfrm>
          <a:custGeom>
            <a:avLst/>
            <a:gdLst/>
            <a:ahLst/>
            <a:cxnLst/>
            <a:rect l="l" t="t" r="r" b="b"/>
            <a:pathLst>
              <a:path w="1495871" h="426690">
                <a:moveTo>
                  <a:pt x="0" y="0"/>
                </a:moveTo>
                <a:lnTo>
                  <a:pt x="1343471" y="0"/>
                </a:lnTo>
                <a:lnTo>
                  <a:pt x="1495871" y="213345"/>
                </a:lnTo>
                <a:lnTo>
                  <a:pt x="1343471" y="426690"/>
                </a:lnTo>
                <a:lnTo>
                  <a:pt x="0" y="42669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Freeform 10"/>
          <p:cNvSpPr/>
          <p:nvPr/>
        </p:nvSpPr>
        <p:spPr>
          <a:xfrm>
            <a:off x="2679502" y="2293293"/>
            <a:ext cx="1602581" cy="426690"/>
          </a:xfrm>
          <a:custGeom>
            <a:avLst/>
            <a:gdLst/>
            <a:ahLst/>
            <a:cxnLst/>
            <a:rect l="l" t="t" r="r" b="b"/>
            <a:pathLst>
              <a:path w="1602581" h="426690">
                <a:moveTo>
                  <a:pt x="0" y="0"/>
                </a:moveTo>
                <a:lnTo>
                  <a:pt x="1450181" y="0"/>
                </a:lnTo>
                <a:lnTo>
                  <a:pt x="1602581" y="213345"/>
                </a:lnTo>
                <a:lnTo>
                  <a:pt x="1450181" y="426690"/>
                </a:lnTo>
                <a:lnTo>
                  <a:pt x="0" y="426690"/>
                </a:lnTo>
                <a:lnTo>
                  <a:pt x="152400" y="213345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Freeform 11"/>
          <p:cNvSpPr/>
          <p:nvPr/>
        </p:nvSpPr>
        <p:spPr>
          <a:xfrm>
            <a:off x="4221212" y="2293293"/>
            <a:ext cx="1602581" cy="426690"/>
          </a:xfrm>
          <a:custGeom>
            <a:avLst/>
            <a:gdLst/>
            <a:ahLst/>
            <a:cxnLst/>
            <a:rect l="l" t="t" r="r" b="b"/>
            <a:pathLst>
              <a:path w="1602581" h="426690">
                <a:moveTo>
                  <a:pt x="0" y="0"/>
                </a:moveTo>
                <a:lnTo>
                  <a:pt x="1450181" y="0"/>
                </a:lnTo>
                <a:lnTo>
                  <a:pt x="1602581" y="213345"/>
                </a:lnTo>
                <a:lnTo>
                  <a:pt x="1450181" y="426690"/>
                </a:lnTo>
                <a:lnTo>
                  <a:pt x="0" y="426690"/>
                </a:lnTo>
                <a:lnTo>
                  <a:pt x="152400" y="213345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Freeform 12"/>
          <p:cNvSpPr/>
          <p:nvPr/>
        </p:nvSpPr>
        <p:spPr>
          <a:xfrm>
            <a:off x="5762923" y="2293293"/>
            <a:ext cx="1602432" cy="426690"/>
          </a:xfrm>
          <a:custGeom>
            <a:avLst/>
            <a:gdLst/>
            <a:ahLst/>
            <a:cxnLst/>
            <a:rect l="l" t="t" r="r" b="b"/>
            <a:pathLst>
              <a:path w="1602432" h="426690">
                <a:moveTo>
                  <a:pt x="0" y="0"/>
                </a:moveTo>
                <a:lnTo>
                  <a:pt x="1450032" y="0"/>
                </a:lnTo>
                <a:lnTo>
                  <a:pt x="1602432" y="213345"/>
                </a:lnTo>
                <a:lnTo>
                  <a:pt x="1450032" y="426690"/>
                </a:lnTo>
                <a:lnTo>
                  <a:pt x="0" y="426690"/>
                </a:lnTo>
                <a:lnTo>
                  <a:pt x="152400" y="213345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Freeform 13"/>
          <p:cNvSpPr/>
          <p:nvPr/>
        </p:nvSpPr>
        <p:spPr>
          <a:xfrm>
            <a:off x="7304484" y="2293293"/>
            <a:ext cx="1602582" cy="426690"/>
          </a:xfrm>
          <a:custGeom>
            <a:avLst/>
            <a:gdLst/>
            <a:ahLst/>
            <a:cxnLst/>
            <a:rect l="l" t="t" r="r" b="b"/>
            <a:pathLst>
              <a:path w="1602582" h="426690">
                <a:moveTo>
                  <a:pt x="0" y="0"/>
                </a:moveTo>
                <a:lnTo>
                  <a:pt x="1450182" y="0"/>
                </a:lnTo>
                <a:lnTo>
                  <a:pt x="1602582" y="213345"/>
                </a:lnTo>
                <a:lnTo>
                  <a:pt x="1450182" y="426690"/>
                </a:lnTo>
                <a:lnTo>
                  <a:pt x="0" y="426690"/>
                </a:lnTo>
                <a:lnTo>
                  <a:pt x="152400" y="213345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Freeform 14"/>
          <p:cNvSpPr/>
          <p:nvPr/>
        </p:nvSpPr>
        <p:spPr>
          <a:xfrm>
            <a:off x="8846195" y="2293293"/>
            <a:ext cx="1602581" cy="426690"/>
          </a:xfrm>
          <a:custGeom>
            <a:avLst/>
            <a:gdLst/>
            <a:ahLst/>
            <a:cxnLst/>
            <a:rect l="l" t="t" r="r" b="b"/>
            <a:pathLst>
              <a:path w="1602581" h="426690">
                <a:moveTo>
                  <a:pt x="0" y="0"/>
                </a:moveTo>
                <a:lnTo>
                  <a:pt x="1450181" y="0"/>
                </a:lnTo>
                <a:lnTo>
                  <a:pt x="1602581" y="213345"/>
                </a:lnTo>
                <a:lnTo>
                  <a:pt x="1450181" y="426690"/>
                </a:lnTo>
                <a:lnTo>
                  <a:pt x="0" y="426690"/>
                </a:lnTo>
                <a:lnTo>
                  <a:pt x="152400" y="213345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Freeform 15"/>
          <p:cNvSpPr/>
          <p:nvPr/>
        </p:nvSpPr>
        <p:spPr>
          <a:xfrm>
            <a:off x="10387905" y="2293293"/>
            <a:ext cx="1602433" cy="426690"/>
          </a:xfrm>
          <a:custGeom>
            <a:avLst/>
            <a:gdLst/>
            <a:ahLst/>
            <a:cxnLst/>
            <a:rect l="l" t="t" r="r" b="b"/>
            <a:pathLst>
              <a:path w="1602433" h="426690">
                <a:moveTo>
                  <a:pt x="0" y="0"/>
                </a:moveTo>
                <a:lnTo>
                  <a:pt x="1450033" y="0"/>
                </a:lnTo>
                <a:lnTo>
                  <a:pt x="1602433" y="213345"/>
                </a:lnTo>
                <a:lnTo>
                  <a:pt x="1450033" y="426690"/>
                </a:lnTo>
                <a:lnTo>
                  <a:pt x="0" y="426690"/>
                </a:lnTo>
                <a:lnTo>
                  <a:pt x="152400" y="213345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01513" y="271165"/>
            <a:ext cx="2101941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パーツ31｜chevron_value_chain</a:t>
            </a:r>
          </a:p>
        </p:txBody>
      </p:sp>
      <p:sp>
        <p:nvSpPr>
          <p:cNvPr id="18" name="Title"/>
          <p:cNvSpPr txBox="1"/>
          <p:nvPr/>
        </p:nvSpPr>
        <p:spPr>
          <a:xfrm>
            <a:off x="201513" y="504974"/>
            <a:ext cx="1875187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バリューチェーン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513" y="1624608"/>
            <a:ext cx="4287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1901" y="1621334"/>
            <a:ext cx="48107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ラベル2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9250" y="1621334"/>
            <a:ext cx="48308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ラベル3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8797" y="1621334"/>
            <a:ext cx="48726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ラベル4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2984" y="1621334"/>
            <a:ext cx="48231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ラベル5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923" y="1621334"/>
            <a:ext cx="48370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ラベル6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0126" y="1621334"/>
            <a:ext cx="47457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ラベル7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47193" y="1621334"/>
            <a:ext cx="48385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ラベル8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1062" y="2032843"/>
            <a:ext cx="31932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92623" y="2032843"/>
            <a:ext cx="34176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334" y="2032843"/>
            <a:ext cx="34269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76045" y="2032843"/>
            <a:ext cx="34579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7606" y="2032843"/>
            <a:ext cx="34161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9317" y="2032843"/>
            <a:ext cx="34285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1027" y="2032843"/>
            <a:ext cx="33697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513" y="2433489"/>
            <a:ext cx="45646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861" y="2430214"/>
            <a:ext cx="54515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24549" y="2430214"/>
            <a:ext cx="51233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2945" y="2430214"/>
            <a:ext cx="53911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3575" y="2430214"/>
            <a:ext cx="541127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33122" y="2430214"/>
            <a:ext cx="54530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7309" y="2430214"/>
            <a:ext cx="54035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18249" y="2430214"/>
            <a:ext cx="54174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51062" y="2841724"/>
            <a:ext cx="34269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92623" y="2841724"/>
            <a:ext cx="34285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334" y="2841724"/>
            <a:ext cx="38913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76045" y="2841724"/>
            <a:ext cx="36436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17606" y="2841724"/>
            <a:ext cx="38681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9317" y="2841724"/>
            <a:ext cx="38773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1027" y="2841724"/>
            <a:ext cx="39083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56244" y="6561981"/>
            <a:ext cx="15866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57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15801" y="2609404"/>
            <a:ext cx="0" cy="595907"/>
          </a:xfrm>
          <a:prstGeom prst="line">
            <a:avLst/>
          </a:prstGeom>
          <a:ln w="28575">
            <a:solidFill>
              <a:srgbClr val="4D4D4D"/>
            </a:solidFill>
          </a:ln>
        </p:spPr>
      </p:cxnSp>
      <p:sp>
        <p:nvSpPr>
          <p:cNvPr id="4" name="Rectangle 3"/>
          <p:cNvSpPr/>
          <p:nvPr/>
        </p:nvSpPr>
        <p:spPr>
          <a:xfrm>
            <a:off x="5592217" y="1484412"/>
            <a:ext cx="6398121" cy="86737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592217" y="2473672"/>
            <a:ext cx="6398121" cy="867370"/>
          </a:xfrm>
          <a:prstGeom prst="rect">
            <a:avLst/>
          </a:prstGeom>
          <a:noFill/>
          <a:ln w="9525">
            <a:solidFill>
              <a:srgbClr val="4D4D4D"/>
            </a:solidFill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592217" y="3462933"/>
            <a:ext cx="6398121" cy="867370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01513" y="271165"/>
            <a:ext cx="1617321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パーツ32｜decision_fork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201513" y="504974"/>
            <a:ext cx="1299710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分岐と判断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179" y="2792164"/>
            <a:ext cx="2411659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問い 1：検討すべき問いを記載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54142" y="1606302"/>
            <a:ext cx="50521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54142" y="1835200"/>
            <a:ext cx="38386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26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4142" y="2064395"/>
            <a:ext cx="39841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54142" y="2595562"/>
            <a:ext cx="53524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4142" y="2824460"/>
            <a:ext cx="41219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26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54142" y="3053655"/>
            <a:ext cx="40430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4142" y="3584823"/>
            <a:ext cx="53756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54142" y="3813721"/>
            <a:ext cx="41095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26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54142" y="4042916"/>
            <a:ext cx="40089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Text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50291" y="6561981"/>
            <a:ext cx="16485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58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143994" y="1484412"/>
            <a:ext cx="0" cy="827335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6091237" y="1484412"/>
            <a:ext cx="0" cy="827335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9038481" y="1484412"/>
            <a:ext cx="0" cy="827335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201513" y="271165"/>
            <a:ext cx="1291971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パーツ33｜roadmap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201513" y="504974"/>
            <a:ext cx="1378958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ロードマップ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913" y="1627287"/>
            <a:ext cx="873288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タイトル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913" y="1981051"/>
            <a:ext cx="405229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1157" y="1627287"/>
            <a:ext cx="876538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タイトル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1157" y="1981051"/>
            <a:ext cx="434173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1627287"/>
            <a:ext cx="882884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タイトル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1981051"/>
            <a:ext cx="435257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5643" y="1627287"/>
            <a:ext cx="875300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タイトル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5643" y="1981051"/>
            <a:ext cx="439281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49993" y="6561981"/>
            <a:ext cx="16516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59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01513" y="1696045"/>
            <a:ext cx="4072533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4274046" y="1489174"/>
            <a:ext cx="5787182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0056465" y="1484412"/>
            <a:ext cx="0" cy="216396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278809" y="1484412"/>
            <a:ext cx="0" cy="216396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061228" y="1489174"/>
            <a:ext cx="1929110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11985575" y="1484412"/>
            <a:ext cx="0" cy="216396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10065990" y="1484412"/>
            <a:ext cx="0" cy="216396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201513" y="1933873"/>
            <a:ext cx="4072533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4274046" y="1933873"/>
            <a:ext cx="7716292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4278809" y="1700808"/>
            <a:ext cx="0" cy="228302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4921746" y="1700808"/>
            <a:ext cx="0" cy="228302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5564832" y="1700808"/>
            <a:ext cx="0" cy="228302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6207770" y="1700808"/>
            <a:ext cx="0" cy="228302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6850856" y="1700808"/>
            <a:ext cx="0" cy="228302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7493794" y="1700808"/>
            <a:ext cx="0" cy="228302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8136880" y="1700808"/>
            <a:ext cx="0" cy="228302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8779966" y="1700808"/>
            <a:ext cx="0" cy="228302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9422904" y="1700808"/>
            <a:ext cx="0" cy="228302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10065990" y="1700808"/>
            <a:ext cx="0" cy="228302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10708928" y="1700808"/>
            <a:ext cx="0" cy="228302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11352014" y="1700808"/>
            <a:ext cx="0" cy="228302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201513" y="2324398"/>
            <a:ext cx="1714649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1916162" y="2324398"/>
            <a:ext cx="2357884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pic>
        <p:nvPicPr>
          <p:cNvPr id="26" name="Picture 25" descr="img_64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046" y="2319635"/>
            <a:ext cx="7716292" cy="365671"/>
          </a:xfrm>
          <a:prstGeom prst="rect">
            <a:avLst/>
          </a:prstGeom>
        </p:spPr>
      </p:pic>
      <p:cxnSp>
        <p:nvCxnSpPr>
          <p:cNvPr id="27" name="Connector 26"/>
          <p:cNvCxnSpPr/>
          <p:nvPr/>
        </p:nvCxnSpPr>
        <p:spPr>
          <a:xfrm>
            <a:off x="4274046" y="2324398"/>
            <a:ext cx="7716292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28" name="Rounded Rectangle 27"/>
          <p:cNvSpPr/>
          <p:nvPr/>
        </p:nvSpPr>
        <p:spPr>
          <a:xfrm>
            <a:off x="4274046" y="2423368"/>
            <a:ext cx="642938" cy="167580"/>
          </a:xfrm>
          <a:prstGeom prst="roundRect">
            <a:avLst>
              <a:gd name="adj" fmla="val 13641"/>
            </a:avLst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29" name="Connector 28"/>
          <p:cNvCxnSpPr/>
          <p:nvPr/>
        </p:nvCxnSpPr>
        <p:spPr>
          <a:xfrm>
            <a:off x="201513" y="2690068"/>
            <a:ext cx="1714649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1916162" y="2690068"/>
            <a:ext cx="2357884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pic>
        <p:nvPicPr>
          <p:cNvPr id="31" name="Picture 30" descr="img_64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046" y="2685306"/>
            <a:ext cx="7716292" cy="365671"/>
          </a:xfrm>
          <a:prstGeom prst="rect">
            <a:avLst/>
          </a:prstGeom>
        </p:spPr>
      </p:pic>
      <p:cxnSp>
        <p:nvCxnSpPr>
          <p:cNvPr id="32" name="Connector 31"/>
          <p:cNvCxnSpPr/>
          <p:nvPr/>
        </p:nvCxnSpPr>
        <p:spPr>
          <a:xfrm>
            <a:off x="4274046" y="2690068"/>
            <a:ext cx="7716292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33" name="Rounded Rectangle 32"/>
          <p:cNvSpPr/>
          <p:nvPr/>
        </p:nvSpPr>
        <p:spPr>
          <a:xfrm>
            <a:off x="4916984" y="2789039"/>
            <a:ext cx="1286024" cy="167580"/>
          </a:xfrm>
          <a:prstGeom prst="roundRect">
            <a:avLst>
              <a:gd name="adj" fmla="val 13641"/>
            </a:avLst>
          </a:prstGeom>
          <a:solidFill>
            <a:srgbClr val="A6A6A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34" name="Connector 33"/>
          <p:cNvCxnSpPr/>
          <p:nvPr/>
        </p:nvCxnSpPr>
        <p:spPr>
          <a:xfrm>
            <a:off x="201513" y="3055739"/>
            <a:ext cx="1714649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916162" y="3055739"/>
            <a:ext cx="2357884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pic>
        <p:nvPicPr>
          <p:cNvPr id="36" name="Picture 35" descr="img_64_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046" y="3050977"/>
            <a:ext cx="7716292" cy="365671"/>
          </a:xfrm>
          <a:prstGeom prst="rect">
            <a:avLst/>
          </a:prstGeom>
        </p:spPr>
      </p:pic>
      <p:cxnSp>
        <p:nvCxnSpPr>
          <p:cNvPr id="37" name="Connector 36"/>
          <p:cNvCxnSpPr/>
          <p:nvPr/>
        </p:nvCxnSpPr>
        <p:spPr>
          <a:xfrm>
            <a:off x="4274046" y="3055739"/>
            <a:ext cx="7716292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38" name="Rounded Rectangle 37"/>
          <p:cNvSpPr/>
          <p:nvPr/>
        </p:nvSpPr>
        <p:spPr>
          <a:xfrm>
            <a:off x="5560070" y="3154710"/>
            <a:ext cx="642938" cy="167580"/>
          </a:xfrm>
          <a:prstGeom prst="roundRect">
            <a:avLst>
              <a:gd name="adj" fmla="val 13641"/>
            </a:avLst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39" name="Connector 38"/>
          <p:cNvCxnSpPr/>
          <p:nvPr/>
        </p:nvCxnSpPr>
        <p:spPr>
          <a:xfrm>
            <a:off x="201513" y="3421410"/>
            <a:ext cx="1714649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1916162" y="3421410"/>
            <a:ext cx="2357884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pic>
        <p:nvPicPr>
          <p:cNvPr id="41" name="Picture 40" descr="img_64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046" y="3416647"/>
            <a:ext cx="7716292" cy="365671"/>
          </a:xfrm>
          <a:prstGeom prst="rect">
            <a:avLst/>
          </a:prstGeom>
        </p:spPr>
      </p:pic>
      <p:cxnSp>
        <p:nvCxnSpPr>
          <p:cNvPr id="42" name="Connector 41"/>
          <p:cNvCxnSpPr/>
          <p:nvPr/>
        </p:nvCxnSpPr>
        <p:spPr>
          <a:xfrm>
            <a:off x="4274046" y="3421410"/>
            <a:ext cx="7716292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43" name="Rounded Rectangle 42"/>
          <p:cNvSpPr/>
          <p:nvPr/>
        </p:nvSpPr>
        <p:spPr>
          <a:xfrm>
            <a:off x="6203007" y="3520380"/>
            <a:ext cx="1286024" cy="167580"/>
          </a:xfrm>
          <a:prstGeom prst="roundRect">
            <a:avLst>
              <a:gd name="adj" fmla="val 13641"/>
            </a:avLst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44" name="Connector 43"/>
          <p:cNvCxnSpPr/>
          <p:nvPr/>
        </p:nvCxnSpPr>
        <p:spPr>
          <a:xfrm>
            <a:off x="201513" y="3787080"/>
            <a:ext cx="1714649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1916162" y="3787080"/>
            <a:ext cx="2357884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pic>
        <p:nvPicPr>
          <p:cNvPr id="46" name="Picture 45" descr="img_64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046" y="3782318"/>
            <a:ext cx="7716292" cy="365671"/>
          </a:xfrm>
          <a:prstGeom prst="rect">
            <a:avLst/>
          </a:prstGeom>
        </p:spPr>
      </p:pic>
      <p:cxnSp>
        <p:nvCxnSpPr>
          <p:cNvPr id="47" name="Connector 46"/>
          <p:cNvCxnSpPr/>
          <p:nvPr/>
        </p:nvCxnSpPr>
        <p:spPr>
          <a:xfrm>
            <a:off x="4274046" y="3787080"/>
            <a:ext cx="7716292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48" name="Rounded Rectangle 47"/>
          <p:cNvSpPr/>
          <p:nvPr/>
        </p:nvSpPr>
        <p:spPr>
          <a:xfrm>
            <a:off x="6846094" y="3886051"/>
            <a:ext cx="1286024" cy="167580"/>
          </a:xfrm>
          <a:prstGeom prst="roundRect">
            <a:avLst>
              <a:gd name="adj" fmla="val 13641"/>
            </a:avLst>
          </a:prstGeom>
          <a:solidFill>
            <a:srgbClr val="4D4D4D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49" name="Connector 48"/>
          <p:cNvCxnSpPr/>
          <p:nvPr/>
        </p:nvCxnSpPr>
        <p:spPr>
          <a:xfrm>
            <a:off x="201513" y="4152751"/>
            <a:ext cx="1714649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1916162" y="4152751"/>
            <a:ext cx="2357884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pic>
        <p:nvPicPr>
          <p:cNvPr id="51" name="Picture 50" descr="img_64_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046" y="4147989"/>
            <a:ext cx="7716292" cy="365671"/>
          </a:xfrm>
          <a:prstGeom prst="rect">
            <a:avLst/>
          </a:prstGeom>
        </p:spPr>
      </p:pic>
      <p:cxnSp>
        <p:nvCxnSpPr>
          <p:cNvPr id="52" name="Connector 51"/>
          <p:cNvCxnSpPr/>
          <p:nvPr/>
        </p:nvCxnSpPr>
        <p:spPr>
          <a:xfrm>
            <a:off x="4274046" y="4152751"/>
            <a:ext cx="7716292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53" name="Rounded Rectangle 52"/>
          <p:cNvSpPr/>
          <p:nvPr/>
        </p:nvSpPr>
        <p:spPr>
          <a:xfrm>
            <a:off x="9418141" y="4251722"/>
            <a:ext cx="1286024" cy="167580"/>
          </a:xfrm>
          <a:prstGeom prst="roundRect">
            <a:avLst>
              <a:gd name="adj" fmla="val 13641"/>
            </a:avLst>
          </a:pr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54" name="Connector 53"/>
          <p:cNvCxnSpPr/>
          <p:nvPr/>
        </p:nvCxnSpPr>
        <p:spPr>
          <a:xfrm>
            <a:off x="201513" y="4518422"/>
            <a:ext cx="1714649" cy="0"/>
          </a:xfrm>
          <a:prstGeom prst="line">
            <a:avLst/>
          </a:prstGeom>
          <a:ln w="9525">
            <a:solidFill>
              <a:srgbClr val="1F1F1F"/>
            </a:solidFill>
          </a:ln>
        </p:spPr>
      </p:cxnSp>
      <p:cxnSp>
        <p:nvCxnSpPr>
          <p:cNvPr id="55" name="Connector 54"/>
          <p:cNvCxnSpPr/>
          <p:nvPr/>
        </p:nvCxnSpPr>
        <p:spPr>
          <a:xfrm>
            <a:off x="1916162" y="4518422"/>
            <a:ext cx="2357884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pic>
        <p:nvPicPr>
          <p:cNvPr id="56" name="Picture 55" descr="img_64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046" y="4513659"/>
            <a:ext cx="7716292" cy="365671"/>
          </a:xfrm>
          <a:prstGeom prst="rect">
            <a:avLst/>
          </a:prstGeom>
        </p:spPr>
      </p:pic>
      <p:cxnSp>
        <p:nvCxnSpPr>
          <p:cNvPr id="57" name="Connector 56"/>
          <p:cNvCxnSpPr/>
          <p:nvPr/>
        </p:nvCxnSpPr>
        <p:spPr>
          <a:xfrm>
            <a:off x="4274046" y="4518422"/>
            <a:ext cx="7716292" cy="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</p:cxnSp>
      <p:sp>
        <p:nvSpPr>
          <p:cNvPr id="58" name="Freeform 57"/>
          <p:cNvSpPr/>
          <p:nvPr/>
        </p:nvSpPr>
        <p:spPr>
          <a:xfrm>
            <a:off x="10704165" y="4617393"/>
            <a:ext cx="1286024" cy="167580"/>
          </a:xfrm>
          <a:custGeom>
            <a:avLst/>
            <a:gdLst/>
            <a:ahLst/>
            <a:cxnLst/>
            <a:rect l="l" t="t" r="r" b="b"/>
            <a:pathLst>
              <a:path w="1286024" h="167580">
                <a:moveTo>
                  <a:pt x="0" y="0"/>
                </a:moveTo>
                <a:lnTo>
                  <a:pt x="1162199" y="0"/>
                </a:lnTo>
                <a:lnTo>
                  <a:pt x="1286024" y="83790"/>
                </a:lnTo>
                <a:lnTo>
                  <a:pt x="1162199" y="167580"/>
                </a:lnTo>
                <a:lnTo>
                  <a:pt x="0" y="16758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201513" y="271165"/>
            <a:ext cx="1035498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パーツ34｜gantt</a:t>
            </a:r>
          </a:p>
        </p:txBody>
      </p:sp>
      <p:sp>
        <p:nvSpPr>
          <p:cNvPr id="60" name="Title"/>
          <p:cNvSpPr txBox="1"/>
          <p:nvPr/>
        </p:nvSpPr>
        <p:spPr>
          <a:xfrm>
            <a:off x="201513" y="504974"/>
            <a:ext cx="1574447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ガントチャート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12245" y="1524298"/>
            <a:ext cx="51063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68456" y="1524298"/>
            <a:ext cx="51450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98669" y="1721644"/>
            <a:ext cx="40321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840" y="1721644"/>
            <a:ext cx="42689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71849" y="1721644"/>
            <a:ext cx="4287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13081" y="1721644"/>
            <a:ext cx="43231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58334" y="1721644"/>
            <a:ext cx="42798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00652" y="1721644"/>
            <a:ext cx="42922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47763" y="1721644"/>
            <a:ext cx="42117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86673" y="1721644"/>
            <a:ext cx="42937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29762" y="1721644"/>
            <a:ext cx="42922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5762" y="1721644"/>
            <a:ext cx="48339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03246" y="1721644"/>
            <a:ext cx="45445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434417" y="1721644"/>
            <a:ext cx="47813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1513" y="2051000"/>
            <a:ext cx="73940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マイルストーン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26081" y="1965275"/>
            <a:ext cx="1393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▲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87084" y="2104281"/>
            <a:ext cx="41745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97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11584" y="1965275"/>
            <a:ext cx="1393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▲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71971" y="2104281"/>
            <a:ext cx="41854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97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40619" y="1965275"/>
            <a:ext cx="1393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▲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04564" y="2104281"/>
            <a:ext cx="411575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97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69729" y="1965275"/>
            <a:ext cx="1393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▲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30114" y="2104281"/>
            <a:ext cx="418695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97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598765" y="1965275"/>
            <a:ext cx="1393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459152" y="2104281"/>
            <a:ext cx="41854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97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ラベル19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2951" y="2429470"/>
            <a:ext cx="57177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ラベル20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977033" y="2431107"/>
            <a:ext cx="50305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ラベル21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5892" y="2795141"/>
            <a:ext cx="5658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ラベル22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77033" y="2796778"/>
            <a:ext cx="52967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ラベル23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3728" y="3160812"/>
            <a:ext cx="57007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ラベル24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77033" y="3162449"/>
            <a:ext cx="52843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ラベル25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4502" y="3526482"/>
            <a:ext cx="56852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ラベル26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77033" y="3528120"/>
            <a:ext cx="52317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ラベル27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4499" y="3892153"/>
            <a:ext cx="56867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ラベル28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77033" y="3893790"/>
            <a:ext cx="52998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1867" y="4257824"/>
            <a:ext cx="57394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ラベル30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77033" y="4259461"/>
            <a:ext cx="50398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ラベル31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4811" y="4623495"/>
            <a:ext cx="56790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ラベル32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977033" y="4625132"/>
            <a:ext cx="53075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ラベル33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847463" y="6561981"/>
            <a:ext cx="16779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60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1513" y="1326505"/>
            <a:ext cx="11788974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030664" y="1892945"/>
            <a:ext cx="5959823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6030664" y="2443311"/>
            <a:ext cx="5959823" cy="0"/>
          </a:xfrm>
          <a:prstGeom prst="line">
            <a:avLst/>
          </a:prstGeom>
          <a:ln w="9525">
            <a:solidFill>
              <a:srgbClr val="E0E0E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201513" y="271165"/>
            <a:ext cx="1690842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パーツ35｜decision_page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201513" y="504974"/>
            <a:ext cx="1833086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9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Yu Mincho"/>
                <a:ea typeface="Yu Mincho"/>
                <a:cs typeface="Yu Mincho"/>
              </a:rPr>
              <a:t>意思決定ページ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513" y="1484412"/>
            <a:ext cx="1121092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推奨する意思決定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513" y="1746052"/>
            <a:ext cx="771442" cy="3143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0664" y="1484412"/>
            <a:ext cx="11470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2896" y="1484412"/>
            <a:ext cx="54948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0664" y="2034778"/>
            <a:ext cx="158817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2896" y="2034778"/>
            <a:ext cx="551033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0664" y="2585145"/>
            <a:ext cx="162377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D4D4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2896" y="2585145"/>
            <a:ext cx="556141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Text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513" y="6274296"/>
            <a:ext cx="8017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出所）Source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73061" y="6561981"/>
            <a:ext cx="14117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1F1F"/>
                </a:solidFill>
                <a:latin typeface="Yu Gothic"/>
                <a:ea typeface="Yu Gothic"/>
                <a:cs typeface="Yu Gothic"/>
              </a:rPr>
              <a:t>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