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01513" y="619125"/>
            <a:ext cx="11788974" cy="0"/>
          </a:xfrm>
          <a:prstGeom prst="line">
            <a:avLst/>
          </a:prstGeom>
          <a:ln w="9525">
            <a:solidFill>
              <a:srgbClr val="262626"/>
            </a:solidFill>
          </a:ln>
        </p:spPr>
      </p:cxnSp>
      <p:sp>
        <p:nvSpPr>
          <p:cNvPr id="3" name="Rectangle 2"/>
          <p:cNvSpPr/>
          <p:nvPr/>
        </p:nvSpPr>
        <p:spPr>
          <a:xfrm>
            <a:off x="201513" y="2819400"/>
            <a:ext cx="1151930" cy="35868"/>
          </a:xfrm>
          <a:prstGeom prst="rect">
            <a:avLst/>
          </a:prstGeom>
          <a:solidFill>
            <a:srgbClr val="1A4A9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01513" y="270421"/>
            <a:ext cx="1148334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262626"/>
                </a:solidFill>
                <a:latin typeface="Yu Mincho"/>
                <a:ea typeface="Yu Mincho"/>
                <a:cs typeface="Yu Mincho"/>
              </a:rPr>
              <a:t>パーツ一覧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9088" y="420886"/>
            <a:ext cx="758904" cy="114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パーツ01｜表紙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513" y="2020342"/>
            <a:ext cx="1187494" cy="4762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25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262626"/>
                </a:solidFill>
                <a:latin typeface="Yu Mincho"/>
                <a:ea typeface="Yu Mincho"/>
                <a:cs typeface="Yu Mincho"/>
              </a:rPr>
              <a:t>Text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513" y="3116610"/>
            <a:ext cx="2434721" cy="2095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4D4D4D"/>
                </a:solidFill>
                <a:latin typeface="Yu Mincho"/>
                <a:ea typeface="Yu Mincho"/>
                <a:cs typeface="Yu Mincho"/>
              </a:rPr>
              <a:t>ラベル 1：Text 2に基づく整理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513" y="6575078"/>
            <a:ext cx="552117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62626"/>
                </a:solidFill>
                <a:latin typeface="Yu Gothic"/>
                <a:ea typeface="Yu Gothic"/>
                <a:cs typeface="Yu Gothic"/>
              </a:rPr>
              <a:t>パーツ一覧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01513" y="1326803"/>
            <a:ext cx="11788974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201513" y="1919436"/>
            <a:ext cx="11788974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201513" y="2359075"/>
            <a:ext cx="11788974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201513" y="2798713"/>
            <a:ext cx="11788974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sp>
        <p:nvSpPr>
          <p:cNvPr id="6" name="TextBox 5"/>
          <p:cNvSpPr txBox="1"/>
          <p:nvPr/>
        </p:nvSpPr>
        <p:spPr>
          <a:xfrm>
            <a:off x="201513" y="271314"/>
            <a:ext cx="1326952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パーツ02｜全体マップ</a:t>
            </a:r>
          </a:p>
        </p:txBody>
      </p:sp>
      <p:sp>
        <p:nvSpPr>
          <p:cNvPr id="7" name="Title"/>
          <p:cNvSpPr txBox="1"/>
          <p:nvPr/>
        </p:nvSpPr>
        <p:spPr>
          <a:xfrm>
            <a:off x="201513" y="505271"/>
            <a:ext cx="1212723" cy="2857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9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F1F1F"/>
                </a:solidFill>
                <a:latin typeface="Yu Mincho"/>
                <a:ea typeface="Yu Mincho"/>
                <a:cs typeface="Yu Mincho"/>
              </a:rPr>
              <a:t>全体マップ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513" y="1601986"/>
            <a:ext cx="604897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4D4D4D"/>
                </a:solidFill>
                <a:latin typeface="Yu Mincho"/>
                <a:ea typeface="Yu Mincho"/>
                <a:cs typeface="Yu Mincho"/>
              </a:rPr>
              <a:t>ラベル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5357" y="1603325"/>
            <a:ext cx="430459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10095" y="1650950"/>
            <a:ext cx="310658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4D4D4D"/>
                </a:solidFill>
                <a:latin typeface="Yu Gothic"/>
                <a:ea typeface="Yu Gothic"/>
                <a:cs typeface="Yu Gothic"/>
              </a:rPr>
              <a:t>→ P.3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513" y="2041624"/>
            <a:ext cx="604897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4D4D4D"/>
                </a:solidFill>
                <a:latin typeface="Yu Mincho"/>
                <a:ea typeface="Yu Mincho"/>
                <a:cs typeface="Yu Mincho"/>
              </a:rPr>
              <a:t>ラベル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5357" y="2042964"/>
            <a:ext cx="461260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588" y="2090589"/>
            <a:ext cx="316385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4D4D4D"/>
                </a:solidFill>
                <a:latin typeface="Yu Gothic"/>
                <a:ea typeface="Yu Gothic"/>
                <a:cs typeface="Yu Gothic"/>
              </a:rPr>
              <a:t>→ P.4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513" y="2481262"/>
            <a:ext cx="604897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4D4D4D"/>
                </a:solidFill>
                <a:latin typeface="Yu Mincho"/>
                <a:ea typeface="Yu Mincho"/>
                <a:cs typeface="Yu Mincho"/>
              </a:rPr>
              <a:t>ラベル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5357" y="2482602"/>
            <a:ext cx="462344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9053" y="2530227"/>
            <a:ext cx="311741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4D4D4D"/>
                </a:solidFill>
                <a:latin typeface="Yu Gothic"/>
                <a:ea typeface="Yu Gothic"/>
                <a:cs typeface="Yu Gothic"/>
              </a:rPr>
              <a:t>→ P.5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513" y="2920901"/>
            <a:ext cx="604897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4D4D4D"/>
                </a:solidFill>
                <a:latin typeface="Yu Mincho"/>
                <a:ea typeface="Yu Mincho"/>
                <a:cs typeface="Yu Mincho"/>
              </a:rPr>
              <a:t>ラベル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45357" y="2922240"/>
            <a:ext cx="466677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10392" y="2969865"/>
            <a:ext cx="310348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4D4D4D"/>
                </a:solidFill>
                <a:latin typeface="Yu Gothic"/>
                <a:ea typeface="Yu Gothic"/>
                <a:cs typeface="Yu Gothic"/>
              </a:rPr>
              <a:t>→ P.6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513" y="6274743"/>
            <a:ext cx="80177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4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出所）Source 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943904" y="6567488"/>
            <a:ext cx="67497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01513" y="1326803"/>
            <a:ext cx="11788974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201513" y="2067371"/>
            <a:ext cx="11788974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201513" y="2511028"/>
            <a:ext cx="11788974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201513" y="2954685"/>
            <a:ext cx="11788974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sp>
        <p:nvSpPr>
          <p:cNvPr id="6" name="TextBox 5"/>
          <p:cNvSpPr txBox="1"/>
          <p:nvPr/>
        </p:nvSpPr>
        <p:spPr>
          <a:xfrm>
            <a:off x="201513" y="271314"/>
            <a:ext cx="961977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パーツ03｜目次</a:t>
            </a:r>
          </a:p>
        </p:txBody>
      </p:sp>
      <p:sp>
        <p:nvSpPr>
          <p:cNvPr id="7" name="Title"/>
          <p:cNvSpPr txBox="1"/>
          <p:nvPr/>
        </p:nvSpPr>
        <p:spPr>
          <a:xfrm>
            <a:off x="201513" y="505271"/>
            <a:ext cx="547164" cy="2857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9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F1F1F"/>
                </a:solidFill>
                <a:latin typeface="Yu Mincho"/>
                <a:ea typeface="Yu Mincho"/>
                <a:cs typeface="Yu Mincho"/>
              </a:rPr>
              <a:t>目次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513" y="1757958"/>
            <a:ext cx="170890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4D4D4D"/>
                </a:solidFill>
                <a:latin typeface="Yu Mincho"/>
                <a:ea typeface="Yu Mincho"/>
                <a:cs typeface="Yu Mincho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9362" y="1748433"/>
            <a:ext cx="548866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88485" y="1777008"/>
            <a:ext cx="202001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P.4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513" y="2201614"/>
            <a:ext cx="170890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4D4D4D"/>
                </a:solidFill>
                <a:latin typeface="Yu Mincho"/>
                <a:ea typeface="Yu Mincho"/>
                <a:cs typeface="Yu Mincho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9362" y="2192089"/>
            <a:ext cx="579668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94522" y="2220664"/>
            <a:ext cx="195965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P.6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513" y="2645271"/>
            <a:ext cx="170890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4D4D4D"/>
                </a:solidFill>
                <a:latin typeface="Yu Mincho"/>
                <a:ea typeface="Yu Mincho"/>
                <a:cs typeface="Yu Mincho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9362" y="2635746"/>
            <a:ext cx="580751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94367" y="2664321"/>
            <a:ext cx="19612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P.8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920686" y="6567488"/>
            <a:ext cx="91642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01513" y="619125"/>
            <a:ext cx="11788974" cy="0"/>
          </a:xfrm>
          <a:prstGeom prst="line">
            <a:avLst/>
          </a:prstGeom>
          <a:ln w="9525">
            <a:solidFill>
              <a:srgbClr val="262626"/>
            </a:solidFill>
          </a:ln>
        </p:spPr>
      </p:cxnSp>
      <p:sp>
        <p:nvSpPr>
          <p:cNvPr id="3" name="TextBox 2"/>
          <p:cNvSpPr txBox="1"/>
          <p:nvPr/>
        </p:nvSpPr>
        <p:spPr>
          <a:xfrm>
            <a:off x="201513" y="270421"/>
            <a:ext cx="1148334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262626"/>
                </a:solidFill>
                <a:latin typeface="Yu Mincho"/>
                <a:ea typeface="Yu Mincho"/>
                <a:cs typeface="Yu Mincho"/>
              </a:rPr>
              <a:t>パーツ一覧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56318" y="420886"/>
            <a:ext cx="782586" cy="114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パーツ04｜章扉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513" y="2613273"/>
            <a:ext cx="296418" cy="2095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4D4D4D"/>
                </a:solidFill>
                <a:latin typeface="Yu Mincho"/>
                <a:ea typeface="Yu Mincho"/>
                <a:cs typeface="Yu Mincho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513" y="2985790"/>
            <a:ext cx="1425857" cy="4286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6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62626"/>
                </a:solidFill>
                <a:latin typeface="Yu Mincho"/>
                <a:ea typeface="Yu Mincho"/>
                <a:cs typeface="Yu Mincho"/>
              </a:rPr>
              <a:t>ラベル 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01513" y="1326803"/>
            <a:ext cx="11788974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sp>
        <p:nvSpPr>
          <p:cNvPr id="3" name="Freeform 2"/>
          <p:cNvSpPr/>
          <p:nvPr/>
        </p:nvSpPr>
        <p:spPr>
          <a:xfrm>
            <a:off x="201513" y="1484561"/>
            <a:ext cx="2839194" cy="969466"/>
          </a:xfrm>
          <a:custGeom>
            <a:avLst/>
            <a:gdLst/>
            <a:ahLst/>
            <a:cxnLst/>
            <a:rect l="l" t="t" r="r" b="b"/>
            <a:pathLst>
              <a:path w="2839194" h="969466">
                <a:moveTo>
                  <a:pt x="0" y="0"/>
                </a:moveTo>
                <a:lnTo>
                  <a:pt x="2623194" y="0"/>
                </a:lnTo>
                <a:lnTo>
                  <a:pt x="2839194" y="484733"/>
                </a:lnTo>
                <a:lnTo>
                  <a:pt x="2623194" y="969466"/>
                </a:lnTo>
                <a:lnTo>
                  <a:pt x="0" y="969466"/>
                </a:lnTo>
                <a:close/>
              </a:path>
            </a:pathLst>
          </a:custGeom>
          <a:solidFill>
            <a:srgbClr val="F2F2F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Freeform 3"/>
          <p:cNvSpPr/>
          <p:nvPr/>
        </p:nvSpPr>
        <p:spPr>
          <a:xfrm>
            <a:off x="3040707" y="1484561"/>
            <a:ext cx="2983260" cy="969466"/>
          </a:xfrm>
          <a:custGeom>
            <a:avLst/>
            <a:gdLst/>
            <a:ahLst/>
            <a:cxnLst/>
            <a:rect l="l" t="t" r="r" b="b"/>
            <a:pathLst>
              <a:path w="2983260" h="969466">
                <a:moveTo>
                  <a:pt x="0" y="0"/>
                </a:moveTo>
                <a:lnTo>
                  <a:pt x="2767260" y="0"/>
                </a:lnTo>
                <a:lnTo>
                  <a:pt x="2983260" y="484733"/>
                </a:lnTo>
                <a:lnTo>
                  <a:pt x="2767260" y="969466"/>
                </a:lnTo>
                <a:lnTo>
                  <a:pt x="0" y="969466"/>
                </a:lnTo>
                <a:lnTo>
                  <a:pt x="216001" y="484733"/>
                </a:lnTo>
                <a:close/>
              </a:path>
            </a:pathLst>
          </a:custGeom>
          <a:solidFill>
            <a:srgbClr val="F2F2F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Freeform 4"/>
          <p:cNvSpPr/>
          <p:nvPr/>
        </p:nvSpPr>
        <p:spPr>
          <a:xfrm>
            <a:off x="6023967" y="1484561"/>
            <a:ext cx="2983260" cy="969466"/>
          </a:xfrm>
          <a:custGeom>
            <a:avLst/>
            <a:gdLst/>
            <a:ahLst/>
            <a:cxnLst/>
            <a:rect l="l" t="t" r="r" b="b"/>
            <a:pathLst>
              <a:path w="2983260" h="969466">
                <a:moveTo>
                  <a:pt x="0" y="0"/>
                </a:moveTo>
                <a:lnTo>
                  <a:pt x="2767260" y="0"/>
                </a:lnTo>
                <a:lnTo>
                  <a:pt x="2983260" y="484733"/>
                </a:lnTo>
                <a:lnTo>
                  <a:pt x="2767260" y="969466"/>
                </a:lnTo>
                <a:lnTo>
                  <a:pt x="0" y="969466"/>
                </a:lnTo>
                <a:lnTo>
                  <a:pt x="216001" y="484733"/>
                </a:lnTo>
                <a:close/>
              </a:path>
            </a:pathLst>
          </a:custGeom>
          <a:solidFill>
            <a:srgbClr val="F2F2F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" name="Freeform 5"/>
          <p:cNvSpPr/>
          <p:nvPr/>
        </p:nvSpPr>
        <p:spPr>
          <a:xfrm>
            <a:off x="9007227" y="1484561"/>
            <a:ext cx="2983260" cy="969466"/>
          </a:xfrm>
          <a:custGeom>
            <a:avLst/>
            <a:gdLst/>
            <a:ahLst/>
            <a:cxnLst/>
            <a:rect l="l" t="t" r="r" b="b"/>
            <a:pathLst>
              <a:path w="2983260" h="969466">
                <a:moveTo>
                  <a:pt x="0" y="0"/>
                </a:moveTo>
                <a:lnTo>
                  <a:pt x="2767259" y="0"/>
                </a:lnTo>
                <a:lnTo>
                  <a:pt x="2983260" y="484733"/>
                </a:lnTo>
                <a:lnTo>
                  <a:pt x="2767259" y="969466"/>
                </a:lnTo>
                <a:lnTo>
                  <a:pt x="0" y="969466"/>
                </a:lnTo>
                <a:lnTo>
                  <a:pt x="216000" y="484733"/>
                </a:lnTo>
                <a:close/>
              </a:path>
            </a:pathLst>
          </a:custGeom>
          <a:solidFill>
            <a:srgbClr val="F2F2F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201513" y="271314"/>
            <a:ext cx="2011859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パーツ05｜矢羽（プロセス・変遷）</a:t>
            </a:r>
          </a:p>
        </p:txBody>
      </p:sp>
      <p:sp>
        <p:nvSpPr>
          <p:cNvPr id="8" name="Title"/>
          <p:cNvSpPr txBox="1"/>
          <p:nvPr/>
        </p:nvSpPr>
        <p:spPr>
          <a:xfrm>
            <a:off x="201513" y="505271"/>
            <a:ext cx="2453604" cy="2857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9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F1F1F"/>
                </a:solidFill>
                <a:latin typeface="Yu Mincho"/>
                <a:ea typeface="Yu Mincho"/>
                <a:cs typeface="Yu Mincho"/>
              </a:rPr>
              <a:t>矢羽（プロセス・変遷）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1446" y="1654969"/>
            <a:ext cx="947118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4D4D4D"/>
                </a:solidFill>
                <a:latin typeface="Yu Gothic"/>
                <a:ea typeface="Yu Gothic"/>
                <a:cs typeface="Yu Gothic"/>
              </a:rPr>
              <a:t>YYYY年M月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446" y="1873597"/>
            <a:ext cx="500110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62626"/>
                </a:solidFill>
                <a:latin typeface="Yu Gothic"/>
                <a:ea typeface="Yu Gothic"/>
                <a:cs typeface="Yu Gothic"/>
              </a:rPr>
              <a:t>ラベル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1446" y="2106513"/>
            <a:ext cx="34115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9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64706" y="1654969"/>
            <a:ext cx="947118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4D4D4D"/>
                </a:solidFill>
                <a:latin typeface="Yu Gothic"/>
                <a:ea typeface="Yu Gothic"/>
                <a:cs typeface="Yu Gothic"/>
              </a:rPr>
              <a:t>YYYY年M月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64706" y="1873597"/>
            <a:ext cx="527661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62626"/>
                </a:solidFill>
                <a:latin typeface="Yu Gothic"/>
                <a:ea typeface="Yu Gothic"/>
                <a:cs typeface="Yu Gothic"/>
              </a:rPr>
              <a:t>ラベル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64706" y="2106513"/>
            <a:ext cx="365296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9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7966" y="1654969"/>
            <a:ext cx="947118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4D4D4D"/>
                </a:solidFill>
                <a:latin typeface="Yu Gothic"/>
                <a:ea typeface="Yu Gothic"/>
                <a:cs typeface="Yu Gothic"/>
              </a:rPr>
              <a:t>YYYY年M月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966" y="1873597"/>
            <a:ext cx="529828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62626"/>
                </a:solidFill>
                <a:latin typeface="Yu Gothic"/>
                <a:ea typeface="Yu Gothic"/>
                <a:cs typeface="Yu Gothic"/>
              </a:rPr>
              <a:t>ラベル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7966" y="2106513"/>
            <a:ext cx="36622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9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31226" y="1654969"/>
            <a:ext cx="336042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4D4D4D"/>
                </a:solidFill>
                <a:latin typeface="Yu Gothic"/>
                <a:ea typeface="Yu Gothic"/>
                <a:cs typeface="Yu Gothic"/>
              </a:rPr>
              <a:t>現在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31226" y="1873597"/>
            <a:ext cx="534162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62626"/>
                </a:solidFill>
                <a:latin typeface="Yu Gothic"/>
                <a:ea typeface="Yu Gothic"/>
                <a:cs typeface="Yu Gothic"/>
              </a:rPr>
              <a:t>ラベル 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31226" y="2106513"/>
            <a:ext cx="369475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9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513" y="6274743"/>
            <a:ext cx="80177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4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出所）Source 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919793" y="6567488"/>
            <a:ext cx="92571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01513" y="1326803"/>
            <a:ext cx="11788974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201513" y="1795165"/>
            <a:ext cx="6688485" cy="0"/>
          </a:xfrm>
          <a:prstGeom prst="line">
            <a:avLst/>
          </a:prstGeom>
          <a:ln w="9525">
            <a:solidFill>
              <a:srgbClr val="262626"/>
            </a:solidFill>
          </a:ln>
        </p:spPr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01513" y="1925836"/>
          <a:ext cx="6688484" cy="1309390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1408509"/>
                <a:gridCol w="5279975"/>
              </a:tblGrid>
              <a:tr h="434876">
                <a:tc>
                  <a:txBody>
                    <a:bodyPr wrap="square"/>
                    <a:lstStyle/>
                    <a:p>
                      <a:pPr algn="l">
                        <a:lnSpc>
                          <a:spcPts val="16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4D4D4D"/>
                          </a:solidFill>
                          <a:latin typeface="Yu Mincho"/>
                          <a:ea typeface="Yu Mincho"/>
                          <a:cs typeface="Yu Mincho"/>
                        </a:rPr>
                        <a:t>YYYY年M月</a:t>
                      </a:r>
                      <a:endParaRPr sz="100"/>
                    </a:p>
                  </a:txBody>
                  <a:tcPr marT="108000" marR="90000" marB="108000" marL="90000" anchor="ctr">
                    <a:lnL w="0">
                      <a:noFill/>
                    </a:lnL>
                    <a:lnR w="9525">
                      <a:solidFill>
                        <a:srgbClr val="262626"/>
                      </a:solidFill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66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F1F1F"/>
                          </a:solidFill>
                          <a:latin typeface="Yu Gothic"/>
                          <a:ea typeface="Yu Gothic"/>
                          <a:cs typeface="Yu Gothic"/>
                        </a:rPr>
                        <a:t>Text 1</a:t>
                      </a:r>
                      <a:endParaRPr sz="100"/>
                    </a:p>
                  </a:txBody>
                  <a:tcPr marT="108000" marR="90000" marB="108000" marL="9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439638">
                <a:tc>
                  <a:txBody>
                    <a:bodyPr wrap="square"/>
                    <a:lstStyle/>
                    <a:p>
                      <a:pPr algn="l">
                        <a:lnSpc>
                          <a:spcPts val="16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4D4D4D"/>
                          </a:solidFill>
                          <a:latin typeface="Yu Mincho"/>
                          <a:ea typeface="Yu Mincho"/>
                          <a:cs typeface="Yu Mincho"/>
                        </a:rPr>
                        <a:t>YYYY年M月</a:t>
                      </a:r>
                      <a:endParaRPr sz="100"/>
                    </a:p>
                  </a:txBody>
                  <a:tcPr marT="108000" marR="90000" marB="108000" marL="90000" anchor="ctr">
                    <a:lnL w="0">
                      <a:noFill/>
                    </a:lnL>
                    <a:lnR w="9525">
                      <a:solidFill>
                        <a:srgbClr val="262626"/>
                      </a:solidFill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66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F1F1F"/>
                          </a:solidFill>
                          <a:latin typeface="Yu Gothic"/>
                          <a:ea typeface="Yu Gothic"/>
                          <a:cs typeface="Yu Gothic"/>
                        </a:rPr>
                        <a:t>Text 2</a:t>
                      </a:r>
                      <a:endParaRPr sz="100"/>
                    </a:p>
                  </a:txBody>
                  <a:tcPr marT="108000" marR="90000" marB="108000" marL="9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434876">
                <a:tc>
                  <a:txBody>
                    <a:bodyPr wrap="square"/>
                    <a:lstStyle/>
                    <a:p>
                      <a:pPr algn="l">
                        <a:lnSpc>
                          <a:spcPts val="16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4D4D4D"/>
                          </a:solidFill>
                          <a:latin typeface="Yu Mincho"/>
                          <a:ea typeface="Yu Mincho"/>
                          <a:cs typeface="Yu Mincho"/>
                        </a:rPr>
                        <a:t>YYYY年M月〜</a:t>
                      </a:r>
                      <a:endParaRPr sz="100"/>
                    </a:p>
                  </a:txBody>
                  <a:tcPr marT="108000" marR="90000" marB="108000" marL="90000" anchor="ctr">
                    <a:lnL w="0">
                      <a:noFill/>
                    </a:lnL>
                    <a:lnR w="9525">
                      <a:solidFill>
                        <a:srgbClr val="262626"/>
                      </a:solidFill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66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F1F1F"/>
                          </a:solidFill>
                          <a:latin typeface="Yu Gothic"/>
                          <a:ea typeface="Yu Gothic"/>
                          <a:cs typeface="Yu Gothic"/>
                        </a:rPr>
                        <a:t>Text 3</a:t>
                      </a:r>
                      <a:endParaRPr sz="100"/>
                    </a:p>
                  </a:txBody>
                  <a:tcPr marT="108000" marR="90000" marB="108000" marL="9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Freeform 4"/>
          <p:cNvSpPr/>
          <p:nvPr/>
        </p:nvSpPr>
        <p:spPr>
          <a:xfrm>
            <a:off x="7105948" y="2188369"/>
            <a:ext cx="209550" cy="342900"/>
          </a:xfrm>
          <a:custGeom>
            <a:avLst/>
            <a:gdLst/>
            <a:ahLst/>
            <a:cxnLst/>
            <a:rect l="l" t="t" r="r" b="b"/>
            <a:pathLst>
              <a:path w="209550" h="342900">
                <a:moveTo>
                  <a:pt x="0" y="0"/>
                </a:moveTo>
                <a:lnTo>
                  <a:pt x="0" y="342900"/>
                </a:lnTo>
                <a:lnTo>
                  <a:pt x="209550" y="171450"/>
                </a:lnTo>
                <a:close/>
              </a:path>
            </a:pathLst>
          </a:custGeom>
          <a:solidFill>
            <a:srgbClr val="A6A6A6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7531447" y="1795165"/>
            <a:ext cx="4459040" cy="0"/>
          </a:xfrm>
          <a:prstGeom prst="line">
            <a:avLst/>
          </a:prstGeom>
          <a:ln w="9525">
            <a:solidFill>
              <a:srgbClr val="262626"/>
            </a:solidFill>
          </a:ln>
        </p:spPr>
      </p:cxnSp>
      <p:sp>
        <p:nvSpPr>
          <p:cNvPr id="7" name="TextBox 6"/>
          <p:cNvSpPr txBox="1"/>
          <p:nvPr/>
        </p:nvSpPr>
        <p:spPr>
          <a:xfrm>
            <a:off x="201513" y="271314"/>
            <a:ext cx="2000250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パーツ06｜前提→帰結の2カラム</a:t>
            </a:r>
          </a:p>
        </p:txBody>
      </p:sp>
      <p:sp>
        <p:nvSpPr>
          <p:cNvPr id="8" name="Title"/>
          <p:cNvSpPr txBox="1"/>
          <p:nvPr/>
        </p:nvSpPr>
        <p:spPr>
          <a:xfrm>
            <a:off x="201513" y="505271"/>
            <a:ext cx="2422029" cy="2857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9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F1F1F"/>
                </a:solidFill>
                <a:latin typeface="Yu Mincho"/>
                <a:ea typeface="Yu Mincho"/>
                <a:cs typeface="Yu Mincho"/>
              </a:rPr>
              <a:t>前提→帰結の2カラム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513" y="1525191"/>
            <a:ext cx="1679543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4D4D4D"/>
                </a:solidFill>
                <a:latin typeface="Yu Mincho"/>
                <a:ea typeface="Yu Mincho"/>
                <a:cs typeface="Yu Mincho"/>
              </a:rPr>
              <a:t>Text 1の推移（事実）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31447" y="1525191"/>
            <a:ext cx="1581876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4D4D4D"/>
                </a:solidFill>
                <a:latin typeface="Yu Mincho"/>
                <a:ea typeface="Yu Mincho"/>
                <a:cs typeface="Yu Mincho"/>
              </a:rPr>
              <a:t>Text 2に起きる変化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93372" y="2131516"/>
            <a:ext cx="1723346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marL="127000" indent="-127000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0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4（語尾は階層内で統一）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93372" y="2449860"/>
            <a:ext cx="403217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marL="127000" indent="-127000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0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93372" y="2768203"/>
            <a:ext cx="404920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marL="127000" indent="-127000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0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513" y="6274743"/>
            <a:ext cx="80177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4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出所）Source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916519" y="6567488"/>
            <a:ext cx="95976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01513" y="1326803"/>
            <a:ext cx="11788974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201513" y="1795165"/>
            <a:ext cx="6688485" cy="0"/>
          </a:xfrm>
          <a:prstGeom prst="line">
            <a:avLst/>
          </a:prstGeom>
          <a:ln w="9525">
            <a:solidFill>
              <a:srgbClr val="262626"/>
            </a:solidFill>
          </a:ln>
        </p:spPr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01513" y="1925836"/>
          <a:ext cx="6688485" cy="1439764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1768525"/>
                <a:gridCol w="1408509"/>
                <a:gridCol w="3511451"/>
              </a:tblGrid>
              <a:tr h="478334">
                <a:tc>
                  <a:txBody>
                    <a:bodyPr wrap="square"/>
                    <a:lstStyle/>
                    <a:p>
                      <a:pPr algn="l">
                        <a:lnSpc>
                          <a:spcPts val="16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4D4D4D"/>
                          </a:solidFill>
                          <a:latin typeface="Yu Mincho"/>
                          <a:ea typeface="Yu Mincho"/>
                          <a:cs typeface="Yu Mincho"/>
                        </a:rPr>
                        <a:t>ラベル 2</a:t>
                      </a:r>
                      <a:endParaRPr sz="100"/>
                    </a:p>
                  </a:txBody>
                  <a:tcPr marT="108000" marR="90000" marB="108000" marL="90000" anchor="ctr">
                    <a:lnL w="0">
                      <a:noFill/>
                    </a:lnL>
                    <a:lnR w="9525">
                      <a:solidFill>
                        <a:srgbClr val="262626"/>
                      </a:solidFill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03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262626"/>
                          </a:solidFill>
                          <a:latin typeface="Yu Gothic"/>
                          <a:ea typeface="Yu Gothic"/>
                          <a:cs typeface="Yu Gothic"/>
                        </a:rPr>
                        <a:t>ラベル 3</a:t>
                      </a:r>
                      <a:endParaRPr sz="100"/>
                    </a:p>
                  </a:txBody>
                  <a:tcPr marT="108000" marR="90000" marB="108000" marL="9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66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F1F1F"/>
                          </a:solidFill>
                          <a:latin typeface="Yu Gothic"/>
                          <a:ea typeface="Yu Gothic"/>
                          <a:cs typeface="Yu Gothic"/>
                        </a:rPr>
                        <a:t>Text 1</a:t>
                      </a:r>
                      <a:endParaRPr sz="100"/>
                    </a:p>
                  </a:txBody>
                  <a:tcPr marT="108000" marR="90000" marB="108000" marL="9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483096">
                <a:tc>
                  <a:txBody>
                    <a:bodyPr wrap="square"/>
                    <a:lstStyle/>
                    <a:p>
                      <a:pPr algn="l">
                        <a:lnSpc>
                          <a:spcPts val="16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4D4D4D"/>
                          </a:solidFill>
                          <a:latin typeface="Yu Mincho"/>
                          <a:ea typeface="Yu Mincho"/>
                          <a:cs typeface="Yu Mincho"/>
                        </a:rPr>
                        <a:t>ラベル 4</a:t>
                      </a:r>
                      <a:endParaRPr sz="100"/>
                    </a:p>
                  </a:txBody>
                  <a:tcPr marT="108000" marR="90000" marB="108000" marL="90000" anchor="ctr">
                    <a:lnL w="0">
                      <a:noFill/>
                    </a:lnL>
                    <a:lnR w="9525">
                      <a:solidFill>
                        <a:srgbClr val="262626"/>
                      </a:solidFill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03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262626"/>
                          </a:solidFill>
                          <a:latin typeface="Yu Gothic"/>
                          <a:ea typeface="Yu Gothic"/>
                          <a:cs typeface="Yu Gothic"/>
                        </a:rPr>
                        <a:t>ラベル 5</a:t>
                      </a:r>
                      <a:endParaRPr sz="100"/>
                    </a:p>
                  </a:txBody>
                  <a:tcPr marT="108000" marR="90000" marB="108000" marL="9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66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F1F1F"/>
                          </a:solidFill>
                          <a:latin typeface="Yu Gothic"/>
                          <a:ea typeface="Yu Gothic"/>
                          <a:cs typeface="Yu Gothic"/>
                        </a:rPr>
                        <a:t>Text 2</a:t>
                      </a:r>
                      <a:endParaRPr sz="100"/>
                    </a:p>
                  </a:txBody>
                  <a:tcPr marT="108000" marR="90000" marB="108000" marL="9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478334">
                <a:tc>
                  <a:txBody>
                    <a:bodyPr wrap="square"/>
                    <a:lstStyle/>
                    <a:p>
                      <a:pPr algn="l">
                        <a:lnSpc>
                          <a:spcPts val="16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4D4D4D"/>
                          </a:solidFill>
                          <a:latin typeface="Yu Mincho"/>
                          <a:ea typeface="Yu Mincho"/>
                          <a:cs typeface="Yu Mincho"/>
                        </a:rPr>
                        <a:t>ラベル 6</a:t>
                      </a:r>
                      <a:endParaRPr sz="100"/>
                    </a:p>
                  </a:txBody>
                  <a:tcPr marT="108000" marR="90000" marB="108000" marL="90000" anchor="ctr">
                    <a:lnL w="0">
                      <a:noFill/>
                    </a:lnL>
                    <a:lnR w="9525">
                      <a:solidFill>
                        <a:srgbClr val="262626"/>
                      </a:solidFill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03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262626"/>
                          </a:solidFill>
                          <a:latin typeface="Yu Gothic"/>
                          <a:ea typeface="Yu Gothic"/>
                          <a:cs typeface="Yu Gothic"/>
                        </a:rPr>
                        <a:t>ラベル 7</a:t>
                      </a:r>
                      <a:endParaRPr sz="100"/>
                    </a:p>
                  </a:txBody>
                  <a:tcPr marT="108000" marR="90000" marB="108000" marL="9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66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F1F1F"/>
                          </a:solidFill>
                          <a:latin typeface="Yu Gothic"/>
                          <a:ea typeface="Yu Gothic"/>
                          <a:cs typeface="Yu Gothic"/>
                        </a:rPr>
                        <a:t>Text 3</a:t>
                      </a:r>
                      <a:endParaRPr sz="100"/>
                    </a:p>
                  </a:txBody>
                  <a:tcPr marT="108000" marR="90000" marB="108000" marL="9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Freeform 4"/>
          <p:cNvSpPr/>
          <p:nvPr/>
        </p:nvSpPr>
        <p:spPr>
          <a:xfrm>
            <a:off x="7105948" y="2253555"/>
            <a:ext cx="209550" cy="342900"/>
          </a:xfrm>
          <a:custGeom>
            <a:avLst/>
            <a:gdLst/>
            <a:ahLst/>
            <a:cxnLst/>
            <a:rect l="l" t="t" r="r" b="b"/>
            <a:pathLst>
              <a:path w="209550" h="342900">
                <a:moveTo>
                  <a:pt x="0" y="0"/>
                </a:moveTo>
                <a:lnTo>
                  <a:pt x="0" y="342900"/>
                </a:lnTo>
                <a:lnTo>
                  <a:pt x="209550" y="171450"/>
                </a:lnTo>
                <a:close/>
              </a:path>
            </a:pathLst>
          </a:custGeom>
          <a:solidFill>
            <a:srgbClr val="A6A6A6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7531447" y="1795165"/>
            <a:ext cx="4459040" cy="0"/>
          </a:xfrm>
          <a:prstGeom prst="line">
            <a:avLst/>
          </a:prstGeom>
          <a:ln w="9525">
            <a:solidFill>
              <a:srgbClr val="262626"/>
            </a:solidFill>
          </a:ln>
        </p:spPr>
      </p:cxnSp>
      <p:sp>
        <p:nvSpPr>
          <p:cNvPr id="7" name="TextBox 6"/>
          <p:cNvSpPr txBox="1"/>
          <p:nvPr/>
        </p:nvSpPr>
        <p:spPr>
          <a:xfrm>
            <a:off x="201513" y="271314"/>
            <a:ext cx="2182118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パーツ07｜大型数値の表＋読み取り</a:t>
            </a:r>
          </a:p>
        </p:txBody>
      </p:sp>
      <p:sp>
        <p:nvSpPr>
          <p:cNvPr id="8" name="Title"/>
          <p:cNvSpPr txBox="1"/>
          <p:nvPr/>
        </p:nvSpPr>
        <p:spPr>
          <a:xfrm>
            <a:off x="201513" y="505271"/>
            <a:ext cx="2794278" cy="2857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9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F1F1F"/>
                </a:solidFill>
                <a:latin typeface="Yu Mincho"/>
                <a:ea typeface="Yu Mincho"/>
                <a:cs typeface="Yu Mincho"/>
              </a:rPr>
              <a:t>大型数値の表＋読み取り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513" y="1525191"/>
            <a:ext cx="1993594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4D4D4D"/>
                </a:solidFill>
                <a:latin typeface="Yu Mincho"/>
                <a:ea typeface="Yu Mincho"/>
                <a:cs typeface="Yu Mincho"/>
              </a:rPr>
              <a:t>数値で見るText 1の現状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31447" y="1525191"/>
            <a:ext cx="2016192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4D4D4D"/>
                </a:solidFill>
                <a:latin typeface="Yu Mincho"/>
                <a:ea typeface="Yu Mincho"/>
                <a:cs typeface="Yu Mincho"/>
              </a:rPr>
              <a:t>数値から言える意味合い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93372" y="2196703"/>
            <a:ext cx="408325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marL="127000" indent="-127000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0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93372" y="2515046"/>
            <a:ext cx="403217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marL="127000" indent="-127000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0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93372" y="2833390"/>
            <a:ext cx="404920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marL="127000" indent="-127000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0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513" y="6274743"/>
            <a:ext cx="80177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4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出所）Source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920984" y="6567488"/>
            <a:ext cx="91333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01513" y="1326803"/>
            <a:ext cx="11788974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sp>
        <p:nvSpPr>
          <p:cNvPr id="3" name="Rectangle 2"/>
          <p:cNvSpPr/>
          <p:nvPr/>
        </p:nvSpPr>
        <p:spPr>
          <a:xfrm>
            <a:off x="201513" y="1484561"/>
            <a:ext cx="5822454" cy="22709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4" name="Connector 3"/>
          <p:cNvCxnSpPr/>
          <p:nvPr/>
        </p:nvCxnSpPr>
        <p:spPr>
          <a:xfrm>
            <a:off x="201513" y="1886694"/>
            <a:ext cx="5822454" cy="0"/>
          </a:xfrm>
          <a:prstGeom prst="line">
            <a:avLst/>
          </a:prstGeom>
          <a:ln w="9525">
            <a:solidFill>
              <a:srgbClr val="E0E0E0"/>
            </a:solidFill>
          </a:ln>
        </p:spPr>
      </p:cxnSp>
      <p:sp>
        <p:nvSpPr>
          <p:cNvPr id="5" name="Rectangle 4"/>
          <p:cNvSpPr/>
          <p:nvPr/>
        </p:nvSpPr>
        <p:spPr>
          <a:xfrm>
            <a:off x="6167884" y="1484561"/>
            <a:ext cx="5822603" cy="22709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6167884" y="1886694"/>
            <a:ext cx="5822603" cy="0"/>
          </a:xfrm>
          <a:prstGeom prst="line">
            <a:avLst/>
          </a:prstGeom>
          <a:ln w="9525">
            <a:solidFill>
              <a:srgbClr val="E0E0E0"/>
            </a:solidFill>
          </a:ln>
        </p:spPr>
      </p:cxnSp>
      <p:sp>
        <p:nvSpPr>
          <p:cNvPr id="7" name="Rectangle 6"/>
          <p:cNvSpPr/>
          <p:nvPr/>
        </p:nvSpPr>
        <p:spPr>
          <a:xfrm>
            <a:off x="201513" y="3899446"/>
            <a:ext cx="5822454" cy="22709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8" name="Connector 7"/>
          <p:cNvCxnSpPr/>
          <p:nvPr/>
        </p:nvCxnSpPr>
        <p:spPr>
          <a:xfrm>
            <a:off x="201513" y="4301579"/>
            <a:ext cx="5822454" cy="0"/>
          </a:xfrm>
          <a:prstGeom prst="line">
            <a:avLst/>
          </a:prstGeom>
          <a:ln w="9525">
            <a:solidFill>
              <a:srgbClr val="E0E0E0"/>
            </a:solidFill>
          </a:ln>
        </p:spPr>
      </p:cxnSp>
      <p:sp>
        <p:nvSpPr>
          <p:cNvPr id="9" name="Rectangle 8"/>
          <p:cNvSpPr/>
          <p:nvPr/>
        </p:nvSpPr>
        <p:spPr>
          <a:xfrm>
            <a:off x="6167884" y="3899446"/>
            <a:ext cx="5822603" cy="22709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10" name="Connector 9"/>
          <p:cNvCxnSpPr/>
          <p:nvPr/>
        </p:nvCxnSpPr>
        <p:spPr>
          <a:xfrm>
            <a:off x="6167884" y="4301579"/>
            <a:ext cx="5822603" cy="0"/>
          </a:xfrm>
          <a:prstGeom prst="line">
            <a:avLst/>
          </a:prstGeom>
          <a:ln w="9525">
            <a:solidFill>
              <a:srgbClr val="E0E0E0"/>
            </a:solidFill>
          </a:ln>
        </p:spPr>
      </p:cxnSp>
      <p:sp>
        <p:nvSpPr>
          <p:cNvPr id="11" name="TextBox 10"/>
          <p:cNvSpPr txBox="1"/>
          <p:nvPr/>
        </p:nvSpPr>
        <p:spPr>
          <a:xfrm>
            <a:off x="201513" y="271314"/>
            <a:ext cx="1657255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パーツ08｜並列カード 2×2</a:t>
            </a:r>
          </a:p>
        </p:txBody>
      </p:sp>
      <p:sp>
        <p:nvSpPr>
          <p:cNvPr id="12" name="Title"/>
          <p:cNvSpPr txBox="1"/>
          <p:nvPr/>
        </p:nvSpPr>
        <p:spPr>
          <a:xfrm>
            <a:off x="201513" y="505271"/>
            <a:ext cx="1704773" cy="2857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9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F1F1F"/>
                </a:solidFill>
                <a:latin typeface="Yu Mincho"/>
                <a:ea typeface="Yu Mincho"/>
                <a:cs typeface="Yu Mincho"/>
              </a:rPr>
              <a:t>並列カード 2×2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430" y="1610469"/>
            <a:ext cx="2674787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62626"/>
                </a:solidFill>
                <a:latin typeface="Yu Gothic"/>
                <a:ea typeface="Yu Gothic"/>
                <a:cs typeface="Yu Gothic"/>
              </a:rPr>
              <a:t>ラベル 1：ラベル 2（主語＋何をするで統一）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514" y="2045940"/>
            <a:ext cx="5737442" cy="36820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marL="127000" indent="-127000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ct val="100000"/>
              <a:buFont typeface="Yu Gothic"/>
              <a:buChar char="•"/>
            </a:pPr>
            <a:r>
              <a:rPr sz="10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1</a:t>
            </a:r>
          </a:p>
          <a:p>
            <a:pPr algn="l" marL="127000" indent="-127000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ct val="100000"/>
              <a:buFont typeface="Yu Gothic"/>
              <a:buChar char="•"/>
            </a:pPr>
            <a:r>
              <a:rPr sz="10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11801" y="1610469"/>
            <a:ext cx="1165515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62626"/>
                </a:solidFill>
                <a:latin typeface="Yu Gothic"/>
                <a:ea typeface="Yu Gothic"/>
                <a:cs typeface="Yu Gothic"/>
              </a:rPr>
              <a:t>ラベル 3：ラベル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9884" y="2045940"/>
            <a:ext cx="5737596" cy="36820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marL="127000" indent="-127000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ct val="100000"/>
              <a:buFont typeface="Yu Gothic"/>
              <a:buChar char="•"/>
            </a:pPr>
            <a:r>
              <a:rPr sz="10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3</a:t>
            </a:r>
          </a:p>
          <a:p>
            <a:pPr algn="l" marL="127000" indent="-127000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ct val="100000"/>
              <a:buFont typeface="Yu Gothic"/>
              <a:buChar char="•"/>
            </a:pPr>
            <a:r>
              <a:rPr sz="10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5430" y="4025354"/>
            <a:ext cx="1160716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62626"/>
                </a:solidFill>
                <a:latin typeface="Yu Gothic"/>
                <a:ea typeface="Yu Gothic"/>
                <a:cs typeface="Yu Gothic"/>
              </a:rPr>
              <a:t>ラベル 5：ラベル 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3514" y="4460825"/>
            <a:ext cx="5737442" cy="36820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marL="127000" indent="-127000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ct val="100000"/>
              <a:buFont typeface="Yu Gothic"/>
              <a:buChar char="•"/>
            </a:pPr>
            <a:r>
              <a:rPr sz="10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5</a:t>
            </a:r>
          </a:p>
          <a:p>
            <a:pPr algn="l" marL="127000" indent="-127000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ct val="100000"/>
              <a:buFont typeface="Yu Gothic"/>
              <a:buChar char="•"/>
            </a:pPr>
            <a:r>
              <a:rPr sz="10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11801" y="4025354"/>
            <a:ext cx="1152513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62626"/>
                </a:solidFill>
                <a:latin typeface="Yu Gothic"/>
                <a:ea typeface="Yu Gothic"/>
                <a:cs typeface="Yu Gothic"/>
              </a:rPr>
              <a:t>ラベル 7：ラベル 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29884" y="4460825"/>
            <a:ext cx="5737596" cy="36820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marL="127000" indent="-127000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ct val="100000"/>
              <a:buFont typeface="Yu Gothic"/>
              <a:buChar char="•"/>
            </a:pPr>
            <a:r>
              <a:rPr sz="10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7</a:t>
            </a:r>
          </a:p>
          <a:p>
            <a:pPr algn="l" marL="127000" indent="-127000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ct val="100000"/>
              <a:buFont typeface="Yu Gothic"/>
              <a:buChar char="•"/>
            </a:pPr>
            <a:r>
              <a:rPr sz="10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513" y="6274743"/>
            <a:ext cx="80177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4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出所）Source 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919496" y="6567488"/>
            <a:ext cx="92881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01513" y="1326803"/>
            <a:ext cx="11788974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01513" y="1484561"/>
          <a:ext cx="11788974" cy="2692897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2051745"/>
                <a:gridCol w="4049762"/>
                <a:gridCol w="2699742"/>
                <a:gridCol w="2987725"/>
              </a:tblGrid>
              <a:tr h="405408">
                <a:tc>
                  <a:txBody>
                    <a:bodyPr wrap="square"/>
                    <a:lstStyle/>
                    <a:p>
                      <a:pPr algn="l">
                        <a:lnSpc>
                          <a:spcPts val="173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1" i="0">
                          <a:solidFill>
                            <a:srgbClr val="262626"/>
                          </a:solidFill>
                          <a:latin typeface="Yu Gothic"/>
                          <a:ea typeface="Yu Gothic"/>
                          <a:cs typeface="Yu Gothic"/>
                        </a:rPr>
                        <a:t>ラベル 1（軸）</a:t>
                      </a:r>
                      <a:endParaRPr sz="100"/>
                    </a:p>
                  </a:txBody>
                  <a:tcPr marT="90000" marR="90000" marB="90000" marL="9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626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73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1" i="0">
                          <a:solidFill>
                            <a:srgbClr val="262626"/>
                          </a:solidFill>
                          <a:latin typeface="Yu Gothic"/>
                          <a:ea typeface="Yu Gothic"/>
                          <a:cs typeface="Yu Gothic"/>
                        </a:rPr>
                        <a:t>ラベル 2</a:t>
                      </a:r>
                      <a:endParaRPr sz="100"/>
                    </a:p>
                  </a:txBody>
                  <a:tcPr marT="90000" marR="90000" marB="90000" marL="9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626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73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1" i="0">
                          <a:solidFill>
                            <a:srgbClr val="262626"/>
                          </a:solidFill>
                          <a:latin typeface="Yu Gothic"/>
                          <a:ea typeface="Yu Gothic"/>
                          <a:cs typeface="Yu Gothic"/>
                        </a:rPr>
                        <a:t>ラベル 3</a:t>
                      </a:r>
                      <a:endParaRPr sz="100"/>
                    </a:p>
                  </a:txBody>
                  <a:tcPr marT="90000" marR="90000" marB="90000" marL="9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626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73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1" i="0">
                          <a:solidFill>
                            <a:srgbClr val="262626"/>
                          </a:solidFill>
                          <a:latin typeface="Yu Gothic"/>
                          <a:ea typeface="Yu Gothic"/>
                          <a:cs typeface="Yu Gothic"/>
                        </a:rPr>
                        <a:t>ラベル 4</a:t>
                      </a:r>
                      <a:endParaRPr sz="100"/>
                    </a:p>
                  </a:txBody>
                  <a:tcPr marT="90000" marR="90000" marB="90000" marL="9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62626"/>
                      </a:solidFill>
                    </a:lnB>
                    <a:noFill/>
                  </a:tcPr>
                </a:tc>
              </a:tr>
              <a:tr h="764084">
                <a:tc>
                  <a:txBody>
                    <a:bodyPr wrap="square"/>
                    <a:lstStyle/>
                    <a:p>
                      <a:pPr algn="l">
                        <a:lnSpc>
                          <a:spcPts val="16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4D4D4D"/>
                          </a:solidFill>
                          <a:latin typeface="Yu Mincho"/>
                          <a:ea typeface="Yu Mincho"/>
                          <a:cs typeface="Yu Mincho"/>
                        </a:rPr>
                        <a:t>ラベル 5</a:t>
                      </a:r>
                      <a:endParaRPr sz="100"/>
                    </a:p>
                  </a:txBody>
                  <a:tcPr marT="108000" marR="90000" marB="108000" marL="90000" anchor="ctr">
                    <a:lnL w="0">
                      <a:noFill/>
                    </a:lnL>
                    <a:lnR w="9525">
                      <a:solidFill>
                        <a:srgbClr val="262626"/>
                      </a:solidFill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66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F1F1F"/>
                          </a:solidFill>
                          <a:latin typeface="Yu Gothic"/>
                          <a:ea typeface="Yu Gothic"/>
                          <a:cs typeface="Yu Gothic"/>
                        </a:rPr>
                        <a:t>Text 1</a:t>
                      </a:r>
                      <a:endParaRPr sz="100"/>
                    </a:p>
                  </a:txBody>
                  <a:tcPr marT="108000" marR="90000" marB="108000" marL="9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66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F1F1F"/>
                          </a:solidFill>
                          <a:latin typeface="Yu Gothic"/>
                          <a:ea typeface="Yu Gothic"/>
                          <a:cs typeface="Yu Gothic"/>
                        </a:rPr>
                        <a:t>ラベル 6</a:t>
                      </a:r>
                      <a:endParaRPr sz="100"/>
                    </a:p>
                  </a:txBody>
                  <a:tcPr marT="108000" marR="90000" marB="108000" marL="9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marL="146050" indent="-146050">
                        <a:lnSpc>
                          <a:spcPts val="183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100000"/>
                        <a:buFont typeface="Yu Gothic"/>
                        <a:buChar char="•"/>
                      </a:pPr>
                      <a:r>
                        <a:rPr sz="1150" b="0" i="0">
                          <a:solidFill>
                            <a:srgbClr val="1F1F1F"/>
                          </a:solidFill>
                          <a:latin typeface="Yu Gothic"/>
                          <a:ea typeface="Yu Gothic"/>
                          <a:cs typeface="Yu Gothic"/>
                        </a:rPr>
                        <a:t>Text 1</a:t>
                      </a:r>
                      <a:endParaRPr sz="100"/>
                    </a:p>
                    <a:p>
                      <a:pPr algn="l" marL="146050" indent="-146050">
                        <a:lnSpc>
                          <a:spcPts val="183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100000"/>
                        <a:buFont typeface="Yu Gothic"/>
                        <a:buChar char="•"/>
                      </a:pPr>
                      <a:r>
                        <a:rPr sz="1150" b="0" i="0">
                          <a:solidFill>
                            <a:srgbClr val="1F1F1F"/>
                          </a:solidFill>
                          <a:latin typeface="Yu Gothic"/>
                          <a:ea typeface="Yu Gothic"/>
                          <a:cs typeface="Yu Gothic"/>
                        </a:rPr>
                        <a:t>Text 2</a:t>
                      </a:r>
                    </a:p>
                  </a:txBody>
                  <a:tcPr marT="108000" marR="90000" marB="108000" marL="9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764084">
                <a:tc>
                  <a:txBody>
                    <a:bodyPr wrap="square"/>
                    <a:lstStyle/>
                    <a:p>
                      <a:pPr algn="l">
                        <a:lnSpc>
                          <a:spcPts val="16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4D4D4D"/>
                          </a:solidFill>
                          <a:latin typeface="Yu Mincho"/>
                          <a:ea typeface="Yu Mincho"/>
                          <a:cs typeface="Yu Mincho"/>
                        </a:rPr>
                        <a:t>ラベル 8</a:t>
                      </a:r>
                      <a:endParaRPr sz="100"/>
                    </a:p>
                  </a:txBody>
                  <a:tcPr marT="108000" marR="90000" marB="108000" marL="90000" anchor="ctr">
                    <a:lnL w="0">
                      <a:noFill/>
                    </a:lnL>
                    <a:lnR w="9525">
                      <a:solidFill>
                        <a:srgbClr val="262626"/>
                      </a:solidFill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66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F1F1F"/>
                          </a:solidFill>
                          <a:latin typeface="Yu Gothic"/>
                          <a:ea typeface="Yu Gothic"/>
                          <a:cs typeface="Yu Gothic"/>
                        </a:rPr>
                        <a:t>Text 2</a:t>
                      </a:r>
                      <a:endParaRPr sz="100"/>
                    </a:p>
                  </a:txBody>
                  <a:tcPr marT="108000" marR="90000" marB="108000" marL="9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66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F1F1F"/>
                          </a:solidFill>
                          <a:latin typeface="Yu Gothic"/>
                          <a:ea typeface="Yu Gothic"/>
                          <a:cs typeface="Yu Gothic"/>
                        </a:rPr>
                        <a:t>ラベル 9</a:t>
                      </a:r>
                      <a:endParaRPr sz="100"/>
                    </a:p>
                  </a:txBody>
                  <a:tcPr marT="108000" marR="90000" marB="108000" marL="9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marL="146050" indent="-146050">
                        <a:lnSpc>
                          <a:spcPts val="183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100000"/>
                        <a:buFont typeface="Yu Gothic"/>
                        <a:buChar char="•"/>
                      </a:pPr>
                      <a:r>
                        <a:rPr sz="1150" b="0" i="0">
                          <a:solidFill>
                            <a:srgbClr val="1F1F1F"/>
                          </a:solidFill>
                          <a:latin typeface="Yu Gothic"/>
                          <a:ea typeface="Yu Gothic"/>
                          <a:cs typeface="Yu Gothic"/>
                        </a:rPr>
                        <a:t>Text 3</a:t>
                      </a:r>
                      <a:endParaRPr sz="100"/>
                    </a:p>
                    <a:p>
                      <a:pPr algn="l" marL="146050" indent="-146050">
                        <a:lnSpc>
                          <a:spcPts val="183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100000"/>
                        <a:buFont typeface="Yu Gothic"/>
                        <a:buChar char="•"/>
                      </a:pPr>
                      <a:r>
                        <a:rPr sz="1150" b="0" i="0">
                          <a:solidFill>
                            <a:srgbClr val="1F1F1F"/>
                          </a:solidFill>
                          <a:latin typeface="Yu Gothic"/>
                          <a:ea typeface="Yu Gothic"/>
                          <a:cs typeface="Yu Gothic"/>
                        </a:rPr>
                        <a:t>Text 4</a:t>
                      </a:r>
                    </a:p>
                  </a:txBody>
                  <a:tcPr marT="108000" marR="90000" marB="108000" marL="9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759321">
                <a:tc>
                  <a:txBody>
                    <a:bodyPr wrap="square"/>
                    <a:lstStyle/>
                    <a:p>
                      <a:pPr algn="l">
                        <a:lnSpc>
                          <a:spcPts val="16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4D4D4D"/>
                          </a:solidFill>
                          <a:latin typeface="Yu Mincho"/>
                          <a:ea typeface="Yu Mincho"/>
                          <a:cs typeface="Yu Mincho"/>
                        </a:rPr>
                        <a:t>ラベル 11</a:t>
                      </a:r>
                      <a:endParaRPr sz="100"/>
                    </a:p>
                  </a:txBody>
                  <a:tcPr marT="108000" marR="90000" marB="108000" marL="90000" anchor="ctr">
                    <a:lnL w="0">
                      <a:noFill/>
                    </a:lnL>
                    <a:lnR w="9525">
                      <a:solidFill>
                        <a:srgbClr val="262626"/>
                      </a:solidFill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66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F1F1F"/>
                          </a:solidFill>
                          <a:latin typeface="Yu Gothic"/>
                          <a:ea typeface="Yu Gothic"/>
                          <a:cs typeface="Yu Gothic"/>
                        </a:rPr>
                        <a:t>Text 3</a:t>
                      </a:r>
                      <a:endParaRPr sz="100"/>
                    </a:p>
                  </a:txBody>
                  <a:tcPr marT="108000" marR="90000" marB="108000" marL="9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66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F1F1F"/>
                          </a:solidFill>
                          <a:latin typeface="Yu Gothic"/>
                          <a:ea typeface="Yu Gothic"/>
                          <a:cs typeface="Yu Gothic"/>
                        </a:rPr>
                        <a:t>ラベル 12</a:t>
                      </a:r>
                      <a:endParaRPr sz="100"/>
                    </a:p>
                  </a:txBody>
                  <a:tcPr marT="108000" marR="90000" marB="108000" marL="9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marL="146050" indent="-146050">
                        <a:lnSpc>
                          <a:spcPts val="183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100000"/>
                        <a:buFont typeface="Yu Gothic"/>
                        <a:buChar char="•"/>
                      </a:pPr>
                      <a:r>
                        <a:rPr sz="1150" b="0" i="0">
                          <a:solidFill>
                            <a:srgbClr val="1F1F1F"/>
                          </a:solidFill>
                          <a:latin typeface="Yu Gothic"/>
                          <a:ea typeface="Yu Gothic"/>
                          <a:cs typeface="Yu Gothic"/>
                        </a:rPr>
                        <a:t>Text 5</a:t>
                      </a:r>
                      <a:endParaRPr sz="100"/>
                    </a:p>
                    <a:p>
                      <a:pPr algn="l" marL="146050" indent="-146050">
                        <a:lnSpc>
                          <a:spcPts val="183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100000"/>
                        <a:buFont typeface="Yu Gothic"/>
                        <a:buChar char="•"/>
                      </a:pPr>
                      <a:r>
                        <a:rPr sz="1150" b="0" i="0">
                          <a:solidFill>
                            <a:srgbClr val="1F1F1F"/>
                          </a:solidFill>
                          <a:latin typeface="Yu Gothic"/>
                          <a:ea typeface="Yu Gothic"/>
                          <a:cs typeface="Yu Gothic"/>
                        </a:rPr>
                        <a:t>Text 6</a:t>
                      </a:r>
                    </a:p>
                  </a:txBody>
                  <a:tcPr marT="108000" marR="90000" marB="108000" marL="9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201513" y="271314"/>
            <a:ext cx="1356205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パーツ09｜軸のある表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201513" y="505271"/>
            <a:ext cx="1265503" cy="2857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9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F1F1F"/>
                </a:solidFill>
                <a:latin typeface="Yu Mincho"/>
                <a:ea typeface="Yu Mincho"/>
                <a:cs typeface="Yu Mincho"/>
              </a:rPr>
              <a:t>軸のある表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513" y="6274743"/>
            <a:ext cx="80177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4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出所）Source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25746" y="6567488"/>
            <a:ext cx="8638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01513" y="619125"/>
            <a:ext cx="11788974" cy="0"/>
          </a:xfrm>
          <a:prstGeom prst="line">
            <a:avLst/>
          </a:prstGeom>
          <a:ln w="9525">
            <a:solidFill>
              <a:srgbClr val="262626"/>
            </a:solidFill>
          </a:ln>
        </p:spPr>
      </p:cxnSp>
      <p:sp>
        <p:nvSpPr>
          <p:cNvPr id="3" name="TextBox 2"/>
          <p:cNvSpPr txBox="1"/>
          <p:nvPr/>
        </p:nvSpPr>
        <p:spPr>
          <a:xfrm>
            <a:off x="201513" y="270421"/>
            <a:ext cx="1148334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262626"/>
                </a:solidFill>
                <a:latin typeface="Yu Mincho"/>
                <a:ea typeface="Yu Mincho"/>
                <a:cs typeface="Yu Mincho"/>
              </a:rPr>
              <a:t>パーツ一覧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69551" y="420886"/>
            <a:ext cx="872823" cy="114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パーツ10｜裏表紙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513" y="2802880"/>
            <a:ext cx="890623" cy="3048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62626"/>
                </a:solidFill>
                <a:latin typeface="Yu Mincho"/>
                <a:ea typeface="Yu Mincho"/>
                <a:cs typeface="Yu Mincho"/>
              </a:rPr>
              <a:t>会社名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513" y="3250406"/>
            <a:ext cx="613410" cy="2095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4D4D4D"/>
                </a:solidFill>
                <a:latin typeface="Yu Mincho"/>
                <a:ea typeface="Yu Mincho"/>
                <a:cs typeface="Yu Mincho"/>
              </a:rPr>
              <a:t>連絡先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513" y="6575078"/>
            <a:ext cx="552117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62626"/>
                </a:solidFill>
                <a:latin typeface="Yu Gothic"/>
                <a:ea typeface="Yu Gothic"/>
                <a:cs typeface="Yu Gothic"/>
              </a:rPr>
              <a:t>パーツ一覧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01513" y="1326803"/>
            <a:ext cx="11788974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sp>
        <p:nvSpPr>
          <p:cNvPr id="3" name="Rectangle 2"/>
          <p:cNvSpPr/>
          <p:nvPr/>
        </p:nvSpPr>
        <p:spPr>
          <a:xfrm>
            <a:off x="201513" y="1484561"/>
            <a:ext cx="2231975" cy="1881039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4" name="Connector 3"/>
          <p:cNvCxnSpPr/>
          <p:nvPr/>
        </p:nvCxnSpPr>
        <p:spPr>
          <a:xfrm>
            <a:off x="2721471" y="1795165"/>
            <a:ext cx="9269016" cy="0"/>
          </a:xfrm>
          <a:prstGeom prst="line">
            <a:avLst/>
          </a:prstGeom>
          <a:ln w="9525">
            <a:solidFill>
              <a:srgbClr val="262626"/>
            </a:solidFill>
          </a:ln>
        </p:spPr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21471" y="1925836"/>
          <a:ext cx="9269016" cy="1439764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1624459"/>
                <a:gridCol w="1120527"/>
                <a:gridCol w="6524030"/>
              </a:tblGrid>
              <a:tr h="478334">
                <a:tc>
                  <a:txBody>
                    <a:bodyPr wrap="square"/>
                    <a:lstStyle/>
                    <a:p>
                      <a:pPr algn="l">
                        <a:lnSpc>
                          <a:spcPts val="16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4D4D4D"/>
                          </a:solidFill>
                          <a:latin typeface="Yu Mincho"/>
                          <a:ea typeface="Yu Mincho"/>
                          <a:cs typeface="Yu Mincho"/>
                        </a:rPr>
                        <a:t>ラベル 7</a:t>
                      </a:r>
                      <a:endParaRPr sz="100"/>
                    </a:p>
                  </a:txBody>
                  <a:tcPr marT="108000" marR="90000" marB="108000" marL="90000" anchor="ctr">
                    <a:lnL w="0">
                      <a:noFill/>
                    </a:lnL>
                    <a:lnR w="9525">
                      <a:solidFill>
                        <a:srgbClr val="262626"/>
                      </a:solidFill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03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262626"/>
                          </a:solidFill>
                          <a:latin typeface="Yu Gothic"/>
                          <a:ea typeface="Yu Gothic"/>
                          <a:cs typeface="Yu Gothic"/>
                        </a:rPr>
                        <a:t>ラベル 8</a:t>
                      </a:r>
                      <a:endParaRPr sz="100"/>
                    </a:p>
                  </a:txBody>
                  <a:tcPr marT="108000" marR="90000" marB="108000" marL="9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66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F1F1F"/>
                          </a:solidFill>
                          <a:latin typeface="Yu Gothic"/>
                          <a:ea typeface="Yu Gothic"/>
                          <a:cs typeface="Yu Gothic"/>
                        </a:rPr>
                        <a:t>Text 1</a:t>
                      </a:r>
                      <a:endParaRPr sz="100"/>
                    </a:p>
                  </a:txBody>
                  <a:tcPr marT="108000" marR="90000" marB="108000" marL="9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483096">
                <a:tc>
                  <a:txBody>
                    <a:bodyPr wrap="square"/>
                    <a:lstStyle/>
                    <a:p>
                      <a:pPr algn="l">
                        <a:lnSpc>
                          <a:spcPts val="16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4D4D4D"/>
                          </a:solidFill>
                          <a:latin typeface="Yu Mincho"/>
                          <a:ea typeface="Yu Mincho"/>
                          <a:cs typeface="Yu Mincho"/>
                        </a:rPr>
                        <a:t>ラベル 9</a:t>
                      </a:r>
                      <a:endParaRPr sz="100"/>
                    </a:p>
                  </a:txBody>
                  <a:tcPr marT="108000" marR="90000" marB="108000" marL="90000" anchor="ctr">
                    <a:lnL w="0">
                      <a:noFill/>
                    </a:lnL>
                    <a:lnR w="9525">
                      <a:solidFill>
                        <a:srgbClr val="262626"/>
                      </a:solidFill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03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262626"/>
                          </a:solidFill>
                          <a:latin typeface="Yu Gothic"/>
                          <a:ea typeface="Yu Gothic"/>
                          <a:cs typeface="Yu Gothic"/>
                        </a:rPr>
                        <a:t>ラベル 10</a:t>
                      </a:r>
                      <a:endParaRPr sz="100"/>
                    </a:p>
                  </a:txBody>
                  <a:tcPr marT="108000" marR="90000" marB="108000" marL="9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66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F1F1F"/>
                          </a:solidFill>
                          <a:latin typeface="Yu Gothic"/>
                          <a:ea typeface="Yu Gothic"/>
                          <a:cs typeface="Yu Gothic"/>
                        </a:rPr>
                        <a:t>Text 2</a:t>
                      </a:r>
                      <a:endParaRPr sz="100"/>
                    </a:p>
                  </a:txBody>
                  <a:tcPr marT="108000" marR="90000" marB="108000" marL="9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478334">
                <a:tc>
                  <a:txBody>
                    <a:bodyPr wrap="square"/>
                    <a:lstStyle/>
                    <a:p>
                      <a:pPr algn="l">
                        <a:lnSpc>
                          <a:spcPts val="16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4D4D4D"/>
                          </a:solidFill>
                          <a:latin typeface="Yu Mincho"/>
                          <a:ea typeface="Yu Mincho"/>
                          <a:cs typeface="Yu Mincho"/>
                        </a:rPr>
                        <a:t>ラベル 11</a:t>
                      </a:r>
                      <a:endParaRPr sz="100"/>
                    </a:p>
                  </a:txBody>
                  <a:tcPr marT="108000" marR="90000" marB="108000" marL="90000" anchor="ctr">
                    <a:lnL w="0">
                      <a:noFill/>
                    </a:lnL>
                    <a:lnR w="9525">
                      <a:solidFill>
                        <a:srgbClr val="262626"/>
                      </a:solidFill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03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262626"/>
                          </a:solidFill>
                          <a:latin typeface="Yu Gothic"/>
                          <a:ea typeface="Yu Gothic"/>
                          <a:cs typeface="Yu Gothic"/>
                        </a:rPr>
                        <a:t>ラベル 12</a:t>
                      </a:r>
                      <a:endParaRPr sz="100"/>
                    </a:p>
                  </a:txBody>
                  <a:tcPr marT="108000" marR="90000" marB="108000" marL="9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66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F1F1F"/>
                          </a:solidFill>
                          <a:latin typeface="Yu Gothic"/>
                          <a:ea typeface="Yu Gothic"/>
                          <a:cs typeface="Yu Gothic"/>
                        </a:rPr>
                        <a:t>Text 3</a:t>
                      </a:r>
                      <a:endParaRPr sz="100"/>
                    </a:p>
                  </a:txBody>
                  <a:tcPr marT="108000" marR="90000" marB="108000" marL="9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201513" y="271314"/>
            <a:ext cx="1578471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パーツ11｜主張パネル＋図</a:t>
            </a:r>
          </a:p>
        </p:txBody>
      </p:sp>
      <p:sp>
        <p:nvSpPr>
          <p:cNvPr id="7" name="Title"/>
          <p:cNvSpPr txBox="1"/>
          <p:nvPr/>
        </p:nvSpPr>
        <p:spPr>
          <a:xfrm>
            <a:off x="201513" y="505271"/>
            <a:ext cx="1783092" cy="2857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9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F1F1F"/>
                </a:solidFill>
                <a:latin typeface="Yu Mincho"/>
                <a:ea typeface="Yu Mincho"/>
                <a:cs typeface="Yu Mincho"/>
              </a:rPr>
              <a:t>主張パネル＋図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7463" y="1681460"/>
            <a:ext cx="190702" cy="3619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A6A6A6"/>
                </a:solidFill>
                <a:latin typeface="Yu Mincho"/>
                <a:ea typeface="Yu Mincho"/>
                <a:cs typeface="Yu Mincho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7463" y="2084636"/>
            <a:ext cx="1068312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39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A6A6A6"/>
                </a:solidFill>
                <a:latin typeface="Yu Gothic"/>
                <a:ea typeface="Yu Gothic"/>
                <a:cs typeface="Yu Gothic"/>
              </a:rPr>
              <a:t>ラベル 1（区分名）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7463" y="2437954"/>
            <a:ext cx="1846127" cy="4756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9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Yu Mincho"/>
                <a:ea typeface="Yu Mincho"/>
                <a:cs typeface="Yu Mincho"/>
              </a:rPr>
              <a:t>Text 1（この1枚の主張を1文で）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21471" y="1525191"/>
            <a:ext cx="593443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62626"/>
                </a:solidFill>
                <a:latin typeface="Yu Mincho"/>
                <a:ea typeface="Yu Mincho"/>
                <a:cs typeface="Yu Mincho"/>
              </a:rPr>
              <a:t>指標名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25473" y="1597521"/>
            <a:ext cx="1126665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単位、YYYY〜YYYY年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513" y="6274743"/>
            <a:ext cx="80177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4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出所）Source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919645" y="6567488"/>
            <a:ext cx="92726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01513" y="1326803"/>
            <a:ext cx="11788974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sp>
        <p:nvSpPr>
          <p:cNvPr id="3" name="Rectangle 2"/>
          <p:cNvSpPr/>
          <p:nvPr/>
        </p:nvSpPr>
        <p:spPr>
          <a:xfrm>
            <a:off x="10411420" y="1484561"/>
            <a:ext cx="143917" cy="143917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11314509" y="1484561"/>
            <a:ext cx="143917" cy="143917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txBody>
          <a:bodyPr rtlCol="0" anchor="ctr"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01513" y="1808411"/>
          <a:ext cx="11788973" cy="2692897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2195661"/>
                <a:gridCol w="2195661"/>
                <a:gridCol w="7397651"/>
              </a:tblGrid>
              <a:tr h="405408">
                <a:tc>
                  <a:txBody>
                    <a:bodyPr wrap="square"/>
                    <a:lstStyle/>
                    <a:p>
                      <a:pPr algn="l">
                        <a:lnSpc>
                          <a:spcPts val="173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1" i="0">
                          <a:solidFill>
                            <a:srgbClr val="262626"/>
                          </a:solidFill>
                          <a:latin typeface="Yu Gothic"/>
                          <a:ea typeface="Yu Gothic"/>
                          <a:cs typeface="Yu Gothic"/>
                        </a:rPr>
                        <a:t>打ち手</a:t>
                      </a:r>
                      <a:endParaRPr sz="100"/>
                    </a:p>
                  </a:txBody>
                  <a:tcPr marT="90000" marR="90000" marB="90000" marL="9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626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73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1" i="0">
                          <a:solidFill>
                            <a:srgbClr val="262626"/>
                          </a:solidFill>
                          <a:latin typeface="Yu Gothic"/>
                          <a:ea typeface="Yu Gothic"/>
                          <a:cs typeface="Yu Gothic"/>
                        </a:rPr>
                        <a:t>効果の幅（単位）</a:t>
                      </a:r>
                      <a:endParaRPr sz="100"/>
                    </a:p>
                  </a:txBody>
                  <a:tcPr marT="90000" marR="90000" marB="90000" marL="9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626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73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1" i="0">
                          <a:solidFill>
                            <a:srgbClr val="262626"/>
                          </a:solidFill>
                          <a:latin typeface="Yu Gothic"/>
                          <a:ea typeface="Yu Gothic"/>
                          <a:cs typeface="Yu Gothic"/>
                        </a:rPr>
                        <a:t>前提・制約</a:t>
                      </a:r>
                      <a:endParaRPr sz="100"/>
                    </a:p>
                  </a:txBody>
                  <a:tcPr marT="90000" marR="90000" marB="90000" marL="9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62626"/>
                      </a:solidFill>
                    </a:lnB>
                    <a:noFill/>
                  </a:tcPr>
                </a:tc>
              </a:tr>
              <a:tr h="764084">
                <a:tc>
                  <a:txBody>
                    <a:bodyPr wrap="square"/>
                    <a:lstStyle/>
                    <a:p>
                      <a:pPr algn="l">
                        <a:lnSpc>
                          <a:spcPts val="16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4D4D4D"/>
                          </a:solidFill>
                          <a:latin typeface="Yu Mincho"/>
                          <a:ea typeface="Yu Mincho"/>
                          <a:cs typeface="Yu Mincho"/>
                        </a:rPr>
                        <a:t>ラベル 2</a:t>
                      </a:r>
                      <a:endParaRPr sz="100"/>
                    </a:p>
                  </a:txBody>
                  <a:tcPr marT="108000" marR="90000" marB="108000" marL="90000" anchor="ctr">
                    <a:lnL w="0">
                      <a:noFill/>
                    </a:lnL>
                    <a:lnR w="9525">
                      <a:solidFill>
                        <a:srgbClr val="262626"/>
                      </a:solidFill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endParaRPr sz="800"/>
                    </a:p>
                  </a:txBody>
                  <a:tcPr marT="108000" marR="90000" marB="108000" marL="9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marL="146050" indent="-146050">
                        <a:lnSpc>
                          <a:spcPts val="183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100000"/>
                        <a:buFont typeface="Yu Gothic"/>
                        <a:buChar char="•"/>
                      </a:pPr>
                      <a:r>
                        <a:rPr sz="1150" b="0" i="0">
                          <a:solidFill>
                            <a:srgbClr val="1F1F1F"/>
                          </a:solidFill>
                          <a:latin typeface="Yu Gothic"/>
                          <a:ea typeface="Yu Gothic"/>
                          <a:cs typeface="Yu Gothic"/>
                        </a:rPr>
                        <a:t>Text 1</a:t>
                      </a:r>
                      <a:endParaRPr sz="100"/>
                    </a:p>
                    <a:p>
                      <a:pPr algn="l" marL="146050" indent="-146050">
                        <a:lnSpc>
                          <a:spcPts val="183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100000"/>
                        <a:buFont typeface="Yu Gothic"/>
                        <a:buChar char="•"/>
                      </a:pPr>
                      <a:r>
                        <a:rPr sz="1150" b="0" i="0">
                          <a:solidFill>
                            <a:srgbClr val="1F1F1F"/>
                          </a:solidFill>
                          <a:latin typeface="Yu Gothic"/>
                          <a:ea typeface="Yu Gothic"/>
                          <a:cs typeface="Yu Gothic"/>
                        </a:rPr>
                        <a:t>Text 2</a:t>
                      </a:r>
                    </a:p>
                  </a:txBody>
                  <a:tcPr marT="108000" marR="90000" marB="108000" marL="9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764084">
                <a:tc>
                  <a:txBody>
                    <a:bodyPr wrap="square"/>
                    <a:lstStyle/>
                    <a:p>
                      <a:pPr algn="l">
                        <a:lnSpc>
                          <a:spcPts val="16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4D4D4D"/>
                          </a:solidFill>
                          <a:latin typeface="Yu Mincho"/>
                          <a:ea typeface="Yu Mincho"/>
                          <a:cs typeface="Yu Mincho"/>
                        </a:rPr>
                        <a:t>ラベル 5</a:t>
                      </a:r>
                      <a:endParaRPr sz="100"/>
                    </a:p>
                  </a:txBody>
                  <a:tcPr marT="108000" marR="90000" marB="108000" marL="90000" anchor="ctr">
                    <a:lnL w="0">
                      <a:noFill/>
                    </a:lnL>
                    <a:lnR w="9525">
                      <a:solidFill>
                        <a:srgbClr val="262626"/>
                      </a:solidFill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endParaRPr sz="800"/>
                    </a:p>
                  </a:txBody>
                  <a:tcPr marT="108000" marR="90000" marB="108000" marL="9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marL="146050" indent="-146050">
                        <a:lnSpc>
                          <a:spcPts val="183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100000"/>
                        <a:buFont typeface="Yu Gothic"/>
                        <a:buChar char="•"/>
                      </a:pPr>
                      <a:r>
                        <a:rPr sz="1150" b="0" i="0">
                          <a:solidFill>
                            <a:srgbClr val="1F1F1F"/>
                          </a:solidFill>
                          <a:latin typeface="Yu Gothic"/>
                          <a:ea typeface="Yu Gothic"/>
                          <a:cs typeface="Yu Gothic"/>
                        </a:rPr>
                        <a:t>Text 3</a:t>
                      </a:r>
                      <a:endParaRPr sz="100"/>
                    </a:p>
                    <a:p>
                      <a:pPr algn="l" marL="146050" indent="-146050">
                        <a:lnSpc>
                          <a:spcPts val="183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100000"/>
                        <a:buFont typeface="Yu Gothic"/>
                        <a:buChar char="•"/>
                      </a:pPr>
                      <a:r>
                        <a:rPr sz="1150" b="0" i="0">
                          <a:solidFill>
                            <a:srgbClr val="1F1F1F"/>
                          </a:solidFill>
                          <a:latin typeface="Yu Gothic"/>
                          <a:ea typeface="Yu Gothic"/>
                          <a:cs typeface="Yu Gothic"/>
                        </a:rPr>
                        <a:t>Text 4</a:t>
                      </a:r>
                    </a:p>
                  </a:txBody>
                  <a:tcPr marT="108000" marR="90000" marB="108000" marL="9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759321">
                <a:tc>
                  <a:txBody>
                    <a:bodyPr wrap="square"/>
                    <a:lstStyle/>
                    <a:p>
                      <a:pPr algn="l">
                        <a:lnSpc>
                          <a:spcPts val="16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4D4D4D"/>
                          </a:solidFill>
                          <a:latin typeface="Yu Mincho"/>
                          <a:ea typeface="Yu Mincho"/>
                          <a:cs typeface="Yu Mincho"/>
                        </a:rPr>
                        <a:t>ラベル 8</a:t>
                      </a:r>
                      <a:endParaRPr sz="100"/>
                    </a:p>
                  </a:txBody>
                  <a:tcPr marT="108000" marR="90000" marB="108000" marL="90000" anchor="ctr">
                    <a:lnL w="0">
                      <a:noFill/>
                    </a:lnL>
                    <a:lnR w="9525">
                      <a:solidFill>
                        <a:srgbClr val="262626"/>
                      </a:solidFill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endParaRPr sz="800"/>
                    </a:p>
                  </a:txBody>
                  <a:tcPr marT="108000" marR="90000" marB="108000" marL="9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marL="146050" indent="-146050">
                        <a:lnSpc>
                          <a:spcPts val="183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100000"/>
                        <a:buFont typeface="Yu Gothic"/>
                        <a:buChar char="•"/>
                      </a:pPr>
                      <a:r>
                        <a:rPr sz="1150" b="0" i="0">
                          <a:solidFill>
                            <a:srgbClr val="1F1F1F"/>
                          </a:solidFill>
                          <a:latin typeface="Yu Gothic"/>
                          <a:ea typeface="Yu Gothic"/>
                          <a:cs typeface="Yu Gothic"/>
                        </a:rPr>
                        <a:t>Text 5</a:t>
                      </a:r>
                      <a:endParaRPr sz="100"/>
                    </a:p>
                    <a:p>
                      <a:pPr algn="l" marL="146050" indent="-146050">
                        <a:lnSpc>
                          <a:spcPts val="183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100000"/>
                        <a:buFont typeface="Yu Gothic"/>
                        <a:buChar char="•"/>
                      </a:pPr>
                      <a:r>
                        <a:rPr sz="1150" b="0" i="0">
                          <a:solidFill>
                            <a:srgbClr val="1F1F1F"/>
                          </a:solidFill>
                          <a:latin typeface="Yu Gothic"/>
                          <a:ea typeface="Yu Gothic"/>
                          <a:cs typeface="Yu Gothic"/>
                        </a:rPr>
                        <a:t>Text 6</a:t>
                      </a:r>
                    </a:p>
                  </a:txBody>
                  <a:tcPr marT="108000" marR="90000" marB="108000" marL="9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Freeform 5"/>
          <p:cNvSpPr/>
          <p:nvPr/>
        </p:nvSpPr>
        <p:spPr>
          <a:xfrm>
            <a:off x="2491829" y="2496889"/>
            <a:ext cx="1716733" cy="197942"/>
          </a:xfrm>
          <a:custGeom>
            <a:avLst/>
            <a:gdLst/>
            <a:ahLst/>
            <a:cxnLst/>
            <a:rect l="l" t="t" r="r" b="b"/>
            <a:pathLst>
              <a:path w="1716733" h="197942">
                <a:moveTo>
                  <a:pt x="0" y="0"/>
                </a:moveTo>
                <a:lnTo>
                  <a:pt x="1572733" y="0"/>
                </a:lnTo>
                <a:lnTo>
                  <a:pt x="1716733" y="98971"/>
                </a:lnTo>
                <a:lnTo>
                  <a:pt x="1572733" y="197942"/>
                </a:lnTo>
                <a:lnTo>
                  <a:pt x="0" y="197942"/>
                </a:lnTo>
                <a:close/>
              </a:path>
            </a:pathLst>
          </a:cu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Freeform 6"/>
          <p:cNvSpPr/>
          <p:nvPr/>
        </p:nvSpPr>
        <p:spPr>
          <a:xfrm>
            <a:off x="2491829" y="3260973"/>
            <a:ext cx="1213991" cy="197941"/>
          </a:xfrm>
          <a:custGeom>
            <a:avLst/>
            <a:gdLst/>
            <a:ahLst/>
            <a:cxnLst/>
            <a:rect l="l" t="t" r="r" b="b"/>
            <a:pathLst>
              <a:path w="1213991" h="197941">
                <a:moveTo>
                  <a:pt x="0" y="0"/>
                </a:moveTo>
                <a:lnTo>
                  <a:pt x="1069991" y="0"/>
                </a:lnTo>
                <a:lnTo>
                  <a:pt x="1213991" y="98971"/>
                </a:lnTo>
                <a:lnTo>
                  <a:pt x="1069991" y="197941"/>
                </a:lnTo>
                <a:lnTo>
                  <a:pt x="0" y="197941"/>
                </a:lnTo>
                <a:close/>
              </a:path>
            </a:pathLst>
          </a:cu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Freeform 7"/>
          <p:cNvSpPr/>
          <p:nvPr/>
        </p:nvSpPr>
        <p:spPr>
          <a:xfrm>
            <a:off x="2491829" y="4025057"/>
            <a:ext cx="871984" cy="197941"/>
          </a:xfrm>
          <a:custGeom>
            <a:avLst/>
            <a:gdLst/>
            <a:ahLst/>
            <a:cxnLst/>
            <a:rect l="l" t="t" r="r" b="b"/>
            <a:pathLst>
              <a:path w="871984" h="197941">
                <a:moveTo>
                  <a:pt x="0" y="0"/>
                </a:moveTo>
                <a:lnTo>
                  <a:pt x="727984" y="0"/>
                </a:lnTo>
                <a:lnTo>
                  <a:pt x="871984" y="98970"/>
                </a:lnTo>
                <a:lnTo>
                  <a:pt x="727984" y="197941"/>
                </a:lnTo>
                <a:lnTo>
                  <a:pt x="0" y="197941"/>
                </a:lnTo>
                <a:close/>
              </a:path>
            </a:pathLst>
          </a:custGeom>
          <a:solidFill>
            <a:srgbClr val="BFBFB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201513" y="271314"/>
            <a:ext cx="1628775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パーツ12｜打ち手の効果表</a:t>
            </a:r>
          </a:p>
        </p:txBody>
      </p:sp>
      <p:sp>
        <p:nvSpPr>
          <p:cNvPr id="10" name="Title"/>
          <p:cNvSpPr txBox="1"/>
          <p:nvPr/>
        </p:nvSpPr>
        <p:spPr>
          <a:xfrm>
            <a:off x="201513" y="505271"/>
            <a:ext cx="1825347" cy="2857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9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F1F1F"/>
                </a:solidFill>
                <a:latin typeface="Yu Mincho"/>
                <a:ea typeface="Yu Mincho"/>
                <a:cs typeface="Yu Mincho"/>
              </a:rPr>
              <a:t>打ち手の効果表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9213" y="1486049"/>
            <a:ext cx="527971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増やす方向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512302" y="1486049"/>
            <a:ext cx="516362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減らす方向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99730" y="2522488"/>
            <a:ext cx="548866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05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＋00〜00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99730" y="3286571"/>
            <a:ext cx="548866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05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＋00〜00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99730" y="4050655"/>
            <a:ext cx="26004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05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262626"/>
                </a:solidFill>
                <a:latin typeface="Yu Gothic"/>
                <a:ea typeface="Yu Gothic"/>
                <a:cs typeface="Yu Gothic"/>
              </a:rPr>
              <a:t>−00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513" y="6274743"/>
            <a:ext cx="80177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4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出所）Source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919496" y="6567488"/>
            <a:ext cx="92881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01513" y="1326803"/>
            <a:ext cx="11788974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sp>
        <p:nvSpPr>
          <p:cNvPr id="3" name="Rectangle 2"/>
          <p:cNvSpPr/>
          <p:nvPr/>
        </p:nvSpPr>
        <p:spPr>
          <a:xfrm>
            <a:off x="9396115" y="1484561"/>
            <a:ext cx="143917" cy="143917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10265718" y="1484561"/>
            <a:ext cx="143917" cy="143917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0882461" y="1484561"/>
            <a:ext cx="143917" cy="143917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11589693" y="1484561"/>
            <a:ext cx="143917" cy="143917"/>
          </a:xfrm>
          <a:prstGeom prst="rect">
            <a:avLst/>
          </a:prstGeom>
          <a:solidFill>
            <a:srgbClr val="B3261E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7" name="Connector 6"/>
          <p:cNvCxnSpPr/>
          <p:nvPr/>
        </p:nvCxnSpPr>
        <p:spPr>
          <a:xfrm>
            <a:off x="201513" y="2119015"/>
            <a:ext cx="6193036" cy="0"/>
          </a:xfrm>
          <a:prstGeom prst="line">
            <a:avLst/>
          </a:prstGeom>
          <a:ln w="9525">
            <a:solidFill>
              <a:srgbClr val="262626"/>
            </a:solidFill>
          </a:ln>
        </p:spPr>
      </p:cxn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01513" y="2249686"/>
          <a:ext cx="6193036" cy="2165153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2550021"/>
                <a:gridCol w="1821359"/>
                <a:gridCol w="1821656"/>
              </a:tblGrid>
              <a:tr h="346472">
                <a:tc>
                  <a:txBody>
                    <a:bodyPr wrap="square"/>
                    <a:lstStyle/>
                    <a:p>
                      <a:pPr algn="l">
                        <a:lnSpc>
                          <a:spcPts val="156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262626"/>
                          </a:solidFill>
                          <a:latin typeface="Yu Gothic"/>
                          <a:ea typeface="Yu Gothic"/>
                          <a:cs typeface="Yu Gothic"/>
                        </a:rPr>
                        <a:t>指標カテゴリー</a:t>
                      </a:r>
                      <a:endParaRPr sz="100"/>
                    </a:p>
                  </a:txBody>
                  <a:tcPr marT="72000" marR="72000" marB="72000" marL="72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626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56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262626"/>
                          </a:solidFill>
                          <a:latin typeface="Yu Gothic"/>
                          <a:ea typeface="Yu Gothic"/>
                          <a:cs typeface="Yu Gothic"/>
                        </a:rPr>
                        <a:t>前月比</a:t>
                      </a:r>
                      <a:endParaRPr sz="100"/>
                    </a:p>
                  </a:txBody>
                  <a:tcPr marT="72000" marR="72000" marB="72000" marL="72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626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56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262626"/>
                          </a:solidFill>
                          <a:latin typeface="Yu Gothic"/>
                          <a:ea typeface="Yu Gothic"/>
                          <a:cs typeface="Yu Gothic"/>
                        </a:rPr>
                        <a:t>前年比</a:t>
                      </a:r>
                      <a:endParaRPr sz="100"/>
                    </a:p>
                  </a:txBody>
                  <a:tcPr marT="72000" marR="72000" marB="72000" marL="72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62626"/>
                      </a:solidFill>
                    </a:lnB>
                    <a:noFill/>
                  </a:tcPr>
                </a:tc>
              </a:tr>
              <a:tr h="455861">
                <a:tc>
                  <a:txBody>
                    <a:bodyPr wrap="square"/>
                    <a:lstStyle/>
                    <a:p>
                      <a:pPr algn="l">
                        <a:lnSpc>
                          <a:spcPts val="16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4D4D4D"/>
                          </a:solidFill>
                          <a:latin typeface="Yu Mincho"/>
                          <a:ea typeface="Yu Mincho"/>
                          <a:cs typeface="Yu Mincho"/>
                        </a:rPr>
                        <a:t>ラベル 1</a:t>
                      </a:r>
                      <a:endParaRPr sz="100"/>
                    </a:p>
                  </a:txBody>
                  <a:tcPr marT="79200" marR="90000" marB="79200" marL="90000" anchor="ctr">
                    <a:lnL w="0">
                      <a:noFill/>
                    </a:lnL>
                    <a:lnR w="9525">
                      <a:solidFill>
                        <a:srgbClr val="262626"/>
                      </a:solidFill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endParaRPr sz="800"/>
                    </a:p>
                  </a:txBody>
                  <a:tcPr marT="79200" marR="90000" marB="79200" marL="9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endParaRPr sz="800"/>
                    </a:p>
                  </a:txBody>
                  <a:tcPr marT="79200" marR="90000" marB="79200" marL="9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</a:tr>
              <a:tr h="455861">
                <a:tc>
                  <a:txBody>
                    <a:bodyPr wrap="square"/>
                    <a:lstStyle/>
                    <a:p>
                      <a:pPr algn="l">
                        <a:lnSpc>
                          <a:spcPts val="16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4D4D4D"/>
                          </a:solidFill>
                          <a:latin typeface="Yu Mincho"/>
                          <a:ea typeface="Yu Mincho"/>
                          <a:cs typeface="Yu Mincho"/>
                        </a:rPr>
                        <a:t>ラベル 2</a:t>
                      </a:r>
                      <a:endParaRPr sz="100"/>
                    </a:p>
                  </a:txBody>
                  <a:tcPr marT="79200" marR="90000" marB="79200" marL="90000" anchor="ctr">
                    <a:lnL w="0">
                      <a:noFill/>
                    </a:lnL>
                    <a:lnR w="9525">
                      <a:solidFill>
                        <a:srgbClr val="262626"/>
                      </a:solidFill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endParaRPr sz="800"/>
                    </a:p>
                  </a:txBody>
                  <a:tcPr marT="79200" marR="90000" marB="79200" marL="9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endParaRPr sz="800"/>
                    </a:p>
                  </a:txBody>
                  <a:tcPr marT="79200" marR="90000" marB="79200" marL="9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</a:tr>
              <a:tr h="455861">
                <a:tc>
                  <a:txBody>
                    <a:bodyPr wrap="square"/>
                    <a:lstStyle/>
                    <a:p>
                      <a:pPr algn="l">
                        <a:lnSpc>
                          <a:spcPts val="16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4D4D4D"/>
                          </a:solidFill>
                          <a:latin typeface="Yu Mincho"/>
                          <a:ea typeface="Yu Mincho"/>
                          <a:cs typeface="Yu Mincho"/>
                        </a:rPr>
                        <a:t>ラベル 3</a:t>
                      </a:r>
                      <a:endParaRPr sz="100"/>
                    </a:p>
                  </a:txBody>
                  <a:tcPr marT="79200" marR="90000" marB="79200" marL="90000" anchor="ctr">
                    <a:lnL w="0">
                      <a:noFill/>
                    </a:lnL>
                    <a:lnR w="9525">
                      <a:solidFill>
                        <a:srgbClr val="262626"/>
                      </a:solidFill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endParaRPr sz="800"/>
                    </a:p>
                  </a:txBody>
                  <a:tcPr marT="79200" marR="90000" marB="79200" marL="9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endParaRPr sz="800"/>
                    </a:p>
                  </a:txBody>
                  <a:tcPr marT="79200" marR="90000" marB="79200" marL="9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</a:tr>
              <a:tr h="451098">
                <a:tc>
                  <a:txBody>
                    <a:bodyPr wrap="square"/>
                    <a:lstStyle/>
                    <a:p>
                      <a:pPr algn="l">
                        <a:lnSpc>
                          <a:spcPts val="16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4D4D4D"/>
                          </a:solidFill>
                          <a:latin typeface="Yu Mincho"/>
                          <a:ea typeface="Yu Mincho"/>
                          <a:cs typeface="Yu Mincho"/>
                        </a:rPr>
                        <a:t>ラベル 4</a:t>
                      </a:r>
                      <a:endParaRPr sz="100"/>
                    </a:p>
                  </a:txBody>
                  <a:tcPr marT="79200" marR="90000" marB="79200" marL="90000" anchor="ctr">
                    <a:lnL w="0">
                      <a:noFill/>
                    </a:lnL>
                    <a:lnR w="9525">
                      <a:solidFill>
                        <a:srgbClr val="262626"/>
                      </a:solidFill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endParaRPr sz="800"/>
                    </a:p>
                  </a:txBody>
                  <a:tcPr marT="79200" marR="90000" marB="79200" marL="9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endParaRPr sz="800"/>
                    </a:p>
                  </a:txBody>
                  <a:tcPr marT="79200" marR="90000" marB="79200" marL="9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2846189" y="2680097"/>
            <a:ext cx="1636812" cy="287982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4662785" y="2680097"/>
            <a:ext cx="1641872" cy="287982"/>
          </a:xfrm>
          <a:prstGeom prst="rect">
            <a:avLst/>
          </a:prstGeom>
          <a:solidFill>
            <a:srgbClr val="B326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2846189" y="3135957"/>
            <a:ext cx="1636812" cy="287982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4662785" y="3135957"/>
            <a:ext cx="1641872" cy="287982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2846189" y="3591818"/>
            <a:ext cx="1636812" cy="287982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4662785" y="3591818"/>
            <a:ext cx="1641872" cy="287982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2846189" y="4047679"/>
            <a:ext cx="1636812" cy="287982"/>
          </a:xfrm>
          <a:prstGeom prst="rect">
            <a:avLst/>
          </a:prstGeom>
          <a:solidFill>
            <a:srgbClr val="B326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4662785" y="4047679"/>
            <a:ext cx="1641872" cy="287982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7" name="Freeform 16"/>
          <p:cNvSpPr/>
          <p:nvPr/>
        </p:nvSpPr>
        <p:spPr>
          <a:xfrm>
            <a:off x="6610499" y="2940100"/>
            <a:ext cx="209550" cy="342900"/>
          </a:xfrm>
          <a:custGeom>
            <a:avLst/>
            <a:gdLst/>
            <a:ahLst/>
            <a:cxnLst/>
            <a:rect l="l" t="t" r="r" b="b"/>
            <a:pathLst>
              <a:path w="209550" h="342900">
                <a:moveTo>
                  <a:pt x="0" y="0"/>
                </a:moveTo>
                <a:lnTo>
                  <a:pt x="0" y="342900"/>
                </a:lnTo>
                <a:lnTo>
                  <a:pt x="209550" y="171450"/>
                </a:lnTo>
                <a:close/>
              </a:path>
            </a:pathLst>
          </a:custGeom>
          <a:solidFill>
            <a:srgbClr val="A6A6A6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18" name="Connector 17"/>
          <p:cNvCxnSpPr/>
          <p:nvPr/>
        </p:nvCxnSpPr>
        <p:spPr>
          <a:xfrm>
            <a:off x="7035998" y="2119015"/>
            <a:ext cx="4954489" cy="0"/>
          </a:xfrm>
          <a:prstGeom prst="line">
            <a:avLst/>
          </a:prstGeom>
          <a:ln w="9525">
            <a:solidFill>
              <a:srgbClr val="262626"/>
            </a:solidFill>
          </a:ln>
        </p:spPr>
      </p:cxnSp>
      <p:sp>
        <p:nvSpPr>
          <p:cNvPr id="19" name="TextBox 18"/>
          <p:cNvSpPr txBox="1"/>
          <p:nvPr/>
        </p:nvSpPr>
        <p:spPr>
          <a:xfrm>
            <a:off x="201513" y="271314"/>
            <a:ext cx="2384262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パーツ13｜状態ヒートマップ＋右コメント</a:t>
            </a:r>
          </a:p>
        </p:txBody>
      </p:sp>
      <p:sp>
        <p:nvSpPr>
          <p:cNvPr id="20" name="Title"/>
          <p:cNvSpPr txBox="1"/>
          <p:nvPr/>
        </p:nvSpPr>
        <p:spPr>
          <a:xfrm>
            <a:off x="201513" y="505271"/>
            <a:ext cx="3187732" cy="2857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9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F1F1F"/>
                </a:solidFill>
                <a:latin typeface="Yu Mincho"/>
                <a:ea typeface="Yu Mincho"/>
                <a:cs typeface="Yu Mincho"/>
              </a:rPr>
              <a:t>状態ヒートマップ＋右コメント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93907" y="1486049"/>
            <a:ext cx="493145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大きく改善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63510" y="1486049"/>
            <a:ext cx="230172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改善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80254" y="1486049"/>
            <a:ext cx="324279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横ばい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787485" y="1486049"/>
            <a:ext cx="230172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悪化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1513" y="1849041"/>
            <a:ext cx="2006596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62626"/>
                </a:solidFill>
                <a:latin typeface="Yu Mincho"/>
                <a:ea typeface="Yu Mincho"/>
                <a:cs typeface="Yu Mincho"/>
              </a:rPr>
              <a:t>指標カテゴリー別の状況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72423" y="1921371"/>
            <a:ext cx="874062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YYYY年M月時点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35998" y="1849041"/>
            <a:ext cx="127138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4D4D4D"/>
                </a:solidFill>
                <a:latin typeface="Yu Mincho"/>
                <a:ea typeface="Yu Mincho"/>
                <a:cs typeface="Yu Mincho"/>
              </a:rPr>
              <a:t>次に見るべき点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97923" y="2883247"/>
            <a:ext cx="376749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marL="127000" indent="-127000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0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97923" y="3201591"/>
            <a:ext cx="403527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marL="127000" indent="-127000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0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97923" y="3519934"/>
            <a:ext cx="404610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marL="127000" indent="-127000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0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1513" y="6274743"/>
            <a:ext cx="80177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4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出所）Source 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871871" y="6567488"/>
            <a:ext cx="142411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01513" y="1326803"/>
            <a:ext cx="11788974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pic>
        <p:nvPicPr>
          <p:cNvPr id="3" name="Picture 2" descr="img_14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9867" y="1484561"/>
            <a:ext cx="165497" cy="165497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9649867" y="1484561"/>
            <a:ext cx="165497" cy="165497"/>
          </a:xfrm>
          <a:prstGeom prst="ellipse">
            <a:avLst/>
          </a:prstGeom>
          <a:noFill/>
          <a:ln w="9525">
            <a:solidFill>
              <a:srgbClr val="262626"/>
            </a:solidFill>
          </a:ln>
        </p:spPr>
        <p:txBody>
          <a:bodyPr rtlCol="0" anchor="ctr"/>
          <a:lstStyle/>
          <a:p/>
        </p:txBody>
      </p:sp>
      <p:pic>
        <p:nvPicPr>
          <p:cNvPr id="5" name="Picture 4" descr="img_14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3469" y="1484561"/>
            <a:ext cx="165497" cy="165497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10373469" y="1484561"/>
            <a:ext cx="165497" cy="165497"/>
          </a:xfrm>
          <a:prstGeom prst="ellipse">
            <a:avLst/>
          </a:prstGeom>
          <a:noFill/>
          <a:ln w="9525">
            <a:solidFill>
              <a:srgbClr val="262626"/>
            </a:solidFill>
          </a:ln>
        </p:spPr>
        <p:txBody>
          <a:bodyPr rtlCol="0" anchor="ctr"/>
          <a:lstStyle/>
          <a:p/>
        </p:txBody>
      </p:sp>
      <p:pic>
        <p:nvPicPr>
          <p:cNvPr id="7" name="Picture 6" descr="img_14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00073" y="1484561"/>
            <a:ext cx="165497" cy="165497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11300073" y="1484561"/>
            <a:ext cx="165497" cy="165497"/>
          </a:xfrm>
          <a:prstGeom prst="ellipse">
            <a:avLst/>
          </a:prstGeom>
          <a:noFill/>
          <a:ln w="9525">
            <a:solidFill>
              <a:srgbClr val="262626"/>
            </a:solidFill>
          </a:ln>
        </p:spPr>
        <p:txBody>
          <a:bodyPr rtlCol="0" anchor="ctr"/>
          <a:lstStyle/>
          <a:p/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01513" y="1829991"/>
          <a:ext cx="11788974" cy="2692897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1979712"/>
                <a:gridCol w="1403747"/>
                <a:gridCol w="1403747"/>
                <a:gridCol w="7001768"/>
              </a:tblGrid>
              <a:tr h="405408">
                <a:tc>
                  <a:txBody>
                    <a:bodyPr wrap="square"/>
                    <a:lstStyle/>
                    <a:p>
                      <a:pPr algn="l">
                        <a:lnSpc>
                          <a:spcPts val="173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1" i="0">
                          <a:solidFill>
                            <a:srgbClr val="262626"/>
                          </a:solidFill>
                          <a:latin typeface="Yu Gothic"/>
                          <a:ea typeface="Yu Gothic"/>
                          <a:cs typeface="Yu Gothic"/>
                        </a:rPr>
                        <a:t>評価軸</a:t>
                      </a:r>
                      <a:endParaRPr sz="100"/>
                    </a:p>
                  </a:txBody>
                  <a:tcPr marT="90000" marR="90000" marB="90000" marL="9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626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ts val="173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1" i="0">
                          <a:solidFill>
                            <a:srgbClr val="262626"/>
                          </a:solidFill>
                          <a:latin typeface="Yu Gothic"/>
                          <a:ea typeface="Yu Gothic"/>
                          <a:cs typeface="Yu Gothic"/>
                        </a:rPr>
                        <a:t>ラベル 1案</a:t>
                      </a:r>
                      <a:endParaRPr sz="100"/>
                    </a:p>
                  </a:txBody>
                  <a:tcPr marT="90000" marR="90000" marB="90000" marL="9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626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ts val="173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1" i="0">
                          <a:solidFill>
                            <a:srgbClr val="262626"/>
                          </a:solidFill>
                          <a:latin typeface="Yu Gothic"/>
                          <a:ea typeface="Yu Gothic"/>
                          <a:cs typeface="Yu Gothic"/>
                        </a:rPr>
                        <a:t>ラベル 2案</a:t>
                      </a:r>
                      <a:endParaRPr sz="100"/>
                    </a:p>
                  </a:txBody>
                  <a:tcPr marT="90000" marR="90000" marB="90000" marL="9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626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73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1" i="0">
                          <a:solidFill>
                            <a:srgbClr val="262626"/>
                          </a:solidFill>
                          <a:latin typeface="Yu Gothic"/>
                          <a:ea typeface="Yu Gothic"/>
                          <a:cs typeface="Yu Gothic"/>
                        </a:rPr>
                        <a:t>判断の理由</a:t>
                      </a:r>
                      <a:endParaRPr sz="100"/>
                    </a:p>
                  </a:txBody>
                  <a:tcPr marT="90000" marR="90000" marB="90000" marL="9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62626"/>
                      </a:solidFill>
                    </a:lnB>
                    <a:noFill/>
                  </a:tcPr>
                </a:tc>
              </a:tr>
              <a:tr h="764084">
                <a:tc>
                  <a:txBody>
                    <a:bodyPr wrap="square"/>
                    <a:lstStyle/>
                    <a:p>
                      <a:pPr algn="l">
                        <a:lnSpc>
                          <a:spcPts val="16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4D4D4D"/>
                          </a:solidFill>
                          <a:latin typeface="Yu Mincho"/>
                          <a:ea typeface="Yu Mincho"/>
                          <a:cs typeface="Yu Mincho"/>
                        </a:rPr>
                        <a:t>ラベル 3</a:t>
                      </a:r>
                      <a:endParaRPr sz="100"/>
                    </a:p>
                  </a:txBody>
                  <a:tcPr marT="108000" marR="90000" marB="108000" marL="90000" anchor="ctr">
                    <a:lnL w="0">
                      <a:noFill/>
                    </a:lnL>
                    <a:lnR w="9525">
                      <a:solidFill>
                        <a:srgbClr val="262626"/>
                      </a:solidFill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endParaRPr sz="800"/>
                    </a:p>
                  </a:txBody>
                  <a:tcPr marT="108000" marR="90000" marB="108000" marL="9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endParaRPr sz="800"/>
                    </a:p>
                  </a:txBody>
                  <a:tcPr marT="108000" marR="90000" marB="108000" marL="9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marL="146050" indent="-146050">
                        <a:lnSpc>
                          <a:spcPts val="183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100000"/>
                        <a:buFont typeface="Yu Gothic"/>
                        <a:buChar char="•"/>
                      </a:pPr>
                      <a:r>
                        <a:rPr sz="1150" b="0" i="0">
                          <a:solidFill>
                            <a:srgbClr val="1F1F1F"/>
                          </a:solidFill>
                          <a:latin typeface="Yu Gothic"/>
                          <a:ea typeface="Yu Gothic"/>
                          <a:cs typeface="Yu Gothic"/>
                        </a:rPr>
                        <a:t>Text 1</a:t>
                      </a:r>
                      <a:endParaRPr sz="100"/>
                    </a:p>
                    <a:p>
                      <a:pPr algn="l" marL="146050" indent="-146050">
                        <a:lnSpc>
                          <a:spcPts val="183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100000"/>
                        <a:buFont typeface="Yu Gothic"/>
                        <a:buChar char="•"/>
                      </a:pPr>
                      <a:r>
                        <a:rPr sz="1150" b="0" i="0">
                          <a:solidFill>
                            <a:srgbClr val="1F1F1F"/>
                          </a:solidFill>
                          <a:latin typeface="Yu Gothic"/>
                          <a:ea typeface="Yu Gothic"/>
                          <a:cs typeface="Yu Gothic"/>
                        </a:rPr>
                        <a:t>Text 2</a:t>
                      </a:r>
                    </a:p>
                  </a:txBody>
                  <a:tcPr marT="108000" marR="90000" marB="108000" marL="9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764084">
                <a:tc>
                  <a:txBody>
                    <a:bodyPr wrap="square"/>
                    <a:lstStyle/>
                    <a:p>
                      <a:pPr algn="l">
                        <a:lnSpc>
                          <a:spcPts val="16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4D4D4D"/>
                          </a:solidFill>
                          <a:latin typeface="Yu Mincho"/>
                          <a:ea typeface="Yu Mincho"/>
                          <a:cs typeface="Yu Mincho"/>
                        </a:rPr>
                        <a:t>ラベル 4</a:t>
                      </a:r>
                      <a:endParaRPr sz="100"/>
                    </a:p>
                  </a:txBody>
                  <a:tcPr marT="108000" marR="90000" marB="108000" marL="90000" anchor="ctr">
                    <a:lnL w="0">
                      <a:noFill/>
                    </a:lnL>
                    <a:lnR w="9525">
                      <a:solidFill>
                        <a:srgbClr val="262626"/>
                      </a:solidFill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endParaRPr sz="800"/>
                    </a:p>
                  </a:txBody>
                  <a:tcPr marT="108000" marR="90000" marB="108000" marL="9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endParaRPr sz="800"/>
                    </a:p>
                  </a:txBody>
                  <a:tcPr marT="108000" marR="90000" marB="108000" marL="9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marL="146050" indent="-146050">
                        <a:lnSpc>
                          <a:spcPts val="183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100000"/>
                        <a:buFont typeface="Yu Gothic"/>
                        <a:buChar char="•"/>
                      </a:pPr>
                      <a:r>
                        <a:rPr sz="1150" b="0" i="0">
                          <a:solidFill>
                            <a:srgbClr val="1F1F1F"/>
                          </a:solidFill>
                          <a:latin typeface="Yu Gothic"/>
                          <a:ea typeface="Yu Gothic"/>
                          <a:cs typeface="Yu Gothic"/>
                        </a:rPr>
                        <a:t>Text 3</a:t>
                      </a:r>
                      <a:endParaRPr sz="100"/>
                    </a:p>
                    <a:p>
                      <a:pPr algn="l" marL="146050" indent="-146050">
                        <a:lnSpc>
                          <a:spcPts val="183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100000"/>
                        <a:buFont typeface="Yu Gothic"/>
                        <a:buChar char="•"/>
                      </a:pPr>
                      <a:r>
                        <a:rPr sz="1150" b="0" i="0">
                          <a:solidFill>
                            <a:srgbClr val="1F1F1F"/>
                          </a:solidFill>
                          <a:latin typeface="Yu Gothic"/>
                          <a:ea typeface="Yu Gothic"/>
                          <a:cs typeface="Yu Gothic"/>
                        </a:rPr>
                        <a:t>Text 4</a:t>
                      </a:r>
                    </a:p>
                  </a:txBody>
                  <a:tcPr marT="108000" marR="90000" marB="108000" marL="9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759321">
                <a:tc>
                  <a:txBody>
                    <a:bodyPr wrap="square"/>
                    <a:lstStyle/>
                    <a:p>
                      <a:pPr algn="l">
                        <a:lnSpc>
                          <a:spcPts val="16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4D4D4D"/>
                          </a:solidFill>
                          <a:latin typeface="Yu Mincho"/>
                          <a:ea typeface="Yu Mincho"/>
                          <a:cs typeface="Yu Mincho"/>
                        </a:rPr>
                        <a:t>ラベル 5</a:t>
                      </a:r>
                      <a:endParaRPr sz="100"/>
                    </a:p>
                  </a:txBody>
                  <a:tcPr marT="108000" marR="90000" marB="108000" marL="90000" anchor="ctr">
                    <a:lnL w="0">
                      <a:noFill/>
                    </a:lnL>
                    <a:lnR w="9525">
                      <a:solidFill>
                        <a:srgbClr val="262626"/>
                      </a:solidFill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endParaRPr sz="800"/>
                    </a:p>
                  </a:txBody>
                  <a:tcPr marT="108000" marR="90000" marB="108000" marL="9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endParaRPr sz="800"/>
                    </a:p>
                  </a:txBody>
                  <a:tcPr marT="108000" marR="90000" marB="108000" marL="9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marL="146050" indent="-146050">
                        <a:lnSpc>
                          <a:spcPts val="183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100000"/>
                        <a:buFont typeface="Yu Gothic"/>
                        <a:buChar char="•"/>
                      </a:pPr>
                      <a:r>
                        <a:rPr sz="1150" b="0" i="0">
                          <a:solidFill>
                            <a:srgbClr val="1F1F1F"/>
                          </a:solidFill>
                          <a:latin typeface="Yu Gothic"/>
                          <a:ea typeface="Yu Gothic"/>
                          <a:cs typeface="Yu Gothic"/>
                        </a:rPr>
                        <a:t>Text 5</a:t>
                      </a:r>
                      <a:endParaRPr sz="100"/>
                    </a:p>
                    <a:p>
                      <a:pPr algn="l" marL="146050" indent="-146050">
                        <a:lnSpc>
                          <a:spcPts val="183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100000"/>
                        <a:buFont typeface="Yu Gothic"/>
                        <a:buChar char="•"/>
                      </a:pPr>
                      <a:r>
                        <a:rPr sz="1150" b="0" i="0">
                          <a:solidFill>
                            <a:srgbClr val="1F1F1F"/>
                          </a:solidFill>
                          <a:latin typeface="Yu Gothic"/>
                          <a:ea typeface="Yu Gothic"/>
                          <a:cs typeface="Yu Gothic"/>
                        </a:rPr>
                        <a:t>Text 6</a:t>
                      </a:r>
                    </a:p>
                  </a:txBody>
                  <a:tcPr marT="108000" marR="90000" marB="108000" marL="9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</a:tbl>
          </a:graphicData>
        </a:graphic>
      </p:graphicFrame>
      <p:pic>
        <p:nvPicPr>
          <p:cNvPr id="10" name="Picture 9" descr="img_14_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02731" y="2523679"/>
            <a:ext cx="165497" cy="165497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2802731" y="2523679"/>
            <a:ext cx="165497" cy="165497"/>
          </a:xfrm>
          <a:prstGeom prst="ellipse">
            <a:avLst/>
          </a:prstGeom>
          <a:noFill/>
          <a:ln w="9525">
            <a:solidFill>
              <a:srgbClr val="262626"/>
            </a:solidFill>
          </a:ln>
        </p:spPr>
        <p:txBody>
          <a:bodyPr rtlCol="0" anchor="ctr"/>
          <a:lstStyle/>
          <a:p/>
        </p:txBody>
      </p:sp>
      <p:pic>
        <p:nvPicPr>
          <p:cNvPr id="12" name="Picture 11" descr="img_14_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04097" y="2523679"/>
            <a:ext cx="165497" cy="165497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4204097" y="2523679"/>
            <a:ext cx="165497" cy="165497"/>
          </a:xfrm>
          <a:prstGeom prst="ellipse">
            <a:avLst/>
          </a:prstGeom>
          <a:noFill/>
          <a:ln w="9525">
            <a:solidFill>
              <a:srgbClr val="262626"/>
            </a:solidFill>
          </a:ln>
        </p:spPr>
        <p:txBody>
          <a:bodyPr rtlCol="0" anchor="ctr"/>
          <a:lstStyle/>
          <a:p/>
        </p:txBody>
      </p:sp>
      <p:pic>
        <p:nvPicPr>
          <p:cNvPr id="14" name="Picture 13" descr="img_14_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02731" y="3287762"/>
            <a:ext cx="165497" cy="16549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802731" y="3287762"/>
            <a:ext cx="165497" cy="165497"/>
          </a:xfrm>
          <a:prstGeom prst="ellipse">
            <a:avLst/>
          </a:prstGeom>
          <a:noFill/>
          <a:ln w="9525">
            <a:solidFill>
              <a:srgbClr val="262626"/>
            </a:solidFill>
          </a:ln>
        </p:spPr>
        <p:txBody>
          <a:bodyPr rtlCol="0" anchor="ctr"/>
          <a:lstStyle/>
          <a:p/>
        </p:txBody>
      </p:sp>
      <p:pic>
        <p:nvPicPr>
          <p:cNvPr id="16" name="Picture 15" descr="img_14_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04097" y="3287762"/>
            <a:ext cx="165497" cy="165497"/>
          </a:xfrm>
          <a:prstGeom prst="rect">
            <a:avLst/>
          </a:prstGeom>
        </p:spPr>
      </p:pic>
      <p:sp>
        <p:nvSpPr>
          <p:cNvPr id="17" name="Oval 16"/>
          <p:cNvSpPr/>
          <p:nvPr/>
        </p:nvSpPr>
        <p:spPr>
          <a:xfrm>
            <a:off x="4204097" y="3287762"/>
            <a:ext cx="165497" cy="165497"/>
          </a:xfrm>
          <a:prstGeom prst="ellipse">
            <a:avLst/>
          </a:prstGeom>
          <a:noFill/>
          <a:ln w="9525">
            <a:solidFill>
              <a:srgbClr val="262626"/>
            </a:solidFill>
          </a:ln>
        </p:spPr>
        <p:txBody>
          <a:bodyPr rtlCol="0" anchor="ctr"/>
          <a:lstStyle/>
          <a:p/>
        </p:txBody>
      </p:sp>
      <p:pic>
        <p:nvPicPr>
          <p:cNvPr id="18" name="Picture 17" descr="img_14_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802731" y="4051846"/>
            <a:ext cx="165497" cy="165497"/>
          </a:xfrm>
          <a:prstGeom prst="rect">
            <a:avLst/>
          </a:prstGeom>
        </p:spPr>
      </p:pic>
      <p:sp>
        <p:nvSpPr>
          <p:cNvPr id="19" name="Oval 18"/>
          <p:cNvSpPr/>
          <p:nvPr/>
        </p:nvSpPr>
        <p:spPr>
          <a:xfrm>
            <a:off x="2802731" y="4051846"/>
            <a:ext cx="165497" cy="165497"/>
          </a:xfrm>
          <a:prstGeom prst="ellipse">
            <a:avLst/>
          </a:prstGeom>
          <a:noFill/>
          <a:ln w="9525">
            <a:solidFill>
              <a:srgbClr val="262626"/>
            </a:solidFill>
          </a:ln>
        </p:spPr>
        <p:txBody>
          <a:bodyPr rtlCol="0" anchor="ctr"/>
          <a:lstStyle/>
          <a:p/>
        </p:txBody>
      </p:sp>
      <p:pic>
        <p:nvPicPr>
          <p:cNvPr id="20" name="Picture 19" descr="img_14_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204097" y="4051846"/>
            <a:ext cx="165497" cy="165497"/>
          </a:xfrm>
          <a:prstGeom prst="rect">
            <a:avLst/>
          </a:prstGeom>
        </p:spPr>
      </p:pic>
      <p:sp>
        <p:nvSpPr>
          <p:cNvPr id="21" name="Oval 20"/>
          <p:cNvSpPr/>
          <p:nvPr/>
        </p:nvSpPr>
        <p:spPr>
          <a:xfrm>
            <a:off x="4204097" y="4051846"/>
            <a:ext cx="165497" cy="165497"/>
          </a:xfrm>
          <a:prstGeom prst="ellipse">
            <a:avLst/>
          </a:prstGeom>
          <a:noFill/>
          <a:ln w="9525">
            <a:solidFill>
              <a:srgbClr val="262626"/>
            </a:solidFill>
          </a:ln>
        </p:spPr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201513" y="271314"/>
            <a:ext cx="2614267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パーツ14｜充足度評価表（ハーベイボール）</a:t>
            </a:r>
          </a:p>
        </p:txBody>
      </p:sp>
      <p:sp>
        <p:nvSpPr>
          <p:cNvPr id="23" name="Title"/>
          <p:cNvSpPr txBox="1"/>
          <p:nvPr/>
        </p:nvSpPr>
        <p:spPr>
          <a:xfrm>
            <a:off x="201513" y="505271"/>
            <a:ext cx="3607653" cy="2857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9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F1F1F"/>
                </a:solidFill>
                <a:latin typeface="Yu Mincho"/>
                <a:ea typeface="Yu Mincho"/>
                <a:cs typeface="Yu Mincho"/>
              </a:rPr>
              <a:t>充足度評価表（ハーベイボール）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69239" y="1496764"/>
            <a:ext cx="318861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満たす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92842" y="1496764"/>
            <a:ext cx="529983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一部満たす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19446" y="1496764"/>
            <a:ext cx="508933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満たさない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1513" y="6274743"/>
            <a:ext cx="80177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4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出所）Source 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97469" y="6567488"/>
            <a:ext cx="115788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01513" y="1326803"/>
            <a:ext cx="11788974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201513" y="1795165"/>
            <a:ext cx="11788974" cy="0"/>
          </a:xfrm>
          <a:prstGeom prst="line">
            <a:avLst/>
          </a:prstGeom>
          <a:ln w="9525">
            <a:solidFill>
              <a:srgbClr val="262626"/>
            </a:solidFill>
          </a:ln>
        </p:spPr>
      </p:cxnSp>
      <p:sp>
        <p:nvSpPr>
          <p:cNvPr id="4" name="Rectangle 3"/>
          <p:cNvSpPr/>
          <p:nvPr/>
        </p:nvSpPr>
        <p:spPr>
          <a:xfrm>
            <a:off x="973038" y="3357414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124099" y="3357414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1275159" y="3357414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1426220" y="3357414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1577280" y="3357414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728341" y="3357414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1879402" y="3357414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2030462" y="3357414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2181523" y="3357414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2332583" y="3357414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973038" y="3508474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1124099" y="3508474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1275159" y="3508474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426220" y="3508474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1577280" y="3508474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1728341" y="3508474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1879402" y="3508474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2030462" y="3508474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2181523" y="3508474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2332583" y="3508474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973038" y="3659535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1124099" y="3659535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1275159" y="3659535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1426220" y="3659535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1577280" y="3659535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1728341" y="3659535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1879402" y="3659535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2030462" y="3659535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2181523" y="3659535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2332583" y="3659535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973038" y="3810595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1124099" y="3810595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1275159" y="3810595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1426220" y="3810595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1577280" y="3810595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1728341" y="3810595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1879402" y="3810595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1" name="Rectangle 40"/>
          <p:cNvSpPr/>
          <p:nvPr/>
        </p:nvSpPr>
        <p:spPr>
          <a:xfrm>
            <a:off x="2030462" y="3810595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2" name="Rectangle 41"/>
          <p:cNvSpPr/>
          <p:nvPr/>
        </p:nvSpPr>
        <p:spPr>
          <a:xfrm>
            <a:off x="2181523" y="3810595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2332583" y="3810595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973038" y="3961656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1124099" y="3961656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6" name="Rectangle 45"/>
          <p:cNvSpPr/>
          <p:nvPr/>
        </p:nvSpPr>
        <p:spPr>
          <a:xfrm>
            <a:off x="1275159" y="3961656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7" name="Rectangle 46"/>
          <p:cNvSpPr/>
          <p:nvPr/>
        </p:nvSpPr>
        <p:spPr>
          <a:xfrm>
            <a:off x="1426220" y="3961656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1577280" y="3961656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1728341" y="3961656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1879402" y="3961656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1" name="Rectangle 50"/>
          <p:cNvSpPr/>
          <p:nvPr/>
        </p:nvSpPr>
        <p:spPr>
          <a:xfrm>
            <a:off x="2030462" y="3961656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2" name="Rectangle 51"/>
          <p:cNvSpPr/>
          <p:nvPr/>
        </p:nvSpPr>
        <p:spPr>
          <a:xfrm>
            <a:off x="2181523" y="3961656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3" name="Rectangle 52"/>
          <p:cNvSpPr/>
          <p:nvPr/>
        </p:nvSpPr>
        <p:spPr>
          <a:xfrm>
            <a:off x="2332583" y="3961656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4" name="Rectangle 53"/>
          <p:cNvSpPr/>
          <p:nvPr/>
        </p:nvSpPr>
        <p:spPr>
          <a:xfrm>
            <a:off x="973038" y="4112716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5" name="Rectangle 54"/>
          <p:cNvSpPr/>
          <p:nvPr/>
        </p:nvSpPr>
        <p:spPr>
          <a:xfrm>
            <a:off x="1124099" y="4112716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6" name="Rectangle 55"/>
          <p:cNvSpPr/>
          <p:nvPr/>
        </p:nvSpPr>
        <p:spPr>
          <a:xfrm>
            <a:off x="1275159" y="4112716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7" name="Rectangle 56"/>
          <p:cNvSpPr/>
          <p:nvPr/>
        </p:nvSpPr>
        <p:spPr>
          <a:xfrm>
            <a:off x="1426220" y="4112716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8" name="Rectangle 57"/>
          <p:cNvSpPr/>
          <p:nvPr/>
        </p:nvSpPr>
        <p:spPr>
          <a:xfrm>
            <a:off x="1577280" y="4112716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1728341" y="4112716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0" name="Rectangle 59"/>
          <p:cNvSpPr/>
          <p:nvPr/>
        </p:nvSpPr>
        <p:spPr>
          <a:xfrm>
            <a:off x="1879402" y="4112716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1" name="Rectangle 60"/>
          <p:cNvSpPr/>
          <p:nvPr/>
        </p:nvSpPr>
        <p:spPr>
          <a:xfrm>
            <a:off x="2030462" y="4112716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2" name="Rectangle 61"/>
          <p:cNvSpPr/>
          <p:nvPr/>
        </p:nvSpPr>
        <p:spPr>
          <a:xfrm>
            <a:off x="2181523" y="4112716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3" name="Rectangle 62"/>
          <p:cNvSpPr/>
          <p:nvPr/>
        </p:nvSpPr>
        <p:spPr>
          <a:xfrm>
            <a:off x="2332583" y="4112716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4" name="Rectangle 63"/>
          <p:cNvSpPr/>
          <p:nvPr/>
        </p:nvSpPr>
        <p:spPr>
          <a:xfrm>
            <a:off x="973038" y="4263777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5" name="Rectangle 64"/>
          <p:cNvSpPr/>
          <p:nvPr/>
        </p:nvSpPr>
        <p:spPr>
          <a:xfrm>
            <a:off x="1124099" y="4263777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6" name="Rectangle 65"/>
          <p:cNvSpPr/>
          <p:nvPr/>
        </p:nvSpPr>
        <p:spPr>
          <a:xfrm>
            <a:off x="1275159" y="4263777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7" name="Rectangle 66"/>
          <p:cNvSpPr/>
          <p:nvPr/>
        </p:nvSpPr>
        <p:spPr>
          <a:xfrm>
            <a:off x="1426220" y="4263777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8" name="Rectangle 67"/>
          <p:cNvSpPr/>
          <p:nvPr/>
        </p:nvSpPr>
        <p:spPr>
          <a:xfrm>
            <a:off x="1577280" y="4263777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9" name="Rectangle 68"/>
          <p:cNvSpPr/>
          <p:nvPr/>
        </p:nvSpPr>
        <p:spPr>
          <a:xfrm>
            <a:off x="1728341" y="4263777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0" name="Rectangle 69"/>
          <p:cNvSpPr/>
          <p:nvPr/>
        </p:nvSpPr>
        <p:spPr>
          <a:xfrm>
            <a:off x="1879402" y="4263777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1" name="Rectangle 70"/>
          <p:cNvSpPr/>
          <p:nvPr/>
        </p:nvSpPr>
        <p:spPr>
          <a:xfrm>
            <a:off x="2030462" y="4263777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2" name="Rectangle 71"/>
          <p:cNvSpPr/>
          <p:nvPr/>
        </p:nvSpPr>
        <p:spPr>
          <a:xfrm>
            <a:off x="2181523" y="4263777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3" name="Rectangle 72"/>
          <p:cNvSpPr/>
          <p:nvPr/>
        </p:nvSpPr>
        <p:spPr>
          <a:xfrm>
            <a:off x="2332583" y="4263777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4" name="Rectangle 73"/>
          <p:cNvSpPr/>
          <p:nvPr/>
        </p:nvSpPr>
        <p:spPr>
          <a:xfrm>
            <a:off x="973038" y="4414838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5" name="Rectangle 74"/>
          <p:cNvSpPr/>
          <p:nvPr/>
        </p:nvSpPr>
        <p:spPr>
          <a:xfrm>
            <a:off x="1124099" y="4414838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6" name="Rectangle 75"/>
          <p:cNvSpPr/>
          <p:nvPr/>
        </p:nvSpPr>
        <p:spPr>
          <a:xfrm>
            <a:off x="1275159" y="4414838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7" name="Rectangle 76"/>
          <p:cNvSpPr/>
          <p:nvPr/>
        </p:nvSpPr>
        <p:spPr>
          <a:xfrm>
            <a:off x="1426220" y="4414838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8" name="Rectangle 77"/>
          <p:cNvSpPr/>
          <p:nvPr/>
        </p:nvSpPr>
        <p:spPr>
          <a:xfrm>
            <a:off x="1577280" y="4414838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9" name="Rectangle 78"/>
          <p:cNvSpPr/>
          <p:nvPr/>
        </p:nvSpPr>
        <p:spPr>
          <a:xfrm>
            <a:off x="1728341" y="4414838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0" name="Rectangle 79"/>
          <p:cNvSpPr/>
          <p:nvPr/>
        </p:nvSpPr>
        <p:spPr>
          <a:xfrm>
            <a:off x="1879402" y="4414838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1" name="Rectangle 80"/>
          <p:cNvSpPr/>
          <p:nvPr/>
        </p:nvSpPr>
        <p:spPr>
          <a:xfrm>
            <a:off x="2030462" y="4414838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2" name="Rectangle 81"/>
          <p:cNvSpPr/>
          <p:nvPr/>
        </p:nvSpPr>
        <p:spPr>
          <a:xfrm>
            <a:off x="2181523" y="4414838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3" name="Rectangle 82"/>
          <p:cNvSpPr/>
          <p:nvPr/>
        </p:nvSpPr>
        <p:spPr>
          <a:xfrm>
            <a:off x="2332583" y="4414838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4" name="Rectangle 83"/>
          <p:cNvSpPr/>
          <p:nvPr/>
        </p:nvSpPr>
        <p:spPr>
          <a:xfrm>
            <a:off x="973038" y="4565898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5" name="Rectangle 84"/>
          <p:cNvSpPr/>
          <p:nvPr/>
        </p:nvSpPr>
        <p:spPr>
          <a:xfrm>
            <a:off x="1124099" y="4565898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6" name="Rectangle 85"/>
          <p:cNvSpPr/>
          <p:nvPr/>
        </p:nvSpPr>
        <p:spPr>
          <a:xfrm>
            <a:off x="1275159" y="4565898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7" name="Rectangle 86"/>
          <p:cNvSpPr/>
          <p:nvPr/>
        </p:nvSpPr>
        <p:spPr>
          <a:xfrm>
            <a:off x="1426220" y="4565898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8" name="Rectangle 87"/>
          <p:cNvSpPr/>
          <p:nvPr/>
        </p:nvSpPr>
        <p:spPr>
          <a:xfrm>
            <a:off x="1577280" y="4565898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9" name="Rectangle 88"/>
          <p:cNvSpPr/>
          <p:nvPr/>
        </p:nvSpPr>
        <p:spPr>
          <a:xfrm>
            <a:off x="1728341" y="4565898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0" name="Rectangle 89"/>
          <p:cNvSpPr/>
          <p:nvPr/>
        </p:nvSpPr>
        <p:spPr>
          <a:xfrm>
            <a:off x="1879402" y="4565898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1" name="Rectangle 90"/>
          <p:cNvSpPr/>
          <p:nvPr/>
        </p:nvSpPr>
        <p:spPr>
          <a:xfrm>
            <a:off x="2030462" y="4565898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2" name="Rectangle 91"/>
          <p:cNvSpPr/>
          <p:nvPr/>
        </p:nvSpPr>
        <p:spPr>
          <a:xfrm>
            <a:off x="2181523" y="4565898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3" name="Rectangle 92"/>
          <p:cNvSpPr/>
          <p:nvPr/>
        </p:nvSpPr>
        <p:spPr>
          <a:xfrm>
            <a:off x="2332583" y="4565898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4" name="Rectangle 93"/>
          <p:cNvSpPr/>
          <p:nvPr/>
        </p:nvSpPr>
        <p:spPr>
          <a:xfrm>
            <a:off x="973038" y="4716959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5" name="Rectangle 94"/>
          <p:cNvSpPr/>
          <p:nvPr/>
        </p:nvSpPr>
        <p:spPr>
          <a:xfrm>
            <a:off x="1124099" y="4716959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6" name="Rectangle 95"/>
          <p:cNvSpPr/>
          <p:nvPr/>
        </p:nvSpPr>
        <p:spPr>
          <a:xfrm>
            <a:off x="1275159" y="4716959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7" name="Rectangle 96"/>
          <p:cNvSpPr/>
          <p:nvPr/>
        </p:nvSpPr>
        <p:spPr>
          <a:xfrm>
            <a:off x="1426220" y="4716959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8" name="Rectangle 97"/>
          <p:cNvSpPr/>
          <p:nvPr/>
        </p:nvSpPr>
        <p:spPr>
          <a:xfrm>
            <a:off x="1577280" y="4716959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9" name="Rectangle 98"/>
          <p:cNvSpPr/>
          <p:nvPr/>
        </p:nvSpPr>
        <p:spPr>
          <a:xfrm>
            <a:off x="1728341" y="4716959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0" name="Rectangle 99"/>
          <p:cNvSpPr/>
          <p:nvPr/>
        </p:nvSpPr>
        <p:spPr>
          <a:xfrm>
            <a:off x="1879402" y="4716959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1" name="Rectangle 100"/>
          <p:cNvSpPr/>
          <p:nvPr/>
        </p:nvSpPr>
        <p:spPr>
          <a:xfrm>
            <a:off x="2030462" y="4716959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2" name="Rectangle 101"/>
          <p:cNvSpPr/>
          <p:nvPr/>
        </p:nvSpPr>
        <p:spPr>
          <a:xfrm>
            <a:off x="2181523" y="4716959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3" name="Rectangle 102"/>
          <p:cNvSpPr/>
          <p:nvPr/>
        </p:nvSpPr>
        <p:spPr>
          <a:xfrm>
            <a:off x="2332583" y="4716959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4" name="Rectangle 103"/>
          <p:cNvSpPr/>
          <p:nvPr/>
        </p:nvSpPr>
        <p:spPr>
          <a:xfrm>
            <a:off x="973038" y="4868019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5" name="Rectangle 104"/>
          <p:cNvSpPr/>
          <p:nvPr/>
        </p:nvSpPr>
        <p:spPr>
          <a:xfrm>
            <a:off x="1124099" y="4868019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6" name="Rectangle 105"/>
          <p:cNvSpPr/>
          <p:nvPr/>
        </p:nvSpPr>
        <p:spPr>
          <a:xfrm>
            <a:off x="3956298" y="3432870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7" name="Rectangle 106"/>
          <p:cNvSpPr/>
          <p:nvPr/>
        </p:nvSpPr>
        <p:spPr>
          <a:xfrm>
            <a:off x="4107359" y="3432870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8" name="Rectangle 107"/>
          <p:cNvSpPr/>
          <p:nvPr/>
        </p:nvSpPr>
        <p:spPr>
          <a:xfrm>
            <a:off x="4258419" y="3432870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9" name="Rectangle 108"/>
          <p:cNvSpPr/>
          <p:nvPr/>
        </p:nvSpPr>
        <p:spPr>
          <a:xfrm>
            <a:off x="4409480" y="3432870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0" name="Rectangle 109"/>
          <p:cNvSpPr/>
          <p:nvPr/>
        </p:nvSpPr>
        <p:spPr>
          <a:xfrm>
            <a:off x="4560540" y="3432870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1" name="Rectangle 110"/>
          <p:cNvSpPr/>
          <p:nvPr/>
        </p:nvSpPr>
        <p:spPr>
          <a:xfrm>
            <a:off x="4711601" y="3432870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2" name="Rectangle 111"/>
          <p:cNvSpPr/>
          <p:nvPr/>
        </p:nvSpPr>
        <p:spPr>
          <a:xfrm>
            <a:off x="4862661" y="3432870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3" name="Rectangle 112"/>
          <p:cNvSpPr/>
          <p:nvPr/>
        </p:nvSpPr>
        <p:spPr>
          <a:xfrm>
            <a:off x="5013722" y="3432870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4" name="Rectangle 113"/>
          <p:cNvSpPr/>
          <p:nvPr/>
        </p:nvSpPr>
        <p:spPr>
          <a:xfrm>
            <a:off x="5164782" y="3432870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5" name="Rectangle 114"/>
          <p:cNvSpPr/>
          <p:nvPr/>
        </p:nvSpPr>
        <p:spPr>
          <a:xfrm>
            <a:off x="5315843" y="3432870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6" name="Rectangle 115"/>
          <p:cNvSpPr/>
          <p:nvPr/>
        </p:nvSpPr>
        <p:spPr>
          <a:xfrm>
            <a:off x="3956298" y="3583930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7" name="Rectangle 116"/>
          <p:cNvSpPr/>
          <p:nvPr/>
        </p:nvSpPr>
        <p:spPr>
          <a:xfrm>
            <a:off x="4107359" y="3583930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8" name="Rectangle 117"/>
          <p:cNvSpPr/>
          <p:nvPr/>
        </p:nvSpPr>
        <p:spPr>
          <a:xfrm>
            <a:off x="4258419" y="3583930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9" name="Rectangle 118"/>
          <p:cNvSpPr/>
          <p:nvPr/>
        </p:nvSpPr>
        <p:spPr>
          <a:xfrm>
            <a:off x="4409480" y="3583930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0" name="Rectangle 119"/>
          <p:cNvSpPr/>
          <p:nvPr/>
        </p:nvSpPr>
        <p:spPr>
          <a:xfrm>
            <a:off x="4560540" y="3583930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1" name="Rectangle 120"/>
          <p:cNvSpPr/>
          <p:nvPr/>
        </p:nvSpPr>
        <p:spPr>
          <a:xfrm>
            <a:off x="4711601" y="3583930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2" name="Rectangle 121"/>
          <p:cNvSpPr/>
          <p:nvPr/>
        </p:nvSpPr>
        <p:spPr>
          <a:xfrm>
            <a:off x="4862661" y="3583930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3" name="Rectangle 122"/>
          <p:cNvSpPr/>
          <p:nvPr/>
        </p:nvSpPr>
        <p:spPr>
          <a:xfrm>
            <a:off x="5013722" y="3583930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4" name="Rectangle 123"/>
          <p:cNvSpPr/>
          <p:nvPr/>
        </p:nvSpPr>
        <p:spPr>
          <a:xfrm>
            <a:off x="5164782" y="3583930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5" name="Rectangle 124"/>
          <p:cNvSpPr/>
          <p:nvPr/>
        </p:nvSpPr>
        <p:spPr>
          <a:xfrm>
            <a:off x="5315843" y="3583930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6" name="Rectangle 125"/>
          <p:cNvSpPr/>
          <p:nvPr/>
        </p:nvSpPr>
        <p:spPr>
          <a:xfrm>
            <a:off x="3956298" y="3734991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7" name="Rectangle 126"/>
          <p:cNvSpPr/>
          <p:nvPr/>
        </p:nvSpPr>
        <p:spPr>
          <a:xfrm>
            <a:off x="4107359" y="3734991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8" name="Rectangle 127"/>
          <p:cNvSpPr/>
          <p:nvPr/>
        </p:nvSpPr>
        <p:spPr>
          <a:xfrm>
            <a:off x="4258419" y="3734991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9" name="Rectangle 128"/>
          <p:cNvSpPr/>
          <p:nvPr/>
        </p:nvSpPr>
        <p:spPr>
          <a:xfrm>
            <a:off x="4409480" y="3734991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0" name="Rectangle 129"/>
          <p:cNvSpPr/>
          <p:nvPr/>
        </p:nvSpPr>
        <p:spPr>
          <a:xfrm>
            <a:off x="4560540" y="3734991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1" name="Rectangle 130"/>
          <p:cNvSpPr/>
          <p:nvPr/>
        </p:nvSpPr>
        <p:spPr>
          <a:xfrm>
            <a:off x="4711601" y="3734991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2" name="Rectangle 131"/>
          <p:cNvSpPr/>
          <p:nvPr/>
        </p:nvSpPr>
        <p:spPr>
          <a:xfrm>
            <a:off x="4862661" y="3734991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3" name="Rectangle 132"/>
          <p:cNvSpPr/>
          <p:nvPr/>
        </p:nvSpPr>
        <p:spPr>
          <a:xfrm>
            <a:off x="5013722" y="3734991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4" name="Rectangle 133"/>
          <p:cNvSpPr/>
          <p:nvPr/>
        </p:nvSpPr>
        <p:spPr>
          <a:xfrm>
            <a:off x="5164782" y="3734991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5" name="Rectangle 134"/>
          <p:cNvSpPr/>
          <p:nvPr/>
        </p:nvSpPr>
        <p:spPr>
          <a:xfrm>
            <a:off x="5315843" y="3734991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6" name="Rectangle 135"/>
          <p:cNvSpPr/>
          <p:nvPr/>
        </p:nvSpPr>
        <p:spPr>
          <a:xfrm>
            <a:off x="3956298" y="3886051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7" name="Rectangle 136"/>
          <p:cNvSpPr/>
          <p:nvPr/>
        </p:nvSpPr>
        <p:spPr>
          <a:xfrm>
            <a:off x="4107359" y="3886051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8" name="Rectangle 137"/>
          <p:cNvSpPr/>
          <p:nvPr/>
        </p:nvSpPr>
        <p:spPr>
          <a:xfrm>
            <a:off x="4258419" y="3886051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9" name="Rectangle 138"/>
          <p:cNvSpPr/>
          <p:nvPr/>
        </p:nvSpPr>
        <p:spPr>
          <a:xfrm>
            <a:off x="4409480" y="3886051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0" name="Rectangle 139"/>
          <p:cNvSpPr/>
          <p:nvPr/>
        </p:nvSpPr>
        <p:spPr>
          <a:xfrm>
            <a:off x="4560540" y="3886051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1" name="Rectangle 140"/>
          <p:cNvSpPr/>
          <p:nvPr/>
        </p:nvSpPr>
        <p:spPr>
          <a:xfrm>
            <a:off x="4711601" y="3886051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2" name="Rectangle 141"/>
          <p:cNvSpPr/>
          <p:nvPr/>
        </p:nvSpPr>
        <p:spPr>
          <a:xfrm>
            <a:off x="4862661" y="3886051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3" name="Rectangle 142"/>
          <p:cNvSpPr/>
          <p:nvPr/>
        </p:nvSpPr>
        <p:spPr>
          <a:xfrm>
            <a:off x="5013722" y="3886051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4" name="Rectangle 143"/>
          <p:cNvSpPr/>
          <p:nvPr/>
        </p:nvSpPr>
        <p:spPr>
          <a:xfrm>
            <a:off x="5164782" y="3886051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5" name="Rectangle 144"/>
          <p:cNvSpPr/>
          <p:nvPr/>
        </p:nvSpPr>
        <p:spPr>
          <a:xfrm>
            <a:off x="5315843" y="3886051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6" name="Rectangle 145"/>
          <p:cNvSpPr/>
          <p:nvPr/>
        </p:nvSpPr>
        <p:spPr>
          <a:xfrm>
            <a:off x="3956298" y="4037112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7" name="Rectangle 146"/>
          <p:cNvSpPr/>
          <p:nvPr/>
        </p:nvSpPr>
        <p:spPr>
          <a:xfrm>
            <a:off x="4107359" y="4037112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8" name="Rectangle 147"/>
          <p:cNvSpPr/>
          <p:nvPr/>
        </p:nvSpPr>
        <p:spPr>
          <a:xfrm>
            <a:off x="4258419" y="4037112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9" name="Rectangle 148"/>
          <p:cNvSpPr/>
          <p:nvPr/>
        </p:nvSpPr>
        <p:spPr>
          <a:xfrm>
            <a:off x="4409480" y="4037112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0" name="Rectangle 149"/>
          <p:cNvSpPr/>
          <p:nvPr/>
        </p:nvSpPr>
        <p:spPr>
          <a:xfrm>
            <a:off x="4560540" y="4037112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1" name="Rectangle 150"/>
          <p:cNvSpPr/>
          <p:nvPr/>
        </p:nvSpPr>
        <p:spPr>
          <a:xfrm>
            <a:off x="4711601" y="4037112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2" name="Rectangle 151"/>
          <p:cNvSpPr/>
          <p:nvPr/>
        </p:nvSpPr>
        <p:spPr>
          <a:xfrm>
            <a:off x="4862661" y="4037112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3" name="Rectangle 152"/>
          <p:cNvSpPr/>
          <p:nvPr/>
        </p:nvSpPr>
        <p:spPr>
          <a:xfrm>
            <a:off x="5013722" y="4037112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4" name="Rectangle 153"/>
          <p:cNvSpPr/>
          <p:nvPr/>
        </p:nvSpPr>
        <p:spPr>
          <a:xfrm>
            <a:off x="5164782" y="4037112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5" name="Rectangle 154"/>
          <p:cNvSpPr/>
          <p:nvPr/>
        </p:nvSpPr>
        <p:spPr>
          <a:xfrm>
            <a:off x="5315843" y="4037112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6" name="Rectangle 155"/>
          <p:cNvSpPr/>
          <p:nvPr/>
        </p:nvSpPr>
        <p:spPr>
          <a:xfrm>
            <a:off x="3956298" y="4188172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7" name="Rectangle 156"/>
          <p:cNvSpPr/>
          <p:nvPr/>
        </p:nvSpPr>
        <p:spPr>
          <a:xfrm>
            <a:off x="4107359" y="4188172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8" name="Rectangle 157"/>
          <p:cNvSpPr/>
          <p:nvPr/>
        </p:nvSpPr>
        <p:spPr>
          <a:xfrm>
            <a:off x="4258419" y="4188172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9" name="Rectangle 158"/>
          <p:cNvSpPr/>
          <p:nvPr/>
        </p:nvSpPr>
        <p:spPr>
          <a:xfrm>
            <a:off x="4409480" y="4188172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60" name="Rectangle 159"/>
          <p:cNvSpPr/>
          <p:nvPr/>
        </p:nvSpPr>
        <p:spPr>
          <a:xfrm>
            <a:off x="4560540" y="4188172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61" name="Rectangle 160"/>
          <p:cNvSpPr/>
          <p:nvPr/>
        </p:nvSpPr>
        <p:spPr>
          <a:xfrm>
            <a:off x="4711601" y="4188172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62" name="Rectangle 161"/>
          <p:cNvSpPr/>
          <p:nvPr/>
        </p:nvSpPr>
        <p:spPr>
          <a:xfrm>
            <a:off x="4862661" y="4188172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63" name="Rectangle 162"/>
          <p:cNvSpPr/>
          <p:nvPr/>
        </p:nvSpPr>
        <p:spPr>
          <a:xfrm>
            <a:off x="5013722" y="4188172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64" name="Rectangle 163"/>
          <p:cNvSpPr/>
          <p:nvPr/>
        </p:nvSpPr>
        <p:spPr>
          <a:xfrm>
            <a:off x="5164782" y="4188172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65" name="Rectangle 164"/>
          <p:cNvSpPr/>
          <p:nvPr/>
        </p:nvSpPr>
        <p:spPr>
          <a:xfrm>
            <a:off x="5315843" y="4188172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66" name="Rectangle 165"/>
          <p:cNvSpPr/>
          <p:nvPr/>
        </p:nvSpPr>
        <p:spPr>
          <a:xfrm>
            <a:off x="3956298" y="4339233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67" name="Rectangle 166"/>
          <p:cNvSpPr/>
          <p:nvPr/>
        </p:nvSpPr>
        <p:spPr>
          <a:xfrm>
            <a:off x="4107359" y="4339233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68" name="Rectangle 167"/>
          <p:cNvSpPr/>
          <p:nvPr/>
        </p:nvSpPr>
        <p:spPr>
          <a:xfrm>
            <a:off x="4258419" y="4339233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69" name="Rectangle 168"/>
          <p:cNvSpPr/>
          <p:nvPr/>
        </p:nvSpPr>
        <p:spPr>
          <a:xfrm>
            <a:off x="4409480" y="4339233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70" name="Rectangle 169"/>
          <p:cNvSpPr/>
          <p:nvPr/>
        </p:nvSpPr>
        <p:spPr>
          <a:xfrm>
            <a:off x="4560540" y="4339233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71" name="Rectangle 170"/>
          <p:cNvSpPr/>
          <p:nvPr/>
        </p:nvSpPr>
        <p:spPr>
          <a:xfrm>
            <a:off x="4711601" y="4339233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72" name="Rectangle 171"/>
          <p:cNvSpPr/>
          <p:nvPr/>
        </p:nvSpPr>
        <p:spPr>
          <a:xfrm>
            <a:off x="4862661" y="4339233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73" name="Rectangle 172"/>
          <p:cNvSpPr/>
          <p:nvPr/>
        </p:nvSpPr>
        <p:spPr>
          <a:xfrm>
            <a:off x="5013722" y="4339233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74" name="Rectangle 173"/>
          <p:cNvSpPr/>
          <p:nvPr/>
        </p:nvSpPr>
        <p:spPr>
          <a:xfrm>
            <a:off x="5164782" y="4339233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75" name="Rectangle 174"/>
          <p:cNvSpPr/>
          <p:nvPr/>
        </p:nvSpPr>
        <p:spPr>
          <a:xfrm>
            <a:off x="5315843" y="4339233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76" name="Rectangle 175"/>
          <p:cNvSpPr/>
          <p:nvPr/>
        </p:nvSpPr>
        <p:spPr>
          <a:xfrm>
            <a:off x="3956298" y="4490293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77" name="Rectangle 176"/>
          <p:cNvSpPr/>
          <p:nvPr/>
        </p:nvSpPr>
        <p:spPr>
          <a:xfrm>
            <a:off x="4107359" y="4490293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78" name="Rectangle 177"/>
          <p:cNvSpPr/>
          <p:nvPr/>
        </p:nvSpPr>
        <p:spPr>
          <a:xfrm>
            <a:off x="4258419" y="4490293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79" name="Rectangle 178"/>
          <p:cNvSpPr/>
          <p:nvPr/>
        </p:nvSpPr>
        <p:spPr>
          <a:xfrm>
            <a:off x="4409480" y="4490293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80" name="Rectangle 179"/>
          <p:cNvSpPr/>
          <p:nvPr/>
        </p:nvSpPr>
        <p:spPr>
          <a:xfrm>
            <a:off x="4560540" y="4490293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81" name="Rectangle 180"/>
          <p:cNvSpPr/>
          <p:nvPr/>
        </p:nvSpPr>
        <p:spPr>
          <a:xfrm>
            <a:off x="4711601" y="4490293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82" name="Rectangle 181"/>
          <p:cNvSpPr/>
          <p:nvPr/>
        </p:nvSpPr>
        <p:spPr>
          <a:xfrm>
            <a:off x="4862661" y="4490293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83" name="Rectangle 182"/>
          <p:cNvSpPr/>
          <p:nvPr/>
        </p:nvSpPr>
        <p:spPr>
          <a:xfrm>
            <a:off x="5013722" y="4490293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84" name="Rectangle 183"/>
          <p:cNvSpPr/>
          <p:nvPr/>
        </p:nvSpPr>
        <p:spPr>
          <a:xfrm>
            <a:off x="5164782" y="4490293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85" name="Rectangle 184"/>
          <p:cNvSpPr/>
          <p:nvPr/>
        </p:nvSpPr>
        <p:spPr>
          <a:xfrm>
            <a:off x="5315843" y="4490293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86" name="Rectangle 185"/>
          <p:cNvSpPr/>
          <p:nvPr/>
        </p:nvSpPr>
        <p:spPr>
          <a:xfrm>
            <a:off x="3956298" y="4641354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87" name="Rectangle 186"/>
          <p:cNvSpPr/>
          <p:nvPr/>
        </p:nvSpPr>
        <p:spPr>
          <a:xfrm>
            <a:off x="4107359" y="4641354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88" name="Rectangle 187"/>
          <p:cNvSpPr/>
          <p:nvPr/>
        </p:nvSpPr>
        <p:spPr>
          <a:xfrm>
            <a:off x="4258419" y="4641354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89" name="Rectangle 188"/>
          <p:cNvSpPr/>
          <p:nvPr/>
        </p:nvSpPr>
        <p:spPr>
          <a:xfrm>
            <a:off x="4409480" y="4641354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90" name="Rectangle 189"/>
          <p:cNvSpPr/>
          <p:nvPr/>
        </p:nvSpPr>
        <p:spPr>
          <a:xfrm>
            <a:off x="4560540" y="4641354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91" name="Rectangle 190"/>
          <p:cNvSpPr/>
          <p:nvPr/>
        </p:nvSpPr>
        <p:spPr>
          <a:xfrm>
            <a:off x="4711601" y="4641354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92" name="Rectangle 191"/>
          <p:cNvSpPr/>
          <p:nvPr/>
        </p:nvSpPr>
        <p:spPr>
          <a:xfrm>
            <a:off x="4862661" y="4641354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93" name="Rectangle 192"/>
          <p:cNvSpPr/>
          <p:nvPr/>
        </p:nvSpPr>
        <p:spPr>
          <a:xfrm>
            <a:off x="5013722" y="4641354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94" name="Rectangle 193"/>
          <p:cNvSpPr/>
          <p:nvPr/>
        </p:nvSpPr>
        <p:spPr>
          <a:xfrm>
            <a:off x="5164782" y="4641354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95" name="Rectangle 194"/>
          <p:cNvSpPr/>
          <p:nvPr/>
        </p:nvSpPr>
        <p:spPr>
          <a:xfrm>
            <a:off x="5315843" y="4641354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96" name="Rectangle 195"/>
          <p:cNvSpPr/>
          <p:nvPr/>
        </p:nvSpPr>
        <p:spPr>
          <a:xfrm>
            <a:off x="3956298" y="4792414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97" name="Rectangle 196"/>
          <p:cNvSpPr/>
          <p:nvPr/>
        </p:nvSpPr>
        <p:spPr>
          <a:xfrm>
            <a:off x="4107359" y="4792414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98" name="Rectangle 197"/>
          <p:cNvSpPr/>
          <p:nvPr/>
        </p:nvSpPr>
        <p:spPr>
          <a:xfrm>
            <a:off x="4258419" y="4792414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99" name="Rectangle 198"/>
          <p:cNvSpPr/>
          <p:nvPr/>
        </p:nvSpPr>
        <p:spPr>
          <a:xfrm>
            <a:off x="4409480" y="4792414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00" name="Rectangle 199"/>
          <p:cNvSpPr/>
          <p:nvPr/>
        </p:nvSpPr>
        <p:spPr>
          <a:xfrm>
            <a:off x="4560540" y="4792414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01" name="Rectangle 200"/>
          <p:cNvSpPr/>
          <p:nvPr/>
        </p:nvSpPr>
        <p:spPr>
          <a:xfrm>
            <a:off x="4711601" y="4792414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02" name="Rectangle 201"/>
          <p:cNvSpPr/>
          <p:nvPr/>
        </p:nvSpPr>
        <p:spPr>
          <a:xfrm>
            <a:off x="4862661" y="4792414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03" name="Rectangle 202"/>
          <p:cNvSpPr/>
          <p:nvPr/>
        </p:nvSpPr>
        <p:spPr>
          <a:xfrm>
            <a:off x="5013722" y="4792414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04" name="Rectangle 203"/>
          <p:cNvSpPr/>
          <p:nvPr/>
        </p:nvSpPr>
        <p:spPr>
          <a:xfrm>
            <a:off x="5164782" y="4792414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05" name="Rectangle 204"/>
          <p:cNvSpPr/>
          <p:nvPr/>
        </p:nvSpPr>
        <p:spPr>
          <a:xfrm>
            <a:off x="5315843" y="4792414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06" name="Rectangle 205"/>
          <p:cNvSpPr/>
          <p:nvPr/>
        </p:nvSpPr>
        <p:spPr>
          <a:xfrm>
            <a:off x="6939558" y="3432870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07" name="Rectangle 206"/>
          <p:cNvSpPr/>
          <p:nvPr/>
        </p:nvSpPr>
        <p:spPr>
          <a:xfrm>
            <a:off x="7090618" y="3432870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08" name="Rectangle 207"/>
          <p:cNvSpPr/>
          <p:nvPr/>
        </p:nvSpPr>
        <p:spPr>
          <a:xfrm>
            <a:off x="7241679" y="3432870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09" name="Rectangle 208"/>
          <p:cNvSpPr/>
          <p:nvPr/>
        </p:nvSpPr>
        <p:spPr>
          <a:xfrm>
            <a:off x="7392739" y="3432870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0" name="Rectangle 209"/>
          <p:cNvSpPr/>
          <p:nvPr/>
        </p:nvSpPr>
        <p:spPr>
          <a:xfrm>
            <a:off x="7543800" y="3432870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1" name="Rectangle 210"/>
          <p:cNvSpPr/>
          <p:nvPr/>
        </p:nvSpPr>
        <p:spPr>
          <a:xfrm>
            <a:off x="7694861" y="3432870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2" name="Rectangle 211"/>
          <p:cNvSpPr/>
          <p:nvPr/>
        </p:nvSpPr>
        <p:spPr>
          <a:xfrm>
            <a:off x="7845921" y="3432870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3" name="Rectangle 212"/>
          <p:cNvSpPr/>
          <p:nvPr/>
        </p:nvSpPr>
        <p:spPr>
          <a:xfrm>
            <a:off x="7996982" y="3432870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4" name="Rectangle 213"/>
          <p:cNvSpPr/>
          <p:nvPr/>
        </p:nvSpPr>
        <p:spPr>
          <a:xfrm>
            <a:off x="8148042" y="3432870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5" name="Rectangle 214"/>
          <p:cNvSpPr/>
          <p:nvPr/>
        </p:nvSpPr>
        <p:spPr>
          <a:xfrm>
            <a:off x="8299103" y="3432870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6" name="Rectangle 215"/>
          <p:cNvSpPr/>
          <p:nvPr/>
        </p:nvSpPr>
        <p:spPr>
          <a:xfrm>
            <a:off x="6939558" y="3583930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7" name="Rectangle 216"/>
          <p:cNvSpPr/>
          <p:nvPr/>
        </p:nvSpPr>
        <p:spPr>
          <a:xfrm>
            <a:off x="7090618" y="3583930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8" name="Rectangle 217"/>
          <p:cNvSpPr/>
          <p:nvPr/>
        </p:nvSpPr>
        <p:spPr>
          <a:xfrm>
            <a:off x="7241679" y="3583930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9" name="Rectangle 218"/>
          <p:cNvSpPr/>
          <p:nvPr/>
        </p:nvSpPr>
        <p:spPr>
          <a:xfrm>
            <a:off x="7392739" y="3583930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20" name="Rectangle 219"/>
          <p:cNvSpPr/>
          <p:nvPr/>
        </p:nvSpPr>
        <p:spPr>
          <a:xfrm>
            <a:off x="7543800" y="3583930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21" name="Rectangle 220"/>
          <p:cNvSpPr/>
          <p:nvPr/>
        </p:nvSpPr>
        <p:spPr>
          <a:xfrm>
            <a:off x="7694861" y="3583930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22" name="Rectangle 221"/>
          <p:cNvSpPr/>
          <p:nvPr/>
        </p:nvSpPr>
        <p:spPr>
          <a:xfrm>
            <a:off x="7845921" y="3583930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23" name="Rectangle 222"/>
          <p:cNvSpPr/>
          <p:nvPr/>
        </p:nvSpPr>
        <p:spPr>
          <a:xfrm>
            <a:off x="7996982" y="3583930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24" name="Rectangle 223"/>
          <p:cNvSpPr/>
          <p:nvPr/>
        </p:nvSpPr>
        <p:spPr>
          <a:xfrm>
            <a:off x="8148042" y="3583930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25" name="Rectangle 224"/>
          <p:cNvSpPr/>
          <p:nvPr/>
        </p:nvSpPr>
        <p:spPr>
          <a:xfrm>
            <a:off x="8299103" y="3583930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26" name="Rectangle 225"/>
          <p:cNvSpPr/>
          <p:nvPr/>
        </p:nvSpPr>
        <p:spPr>
          <a:xfrm>
            <a:off x="6939558" y="3734991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27" name="Rectangle 226"/>
          <p:cNvSpPr/>
          <p:nvPr/>
        </p:nvSpPr>
        <p:spPr>
          <a:xfrm>
            <a:off x="7090618" y="3734991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28" name="Rectangle 227"/>
          <p:cNvSpPr/>
          <p:nvPr/>
        </p:nvSpPr>
        <p:spPr>
          <a:xfrm>
            <a:off x="7241679" y="3734991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29" name="Rectangle 228"/>
          <p:cNvSpPr/>
          <p:nvPr/>
        </p:nvSpPr>
        <p:spPr>
          <a:xfrm>
            <a:off x="7392739" y="3734991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30" name="Rectangle 229"/>
          <p:cNvSpPr/>
          <p:nvPr/>
        </p:nvSpPr>
        <p:spPr>
          <a:xfrm>
            <a:off x="7543800" y="3734991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31" name="Rectangle 230"/>
          <p:cNvSpPr/>
          <p:nvPr/>
        </p:nvSpPr>
        <p:spPr>
          <a:xfrm>
            <a:off x="7694861" y="3734991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32" name="Rectangle 231"/>
          <p:cNvSpPr/>
          <p:nvPr/>
        </p:nvSpPr>
        <p:spPr>
          <a:xfrm>
            <a:off x="7845921" y="3734991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33" name="Rectangle 232"/>
          <p:cNvSpPr/>
          <p:nvPr/>
        </p:nvSpPr>
        <p:spPr>
          <a:xfrm>
            <a:off x="7996982" y="3734991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34" name="Rectangle 233"/>
          <p:cNvSpPr/>
          <p:nvPr/>
        </p:nvSpPr>
        <p:spPr>
          <a:xfrm>
            <a:off x="8148042" y="3734991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35" name="Rectangle 234"/>
          <p:cNvSpPr/>
          <p:nvPr/>
        </p:nvSpPr>
        <p:spPr>
          <a:xfrm>
            <a:off x="8299103" y="3734991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36" name="Rectangle 235"/>
          <p:cNvSpPr/>
          <p:nvPr/>
        </p:nvSpPr>
        <p:spPr>
          <a:xfrm>
            <a:off x="6939558" y="3886051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37" name="Rectangle 236"/>
          <p:cNvSpPr/>
          <p:nvPr/>
        </p:nvSpPr>
        <p:spPr>
          <a:xfrm>
            <a:off x="7090618" y="3886051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38" name="Rectangle 237"/>
          <p:cNvSpPr/>
          <p:nvPr/>
        </p:nvSpPr>
        <p:spPr>
          <a:xfrm>
            <a:off x="7241679" y="3886051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39" name="Rectangle 238"/>
          <p:cNvSpPr/>
          <p:nvPr/>
        </p:nvSpPr>
        <p:spPr>
          <a:xfrm>
            <a:off x="7392739" y="3886051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40" name="Rectangle 239"/>
          <p:cNvSpPr/>
          <p:nvPr/>
        </p:nvSpPr>
        <p:spPr>
          <a:xfrm>
            <a:off x="7543800" y="3886051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41" name="Rectangle 240"/>
          <p:cNvSpPr/>
          <p:nvPr/>
        </p:nvSpPr>
        <p:spPr>
          <a:xfrm>
            <a:off x="7694861" y="3886051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42" name="Rectangle 241"/>
          <p:cNvSpPr/>
          <p:nvPr/>
        </p:nvSpPr>
        <p:spPr>
          <a:xfrm>
            <a:off x="7845921" y="3886051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43" name="Rectangle 242"/>
          <p:cNvSpPr/>
          <p:nvPr/>
        </p:nvSpPr>
        <p:spPr>
          <a:xfrm>
            <a:off x="7996982" y="3886051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44" name="Rectangle 243"/>
          <p:cNvSpPr/>
          <p:nvPr/>
        </p:nvSpPr>
        <p:spPr>
          <a:xfrm>
            <a:off x="8148042" y="3886051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45" name="Rectangle 244"/>
          <p:cNvSpPr/>
          <p:nvPr/>
        </p:nvSpPr>
        <p:spPr>
          <a:xfrm>
            <a:off x="8299103" y="3886051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46" name="Rectangle 245"/>
          <p:cNvSpPr/>
          <p:nvPr/>
        </p:nvSpPr>
        <p:spPr>
          <a:xfrm>
            <a:off x="6939558" y="4037112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47" name="Rectangle 246"/>
          <p:cNvSpPr/>
          <p:nvPr/>
        </p:nvSpPr>
        <p:spPr>
          <a:xfrm>
            <a:off x="7090618" y="4037112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48" name="Rectangle 247"/>
          <p:cNvSpPr/>
          <p:nvPr/>
        </p:nvSpPr>
        <p:spPr>
          <a:xfrm>
            <a:off x="7241679" y="4037112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49" name="Rectangle 248"/>
          <p:cNvSpPr/>
          <p:nvPr/>
        </p:nvSpPr>
        <p:spPr>
          <a:xfrm>
            <a:off x="7392739" y="4037112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50" name="Rectangle 249"/>
          <p:cNvSpPr/>
          <p:nvPr/>
        </p:nvSpPr>
        <p:spPr>
          <a:xfrm>
            <a:off x="7543800" y="4037112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51" name="Rectangle 250"/>
          <p:cNvSpPr/>
          <p:nvPr/>
        </p:nvSpPr>
        <p:spPr>
          <a:xfrm>
            <a:off x="7694861" y="4037112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52" name="Rectangle 251"/>
          <p:cNvSpPr/>
          <p:nvPr/>
        </p:nvSpPr>
        <p:spPr>
          <a:xfrm>
            <a:off x="7845921" y="4037112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53" name="Rectangle 252"/>
          <p:cNvSpPr/>
          <p:nvPr/>
        </p:nvSpPr>
        <p:spPr>
          <a:xfrm>
            <a:off x="7996982" y="4037112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54" name="Rectangle 253"/>
          <p:cNvSpPr/>
          <p:nvPr/>
        </p:nvSpPr>
        <p:spPr>
          <a:xfrm>
            <a:off x="8148042" y="4037112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55" name="Rectangle 254"/>
          <p:cNvSpPr/>
          <p:nvPr/>
        </p:nvSpPr>
        <p:spPr>
          <a:xfrm>
            <a:off x="8299103" y="4037112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56" name="Rectangle 255"/>
          <p:cNvSpPr/>
          <p:nvPr/>
        </p:nvSpPr>
        <p:spPr>
          <a:xfrm>
            <a:off x="6939558" y="4188172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57" name="Rectangle 256"/>
          <p:cNvSpPr/>
          <p:nvPr/>
        </p:nvSpPr>
        <p:spPr>
          <a:xfrm>
            <a:off x="7090618" y="4188172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58" name="Rectangle 257"/>
          <p:cNvSpPr/>
          <p:nvPr/>
        </p:nvSpPr>
        <p:spPr>
          <a:xfrm>
            <a:off x="7241679" y="4188172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59" name="Rectangle 258"/>
          <p:cNvSpPr/>
          <p:nvPr/>
        </p:nvSpPr>
        <p:spPr>
          <a:xfrm>
            <a:off x="7392739" y="4188172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60" name="Rectangle 259"/>
          <p:cNvSpPr/>
          <p:nvPr/>
        </p:nvSpPr>
        <p:spPr>
          <a:xfrm>
            <a:off x="7543800" y="4188172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61" name="Rectangle 260"/>
          <p:cNvSpPr/>
          <p:nvPr/>
        </p:nvSpPr>
        <p:spPr>
          <a:xfrm>
            <a:off x="7694861" y="4188172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62" name="Rectangle 261"/>
          <p:cNvSpPr/>
          <p:nvPr/>
        </p:nvSpPr>
        <p:spPr>
          <a:xfrm>
            <a:off x="7845921" y="4188172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63" name="Rectangle 262"/>
          <p:cNvSpPr/>
          <p:nvPr/>
        </p:nvSpPr>
        <p:spPr>
          <a:xfrm>
            <a:off x="7996982" y="4188172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64" name="Rectangle 263"/>
          <p:cNvSpPr/>
          <p:nvPr/>
        </p:nvSpPr>
        <p:spPr>
          <a:xfrm>
            <a:off x="8148042" y="4188172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65" name="Rectangle 264"/>
          <p:cNvSpPr/>
          <p:nvPr/>
        </p:nvSpPr>
        <p:spPr>
          <a:xfrm>
            <a:off x="8299103" y="4188172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66" name="Rectangle 265"/>
          <p:cNvSpPr/>
          <p:nvPr/>
        </p:nvSpPr>
        <p:spPr>
          <a:xfrm>
            <a:off x="6939558" y="4339233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67" name="Rectangle 266"/>
          <p:cNvSpPr/>
          <p:nvPr/>
        </p:nvSpPr>
        <p:spPr>
          <a:xfrm>
            <a:off x="7090618" y="4339233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68" name="Rectangle 267"/>
          <p:cNvSpPr/>
          <p:nvPr/>
        </p:nvSpPr>
        <p:spPr>
          <a:xfrm>
            <a:off x="7241679" y="4339233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69" name="Rectangle 268"/>
          <p:cNvSpPr/>
          <p:nvPr/>
        </p:nvSpPr>
        <p:spPr>
          <a:xfrm>
            <a:off x="7392739" y="4339233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70" name="Rectangle 269"/>
          <p:cNvSpPr/>
          <p:nvPr/>
        </p:nvSpPr>
        <p:spPr>
          <a:xfrm>
            <a:off x="7543800" y="4339233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71" name="Rectangle 270"/>
          <p:cNvSpPr/>
          <p:nvPr/>
        </p:nvSpPr>
        <p:spPr>
          <a:xfrm>
            <a:off x="7694861" y="4339233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72" name="Rectangle 271"/>
          <p:cNvSpPr/>
          <p:nvPr/>
        </p:nvSpPr>
        <p:spPr>
          <a:xfrm>
            <a:off x="7845921" y="4339233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73" name="Rectangle 272"/>
          <p:cNvSpPr/>
          <p:nvPr/>
        </p:nvSpPr>
        <p:spPr>
          <a:xfrm>
            <a:off x="7996982" y="4339233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74" name="Rectangle 273"/>
          <p:cNvSpPr/>
          <p:nvPr/>
        </p:nvSpPr>
        <p:spPr>
          <a:xfrm>
            <a:off x="8148042" y="4339233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75" name="Rectangle 274"/>
          <p:cNvSpPr/>
          <p:nvPr/>
        </p:nvSpPr>
        <p:spPr>
          <a:xfrm>
            <a:off x="8299103" y="4339233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76" name="Rectangle 275"/>
          <p:cNvSpPr/>
          <p:nvPr/>
        </p:nvSpPr>
        <p:spPr>
          <a:xfrm>
            <a:off x="6939558" y="4490293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77" name="Rectangle 276"/>
          <p:cNvSpPr/>
          <p:nvPr/>
        </p:nvSpPr>
        <p:spPr>
          <a:xfrm>
            <a:off x="7090618" y="4490293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78" name="Rectangle 277"/>
          <p:cNvSpPr/>
          <p:nvPr/>
        </p:nvSpPr>
        <p:spPr>
          <a:xfrm>
            <a:off x="7241679" y="4490293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79" name="Rectangle 278"/>
          <p:cNvSpPr/>
          <p:nvPr/>
        </p:nvSpPr>
        <p:spPr>
          <a:xfrm>
            <a:off x="7392739" y="4490293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80" name="Rectangle 279"/>
          <p:cNvSpPr/>
          <p:nvPr/>
        </p:nvSpPr>
        <p:spPr>
          <a:xfrm>
            <a:off x="7543800" y="4490293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81" name="Rectangle 280"/>
          <p:cNvSpPr/>
          <p:nvPr/>
        </p:nvSpPr>
        <p:spPr>
          <a:xfrm>
            <a:off x="7694861" y="4490293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82" name="Rectangle 281"/>
          <p:cNvSpPr/>
          <p:nvPr/>
        </p:nvSpPr>
        <p:spPr>
          <a:xfrm>
            <a:off x="7845921" y="4490293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83" name="Rectangle 282"/>
          <p:cNvSpPr/>
          <p:nvPr/>
        </p:nvSpPr>
        <p:spPr>
          <a:xfrm>
            <a:off x="7996982" y="4490293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84" name="Rectangle 283"/>
          <p:cNvSpPr/>
          <p:nvPr/>
        </p:nvSpPr>
        <p:spPr>
          <a:xfrm>
            <a:off x="8148042" y="4490293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85" name="Rectangle 284"/>
          <p:cNvSpPr/>
          <p:nvPr/>
        </p:nvSpPr>
        <p:spPr>
          <a:xfrm>
            <a:off x="8299103" y="4490293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86" name="Rectangle 285"/>
          <p:cNvSpPr/>
          <p:nvPr/>
        </p:nvSpPr>
        <p:spPr>
          <a:xfrm>
            <a:off x="6939558" y="4641354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87" name="Rectangle 286"/>
          <p:cNvSpPr/>
          <p:nvPr/>
        </p:nvSpPr>
        <p:spPr>
          <a:xfrm>
            <a:off x="7090618" y="4641354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88" name="Rectangle 287"/>
          <p:cNvSpPr/>
          <p:nvPr/>
        </p:nvSpPr>
        <p:spPr>
          <a:xfrm>
            <a:off x="7241679" y="4641354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89" name="Rectangle 288"/>
          <p:cNvSpPr/>
          <p:nvPr/>
        </p:nvSpPr>
        <p:spPr>
          <a:xfrm>
            <a:off x="7392739" y="4641354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90" name="Rectangle 289"/>
          <p:cNvSpPr/>
          <p:nvPr/>
        </p:nvSpPr>
        <p:spPr>
          <a:xfrm>
            <a:off x="7543800" y="4641354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91" name="Rectangle 290"/>
          <p:cNvSpPr/>
          <p:nvPr/>
        </p:nvSpPr>
        <p:spPr>
          <a:xfrm>
            <a:off x="7694861" y="4641354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92" name="Rectangle 291"/>
          <p:cNvSpPr/>
          <p:nvPr/>
        </p:nvSpPr>
        <p:spPr>
          <a:xfrm>
            <a:off x="7845921" y="4641354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93" name="Rectangle 292"/>
          <p:cNvSpPr/>
          <p:nvPr/>
        </p:nvSpPr>
        <p:spPr>
          <a:xfrm>
            <a:off x="7996982" y="4641354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94" name="Rectangle 293"/>
          <p:cNvSpPr/>
          <p:nvPr/>
        </p:nvSpPr>
        <p:spPr>
          <a:xfrm>
            <a:off x="8148042" y="4641354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95" name="Rectangle 294"/>
          <p:cNvSpPr/>
          <p:nvPr/>
        </p:nvSpPr>
        <p:spPr>
          <a:xfrm>
            <a:off x="8299103" y="4641354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96" name="Rectangle 295"/>
          <p:cNvSpPr/>
          <p:nvPr/>
        </p:nvSpPr>
        <p:spPr>
          <a:xfrm>
            <a:off x="6939558" y="4792414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97" name="Rectangle 296"/>
          <p:cNvSpPr/>
          <p:nvPr/>
        </p:nvSpPr>
        <p:spPr>
          <a:xfrm>
            <a:off x="7090618" y="4792414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98" name="Rectangle 297"/>
          <p:cNvSpPr/>
          <p:nvPr/>
        </p:nvSpPr>
        <p:spPr>
          <a:xfrm>
            <a:off x="7241679" y="4792414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99" name="Rectangle 298"/>
          <p:cNvSpPr/>
          <p:nvPr/>
        </p:nvSpPr>
        <p:spPr>
          <a:xfrm>
            <a:off x="7392739" y="4792414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00" name="Rectangle 299"/>
          <p:cNvSpPr/>
          <p:nvPr/>
        </p:nvSpPr>
        <p:spPr>
          <a:xfrm>
            <a:off x="7543800" y="4792414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01" name="Rectangle 300"/>
          <p:cNvSpPr/>
          <p:nvPr/>
        </p:nvSpPr>
        <p:spPr>
          <a:xfrm>
            <a:off x="7694861" y="4792414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02" name="Rectangle 301"/>
          <p:cNvSpPr/>
          <p:nvPr/>
        </p:nvSpPr>
        <p:spPr>
          <a:xfrm>
            <a:off x="7845921" y="4792414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03" name="Rectangle 302"/>
          <p:cNvSpPr/>
          <p:nvPr/>
        </p:nvSpPr>
        <p:spPr>
          <a:xfrm>
            <a:off x="7996982" y="4792414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04" name="Rectangle 303"/>
          <p:cNvSpPr/>
          <p:nvPr/>
        </p:nvSpPr>
        <p:spPr>
          <a:xfrm>
            <a:off x="8148042" y="4792414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05" name="Rectangle 304"/>
          <p:cNvSpPr/>
          <p:nvPr/>
        </p:nvSpPr>
        <p:spPr>
          <a:xfrm>
            <a:off x="9922818" y="3432870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06" name="Rectangle 305"/>
          <p:cNvSpPr/>
          <p:nvPr/>
        </p:nvSpPr>
        <p:spPr>
          <a:xfrm>
            <a:off x="10073878" y="3432870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07" name="Rectangle 306"/>
          <p:cNvSpPr/>
          <p:nvPr/>
        </p:nvSpPr>
        <p:spPr>
          <a:xfrm>
            <a:off x="10224939" y="3432870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08" name="Rectangle 307"/>
          <p:cNvSpPr/>
          <p:nvPr/>
        </p:nvSpPr>
        <p:spPr>
          <a:xfrm>
            <a:off x="10375999" y="3432870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09" name="Rectangle 308"/>
          <p:cNvSpPr/>
          <p:nvPr/>
        </p:nvSpPr>
        <p:spPr>
          <a:xfrm>
            <a:off x="10527060" y="3432870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10" name="Rectangle 309"/>
          <p:cNvSpPr/>
          <p:nvPr/>
        </p:nvSpPr>
        <p:spPr>
          <a:xfrm>
            <a:off x="10678120" y="3432870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11" name="Rectangle 310"/>
          <p:cNvSpPr/>
          <p:nvPr/>
        </p:nvSpPr>
        <p:spPr>
          <a:xfrm>
            <a:off x="10829181" y="3432870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12" name="Rectangle 311"/>
          <p:cNvSpPr/>
          <p:nvPr/>
        </p:nvSpPr>
        <p:spPr>
          <a:xfrm>
            <a:off x="10980241" y="3432870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13" name="Rectangle 312"/>
          <p:cNvSpPr/>
          <p:nvPr/>
        </p:nvSpPr>
        <p:spPr>
          <a:xfrm>
            <a:off x="11131302" y="3432870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14" name="Rectangle 313"/>
          <p:cNvSpPr/>
          <p:nvPr/>
        </p:nvSpPr>
        <p:spPr>
          <a:xfrm>
            <a:off x="11282362" y="3432870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15" name="Rectangle 314"/>
          <p:cNvSpPr/>
          <p:nvPr/>
        </p:nvSpPr>
        <p:spPr>
          <a:xfrm>
            <a:off x="9922818" y="3583930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16" name="Rectangle 315"/>
          <p:cNvSpPr/>
          <p:nvPr/>
        </p:nvSpPr>
        <p:spPr>
          <a:xfrm>
            <a:off x="10073878" y="3583930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17" name="Rectangle 316"/>
          <p:cNvSpPr/>
          <p:nvPr/>
        </p:nvSpPr>
        <p:spPr>
          <a:xfrm>
            <a:off x="10224939" y="3583930"/>
            <a:ext cx="107900" cy="107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18" name="Rectangle 317"/>
          <p:cNvSpPr/>
          <p:nvPr/>
        </p:nvSpPr>
        <p:spPr>
          <a:xfrm>
            <a:off x="10375999" y="3583930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19" name="Rectangle 318"/>
          <p:cNvSpPr/>
          <p:nvPr/>
        </p:nvSpPr>
        <p:spPr>
          <a:xfrm>
            <a:off x="10527060" y="3583930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20" name="Rectangle 319"/>
          <p:cNvSpPr/>
          <p:nvPr/>
        </p:nvSpPr>
        <p:spPr>
          <a:xfrm>
            <a:off x="10678120" y="3583930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21" name="Rectangle 320"/>
          <p:cNvSpPr/>
          <p:nvPr/>
        </p:nvSpPr>
        <p:spPr>
          <a:xfrm>
            <a:off x="10829181" y="3583930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22" name="Rectangle 321"/>
          <p:cNvSpPr/>
          <p:nvPr/>
        </p:nvSpPr>
        <p:spPr>
          <a:xfrm>
            <a:off x="10980241" y="3583930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23" name="Rectangle 322"/>
          <p:cNvSpPr/>
          <p:nvPr/>
        </p:nvSpPr>
        <p:spPr>
          <a:xfrm>
            <a:off x="11131302" y="3583930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24" name="Rectangle 323"/>
          <p:cNvSpPr/>
          <p:nvPr/>
        </p:nvSpPr>
        <p:spPr>
          <a:xfrm>
            <a:off x="11282362" y="3583930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25" name="Rectangle 324"/>
          <p:cNvSpPr/>
          <p:nvPr/>
        </p:nvSpPr>
        <p:spPr>
          <a:xfrm>
            <a:off x="9922818" y="3734991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26" name="Rectangle 325"/>
          <p:cNvSpPr/>
          <p:nvPr/>
        </p:nvSpPr>
        <p:spPr>
          <a:xfrm>
            <a:off x="10073878" y="3734991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27" name="Rectangle 326"/>
          <p:cNvSpPr/>
          <p:nvPr/>
        </p:nvSpPr>
        <p:spPr>
          <a:xfrm>
            <a:off x="10224939" y="3734991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28" name="Rectangle 327"/>
          <p:cNvSpPr/>
          <p:nvPr/>
        </p:nvSpPr>
        <p:spPr>
          <a:xfrm>
            <a:off x="10375999" y="3734991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29" name="Rectangle 328"/>
          <p:cNvSpPr/>
          <p:nvPr/>
        </p:nvSpPr>
        <p:spPr>
          <a:xfrm>
            <a:off x="10527060" y="3734991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30" name="Rectangle 329"/>
          <p:cNvSpPr/>
          <p:nvPr/>
        </p:nvSpPr>
        <p:spPr>
          <a:xfrm>
            <a:off x="10678120" y="3734991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31" name="Rectangle 330"/>
          <p:cNvSpPr/>
          <p:nvPr/>
        </p:nvSpPr>
        <p:spPr>
          <a:xfrm>
            <a:off x="10829181" y="3734991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32" name="Rectangle 331"/>
          <p:cNvSpPr/>
          <p:nvPr/>
        </p:nvSpPr>
        <p:spPr>
          <a:xfrm>
            <a:off x="10980241" y="3734991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33" name="Rectangle 332"/>
          <p:cNvSpPr/>
          <p:nvPr/>
        </p:nvSpPr>
        <p:spPr>
          <a:xfrm>
            <a:off x="11131302" y="3734991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34" name="Rectangle 333"/>
          <p:cNvSpPr/>
          <p:nvPr/>
        </p:nvSpPr>
        <p:spPr>
          <a:xfrm>
            <a:off x="11282362" y="3734991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35" name="Rectangle 334"/>
          <p:cNvSpPr/>
          <p:nvPr/>
        </p:nvSpPr>
        <p:spPr>
          <a:xfrm>
            <a:off x="9922818" y="3886051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36" name="Rectangle 335"/>
          <p:cNvSpPr/>
          <p:nvPr/>
        </p:nvSpPr>
        <p:spPr>
          <a:xfrm>
            <a:off x="10073878" y="3886051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37" name="Rectangle 336"/>
          <p:cNvSpPr/>
          <p:nvPr/>
        </p:nvSpPr>
        <p:spPr>
          <a:xfrm>
            <a:off x="10224939" y="3886051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38" name="Rectangle 337"/>
          <p:cNvSpPr/>
          <p:nvPr/>
        </p:nvSpPr>
        <p:spPr>
          <a:xfrm>
            <a:off x="10375999" y="3886051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39" name="Rectangle 338"/>
          <p:cNvSpPr/>
          <p:nvPr/>
        </p:nvSpPr>
        <p:spPr>
          <a:xfrm>
            <a:off x="10527060" y="3886051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40" name="Rectangle 339"/>
          <p:cNvSpPr/>
          <p:nvPr/>
        </p:nvSpPr>
        <p:spPr>
          <a:xfrm>
            <a:off x="10678120" y="3886051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41" name="Rectangle 340"/>
          <p:cNvSpPr/>
          <p:nvPr/>
        </p:nvSpPr>
        <p:spPr>
          <a:xfrm>
            <a:off x="10829181" y="3886051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42" name="Rectangle 341"/>
          <p:cNvSpPr/>
          <p:nvPr/>
        </p:nvSpPr>
        <p:spPr>
          <a:xfrm>
            <a:off x="10980241" y="3886051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43" name="Rectangle 342"/>
          <p:cNvSpPr/>
          <p:nvPr/>
        </p:nvSpPr>
        <p:spPr>
          <a:xfrm>
            <a:off x="11131302" y="3886051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44" name="Rectangle 343"/>
          <p:cNvSpPr/>
          <p:nvPr/>
        </p:nvSpPr>
        <p:spPr>
          <a:xfrm>
            <a:off x="11282362" y="3886051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45" name="Rectangle 344"/>
          <p:cNvSpPr/>
          <p:nvPr/>
        </p:nvSpPr>
        <p:spPr>
          <a:xfrm>
            <a:off x="9922818" y="4037112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46" name="Rectangle 345"/>
          <p:cNvSpPr/>
          <p:nvPr/>
        </p:nvSpPr>
        <p:spPr>
          <a:xfrm>
            <a:off x="10073878" y="4037112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47" name="Rectangle 346"/>
          <p:cNvSpPr/>
          <p:nvPr/>
        </p:nvSpPr>
        <p:spPr>
          <a:xfrm>
            <a:off x="10224939" y="4037112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48" name="Rectangle 347"/>
          <p:cNvSpPr/>
          <p:nvPr/>
        </p:nvSpPr>
        <p:spPr>
          <a:xfrm>
            <a:off x="10375999" y="4037112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49" name="Rectangle 348"/>
          <p:cNvSpPr/>
          <p:nvPr/>
        </p:nvSpPr>
        <p:spPr>
          <a:xfrm>
            <a:off x="10527060" y="4037112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50" name="Rectangle 349"/>
          <p:cNvSpPr/>
          <p:nvPr/>
        </p:nvSpPr>
        <p:spPr>
          <a:xfrm>
            <a:off x="10678120" y="4037112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51" name="Rectangle 350"/>
          <p:cNvSpPr/>
          <p:nvPr/>
        </p:nvSpPr>
        <p:spPr>
          <a:xfrm>
            <a:off x="10829181" y="4037112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52" name="Rectangle 351"/>
          <p:cNvSpPr/>
          <p:nvPr/>
        </p:nvSpPr>
        <p:spPr>
          <a:xfrm>
            <a:off x="10980241" y="4037112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53" name="Rectangle 352"/>
          <p:cNvSpPr/>
          <p:nvPr/>
        </p:nvSpPr>
        <p:spPr>
          <a:xfrm>
            <a:off x="11131302" y="4037112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54" name="Rectangle 353"/>
          <p:cNvSpPr/>
          <p:nvPr/>
        </p:nvSpPr>
        <p:spPr>
          <a:xfrm>
            <a:off x="11282362" y="4037112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55" name="Rectangle 354"/>
          <p:cNvSpPr/>
          <p:nvPr/>
        </p:nvSpPr>
        <p:spPr>
          <a:xfrm>
            <a:off x="9922818" y="4188172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56" name="Rectangle 355"/>
          <p:cNvSpPr/>
          <p:nvPr/>
        </p:nvSpPr>
        <p:spPr>
          <a:xfrm>
            <a:off x="10073878" y="4188172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57" name="Rectangle 356"/>
          <p:cNvSpPr/>
          <p:nvPr/>
        </p:nvSpPr>
        <p:spPr>
          <a:xfrm>
            <a:off x="10224939" y="4188172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58" name="Rectangle 357"/>
          <p:cNvSpPr/>
          <p:nvPr/>
        </p:nvSpPr>
        <p:spPr>
          <a:xfrm>
            <a:off x="10375999" y="4188172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59" name="Rectangle 358"/>
          <p:cNvSpPr/>
          <p:nvPr/>
        </p:nvSpPr>
        <p:spPr>
          <a:xfrm>
            <a:off x="10527060" y="4188172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60" name="Rectangle 359"/>
          <p:cNvSpPr/>
          <p:nvPr/>
        </p:nvSpPr>
        <p:spPr>
          <a:xfrm>
            <a:off x="10678120" y="4188172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61" name="Rectangle 360"/>
          <p:cNvSpPr/>
          <p:nvPr/>
        </p:nvSpPr>
        <p:spPr>
          <a:xfrm>
            <a:off x="10829181" y="4188172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62" name="Rectangle 361"/>
          <p:cNvSpPr/>
          <p:nvPr/>
        </p:nvSpPr>
        <p:spPr>
          <a:xfrm>
            <a:off x="10980241" y="4188172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63" name="Rectangle 362"/>
          <p:cNvSpPr/>
          <p:nvPr/>
        </p:nvSpPr>
        <p:spPr>
          <a:xfrm>
            <a:off x="11131302" y="4188172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64" name="Rectangle 363"/>
          <p:cNvSpPr/>
          <p:nvPr/>
        </p:nvSpPr>
        <p:spPr>
          <a:xfrm>
            <a:off x="11282362" y="4188172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65" name="Rectangle 364"/>
          <p:cNvSpPr/>
          <p:nvPr/>
        </p:nvSpPr>
        <p:spPr>
          <a:xfrm>
            <a:off x="9922818" y="4339233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66" name="Rectangle 365"/>
          <p:cNvSpPr/>
          <p:nvPr/>
        </p:nvSpPr>
        <p:spPr>
          <a:xfrm>
            <a:off x="10073878" y="4339233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67" name="Rectangle 366"/>
          <p:cNvSpPr/>
          <p:nvPr/>
        </p:nvSpPr>
        <p:spPr>
          <a:xfrm>
            <a:off x="10224939" y="4339233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68" name="Rectangle 367"/>
          <p:cNvSpPr/>
          <p:nvPr/>
        </p:nvSpPr>
        <p:spPr>
          <a:xfrm>
            <a:off x="10375999" y="4339233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69" name="Rectangle 368"/>
          <p:cNvSpPr/>
          <p:nvPr/>
        </p:nvSpPr>
        <p:spPr>
          <a:xfrm>
            <a:off x="10527060" y="4339233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70" name="Rectangle 369"/>
          <p:cNvSpPr/>
          <p:nvPr/>
        </p:nvSpPr>
        <p:spPr>
          <a:xfrm>
            <a:off x="10678120" y="4339233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71" name="Rectangle 370"/>
          <p:cNvSpPr/>
          <p:nvPr/>
        </p:nvSpPr>
        <p:spPr>
          <a:xfrm>
            <a:off x="10829181" y="4339233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72" name="Rectangle 371"/>
          <p:cNvSpPr/>
          <p:nvPr/>
        </p:nvSpPr>
        <p:spPr>
          <a:xfrm>
            <a:off x="10980241" y="4339233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73" name="Rectangle 372"/>
          <p:cNvSpPr/>
          <p:nvPr/>
        </p:nvSpPr>
        <p:spPr>
          <a:xfrm>
            <a:off x="11131302" y="4339233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74" name="Rectangle 373"/>
          <p:cNvSpPr/>
          <p:nvPr/>
        </p:nvSpPr>
        <p:spPr>
          <a:xfrm>
            <a:off x="11282362" y="4339233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75" name="Rectangle 374"/>
          <p:cNvSpPr/>
          <p:nvPr/>
        </p:nvSpPr>
        <p:spPr>
          <a:xfrm>
            <a:off x="9922818" y="4490293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76" name="Rectangle 375"/>
          <p:cNvSpPr/>
          <p:nvPr/>
        </p:nvSpPr>
        <p:spPr>
          <a:xfrm>
            <a:off x="10073878" y="4490293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77" name="Rectangle 376"/>
          <p:cNvSpPr/>
          <p:nvPr/>
        </p:nvSpPr>
        <p:spPr>
          <a:xfrm>
            <a:off x="10224939" y="4490293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78" name="Rectangle 377"/>
          <p:cNvSpPr/>
          <p:nvPr/>
        </p:nvSpPr>
        <p:spPr>
          <a:xfrm>
            <a:off x="10375999" y="4490293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79" name="Rectangle 378"/>
          <p:cNvSpPr/>
          <p:nvPr/>
        </p:nvSpPr>
        <p:spPr>
          <a:xfrm>
            <a:off x="10527060" y="4490293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80" name="Rectangle 379"/>
          <p:cNvSpPr/>
          <p:nvPr/>
        </p:nvSpPr>
        <p:spPr>
          <a:xfrm>
            <a:off x="10678120" y="4490293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81" name="Rectangle 380"/>
          <p:cNvSpPr/>
          <p:nvPr/>
        </p:nvSpPr>
        <p:spPr>
          <a:xfrm>
            <a:off x="10829181" y="4490293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82" name="Rectangle 381"/>
          <p:cNvSpPr/>
          <p:nvPr/>
        </p:nvSpPr>
        <p:spPr>
          <a:xfrm>
            <a:off x="10980241" y="4490293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83" name="Rectangle 382"/>
          <p:cNvSpPr/>
          <p:nvPr/>
        </p:nvSpPr>
        <p:spPr>
          <a:xfrm>
            <a:off x="11131302" y="4490293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84" name="Rectangle 383"/>
          <p:cNvSpPr/>
          <p:nvPr/>
        </p:nvSpPr>
        <p:spPr>
          <a:xfrm>
            <a:off x="11282362" y="4490293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85" name="Rectangle 384"/>
          <p:cNvSpPr/>
          <p:nvPr/>
        </p:nvSpPr>
        <p:spPr>
          <a:xfrm>
            <a:off x="9922818" y="4641354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86" name="Rectangle 385"/>
          <p:cNvSpPr/>
          <p:nvPr/>
        </p:nvSpPr>
        <p:spPr>
          <a:xfrm>
            <a:off x="10073878" y="4641354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87" name="Rectangle 386"/>
          <p:cNvSpPr/>
          <p:nvPr/>
        </p:nvSpPr>
        <p:spPr>
          <a:xfrm>
            <a:off x="10224939" y="4641354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88" name="Rectangle 387"/>
          <p:cNvSpPr/>
          <p:nvPr/>
        </p:nvSpPr>
        <p:spPr>
          <a:xfrm>
            <a:off x="10375999" y="4641354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89" name="Rectangle 388"/>
          <p:cNvSpPr/>
          <p:nvPr/>
        </p:nvSpPr>
        <p:spPr>
          <a:xfrm>
            <a:off x="10527060" y="4641354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90" name="Rectangle 389"/>
          <p:cNvSpPr/>
          <p:nvPr/>
        </p:nvSpPr>
        <p:spPr>
          <a:xfrm>
            <a:off x="10678120" y="4641354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91" name="Rectangle 390"/>
          <p:cNvSpPr/>
          <p:nvPr/>
        </p:nvSpPr>
        <p:spPr>
          <a:xfrm>
            <a:off x="10829181" y="4641354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92" name="Rectangle 391"/>
          <p:cNvSpPr/>
          <p:nvPr/>
        </p:nvSpPr>
        <p:spPr>
          <a:xfrm>
            <a:off x="10980241" y="4641354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93" name="Rectangle 392"/>
          <p:cNvSpPr/>
          <p:nvPr/>
        </p:nvSpPr>
        <p:spPr>
          <a:xfrm>
            <a:off x="11131302" y="4641354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94" name="Rectangle 393"/>
          <p:cNvSpPr/>
          <p:nvPr/>
        </p:nvSpPr>
        <p:spPr>
          <a:xfrm>
            <a:off x="11282362" y="4641354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95" name="Rectangle 394"/>
          <p:cNvSpPr/>
          <p:nvPr/>
        </p:nvSpPr>
        <p:spPr>
          <a:xfrm>
            <a:off x="9922818" y="4792414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96" name="Rectangle 395"/>
          <p:cNvSpPr/>
          <p:nvPr/>
        </p:nvSpPr>
        <p:spPr>
          <a:xfrm>
            <a:off x="10073878" y="4792414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97" name="Rectangle 396"/>
          <p:cNvSpPr/>
          <p:nvPr/>
        </p:nvSpPr>
        <p:spPr>
          <a:xfrm>
            <a:off x="10224939" y="4792414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98" name="Rectangle 397"/>
          <p:cNvSpPr/>
          <p:nvPr/>
        </p:nvSpPr>
        <p:spPr>
          <a:xfrm>
            <a:off x="10375999" y="4792414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99" name="Rectangle 398"/>
          <p:cNvSpPr/>
          <p:nvPr/>
        </p:nvSpPr>
        <p:spPr>
          <a:xfrm>
            <a:off x="10527060" y="4792414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00" name="Rectangle 399"/>
          <p:cNvSpPr/>
          <p:nvPr/>
        </p:nvSpPr>
        <p:spPr>
          <a:xfrm>
            <a:off x="10678120" y="4792414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01" name="Rectangle 400"/>
          <p:cNvSpPr/>
          <p:nvPr/>
        </p:nvSpPr>
        <p:spPr>
          <a:xfrm>
            <a:off x="10829181" y="4792414"/>
            <a:ext cx="107900" cy="1079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02" name="TextBox 401"/>
          <p:cNvSpPr txBox="1"/>
          <p:nvPr/>
        </p:nvSpPr>
        <p:spPr>
          <a:xfrm>
            <a:off x="201513" y="271314"/>
            <a:ext cx="1977962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パーツ15｜割合のドットマトリクス</a:t>
            </a:r>
          </a:p>
        </p:txBody>
      </p:sp>
      <p:sp>
        <p:nvSpPr>
          <p:cNvPr id="403" name="Title"/>
          <p:cNvSpPr txBox="1"/>
          <p:nvPr/>
        </p:nvSpPr>
        <p:spPr>
          <a:xfrm>
            <a:off x="201513" y="505271"/>
            <a:ext cx="2448342" cy="2857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9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F1F1F"/>
                </a:solidFill>
                <a:latin typeface="Yu Mincho"/>
                <a:ea typeface="Yu Mincho"/>
                <a:cs typeface="Yu Mincho"/>
              </a:rPr>
              <a:t>割合のドットマトリクス</a:t>
            </a:r>
          </a:p>
        </p:txBody>
      </p:sp>
      <p:sp>
        <p:nvSpPr>
          <p:cNvPr id="404" name="TextBox 403"/>
          <p:cNvSpPr txBox="1"/>
          <p:nvPr/>
        </p:nvSpPr>
        <p:spPr>
          <a:xfrm>
            <a:off x="201513" y="1525191"/>
            <a:ext cx="2292322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62626"/>
                </a:solidFill>
                <a:latin typeface="Yu Mincho"/>
                <a:ea typeface="Yu Mincho"/>
                <a:cs typeface="Yu Mincho"/>
              </a:rPr>
              <a:t>Text 1に取り組んでいる領域</a:t>
            </a:r>
          </a:p>
        </p:txBody>
      </p:sp>
      <p:sp>
        <p:nvSpPr>
          <p:cNvPr id="405" name="TextBox 404"/>
          <p:cNvSpPr txBox="1"/>
          <p:nvPr/>
        </p:nvSpPr>
        <p:spPr>
          <a:xfrm>
            <a:off x="9977586" y="1597521"/>
            <a:ext cx="211246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回答者に占める割合、n=ラベル 2、複数回答</a:t>
            </a:r>
          </a:p>
        </p:txBody>
      </p:sp>
      <p:sp>
        <p:nvSpPr>
          <p:cNvPr id="406" name="TextBox 405"/>
          <p:cNvSpPr txBox="1"/>
          <p:nvPr/>
        </p:nvSpPr>
        <p:spPr>
          <a:xfrm>
            <a:off x="1401366" y="3038921"/>
            <a:ext cx="475964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62626"/>
                </a:solidFill>
                <a:latin typeface="Yu Gothic"/>
                <a:ea typeface="Yu Gothic"/>
                <a:cs typeface="Yu Gothic"/>
              </a:rPr>
              <a:t>58%</a:t>
            </a:r>
          </a:p>
        </p:txBody>
      </p:sp>
      <p:sp>
        <p:nvSpPr>
          <p:cNvPr id="407" name="TextBox 406"/>
          <p:cNvSpPr txBox="1"/>
          <p:nvPr/>
        </p:nvSpPr>
        <p:spPr>
          <a:xfrm>
            <a:off x="1391719" y="5075337"/>
            <a:ext cx="45878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 3</a:t>
            </a:r>
          </a:p>
        </p:txBody>
      </p:sp>
      <p:sp>
        <p:nvSpPr>
          <p:cNvPr id="408" name="TextBox 407"/>
          <p:cNvSpPr txBox="1"/>
          <p:nvPr/>
        </p:nvSpPr>
        <p:spPr>
          <a:xfrm>
            <a:off x="4383137" y="3114377"/>
            <a:ext cx="479060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62626"/>
                </a:solidFill>
                <a:latin typeface="Yu Gothic"/>
                <a:ea typeface="Yu Gothic"/>
                <a:cs typeface="Yu Gothic"/>
              </a:rPr>
              <a:t>42%</a:t>
            </a:r>
          </a:p>
        </p:txBody>
      </p:sp>
      <p:sp>
        <p:nvSpPr>
          <p:cNvPr id="409" name="TextBox 408"/>
          <p:cNvSpPr txBox="1"/>
          <p:nvPr/>
        </p:nvSpPr>
        <p:spPr>
          <a:xfrm>
            <a:off x="4373127" y="4999732"/>
            <a:ext cx="46218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 4</a:t>
            </a:r>
          </a:p>
        </p:txBody>
      </p:sp>
      <p:sp>
        <p:nvSpPr>
          <p:cNvPr id="410" name="TextBox 409"/>
          <p:cNvSpPr txBox="1"/>
          <p:nvPr/>
        </p:nvSpPr>
        <p:spPr>
          <a:xfrm>
            <a:off x="7389614" y="3114377"/>
            <a:ext cx="430613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62626"/>
                </a:solidFill>
                <a:latin typeface="Yu Gothic"/>
                <a:ea typeface="Yu Gothic"/>
                <a:cs typeface="Yu Gothic"/>
              </a:rPr>
              <a:t>21%</a:t>
            </a:r>
          </a:p>
        </p:txBody>
      </p:sp>
      <p:sp>
        <p:nvSpPr>
          <p:cNvPr id="411" name="TextBox 410"/>
          <p:cNvSpPr txBox="1"/>
          <p:nvPr/>
        </p:nvSpPr>
        <p:spPr>
          <a:xfrm>
            <a:off x="7358705" y="4999732"/>
            <a:ext cx="45770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 5</a:t>
            </a:r>
          </a:p>
        </p:txBody>
      </p:sp>
      <p:sp>
        <p:nvSpPr>
          <p:cNvPr id="412" name="TextBox 411"/>
          <p:cNvSpPr txBox="1"/>
          <p:nvPr/>
        </p:nvSpPr>
        <p:spPr>
          <a:xfrm>
            <a:off x="10371386" y="3114377"/>
            <a:ext cx="433709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62626"/>
                </a:solidFill>
                <a:latin typeface="Yu Gothic"/>
                <a:ea typeface="Yu Gothic"/>
                <a:cs typeface="Yu Gothic"/>
              </a:rPr>
              <a:t>13%</a:t>
            </a:r>
          </a:p>
        </p:txBody>
      </p:sp>
      <p:sp>
        <p:nvSpPr>
          <p:cNvPr id="413" name="TextBox 412"/>
          <p:cNvSpPr txBox="1"/>
          <p:nvPr/>
        </p:nvSpPr>
        <p:spPr>
          <a:xfrm>
            <a:off x="10341194" y="4999732"/>
            <a:ext cx="459093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 6</a:t>
            </a:r>
          </a:p>
        </p:txBody>
      </p:sp>
      <p:sp>
        <p:nvSpPr>
          <p:cNvPr id="414" name="TextBox 413"/>
          <p:cNvSpPr txBox="1"/>
          <p:nvPr/>
        </p:nvSpPr>
        <p:spPr>
          <a:xfrm>
            <a:off x="201513" y="6274743"/>
            <a:ext cx="80177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4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出所）Source 1</a:t>
            </a:r>
          </a:p>
        </p:txBody>
      </p:sp>
      <p:sp>
        <p:nvSpPr>
          <p:cNvPr id="415" name="TextBox 414"/>
          <p:cNvSpPr txBox="1"/>
          <p:nvPr/>
        </p:nvSpPr>
        <p:spPr>
          <a:xfrm>
            <a:off x="11874252" y="6567488"/>
            <a:ext cx="13993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01513" y="1326803"/>
            <a:ext cx="11788974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201513" y="1795165"/>
            <a:ext cx="11788974" cy="0"/>
          </a:xfrm>
          <a:prstGeom prst="line">
            <a:avLst/>
          </a:prstGeom>
          <a:ln w="9525">
            <a:solidFill>
              <a:srgbClr val="262626"/>
            </a:solidFill>
          </a:ln>
        </p:spPr>
      </p:cxnSp>
      <p:pic>
        <p:nvPicPr>
          <p:cNvPr id="4" name="Picture 3" descr="img_16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513" y="2105769"/>
            <a:ext cx="11788973" cy="40646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513" y="271314"/>
            <a:ext cx="1632954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パーツ16｜進捗バブル行列</a:t>
            </a:r>
          </a:p>
        </p:txBody>
      </p:sp>
      <p:sp>
        <p:nvSpPr>
          <p:cNvPr id="6" name="Title"/>
          <p:cNvSpPr txBox="1"/>
          <p:nvPr/>
        </p:nvSpPr>
        <p:spPr>
          <a:xfrm>
            <a:off x="201513" y="505271"/>
            <a:ext cx="1830610" cy="2857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9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F1F1F"/>
                </a:solidFill>
                <a:latin typeface="Yu Mincho"/>
                <a:ea typeface="Yu Mincho"/>
                <a:cs typeface="Yu Mincho"/>
              </a:rPr>
              <a:t>進捗バブル行列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513" y="1525191"/>
            <a:ext cx="1874413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62626"/>
                </a:solidFill>
                <a:latin typeface="Yu Mincho"/>
                <a:ea typeface="Yu Mincho"/>
                <a:cs typeface="Yu Mincho"/>
              </a:rPr>
              <a:t>取り組み段階別の件数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17039" y="1597521"/>
            <a:ext cx="719435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件、n=ラベル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513" y="6274743"/>
            <a:ext cx="80177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4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出所）Source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73359" y="6567488"/>
            <a:ext cx="140863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01513" y="1326803"/>
            <a:ext cx="11788974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sp>
        <p:nvSpPr>
          <p:cNvPr id="3" name="Rectangle 2"/>
          <p:cNvSpPr/>
          <p:nvPr/>
        </p:nvSpPr>
        <p:spPr>
          <a:xfrm>
            <a:off x="5780484" y="1297484"/>
            <a:ext cx="143917" cy="143917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575227" y="1297484"/>
            <a:ext cx="143917" cy="143917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5" name="Connector 4"/>
          <p:cNvCxnSpPr/>
          <p:nvPr/>
        </p:nvCxnSpPr>
        <p:spPr>
          <a:xfrm>
            <a:off x="201513" y="1795165"/>
            <a:ext cx="6859935" cy="0"/>
          </a:xfrm>
          <a:prstGeom prst="line">
            <a:avLst/>
          </a:prstGeom>
          <a:ln w="9525">
            <a:solidFill>
              <a:srgbClr val="262626"/>
            </a:solidFill>
          </a:ln>
        </p:spPr>
      </p:cxnSp>
      <p:pic>
        <p:nvPicPr>
          <p:cNvPr id="6" name="Picture 5" descr="img_17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513" y="1925836"/>
            <a:ext cx="6859935" cy="2765971"/>
          </a:xfrm>
          <a:prstGeom prst="rect">
            <a:avLst/>
          </a:prstGeom>
        </p:spPr>
      </p:pic>
      <p:sp>
        <p:nvSpPr>
          <p:cNvPr id="7" name="Freeform 6"/>
          <p:cNvSpPr/>
          <p:nvPr/>
        </p:nvSpPr>
        <p:spPr>
          <a:xfrm>
            <a:off x="7277398" y="2916734"/>
            <a:ext cx="209550" cy="342900"/>
          </a:xfrm>
          <a:custGeom>
            <a:avLst/>
            <a:gdLst/>
            <a:ahLst/>
            <a:cxnLst/>
            <a:rect l="l" t="t" r="r" b="b"/>
            <a:pathLst>
              <a:path w="209550" h="342900">
                <a:moveTo>
                  <a:pt x="0" y="0"/>
                </a:moveTo>
                <a:lnTo>
                  <a:pt x="0" y="342900"/>
                </a:lnTo>
                <a:lnTo>
                  <a:pt x="209550" y="171450"/>
                </a:lnTo>
                <a:close/>
              </a:path>
            </a:pathLst>
          </a:custGeom>
          <a:solidFill>
            <a:srgbClr val="A6A6A6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8" name="Connector 7"/>
          <p:cNvCxnSpPr/>
          <p:nvPr/>
        </p:nvCxnSpPr>
        <p:spPr>
          <a:xfrm>
            <a:off x="7702897" y="1795165"/>
            <a:ext cx="4287590" cy="0"/>
          </a:xfrm>
          <a:prstGeom prst="line">
            <a:avLst/>
          </a:prstGeom>
          <a:ln w="9525">
            <a:solidFill>
              <a:srgbClr val="262626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201513" y="271314"/>
            <a:ext cx="1904286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パーツ17｜分布の順位棒＋注記</a:t>
            </a:r>
          </a:p>
        </p:txBody>
      </p:sp>
      <p:sp>
        <p:nvSpPr>
          <p:cNvPr id="10" name="Title"/>
          <p:cNvSpPr txBox="1"/>
          <p:nvPr/>
        </p:nvSpPr>
        <p:spPr>
          <a:xfrm>
            <a:off x="201513" y="505271"/>
            <a:ext cx="2340150" cy="2857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9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F1F1F"/>
                </a:solidFill>
                <a:latin typeface="Yu Mincho"/>
                <a:ea typeface="Yu Mincho"/>
                <a:cs typeface="Yu Mincho"/>
              </a:rPr>
              <a:t>分布の順位棒＋注記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78277" y="1298972"/>
            <a:ext cx="415290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上位N社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73019" y="1298972"/>
            <a:ext cx="319016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その他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513" y="1525191"/>
            <a:ext cx="593443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62626"/>
                </a:solidFill>
                <a:latin typeface="Yu Mincho"/>
                <a:ea typeface="Yu Mincho"/>
                <a:cs typeface="Yu Mincho"/>
              </a:rPr>
              <a:t>指標名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96434" y="1597521"/>
            <a:ext cx="1126665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単位、YYYY〜YYYY年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02897" y="1525191"/>
            <a:ext cx="1424928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4D4D4D"/>
                </a:solidFill>
                <a:latin typeface="Yu Mincho"/>
                <a:ea typeface="Yu Mincho"/>
                <a:cs typeface="Yu Mincho"/>
              </a:rPr>
              <a:t>Text 4に絞る理由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4822" y="2859881"/>
            <a:ext cx="376749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marL="127000" indent="-127000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0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4822" y="3178225"/>
            <a:ext cx="403527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marL="127000" indent="-127000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0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4822" y="3496568"/>
            <a:ext cx="404610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marL="127000" indent="-127000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0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513" y="6274743"/>
            <a:ext cx="80177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4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出所）Source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70085" y="6567488"/>
            <a:ext cx="144268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14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01513" y="1326803"/>
            <a:ext cx="11788974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201513" y="1795165"/>
            <a:ext cx="11788974" cy="0"/>
          </a:xfrm>
          <a:prstGeom prst="line">
            <a:avLst/>
          </a:prstGeom>
          <a:ln w="9525">
            <a:solidFill>
              <a:srgbClr val="262626"/>
            </a:solidFill>
          </a:ln>
        </p:spPr>
      </p:cxnSp>
      <p:pic>
        <p:nvPicPr>
          <p:cNvPr id="4" name="Picture 3" descr="img_18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513" y="2105769"/>
            <a:ext cx="11788973" cy="40646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513" y="271314"/>
            <a:ext cx="1618869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パーツ18｜注記つき散布図</a:t>
            </a:r>
          </a:p>
        </p:txBody>
      </p:sp>
      <p:sp>
        <p:nvSpPr>
          <p:cNvPr id="6" name="Title"/>
          <p:cNvSpPr txBox="1"/>
          <p:nvPr/>
        </p:nvSpPr>
        <p:spPr>
          <a:xfrm>
            <a:off x="201513" y="505271"/>
            <a:ext cx="1804142" cy="2857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9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F1F1F"/>
                </a:solidFill>
                <a:latin typeface="Yu Mincho"/>
                <a:ea typeface="Yu Mincho"/>
                <a:cs typeface="Yu Mincho"/>
              </a:rPr>
              <a:t>注記つき散布図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513" y="1525191"/>
            <a:ext cx="1737277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62626"/>
                </a:solidFill>
                <a:latin typeface="Yu Mincho"/>
                <a:ea typeface="Yu Mincho"/>
                <a:cs typeface="Yu Mincho"/>
              </a:rPr>
              <a:t>Text 1とText 2の関係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19867" y="1597521"/>
            <a:ext cx="716494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単位、YYYY年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513" y="6274743"/>
            <a:ext cx="80177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4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出所）Source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74401" y="6567488"/>
            <a:ext cx="13977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15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01513" y="1326803"/>
            <a:ext cx="11788974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sp>
        <p:nvSpPr>
          <p:cNvPr id="3" name="Rectangle 2"/>
          <p:cNvSpPr/>
          <p:nvPr/>
        </p:nvSpPr>
        <p:spPr>
          <a:xfrm>
            <a:off x="201513" y="1484561"/>
            <a:ext cx="2839194" cy="2231975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3184624" y="1484561"/>
            <a:ext cx="2839343" cy="2231975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167884" y="1484561"/>
            <a:ext cx="2839343" cy="2231975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9151144" y="1484561"/>
            <a:ext cx="2839343" cy="2231975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201513" y="4040386"/>
            <a:ext cx="11788973" cy="411807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201513" y="4722019"/>
            <a:ext cx="11788973" cy="411807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201513" y="271314"/>
            <a:ext cx="1194768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パーツ19｜柱＋土台</a:t>
            </a:r>
          </a:p>
        </p:txBody>
      </p:sp>
      <p:sp>
        <p:nvSpPr>
          <p:cNvPr id="10" name="Title"/>
          <p:cNvSpPr txBox="1"/>
          <p:nvPr/>
        </p:nvSpPr>
        <p:spPr>
          <a:xfrm>
            <a:off x="201513" y="505271"/>
            <a:ext cx="1027759" cy="2857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9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F1F1F"/>
                </a:solidFill>
                <a:latin typeface="Yu Mincho"/>
                <a:ea typeface="Yu Mincho"/>
                <a:cs typeface="Yu Mincho"/>
              </a:rPr>
              <a:t>柱＋土台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3438" y="2384971"/>
            <a:ext cx="522708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39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62626"/>
                </a:solidFill>
                <a:latin typeface="Yu Gothic"/>
                <a:ea typeface="Yu Gothic"/>
                <a:cs typeface="Yu Gothic"/>
              </a:rPr>
              <a:t>ラベル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3438" y="2661940"/>
            <a:ext cx="34115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46549" y="2384971"/>
            <a:ext cx="551498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39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62626"/>
                </a:solidFill>
                <a:latin typeface="Yu Gothic"/>
                <a:ea typeface="Yu Gothic"/>
                <a:cs typeface="Yu Gothic"/>
              </a:rPr>
              <a:t>ラベル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46549" y="2661940"/>
            <a:ext cx="365296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9809" y="2384971"/>
            <a:ext cx="553819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39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62626"/>
                </a:solidFill>
                <a:latin typeface="Yu Gothic"/>
                <a:ea typeface="Yu Gothic"/>
                <a:cs typeface="Yu Gothic"/>
              </a:rPr>
              <a:t>ラベル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9809" y="2661940"/>
            <a:ext cx="36622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13069" y="2384971"/>
            <a:ext cx="558308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39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62626"/>
                </a:solidFill>
                <a:latin typeface="Yu Gothic"/>
                <a:ea typeface="Yu Gothic"/>
                <a:cs typeface="Yu Gothic"/>
              </a:rPr>
              <a:t>ラベル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13069" y="2661940"/>
            <a:ext cx="369475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1446" y="4156770"/>
            <a:ext cx="633686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6A6A6"/>
                </a:solidFill>
                <a:latin typeface="Yu Gothic"/>
                <a:ea typeface="Yu Gothic"/>
                <a:cs typeface="Yu Gothic"/>
              </a:rPr>
              <a:t>共通条件1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0343" y="4166295"/>
            <a:ext cx="1468731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Text 5を全社で整えること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1446" y="4838402"/>
            <a:ext cx="661237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6A6A6"/>
                </a:solidFill>
                <a:latin typeface="Yu Gothic"/>
                <a:ea typeface="Yu Gothic"/>
                <a:cs typeface="Yu Gothic"/>
              </a:rPr>
              <a:t>共通条件2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6835" y="4847927"/>
            <a:ext cx="1736967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Text 6を継続的に確保すること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513" y="6274743"/>
            <a:ext cx="80177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4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出所）Source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73061" y="6567488"/>
            <a:ext cx="141172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16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01513" y="1326803"/>
            <a:ext cx="11788974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201513" y="3390454"/>
            <a:ext cx="4850607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201513" y="3827413"/>
            <a:ext cx="4850607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201513" y="4264372"/>
            <a:ext cx="4850607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sp>
        <p:nvSpPr>
          <p:cNvPr id="6" name="Freeform 5"/>
          <p:cNvSpPr/>
          <p:nvPr/>
        </p:nvSpPr>
        <p:spPr>
          <a:xfrm>
            <a:off x="5268069" y="2698700"/>
            <a:ext cx="1655862" cy="1074837"/>
          </a:xfrm>
          <a:custGeom>
            <a:avLst/>
            <a:gdLst/>
            <a:ahLst/>
            <a:cxnLst/>
            <a:rect l="l" t="t" r="r" b="b"/>
            <a:pathLst>
              <a:path w="1655862" h="1074837">
                <a:moveTo>
                  <a:pt x="0" y="0"/>
                </a:moveTo>
                <a:lnTo>
                  <a:pt x="1655862" y="0"/>
                </a:lnTo>
                <a:lnTo>
                  <a:pt x="1655862" y="838373"/>
                </a:lnTo>
                <a:lnTo>
                  <a:pt x="827931" y="1074837"/>
                </a:lnTo>
                <a:lnTo>
                  <a:pt x="0" y="838373"/>
                </a:lnTo>
                <a:close/>
              </a:path>
            </a:pathLst>
          </a:custGeom>
          <a:solidFill>
            <a:srgbClr val="26262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Freeform 6"/>
          <p:cNvSpPr/>
          <p:nvPr/>
        </p:nvSpPr>
        <p:spPr>
          <a:xfrm>
            <a:off x="5268069" y="3881438"/>
            <a:ext cx="1655862" cy="1074836"/>
          </a:xfrm>
          <a:custGeom>
            <a:avLst/>
            <a:gdLst/>
            <a:ahLst/>
            <a:cxnLst/>
            <a:rect l="l" t="t" r="r" b="b"/>
            <a:pathLst>
              <a:path w="1655862" h="1074836">
                <a:moveTo>
                  <a:pt x="0" y="0"/>
                </a:moveTo>
                <a:lnTo>
                  <a:pt x="1655862" y="0"/>
                </a:lnTo>
                <a:lnTo>
                  <a:pt x="1655862" y="838372"/>
                </a:lnTo>
                <a:lnTo>
                  <a:pt x="827931" y="1074836"/>
                </a:lnTo>
                <a:lnTo>
                  <a:pt x="0" y="838372"/>
                </a:lnTo>
                <a:close/>
              </a:path>
            </a:pathLst>
          </a:cu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8" name="Connector 7"/>
          <p:cNvCxnSpPr/>
          <p:nvPr/>
        </p:nvCxnSpPr>
        <p:spPr>
          <a:xfrm>
            <a:off x="7139880" y="3390454"/>
            <a:ext cx="4850607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7139880" y="3827413"/>
            <a:ext cx="4850607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cxnSp>
        <p:nvCxnSpPr>
          <p:cNvPr id="10" name="Connector 9"/>
          <p:cNvCxnSpPr/>
          <p:nvPr/>
        </p:nvCxnSpPr>
        <p:spPr>
          <a:xfrm>
            <a:off x="7139880" y="4264372"/>
            <a:ext cx="4850607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sp>
        <p:nvSpPr>
          <p:cNvPr id="11" name="TextBox 10"/>
          <p:cNvSpPr txBox="1"/>
          <p:nvPr/>
        </p:nvSpPr>
        <p:spPr>
          <a:xfrm>
            <a:off x="201513" y="271314"/>
            <a:ext cx="1583579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パーツ20｜対向シェブロン</a:t>
            </a:r>
          </a:p>
        </p:txBody>
      </p:sp>
      <p:sp>
        <p:nvSpPr>
          <p:cNvPr id="12" name="Title"/>
          <p:cNvSpPr txBox="1"/>
          <p:nvPr/>
        </p:nvSpPr>
        <p:spPr>
          <a:xfrm>
            <a:off x="201513" y="505271"/>
            <a:ext cx="1679853" cy="2857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9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F1F1F"/>
                </a:solidFill>
                <a:latin typeface="Yu Mincho"/>
                <a:ea typeface="Yu Mincho"/>
                <a:cs typeface="Yu Mincho"/>
              </a:rPr>
              <a:t>対向シェブロン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513" y="3075682"/>
            <a:ext cx="430459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262626"/>
                </a:solidFill>
                <a:latin typeface="Yu Gothic"/>
                <a:ea typeface="Yu Gothic"/>
                <a:cs typeface="Yu Gothic"/>
              </a:rPr>
              <a:t>Text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513" y="3512641"/>
            <a:ext cx="461260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262626"/>
                </a:solidFill>
                <a:latin typeface="Yu Gothic"/>
                <a:ea typeface="Yu Gothic"/>
                <a:cs typeface="Yu Gothic"/>
              </a:rPr>
              <a:t>Text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513" y="3949601"/>
            <a:ext cx="462344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262626"/>
                </a:solidFill>
                <a:latin typeface="Yu Gothic"/>
                <a:ea typeface="Yu Gothic"/>
                <a:cs typeface="Yu Gothic"/>
              </a:rPr>
              <a:t>Text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513" y="4386560"/>
            <a:ext cx="466677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262626"/>
                </a:solidFill>
                <a:latin typeface="Yu Gothic"/>
                <a:ea typeface="Yu Gothic"/>
                <a:cs typeface="Yu Gothic"/>
              </a:rPr>
              <a:t>Text 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7747" y="3022699"/>
            <a:ext cx="1516506" cy="413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Yu Mincho"/>
                <a:ea typeface="Yu Mincho"/>
                <a:cs typeface="Yu Mincho"/>
              </a:rPr>
              <a:t>収益を</a:t>
            </a:r>
          </a:p>
          <a:p>
            <a:pPr algn="ctr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Yu Mincho"/>
                <a:ea typeface="Yu Mincho"/>
                <a:cs typeface="Yu Mincho"/>
              </a:rPr>
              <a:t>拡大する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37747" y="4205436"/>
            <a:ext cx="1516506" cy="413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Yu Mincho"/>
                <a:ea typeface="Yu Mincho"/>
                <a:cs typeface="Yu Mincho"/>
              </a:rPr>
              <a:t>損失を</a:t>
            </a:r>
          </a:p>
          <a:p>
            <a:pPr algn="ctr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Yu Mincho"/>
                <a:ea typeface="Yu Mincho"/>
                <a:cs typeface="Yu Mincho"/>
              </a:rPr>
              <a:t>抑える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9880" y="3075682"/>
            <a:ext cx="460950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262626"/>
                </a:solidFill>
                <a:latin typeface="Yu Gothic"/>
                <a:ea typeface="Yu Gothic"/>
                <a:cs typeface="Yu Gothic"/>
              </a:rPr>
              <a:t>Text 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9880" y="3512641"/>
            <a:ext cx="462808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262626"/>
                </a:solidFill>
                <a:latin typeface="Yu Gothic"/>
                <a:ea typeface="Yu Gothic"/>
                <a:cs typeface="Yu Gothic"/>
              </a:rPr>
              <a:t>Text 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9880" y="3949601"/>
            <a:ext cx="454604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262626"/>
                </a:solidFill>
                <a:latin typeface="Yu Gothic"/>
                <a:ea typeface="Yu Gothic"/>
                <a:cs typeface="Yu Gothic"/>
              </a:rPr>
              <a:t>Text 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9880" y="4386560"/>
            <a:ext cx="462498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262626"/>
                </a:solidFill>
                <a:latin typeface="Yu Gothic"/>
                <a:ea typeface="Yu Gothic"/>
                <a:cs typeface="Yu Gothic"/>
              </a:rPr>
              <a:t>Text 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513" y="6274743"/>
            <a:ext cx="80177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4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出所）Source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79312" y="6567488"/>
            <a:ext cx="134672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17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01513" y="1326803"/>
            <a:ext cx="11788974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sp>
        <p:nvSpPr>
          <p:cNvPr id="3" name="Rectangle 2"/>
          <p:cNvSpPr/>
          <p:nvPr/>
        </p:nvSpPr>
        <p:spPr>
          <a:xfrm>
            <a:off x="201513" y="1484561"/>
            <a:ext cx="5822454" cy="22709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381446" y="1646486"/>
            <a:ext cx="740718" cy="186035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167884" y="1484561"/>
            <a:ext cx="5822603" cy="22709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347817" y="1646486"/>
            <a:ext cx="759619" cy="186035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201513" y="3899446"/>
            <a:ext cx="5822454" cy="22709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381446" y="4061371"/>
            <a:ext cx="761107" cy="186035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6167884" y="3899446"/>
            <a:ext cx="5822603" cy="22709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6347817" y="4061371"/>
            <a:ext cx="764084" cy="186035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201513" y="271314"/>
            <a:ext cx="2100239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パーツ21｜外部動向の根拠グリッド</a:t>
            </a:r>
          </a:p>
        </p:txBody>
      </p:sp>
      <p:sp>
        <p:nvSpPr>
          <p:cNvPr id="12" name="Title"/>
          <p:cNvSpPr txBox="1"/>
          <p:nvPr/>
        </p:nvSpPr>
        <p:spPr>
          <a:xfrm>
            <a:off x="201513" y="505271"/>
            <a:ext cx="2680823" cy="2857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9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F1F1F"/>
                </a:solidFill>
                <a:latin typeface="Yu Mincho"/>
                <a:ea typeface="Yu Mincho"/>
                <a:cs typeface="Yu Mincho"/>
              </a:rPr>
              <a:t>外部動向の根拠グリッド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1339" y="1682353"/>
            <a:ext cx="602421" cy="114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ラベル 1分類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1446" y="1894880"/>
            <a:ext cx="793885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1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YYYY年M月D日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1446" y="2117229"/>
            <a:ext cx="396871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9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62626"/>
                </a:solidFill>
                <a:latin typeface="Yu Mincho"/>
                <a:ea typeface="Yu Mincho"/>
                <a:cs typeface="Yu Mincho"/>
              </a:rPr>
              <a:t>Text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1446" y="2391668"/>
            <a:ext cx="345793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59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7709" y="1682353"/>
            <a:ext cx="622078" cy="114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ラベル 2分類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47817" y="1894880"/>
            <a:ext cx="793885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1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YYYY年M月D日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47817" y="2117229"/>
            <a:ext cx="396871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9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62626"/>
                </a:solidFill>
                <a:latin typeface="Yu Mincho"/>
                <a:ea typeface="Yu Mincho"/>
                <a:cs typeface="Yu Mincho"/>
              </a:rPr>
              <a:t>Text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7817" y="2391668"/>
            <a:ext cx="349972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59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1339" y="4097238"/>
            <a:ext cx="623626" cy="114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ラベル 3分類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1446" y="4309765"/>
            <a:ext cx="793885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1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YYYY年M月D日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1446" y="4532114"/>
            <a:ext cx="396871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9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62626"/>
                </a:solidFill>
                <a:latin typeface="Yu Mincho"/>
                <a:ea typeface="Yu Mincho"/>
                <a:cs typeface="Yu Mincho"/>
              </a:rPr>
              <a:t>Text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1446" y="4806553"/>
            <a:ext cx="347031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59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709" y="4097238"/>
            <a:ext cx="626721" cy="114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ラベル 4分類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47817" y="4309765"/>
            <a:ext cx="793885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1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YYYY年M月D日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47817" y="4532114"/>
            <a:ext cx="396871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9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62626"/>
                </a:solidFill>
                <a:latin typeface="Yu Mincho"/>
                <a:ea typeface="Yu Mincho"/>
                <a:cs typeface="Yu Mincho"/>
              </a:rPr>
              <a:t>Text 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7817" y="4806553"/>
            <a:ext cx="346877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59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1513" y="6274743"/>
            <a:ext cx="3371457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4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出所）Source 1（YYYY年M月D日）、Source 2（YYYY年M月D日）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73210" y="6567488"/>
            <a:ext cx="141018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18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01513" y="1326803"/>
            <a:ext cx="11788974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201513" y="1795165"/>
            <a:ext cx="11788974" cy="0"/>
          </a:xfrm>
          <a:prstGeom prst="line">
            <a:avLst/>
          </a:prstGeom>
          <a:ln w="9525">
            <a:solidFill>
              <a:srgbClr val="262626"/>
            </a:solidFill>
          </a:ln>
        </p:spPr>
      </p:cxnSp>
      <p:pic>
        <p:nvPicPr>
          <p:cNvPr id="4" name="Picture 3" descr="img_22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513" y="2105769"/>
            <a:ext cx="11788973" cy="40646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513" y="271314"/>
            <a:ext cx="1530798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パーツ22｜比例円の対比</a:t>
            </a:r>
          </a:p>
        </p:txBody>
      </p:sp>
      <p:sp>
        <p:nvSpPr>
          <p:cNvPr id="6" name="Title"/>
          <p:cNvSpPr txBox="1"/>
          <p:nvPr/>
        </p:nvSpPr>
        <p:spPr>
          <a:xfrm>
            <a:off x="201513" y="505271"/>
            <a:ext cx="1595652" cy="2857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9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F1F1F"/>
                </a:solidFill>
                <a:latin typeface="Yu Mincho"/>
                <a:ea typeface="Yu Mincho"/>
                <a:cs typeface="Yu Mincho"/>
              </a:rPr>
              <a:t>比例円の対比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513" y="1525191"/>
            <a:ext cx="1610666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62626"/>
                </a:solidFill>
                <a:latin typeface="Yu Mincho"/>
                <a:ea typeface="Yu Mincho"/>
                <a:cs typeface="Yu Mincho"/>
              </a:rPr>
              <a:t>Text 1に占める割合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9491" y="1597521"/>
            <a:ext cx="112248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％、YYYY年 / YYYY年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513" y="6274743"/>
            <a:ext cx="2029813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4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出所）Source 1。円の面積は割合に比例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73061" y="6567488"/>
            <a:ext cx="141172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19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01513" y="1326803"/>
            <a:ext cx="11788974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sp>
        <p:nvSpPr>
          <p:cNvPr id="3" name="Rectangle 2"/>
          <p:cNvSpPr/>
          <p:nvPr/>
        </p:nvSpPr>
        <p:spPr>
          <a:xfrm>
            <a:off x="10714881" y="1297484"/>
            <a:ext cx="143917" cy="143917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11505307" y="1297484"/>
            <a:ext cx="143917" cy="143917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5" name="Connector 4"/>
          <p:cNvCxnSpPr/>
          <p:nvPr/>
        </p:nvCxnSpPr>
        <p:spPr>
          <a:xfrm>
            <a:off x="201513" y="1795165"/>
            <a:ext cx="11788974" cy="0"/>
          </a:xfrm>
          <a:prstGeom prst="line">
            <a:avLst/>
          </a:prstGeom>
          <a:ln w="9525">
            <a:solidFill>
              <a:srgbClr val="262626"/>
            </a:solidFill>
          </a:ln>
        </p:spPr>
      </p:cxnSp>
      <p:pic>
        <p:nvPicPr>
          <p:cNvPr id="6" name="Picture 5" descr="img_23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513" y="2105769"/>
            <a:ext cx="11788973" cy="406464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01513" y="271314"/>
            <a:ext cx="2083832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パーツ23｜増減の縦棒＋左右合計</a:t>
            </a:r>
          </a:p>
        </p:txBody>
      </p:sp>
      <p:sp>
        <p:nvSpPr>
          <p:cNvPr id="8" name="Title"/>
          <p:cNvSpPr txBox="1"/>
          <p:nvPr/>
        </p:nvSpPr>
        <p:spPr>
          <a:xfrm>
            <a:off x="201513" y="505271"/>
            <a:ext cx="2604206" cy="2857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9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F1F1F"/>
                </a:solidFill>
                <a:latin typeface="Yu Mincho"/>
                <a:ea typeface="Yu Mincho"/>
                <a:cs typeface="Yu Mincho"/>
              </a:rPr>
              <a:t>増減の縦棒＋左右合計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12673" y="1298972"/>
            <a:ext cx="410801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増える分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3100" y="1298972"/>
            <a:ext cx="317933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減る分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513" y="1525191"/>
            <a:ext cx="593443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62626"/>
                </a:solidFill>
                <a:latin typeface="Yu Mincho"/>
                <a:ea typeface="Yu Mincho"/>
                <a:cs typeface="Yu Mincho"/>
              </a:rPr>
              <a:t>指標名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25473" y="1597521"/>
            <a:ext cx="1126665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単位、YYYY〜YYYY年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3027" y="7759303"/>
            <a:ext cx="80177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4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出所）Source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48654" y="6567488"/>
            <a:ext cx="166557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01513" y="1326803"/>
            <a:ext cx="11788974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sp>
        <p:nvSpPr>
          <p:cNvPr id="3" name="Rectangle 2"/>
          <p:cNvSpPr/>
          <p:nvPr/>
        </p:nvSpPr>
        <p:spPr>
          <a:xfrm>
            <a:off x="8773864" y="1297484"/>
            <a:ext cx="143917" cy="143917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9987409" y="1297484"/>
            <a:ext cx="143917" cy="143917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0905679" y="1297484"/>
            <a:ext cx="143917" cy="143917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201513" y="1795165"/>
            <a:ext cx="11788974" cy="0"/>
          </a:xfrm>
          <a:prstGeom prst="line">
            <a:avLst/>
          </a:prstGeom>
          <a:ln w="9525">
            <a:solidFill>
              <a:srgbClr val="262626"/>
            </a:solidFill>
          </a:ln>
        </p:spPr>
      </p:cxnSp>
      <p:pic>
        <p:nvPicPr>
          <p:cNvPr id="7" name="Picture 6" descr="img_24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513" y="2105769"/>
            <a:ext cx="11788973" cy="406464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01513" y="271314"/>
            <a:ext cx="2232422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パーツ24｜シナリオ線＋成長率チップ</a:t>
            </a:r>
          </a:p>
        </p:txBody>
      </p:sp>
      <p:sp>
        <p:nvSpPr>
          <p:cNvPr id="9" name="Title"/>
          <p:cNvSpPr txBox="1"/>
          <p:nvPr/>
        </p:nvSpPr>
        <p:spPr>
          <a:xfrm>
            <a:off x="201513" y="505271"/>
            <a:ext cx="2862846" cy="2857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9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F1F1F"/>
                </a:solidFill>
                <a:latin typeface="Yu Mincho"/>
                <a:ea typeface="Yu Mincho"/>
                <a:cs typeface="Yu Mincho"/>
              </a:rPr>
              <a:t>シナリオ線＋成長率チップ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71657" y="1298972"/>
            <a:ext cx="850844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3が進む場合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85202" y="1298972"/>
            <a:ext cx="543758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現状の延長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03471" y="1298972"/>
            <a:ext cx="941546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4が遅れる場合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513" y="1525191"/>
            <a:ext cx="593443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62626"/>
                </a:solidFill>
                <a:latin typeface="Yu Mincho"/>
                <a:ea typeface="Yu Mincho"/>
                <a:cs typeface="Yu Mincho"/>
              </a:rPr>
              <a:t>指標名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25473" y="1597521"/>
            <a:ext cx="1126665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単位、YYYY〜YYYY年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3027" y="7759303"/>
            <a:ext cx="80177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4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出所）Source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74252" y="6567488"/>
            <a:ext cx="13993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21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01513" y="1326803"/>
            <a:ext cx="11788974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201513" y="1795165"/>
            <a:ext cx="4743599" cy="0"/>
          </a:xfrm>
          <a:prstGeom prst="line">
            <a:avLst/>
          </a:prstGeom>
          <a:ln w="9525">
            <a:solidFill>
              <a:srgbClr val="262626"/>
            </a:solidFill>
          </a:ln>
        </p:spPr>
      </p:cxnSp>
      <p:sp>
        <p:nvSpPr>
          <p:cNvPr id="4" name="Freeform 3"/>
          <p:cNvSpPr/>
          <p:nvPr/>
        </p:nvSpPr>
        <p:spPr>
          <a:xfrm>
            <a:off x="5161062" y="2336453"/>
            <a:ext cx="209550" cy="342900"/>
          </a:xfrm>
          <a:custGeom>
            <a:avLst/>
            <a:gdLst/>
            <a:ahLst/>
            <a:cxnLst/>
            <a:rect l="l" t="t" r="r" b="b"/>
            <a:pathLst>
              <a:path w="209550" h="342900">
                <a:moveTo>
                  <a:pt x="0" y="0"/>
                </a:moveTo>
                <a:lnTo>
                  <a:pt x="0" y="342900"/>
                </a:lnTo>
                <a:lnTo>
                  <a:pt x="209550" y="171450"/>
                </a:lnTo>
                <a:close/>
              </a:path>
            </a:pathLst>
          </a:custGeom>
          <a:solidFill>
            <a:srgbClr val="A6A6A6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5" name="Connector 4"/>
          <p:cNvCxnSpPr/>
          <p:nvPr/>
        </p:nvCxnSpPr>
        <p:spPr>
          <a:xfrm>
            <a:off x="5586561" y="1795165"/>
            <a:ext cx="6403926" cy="0"/>
          </a:xfrm>
          <a:prstGeom prst="line">
            <a:avLst/>
          </a:prstGeom>
          <a:ln w="9525">
            <a:solidFill>
              <a:srgbClr val="262626"/>
            </a:solidFill>
          </a:ln>
        </p:spPr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586561" y="1925836"/>
          <a:ext cx="6403925" cy="1605409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1187648"/>
                <a:gridCol w="5216277"/>
              </a:tblGrid>
              <a:tr h="533549">
                <a:tc>
                  <a:txBody>
                    <a:bodyPr wrap="square"/>
                    <a:lstStyle/>
                    <a:p>
                      <a:pPr algn="l">
                        <a:lnSpc>
                          <a:spcPts val="24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262626"/>
                          </a:solidFill>
                          <a:latin typeface="Yu Gothic"/>
                          <a:ea typeface="Yu Gothic"/>
                          <a:cs typeface="Yu Gothic"/>
                        </a:rPr>
                        <a:t>ラベル 1社</a:t>
                      </a:r>
                      <a:endParaRPr sz="100"/>
                    </a:p>
                  </a:txBody>
                  <a:tcPr marT="108000" marR="90000" marB="108000" marL="9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66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F1F1F"/>
                          </a:solidFill>
                          <a:latin typeface="Yu Gothic"/>
                          <a:ea typeface="Yu Gothic"/>
                          <a:cs typeface="Yu Gothic"/>
                        </a:rPr>
                        <a:t>Text 4</a:t>
                      </a:r>
                      <a:endParaRPr sz="100"/>
                    </a:p>
                  </a:txBody>
                  <a:tcPr marT="108000" marR="90000" marB="108000" marL="9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538311">
                <a:tc>
                  <a:txBody>
                    <a:bodyPr wrap="square"/>
                    <a:lstStyle/>
                    <a:p>
                      <a:pPr algn="l">
                        <a:lnSpc>
                          <a:spcPts val="24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262626"/>
                          </a:solidFill>
                          <a:latin typeface="Yu Gothic"/>
                          <a:ea typeface="Yu Gothic"/>
                          <a:cs typeface="Yu Gothic"/>
                        </a:rPr>
                        <a:t>ラベル 2件</a:t>
                      </a:r>
                      <a:endParaRPr sz="100"/>
                    </a:p>
                  </a:txBody>
                  <a:tcPr marT="108000" marR="90000" marB="108000" marL="9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66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F1F1F"/>
                          </a:solidFill>
                          <a:latin typeface="Yu Gothic"/>
                          <a:ea typeface="Yu Gothic"/>
                          <a:cs typeface="Yu Gothic"/>
                        </a:rPr>
                        <a:t>Text 5</a:t>
                      </a:r>
                      <a:endParaRPr sz="100"/>
                    </a:p>
                  </a:txBody>
                  <a:tcPr marT="108000" marR="90000" marB="108000" marL="9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533549">
                <a:tc>
                  <a:txBody>
                    <a:bodyPr wrap="square"/>
                    <a:lstStyle/>
                    <a:p>
                      <a:pPr algn="l">
                        <a:lnSpc>
                          <a:spcPts val="24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262626"/>
                          </a:solidFill>
                          <a:latin typeface="Yu Gothic"/>
                          <a:ea typeface="Yu Gothic"/>
                          <a:cs typeface="Yu Gothic"/>
                        </a:rPr>
                        <a:t>Nか月</a:t>
                      </a:r>
                      <a:endParaRPr sz="100"/>
                    </a:p>
                  </a:txBody>
                  <a:tcPr marT="108000" marR="90000" marB="108000" marL="9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66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F1F1F"/>
                          </a:solidFill>
                          <a:latin typeface="Yu Gothic"/>
                          <a:ea typeface="Yu Gothic"/>
                          <a:cs typeface="Yu Gothic"/>
                        </a:rPr>
                        <a:t>Text 6</a:t>
                      </a:r>
                      <a:endParaRPr sz="100"/>
                    </a:p>
                  </a:txBody>
                  <a:tcPr marT="108000" marR="90000" marB="108000" marL="9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01513" y="271314"/>
            <a:ext cx="1386233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パーツ25｜調査の土台</a:t>
            </a:r>
          </a:p>
        </p:txBody>
      </p:sp>
      <p:sp>
        <p:nvSpPr>
          <p:cNvPr id="8" name="Title"/>
          <p:cNvSpPr txBox="1"/>
          <p:nvPr/>
        </p:nvSpPr>
        <p:spPr>
          <a:xfrm>
            <a:off x="201513" y="505271"/>
            <a:ext cx="1331595" cy="2857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9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F1F1F"/>
                </a:solidFill>
                <a:latin typeface="Yu Mincho"/>
                <a:ea typeface="Yu Mincho"/>
                <a:cs typeface="Yu Mincho"/>
              </a:rPr>
              <a:t>調査の土台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513" y="1525191"/>
            <a:ext cx="589728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4D4D4D"/>
                </a:solidFill>
                <a:latin typeface="Yu Mincho"/>
                <a:ea typeface="Yu Mincho"/>
                <a:cs typeface="Yu Mincho"/>
              </a:rPr>
              <a:t>調べ方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3438" y="2279600"/>
            <a:ext cx="376749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marL="127000" indent="-127000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0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3438" y="2597944"/>
            <a:ext cx="403527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marL="127000" indent="-127000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0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3438" y="2916287"/>
            <a:ext cx="404610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marL="127000" indent="-127000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0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86561" y="1525191"/>
            <a:ext cx="961049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4D4D4D"/>
                </a:solidFill>
                <a:latin typeface="Yu Mincho"/>
                <a:ea typeface="Yu Mincho"/>
                <a:cs typeface="Yu Mincho"/>
              </a:rPr>
              <a:t>調べた対象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513" y="6274743"/>
            <a:ext cx="2447258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4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出所）Source 1（調査期間 YYYY年M月〜M月）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51035" y="6567488"/>
            <a:ext cx="16408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22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01513" y="1326803"/>
            <a:ext cx="11788974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201513" y="1795165"/>
            <a:ext cx="5822454" cy="0"/>
          </a:xfrm>
          <a:prstGeom prst="line">
            <a:avLst/>
          </a:prstGeom>
          <a:ln w="9525">
            <a:solidFill>
              <a:srgbClr val="262626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201513" y="2360712"/>
            <a:ext cx="5822454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201513" y="2800350"/>
            <a:ext cx="5822454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6167884" y="1795165"/>
            <a:ext cx="5822603" cy="0"/>
          </a:xfrm>
          <a:prstGeom prst="line">
            <a:avLst/>
          </a:prstGeom>
          <a:ln w="9525">
            <a:solidFill>
              <a:srgbClr val="262626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6167884" y="2360712"/>
            <a:ext cx="5822603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6167884" y="2800350"/>
            <a:ext cx="5822603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201513" y="271314"/>
            <a:ext cx="2102096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パーツ26｜課題と打ち手の2カラム</a:t>
            </a:r>
          </a:p>
        </p:txBody>
      </p:sp>
      <p:sp>
        <p:nvSpPr>
          <p:cNvPr id="10" name="Title"/>
          <p:cNvSpPr txBox="1"/>
          <p:nvPr/>
        </p:nvSpPr>
        <p:spPr>
          <a:xfrm>
            <a:off x="201513" y="505271"/>
            <a:ext cx="2598944" cy="2857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9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F1F1F"/>
                </a:solidFill>
                <a:latin typeface="Yu Mincho"/>
                <a:ea typeface="Yu Mincho"/>
                <a:cs typeface="Yu Mincho"/>
              </a:rPr>
              <a:t>課題と打ち手の2カラム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513" y="1525191"/>
            <a:ext cx="1593021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62626"/>
                </a:solidFill>
                <a:latin typeface="Yu Mincho"/>
                <a:ea typeface="Yu Mincho"/>
                <a:cs typeface="Yu Mincho"/>
              </a:rPr>
              <a:t>いま起きている課題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513" y="2043261"/>
            <a:ext cx="604897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4D4D4D"/>
                </a:solidFill>
                <a:latin typeface="Yu Mincho"/>
                <a:ea typeface="Yu Mincho"/>
                <a:cs typeface="Yu Mincho"/>
              </a:rPr>
              <a:t>ラベル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45357" y="2044601"/>
            <a:ext cx="430459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513" y="2482900"/>
            <a:ext cx="604897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4D4D4D"/>
                </a:solidFill>
                <a:latin typeface="Yu Mincho"/>
                <a:ea typeface="Yu Mincho"/>
                <a:cs typeface="Yu Mincho"/>
              </a:rPr>
              <a:t>ラベル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5357" y="2484239"/>
            <a:ext cx="461260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513" y="2922538"/>
            <a:ext cx="604897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4D4D4D"/>
                </a:solidFill>
                <a:latin typeface="Yu Mincho"/>
                <a:ea typeface="Yu Mincho"/>
                <a:cs typeface="Yu Mincho"/>
              </a:rPr>
              <a:t>ラベル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5357" y="2923877"/>
            <a:ext cx="462344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67884" y="1525191"/>
            <a:ext cx="1263646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62626"/>
                </a:solidFill>
                <a:latin typeface="Yu Mincho"/>
                <a:ea typeface="Yu Mincho"/>
                <a:cs typeface="Yu Mincho"/>
              </a:rPr>
              <a:t>これから打つ手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67884" y="2043261"/>
            <a:ext cx="604897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4D4D4D"/>
                </a:solidFill>
                <a:latin typeface="Yu Mincho"/>
                <a:ea typeface="Yu Mincho"/>
                <a:cs typeface="Yu Mincho"/>
              </a:rPr>
              <a:t>ラベル 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11728" y="2044601"/>
            <a:ext cx="466677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67884" y="2482900"/>
            <a:ext cx="604897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4D4D4D"/>
                </a:solidFill>
                <a:latin typeface="Yu Mincho"/>
                <a:ea typeface="Yu Mincho"/>
                <a:cs typeface="Yu Mincho"/>
              </a:rPr>
              <a:t>ラベル 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11728" y="2484239"/>
            <a:ext cx="460950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67884" y="2922538"/>
            <a:ext cx="604897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4D4D4D"/>
                </a:solidFill>
                <a:latin typeface="Yu Mincho"/>
                <a:ea typeface="Yu Mincho"/>
                <a:cs typeface="Yu Mincho"/>
              </a:rPr>
              <a:t>ラベル 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11728" y="2923877"/>
            <a:ext cx="462808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1513" y="6274743"/>
            <a:ext cx="80177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4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出所）Source 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50142" y="6567488"/>
            <a:ext cx="16500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23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01513" y="619125"/>
            <a:ext cx="11788974" cy="0"/>
          </a:xfrm>
          <a:prstGeom prst="line">
            <a:avLst/>
          </a:prstGeom>
          <a:ln w="9525">
            <a:solidFill>
              <a:srgbClr val="262626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201513" y="1509861"/>
            <a:ext cx="11788974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201513" y="3302198"/>
            <a:ext cx="11788974" cy="0"/>
          </a:xfrm>
          <a:prstGeom prst="line">
            <a:avLst/>
          </a:prstGeom>
          <a:ln w="9525">
            <a:solidFill>
              <a:srgbClr val="E0E0E0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201513" y="3962698"/>
            <a:ext cx="11788974" cy="0"/>
          </a:xfrm>
          <a:prstGeom prst="line">
            <a:avLst/>
          </a:prstGeom>
          <a:ln w="9525">
            <a:solidFill>
              <a:srgbClr val="E0E0E0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201513" y="4535686"/>
            <a:ext cx="11788974" cy="0"/>
          </a:xfrm>
          <a:prstGeom prst="line">
            <a:avLst/>
          </a:prstGeom>
          <a:ln w="9525">
            <a:solidFill>
              <a:srgbClr val="E0E0E0"/>
            </a:solidFill>
          </a:ln>
        </p:spPr>
      </p:cxnSp>
      <p:sp>
        <p:nvSpPr>
          <p:cNvPr id="7" name="TextBox 6"/>
          <p:cNvSpPr txBox="1"/>
          <p:nvPr/>
        </p:nvSpPr>
        <p:spPr>
          <a:xfrm>
            <a:off x="201513" y="270421"/>
            <a:ext cx="1148334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262626"/>
                </a:solidFill>
                <a:latin typeface="Yu Mincho"/>
                <a:ea typeface="Yu Mincho"/>
                <a:cs typeface="Yu Mincho"/>
              </a:rPr>
              <a:t>パーツ一覧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36336" y="420886"/>
            <a:ext cx="2363367" cy="114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パーツ27｜セパレーター（章扉＝アジェンダ再掲）</a:t>
            </a:r>
          </a:p>
        </p:txBody>
      </p:sp>
      <p:sp>
        <p:nvSpPr>
          <p:cNvPr id="9" name="Title"/>
          <p:cNvSpPr txBox="1"/>
          <p:nvPr/>
        </p:nvSpPr>
        <p:spPr>
          <a:xfrm>
            <a:off x="201513" y="688330"/>
            <a:ext cx="8333125" cy="2857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9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F1F1F"/>
                </a:solidFill>
                <a:latin typeface="Yu Mincho"/>
                <a:ea typeface="Yu Mincho"/>
                <a:cs typeface="Yu Mincho"/>
              </a:rPr>
              <a:t>セパレーター（章扉＝アジェンダ再掲。section は "s chap" でページ番号なし）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513" y="2918520"/>
            <a:ext cx="203859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B3B3B3"/>
                </a:solidFill>
                <a:latin typeface="Yu Mincho"/>
                <a:ea typeface="Yu Mincho"/>
                <a:cs typeface="Yu Mincho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5379" y="2908995"/>
            <a:ext cx="722531" cy="2095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3B3B3"/>
                </a:solidFill>
                <a:latin typeface="Yu Mincho"/>
                <a:ea typeface="Yu Mincho"/>
                <a:cs typeface="Yu Mincho"/>
              </a:rPr>
              <a:t>ラベル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88485" y="2966145"/>
            <a:ext cx="202001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B3B3B3"/>
                </a:solidFill>
                <a:latin typeface="Yu Gothic"/>
                <a:ea typeface="Yu Gothic"/>
                <a:cs typeface="Yu Gothic"/>
              </a:rPr>
              <a:t>P.4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513" y="3501033"/>
            <a:ext cx="269950" cy="2667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279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4A9C"/>
                </a:solidFill>
                <a:latin typeface="Yu Mincho"/>
                <a:ea typeface="Yu Mincho"/>
                <a:cs typeface="Yu Mincho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5379" y="3481983"/>
            <a:ext cx="1003923" cy="2952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262626"/>
                </a:solidFill>
                <a:latin typeface="Yu Mincho"/>
                <a:ea typeface="Yu Mincho"/>
                <a:cs typeface="Yu Mincho"/>
              </a:rPr>
              <a:t>ラベル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92355" y="3605808"/>
            <a:ext cx="198132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P.9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513" y="4152007"/>
            <a:ext cx="203859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B3B3B3"/>
                </a:solidFill>
                <a:latin typeface="Yu Mincho"/>
                <a:ea typeface="Yu Mincho"/>
                <a:cs typeface="Yu Mincho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5379" y="4142482"/>
            <a:ext cx="722531" cy="2095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3B3B3"/>
                </a:solidFill>
                <a:latin typeface="Yu Mincho"/>
                <a:ea typeface="Yu Mincho"/>
                <a:cs typeface="Yu Mincho"/>
              </a:rPr>
              <a:t>ラベル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54898" y="4199632"/>
            <a:ext cx="23558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B3B3B3"/>
                </a:solidFill>
                <a:latin typeface="Yu Gothic"/>
                <a:ea typeface="Yu Gothic"/>
                <a:cs typeface="Yu Gothic"/>
              </a:rPr>
              <a:t>P.15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513" y="4724995"/>
            <a:ext cx="203859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B3B3B3"/>
                </a:solidFill>
                <a:latin typeface="Yu Mincho"/>
                <a:ea typeface="Yu Mincho"/>
                <a:cs typeface="Yu Mincho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5379" y="4715470"/>
            <a:ext cx="722531" cy="2095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3B3B3"/>
                </a:solidFill>
                <a:latin typeface="Yu Mincho"/>
                <a:ea typeface="Yu Mincho"/>
                <a:cs typeface="Yu Mincho"/>
              </a:rPr>
              <a:t>ラベル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744373" y="4772620"/>
            <a:ext cx="24611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B3B3B3"/>
                </a:solidFill>
                <a:latin typeface="Yu Gothic"/>
                <a:ea typeface="Yu Gothic"/>
                <a:cs typeface="Yu Gothic"/>
              </a:rPr>
              <a:t>P.21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01513" y="1326803"/>
            <a:ext cx="11788974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132731" y="1484561"/>
            <a:ext cx="0" cy="323998"/>
          </a:xfrm>
          <a:prstGeom prst="line">
            <a:avLst/>
          </a:prstGeom>
          <a:ln w="9525">
            <a:solidFill>
              <a:srgbClr val="262626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201513" y="1803797"/>
            <a:ext cx="935980" cy="0"/>
          </a:xfrm>
          <a:prstGeom prst="line">
            <a:avLst/>
          </a:prstGeom>
          <a:ln w="9525">
            <a:solidFill>
              <a:srgbClr val="262626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1137493" y="1803797"/>
            <a:ext cx="5759649" cy="0"/>
          </a:xfrm>
          <a:prstGeom prst="line">
            <a:avLst/>
          </a:prstGeom>
          <a:ln w="9525">
            <a:solidFill>
              <a:srgbClr val="262626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2112169" y="1644551"/>
            <a:ext cx="4698653" cy="11311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Freeform 6"/>
          <p:cNvSpPr/>
          <p:nvPr/>
        </p:nvSpPr>
        <p:spPr>
          <a:xfrm>
            <a:off x="6810821" y="1599902"/>
            <a:ext cx="86321" cy="100757"/>
          </a:xfrm>
          <a:custGeom>
            <a:avLst/>
            <a:gdLst/>
            <a:ahLst/>
            <a:cxnLst/>
            <a:rect l="l" t="t" r="r" b="b"/>
            <a:pathLst>
              <a:path w="86321" h="100757">
                <a:moveTo>
                  <a:pt x="0" y="0"/>
                </a:moveTo>
                <a:lnTo>
                  <a:pt x="86321" y="50379"/>
                </a:lnTo>
                <a:lnTo>
                  <a:pt x="0" y="100757"/>
                </a:lnTo>
                <a:close/>
              </a:path>
            </a:pathLst>
          </a:cu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8" name="Connector 7"/>
          <p:cNvCxnSpPr/>
          <p:nvPr/>
        </p:nvCxnSpPr>
        <p:spPr>
          <a:xfrm>
            <a:off x="1132731" y="1808559"/>
            <a:ext cx="0" cy="1007864"/>
          </a:xfrm>
          <a:prstGeom prst="line">
            <a:avLst/>
          </a:prstGeom>
          <a:ln w="9525">
            <a:solidFill>
              <a:srgbClr val="262626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1132731" y="2816423"/>
            <a:ext cx="0" cy="1007865"/>
          </a:xfrm>
          <a:prstGeom prst="line">
            <a:avLst/>
          </a:prstGeom>
          <a:ln w="9525">
            <a:solidFill>
              <a:srgbClr val="262626"/>
            </a:solidFill>
          </a:ln>
        </p:spPr>
      </p:cxnSp>
      <p:cxnSp>
        <p:nvCxnSpPr>
          <p:cNvPr id="10" name="Connector 9"/>
          <p:cNvCxnSpPr/>
          <p:nvPr/>
        </p:nvCxnSpPr>
        <p:spPr>
          <a:xfrm>
            <a:off x="1132731" y="3824288"/>
            <a:ext cx="0" cy="1007864"/>
          </a:xfrm>
          <a:prstGeom prst="line">
            <a:avLst/>
          </a:prstGeom>
          <a:ln w="9525">
            <a:solidFill>
              <a:srgbClr val="262626"/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201513" y="2821186"/>
            <a:ext cx="6695629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201513" y="3829050"/>
            <a:ext cx="6695629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sp>
        <p:nvSpPr>
          <p:cNvPr id="13" name="Rectangle 12"/>
          <p:cNvSpPr/>
          <p:nvPr/>
        </p:nvSpPr>
        <p:spPr>
          <a:xfrm>
            <a:off x="1245394" y="1988493"/>
            <a:ext cx="1223962" cy="64799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2386608" y="1905744"/>
            <a:ext cx="165497" cy="165497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2685306" y="2996357"/>
            <a:ext cx="1223962" cy="64799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3826520" y="2913608"/>
            <a:ext cx="165497" cy="165497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7" name="Freeform 16"/>
          <p:cNvSpPr/>
          <p:nvPr/>
        </p:nvSpPr>
        <p:spPr>
          <a:xfrm>
            <a:off x="4269284" y="2996357"/>
            <a:ext cx="935980" cy="647997"/>
          </a:xfrm>
          <a:custGeom>
            <a:avLst/>
            <a:gdLst/>
            <a:ahLst/>
            <a:cxnLst/>
            <a:rect l="l" t="t" r="r" b="b"/>
            <a:pathLst>
              <a:path w="935980" h="647997">
                <a:moveTo>
                  <a:pt x="467990" y="0"/>
                </a:moveTo>
                <a:lnTo>
                  <a:pt x="935980" y="323998"/>
                </a:lnTo>
                <a:lnTo>
                  <a:pt x="467990" y="647997"/>
                </a:lnTo>
                <a:lnTo>
                  <a:pt x="0" y="323998"/>
                </a:lnTo>
                <a:close/>
              </a:path>
            </a:pathLst>
          </a:custGeom>
          <a:solidFill>
            <a:srgbClr val="F2F2F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565130" y="2996357"/>
            <a:ext cx="1223962" cy="64799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6706344" y="2913608"/>
            <a:ext cx="165497" cy="165497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5565130" y="4004221"/>
            <a:ext cx="1223962" cy="64799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706344" y="3921472"/>
            <a:ext cx="165497" cy="165497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22" name="Picture 21" descr="img_28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513" y="1484561"/>
            <a:ext cx="6695926" cy="3347889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10871448" y="1297484"/>
            <a:ext cx="143917" cy="143917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11488192" y="1297484"/>
            <a:ext cx="143917" cy="143917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25" name="Connector 24"/>
          <p:cNvCxnSpPr/>
          <p:nvPr/>
        </p:nvCxnSpPr>
        <p:spPr>
          <a:xfrm>
            <a:off x="7185422" y="1795165"/>
            <a:ext cx="4805065" cy="0"/>
          </a:xfrm>
          <a:prstGeom prst="line">
            <a:avLst/>
          </a:prstGeom>
          <a:ln w="9525">
            <a:solidFill>
              <a:srgbClr val="262626"/>
            </a:solidFill>
          </a:ln>
        </p:spPr>
      </p:cxnSp>
      <p:sp>
        <p:nvSpPr>
          <p:cNvPr id="26" name="Rectangle 25"/>
          <p:cNvSpPr/>
          <p:nvPr/>
        </p:nvSpPr>
        <p:spPr>
          <a:xfrm>
            <a:off x="7185422" y="1954560"/>
            <a:ext cx="165497" cy="165497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27" name="Connector 26"/>
          <p:cNvCxnSpPr/>
          <p:nvPr/>
        </p:nvCxnSpPr>
        <p:spPr>
          <a:xfrm>
            <a:off x="7185422" y="2269331"/>
            <a:ext cx="4805065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sp>
        <p:nvSpPr>
          <p:cNvPr id="28" name="Rectangle 27"/>
          <p:cNvSpPr/>
          <p:nvPr/>
        </p:nvSpPr>
        <p:spPr>
          <a:xfrm>
            <a:off x="7185422" y="2418011"/>
            <a:ext cx="165497" cy="165497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29" name="Connector 28"/>
          <p:cNvCxnSpPr/>
          <p:nvPr/>
        </p:nvCxnSpPr>
        <p:spPr>
          <a:xfrm>
            <a:off x="7185422" y="2732782"/>
            <a:ext cx="4805065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sp>
        <p:nvSpPr>
          <p:cNvPr id="30" name="Rectangle 29"/>
          <p:cNvSpPr/>
          <p:nvPr/>
        </p:nvSpPr>
        <p:spPr>
          <a:xfrm>
            <a:off x="7185422" y="2881461"/>
            <a:ext cx="165497" cy="165497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31" name="Connector 30"/>
          <p:cNvCxnSpPr/>
          <p:nvPr/>
        </p:nvCxnSpPr>
        <p:spPr>
          <a:xfrm>
            <a:off x="7185422" y="3196233"/>
            <a:ext cx="4805065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sp>
        <p:nvSpPr>
          <p:cNvPr id="32" name="Rectangle 31"/>
          <p:cNvSpPr/>
          <p:nvPr/>
        </p:nvSpPr>
        <p:spPr>
          <a:xfrm>
            <a:off x="7185422" y="3344912"/>
            <a:ext cx="165497" cy="165497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201513" y="271314"/>
            <a:ext cx="2257187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パーツ28｜スイムレーン＋番号の付箋</a:t>
            </a:r>
          </a:p>
        </p:txBody>
      </p:sp>
      <p:sp>
        <p:nvSpPr>
          <p:cNvPr id="34" name="Title"/>
          <p:cNvSpPr txBox="1"/>
          <p:nvPr/>
        </p:nvSpPr>
        <p:spPr>
          <a:xfrm>
            <a:off x="201513" y="505271"/>
            <a:ext cx="7333238" cy="2857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9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F1F1F"/>
                </a:solidFill>
                <a:latin typeface="Yu Mincho"/>
                <a:ea typeface="Yu Mincho"/>
                <a:cs typeface="Yu Mincho"/>
              </a:rPr>
              <a:t>スイムレーン＋番号の付箋（課題・適用例を工程に重ね、右に一覧）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1513" y="1555403"/>
            <a:ext cx="464046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4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62626"/>
                </a:solidFill>
                <a:latin typeface="Yu Gothic"/>
                <a:ea typeface="Yu Gothic"/>
                <a:cs typeface="Yu Gothic"/>
              </a:rPr>
              <a:t>担い手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81410" y="1555403"/>
            <a:ext cx="770823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4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62626"/>
                </a:solidFill>
                <a:latin typeface="Yu Gothic"/>
                <a:ea typeface="Yu Gothic"/>
                <a:cs typeface="Yu Gothic"/>
              </a:rPr>
              <a:t>業務の流れ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1513" y="2229296"/>
            <a:ext cx="558153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1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4D4D4D"/>
                </a:solidFill>
                <a:latin typeface="Yu Mincho"/>
                <a:ea typeface="Yu Mincho"/>
                <a:cs typeface="Yu Mincho"/>
              </a:rPr>
              <a:t>ラベル 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1513" y="3237161"/>
            <a:ext cx="558153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1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4D4D4D"/>
                </a:solidFill>
                <a:latin typeface="Yu Mincho"/>
                <a:ea typeface="Yu Mincho"/>
                <a:cs typeface="Yu Mincho"/>
              </a:rPr>
              <a:t>ラベル 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01513" y="4245025"/>
            <a:ext cx="558153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1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4D4D4D"/>
                </a:solidFill>
                <a:latin typeface="Yu Mincho"/>
                <a:ea typeface="Yu Mincho"/>
                <a:cs typeface="Yu Mincho"/>
              </a:rPr>
              <a:t>ラベル 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53294" y="2058293"/>
            <a:ext cx="387894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62626"/>
                </a:solidFill>
                <a:latin typeface="Yu Gothic"/>
                <a:ea typeface="Yu Gothic"/>
                <a:cs typeface="Yu Gothic"/>
              </a:rPr>
              <a:t>Text 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53294" y="2258318"/>
            <a:ext cx="987499" cy="29706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4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→ ラベル 4（Excel）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445990" y="1915418"/>
            <a:ext cx="67497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49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93206" y="3143250"/>
            <a:ext cx="414207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62626"/>
                </a:solidFill>
                <a:latin typeface="Yu Gothic"/>
                <a:ea typeface="Yu Gothic"/>
                <a:cs typeface="Yu Gothic"/>
              </a:rPr>
              <a:t>Text 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93206" y="3343275"/>
            <a:ext cx="967085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4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→ ラベル 5（PDF）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75187" y="2923282"/>
            <a:ext cx="89785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49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08504" y="3242221"/>
            <a:ext cx="457391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262626"/>
                </a:solidFill>
                <a:latin typeface="Yu Gothic"/>
                <a:ea typeface="Yu Gothic"/>
                <a:cs typeface="Yu Gothic"/>
              </a:rPr>
              <a:t>ラベル 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73030" y="3143250"/>
            <a:ext cx="416219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62626"/>
                </a:solidFill>
                <a:latin typeface="Yu Gothic"/>
                <a:ea typeface="Yu Gothic"/>
                <a:cs typeface="Yu Gothic"/>
              </a:rPr>
              <a:t>Text 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73030" y="3343275"/>
            <a:ext cx="59948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4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→ ラベル 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754267" y="2923282"/>
            <a:ext cx="91488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49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62626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73030" y="4151114"/>
            <a:ext cx="420243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62626"/>
                </a:solidFill>
                <a:latin typeface="Yu Gothic"/>
                <a:ea typeface="Yu Gothic"/>
                <a:cs typeface="Yu Gothic"/>
              </a:rPr>
              <a:t>Text 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73030" y="4351139"/>
            <a:ext cx="605826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4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→ ラベル 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752481" y="3931146"/>
            <a:ext cx="95048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49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62626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069241" y="1298972"/>
            <a:ext cx="230172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課題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685984" y="1298972"/>
            <a:ext cx="335732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適用例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185422" y="1525191"/>
            <a:ext cx="112960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62626"/>
                </a:solidFill>
                <a:latin typeface="Yu Mincho"/>
                <a:ea typeface="Yu Mincho"/>
                <a:cs typeface="Yu Mincho"/>
              </a:rPr>
              <a:t>課題と適用例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244804" y="1964234"/>
            <a:ext cx="67497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49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490520" y="1944886"/>
            <a:ext cx="441603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6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234089" y="2427684"/>
            <a:ext cx="89785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49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490520" y="2408337"/>
            <a:ext cx="443305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6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233345" y="2891135"/>
            <a:ext cx="91488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49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62626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490520" y="2871788"/>
            <a:ext cx="435412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6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231559" y="3354586"/>
            <a:ext cx="95048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49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62626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490520" y="3335238"/>
            <a:ext cx="443151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6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01513" y="6274743"/>
            <a:ext cx="80177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4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出所）Source 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848654" y="6567488"/>
            <a:ext cx="166557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24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01513" y="1326803"/>
            <a:ext cx="11788974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348680" y="1484561"/>
            <a:ext cx="0" cy="323998"/>
          </a:xfrm>
          <a:prstGeom prst="line">
            <a:avLst/>
          </a:prstGeom>
          <a:ln w="9525">
            <a:solidFill>
              <a:srgbClr val="262626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201513" y="1803797"/>
            <a:ext cx="1151930" cy="0"/>
          </a:xfrm>
          <a:prstGeom prst="line">
            <a:avLst/>
          </a:prstGeom>
          <a:ln w="9525">
            <a:solidFill>
              <a:srgbClr val="262626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1353443" y="1803797"/>
            <a:ext cx="10637044" cy="0"/>
          </a:xfrm>
          <a:prstGeom prst="line">
            <a:avLst/>
          </a:prstGeom>
          <a:ln w="9525">
            <a:solidFill>
              <a:srgbClr val="262626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1897261" y="1644551"/>
            <a:ext cx="10006905" cy="11311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Freeform 6"/>
          <p:cNvSpPr/>
          <p:nvPr/>
        </p:nvSpPr>
        <p:spPr>
          <a:xfrm>
            <a:off x="11904166" y="1599902"/>
            <a:ext cx="86321" cy="100757"/>
          </a:xfrm>
          <a:custGeom>
            <a:avLst/>
            <a:gdLst/>
            <a:ahLst/>
            <a:cxnLst/>
            <a:rect l="l" t="t" r="r" b="b"/>
            <a:pathLst>
              <a:path w="86321" h="100757">
                <a:moveTo>
                  <a:pt x="0" y="0"/>
                </a:moveTo>
                <a:lnTo>
                  <a:pt x="86321" y="50379"/>
                </a:lnTo>
                <a:lnTo>
                  <a:pt x="0" y="100757"/>
                </a:lnTo>
                <a:close/>
              </a:path>
            </a:pathLst>
          </a:cu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8" name="Connector 7"/>
          <p:cNvCxnSpPr/>
          <p:nvPr/>
        </p:nvCxnSpPr>
        <p:spPr>
          <a:xfrm>
            <a:off x="1348680" y="1808559"/>
            <a:ext cx="0" cy="1007864"/>
          </a:xfrm>
          <a:prstGeom prst="line">
            <a:avLst/>
          </a:prstGeom>
          <a:ln w="9525">
            <a:solidFill>
              <a:srgbClr val="262626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1348680" y="2816423"/>
            <a:ext cx="0" cy="503932"/>
          </a:xfrm>
          <a:prstGeom prst="line">
            <a:avLst/>
          </a:prstGeom>
          <a:ln w="9525">
            <a:solidFill>
              <a:srgbClr val="262626"/>
            </a:solidFill>
          </a:ln>
        </p:spPr>
      </p:cxnSp>
      <p:cxnSp>
        <p:nvCxnSpPr>
          <p:cNvPr id="10" name="Connector 9"/>
          <p:cNvCxnSpPr/>
          <p:nvPr/>
        </p:nvCxnSpPr>
        <p:spPr>
          <a:xfrm>
            <a:off x="1348680" y="3320355"/>
            <a:ext cx="0" cy="1272481"/>
          </a:xfrm>
          <a:prstGeom prst="line">
            <a:avLst/>
          </a:prstGeom>
          <a:ln w="9525">
            <a:solidFill>
              <a:srgbClr val="262626"/>
            </a:solidFill>
          </a:ln>
        </p:spPr>
      </p:cxnSp>
      <p:sp>
        <p:nvSpPr>
          <p:cNvPr id="11" name="Freeform 10"/>
          <p:cNvSpPr/>
          <p:nvPr/>
        </p:nvSpPr>
        <p:spPr>
          <a:xfrm>
            <a:off x="1461343" y="1952476"/>
            <a:ext cx="2551361" cy="863947"/>
          </a:xfrm>
          <a:custGeom>
            <a:avLst/>
            <a:gdLst/>
            <a:ahLst/>
            <a:cxnLst/>
            <a:rect l="l" t="t" r="r" b="b"/>
            <a:pathLst>
              <a:path w="2551361" h="863947">
                <a:moveTo>
                  <a:pt x="0" y="0"/>
                </a:moveTo>
                <a:lnTo>
                  <a:pt x="2371361" y="0"/>
                </a:lnTo>
                <a:lnTo>
                  <a:pt x="2551361" y="431974"/>
                </a:lnTo>
                <a:lnTo>
                  <a:pt x="2371361" y="863947"/>
                </a:lnTo>
                <a:lnTo>
                  <a:pt x="0" y="863947"/>
                </a:lnTo>
                <a:close/>
              </a:path>
            </a:pathLst>
          </a:custGeom>
          <a:solidFill>
            <a:srgbClr val="F2F2F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Freeform 11"/>
          <p:cNvSpPr/>
          <p:nvPr/>
        </p:nvSpPr>
        <p:spPr>
          <a:xfrm>
            <a:off x="4120604" y="1952476"/>
            <a:ext cx="2551361" cy="863947"/>
          </a:xfrm>
          <a:custGeom>
            <a:avLst/>
            <a:gdLst/>
            <a:ahLst/>
            <a:cxnLst/>
            <a:rect l="l" t="t" r="r" b="b"/>
            <a:pathLst>
              <a:path w="2551361" h="863947">
                <a:moveTo>
                  <a:pt x="0" y="0"/>
                </a:moveTo>
                <a:lnTo>
                  <a:pt x="2371361" y="0"/>
                </a:lnTo>
                <a:lnTo>
                  <a:pt x="2551361" y="431974"/>
                </a:lnTo>
                <a:lnTo>
                  <a:pt x="2371361" y="863947"/>
                </a:lnTo>
                <a:lnTo>
                  <a:pt x="0" y="863947"/>
                </a:lnTo>
                <a:lnTo>
                  <a:pt x="180000" y="431974"/>
                </a:lnTo>
                <a:close/>
              </a:path>
            </a:pathLst>
          </a:custGeom>
          <a:solidFill>
            <a:srgbClr val="F2F2F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" name="Freeform 12"/>
          <p:cNvSpPr/>
          <p:nvPr/>
        </p:nvSpPr>
        <p:spPr>
          <a:xfrm>
            <a:off x="6779865" y="1952476"/>
            <a:ext cx="2551361" cy="863947"/>
          </a:xfrm>
          <a:custGeom>
            <a:avLst/>
            <a:gdLst/>
            <a:ahLst/>
            <a:cxnLst/>
            <a:rect l="l" t="t" r="r" b="b"/>
            <a:pathLst>
              <a:path w="2551361" h="863947">
                <a:moveTo>
                  <a:pt x="0" y="0"/>
                </a:moveTo>
                <a:lnTo>
                  <a:pt x="2371361" y="0"/>
                </a:lnTo>
                <a:lnTo>
                  <a:pt x="2551361" y="431974"/>
                </a:lnTo>
                <a:lnTo>
                  <a:pt x="2371361" y="863947"/>
                </a:lnTo>
                <a:lnTo>
                  <a:pt x="0" y="863947"/>
                </a:lnTo>
                <a:lnTo>
                  <a:pt x="180000" y="431974"/>
                </a:lnTo>
                <a:close/>
              </a:path>
            </a:pathLst>
          </a:custGeom>
          <a:solidFill>
            <a:srgbClr val="F2F2F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" name="Freeform 13"/>
          <p:cNvSpPr/>
          <p:nvPr/>
        </p:nvSpPr>
        <p:spPr>
          <a:xfrm>
            <a:off x="9439126" y="1952476"/>
            <a:ext cx="2551361" cy="863947"/>
          </a:xfrm>
          <a:custGeom>
            <a:avLst/>
            <a:gdLst/>
            <a:ahLst/>
            <a:cxnLst/>
            <a:rect l="l" t="t" r="r" b="b"/>
            <a:pathLst>
              <a:path w="2551361" h="863947">
                <a:moveTo>
                  <a:pt x="0" y="0"/>
                </a:moveTo>
                <a:lnTo>
                  <a:pt x="2371361" y="0"/>
                </a:lnTo>
                <a:lnTo>
                  <a:pt x="2551361" y="431974"/>
                </a:lnTo>
                <a:lnTo>
                  <a:pt x="2371361" y="863947"/>
                </a:lnTo>
                <a:lnTo>
                  <a:pt x="0" y="863947"/>
                </a:lnTo>
                <a:lnTo>
                  <a:pt x="180000" y="431974"/>
                </a:lnTo>
                <a:close/>
              </a:path>
            </a:pathLst>
          </a:custGeom>
          <a:solidFill>
            <a:srgbClr val="F2F2F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" name="Freeform 14"/>
          <p:cNvSpPr/>
          <p:nvPr/>
        </p:nvSpPr>
        <p:spPr>
          <a:xfrm>
            <a:off x="2575024" y="2978348"/>
            <a:ext cx="323999" cy="179934"/>
          </a:xfrm>
          <a:custGeom>
            <a:avLst/>
            <a:gdLst/>
            <a:ahLst/>
            <a:cxnLst/>
            <a:rect l="l" t="t" r="r" b="b"/>
            <a:pathLst>
              <a:path w="323999" h="179934">
                <a:moveTo>
                  <a:pt x="0" y="0"/>
                </a:moveTo>
                <a:lnTo>
                  <a:pt x="323999" y="0"/>
                </a:lnTo>
                <a:lnTo>
                  <a:pt x="162000" y="179934"/>
                </a:lnTo>
                <a:close/>
              </a:path>
            </a:pathLst>
          </a:custGeom>
          <a:solidFill>
            <a:srgbClr val="A6A6A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6" name="Freeform 15"/>
          <p:cNvSpPr/>
          <p:nvPr/>
        </p:nvSpPr>
        <p:spPr>
          <a:xfrm>
            <a:off x="5234285" y="2978348"/>
            <a:ext cx="323999" cy="179934"/>
          </a:xfrm>
          <a:custGeom>
            <a:avLst/>
            <a:gdLst/>
            <a:ahLst/>
            <a:cxnLst/>
            <a:rect l="l" t="t" r="r" b="b"/>
            <a:pathLst>
              <a:path w="323999" h="179934">
                <a:moveTo>
                  <a:pt x="0" y="0"/>
                </a:moveTo>
                <a:lnTo>
                  <a:pt x="323999" y="0"/>
                </a:lnTo>
                <a:lnTo>
                  <a:pt x="162000" y="179934"/>
                </a:lnTo>
                <a:close/>
              </a:path>
            </a:pathLst>
          </a:custGeom>
          <a:solidFill>
            <a:srgbClr val="A6A6A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7" name="Freeform 16"/>
          <p:cNvSpPr/>
          <p:nvPr/>
        </p:nvSpPr>
        <p:spPr>
          <a:xfrm>
            <a:off x="7893546" y="2978348"/>
            <a:ext cx="323999" cy="179934"/>
          </a:xfrm>
          <a:custGeom>
            <a:avLst/>
            <a:gdLst/>
            <a:ahLst/>
            <a:cxnLst/>
            <a:rect l="l" t="t" r="r" b="b"/>
            <a:pathLst>
              <a:path w="323999" h="179934">
                <a:moveTo>
                  <a:pt x="0" y="0"/>
                </a:moveTo>
                <a:lnTo>
                  <a:pt x="323999" y="0"/>
                </a:lnTo>
                <a:lnTo>
                  <a:pt x="162000" y="179934"/>
                </a:lnTo>
                <a:close/>
              </a:path>
            </a:pathLst>
          </a:custGeom>
          <a:solidFill>
            <a:srgbClr val="A6A6A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8" name="Freeform 17"/>
          <p:cNvSpPr/>
          <p:nvPr/>
        </p:nvSpPr>
        <p:spPr>
          <a:xfrm>
            <a:off x="10552807" y="2978348"/>
            <a:ext cx="323999" cy="179934"/>
          </a:xfrm>
          <a:custGeom>
            <a:avLst/>
            <a:gdLst/>
            <a:ahLst/>
            <a:cxnLst/>
            <a:rect l="l" t="t" r="r" b="b"/>
            <a:pathLst>
              <a:path w="323999" h="179934">
                <a:moveTo>
                  <a:pt x="0" y="0"/>
                </a:moveTo>
                <a:lnTo>
                  <a:pt x="323999" y="0"/>
                </a:lnTo>
                <a:lnTo>
                  <a:pt x="161999" y="179934"/>
                </a:lnTo>
                <a:close/>
              </a:path>
            </a:pathLst>
          </a:custGeom>
          <a:solidFill>
            <a:srgbClr val="A6A6A6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19" name="Connector 18"/>
          <p:cNvCxnSpPr/>
          <p:nvPr/>
        </p:nvCxnSpPr>
        <p:spPr>
          <a:xfrm>
            <a:off x="1461343" y="3592264"/>
            <a:ext cx="2551361" cy="0"/>
          </a:xfrm>
          <a:prstGeom prst="line">
            <a:avLst/>
          </a:prstGeom>
          <a:ln w="9525">
            <a:solidFill>
              <a:srgbClr val="262626"/>
            </a:solidFill>
          </a:ln>
        </p:spPr>
      </p:cxnSp>
      <p:cxnSp>
        <p:nvCxnSpPr>
          <p:cNvPr id="20" name="Connector 19"/>
          <p:cNvCxnSpPr/>
          <p:nvPr/>
        </p:nvCxnSpPr>
        <p:spPr>
          <a:xfrm>
            <a:off x="4120604" y="3592264"/>
            <a:ext cx="2551361" cy="0"/>
          </a:xfrm>
          <a:prstGeom prst="line">
            <a:avLst/>
          </a:prstGeom>
          <a:ln w="9525">
            <a:solidFill>
              <a:srgbClr val="262626"/>
            </a:solidFill>
          </a:ln>
        </p:spPr>
      </p:cxnSp>
      <p:cxnSp>
        <p:nvCxnSpPr>
          <p:cNvPr id="21" name="Connector 20"/>
          <p:cNvCxnSpPr/>
          <p:nvPr/>
        </p:nvCxnSpPr>
        <p:spPr>
          <a:xfrm>
            <a:off x="6779865" y="3592264"/>
            <a:ext cx="2551361" cy="0"/>
          </a:xfrm>
          <a:prstGeom prst="line">
            <a:avLst/>
          </a:prstGeom>
          <a:ln w="9525">
            <a:solidFill>
              <a:srgbClr val="262626"/>
            </a:solidFill>
          </a:ln>
        </p:spPr>
      </p:cxnSp>
      <p:cxnSp>
        <p:nvCxnSpPr>
          <p:cNvPr id="22" name="Connector 21"/>
          <p:cNvCxnSpPr/>
          <p:nvPr/>
        </p:nvCxnSpPr>
        <p:spPr>
          <a:xfrm>
            <a:off x="9439126" y="3592264"/>
            <a:ext cx="2551361" cy="0"/>
          </a:xfrm>
          <a:prstGeom prst="line">
            <a:avLst/>
          </a:prstGeom>
          <a:ln w="9525">
            <a:solidFill>
              <a:srgbClr val="262626"/>
            </a:solidFill>
          </a:ln>
        </p:spPr>
      </p:cxnSp>
      <p:sp>
        <p:nvSpPr>
          <p:cNvPr id="23" name="TextBox 22"/>
          <p:cNvSpPr txBox="1"/>
          <p:nvPr/>
        </p:nvSpPr>
        <p:spPr>
          <a:xfrm>
            <a:off x="201513" y="271314"/>
            <a:ext cx="1450312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パーツ29｜表と裏の2段</a:t>
            </a:r>
          </a:p>
        </p:txBody>
      </p:sp>
      <p:sp>
        <p:nvSpPr>
          <p:cNvPr id="24" name="Title"/>
          <p:cNvSpPr txBox="1"/>
          <p:nvPr/>
        </p:nvSpPr>
        <p:spPr>
          <a:xfrm>
            <a:off x="201513" y="505271"/>
            <a:ext cx="6837009" cy="2857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9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F1F1F"/>
                </a:solidFill>
                <a:latin typeface="Yu Mincho"/>
                <a:ea typeface="Yu Mincho"/>
                <a:cs typeface="Yu Mincho"/>
              </a:rPr>
              <a:t>表と裏の2段（利用者から見た流れ／裏側の処理を縦に対応）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1513" y="1555403"/>
            <a:ext cx="444234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4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62626"/>
                </a:solidFill>
                <a:latin typeface="Yu Gothic"/>
                <a:ea typeface="Yu Gothic"/>
                <a:cs typeface="Yu Gothic"/>
              </a:rPr>
              <a:t>表と裏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97360" y="1555403"/>
            <a:ext cx="322731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4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62626"/>
                </a:solidFill>
                <a:latin typeface="Yu Gothic"/>
                <a:ea typeface="Yu Gothic"/>
                <a:cs typeface="Yu Gothic"/>
              </a:rPr>
              <a:t>手順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1513" y="2127200"/>
            <a:ext cx="1132271" cy="36626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1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4D4D4D"/>
                </a:solidFill>
                <a:latin typeface="Yu Mincho"/>
                <a:ea typeface="Yu Mincho"/>
                <a:cs typeface="Yu Mincho"/>
              </a:rPr>
              <a:t>利用者から</a:t>
            </a:r>
          </a:p>
          <a:p>
            <a:pPr algn="l">
              <a:lnSpc>
                <a:spcPts val="161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4D4D4D"/>
                </a:solidFill>
                <a:latin typeface="Yu Mincho"/>
                <a:ea typeface="Yu Mincho"/>
                <a:cs typeface="Yu Mincho"/>
              </a:rPr>
              <a:t>見た流れ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1513" y="3873401"/>
            <a:ext cx="773763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1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4D4D4D"/>
                </a:solidFill>
                <a:latin typeface="Yu Mincho"/>
                <a:ea typeface="Yu Mincho"/>
                <a:cs typeface="Yu Mincho"/>
              </a:rPr>
              <a:t>裏側の処理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05260" y="2275880"/>
            <a:ext cx="93190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4D4D4D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949" y="2287339"/>
            <a:ext cx="461879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62626"/>
                </a:solidFill>
                <a:latin typeface="Yu Gothic"/>
                <a:ea typeface="Yu Gothic"/>
                <a:cs typeface="Yu Gothic"/>
              </a:rPr>
              <a:t>Text 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26595" y="2275880"/>
            <a:ext cx="127242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4D4D4D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83026" y="2287339"/>
            <a:ext cx="493300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62626"/>
                </a:solidFill>
                <a:latin typeface="Yu Gothic"/>
                <a:ea typeface="Yu Gothic"/>
                <a:cs typeface="Yu Gothic"/>
              </a:rPr>
              <a:t>Text 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5856" y="2275880"/>
            <a:ext cx="129873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4D4D4D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44817" y="2287339"/>
            <a:ext cx="495776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62626"/>
                </a:solidFill>
                <a:latin typeface="Yu Gothic"/>
                <a:ea typeface="Yu Gothic"/>
                <a:cs typeface="Yu Gothic"/>
              </a:rPr>
              <a:t>Text 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45117" y="2275880"/>
            <a:ext cx="135136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4D4D4D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09138" y="2287339"/>
            <a:ext cx="500729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62626"/>
                </a:solidFill>
                <a:latin typeface="Yu Gothic"/>
                <a:ea typeface="Yu Gothic"/>
                <a:cs typeface="Yu Gothic"/>
              </a:rPr>
              <a:t>Text 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61343" y="3329880"/>
            <a:ext cx="568833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62626"/>
                </a:solidFill>
                <a:latin typeface="Yu Gothic"/>
                <a:ea typeface="Yu Gothic"/>
                <a:cs typeface="Yu Gothic"/>
              </a:rPr>
              <a:t>ラベル 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23268" y="3715494"/>
            <a:ext cx="460950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marL="146050" indent="-146050">
              <a:lnSpc>
                <a:spcPts val="1955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1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23268" y="4017466"/>
            <a:ext cx="462808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marL="146050" indent="-146050">
              <a:lnSpc>
                <a:spcPts val="1955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1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23268" y="4319439"/>
            <a:ext cx="454604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marL="146050" indent="-146050">
              <a:lnSpc>
                <a:spcPts val="1955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1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20604" y="3329880"/>
            <a:ext cx="600254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62626"/>
                </a:solidFill>
                <a:latin typeface="Yu Gothic"/>
                <a:ea typeface="Yu Gothic"/>
                <a:cs typeface="Yu Gothic"/>
              </a:rPr>
              <a:t>ラベル 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82529" y="3715494"/>
            <a:ext cx="462498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marL="146050" indent="-146050">
              <a:lnSpc>
                <a:spcPts val="1955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1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82529" y="4017466"/>
            <a:ext cx="462808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marL="146050" indent="-146050">
              <a:lnSpc>
                <a:spcPts val="1955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1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82529" y="4319439"/>
            <a:ext cx="526113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marL="146050" indent="-146050">
              <a:lnSpc>
                <a:spcPts val="1955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1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10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79865" y="3329880"/>
            <a:ext cx="602730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62626"/>
                </a:solidFill>
                <a:latin typeface="Yu Gothic"/>
                <a:ea typeface="Yu Gothic"/>
                <a:cs typeface="Yu Gothic"/>
              </a:rPr>
              <a:t>ラベル 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41790" y="3715494"/>
            <a:ext cx="492216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marL="146050" indent="-146050">
              <a:lnSpc>
                <a:spcPts val="1955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1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11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41790" y="4017466"/>
            <a:ext cx="523018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marL="146050" indent="-146050">
              <a:lnSpc>
                <a:spcPts val="1955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1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12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41790" y="4319439"/>
            <a:ext cx="524101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marL="146050" indent="-146050">
              <a:lnSpc>
                <a:spcPts val="1955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1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13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39126" y="3329880"/>
            <a:ext cx="607683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62626"/>
                </a:solidFill>
                <a:latin typeface="Yu Gothic"/>
                <a:ea typeface="Yu Gothic"/>
                <a:cs typeface="Yu Gothic"/>
              </a:rPr>
              <a:t>ラベル 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01051" y="3715494"/>
            <a:ext cx="528435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marL="146050" indent="-146050">
              <a:lnSpc>
                <a:spcPts val="1955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1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14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051" y="4017466"/>
            <a:ext cx="522708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marL="146050" indent="-146050">
              <a:lnSpc>
                <a:spcPts val="1955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1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15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01051" y="4319439"/>
            <a:ext cx="524566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marL="146050" indent="-146050">
              <a:lnSpc>
                <a:spcPts val="1955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1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16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01513" y="6274743"/>
            <a:ext cx="80177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4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出所）Source 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851184" y="6567488"/>
            <a:ext cx="163925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25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01513" y="1326803"/>
            <a:ext cx="11788974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201513" y="1795165"/>
            <a:ext cx="5000328" cy="0"/>
          </a:xfrm>
          <a:prstGeom prst="line">
            <a:avLst/>
          </a:prstGeom>
          <a:ln w="9525">
            <a:solidFill>
              <a:srgbClr val="262626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9823" y="1795165"/>
            <a:ext cx="6500515" cy="0"/>
          </a:xfrm>
          <a:prstGeom prst="line">
            <a:avLst/>
          </a:prstGeom>
          <a:ln w="9525">
            <a:solidFill>
              <a:srgbClr val="262626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5345757" y="1799927"/>
            <a:ext cx="0" cy="781943"/>
          </a:xfrm>
          <a:prstGeom prst="line">
            <a:avLst/>
          </a:prstGeom>
          <a:ln w="9525">
            <a:solidFill>
              <a:srgbClr val="666666"/>
            </a:solidFill>
            <a:prstDash val="sysDot"/>
          </a:ln>
        </p:spPr>
      </p:cxnSp>
      <p:cxnSp>
        <p:nvCxnSpPr>
          <p:cNvPr id="6" name="Connector 5"/>
          <p:cNvCxnSpPr/>
          <p:nvPr/>
        </p:nvCxnSpPr>
        <p:spPr>
          <a:xfrm>
            <a:off x="201513" y="2586633"/>
            <a:ext cx="5000328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5345757" y="2581870"/>
            <a:ext cx="0" cy="781943"/>
          </a:xfrm>
          <a:prstGeom prst="line">
            <a:avLst/>
          </a:prstGeom>
          <a:ln w="9525">
            <a:solidFill>
              <a:srgbClr val="666666"/>
            </a:solidFill>
            <a:prstDash val="sysDot"/>
          </a:ln>
        </p:spPr>
      </p:cxnSp>
      <p:cxnSp>
        <p:nvCxnSpPr>
          <p:cNvPr id="8" name="Connector 7"/>
          <p:cNvCxnSpPr/>
          <p:nvPr/>
        </p:nvCxnSpPr>
        <p:spPr>
          <a:xfrm>
            <a:off x="5489823" y="2586633"/>
            <a:ext cx="6500515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201513" y="3368576"/>
            <a:ext cx="5000328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cxnSp>
        <p:nvCxnSpPr>
          <p:cNvPr id="10" name="Connector 9"/>
          <p:cNvCxnSpPr/>
          <p:nvPr/>
        </p:nvCxnSpPr>
        <p:spPr>
          <a:xfrm>
            <a:off x="5345757" y="3363813"/>
            <a:ext cx="0" cy="781943"/>
          </a:xfrm>
          <a:prstGeom prst="line">
            <a:avLst/>
          </a:prstGeom>
          <a:ln w="9525">
            <a:solidFill>
              <a:srgbClr val="666666"/>
            </a:solidFill>
            <a:prstDash val="sysDot"/>
          </a:ln>
        </p:spPr>
      </p:cxnSp>
      <p:cxnSp>
        <p:nvCxnSpPr>
          <p:cNvPr id="11" name="Connector 10"/>
          <p:cNvCxnSpPr/>
          <p:nvPr/>
        </p:nvCxnSpPr>
        <p:spPr>
          <a:xfrm>
            <a:off x="5489823" y="3368576"/>
            <a:ext cx="6500515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201513" y="4150519"/>
            <a:ext cx="5000328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5345757" y="4145756"/>
            <a:ext cx="0" cy="781943"/>
          </a:xfrm>
          <a:prstGeom prst="line">
            <a:avLst/>
          </a:prstGeom>
          <a:ln w="9525">
            <a:solidFill>
              <a:srgbClr val="666666"/>
            </a:solidFill>
            <a:prstDash val="sysDot"/>
          </a:ln>
        </p:spPr>
      </p:cxnSp>
      <p:cxnSp>
        <p:nvCxnSpPr>
          <p:cNvPr id="14" name="Connector 13"/>
          <p:cNvCxnSpPr/>
          <p:nvPr/>
        </p:nvCxnSpPr>
        <p:spPr>
          <a:xfrm>
            <a:off x="5489823" y="4150519"/>
            <a:ext cx="6500515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201513" y="4932462"/>
            <a:ext cx="5000328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5345757" y="4927699"/>
            <a:ext cx="0" cy="781943"/>
          </a:xfrm>
          <a:prstGeom prst="line">
            <a:avLst/>
          </a:prstGeom>
          <a:ln w="9525">
            <a:solidFill>
              <a:srgbClr val="666666"/>
            </a:solidFill>
            <a:prstDash val="sysDot"/>
          </a:ln>
        </p:spPr>
      </p:cxnSp>
      <p:cxnSp>
        <p:nvCxnSpPr>
          <p:cNvPr id="17" name="Connector 16"/>
          <p:cNvCxnSpPr/>
          <p:nvPr/>
        </p:nvCxnSpPr>
        <p:spPr>
          <a:xfrm>
            <a:off x="5489823" y="4932462"/>
            <a:ext cx="6500515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201513" y="271314"/>
            <a:ext cx="1250490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パーツ30｜一問一答</a:t>
            </a:r>
          </a:p>
        </p:txBody>
      </p:sp>
      <p:sp>
        <p:nvSpPr>
          <p:cNvPr id="19" name="Title"/>
          <p:cNvSpPr txBox="1"/>
          <p:nvPr/>
        </p:nvSpPr>
        <p:spPr>
          <a:xfrm>
            <a:off x="201513" y="505271"/>
            <a:ext cx="6068675" cy="2857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9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F1F1F"/>
                </a:solidFill>
                <a:latin typeface="Yu Mincho"/>
                <a:ea typeface="Yu Mincho"/>
                <a:cs typeface="Yu Mincho"/>
              </a:rPr>
              <a:t>一問一答（質問は相手の言葉のまま・回答は結論から）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513" y="1525191"/>
            <a:ext cx="1300174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62626"/>
                </a:solidFill>
                <a:latin typeface="Yu Mincho"/>
                <a:ea typeface="Yu Mincho"/>
                <a:cs typeface="Yu Mincho"/>
              </a:rPr>
              <a:t>いただいた質問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9823" y="1525191"/>
            <a:ext cx="401979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62626"/>
                </a:solidFill>
                <a:latin typeface="Yu Mincho"/>
                <a:ea typeface="Yu Mincho"/>
                <a:cs typeface="Yu Mincho"/>
              </a:rPr>
              <a:t>回答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513" y="2102644"/>
            <a:ext cx="213146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39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4D4D4D"/>
                </a:solidFill>
                <a:latin typeface="Yu Mincho"/>
                <a:ea typeface="Yu Mincho"/>
                <a:cs typeface="Yu Mincho"/>
              </a:rPr>
              <a:t>Q1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4144" y="2093119"/>
            <a:ext cx="616351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39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62626"/>
                </a:solidFill>
                <a:latin typeface="Yu Gothic"/>
                <a:ea typeface="Yu Gothic"/>
                <a:cs typeface="Yu Gothic"/>
              </a:rPr>
              <a:t>「Text 1」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51748" y="1967508"/>
            <a:ext cx="462808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marL="146050" indent="-146050"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1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51748" y="2218879"/>
            <a:ext cx="454604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marL="146050" indent="-146050"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1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1513" y="2889349"/>
            <a:ext cx="213146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39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4D4D4D"/>
                </a:solidFill>
                <a:latin typeface="Yu Mincho"/>
                <a:ea typeface="Yu Mincho"/>
                <a:cs typeface="Yu Mincho"/>
              </a:rPr>
              <a:t>Q2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4144" y="2879824"/>
            <a:ext cx="646533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39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62626"/>
                </a:solidFill>
                <a:latin typeface="Yu Gothic"/>
                <a:ea typeface="Yu Gothic"/>
                <a:cs typeface="Yu Gothic"/>
              </a:rPr>
              <a:t>「Text 2」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51748" y="2754213"/>
            <a:ext cx="462498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marL="146050" indent="-146050"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1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51748" y="3005584"/>
            <a:ext cx="462808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marL="146050" indent="-146050"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1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1513" y="3671292"/>
            <a:ext cx="213146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39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4D4D4D"/>
                </a:solidFill>
                <a:latin typeface="Yu Mincho"/>
                <a:ea typeface="Yu Mincho"/>
                <a:cs typeface="Yu Mincho"/>
              </a:rPr>
              <a:t>Q3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4144" y="3661767"/>
            <a:ext cx="648855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39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62626"/>
                </a:solidFill>
                <a:latin typeface="Yu Gothic"/>
                <a:ea typeface="Yu Gothic"/>
                <a:cs typeface="Yu Gothic"/>
              </a:rPr>
              <a:t>「Text 3」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51748" y="3536156"/>
            <a:ext cx="526113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marL="146050" indent="-146050"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1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51748" y="3787527"/>
            <a:ext cx="492216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marL="146050" indent="-146050"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1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1513" y="4453235"/>
            <a:ext cx="213146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39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4D4D4D"/>
                </a:solidFill>
                <a:latin typeface="Yu Mincho"/>
                <a:ea typeface="Yu Mincho"/>
                <a:cs typeface="Yu Mincho"/>
              </a:rPr>
              <a:t>Q4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4144" y="4443710"/>
            <a:ext cx="653498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39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62626"/>
                </a:solidFill>
                <a:latin typeface="Yu Gothic"/>
                <a:ea typeface="Yu Gothic"/>
                <a:cs typeface="Yu Gothic"/>
              </a:rPr>
              <a:t>「Text 4」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51748" y="4318099"/>
            <a:ext cx="523018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marL="146050" indent="-146050"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1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51748" y="4569470"/>
            <a:ext cx="524101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marL="146050" indent="-146050"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1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13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1513" y="5235178"/>
            <a:ext cx="213146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39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4D4D4D"/>
                </a:solidFill>
                <a:latin typeface="Yu Mincho"/>
                <a:ea typeface="Yu Mincho"/>
                <a:cs typeface="Yu Mincho"/>
              </a:rPr>
              <a:t>Q5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4144" y="5225653"/>
            <a:ext cx="647926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39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62626"/>
                </a:solidFill>
                <a:latin typeface="Yu Gothic"/>
                <a:ea typeface="Yu Gothic"/>
                <a:cs typeface="Yu Gothic"/>
              </a:rPr>
              <a:t>「Text 5」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51748" y="5100042"/>
            <a:ext cx="528435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marL="146050" indent="-146050"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1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14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51748" y="5351413"/>
            <a:ext cx="522708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marL="146050" indent="-146050"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1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15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849844" y="6567488"/>
            <a:ext cx="165318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26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01513" y="1326505"/>
            <a:ext cx="11788974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201513" y="1489174"/>
            <a:ext cx="11788974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201513" y="2549723"/>
            <a:ext cx="11788974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201513" y="3610273"/>
            <a:ext cx="11788974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sp>
        <p:nvSpPr>
          <p:cNvPr id="6" name="TextBox 5"/>
          <p:cNvSpPr txBox="1"/>
          <p:nvPr/>
        </p:nvSpPr>
        <p:spPr>
          <a:xfrm>
            <a:off x="201513" y="271165"/>
            <a:ext cx="2037707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パーツ01｜executive_summary</a:t>
            </a:r>
          </a:p>
        </p:txBody>
      </p:sp>
      <p:sp>
        <p:nvSpPr>
          <p:cNvPr id="7" name="Title"/>
          <p:cNvSpPr txBox="1"/>
          <p:nvPr/>
        </p:nvSpPr>
        <p:spPr>
          <a:xfrm>
            <a:off x="201513" y="504974"/>
            <a:ext cx="2572476" cy="2857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9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F1F1F"/>
                </a:solidFill>
                <a:latin typeface="Yu Mincho"/>
                <a:ea typeface="Yu Mincho"/>
                <a:cs typeface="Yu Mincho"/>
              </a:rPr>
              <a:t>エグゼクティブサマリー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513" y="1625352"/>
            <a:ext cx="1080540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64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論点1｜ラベル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48384" y="1644402"/>
            <a:ext cx="3444050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53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1（そのページのタイトルと同じ主張を1文で）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23852" y="1943695"/>
            <a:ext cx="1314105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marL="146304" indent="-146304">
              <a:lnSpc>
                <a:spcPts val="1843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ct val="100000"/>
              <a:buFont typeface="Yu Gothic"/>
              <a:buChar char="–"/>
            </a:pPr>
            <a:r>
              <a:rPr sz="11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2（根拠・数字）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23852" y="2177653"/>
            <a:ext cx="2041112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marL="146304" indent="-146304">
              <a:lnSpc>
                <a:spcPts val="1843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ct val="100000"/>
              <a:buFont typeface="Yu Gothic"/>
              <a:buChar char="–"/>
            </a:pPr>
            <a:r>
              <a:rPr sz="11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3（意味合い・次の打ち手）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91626" y="1615827"/>
            <a:ext cx="598861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224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→ P.3〜4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513" y="2685901"/>
            <a:ext cx="1146786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64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論点2｜ラベル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8384" y="2704951"/>
            <a:ext cx="3484912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53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4（そのページのタイトルと同じ主張を1文で）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23852" y="3004245"/>
            <a:ext cx="1313795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marL="146304" indent="-146304">
              <a:lnSpc>
                <a:spcPts val="1843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ct val="100000"/>
              <a:buFont typeface="Yu Gothic"/>
              <a:buChar char="–"/>
            </a:pPr>
            <a:r>
              <a:rPr sz="11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5（根拠・数字）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23852" y="3238202"/>
            <a:ext cx="2041577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marL="146304" indent="-146304">
              <a:lnSpc>
                <a:spcPts val="1843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ct val="100000"/>
              <a:buFont typeface="Yu Gothic"/>
              <a:buChar char="–"/>
            </a:pPr>
            <a:r>
              <a:rPr sz="11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6（意味合い・次の打ち手）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94722" y="2676376"/>
            <a:ext cx="595765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224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→ P.5〜6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513" y="3746450"/>
            <a:ext cx="1151894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64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論点3｜ラベル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48384" y="3765500"/>
            <a:ext cx="3469124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53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7（そのページのタイトルと同じ主張を1文で）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23852" y="4064794"/>
            <a:ext cx="1315498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marL="146304" indent="-146304">
              <a:lnSpc>
                <a:spcPts val="1843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ct val="100000"/>
              <a:buFont typeface="Yu Gothic"/>
              <a:buChar char="–"/>
            </a:pPr>
            <a:r>
              <a:rPr sz="11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8（根拠・数字）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23852" y="4298752"/>
            <a:ext cx="2041577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marL="146304" indent="-146304">
              <a:lnSpc>
                <a:spcPts val="1843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ct val="100000"/>
              <a:buFont typeface="Yu Gothic"/>
              <a:buChar char="–"/>
            </a:pPr>
            <a:r>
              <a:rPr sz="11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9（意味合い・次の打ち手）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00603" y="3736925"/>
            <a:ext cx="589883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224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→ P.7〜8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513" y="6274296"/>
            <a:ext cx="80177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出所）Source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56095" y="6561981"/>
            <a:ext cx="158817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27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01513" y="1326505"/>
            <a:ext cx="11788974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4370040" y="2128986"/>
            <a:ext cx="7620447" cy="0"/>
          </a:xfrm>
          <a:prstGeom prst="line">
            <a:avLst/>
          </a:prstGeom>
          <a:ln w="9525">
            <a:solidFill>
              <a:srgbClr val="E0E0E0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4370040" y="2778323"/>
            <a:ext cx="7620447" cy="0"/>
          </a:xfrm>
          <a:prstGeom prst="line">
            <a:avLst/>
          </a:prstGeom>
          <a:ln w="9525">
            <a:solidFill>
              <a:srgbClr val="E0E0E0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4370040" y="3427661"/>
            <a:ext cx="7620447" cy="0"/>
          </a:xfrm>
          <a:prstGeom prst="line">
            <a:avLst/>
          </a:prstGeom>
          <a:ln w="9525">
            <a:solidFill>
              <a:srgbClr val="E0E0E0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370040" y="4076998"/>
            <a:ext cx="7620447" cy="0"/>
          </a:xfrm>
          <a:prstGeom prst="line">
            <a:avLst/>
          </a:prstGeom>
          <a:ln w="9525">
            <a:solidFill>
              <a:srgbClr val="E0E0E0"/>
            </a:solidFill>
          </a:ln>
        </p:spPr>
      </p:cxnSp>
      <p:sp>
        <p:nvSpPr>
          <p:cNvPr id="7" name="TextBox 6"/>
          <p:cNvSpPr txBox="1"/>
          <p:nvPr/>
        </p:nvSpPr>
        <p:spPr>
          <a:xfrm>
            <a:off x="201513" y="271165"/>
            <a:ext cx="1759565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パーツ02｜evidence_basis</a:t>
            </a:r>
          </a:p>
        </p:txBody>
      </p:sp>
      <p:sp>
        <p:nvSpPr>
          <p:cNvPr id="8" name="Title"/>
          <p:cNvSpPr txBox="1"/>
          <p:nvPr/>
        </p:nvSpPr>
        <p:spPr>
          <a:xfrm>
            <a:off x="201513" y="504974"/>
            <a:ext cx="1344751" cy="2857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9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F1F1F"/>
                </a:solidFill>
                <a:latin typeface="Yu Mincho"/>
                <a:ea typeface="Yu Mincho"/>
                <a:cs typeface="Yu Mincho"/>
              </a:rPr>
              <a:t>調査の土台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513" y="1512987"/>
            <a:ext cx="1819466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指標名、単位、YYYY〜YYYY年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70040" y="1611957"/>
            <a:ext cx="838772" cy="3714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4D4D4D"/>
                </a:solidFill>
                <a:latin typeface="Yu Gothic"/>
                <a:ea typeface="Yu Gothic"/>
                <a:cs typeface="Yu Gothic"/>
              </a:rPr>
              <a:t>180+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37821" y="1792932"/>
            <a:ext cx="36251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88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0040" y="2261295"/>
            <a:ext cx="809363" cy="3714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4D4D4D"/>
                </a:solidFill>
                <a:latin typeface="Yu Gothic"/>
                <a:ea typeface="Yu Gothic"/>
                <a:cs typeface="Yu Gothic"/>
              </a:rPr>
              <a:t>2.4M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37821" y="2442270"/>
            <a:ext cx="388203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88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70040" y="2910632"/>
            <a:ext cx="633841" cy="3714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4D4D4D"/>
                </a:solidFill>
                <a:latin typeface="Yu Gothic"/>
                <a:ea typeface="Yu Gothic"/>
                <a:cs typeface="Yu Gothic"/>
              </a:rPr>
              <a:t>640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37821" y="3091607"/>
            <a:ext cx="389132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88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0040" y="3559969"/>
            <a:ext cx="428911" cy="3714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4D4D4D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37821" y="3740944"/>
            <a:ext cx="392847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88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513" y="6274296"/>
            <a:ext cx="80177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出所）Source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49993" y="6561981"/>
            <a:ext cx="16516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28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01513" y="1326505"/>
            <a:ext cx="11788974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sp>
        <p:nvSpPr>
          <p:cNvPr id="3" name="TextBox 2"/>
          <p:cNvSpPr txBox="1"/>
          <p:nvPr/>
        </p:nvSpPr>
        <p:spPr>
          <a:xfrm>
            <a:off x="201513" y="271165"/>
            <a:ext cx="1572744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パーツ03｜big_stat_pair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201513" y="504974"/>
            <a:ext cx="1878128" cy="2857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9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F1F1F"/>
                </a:solidFill>
                <a:latin typeface="Yu Mincho"/>
                <a:ea typeface="Yu Mincho"/>
                <a:cs typeface="Yu Mincho"/>
              </a:rPr>
              <a:t>大型数値の対比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513" y="1484412"/>
            <a:ext cx="1856768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24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指標名、単位、YYYY〜YYYY年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513" y="1769269"/>
            <a:ext cx="2656213" cy="1371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300"/>
              </a:lnSpc>
              <a:spcBef>
                <a:spcPts val="0"/>
              </a:spcBef>
              <a:spcAft>
                <a:spcPts val="0"/>
              </a:spcAft>
            </a:pPr>
            <a:r>
              <a:rPr sz="8900" b="1" i="0">
                <a:solidFill>
                  <a:srgbClr val="4D4D4D"/>
                </a:solidFill>
                <a:latin typeface="Yu Gothic"/>
                <a:ea typeface="Yu Gothic"/>
                <a:cs typeface="Yu Gothic"/>
              </a:rPr>
              <a:t>18%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513" y="3332708"/>
            <a:ext cx="552736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27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513" y="3612207"/>
            <a:ext cx="1128212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注）前提や注記を記載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61671" y="1769269"/>
            <a:ext cx="753797" cy="1371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300"/>
              </a:lnSpc>
              <a:spcBef>
                <a:spcPts val="0"/>
              </a:spcBef>
              <a:spcAft>
                <a:spcPts val="0"/>
              </a:spcAft>
            </a:pPr>
            <a:r>
              <a:rPr sz="8900" b="1" i="0">
                <a:solidFill>
                  <a:srgbClr val="4D4D4D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71" y="3332708"/>
            <a:ext cx="586478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27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61671" y="3612207"/>
            <a:ext cx="1128212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注）前提や注記を記載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513" y="6274296"/>
            <a:ext cx="80177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出所）Source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49844" y="6561981"/>
            <a:ext cx="165318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29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01513" y="1326505"/>
            <a:ext cx="11788974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201513" y="1493937"/>
            <a:ext cx="2810173" cy="0"/>
          </a:xfrm>
          <a:prstGeom prst="line">
            <a:avLst/>
          </a:prstGeom>
          <a:ln w="19050">
            <a:solidFill>
              <a:srgbClr val="1F1F1F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94447" y="1493937"/>
            <a:ext cx="2810173" cy="0"/>
          </a:xfrm>
          <a:prstGeom prst="line">
            <a:avLst/>
          </a:prstGeom>
          <a:ln w="19050">
            <a:solidFill>
              <a:srgbClr val="1F1F1F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6187380" y="1493937"/>
            <a:ext cx="2810173" cy="0"/>
          </a:xfrm>
          <a:prstGeom prst="line">
            <a:avLst/>
          </a:prstGeom>
          <a:ln w="19050">
            <a:solidFill>
              <a:srgbClr val="1F1F1F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180314" y="1493937"/>
            <a:ext cx="2810173" cy="0"/>
          </a:xfrm>
          <a:prstGeom prst="line">
            <a:avLst/>
          </a:prstGeom>
          <a:ln w="19050">
            <a:solidFill>
              <a:srgbClr val="1F1F1F"/>
            </a:solidFill>
          </a:ln>
        </p:spPr>
      </p:cxnSp>
      <p:sp>
        <p:nvSpPr>
          <p:cNvPr id="7" name="TextBox 6"/>
          <p:cNvSpPr txBox="1"/>
          <p:nvPr/>
        </p:nvSpPr>
        <p:spPr>
          <a:xfrm>
            <a:off x="201513" y="271165"/>
            <a:ext cx="1707559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パーツ04｜kpi_dashboard</a:t>
            </a:r>
          </a:p>
        </p:txBody>
      </p:sp>
      <p:sp>
        <p:nvSpPr>
          <p:cNvPr id="8" name="Title"/>
          <p:cNvSpPr txBox="1"/>
          <p:nvPr/>
        </p:nvSpPr>
        <p:spPr>
          <a:xfrm>
            <a:off x="201513" y="504974"/>
            <a:ext cx="985968" cy="2857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9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F1F1F"/>
                </a:solidFill>
                <a:latin typeface="Yu Mincho"/>
                <a:ea typeface="Yu Mincho"/>
                <a:cs typeface="Yu Mincho"/>
              </a:rPr>
              <a:t>KPI一覧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274" y="1731913"/>
            <a:ext cx="454295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24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ラベル1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274" y="1953964"/>
            <a:ext cx="872823" cy="3905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973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4D4D4D"/>
                </a:solidFill>
                <a:latin typeface="Yu Gothic"/>
                <a:ea typeface="Yu Gothic"/>
                <a:cs typeface="Yu Gothic"/>
              </a:rPr>
              <a:t>-18%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274" y="2401937"/>
            <a:ext cx="417302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96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4D4D4D"/>
                </a:solidFill>
                <a:latin typeface="Yu Gothic"/>
                <a:ea typeface="Yu Gothic"/>
                <a:cs typeface="Yu Gothic"/>
              </a:rPr>
              <a:t>Text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274" y="2627412"/>
            <a:ext cx="1128212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注）前提や注記を記載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77208" y="1731913"/>
            <a:ext cx="48107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24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ラベル2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77208" y="1953964"/>
            <a:ext cx="1106388" cy="3905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973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4D4D4D"/>
                </a:solidFill>
                <a:latin typeface="Yu Gothic"/>
                <a:ea typeface="Yu Gothic"/>
                <a:cs typeface="Yu Gothic"/>
              </a:rPr>
              <a:t>0 days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77208" y="2401937"/>
            <a:ext cx="445627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96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4D4D4D"/>
                </a:solidFill>
                <a:latin typeface="Yu Gothic"/>
                <a:ea typeface="Yu Gothic"/>
                <a:cs typeface="Yu Gothic"/>
              </a:rPr>
              <a:t>Text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77208" y="2627412"/>
            <a:ext cx="1128212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注）前提や注記を記載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0141" y="1731913"/>
            <a:ext cx="483084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24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ラベル3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0141" y="1953964"/>
            <a:ext cx="740640" cy="3905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973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4D4D4D"/>
                </a:solidFill>
                <a:latin typeface="Yu Gothic"/>
                <a:ea typeface="Yu Gothic"/>
                <a:cs typeface="Yu Gothic"/>
              </a:rPr>
              <a:t>2 /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0141" y="2401937"/>
            <a:ext cx="447949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96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4D4D4D"/>
                </a:solidFill>
                <a:latin typeface="Yu Gothic"/>
                <a:ea typeface="Yu Gothic"/>
                <a:cs typeface="Yu Gothic"/>
              </a:rPr>
              <a:t>Text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41" y="2627412"/>
            <a:ext cx="1128212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注）前提や注記を記載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63075" y="1731913"/>
            <a:ext cx="487263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24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ラベル4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63075" y="1953964"/>
            <a:ext cx="763238" cy="3905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973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4D4D4D"/>
                </a:solidFill>
                <a:latin typeface="Yu Gothic"/>
                <a:ea typeface="Yu Gothic"/>
                <a:cs typeface="Yu Gothic"/>
              </a:rPr>
              <a:t>$6M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63075" y="2401937"/>
            <a:ext cx="452283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96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4D4D4D"/>
                </a:solidFill>
                <a:latin typeface="Yu Gothic"/>
                <a:ea typeface="Yu Gothic"/>
                <a:cs typeface="Yu Gothic"/>
              </a:rPr>
              <a:t>Text 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63075" y="2627412"/>
            <a:ext cx="1128212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注）前提や注記を記載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1513" y="6274296"/>
            <a:ext cx="80177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出所）Source 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47761" y="6561981"/>
            <a:ext cx="167485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30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01513" y="1326505"/>
            <a:ext cx="11788974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201513" y="1763018"/>
            <a:ext cx="6086178" cy="0"/>
          </a:xfrm>
          <a:prstGeom prst="line">
            <a:avLst/>
          </a:prstGeom>
          <a:ln w="9525">
            <a:solidFill>
              <a:srgbClr val="1F1F1F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201513" y="4628108"/>
            <a:ext cx="6086178" cy="0"/>
          </a:xfrm>
          <a:prstGeom prst="line">
            <a:avLst/>
          </a:prstGeom>
          <a:ln w="9525">
            <a:solidFill>
              <a:srgbClr val="1F1F1F"/>
            </a:solidFill>
          </a:ln>
        </p:spPr>
      </p:cxnSp>
      <p:sp>
        <p:nvSpPr>
          <p:cNvPr id="5" name="Rectangle 4"/>
          <p:cNvSpPr/>
          <p:nvPr/>
        </p:nvSpPr>
        <p:spPr>
          <a:xfrm>
            <a:off x="381446" y="3530352"/>
            <a:ext cx="1024384" cy="1092994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1948607" y="3214688"/>
            <a:ext cx="1024533" cy="1408658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3515916" y="2947541"/>
            <a:ext cx="1024384" cy="1675805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083076" y="2631728"/>
            <a:ext cx="1024533" cy="1991618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9" name="Connector 8"/>
          <p:cNvCxnSpPr/>
          <p:nvPr/>
        </p:nvCxnSpPr>
        <p:spPr>
          <a:xfrm>
            <a:off x="6810524" y="1484412"/>
            <a:ext cx="0" cy="622994"/>
          </a:xfrm>
          <a:prstGeom prst="line">
            <a:avLst/>
          </a:prstGeom>
          <a:ln w="9525">
            <a:solidFill>
              <a:srgbClr val="1F1F1F"/>
            </a:solidFill>
          </a:ln>
        </p:spPr>
      </p:cxnSp>
      <p:cxnSp>
        <p:nvCxnSpPr>
          <p:cNvPr id="10" name="Connector 9"/>
          <p:cNvCxnSpPr/>
          <p:nvPr/>
        </p:nvCxnSpPr>
        <p:spPr>
          <a:xfrm>
            <a:off x="6982867" y="1763018"/>
            <a:ext cx="5007620" cy="0"/>
          </a:xfrm>
          <a:prstGeom prst="line">
            <a:avLst/>
          </a:prstGeom>
          <a:ln w="9525">
            <a:solidFill>
              <a:srgbClr val="1F1F1F"/>
            </a:solidFill>
          </a:ln>
        </p:spPr>
      </p:cxnSp>
      <p:sp>
        <p:nvSpPr>
          <p:cNvPr id="11" name="TextBox 10"/>
          <p:cNvSpPr txBox="1"/>
          <p:nvPr/>
        </p:nvSpPr>
        <p:spPr>
          <a:xfrm>
            <a:off x="201513" y="271165"/>
            <a:ext cx="1585746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パーツ05｜chart_insight</a:t>
            </a:r>
          </a:p>
        </p:txBody>
      </p:sp>
      <p:sp>
        <p:nvSpPr>
          <p:cNvPr id="12" name="Title"/>
          <p:cNvSpPr txBox="1"/>
          <p:nvPr/>
        </p:nvSpPr>
        <p:spPr>
          <a:xfrm>
            <a:off x="201513" y="504974"/>
            <a:ext cx="2192179" cy="2857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9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F1F1F"/>
                </a:solidFill>
                <a:latin typeface="Yu Mincho"/>
                <a:ea typeface="Yu Mincho"/>
                <a:cs typeface="Yu Mincho"/>
              </a:rPr>
              <a:t>単一チャート＋含意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513" y="1474887"/>
            <a:ext cx="977610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57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指標名、単位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2903" y="3268414"/>
            <a:ext cx="241471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58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32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8116" y="4674691"/>
            <a:ext cx="451044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17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58167" y="2952750"/>
            <a:ext cx="205561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58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41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21804" y="4674691"/>
            <a:ext cx="478286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17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03038" y="2685604"/>
            <a:ext cx="250138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58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49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88497" y="4674691"/>
            <a:ext cx="479369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17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73443" y="2369790"/>
            <a:ext cx="243947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58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58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53797" y="4674691"/>
            <a:ext cx="483239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17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2867" y="1474887"/>
            <a:ext cx="741724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57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タイトル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82867" y="1889671"/>
            <a:ext cx="491133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16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513" y="6274296"/>
            <a:ext cx="1078218" cy="29706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注）前提・注記を記載</a:t>
            </a:r>
          </a:p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出所）Source 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73359" y="6561981"/>
            <a:ext cx="140863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31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01513" y="1326505"/>
            <a:ext cx="11788974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sp>
        <p:nvSpPr>
          <p:cNvPr id="3" name="Rectangle 2"/>
          <p:cNvSpPr/>
          <p:nvPr/>
        </p:nvSpPr>
        <p:spPr>
          <a:xfrm>
            <a:off x="9929664" y="1492002"/>
            <a:ext cx="121890" cy="121890"/>
          </a:xfrm>
          <a:prstGeom prst="rect">
            <a:avLst/>
          </a:prstGeom>
          <a:solidFill>
            <a:srgbClr val="262626"/>
          </a:solidFill>
          <a:ln w="9525">
            <a:solidFill>
              <a:srgbClr val="262626"/>
            </a:solidFill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10661749" y="1492002"/>
            <a:ext cx="121890" cy="121890"/>
          </a:xfrm>
          <a:prstGeom prst="rect">
            <a:avLst/>
          </a:prstGeom>
          <a:solidFill>
            <a:srgbClr val="4D4D4D"/>
          </a:solidFill>
          <a:ln w="9525">
            <a:solidFill>
              <a:srgbClr val="4D4D4D"/>
            </a:solidFill>
          </a:ln>
        </p:spPr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1417052" y="1492002"/>
            <a:ext cx="121890" cy="121890"/>
          </a:xfrm>
          <a:prstGeom prst="rect">
            <a:avLst/>
          </a:prstGeom>
          <a:solidFill>
            <a:srgbClr val="A6A6A6"/>
          </a:solidFill>
          <a:ln w="9525">
            <a:solidFill>
              <a:srgbClr val="A6A6A6"/>
            </a:solidFill>
          </a:ln>
        </p:spPr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3467249" y="4624834"/>
            <a:ext cx="5257502" cy="0"/>
          </a:xfrm>
          <a:prstGeom prst="line">
            <a:avLst/>
          </a:prstGeom>
          <a:ln w="9525">
            <a:solidFill>
              <a:srgbClr val="1F1F1F"/>
            </a:solidFill>
          </a:ln>
        </p:spPr>
      </p:cxnSp>
      <p:sp>
        <p:nvSpPr>
          <p:cNvPr id="7" name="Rectangle 6"/>
          <p:cNvSpPr/>
          <p:nvPr/>
        </p:nvSpPr>
        <p:spPr>
          <a:xfrm>
            <a:off x="3832920" y="3842891"/>
            <a:ext cx="1143000" cy="77718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3832920" y="3256211"/>
            <a:ext cx="1143000" cy="58668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3832920" y="2867620"/>
            <a:ext cx="1143000" cy="38859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524500" y="3545681"/>
            <a:ext cx="1143000" cy="107439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524500" y="2920901"/>
            <a:ext cx="1143000" cy="62478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524500" y="2494211"/>
            <a:ext cx="1143000" cy="42669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7216080" y="3218111"/>
            <a:ext cx="1143000" cy="1401961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216080" y="2578150"/>
            <a:ext cx="1143000" cy="639961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7216080" y="2113359"/>
            <a:ext cx="1143000" cy="46479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201513" y="271165"/>
            <a:ext cx="1534204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パーツ06｜stacked_bar</a:t>
            </a:r>
          </a:p>
        </p:txBody>
      </p:sp>
      <p:sp>
        <p:nvSpPr>
          <p:cNvPr id="17" name="Title"/>
          <p:cNvSpPr txBox="1"/>
          <p:nvPr/>
        </p:nvSpPr>
        <p:spPr>
          <a:xfrm>
            <a:off x="201513" y="504974"/>
            <a:ext cx="1323546" cy="2857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9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F1F1F"/>
                </a:solidFill>
                <a:latin typeface="Yu Mincho"/>
                <a:ea typeface="Yu Mincho"/>
                <a:cs typeface="Yu Mincho"/>
              </a:rPr>
              <a:t>積み上げ棒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12425" y="1474887"/>
            <a:ext cx="400276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ラベル1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44510" y="1474887"/>
            <a:ext cx="424422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ラベル2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9813" y="1474887"/>
            <a:ext cx="425351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ラベル3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513" y="1718518"/>
            <a:ext cx="846511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指標名、単位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27178" y="4159151"/>
            <a:ext cx="179713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9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8964" y="3477220"/>
            <a:ext cx="175998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9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857" y="2989511"/>
            <a:ext cx="174141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9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60713" y="4696271"/>
            <a:ext cx="487263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24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22925" y="4010471"/>
            <a:ext cx="171045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9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55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23074" y="3160961"/>
            <a:ext cx="170736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9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23967" y="2635151"/>
            <a:ext cx="168878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9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22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54770" y="4696271"/>
            <a:ext cx="482310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24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18227" y="3846761"/>
            <a:ext cx="163151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9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72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13762" y="2825800"/>
            <a:ext cx="172593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9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13762" y="2273350"/>
            <a:ext cx="172593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9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24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45729" y="4696271"/>
            <a:ext cx="483703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24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1513" y="6274296"/>
            <a:ext cx="80177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出所）Source 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850142" y="6561981"/>
            <a:ext cx="16500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32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01513" y="1326505"/>
            <a:ext cx="11788974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201513" y="1763018"/>
            <a:ext cx="6086178" cy="0"/>
          </a:xfrm>
          <a:prstGeom prst="line">
            <a:avLst/>
          </a:prstGeom>
          <a:ln w="9525">
            <a:solidFill>
              <a:srgbClr val="1F1F1F"/>
            </a:solidFill>
          </a:ln>
        </p:spPr>
      </p:cxnSp>
      <p:sp>
        <p:nvSpPr>
          <p:cNvPr id="4" name="Rectangle 3"/>
          <p:cNvSpPr/>
          <p:nvPr/>
        </p:nvSpPr>
        <p:spPr>
          <a:xfrm>
            <a:off x="4402336" y="1897261"/>
            <a:ext cx="121890" cy="121890"/>
          </a:xfrm>
          <a:prstGeom prst="rect">
            <a:avLst/>
          </a:prstGeom>
          <a:solidFill>
            <a:srgbClr val="262626"/>
          </a:solidFill>
          <a:ln w="9525">
            <a:solidFill>
              <a:srgbClr val="262626"/>
            </a:solidFill>
          </a:ln>
        </p:spPr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282208" y="1897261"/>
            <a:ext cx="121890" cy="121890"/>
          </a:xfrm>
          <a:prstGeom prst="rect">
            <a:avLst/>
          </a:prstGeom>
          <a:solidFill>
            <a:srgbClr val="4D4D4D"/>
          </a:solidFill>
          <a:ln w="9525">
            <a:solidFill>
              <a:srgbClr val="4D4D4D"/>
            </a:solidFill>
          </a:ln>
        </p:spPr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876330" y="1897261"/>
            <a:ext cx="121890" cy="121890"/>
          </a:xfrm>
          <a:prstGeom prst="rect">
            <a:avLst/>
          </a:prstGeom>
          <a:solidFill>
            <a:srgbClr val="B3261E"/>
          </a:solidFill>
          <a:ln w="9525">
            <a:solidFill>
              <a:srgbClr val="B3261E"/>
            </a:solidFill>
          </a:ln>
        </p:spPr>
        <p:txBody>
          <a:bodyPr rtlCol="0" anchor="ctr"/>
          <a:lstStyle/>
          <a:p/>
        </p:txBody>
      </p:sp>
      <p:cxnSp>
        <p:nvCxnSpPr>
          <p:cNvPr id="7" name="Connector 6"/>
          <p:cNvCxnSpPr/>
          <p:nvPr/>
        </p:nvCxnSpPr>
        <p:spPr>
          <a:xfrm>
            <a:off x="201513" y="4719340"/>
            <a:ext cx="6086178" cy="0"/>
          </a:xfrm>
          <a:prstGeom prst="line">
            <a:avLst/>
          </a:prstGeom>
          <a:ln w="9525">
            <a:solidFill>
              <a:srgbClr val="1F1F1F"/>
            </a:solidFill>
          </a:ln>
        </p:spPr>
      </p:cxnSp>
      <p:sp>
        <p:nvSpPr>
          <p:cNvPr id="8" name="Rectangle 7"/>
          <p:cNvSpPr/>
          <p:nvPr/>
        </p:nvSpPr>
        <p:spPr>
          <a:xfrm>
            <a:off x="334566" y="3576340"/>
            <a:ext cx="621060" cy="1138238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374279" y="4509790"/>
            <a:ext cx="621060" cy="204788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2413992" y="4441478"/>
            <a:ext cx="621209" cy="2731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453854" y="4600873"/>
            <a:ext cx="621060" cy="113705"/>
          </a:xfrm>
          <a:prstGeom prst="rect">
            <a:avLst/>
          </a:prstGeom>
          <a:solidFill>
            <a:srgbClr val="B326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4493568" y="4623643"/>
            <a:ext cx="621060" cy="90934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533281" y="3121075"/>
            <a:ext cx="621209" cy="1593503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14" name="Connector 13"/>
          <p:cNvCxnSpPr/>
          <p:nvPr/>
        </p:nvCxnSpPr>
        <p:spPr>
          <a:xfrm>
            <a:off x="6810524" y="1484412"/>
            <a:ext cx="0" cy="622994"/>
          </a:xfrm>
          <a:prstGeom prst="line">
            <a:avLst/>
          </a:prstGeom>
          <a:ln w="9525">
            <a:solidFill>
              <a:srgbClr val="1F1F1F"/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6982867" y="1763018"/>
            <a:ext cx="5007620" cy="0"/>
          </a:xfrm>
          <a:prstGeom prst="line">
            <a:avLst/>
          </a:prstGeom>
          <a:ln w="9525">
            <a:solidFill>
              <a:srgbClr val="1F1F1F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201513" y="271165"/>
            <a:ext cx="1278350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パーツ07｜waterfall</a:t>
            </a:r>
          </a:p>
        </p:txBody>
      </p:sp>
      <p:sp>
        <p:nvSpPr>
          <p:cNvPr id="17" name="Title"/>
          <p:cNvSpPr txBox="1"/>
          <p:nvPr/>
        </p:nvSpPr>
        <p:spPr>
          <a:xfrm>
            <a:off x="201513" y="504974"/>
            <a:ext cx="1687901" cy="2857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9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F1F1F"/>
                </a:solidFill>
                <a:latin typeface="Yu Mincho"/>
                <a:ea typeface="Yu Mincho"/>
                <a:cs typeface="Yu Mincho"/>
              </a:rPr>
              <a:t>寄与度ブリッジ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513" y="1474887"/>
            <a:ext cx="977610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57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指標名、単位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85097" y="1880146"/>
            <a:ext cx="55397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起点・着地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64969" y="1880146"/>
            <a:ext cx="25679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増加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59091" y="1880146"/>
            <a:ext cx="25679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減少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895" y="3314402"/>
            <a:ext cx="329386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8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100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573" y="4781252"/>
            <a:ext cx="451044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17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37246" y="4247852"/>
            <a:ext cx="325981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8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+18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45666" y="4781252"/>
            <a:ext cx="478286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17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61332" y="4179540"/>
            <a:ext cx="358640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8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+24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84912" y="4781252"/>
            <a:ext cx="479369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17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70846" y="4338935"/>
            <a:ext cx="21376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8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-9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2765" y="4781252"/>
            <a:ext cx="483239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17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00885" y="4361706"/>
            <a:ext cx="233886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8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+7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65106" y="4781252"/>
            <a:ext cx="478131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17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94611" y="2859137"/>
            <a:ext cx="329696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8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140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04046" y="4781252"/>
            <a:ext cx="479679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17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82867" y="1474887"/>
            <a:ext cx="741724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57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タイトル 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82867" y="1889671"/>
            <a:ext cx="491133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16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1513" y="6274296"/>
            <a:ext cx="1078218" cy="29706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注）前提・注記を記載</a:t>
            </a:r>
          </a:p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出所）Source 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849249" y="6561981"/>
            <a:ext cx="165937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33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01513" y="1326505"/>
            <a:ext cx="11788974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sp>
        <p:nvSpPr>
          <p:cNvPr id="3" name="Rectangle 2"/>
          <p:cNvSpPr/>
          <p:nvPr/>
        </p:nvSpPr>
        <p:spPr>
          <a:xfrm>
            <a:off x="201513" y="2631281"/>
            <a:ext cx="2174825" cy="16764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604939" y="2631281"/>
            <a:ext cx="2174974" cy="4572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008513" y="2478881"/>
            <a:ext cx="2174825" cy="6096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7411938" y="2021681"/>
            <a:ext cx="2174974" cy="4572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9815512" y="2021681"/>
            <a:ext cx="2174974" cy="22860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201513" y="271165"/>
            <a:ext cx="1639764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パーツ08｜true_waterfall</a:t>
            </a:r>
          </a:p>
        </p:txBody>
      </p:sp>
      <p:sp>
        <p:nvSpPr>
          <p:cNvPr id="9" name="Title"/>
          <p:cNvSpPr txBox="1"/>
          <p:nvPr/>
        </p:nvSpPr>
        <p:spPr>
          <a:xfrm>
            <a:off x="201513" y="504974"/>
            <a:ext cx="2250376" cy="2857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9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F1F1F"/>
                </a:solidFill>
                <a:latin typeface="Yu Mincho"/>
                <a:ea typeface="Yu Mincho"/>
                <a:cs typeface="Yu Mincho"/>
              </a:rPr>
              <a:t>増減ブリッジ（厳密）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513" y="1474887"/>
            <a:ext cx="846511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指標名、単位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24686" y="2426940"/>
            <a:ext cx="12848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056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788" y="4389537"/>
            <a:ext cx="400276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098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9167" y="2426940"/>
            <a:ext cx="18636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056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−3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80140" y="4389537"/>
            <a:ext cx="424422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098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00423" y="2274540"/>
            <a:ext cx="190857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056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+4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83250" y="4389537"/>
            <a:ext cx="425351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098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06167" y="1817340"/>
            <a:ext cx="18636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056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+3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4973" y="4389537"/>
            <a:ext cx="428756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098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25529" y="1817340"/>
            <a:ext cx="154793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056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0866" y="4389537"/>
            <a:ext cx="424267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098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513" y="6274296"/>
            <a:ext cx="80177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出所）Source 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45975" y="6561981"/>
            <a:ext cx="169343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34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01513" y="1326505"/>
            <a:ext cx="11788974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201513" y="1693813"/>
            <a:ext cx="2787253" cy="0"/>
          </a:xfrm>
          <a:prstGeom prst="line">
            <a:avLst/>
          </a:prstGeom>
          <a:ln w="9525">
            <a:solidFill>
              <a:srgbClr val="E0E0E0"/>
            </a:solidFill>
          </a:ln>
        </p:spPr>
      </p:cxnSp>
      <p:sp>
        <p:nvSpPr>
          <p:cNvPr id="4" name="Rectangle 3"/>
          <p:cNvSpPr/>
          <p:nvPr/>
        </p:nvSpPr>
        <p:spPr>
          <a:xfrm>
            <a:off x="331738" y="2692152"/>
            <a:ext cx="60766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91233" y="2341662"/>
            <a:ext cx="607665" cy="80769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2250877" y="1808262"/>
            <a:ext cx="607665" cy="134109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7" name="Connector 6"/>
          <p:cNvCxnSpPr/>
          <p:nvPr/>
        </p:nvCxnSpPr>
        <p:spPr>
          <a:xfrm>
            <a:off x="3202037" y="1693813"/>
            <a:ext cx="2787253" cy="0"/>
          </a:xfrm>
          <a:prstGeom prst="line">
            <a:avLst/>
          </a:prstGeom>
          <a:ln w="9525">
            <a:solidFill>
              <a:srgbClr val="E0E0E0"/>
            </a:solidFill>
          </a:ln>
        </p:spPr>
      </p:cxnSp>
      <p:sp>
        <p:nvSpPr>
          <p:cNvPr id="8" name="Rectangle 7"/>
          <p:cNvSpPr/>
          <p:nvPr/>
        </p:nvSpPr>
        <p:spPr>
          <a:xfrm>
            <a:off x="3332262" y="2798862"/>
            <a:ext cx="607665" cy="35049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4291757" y="2509391"/>
            <a:ext cx="607665" cy="639961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251400" y="2128391"/>
            <a:ext cx="607665" cy="1020961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11" name="Connector 10"/>
          <p:cNvCxnSpPr/>
          <p:nvPr/>
        </p:nvCxnSpPr>
        <p:spPr>
          <a:xfrm>
            <a:off x="6202561" y="1693813"/>
            <a:ext cx="2787253" cy="0"/>
          </a:xfrm>
          <a:prstGeom prst="line">
            <a:avLst/>
          </a:prstGeom>
          <a:ln w="9525">
            <a:solidFill>
              <a:srgbClr val="E0E0E0"/>
            </a:solidFill>
          </a:ln>
        </p:spPr>
      </p:cxnSp>
      <p:sp>
        <p:nvSpPr>
          <p:cNvPr id="12" name="Rectangle 11"/>
          <p:cNvSpPr/>
          <p:nvPr/>
        </p:nvSpPr>
        <p:spPr>
          <a:xfrm>
            <a:off x="6332786" y="2966591"/>
            <a:ext cx="607665" cy="182761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7292280" y="2829371"/>
            <a:ext cx="607665" cy="31998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8251924" y="2615952"/>
            <a:ext cx="607665" cy="5334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15" name="Connector 14"/>
          <p:cNvCxnSpPr/>
          <p:nvPr/>
        </p:nvCxnSpPr>
        <p:spPr>
          <a:xfrm>
            <a:off x="9203085" y="1693813"/>
            <a:ext cx="2787402" cy="0"/>
          </a:xfrm>
          <a:prstGeom prst="line">
            <a:avLst/>
          </a:prstGeom>
          <a:ln w="9525">
            <a:solidFill>
              <a:srgbClr val="E0E0E0"/>
            </a:solidFill>
          </a:ln>
        </p:spPr>
      </p:cxnSp>
      <p:sp>
        <p:nvSpPr>
          <p:cNvPr id="16" name="Rectangle 15"/>
          <p:cNvSpPr/>
          <p:nvPr/>
        </p:nvSpPr>
        <p:spPr>
          <a:xfrm>
            <a:off x="9333309" y="2875062"/>
            <a:ext cx="607665" cy="27429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0292804" y="2646462"/>
            <a:ext cx="607665" cy="50289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11252448" y="2295971"/>
            <a:ext cx="607665" cy="85338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201513" y="271165"/>
            <a:ext cx="1755386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パーツ09｜small_multiples</a:t>
            </a:r>
          </a:p>
        </p:txBody>
      </p:sp>
      <p:sp>
        <p:nvSpPr>
          <p:cNvPr id="20" name="Title"/>
          <p:cNvSpPr txBox="1"/>
          <p:nvPr/>
        </p:nvSpPr>
        <p:spPr>
          <a:xfrm>
            <a:off x="201513" y="504974"/>
            <a:ext cx="1878128" cy="2857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9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F1F1F"/>
                </a:solidFill>
                <a:latin typeface="Yu Mincho"/>
                <a:ea typeface="Yu Mincho"/>
                <a:cs typeface="Yu Mincho"/>
              </a:rPr>
              <a:t>小図の並列比較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513" y="1484412"/>
            <a:ext cx="428756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6725" y="3200698"/>
            <a:ext cx="370094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36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ラベル2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25922" y="3200698"/>
            <a:ext cx="370868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36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ラベル3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84078" y="3200698"/>
            <a:ext cx="373809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36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ラベル4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2037" y="1484412"/>
            <a:ext cx="45506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66802" y="3200698"/>
            <a:ext cx="371177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36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ラベル6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28976" y="3200698"/>
            <a:ext cx="365605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36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ラベル7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85941" y="3200698"/>
            <a:ext cx="371023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36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ラベル8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02561" y="1484412"/>
            <a:ext cx="456462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46639" y="3200698"/>
            <a:ext cx="414207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36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ラベル10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17296" y="3200698"/>
            <a:ext cx="391144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36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ラベル11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66820" y="3200698"/>
            <a:ext cx="412040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36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ラベル12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03085" y="1484412"/>
            <a:ext cx="510635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46419" y="3200698"/>
            <a:ext cx="415754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36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ラベル14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07848" y="3200698"/>
            <a:ext cx="411730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36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ラベル15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366897" y="3200698"/>
            <a:ext cx="413123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36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ラベル16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1513" y="6274296"/>
            <a:ext cx="80177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出所）Source 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850291" y="6561981"/>
            <a:ext cx="16485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35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01513" y="1326505"/>
            <a:ext cx="11788974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201513" y="1902172"/>
            <a:ext cx="3015705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217218" y="1902172"/>
            <a:ext cx="2193280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5410498" y="1902172"/>
            <a:ext cx="2193280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603778" y="1902172"/>
            <a:ext cx="4386709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201513" y="2557462"/>
            <a:ext cx="3015705" cy="0"/>
          </a:xfrm>
          <a:prstGeom prst="line">
            <a:avLst/>
          </a:prstGeom>
          <a:ln w="9525">
            <a:solidFill>
              <a:srgbClr val="E0E0E0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217218" y="2557462"/>
            <a:ext cx="2193280" cy="0"/>
          </a:xfrm>
          <a:prstGeom prst="line">
            <a:avLst/>
          </a:prstGeom>
          <a:ln w="9525">
            <a:solidFill>
              <a:srgbClr val="E0E0E0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5410498" y="2557462"/>
            <a:ext cx="2193280" cy="0"/>
          </a:xfrm>
          <a:prstGeom prst="line">
            <a:avLst/>
          </a:prstGeom>
          <a:ln w="9525">
            <a:solidFill>
              <a:srgbClr val="E0E0E0"/>
            </a:solidFill>
          </a:ln>
        </p:spPr>
      </p:cxnSp>
      <p:cxnSp>
        <p:nvCxnSpPr>
          <p:cNvPr id="10" name="Connector 9"/>
          <p:cNvCxnSpPr/>
          <p:nvPr/>
        </p:nvCxnSpPr>
        <p:spPr>
          <a:xfrm>
            <a:off x="7603778" y="2557462"/>
            <a:ext cx="4386709" cy="0"/>
          </a:xfrm>
          <a:prstGeom prst="line">
            <a:avLst/>
          </a:prstGeom>
          <a:ln w="9525">
            <a:solidFill>
              <a:srgbClr val="E0E0E0"/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201513" y="3212753"/>
            <a:ext cx="3015705" cy="0"/>
          </a:xfrm>
          <a:prstGeom prst="line">
            <a:avLst/>
          </a:prstGeom>
          <a:ln w="9525">
            <a:solidFill>
              <a:srgbClr val="E0E0E0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3217218" y="3212753"/>
            <a:ext cx="2193280" cy="0"/>
          </a:xfrm>
          <a:prstGeom prst="line">
            <a:avLst/>
          </a:prstGeom>
          <a:ln w="9525">
            <a:solidFill>
              <a:srgbClr val="E0E0E0"/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5410498" y="3212753"/>
            <a:ext cx="2193280" cy="0"/>
          </a:xfrm>
          <a:prstGeom prst="line">
            <a:avLst/>
          </a:prstGeom>
          <a:ln w="9525">
            <a:solidFill>
              <a:srgbClr val="E0E0E0"/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7603778" y="3212753"/>
            <a:ext cx="4386709" cy="0"/>
          </a:xfrm>
          <a:prstGeom prst="line">
            <a:avLst/>
          </a:prstGeom>
          <a:ln w="9525">
            <a:solidFill>
              <a:srgbClr val="E0E0E0"/>
            </a:solidFill>
          </a:ln>
        </p:spPr>
      </p:cxnSp>
      <p:sp>
        <p:nvSpPr>
          <p:cNvPr id="15" name="TextBox 14"/>
          <p:cNvSpPr txBox="1"/>
          <p:nvPr/>
        </p:nvSpPr>
        <p:spPr>
          <a:xfrm>
            <a:off x="201513" y="271165"/>
            <a:ext cx="1893760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パーツ10｜comparison_table</a:t>
            </a:r>
          </a:p>
        </p:txBody>
      </p:sp>
      <p:sp>
        <p:nvSpPr>
          <p:cNvPr id="16" name="Title"/>
          <p:cNvSpPr txBox="1"/>
          <p:nvPr/>
        </p:nvSpPr>
        <p:spPr>
          <a:xfrm>
            <a:off x="201513" y="504974"/>
            <a:ext cx="1878128" cy="2857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9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F1F1F"/>
                </a:solidFill>
                <a:latin typeface="Yu Mincho"/>
                <a:ea typeface="Yu Mincho"/>
                <a:cs typeface="Yu Mincho"/>
              </a:rPr>
              <a:t>選択肢の比較表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584" y="1590973"/>
            <a:ext cx="518220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評価軸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54288" y="1590973"/>
            <a:ext cx="351830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自社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47568" y="1590973"/>
            <a:ext cx="351830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競合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40848" y="1590973"/>
            <a:ext cx="351830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含意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584" y="2013496"/>
            <a:ext cx="505218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54288" y="2013496"/>
            <a:ext cx="532150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47568" y="2013496"/>
            <a:ext cx="533388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40848" y="2013496"/>
            <a:ext cx="902851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1,Text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8584" y="2668786"/>
            <a:ext cx="542211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54288" y="2668786"/>
            <a:ext cx="531840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47568" y="2668786"/>
            <a:ext cx="533698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40848" y="2668786"/>
            <a:ext cx="936748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3,Text 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8584" y="3324076"/>
            <a:ext cx="527971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4288" y="3324076"/>
            <a:ext cx="533543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47568" y="3324076"/>
            <a:ext cx="533698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40848" y="3324076"/>
            <a:ext cx="930712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5,Text 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1513" y="6274296"/>
            <a:ext cx="80177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出所）Source 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848951" y="6561981"/>
            <a:ext cx="166247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36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01513" y="1326505"/>
            <a:ext cx="11788974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01513" y="1484412"/>
          <a:ext cx="11788973" cy="1592313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951309"/>
                <a:gridCol w="818406"/>
                <a:gridCol w="5104507"/>
                <a:gridCol w="4914751"/>
              </a:tblGrid>
              <a:tr h="385911">
                <a:tc>
                  <a:txBody>
                    <a:bodyPr wrap="square"/>
                    <a:lstStyle/>
                    <a:p>
                      <a:pPr algn="l">
                        <a:lnSpc>
                          <a:spcPts val="1562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1F1F1F"/>
                          </a:solidFill>
                          <a:latin typeface="Yu Gothic"/>
                          <a:ea typeface="Yu Gothic"/>
                          <a:cs typeface="Yu Gothic"/>
                        </a:rPr>
                        <a:t>シナリオ</a:t>
                      </a:r>
                      <a:endParaRPr sz="100"/>
                    </a:p>
                  </a:txBody>
                  <a:tcPr marT="91440" marR="106680" marB="91440" marL="10668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1F1F1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562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1F1F1F"/>
                          </a:solidFill>
                          <a:latin typeface="Yu Gothic"/>
                          <a:ea typeface="Yu Gothic"/>
                          <a:cs typeface="Yu Gothic"/>
                        </a:rPr>
                        <a:t>結果</a:t>
                      </a:r>
                      <a:endParaRPr sz="100"/>
                    </a:p>
                  </a:txBody>
                  <a:tcPr marT="91440" marR="106680" marB="91440" marL="10668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1F1F1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562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1F1F1F"/>
                          </a:solidFill>
                          <a:latin typeface="Yu Gothic"/>
                          <a:ea typeface="Yu Gothic"/>
                          <a:cs typeface="Yu Gothic"/>
                        </a:rPr>
                        <a:t>前提</a:t>
                      </a:r>
                      <a:endParaRPr sz="100"/>
                    </a:p>
                  </a:txBody>
                  <a:tcPr marT="91440" marR="106680" marB="91440" marL="10668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1F1F1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562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1F1F1F"/>
                          </a:solidFill>
                          <a:latin typeface="Yu Gothic"/>
                          <a:ea typeface="Yu Gothic"/>
                          <a:cs typeface="Yu Gothic"/>
                        </a:rPr>
                        <a:t>経営への含意</a:t>
                      </a:r>
                      <a:endParaRPr sz="100"/>
                    </a:p>
                  </a:txBody>
                  <a:tcPr marT="91440" marR="106680" marB="91440" marL="10668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1F1F1F"/>
                      </a:solidFill>
                    </a:lnB>
                    <a:noFill/>
                  </a:tcPr>
                </a:tc>
              </a:tr>
              <a:tr h="402134">
                <a:tc>
                  <a:txBody>
                    <a:bodyPr wrap="square"/>
                    <a:lstStyle/>
                    <a:p>
                      <a:pPr algn="l">
                        <a:lnSpc>
                          <a:spcPts val="141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1F1F1F"/>
                          </a:solidFill>
                          <a:latin typeface="Yu Gothic"/>
                          <a:ea typeface="Yu Gothic"/>
                          <a:cs typeface="Yu Gothic"/>
                        </a:rPr>
                        <a:t>ラベル1</a:t>
                      </a:r>
                      <a:endParaRPr sz="100"/>
                    </a:p>
                  </a:txBody>
                  <a:tcPr marT="106680" marR="106680" marB="106680" marL="10668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41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4D4D4D"/>
                          </a:solidFill>
                          <a:latin typeface="Yu Gothic"/>
                          <a:ea typeface="Yu Gothic"/>
                          <a:cs typeface="Yu Gothic"/>
                        </a:rPr>
                        <a:t>Text 1</a:t>
                      </a:r>
                      <a:endParaRPr sz="100"/>
                    </a:p>
                  </a:txBody>
                  <a:tcPr marT="106680" marR="106680" marB="106680" marL="10668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41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F1F1F"/>
                          </a:solidFill>
                          <a:latin typeface="Yu Gothic"/>
                          <a:ea typeface="Yu Gothic"/>
                          <a:cs typeface="Yu Gothic"/>
                        </a:rPr>
                        <a:t>前提1-1：TextをTextと置く／前提1-2：Textは変わらないとする</a:t>
                      </a:r>
                      <a:endParaRPr sz="100"/>
                    </a:p>
                  </a:txBody>
                  <a:tcPr marT="106680" marR="106680" marB="106680" marL="10668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41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F1F1F"/>
                          </a:solidFill>
                          <a:latin typeface="Yu Gothic"/>
                          <a:ea typeface="Yu Gothic"/>
                          <a:cs typeface="Yu Gothic"/>
                        </a:rPr>
                        <a:t>Text 1をText 2まで積み増す／Text 3の判断をN月に前倒す</a:t>
                      </a:r>
                      <a:endParaRPr sz="100"/>
                    </a:p>
                  </a:txBody>
                  <a:tcPr marT="106680" marR="106680" marB="106680" marL="10668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</a:tr>
              <a:tr h="402134">
                <a:tc>
                  <a:txBody>
                    <a:bodyPr wrap="square"/>
                    <a:lstStyle/>
                    <a:p>
                      <a:pPr algn="l">
                        <a:lnSpc>
                          <a:spcPts val="141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1F1F1F"/>
                          </a:solidFill>
                          <a:latin typeface="Yu Gothic"/>
                          <a:ea typeface="Yu Gothic"/>
                          <a:cs typeface="Yu Gothic"/>
                        </a:rPr>
                        <a:t>ラベル2</a:t>
                      </a:r>
                      <a:endParaRPr sz="100"/>
                    </a:p>
                  </a:txBody>
                  <a:tcPr marT="106680" marR="106680" marB="106680" marL="10668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41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4D4D4D"/>
                          </a:solidFill>
                          <a:latin typeface="Yu Gothic"/>
                          <a:ea typeface="Yu Gothic"/>
                          <a:cs typeface="Yu Gothic"/>
                        </a:rPr>
                        <a:t>Text 4</a:t>
                      </a:r>
                      <a:endParaRPr sz="100"/>
                    </a:p>
                  </a:txBody>
                  <a:tcPr marT="106680" marR="106680" marB="106680" marL="10668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41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F1F1F"/>
                          </a:solidFill>
                          <a:latin typeface="Yu Gothic"/>
                          <a:ea typeface="Yu Gothic"/>
                          <a:cs typeface="Yu Gothic"/>
                        </a:rPr>
                        <a:t>前提2-1：TextをTextと置く／前提2-2：Textは変わらないとする</a:t>
                      </a:r>
                      <a:endParaRPr sz="100"/>
                    </a:p>
                  </a:txBody>
                  <a:tcPr marT="106680" marR="106680" marB="106680" marL="10668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41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F1F1F"/>
                          </a:solidFill>
                          <a:latin typeface="Yu Gothic"/>
                          <a:ea typeface="Yu Gothic"/>
                          <a:cs typeface="Yu Gothic"/>
                        </a:rPr>
                        <a:t>Text 4をText 5まで積み増す／Text 6の判断をN月に前倒す</a:t>
                      </a:r>
                      <a:endParaRPr sz="100"/>
                    </a:p>
                  </a:txBody>
                  <a:tcPr marT="106680" marR="106680" marB="106680" marL="10668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</a:tr>
              <a:tr h="402134">
                <a:tc>
                  <a:txBody>
                    <a:bodyPr wrap="square"/>
                    <a:lstStyle/>
                    <a:p>
                      <a:pPr algn="l">
                        <a:lnSpc>
                          <a:spcPts val="141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1F1F1F"/>
                          </a:solidFill>
                          <a:latin typeface="Yu Gothic"/>
                          <a:ea typeface="Yu Gothic"/>
                          <a:cs typeface="Yu Gothic"/>
                        </a:rPr>
                        <a:t>ラベル3</a:t>
                      </a:r>
                      <a:endParaRPr sz="100"/>
                    </a:p>
                  </a:txBody>
                  <a:tcPr marT="106680" marR="106680" marB="106680" marL="10668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41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4D4D4D"/>
                          </a:solidFill>
                          <a:latin typeface="Yu Gothic"/>
                          <a:ea typeface="Yu Gothic"/>
                          <a:cs typeface="Yu Gothic"/>
                        </a:rPr>
                        <a:t>Text 7</a:t>
                      </a:r>
                      <a:endParaRPr sz="100"/>
                    </a:p>
                  </a:txBody>
                  <a:tcPr marT="106680" marR="106680" marB="106680" marL="10668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41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F1F1F"/>
                          </a:solidFill>
                          <a:latin typeface="Yu Gothic"/>
                          <a:ea typeface="Yu Gothic"/>
                          <a:cs typeface="Yu Gothic"/>
                        </a:rPr>
                        <a:t>前提3-1：TextをTextと置く／前提3-2：Textは変わらないとする</a:t>
                      </a:r>
                      <a:endParaRPr sz="100"/>
                    </a:p>
                  </a:txBody>
                  <a:tcPr marT="106680" marR="106680" marB="106680" marL="10668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41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F1F1F"/>
                          </a:solidFill>
                          <a:latin typeface="Yu Gothic"/>
                          <a:ea typeface="Yu Gothic"/>
                          <a:cs typeface="Yu Gothic"/>
                        </a:rPr>
                        <a:t>Text 7をText 8まで積み増す／Text 9の判断をN月に前倒す</a:t>
                      </a:r>
                      <a:endParaRPr sz="100"/>
                    </a:p>
                  </a:txBody>
                  <a:tcPr marT="106680" marR="106680" marB="106680" marL="10668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201513" y="271165"/>
            <a:ext cx="1641622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パーツ11｜scenario_table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201513" y="504974"/>
            <a:ext cx="1730157" cy="2857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9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F1F1F"/>
                </a:solidFill>
                <a:latin typeface="Yu Mincho"/>
                <a:ea typeface="Yu Mincho"/>
                <a:cs typeface="Yu Mincho"/>
              </a:rPr>
              <a:t>シナリオ比較表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513" y="6274296"/>
            <a:ext cx="1078218" cy="29706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注）前提・注記を記載</a:t>
            </a:r>
          </a:p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出所）Source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5202" y="6561981"/>
            <a:ext cx="159746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37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01513" y="1326505"/>
            <a:ext cx="11788974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01513" y="1484412"/>
          <a:ext cx="11788973" cy="1587550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999679"/>
                <a:gridCol w="4553396"/>
                <a:gridCol w="5151983"/>
                <a:gridCol w="1083915"/>
              </a:tblGrid>
              <a:tr h="385911">
                <a:tc>
                  <a:txBody>
                    <a:bodyPr wrap="square"/>
                    <a:lstStyle/>
                    <a:p>
                      <a:pPr algn="l">
                        <a:lnSpc>
                          <a:spcPts val="1562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1F1F1F"/>
                          </a:solidFill>
                          <a:latin typeface="Yu Gothic"/>
                          <a:ea typeface="Yu Gothic"/>
                          <a:cs typeface="Yu Gothic"/>
                        </a:rPr>
                        <a:t>リスク</a:t>
                      </a:r>
                      <a:endParaRPr sz="100"/>
                    </a:p>
                  </a:txBody>
                  <a:tcPr marT="91440" marR="106680" marB="91440" marL="10668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1F1F1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562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1F1F1F"/>
                          </a:solidFill>
                          <a:latin typeface="Yu Gothic"/>
                          <a:ea typeface="Yu Gothic"/>
                          <a:cs typeface="Yu Gothic"/>
                        </a:rPr>
                        <a:t>兆候</a:t>
                      </a:r>
                      <a:endParaRPr sz="100"/>
                    </a:p>
                  </a:txBody>
                  <a:tcPr marT="91440" marR="106680" marB="91440" marL="10668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1F1F1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562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1F1F1F"/>
                          </a:solidFill>
                          <a:latin typeface="Yu Gothic"/>
                          <a:ea typeface="Yu Gothic"/>
                          <a:cs typeface="Yu Gothic"/>
                        </a:rPr>
                        <a:t>対応策</a:t>
                      </a:r>
                      <a:endParaRPr sz="100"/>
                    </a:p>
                  </a:txBody>
                  <a:tcPr marT="91440" marR="106680" marB="91440" marL="10668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1F1F1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562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1F1F1F"/>
                          </a:solidFill>
                          <a:latin typeface="Yu Gothic"/>
                          <a:ea typeface="Yu Gothic"/>
                          <a:cs typeface="Yu Gothic"/>
                        </a:rPr>
                        <a:t>担当</a:t>
                      </a:r>
                      <a:endParaRPr sz="100"/>
                    </a:p>
                  </a:txBody>
                  <a:tcPr marT="91440" marR="106680" marB="91440" marL="10668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1F1F1F"/>
                      </a:solidFill>
                    </a:lnB>
                    <a:noFill/>
                  </a:tcPr>
                </a:tc>
              </a:tr>
              <a:tr h="402134">
                <a:tc>
                  <a:txBody>
                    <a:bodyPr wrap="square"/>
                    <a:lstStyle/>
                    <a:p>
                      <a:pPr algn="l">
                        <a:lnSpc>
                          <a:spcPts val="141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1F1F1F"/>
                          </a:solidFill>
                          <a:latin typeface="Yu Gothic"/>
                          <a:ea typeface="Yu Gothic"/>
                          <a:cs typeface="Yu Gothic"/>
                        </a:rPr>
                        <a:t>Text 1</a:t>
                      </a:r>
                      <a:endParaRPr sz="100"/>
                    </a:p>
                  </a:txBody>
                  <a:tcPr marT="106680" marR="106680" marB="106680" marL="10668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41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F1F1F"/>
                          </a:solidFill>
                          <a:latin typeface="Yu Gothic"/>
                          <a:ea typeface="Yu Gothic"/>
                          <a:cs typeface="Yu Gothic"/>
                        </a:rPr>
                        <a:t>Text 1がNを下回る,Text 2のNがNか月続く</a:t>
                      </a:r>
                      <a:endParaRPr sz="100"/>
                    </a:p>
                  </a:txBody>
                  <a:tcPr marT="106680" marR="106680" marB="106680" marL="10668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41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F1F1F"/>
                          </a:solidFill>
                          <a:latin typeface="Yu Gothic"/>
                          <a:ea typeface="Yu Gothic"/>
                          <a:cs typeface="Yu Gothic"/>
                        </a:rPr>
                        <a:t>Text 3を先に確保する,Text 4の代替案を用意する</a:t>
                      </a:r>
                      <a:endParaRPr sz="100"/>
                    </a:p>
                  </a:txBody>
                  <a:tcPr marT="106680" marR="106680" marB="106680" marL="10668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41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F1F1F"/>
                          </a:solidFill>
                          <a:latin typeface="Yu Gothic"/>
                          <a:ea typeface="Yu Gothic"/>
                          <a:cs typeface="Yu Gothic"/>
                        </a:rPr>
                        <a:t>ラベル1</a:t>
                      </a:r>
                      <a:endParaRPr sz="100"/>
                    </a:p>
                  </a:txBody>
                  <a:tcPr marT="106680" marR="106680" marB="106680" marL="10668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</a:tr>
              <a:tr h="402134">
                <a:tc>
                  <a:txBody>
                    <a:bodyPr wrap="square"/>
                    <a:lstStyle/>
                    <a:p>
                      <a:pPr algn="l">
                        <a:lnSpc>
                          <a:spcPts val="141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1F1F1F"/>
                          </a:solidFill>
                          <a:latin typeface="Yu Gothic"/>
                          <a:ea typeface="Yu Gothic"/>
                          <a:cs typeface="Yu Gothic"/>
                        </a:rPr>
                        <a:t>Text 4</a:t>
                      </a:r>
                      <a:endParaRPr sz="100"/>
                    </a:p>
                  </a:txBody>
                  <a:tcPr marT="106680" marR="106680" marB="106680" marL="10668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41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F1F1F"/>
                          </a:solidFill>
                          <a:latin typeface="Yu Gothic"/>
                          <a:ea typeface="Yu Gothic"/>
                          <a:cs typeface="Yu Gothic"/>
                        </a:rPr>
                        <a:t>Text 5がNを下回る,Text 6のNがNか月続く</a:t>
                      </a:r>
                      <a:endParaRPr sz="100"/>
                    </a:p>
                  </a:txBody>
                  <a:tcPr marT="106680" marR="106680" marB="106680" marL="10668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41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F1F1F"/>
                          </a:solidFill>
                          <a:latin typeface="Yu Gothic"/>
                          <a:ea typeface="Yu Gothic"/>
                          <a:cs typeface="Yu Gothic"/>
                        </a:rPr>
                        <a:t>Text 7を先に確保する,Text 8の代替案を用意する</a:t>
                      </a:r>
                      <a:endParaRPr sz="100"/>
                    </a:p>
                  </a:txBody>
                  <a:tcPr marT="106680" marR="106680" marB="106680" marL="10668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41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F1F1F"/>
                          </a:solidFill>
                          <a:latin typeface="Yu Gothic"/>
                          <a:ea typeface="Yu Gothic"/>
                          <a:cs typeface="Yu Gothic"/>
                        </a:rPr>
                        <a:t>ラベル2</a:t>
                      </a:r>
                      <a:endParaRPr sz="100"/>
                    </a:p>
                  </a:txBody>
                  <a:tcPr marT="106680" marR="106680" marB="106680" marL="10668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</a:tr>
              <a:tr h="397371">
                <a:tc>
                  <a:txBody>
                    <a:bodyPr wrap="square"/>
                    <a:lstStyle/>
                    <a:p>
                      <a:pPr algn="l">
                        <a:lnSpc>
                          <a:spcPts val="141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1F1F1F"/>
                          </a:solidFill>
                          <a:latin typeface="Yu Gothic"/>
                          <a:ea typeface="Yu Gothic"/>
                          <a:cs typeface="Yu Gothic"/>
                        </a:rPr>
                        <a:t>Text 7</a:t>
                      </a:r>
                      <a:endParaRPr sz="100"/>
                    </a:p>
                  </a:txBody>
                  <a:tcPr marT="106680" marR="106680" marB="106680" marL="10668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41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F1F1F"/>
                          </a:solidFill>
                          <a:latin typeface="Yu Gothic"/>
                          <a:ea typeface="Yu Gothic"/>
                          <a:cs typeface="Yu Gothic"/>
                        </a:rPr>
                        <a:t>Text 9がNを下回る,Text 10のNがNか月続く</a:t>
                      </a:r>
                      <a:endParaRPr sz="100"/>
                    </a:p>
                  </a:txBody>
                  <a:tcPr marT="106680" marR="106680" marB="106680" marL="10668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41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F1F1F"/>
                          </a:solidFill>
                          <a:latin typeface="Yu Gothic"/>
                          <a:ea typeface="Yu Gothic"/>
                          <a:cs typeface="Yu Gothic"/>
                        </a:rPr>
                        <a:t>Text 11を先に確保する,Text 12の代替案を用意する</a:t>
                      </a:r>
                      <a:endParaRPr sz="100"/>
                    </a:p>
                  </a:txBody>
                  <a:tcPr marT="106680" marR="106680" marB="106680" marL="10668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41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F1F1F"/>
                          </a:solidFill>
                          <a:latin typeface="Yu Gothic"/>
                          <a:ea typeface="Yu Gothic"/>
                          <a:cs typeface="Yu Gothic"/>
                        </a:rPr>
                        <a:t>ラベル3</a:t>
                      </a:r>
                      <a:endParaRPr sz="100"/>
                    </a:p>
                  </a:txBody>
                  <a:tcPr marT="106680" marR="106680" marB="106680" marL="10668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201513" y="271165"/>
            <a:ext cx="1320606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パーツ12｜risk_table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201513" y="504974"/>
            <a:ext cx="1473994" cy="2857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9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F1F1F"/>
                </a:solidFill>
                <a:latin typeface="Yu Mincho"/>
                <a:ea typeface="Yu Mincho"/>
                <a:cs typeface="Yu Mincho"/>
              </a:rPr>
              <a:t>リスク一覧表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513" y="6274296"/>
            <a:ext cx="80177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出所）Source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49100" y="6561981"/>
            <a:ext cx="166092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38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01513" y="1326505"/>
            <a:ext cx="11788974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201513" y="1752749"/>
            <a:ext cx="11788974" cy="0"/>
          </a:xfrm>
          <a:prstGeom prst="line">
            <a:avLst/>
          </a:prstGeom>
          <a:ln w="9525">
            <a:solidFill>
              <a:srgbClr val="8A8F94"/>
            </a:solidFill>
            <a:prstDash val="sysDot"/>
          </a:ln>
        </p:spPr>
      </p:cxnSp>
      <p:sp>
        <p:nvSpPr>
          <p:cNvPr id="4" name="Rectangle 3"/>
          <p:cNvSpPr/>
          <p:nvPr/>
        </p:nvSpPr>
        <p:spPr>
          <a:xfrm>
            <a:off x="201513" y="2199382"/>
            <a:ext cx="1384250" cy="1518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799034" y="2199382"/>
            <a:ext cx="2906911" cy="1518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4919216" y="2199382"/>
            <a:ext cx="3183880" cy="1518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8316367" y="2199382"/>
            <a:ext cx="1661220" cy="1518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10190857" y="2199382"/>
            <a:ext cx="1799630" cy="1518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201513" y="2290911"/>
            <a:ext cx="1384250" cy="6096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10" name="Connector 9"/>
          <p:cNvCxnSpPr/>
          <p:nvPr/>
        </p:nvCxnSpPr>
        <p:spPr>
          <a:xfrm>
            <a:off x="201513" y="2895749"/>
            <a:ext cx="1384251" cy="0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</p:cxnSp>
      <p:sp>
        <p:nvSpPr>
          <p:cNvPr id="11" name="Rectangle 10"/>
          <p:cNvSpPr/>
          <p:nvPr/>
        </p:nvSpPr>
        <p:spPr>
          <a:xfrm>
            <a:off x="1799034" y="2290911"/>
            <a:ext cx="2906911" cy="6096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12" name="Connector 11"/>
          <p:cNvCxnSpPr/>
          <p:nvPr/>
        </p:nvCxnSpPr>
        <p:spPr>
          <a:xfrm>
            <a:off x="1799034" y="2895749"/>
            <a:ext cx="2906911" cy="0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</p:cxnSp>
      <p:sp>
        <p:nvSpPr>
          <p:cNvPr id="13" name="Rectangle 12"/>
          <p:cNvSpPr/>
          <p:nvPr/>
        </p:nvSpPr>
        <p:spPr>
          <a:xfrm>
            <a:off x="4919216" y="2290911"/>
            <a:ext cx="3183880" cy="6096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14" name="Connector 13"/>
          <p:cNvCxnSpPr/>
          <p:nvPr/>
        </p:nvCxnSpPr>
        <p:spPr>
          <a:xfrm>
            <a:off x="4919216" y="2895749"/>
            <a:ext cx="3183880" cy="0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</p:cxnSp>
      <p:sp>
        <p:nvSpPr>
          <p:cNvPr id="15" name="Rectangle 14"/>
          <p:cNvSpPr/>
          <p:nvPr/>
        </p:nvSpPr>
        <p:spPr>
          <a:xfrm>
            <a:off x="8316367" y="2290911"/>
            <a:ext cx="1661220" cy="6096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16" name="Connector 15"/>
          <p:cNvCxnSpPr/>
          <p:nvPr/>
        </p:nvCxnSpPr>
        <p:spPr>
          <a:xfrm>
            <a:off x="8316367" y="2895749"/>
            <a:ext cx="1661219" cy="0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</p:cxnSp>
      <p:sp>
        <p:nvSpPr>
          <p:cNvPr id="17" name="Rectangle 16"/>
          <p:cNvSpPr/>
          <p:nvPr/>
        </p:nvSpPr>
        <p:spPr>
          <a:xfrm>
            <a:off x="10190857" y="2290911"/>
            <a:ext cx="1799630" cy="6096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18" name="Connector 17"/>
          <p:cNvCxnSpPr/>
          <p:nvPr/>
        </p:nvCxnSpPr>
        <p:spPr>
          <a:xfrm>
            <a:off x="10190857" y="2895749"/>
            <a:ext cx="1799630" cy="0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</p:cxnSp>
      <p:cxnSp>
        <p:nvCxnSpPr>
          <p:cNvPr id="19" name="Connector 18"/>
          <p:cNvCxnSpPr/>
          <p:nvPr/>
        </p:nvCxnSpPr>
        <p:spPr>
          <a:xfrm>
            <a:off x="201513" y="3505349"/>
            <a:ext cx="1384251" cy="0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</p:cxnSp>
      <p:cxnSp>
        <p:nvCxnSpPr>
          <p:cNvPr id="20" name="Connector 19"/>
          <p:cNvCxnSpPr/>
          <p:nvPr/>
        </p:nvCxnSpPr>
        <p:spPr>
          <a:xfrm>
            <a:off x="1799034" y="3505349"/>
            <a:ext cx="2906911" cy="0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</p:cxnSp>
      <p:cxnSp>
        <p:nvCxnSpPr>
          <p:cNvPr id="21" name="Connector 20"/>
          <p:cNvCxnSpPr/>
          <p:nvPr/>
        </p:nvCxnSpPr>
        <p:spPr>
          <a:xfrm>
            <a:off x="4919216" y="3505349"/>
            <a:ext cx="3183880" cy="0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</p:cxnSp>
      <p:cxnSp>
        <p:nvCxnSpPr>
          <p:cNvPr id="22" name="Connector 21"/>
          <p:cNvCxnSpPr/>
          <p:nvPr/>
        </p:nvCxnSpPr>
        <p:spPr>
          <a:xfrm>
            <a:off x="8316367" y="3505349"/>
            <a:ext cx="1661219" cy="0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</p:cxnSp>
      <p:cxnSp>
        <p:nvCxnSpPr>
          <p:cNvPr id="23" name="Connector 22"/>
          <p:cNvCxnSpPr/>
          <p:nvPr/>
        </p:nvCxnSpPr>
        <p:spPr>
          <a:xfrm>
            <a:off x="10190857" y="3505349"/>
            <a:ext cx="1799630" cy="0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</p:cxnSp>
      <p:cxnSp>
        <p:nvCxnSpPr>
          <p:cNvPr id="24" name="Connector 23"/>
          <p:cNvCxnSpPr/>
          <p:nvPr/>
        </p:nvCxnSpPr>
        <p:spPr>
          <a:xfrm>
            <a:off x="201513" y="4114949"/>
            <a:ext cx="1384251" cy="0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</p:cxnSp>
      <p:cxnSp>
        <p:nvCxnSpPr>
          <p:cNvPr id="25" name="Connector 24"/>
          <p:cNvCxnSpPr/>
          <p:nvPr/>
        </p:nvCxnSpPr>
        <p:spPr>
          <a:xfrm>
            <a:off x="1799034" y="4114949"/>
            <a:ext cx="2906911" cy="0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</p:cxnSp>
      <p:cxnSp>
        <p:nvCxnSpPr>
          <p:cNvPr id="26" name="Connector 25"/>
          <p:cNvCxnSpPr/>
          <p:nvPr/>
        </p:nvCxnSpPr>
        <p:spPr>
          <a:xfrm>
            <a:off x="4919216" y="4114949"/>
            <a:ext cx="3183880" cy="0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</p:cxnSp>
      <p:cxnSp>
        <p:nvCxnSpPr>
          <p:cNvPr id="27" name="Connector 26"/>
          <p:cNvCxnSpPr/>
          <p:nvPr/>
        </p:nvCxnSpPr>
        <p:spPr>
          <a:xfrm>
            <a:off x="8316367" y="4114949"/>
            <a:ext cx="1661219" cy="0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</p:cxnSp>
      <p:cxnSp>
        <p:nvCxnSpPr>
          <p:cNvPr id="28" name="Connector 27"/>
          <p:cNvCxnSpPr/>
          <p:nvPr/>
        </p:nvCxnSpPr>
        <p:spPr>
          <a:xfrm>
            <a:off x="10190857" y="4114949"/>
            <a:ext cx="1799630" cy="0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</p:cxnSp>
      <p:sp>
        <p:nvSpPr>
          <p:cNvPr id="29" name="TextBox 28"/>
          <p:cNvSpPr txBox="1"/>
          <p:nvPr/>
        </p:nvSpPr>
        <p:spPr>
          <a:xfrm>
            <a:off x="201513" y="271165"/>
            <a:ext cx="2119277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パーツ13｜horizontal_axis_table</a:t>
            </a:r>
          </a:p>
        </p:txBody>
      </p:sp>
      <p:sp>
        <p:nvSpPr>
          <p:cNvPr id="30" name="Title"/>
          <p:cNvSpPr txBox="1"/>
          <p:nvPr/>
        </p:nvSpPr>
        <p:spPr>
          <a:xfrm>
            <a:off x="201513" y="504974"/>
            <a:ext cx="1352645" cy="2857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9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F1F1F"/>
                </a:solidFill>
                <a:latin typeface="Yu Mincho"/>
                <a:ea typeface="Yu Mincho"/>
                <a:cs typeface="Yu Mincho"/>
              </a:rPr>
              <a:t>横軸評価表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1513" y="1474887"/>
            <a:ext cx="3806392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網掛けの行＝Text 1（この行だけ立てている理由を1行で）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1513" y="1900386"/>
            <a:ext cx="721447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9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列見出し1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99034" y="1900386"/>
            <a:ext cx="754570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9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列見出し2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19216" y="1900386"/>
            <a:ext cx="757202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9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列見出し3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16367" y="1900386"/>
            <a:ext cx="762310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9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列見出し4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0857" y="1900386"/>
            <a:ext cx="756118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9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列見出し5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08074" y="2367111"/>
            <a:ext cx="177546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値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05595" y="2367111"/>
            <a:ext cx="161604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値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5777" y="2367111"/>
            <a:ext cx="161604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値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22928" y="2367111"/>
            <a:ext cx="161604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値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97418" y="2367111"/>
            <a:ext cx="161604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値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01513" y="2976711"/>
            <a:ext cx="177546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値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99034" y="2976711"/>
            <a:ext cx="161604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値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19216" y="2976711"/>
            <a:ext cx="161604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16367" y="2976711"/>
            <a:ext cx="161604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値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190857" y="2976711"/>
            <a:ext cx="161604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値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01513" y="3586311"/>
            <a:ext cx="177546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値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799034" y="3586311"/>
            <a:ext cx="161604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値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919216" y="3586311"/>
            <a:ext cx="161604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値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16367" y="3586311"/>
            <a:ext cx="161604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値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190857" y="3586311"/>
            <a:ext cx="161604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値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01513" y="6274296"/>
            <a:ext cx="80177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出所）Source 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848951" y="6561981"/>
            <a:ext cx="166247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39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01513" y="1326505"/>
            <a:ext cx="11788974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sp>
        <p:nvSpPr>
          <p:cNvPr id="3" name="Rectangle 2"/>
          <p:cNvSpPr/>
          <p:nvPr/>
        </p:nvSpPr>
        <p:spPr>
          <a:xfrm>
            <a:off x="10214818" y="1492002"/>
            <a:ext cx="121890" cy="121890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10764143" y="1492002"/>
            <a:ext cx="121890" cy="121890"/>
          </a:xfrm>
          <a:prstGeom prst="rect">
            <a:avLst/>
          </a:prstGeom>
          <a:solidFill>
            <a:srgbClr val="F2F2F2"/>
          </a:solidFill>
          <a:ln w="9525">
            <a:solidFill>
              <a:srgbClr val="E0E0E0"/>
            </a:solidFill>
          </a:ln>
        </p:spPr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1228784" y="1492002"/>
            <a:ext cx="121890" cy="121890"/>
          </a:xfrm>
          <a:prstGeom prst="rect">
            <a:avLst/>
          </a:prstGeom>
          <a:solidFill>
            <a:srgbClr val="A6A6A6"/>
          </a:solidFill>
          <a:ln w="9525">
            <a:solidFill>
              <a:srgbClr val="E0E0E0"/>
            </a:solidFill>
          </a:ln>
        </p:spPr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11693426" y="1492002"/>
            <a:ext cx="121890" cy="121890"/>
          </a:xfrm>
          <a:prstGeom prst="rect">
            <a:avLst/>
          </a:prstGeom>
          <a:solidFill>
            <a:srgbClr val="4D4D4D"/>
          </a:solidFill>
          <a:ln w="9525">
            <a:solidFill>
              <a:srgbClr val="E0E0E0"/>
            </a:solidFill>
          </a:ln>
        </p:spPr>
        <p:txBody>
          <a:bodyPr rtlCol="0" anchor="ctr"/>
          <a:lstStyle/>
          <a:p/>
        </p:txBody>
      </p:sp>
      <p:cxnSp>
        <p:nvCxnSpPr>
          <p:cNvPr id="7" name="Connector 6"/>
          <p:cNvCxnSpPr/>
          <p:nvPr/>
        </p:nvCxnSpPr>
        <p:spPr>
          <a:xfrm>
            <a:off x="3256211" y="2073473"/>
            <a:ext cx="2149227" cy="0"/>
          </a:xfrm>
          <a:prstGeom prst="line">
            <a:avLst/>
          </a:prstGeom>
          <a:ln w="9525">
            <a:solidFill>
              <a:srgbClr val="1F1F1F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5451128" y="2073473"/>
            <a:ext cx="2149376" cy="0"/>
          </a:xfrm>
          <a:prstGeom prst="line">
            <a:avLst/>
          </a:prstGeom>
          <a:ln w="9525">
            <a:solidFill>
              <a:srgbClr val="1F1F1F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7646194" y="2073473"/>
            <a:ext cx="2149227" cy="0"/>
          </a:xfrm>
          <a:prstGeom prst="line">
            <a:avLst/>
          </a:prstGeom>
          <a:ln w="9525">
            <a:solidFill>
              <a:srgbClr val="1F1F1F"/>
            </a:solidFill>
          </a:ln>
        </p:spPr>
      </p:cxnSp>
      <p:cxnSp>
        <p:nvCxnSpPr>
          <p:cNvPr id="10" name="Connector 9"/>
          <p:cNvCxnSpPr/>
          <p:nvPr/>
        </p:nvCxnSpPr>
        <p:spPr>
          <a:xfrm>
            <a:off x="9841111" y="2073473"/>
            <a:ext cx="2149376" cy="0"/>
          </a:xfrm>
          <a:prstGeom prst="line">
            <a:avLst/>
          </a:prstGeom>
          <a:ln w="9525">
            <a:solidFill>
              <a:srgbClr val="1F1F1F"/>
            </a:solidFill>
          </a:ln>
        </p:spPr>
      </p:cxnSp>
      <p:sp>
        <p:nvSpPr>
          <p:cNvPr id="11" name="Rectangle 10"/>
          <p:cNvSpPr/>
          <p:nvPr/>
        </p:nvSpPr>
        <p:spPr>
          <a:xfrm>
            <a:off x="3256211" y="2123926"/>
            <a:ext cx="2149227" cy="340668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451128" y="2123926"/>
            <a:ext cx="2149376" cy="340668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7646194" y="2123926"/>
            <a:ext cx="2149227" cy="3406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9841111" y="2123926"/>
            <a:ext cx="2149376" cy="340668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3256211" y="2510284"/>
            <a:ext cx="2149227" cy="359718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451128" y="2510284"/>
            <a:ext cx="2149376" cy="35971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7646194" y="2510284"/>
            <a:ext cx="2149227" cy="359718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</p:spPr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9841111" y="2510284"/>
            <a:ext cx="2149376" cy="35971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3256211" y="2915692"/>
            <a:ext cx="2149227" cy="340668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5451128" y="2915692"/>
            <a:ext cx="2149376" cy="340668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7646194" y="2915692"/>
            <a:ext cx="2149227" cy="340668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9841111" y="2915692"/>
            <a:ext cx="2149376" cy="340668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3256211" y="3302050"/>
            <a:ext cx="2149227" cy="359718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451128" y="3302050"/>
            <a:ext cx="2149376" cy="35971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7646194" y="3302050"/>
            <a:ext cx="2149227" cy="359718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</p:spPr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9841111" y="3302050"/>
            <a:ext cx="2149376" cy="35971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201513" y="271165"/>
            <a:ext cx="1676757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パーツ14｜heatmap_table</a:t>
            </a:r>
          </a:p>
        </p:txBody>
      </p:sp>
      <p:sp>
        <p:nvSpPr>
          <p:cNvPr id="28" name="Title"/>
          <p:cNvSpPr txBox="1"/>
          <p:nvPr/>
        </p:nvSpPr>
        <p:spPr>
          <a:xfrm>
            <a:off x="201513" y="504974"/>
            <a:ext cx="1619179" cy="2857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9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F1F1F"/>
                </a:solidFill>
                <a:latin typeface="Yu Mincho"/>
                <a:ea typeface="Yu Mincho"/>
                <a:cs typeface="Yu Mincho"/>
              </a:rPr>
              <a:t>ヒートマップ表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97579" y="1474887"/>
            <a:ext cx="225993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なし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46904" y="1474887"/>
            <a:ext cx="137922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低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11545" y="1474887"/>
            <a:ext cx="137922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中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876187" y="1474887"/>
            <a:ext cx="137922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8074" y="1819424"/>
            <a:ext cx="553819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行の軸名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62771" y="1819424"/>
            <a:ext cx="58756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列見出し1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57689" y="1819424"/>
            <a:ext cx="614339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列見出し2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52755" y="1819424"/>
            <a:ext cx="616351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列見出し3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47672" y="1819424"/>
            <a:ext cx="620530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列見出し4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8074" y="2215307"/>
            <a:ext cx="58756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行見出し1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53895" y="2215307"/>
            <a:ext cx="153710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高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48961" y="2215307"/>
            <a:ext cx="153710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中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43878" y="2215307"/>
            <a:ext cx="153710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低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838944" y="2215307"/>
            <a:ext cx="153710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中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08074" y="2601664"/>
            <a:ext cx="614339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行見出し2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53895" y="2611189"/>
            <a:ext cx="153710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中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48961" y="2611189"/>
            <a:ext cx="153710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低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94035" y="2611189"/>
            <a:ext cx="253544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なし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838944" y="2611189"/>
            <a:ext cx="153710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低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08074" y="3007072"/>
            <a:ext cx="616351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行見出し3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53895" y="3007072"/>
            <a:ext cx="153710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高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48961" y="3007072"/>
            <a:ext cx="153710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高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43878" y="3007072"/>
            <a:ext cx="153710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中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838944" y="3007072"/>
            <a:ext cx="153710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高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08074" y="3393430"/>
            <a:ext cx="620530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行見出し4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253895" y="3402955"/>
            <a:ext cx="153710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中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48961" y="3402955"/>
            <a:ext cx="153710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低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94035" y="3402955"/>
            <a:ext cx="253544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なし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838944" y="3402955"/>
            <a:ext cx="153710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低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01513" y="6274296"/>
            <a:ext cx="80177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出所）Source 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844486" y="6561981"/>
            <a:ext cx="17089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40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01513" y="1326505"/>
            <a:ext cx="11788974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sp>
        <p:nvSpPr>
          <p:cNvPr id="3" name="Rectangle 2"/>
          <p:cNvSpPr/>
          <p:nvPr/>
        </p:nvSpPr>
        <p:spPr>
          <a:xfrm>
            <a:off x="7052965" y="1492002"/>
            <a:ext cx="121890" cy="121890"/>
          </a:xfrm>
          <a:prstGeom prst="rect">
            <a:avLst/>
          </a:prstGeom>
          <a:solidFill>
            <a:srgbClr val="262626"/>
          </a:solidFill>
          <a:ln w="9525">
            <a:solidFill>
              <a:srgbClr val="262626"/>
            </a:solidFill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974062" y="1492002"/>
            <a:ext cx="121890" cy="121890"/>
          </a:xfrm>
          <a:prstGeom prst="rect">
            <a:avLst/>
          </a:prstGeom>
          <a:noFill/>
          <a:ln w="9525">
            <a:solidFill>
              <a:srgbClr val="E0E0E0"/>
            </a:solidFill>
          </a:ln>
        </p:spPr>
        <p:txBody>
          <a:bodyPr rtlCol="0" anchor="ctr"/>
          <a:lstStyle/>
          <a:p/>
        </p:txBody>
      </p:sp>
      <p:pic>
        <p:nvPicPr>
          <p:cNvPr id="5" name="Picture 4" descr="img_45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513" y="1850082"/>
            <a:ext cx="8725793" cy="289560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201513" y="4740920"/>
            <a:ext cx="8725793" cy="0"/>
          </a:xfrm>
          <a:prstGeom prst="line">
            <a:avLst/>
          </a:prstGeom>
          <a:ln w="9525">
            <a:solidFill>
              <a:srgbClr val="1F1F1F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206276" y="1850082"/>
            <a:ext cx="0" cy="2895600"/>
          </a:xfrm>
          <a:prstGeom prst="line">
            <a:avLst/>
          </a:prstGeom>
          <a:ln w="9525">
            <a:solidFill>
              <a:srgbClr val="1F1F1F"/>
            </a:solidFill>
          </a:ln>
        </p:spPr>
      </p:cxnSp>
      <p:sp>
        <p:nvSpPr>
          <p:cNvPr id="8" name="Rectangle 7"/>
          <p:cNvSpPr/>
          <p:nvPr/>
        </p:nvSpPr>
        <p:spPr>
          <a:xfrm>
            <a:off x="6252716" y="2402309"/>
            <a:ext cx="467916" cy="280839"/>
          </a:xfrm>
          <a:prstGeom prst="rect">
            <a:avLst/>
          </a:prstGeom>
          <a:solidFill>
            <a:srgbClr val="262626"/>
          </a:solidFill>
          <a:ln w="9525">
            <a:solidFill>
              <a:srgbClr val="262626"/>
            </a:solidFill>
          </a:ln>
        </p:spPr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891957" y="2921719"/>
            <a:ext cx="492026" cy="280839"/>
          </a:xfrm>
          <a:prstGeom prst="rect">
            <a:avLst/>
          </a:prstGeom>
          <a:solidFill>
            <a:srgbClr val="262626"/>
          </a:solidFill>
          <a:ln w="9525">
            <a:solidFill>
              <a:srgbClr val="262626"/>
            </a:solidFill>
          </a:ln>
        </p:spPr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3014737" y="2604269"/>
            <a:ext cx="493961" cy="280839"/>
          </a:xfrm>
          <a:prstGeom prst="rect">
            <a:avLst/>
          </a:prstGeom>
          <a:solidFill>
            <a:srgbClr val="FFFFFF"/>
          </a:solidFill>
          <a:ln w="9525">
            <a:solidFill>
              <a:srgbClr val="262626"/>
            </a:solidFill>
          </a:ln>
        </p:spPr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971627" y="3499024"/>
            <a:ext cx="497681" cy="280839"/>
          </a:xfrm>
          <a:prstGeom prst="rect">
            <a:avLst/>
          </a:prstGeom>
          <a:solidFill>
            <a:srgbClr val="FFFFFF"/>
          </a:solidFill>
          <a:ln w="9525">
            <a:solidFill>
              <a:srgbClr val="262626"/>
            </a:solidFill>
          </a:ln>
        </p:spPr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1969145" y="3845347"/>
            <a:ext cx="493216" cy="280839"/>
          </a:xfrm>
          <a:prstGeom prst="rect">
            <a:avLst/>
          </a:prstGeom>
          <a:solidFill>
            <a:srgbClr val="FFFFFF"/>
          </a:solidFill>
          <a:ln w="9525">
            <a:solidFill>
              <a:srgbClr val="262626"/>
            </a:solidFill>
          </a:ln>
        </p:spPr>
        <p:txBody>
          <a:bodyPr rtlCol="0" anchor="ctr"/>
          <a:lstStyle/>
          <a:p/>
        </p:txBody>
      </p:sp>
      <p:cxnSp>
        <p:nvCxnSpPr>
          <p:cNvPr id="13" name="Connector 12"/>
          <p:cNvCxnSpPr/>
          <p:nvPr/>
        </p:nvCxnSpPr>
        <p:spPr>
          <a:xfrm>
            <a:off x="9252049" y="1484412"/>
            <a:ext cx="0" cy="3520231"/>
          </a:xfrm>
          <a:prstGeom prst="line">
            <a:avLst/>
          </a:prstGeom>
          <a:ln w="9525">
            <a:solidFill>
              <a:srgbClr val="1F1F1F"/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9424392" y="1763018"/>
            <a:ext cx="2566095" cy="0"/>
          </a:xfrm>
          <a:prstGeom prst="line">
            <a:avLst/>
          </a:prstGeom>
          <a:ln w="9525">
            <a:solidFill>
              <a:srgbClr val="1F1F1F"/>
            </a:solidFill>
          </a:ln>
        </p:spPr>
      </p:cxnSp>
      <p:sp>
        <p:nvSpPr>
          <p:cNvPr id="15" name="TextBox 14"/>
          <p:cNvSpPr txBox="1"/>
          <p:nvPr/>
        </p:nvSpPr>
        <p:spPr>
          <a:xfrm>
            <a:off x="201513" y="271165"/>
            <a:ext cx="1413010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パーツ15｜matrix_2x2</a:t>
            </a:r>
          </a:p>
        </p:txBody>
      </p:sp>
      <p:sp>
        <p:nvSpPr>
          <p:cNvPr id="16" name="Title"/>
          <p:cNvSpPr txBox="1"/>
          <p:nvPr/>
        </p:nvSpPr>
        <p:spPr>
          <a:xfrm>
            <a:off x="201513" y="504974"/>
            <a:ext cx="1525226" cy="2857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9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F1F1F"/>
                </a:solidFill>
                <a:latin typeface="Yu Mincho"/>
                <a:ea typeface="Yu Mincho"/>
                <a:cs typeface="Yu Mincho"/>
              </a:rPr>
              <a:t>2×2マトリクス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5726" y="1474887"/>
            <a:ext cx="596848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選んだ候補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56823" y="1474887"/>
            <a:ext cx="820353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そのほかの候補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1038" y="1636812"/>
            <a:ext cx="1138428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52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縦軸名（上ほど高い）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50981" y="4818608"/>
            <a:ext cx="1138428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52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横軸名（右ほど高い）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38441" y="2463180"/>
            <a:ext cx="32737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04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施策1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77682" y="2982590"/>
            <a:ext cx="35244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04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施策2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00462" y="2665140"/>
            <a:ext cx="354461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04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施策3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57352" y="3559894"/>
            <a:ext cx="358331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04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施策4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54870" y="3906217"/>
            <a:ext cx="353687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04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施策5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24392" y="1474887"/>
            <a:ext cx="741724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57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タイトル 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7153" y="1899196"/>
            <a:ext cx="469773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marL="160020" indent="-160020">
              <a:lnSpc>
                <a:spcPts val="1688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2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7153" y="2235398"/>
            <a:ext cx="503515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marL="160020" indent="-160020">
              <a:lnSpc>
                <a:spcPts val="1688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2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1513" y="6274296"/>
            <a:ext cx="80177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出所）Source 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72317" y="6561981"/>
            <a:ext cx="141946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41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01513" y="1326505"/>
            <a:ext cx="11788974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3580656" y="1725811"/>
            <a:ext cx="2752427" cy="0"/>
          </a:xfrm>
          <a:prstGeom prst="line">
            <a:avLst/>
          </a:prstGeom>
          <a:ln w="9525">
            <a:solidFill>
              <a:srgbClr val="1F1F1F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6409283" y="1725811"/>
            <a:ext cx="2752428" cy="0"/>
          </a:xfrm>
          <a:prstGeom prst="line">
            <a:avLst/>
          </a:prstGeom>
          <a:ln w="9525">
            <a:solidFill>
              <a:srgbClr val="1F1F1F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9237911" y="1725811"/>
            <a:ext cx="2752576" cy="0"/>
          </a:xfrm>
          <a:prstGeom prst="line">
            <a:avLst/>
          </a:prstGeom>
          <a:ln w="9525">
            <a:solidFill>
              <a:srgbClr val="1F1F1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3580656" y="1806773"/>
            <a:ext cx="2752427" cy="37355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409283" y="1806773"/>
            <a:ext cx="2752427" cy="37355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3580656" y="2256532"/>
            <a:ext cx="2752427" cy="37355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6409283" y="2256532"/>
            <a:ext cx="2752427" cy="37355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3580656" y="2706291"/>
            <a:ext cx="2752427" cy="37355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409283" y="2706291"/>
            <a:ext cx="2752427" cy="37355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9237911" y="2706291"/>
            <a:ext cx="2752576" cy="37355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01513" y="271165"/>
            <a:ext cx="1721179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パーツ16｜process_matrix</a:t>
            </a:r>
          </a:p>
        </p:txBody>
      </p:sp>
      <p:sp>
        <p:nvSpPr>
          <p:cNvPr id="14" name="Title"/>
          <p:cNvSpPr txBox="1"/>
          <p:nvPr/>
        </p:nvSpPr>
        <p:spPr>
          <a:xfrm>
            <a:off x="201513" y="504974"/>
            <a:ext cx="2462736" cy="2857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9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F1F1F"/>
                </a:solidFill>
                <a:latin typeface="Yu Mincho"/>
                <a:ea typeface="Yu Mincho"/>
                <a:cs typeface="Yu Mincho"/>
              </a:rPr>
              <a:t>プロセス×観点の行列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513" y="1484412"/>
            <a:ext cx="553819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4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行の軸名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26346" y="1484412"/>
            <a:ext cx="58756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4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列見出し1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4973" y="1484412"/>
            <a:ext cx="614339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4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列見出し2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83601" y="1484412"/>
            <a:ext cx="616351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4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列見出し3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513" y="1913334"/>
            <a:ext cx="58756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4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行見出し1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02546" y="1913334"/>
            <a:ext cx="153710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4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1173" y="1913334"/>
            <a:ext cx="153710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4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513" y="2363093"/>
            <a:ext cx="614339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4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行見出し2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02546" y="2363093"/>
            <a:ext cx="153710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4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1173" y="2363093"/>
            <a:ext cx="153710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4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1513" y="2812852"/>
            <a:ext cx="616351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4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行見出し3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02546" y="2812852"/>
            <a:ext cx="153710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4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1173" y="2812852"/>
            <a:ext cx="153710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4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59801" y="2812852"/>
            <a:ext cx="153710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4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1513" y="6274296"/>
            <a:ext cx="80177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出所）Source 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46868" y="6561981"/>
            <a:ext cx="16841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42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01513" y="1326505"/>
            <a:ext cx="11788974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sp>
        <p:nvSpPr>
          <p:cNvPr id="3" name="Rectangle 2"/>
          <p:cNvSpPr/>
          <p:nvPr/>
        </p:nvSpPr>
        <p:spPr>
          <a:xfrm>
            <a:off x="201513" y="1530102"/>
            <a:ext cx="2012900" cy="1755279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290614" y="1530102"/>
            <a:ext cx="2116485" cy="524173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5" name="Connector 4"/>
          <p:cNvCxnSpPr/>
          <p:nvPr/>
        </p:nvCxnSpPr>
        <p:spPr>
          <a:xfrm>
            <a:off x="4528989" y="2095202"/>
            <a:ext cx="7461349" cy="0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</p:cxnSp>
      <p:sp>
        <p:nvSpPr>
          <p:cNvPr id="6" name="Rectangle 5"/>
          <p:cNvSpPr/>
          <p:nvPr/>
        </p:nvSpPr>
        <p:spPr>
          <a:xfrm>
            <a:off x="2290614" y="2145655"/>
            <a:ext cx="2116485" cy="524173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7" name="Connector 6"/>
          <p:cNvCxnSpPr/>
          <p:nvPr/>
        </p:nvCxnSpPr>
        <p:spPr>
          <a:xfrm>
            <a:off x="4528989" y="2710755"/>
            <a:ext cx="7461349" cy="0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</p:cxnSp>
      <p:sp>
        <p:nvSpPr>
          <p:cNvPr id="8" name="Rectangle 7"/>
          <p:cNvSpPr/>
          <p:nvPr/>
        </p:nvSpPr>
        <p:spPr>
          <a:xfrm>
            <a:off x="2290614" y="2761208"/>
            <a:ext cx="2116485" cy="524173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9" name="Connector 8"/>
          <p:cNvCxnSpPr/>
          <p:nvPr/>
        </p:nvCxnSpPr>
        <p:spPr>
          <a:xfrm>
            <a:off x="4528989" y="3326309"/>
            <a:ext cx="7461349" cy="0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</p:cxnSp>
      <p:sp>
        <p:nvSpPr>
          <p:cNvPr id="10" name="Rectangle 9"/>
          <p:cNvSpPr/>
          <p:nvPr/>
        </p:nvSpPr>
        <p:spPr>
          <a:xfrm>
            <a:off x="201513" y="3376761"/>
            <a:ext cx="2012900" cy="1139726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2290614" y="3376761"/>
            <a:ext cx="2116485" cy="524173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12" name="Connector 11"/>
          <p:cNvCxnSpPr/>
          <p:nvPr/>
        </p:nvCxnSpPr>
        <p:spPr>
          <a:xfrm>
            <a:off x="4528989" y="3941862"/>
            <a:ext cx="7461349" cy="0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</p:cxnSp>
      <p:sp>
        <p:nvSpPr>
          <p:cNvPr id="13" name="Rectangle 12"/>
          <p:cNvSpPr/>
          <p:nvPr/>
        </p:nvSpPr>
        <p:spPr>
          <a:xfrm>
            <a:off x="2290614" y="3992314"/>
            <a:ext cx="2116485" cy="524173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14" name="Connector 13"/>
          <p:cNvCxnSpPr/>
          <p:nvPr/>
        </p:nvCxnSpPr>
        <p:spPr>
          <a:xfrm>
            <a:off x="4528989" y="4557415"/>
            <a:ext cx="7461349" cy="0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</p:cxnSp>
      <p:sp>
        <p:nvSpPr>
          <p:cNvPr id="15" name="TextBox 14"/>
          <p:cNvSpPr txBox="1"/>
          <p:nvPr/>
        </p:nvSpPr>
        <p:spPr>
          <a:xfrm>
            <a:off x="201513" y="271165"/>
            <a:ext cx="1963567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パーツ17｜nested_row_matrix</a:t>
            </a:r>
          </a:p>
        </p:txBody>
      </p:sp>
      <p:sp>
        <p:nvSpPr>
          <p:cNvPr id="16" name="Title"/>
          <p:cNvSpPr txBox="1"/>
          <p:nvPr/>
        </p:nvSpPr>
        <p:spPr>
          <a:xfrm>
            <a:off x="201513" y="504974"/>
            <a:ext cx="1872865" cy="2857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9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F1F1F"/>
                </a:solidFill>
                <a:latin typeface="Yu Mincho"/>
                <a:ea typeface="Yu Mincho"/>
                <a:cs typeface="Yu Mincho"/>
              </a:rPr>
              <a:t>入れ子行の行列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5355" y="2311301"/>
            <a:ext cx="505218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ラベル1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320" y="1714500"/>
            <a:ext cx="48107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24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96569" y="1606153"/>
            <a:ext cx="36251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marL="121920" indent="-121920">
              <a:lnSpc>
                <a:spcPts val="1248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9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96569" y="1802606"/>
            <a:ext cx="388203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marL="121920" indent="-121920">
              <a:lnSpc>
                <a:spcPts val="1248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9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7240" y="2330053"/>
            <a:ext cx="483084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24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96569" y="2221706"/>
            <a:ext cx="389132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marL="121920" indent="-121920">
              <a:lnSpc>
                <a:spcPts val="1248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9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96569" y="2418159"/>
            <a:ext cx="392847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marL="121920" indent="-121920">
              <a:lnSpc>
                <a:spcPts val="1248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9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5224" y="2945606"/>
            <a:ext cx="487263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24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96569" y="2837259"/>
            <a:ext cx="388048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marL="121920" indent="-121920">
              <a:lnSpc>
                <a:spcPts val="1248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9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96569" y="3033712"/>
            <a:ext cx="389442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marL="121920" indent="-121920">
              <a:lnSpc>
                <a:spcPts val="1248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9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9570" y="3850184"/>
            <a:ext cx="536638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ラベル5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6930" y="3561159"/>
            <a:ext cx="483703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24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96569" y="3452812"/>
            <a:ext cx="382631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marL="121920" indent="-121920">
              <a:lnSpc>
                <a:spcPts val="1248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9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96569" y="3649266"/>
            <a:ext cx="460331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marL="121920" indent="-121920">
              <a:lnSpc>
                <a:spcPts val="1248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9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7b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11570" y="4176712"/>
            <a:ext cx="474571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24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96569" y="4068366"/>
            <a:ext cx="389287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marL="121920" indent="-121920">
              <a:lnSpc>
                <a:spcPts val="1248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9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96569" y="4264819"/>
            <a:ext cx="466987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marL="121920" indent="-121920">
              <a:lnSpc>
                <a:spcPts val="1248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9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8b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1513" y="6274296"/>
            <a:ext cx="80177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出所）Source 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845975" y="6561981"/>
            <a:ext cx="169343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43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01513" y="1326505"/>
            <a:ext cx="11788974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201513" y="1731764"/>
            <a:ext cx="2267099" cy="0"/>
          </a:xfrm>
          <a:prstGeom prst="line">
            <a:avLst/>
          </a:prstGeom>
          <a:ln w="9525">
            <a:solidFill>
              <a:srgbClr val="1F1F1F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2468612" y="1731764"/>
            <a:ext cx="3173909" cy="0"/>
          </a:xfrm>
          <a:prstGeom prst="line">
            <a:avLst/>
          </a:prstGeom>
          <a:ln w="9525">
            <a:solidFill>
              <a:srgbClr val="1F1F1F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5642521" y="1731764"/>
            <a:ext cx="3173908" cy="0"/>
          </a:xfrm>
          <a:prstGeom prst="line">
            <a:avLst/>
          </a:prstGeom>
          <a:ln w="9525">
            <a:solidFill>
              <a:srgbClr val="1F1F1F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8816429" y="1731764"/>
            <a:ext cx="3173909" cy="0"/>
          </a:xfrm>
          <a:prstGeom prst="line">
            <a:avLst/>
          </a:prstGeom>
          <a:ln w="9525">
            <a:solidFill>
              <a:srgbClr val="1F1F1F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201513" y="2193727"/>
            <a:ext cx="2267099" cy="0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</p:cxnSp>
      <p:cxnSp>
        <p:nvCxnSpPr>
          <p:cNvPr id="8" name="Connector 7"/>
          <p:cNvCxnSpPr/>
          <p:nvPr/>
        </p:nvCxnSpPr>
        <p:spPr>
          <a:xfrm>
            <a:off x="2468612" y="2193727"/>
            <a:ext cx="3173909" cy="0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</p:cxnSp>
      <p:cxnSp>
        <p:nvCxnSpPr>
          <p:cNvPr id="9" name="Connector 8"/>
          <p:cNvCxnSpPr/>
          <p:nvPr/>
        </p:nvCxnSpPr>
        <p:spPr>
          <a:xfrm>
            <a:off x="5642521" y="2193727"/>
            <a:ext cx="3173908" cy="0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</p:cxnSp>
      <p:cxnSp>
        <p:nvCxnSpPr>
          <p:cNvPr id="10" name="Connector 9"/>
          <p:cNvCxnSpPr/>
          <p:nvPr/>
        </p:nvCxnSpPr>
        <p:spPr>
          <a:xfrm>
            <a:off x="8816429" y="2193727"/>
            <a:ext cx="3173909" cy="0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</p:cxnSp>
      <p:cxnSp>
        <p:nvCxnSpPr>
          <p:cNvPr id="11" name="Connector 10"/>
          <p:cNvCxnSpPr/>
          <p:nvPr/>
        </p:nvCxnSpPr>
        <p:spPr>
          <a:xfrm>
            <a:off x="201513" y="2655689"/>
            <a:ext cx="2267099" cy="0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</p:cxnSp>
      <p:cxnSp>
        <p:nvCxnSpPr>
          <p:cNvPr id="12" name="Connector 11"/>
          <p:cNvCxnSpPr/>
          <p:nvPr/>
        </p:nvCxnSpPr>
        <p:spPr>
          <a:xfrm>
            <a:off x="2468612" y="2655689"/>
            <a:ext cx="3173909" cy="0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</p:cxnSp>
      <p:cxnSp>
        <p:nvCxnSpPr>
          <p:cNvPr id="13" name="Connector 12"/>
          <p:cNvCxnSpPr/>
          <p:nvPr/>
        </p:nvCxnSpPr>
        <p:spPr>
          <a:xfrm>
            <a:off x="5642521" y="2655689"/>
            <a:ext cx="3173908" cy="0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</p:cxnSp>
      <p:cxnSp>
        <p:nvCxnSpPr>
          <p:cNvPr id="14" name="Connector 13"/>
          <p:cNvCxnSpPr/>
          <p:nvPr/>
        </p:nvCxnSpPr>
        <p:spPr>
          <a:xfrm>
            <a:off x="8816429" y="2655689"/>
            <a:ext cx="3173909" cy="0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</p:cxnSp>
      <p:cxnSp>
        <p:nvCxnSpPr>
          <p:cNvPr id="15" name="Connector 14"/>
          <p:cNvCxnSpPr/>
          <p:nvPr/>
        </p:nvCxnSpPr>
        <p:spPr>
          <a:xfrm>
            <a:off x="201513" y="3117652"/>
            <a:ext cx="2267099" cy="0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</p:cxnSp>
      <p:cxnSp>
        <p:nvCxnSpPr>
          <p:cNvPr id="16" name="Connector 15"/>
          <p:cNvCxnSpPr/>
          <p:nvPr/>
        </p:nvCxnSpPr>
        <p:spPr>
          <a:xfrm>
            <a:off x="2468612" y="3117652"/>
            <a:ext cx="3173909" cy="0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</p:cxnSp>
      <p:cxnSp>
        <p:nvCxnSpPr>
          <p:cNvPr id="17" name="Connector 16"/>
          <p:cNvCxnSpPr/>
          <p:nvPr/>
        </p:nvCxnSpPr>
        <p:spPr>
          <a:xfrm>
            <a:off x="5642521" y="3117652"/>
            <a:ext cx="3173908" cy="0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</p:cxnSp>
      <p:cxnSp>
        <p:nvCxnSpPr>
          <p:cNvPr id="18" name="Connector 17"/>
          <p:cNvCxnSpPr/>
          <p:nvPr/>
        </p:nvCxnSpPr>
        <p:spPr>
          <a:xfrm>
            <a:off x="8816429" y="3117652"/>
            <a:ext cx="3173909" cy="0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</p:cxnSp>
      <p:sp>
        <p:nvSpPr>
          <p:cNvPr id="19" name="TextBox 18"/>
          <p:cNvSpPr txBox="1"/>
          <p:nvPr/>
        </p:nvSpPr>
        <p:spPr>
          <a:xfrm>
            <a:off x="201513" y="271165"/>
            <a:ext cx="1713286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パーツ18｜timeline_matrix</a:t>
            </a:r>
          </a:p>
        </p:txBody>
      </p:sp>
      <p:sp>
        <p:nvSpPr>
          <p:cNvPr id="20" name="Title"/>
          <p:cNvSpPr txBox="1"/>
          <p:nvPr/>
        </p:nvSpPr>
        <p:spPr>
          <a:xfrm>
            <a:off x="201513" y="504974"/>
            <a:ext cx="1904440" cy="2857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9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F1F1F"/>
                </a:solidFill>
                <a:latin typeface="Yu Mincho"/>
                <a:ea typeface="Yu Mincho"/>
                <a:cs typeface="Yu Mincho"/>
              </a:rPr>
              <a:t>時系列マトリクス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3404" y="1474887"/>
            <a:ext cx="319945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段階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90502" y="1474887"/>
            <a:ext cx="654117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列見出し1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64411" y="1474887"/>
            <a:ext cx="684145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列見出し2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38320" y="1474887"/>
            <a:ext cx="686467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列見出し3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3404" y="1864072"/>
            <a:ext cx="384953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4D4D4D"/>
                </a:solidFill>
                <a:latin typeface="Yu Gothic"/>
                <a:ea typeface="Yu Gothic"/>
                <a:cs typeface="Yu Gothic"/>
              </a:rPr>
              <a:t>期間1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90502" y="1873597"/>
            <a:ext cx="161604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64411" y="1873597"/>
            <a:ext cx="161604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38320" y="1873597"/>
            <a:ext cx="161604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3404" y="2326035"/>
            <a:ext cx="414826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4D4D4D"/>
                </a:solidFill>
                <a:latin typeface="Yu Gothic"/>
                <a:ea typeface="Yu Gothic"/>
                <a:cs typeface="Yu Gothic"/>
              </a:rPr>
              <a:t>期間2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90502" y="2335560"/>
            <a:ext cx="161604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64411" y="2335560"/>
            <a:ext cx="161604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38320" y="2335560"/>
            <a:ext cx="161604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3404" y="2787997"/>
            <a:ext cx="417147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4D4D4D"/>
                </a:solidFill>
                <a:latin typeface="Yu Gothic"/>
                <a:ea typeface="Yu Gothic"/>
                <a:cs typeface="Yu Gothic"/>
              </a:rPr>
              <a:t>期間3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590502" y="2797522"/>
            <a:ext cx="161604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値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64411" y="2797522"/>
            <a:ext cx="161604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値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38320" y="2797522"/>
            <a:ext cx="161604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値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1513" y="6274296"/>
            <a:ext cx="80177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出所）Source 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842700" y="6561981"/>
            <a:ext cx="172748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44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01513" y="1326505"/>
            <a:ext cx="11788974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3047256" y="1807369"/>
            <a:ext cx="0" cy="1402258"/>
          </a:xfrm>
          <a:prstGeom prst="line">
            <a:avLst/>
          </a:prstGeom>
          <a:ln w="9525">
            <a:solidFill>
              <a:srgbClr val="BFBFBF"/>
            </a:solidFill>
            <a:prstDash val="sysDot"/>
          </a:ln>
        </p:spPr>
      </p:cxnSp>
      <p:sp>
        <p:nvSpPr>
          <p:cNvPr id="4" name="Rectangle 3"/>
          <p:cNvSpPr/>
          <p:nvPr/>
        </p:nvSpPr>
        <p:spPr>
          <a:xfrm>
            <a:off x="201513" y="1807369"/>
            <a:ext cx="503932" cy="210294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5" name="Connector 4"/>
          <p:cNvCxnSpPr/>
          <p:nvPr/>
        </p:nvCxnSpPr>
        <p:spPr>
          <a:xfrm>
            <a:off x="6096000" y="1807369"/>
            <a:ext cx="0" cy="1402258"/>
          </a:xfrm>
          <a:prstGeom prst="line">
            <a:avLst/>
          </a:prstGeom>
          <a:ln w="9525">
            <a:solidFill>
              <a:srgbClr val="BFBFBF"/>
            </a:solidFill>
            <a:prstDash val="sysDot"/>
          </a:ln>
        </p:spPr>
      </p:cxnSp>
      <p:sp>
        <p:nvSpPr>
          <p:cNvPr id="6" name="Rectangle 5"/>
          <p:cNvSpPr/>
          <p:nvPr/>
        </p:nvSpPr>
        <p:spPr>
          <a:xfrm>
            <a:off x="3250109" y="1807369"/>
            <a:ext cx="523726" cy="210294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7" name="Connector 6"/>
          <p:cNvCxnSpPr/>
          <p:nvPr/>
        </p:nvCxnSpPr>
        <p:spPr>
          <a:xfrm>
            <a:off x="9144595" y="1807369"/>
            <a:ext cx="0" cy="1402258"/>
          </a:xfrm>
          <a:prstGeom prst="line">
            <a:avLst/>
          </a:prstGeom>
          <a:ln w="9525">
            <a:solidFill>
              <a:srgbClr val="BFBFBF"/>
            </a:solidFill>
            <a:prstDash val="sysDot"/>
          </a:ln>
        </p:spPr>
      </p:cxnSp>
      <p:sp>
        <p:nvSpPr>
          <p:cNvPr id="8" name="Rectangle 7"/>
          <p:cNvSpPr/>
          <p:nvPr/>
        </p:nvSpPr>
        <p:spPr>
          <a:xfrm>
            <a:off x="6298853" y="1807369"/>
            <a:ext cx="525214" cy="210294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9347448" y="1807369"/>
            <a:ext cx="528191" cy="210294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201513" y="271165"/>
            <a:ext cx="1814203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パーツ19｜theme_card_grid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201513" y="504974"/>
            <a:ext cx="1439787" cy="2857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9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F1F1F"/>
                </a:solidFill>
                <a:latin typeface="Yu Mincho"/>
                <a:ea typeface="Yu Mincho"/>
                <a:cs typeface="Yu Mincho"/>
              </a:rPr>
              <a:t>テーマカード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513" y="1484412"/>
            <a:ext cx="1856768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24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指標名、単位、YYYY〜YYYY年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7713" y="1843534"/>
            <a:ext cx="384643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36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ラベル1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513" y="2170063"/>
            <a:ext cx="642973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39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4D4D4D"/>
                </a:solidFill>
                <a:latin typeface="Yu Gothic"/>
                <a:ea typeface="Yu Gothic"/>
                <a:cs typeface="Yu Gothic"/>
              </a:rPr>
              <a:t>タイトル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513" y="2475905"/>
            <a:ext cx="35152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88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513" y="2834432"/>
            <a:ext cx="697921" cy="3714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3.4x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26309" y="1843534"/>
            <a:ext cx="405229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36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ラベル2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50109" y="2170063"/>
            <a:ext cx="645295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39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4D4D4D"/>
                </a:solidFill>
                <a:latin typeface="Yu Gothic"/>
                <a:ea typeface="Yu Gothic"/>
                <a:cs typeface="Yu Gothic"/>
              </a:rPr>
              <a:t>タイトル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50109" y="2475905"/>
            <a:ext cx="37644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88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50109" y="2834432"/>
            <a:ext cx="955786" cy="3714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+22%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75053" y="1843534"/>
            <a:ext cx="406777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36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ラベル3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8853" y="2170063"/>
            <a:ext cx="649938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39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4D4D4D"/>
                </a:solidFill>
                <a:latin typeface="Yu Gothic"/>
                <a:ea typeface="Yu Gothic"/>
                <a:cs typeface="Yu Gothic"/>
              </a:rPr>
              <a:t>タイトル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98853" y="2475905"/>
            <a:ext cx="377523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88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98853" y="2834432"/>
            <a:ext cx="955786" cy="3714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-41%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23648" y="1843534"/>
            <a:ext cx="409873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36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ラベル4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47448" y="2170063"/>
            <a:ext cx="644366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39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4D4D4D"/>
                </a:solidFill>
                <a:latin typeface="Yu Gothic"/>
                <a:ea typeface="Yu Gothic"/>
                <a:cs typeface="Yu Gothic"/>
              </a:rPr>
              <a:t>タイトル 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47448" y="2475905"/>
            <a:ext cx="38092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88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47448" y="2834432"/>
            <a:ext cx="750856" cy="3714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92%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1513" y="6274296"/>
            <a:ext cx="80177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出所）Source 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47165" y="6561981"/>
            <a:ext cx="16810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45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01513" y="1326505"/>
            <a:ext cx="11788974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201513" y="1493937"/>
            <a:ext cx="3777258" cy="0"/>
          </a:xfrm>
          <a:prstGeom prst="line">
            <a:avLst/>
          </a:prstGeom>
          <a:ln w="19050">
            <a:solidFill>
              <a:srgbClr val="4D4D4D"/>
            </a:solidFill>
          </a:ln>
        </p:spPr>
      </p:cxnSp>
      <p:sp>
        <p:nvSpPr>
          <p:cNvPr id="4" name="Oval 3"/>
          <p:cNvSpPr/>
          <p:nvPr/>
        </p:nvSpPr>
        <p:spPr>
          <a:xfrm>
            <a:off x="201513" y="1625352"/>
            <a:ext cx="304800" cy="304800"/>
          </a:xfrm>
          <a:prstGeom prst="ellipse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5" name="Connector 4"/>
          <p:cNvCxnSpPr/>
          <p:nvPr/>
        </p:nvCxnSpPr>
        <p:spPr>
          <a:xfrm>
            <a:off x="4207371" y="1493937"/>
            <a:ext cx="3777258" cy="0"/>
          </a:xfrm>
          <a:prstGeom prst="line">
            <a:avLst/>
          </a:prstGeom>
          <a:ln w="19050">
            <a:solidFill>
              <a:srgbClr val="4D4D4D"/>
            </a:solidFill>
          </a:ln>
        </p:spPr>
      </p:cxnSp>
      <p:sp>
        <p:nvSpPr>
          <p:cNvPr id="6" name="Oval 5"/>
          <p:cNvSpPr/>
          <p:nvPr/>
        </p:nvSpPr>
        <p:spPr>
          <a:xfrm>
            <a:off x="4207371" y="1625352"/>
            <a:ext cx="304800" cy="304800"/>
          </a:xfrm>
          <a:prstGeom prst="ellipse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7" name="Connector 6"/>
          <p:cNvCxnSpPr/>
          <p:nvPr/>
        </p:nvCxnSpPr>
        <p:spPr>
          <a:xfrm>
            <a:off x="8213229" y="1493937"/>
            <a:ext cx="3777258" cy="0"/>
          </a:xfrm>
          <a:prstGeom prst="line">
            <a:avLst/>
          </a:prstGeom>
          <a:ln w="19050">
            <a:solidFill>
              <a:srgbClr val="4D4D4D"/>
            </a:solidFill>
          </a:ln>
        </p:spPr>
      </p:cxnSp>
      <p:sp>
        <p:nvSpPr>
          <p:cNvPr id="8" name="Oval 7"/>
          <p:cNvSpPr/>
          <p:nvPr/>
        </p:nvSpPr>
        <p:spPr>
          <a:xfrm>
            <a:off x="8213229" y="1625352"/>
            <a:ext cx="304800" cy="304800"/>
          </a:xfrm>
          <a:prstGeom prst="ellipse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201513" y="271165"/>
            <a:ext cx="2357176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パーツ20｜recommendation_pillars</a:t>
            </a:r>
          </a:p>
        </p:txBody>
      </p:sp>
      <p:sp>
        <p:nvSpPr>
          <p:cNvPr id="10" name="Title"/>
          <p:cNvSpPr txBox="1"/>
          <p:nvPr/>
        </p:nvSpPr>
        <p:spPr>
          <a:xfrm>
            <a:off x="201513" y="504974"/>
            <a:ext cx="1078063" cy="2857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9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F1F1F"/>
                </a:solidFill>
                <a:latin typeface="Yu Mincho"/>
                <a:ea typeface="Yu Mincho"/>
                <a:cs typeface="Yu Mincho"/>
              </a:rPr>
              <a:t>提言の柱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1022" y="1682502"/>
            <a:ext cx="87463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513" y="2027188"/>
            <a:ext cx="676251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タイトル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513" y="2280345"/>
            <a:ext cx="36251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48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913" y="2530078"/>
            <a:ext cx="388203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marL="121920" indent="-121920">
              <a:lnSpc>
                <a:spcPts val="1248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9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3913" y="2749302"/>
            <a:ext cx="389132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marL="121920" indent="-121920">
              <a:lnSpc>
                <a:spcPts val="1248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9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11700" y="1682502"/>
            <a:ext cx="118884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7371" y="2027188"/>
            <a:ext cx="678728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タイトル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7371" y="2280345"/>
            <a:ext cx="392847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48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59771" y="2530078"/>
            <a:ext cx="388048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marL="121920" indent="-121920">
              <a:lnSpc>
                <a:spcPts val="1248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9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59771" y="2749302"/>
            <a:ext cx="389442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marL="121920" indent="-121920">
              <a:lnSpc>
                <a:spcPts val="1248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9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16367" y="1682502"/>
            <a:ext cx="121360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13229" y="2027188"/>
            <a:ext cx="683681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タイトル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13229" y="2280345"/>
            <a:ext cx="382631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48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5629" y="2530078"/>
            <a:ext cx="389287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marL="121920" indent="-121920">
              <a:lnSpc>
                <a:spcPts val="1248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9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5629" y="2749302"/>
            <a:ext cx="389442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marL="121920" indent="-121920">
              <a:lnSpc>
                <a:spcPts val="1248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9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1513" y="6274296"/>
            <a:ext cx="80177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出所）Source 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45677" y="6561981"/>
            <a:ext cx="169652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46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01513" y="1326505"/>
            <a:ext cx="11788974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sp>
        <p:nvSpPr>
          <p:cNvPr id="3" name="Rectangle 2"/>
          <p:cNvSpPr/>
          <p:nvPr/>
        </p:nvSpPr>
        <p:spPr>
          <a:xfrm>
            <a:off x="201513" y="2306389"/>
            <a:ext cx="2113955" cy="759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620268" y="2306389"/>
            <a:ext cx="2113955" cy="759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039023" y="2306389"/>
            <a:ext cx="2113955" cy="759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7457777" y="2306389"/>
            <a:ext cx="2113955" cy="759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9876532" y="2306389"/>
            <a:ext cx="2113955" cy="759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201513" y="271165"/>
            <a:ext cx="2246197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パーツ21｜numbered_imperatives</a:t>
            </a:r>
          </a:p>
        </p:txBody>
      </p:sp>
      <p:sp>
        <p:nvSpPr>
          <p:cNvPr id="9" name="Title"/>
          <p:cNvSpPr txBox="1"/>
          <p:nvPr/>
        </p:nvSpPr>
        <p:spPr>
          <a:xfrm>
            <a:off x="201513" y="504974"/>
            <a:ext cx="1788354" cy="2857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9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F1F1F"/>
                </a:solidFill>
                <a:latin typeface="Yu Mincho"/>
                <a:ea typeface="Yu Mincho"/>
                <a:cs typeface="Yu Mincho"/>
              </a:rPr>
              <a:t>番号つき打ち手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513" y="1484412"/>
            <a:ext cx="1856768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24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指標名、単位、YYYY〜YYYY年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513" y="1788319"/>
            <a:ext cx="254782" cy="4286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091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4D4D4D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513" y="2435870"/>
            <a:ext cx="709065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38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タイトル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513" y="2754213"/>
            <a:ext cx="36251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36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Text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0268" y="1788319"/>
            <a:ext cx="254782" cy="4286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091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4D4D4D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20268" y="2435870"/>
            <a:ext cx="711696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38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タイトル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20268" y="2754213"/>
            <a:ext cx="388203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36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Text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39023" y="1788319"/>
            <a:ext cx="254782" cy="4286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091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4D4D4D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39023" y="2435870"/>
            <a:ext cx="716804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38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タイトル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39023" y="2754213"/>
            <a:ext cx="389132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36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Text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57777" y="1788319"/>
            <a:ext cx="254782" cy="4286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091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4D4D4D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57777" y="2435870"/>
            <a:ext cx="710613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38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タイトル 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57777" y="2754213"/>
            <a:ext cx="392847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36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Text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6532" y="1788319"/>
            <a:ext cx="254782" cy="4286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091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4D4D4D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6532" y="2435870"/>
            <a:ext cx="712315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38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タイトル 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76532" y="2754213"/>
            <a:ext cx="388048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36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Text 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1513" y="6274296"/>
            <a:ext cx="80177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出所）Source 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51928" y="6561981"/>
            <a:ext cx="163151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47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01513" y="1326505"/>
            <a:ext cx="11788974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201513" y="1746349"/>
            <a:ext cx="3757017" cy="0"/>
          </a:xfrm>
          <a:prstGeom prst="line">
            <a:avLst/>
          </a:prstGeom>
          <a:ln w="9525">
            <a:solidFill>
              <a:srgbClr val="1F1F1F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201513" y="3554016"/>
            <a:ext cx="3757017" cy="0"/>
          </a:xfrm>
          <a:prstGeom prst="line">
            <a:avLst/>
          </a:prstGeom>
          <a:ln w="9525">
            <a:solidFill>
              <a:srgbClr val="8A8F94"/>
            </a:solidFill>
            <a:prstDash val="sysDot"/>
          </a:ln>
        </p:spPr>
      </p:cxnSp>
      <p:cxnSp>
        <p:nvCxnSpPr>
          <p:cNvPr id="5" name="Connector 4"/>
          <p:cNvCxnSpPr/>
          <p:nvPr/>
        </p:nvCxnSpPr>
        <p:spPr>
          <a:xfrm>
            <a:off x="4217491" y="1746349"/>
            <a:ext cx="3757018" cy="0"/>
          </a:xfrm>
          <a:prstGeom prst="line">
            <a:avLst/>
          </a:prstGeom>
          <a:ln w="9525">
            <a:solidFill>
              <a:srgbClr val="1F1F1F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217491" y="3554016"/>
            <a:ext cx="3757018" cy="0"/>
          </a:xfrm>
          <a:prstGeom prst="line">
            <a:avLst/>
          </a:prstGeom>
          <a:ln w="9525">
            <a:solidFill>
              <a:srgbClr val="8A8F94"/>
            </a:solidFill>
            <a:prstDash val="sysDot"/>
          </a:ln>
        </p:spPr>
      </p:cxnSp>
      <p:cxnSp>
        <p:nvCxnSpPr>
          <p:cNvPr id="7" name="Connector 6"/>
          <p:cNvCxnSpPr/>
          <p:nvPr/>
        </p:nvCxnSpPr>
        <p:spPr>
          <a:xfrm>
            <a:off x="8233470" y="1746349"/>
            <a:ext cx="3757017" cy="0"/>
          </a:xfrm>
          <a:prstGeom prst="line">
            <a:avLst/>
          </a:prstGeom>
          <a:ln w="9525">
            <a:solidFill>
              <a:srgbClr val="1F1F1F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8233470" y="3554016"/>
            <a:ext cx="3757017" cy="0"/>
          </a:xfrm>
          <a:prstGeom prst="line">
            <a:avLst/>
          </a:prstGeom>
          <a:ln w="9525">
            <a:solidFill>
              <a:srgbClr val="8A8F94"/>
            </a:solidFill>
            <a:prstDash val="sysDot"/>
          </a:ln>
        </p:spPr>
      </p:cxnSp>
      <p:sp>
        <p:nvSpPr>
          <p:cNvPr id="9" name="TextBox 8"/>
          <p:cNvSpPr txBox="1"/>
          <p:nvPr/>
        </p:nvSpPr>
        <p:spPr>
          <a:xfrm>
            <a:off x="201513" y="271165"/>
            <a:ext cx="890778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パーツ22｜scr</a:t>
            </a:r>
          </a:p>
        </p:txBody>
      </p:sp>
      <p:sp>
        <p:nvSpPr>
          <p:cNvPr id="10" name="Title"/>
          <p:cNvSpPr txBox="1"/>
          <p:nvPr/>
        </p:nvSpPr>
        <p:spPr>
          <a:xfrm>
            <a:off x="201513" y="504974"/>
            <a:ext cx="3779306" cy="2857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9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F1F1F"/>
                </a:solidFill>
                <a:latin typeface="Yu Mincho"/>
                <a:ea typeface="Yu Mincho"/>
                <a:cs typeface="Yu Mincho"/>
              </a:rPr>
              <a:t>これまで・課題・対策（流れの3段）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513" y="1474887"/>
            <a:ext cx="632603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これまで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513" y="1878657"/>
            <a:ext cx="550104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513" y="2589163"/>
            <a:ext cx="480608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08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513" y="3657749"/>
            <a:ext cx="1422761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04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注）前提や注記を記載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17491" y="1474887"/>
            <a:ext cx="367617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課題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17491" y="1878657"/>
            <a:ext cx="590812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17491" y="2589163"/>
            <a:ext cx="486335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08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17491" y="3657749"/>
            <a:ext cx="1422761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04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注）前提や注記を記載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3470" y="1474887"/>
            <a:ext cx="367617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対策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33470" y="1878657"/>
            <a:ext cx="589574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33470" y="2589163"/>
            <a:ext cx="482156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08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3470" y="3657749"/>
            <a:ext cx="1422761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04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注）前提や注記を記載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513" y="6274296"/>
            <a:ext cx="80177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出所）Source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45826" y="6561981"/>
            <a:ext cx="169497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48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01513" y="1326505"/>
            <a:ext cx="11788974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201513" y="1777305"/>
            <a:ext cx="5574507" cy="0"/>
          </a:xfrm>
          <a:prstGeom prst="line">
            <a:avLst/>
          </a:prstGeom>
          <a:ln w="9525">
            <a:solidFill>
              <a:srgbClr val="1F1F1F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6415980" y="1777305"/>
            <a:ext cx="5574507" cy="0"/>
          </a:xfrm>
          <a:prstGeom prst="line">
            <a:avLst/>
          </a:prstGeom>
          <a:ln w="9525">
            <a:solidFill>
              <a:srgbClr val="1F1F1F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201513" y="2428131"/>
            <a:ext cx="5574507" cy="0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</p:cxnSp>
      <p:cxnSp>
        <p:nvCxnSpPr>
          <p:cNvPr id="6" name="Connector 5"/>
          <p:cNvCxnSpPr/>
          <p:nvPr/>
        </p:nvCxnSpPr>
        <p:spPr>
          <a:xfrm>
            <a:off x="5776020" y="2428131"/>
            <a:ext cx="639960" cy="0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</p:cxnSp>
      <p:cxnSp>
        <p:nvCxnSpPr>
          <p:cNvPr id="7" name="Connector 6"/>
          <p:cNvCxnSpPr/>
          <p:nvPr/>
        </p:nvCxnSpPr>
        <p:spPr>
          <a:xfrm>
            <a:off x="6415980" y="2428131"/>
            <a:ext cx="5574507" cy="0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</p:cxnSp>
      <p:cxnSp>
        <p:nvCxnSpPr>
          <p:cNvPr id="8" name="Connector 7"/>
          <p:cNvCxnSpPr/>
          <p:nvPr/>
        </p:nvCxnSpPr>
        <p:spPr>
          <a:xfrm>
            <a:off x="201513" y="3078956"/>
            <a:ext cx="5574507" cy="0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</p:cxnSp>
      <p:cxnSp>
        <p:nvCxnSpPr>
          <p:cNvPr id="9" name="Connector 8"/>
          <p:cNvCxnSpPr/>
          <p:nvPr/>
        </p:nvCxnSpPr>
        <p:spPr>
          <a:xfrm>
            <a:off x="5776020" y="3078956"/>
            <a:ext cx="639960" cy="0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</p:cxnSp>
      <p:cxnSp>
        <p:nvCxnSpPr>
          <p:cNvPr id="10" name="Connector 9"/>
          <p:cNvCxnSpPr/>
          <p:nvPr/>
        </p:nvCxnSpPr>
        <p:spPr>
          <a:xfrm>
            <a:off x="6415980" y="3078956"/>
            <a:ext cx="5574507" cy="0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</p:cxnSp>
      <p:cxnSp>
        <p:nvCxnSpPr>
          <p:cNvPr id="11" name="Connector 10"/>
          <p:cNvCxnSpPr/>
          <p:nvPr/>
        </p:nvCxnSpPr>
        <p:spPr>
          <a:xfrm>
            <a:off x="201513" y="3729782"/>
            <a:ext cx="5574507" cy="0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</p:cxnSp>
      <p:cxnSp>
        <p:nvCxnSpPr>
          <p:cNvPr id="12" name="Connector 11"/>
          <p:cNvCxnSpPr/>
          <p:nvPr/>
        </p:nvCxnSpPr>
        <p:spPr>
          <a:xfrm>
            <a:off x="5776020" y="3729782"/>
            <a:ext cx="639960" cy="0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</p:cxnSp>
      <p:cxnSp>
        <p:nvCxnSpPr>
          <p:cNvPr id="13" name="Connector 12"/>
          <p:cNvCxnSpPr/>
          <p:nvPr/>
        </p:nvCxnSpPr>
        <p:spPr>
          <a:xfrm>
            <a:off x="6415980" y="3729782"/>
            <a:ext cx="5574507" cy="0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</p:cxnSp>
      <p:sp>
        <p:nvSpPr>
          <p:cNvPr id="14" name="TextBox 13"/>
          <p:cNvSpPr txBox="1"/>
          <p:nvPr/>
        </p:nvSpPr>
        <p:spPr>
          <a:xfrm>
            <a:off x="201513" y="271165"/>
            <a:ext cx="2251770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パーツ23｜issue_to_solution_map</a:t>
            </a:r>
          </a:p>
        </p:txBody>
      </p:sp>
      <p:sp>
        <p:nvSpPr>
          <p:cNvPr id="15" name="Title"/>
          <p:cNvSpPr txBox="1"/>
          <p:nvPr/>
        </p:nvSpPr>
        <p:spPr>
          <a:xfrm>
            <a:off x="201513" y="504974"/>
            <a:ext cx="2324362" cy="2857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9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F1F1F"/>
                </a:solidFill>
                <a:latin typeface="Yu Mincho"/>
                <a:ea typeface="Yu Mincho"/>
                <a:cs typeface="Yu Mincho"/>
              </a:rPr>
              <a:t>課題と打ち手の対応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513" y="1474887"/>
            <a:ext cx="402598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69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課題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561" y="1474887"/>
            <a:ext cx="569607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69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打ち手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513" y="1903958"/>
            <a:ext cx="431232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7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561" y="1903958"/>
            <a:ext cx="474416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7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561" y="2139702"/>
            <a:ext cx="412194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Text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513" y="2554784"/>
            <a:ext cx="467606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7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561" y="2554784"/>
            <a:ext cx="475809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7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561" y="2790527"/>
            <a:ext cx="412504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Text 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513" y="3205609"/>
            <a:ext cx="455378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7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561" y="3205609"/>
            <a:ext cx="477512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7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561" y="3441353"/>
            <a:ext cx="412504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Text 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05215" y="2594297"/>
            <a:ext cx="207883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62626"/>
                </a:solidFill>
                <a:latin typeface="Yu Gothic"/>
                <a:ea typeface="Yu Gothic"/>
                <a:cs typeface="Yu Gothic"/>
              </a:rPr>
              <a:t>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1513" y="6274296"/>
            <a:ext cx="80177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出所）Source 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845677" y="6561981"/>
            <a:ext cx="169652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49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01513" y="1326505"/>
            <a:ext cx="11788974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201513" y="1744563"/>
            <a:ext cx="3494633" cy="0"/>
          </a:xfrm>
          <a:prstGeom prst="line">
            <a:avLst/>
          </a:prstGeom>
          <a:ln w="9525">
            <a:solidFill>
              <a:srgbClr val="1F1F1F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4249489" y="1744563"/>
            <a:ext cx="3494782" cy="0"/>
          </a:xfrm>
          <a:prstGeom prst="line">
            <a:avLst/>
          </a:prstGeom>
          <a:ln w="9525">
            <a:solidFill>
              <a:srgbClr val="1F1F1F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8297614" y="1744563"/>
            <a:ext cx="3494782" cy="0"/>
          </a:xfrm>
          <a:prstGeom prst="line">
            <a:avLst/>
          </a:prstGeom>
          <a:ln w="9525">
            <a:solidFill>
              <a:srgbClr val="1F1F1F"/>
            </a:solidFill>
          </a:ln>
        </p:spPr>
      </p:cxnSp>
      <p:sp>
        <p:nvSpPr>
          <p:cNvPr id="6" name="TextBox 5"/>
          <p:cNvSpPr txBox="1"/>
          <p:nvPr/>
        </p:nvSpPr>
        <p:spPr>
          <a:xfrm>
            <a:off x="201513" y="271165"/>
            <a:ext cx="2163235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パーツ24｜issue_cause_solution</a:t>
            </a:r>
          </a:p>
        </p:txBody>
      </p:sp>
      <p:sp>
        <p:nvSpPr>
          <p:cNvPr id="7" name="Title"/>
          <p:cNvSpPr txBox="1"/>
          <p:nvPr/>
        </p:nvSpPr>
        <p:spPr>
          <a:xfrm>
            <a:off x="201513" y="504974"/>
            <a:ext cx="2152710" cy="2857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9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F1F1F"/>
                </a:solidFill>
                <a:latin typeface="Yu Mincho"/>
                <a:ea typeface="Yu Mincho"/>
                <a:cs typeface="Yu Mincho"/>
              </a:rPr>
              <a:t>課題→原因→解決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513" y="1474887"/>
            <a:ext cx="556760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11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513" y="1871216"/>
            <a:ext cx="483858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12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513" y="2164110"/>
            <a:ext cx="434173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7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94237" y="1768525"/>
            <a:ext cx="245959" cy="2762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4D4D4D"/>
                </a:solidFill>
                <a:latin typeface="Yu Gothic"/>
                <a:ea typeface="Yu Gothic"/>
                <a:cs typeface="Yu Gothic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49489" y="1474887"/>
            <a:ext cx="589883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11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49489" y="1871216"/>
            <a:ext cx="519613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12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49489" y="2164110"/>
            <a:ext cx="439281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7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42362" y="1768525"/>
            <a:ext cx="245959" cy="2762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4D4D4D"/>
                </a:solidFill>
                <a:latin typeface="Yu Gothic"/>
                <a:ea typeface="Yu Gothic"/>
                <a:cs typeface="Yu Gothic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7614" y="1474887"/>
            <a:ext cx="592515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11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97614" y="1871216"/>
            <a:ext cx="518529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12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7614" y="2164110"/>
            <a:ext cx="435566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7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513" y="6274296"/>
            <a:ext cx="80177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出所）Source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48802" y="6561981"/>
            <a:ext cx="166402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50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01513" y="1326505"/>
            <a:ext cx="11788974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sp>
        <p:nvSpPr>
          <p:cNvPr id="3" name="Rectangle 2"/>
          <p:cNvSpPr/>
          <p:nvPr/>
        </p:nvSpPr>
        <p:spPr>
          <a:xfrm>
            <a:off x="201513" y="2509242"/>
            <a:ext cx="1676400" cy="34662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4" name="Connector 3"/>
          <p:cNvCxnSpPr/>
          <p:nvPr/>
        </p:nvCxnSpPr>
        <p:spPr>
          <a:xfrm>
            <a:off x="201513" y="2514005"/>
            <a:ext cx="1676400" cy="0"/>
          </a:xfrm>
          <a:prstGeom prst="line">
            <a:avLst/>
          </a:prstGeom>
          <a:ln w="9525">
            <a:solidFill>
              <a:srgbClr val="E0E0E0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1873151" y="2509242"/>
            <a:ext cx="0" cy="346621"/>
          </a:xfrm>
          <a:prstGeom prst="line">
            <a:avLst/>
          </a:prstGeom>
          <a:ln w="9525">
            <a:solidFill>
              <a:srgbClr val="E0E0E0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201513" y="2851100"/>
            <a:ext cx="1676400" cy="0"/>
          </a:xfrm>
          <a:prstGeom prst="line">
            <a:avLst/>
          </a:prstGeom>
          <a:ln w="9525">
            <a:solidFill>
              <a:srgbClr val="E0E0E0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211038" y="2509242"/>
            <a:ext cx="0" cy="346621"/>
          </a:xfrm>
          <a:prstGeom prst="line">
            <a:avLst/>
          </a:prstGeom>
          <a:ln w="19050">
            <a:solidFill>
              <a:srgbClr val="1F1F1F"/>
            </a:solidFill>
          </a:ln>
        </p:spPr>
      </p:cxnSp>
      <p:sp>
        <p:nvSpPr>
          <p:cNvPr id="8" name="Rectangle 7"/>
          <p:cNvSpPr/>
          <p:nvPr/>
        </p:nvSpPr>
        <p:spPr>
          <a:xfrm>
            <a:off x="2152204" y="1685032"/>
            <a:ext cx="2286000" cy="34662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9" name="Connector 8"/>
          <p:cNvCxnSpPr/>
          <p:nvPr/>
        </p:nvCxnSpPr>
        <p:spPr>
          <a:xfrm>
            <a:off x="2152204" y="1689795"/>
            <a:ext cx="2286000" cy="0"/>
          </a:xfrm>
          <a:prstGeom prst="line">
            <a:avLst/>
          </a:prstGeom>
          <a:ln w="9525">
            <a:solidFill>
              <a:srgbClr val="E0E0E0"/>
            </a:solidFill>
          </a:ln>
        </p:spPr>
      </p:cxnSp>
      <p:cxnSp>
        <p:nvCxnSpPr>
          <p:cNvPr id="10" name="Connector 9"/>
          <p:cNvCxnSpPr/>
          <p:nvPr/>
        </p:nvCxnSpPr>
        <p:spPr>
          <a:xfrm>
            <a:off x="4433441" y="1685032"/>
            <a:ext cx="0" cy="346621"/>
          </a:xfrm>
          <a:prstGeom prst="line">
            <a:avLst/>
          </a:prstGeom>
          <a:ln w="9525">
            <a:solidFill>
              <a:srgbClr val="E0E0E0"/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2152204" y="2026890"/>
            <a:ext cx="2286000" cy="0"/>
          </a:xfrm>
          <a:prstGeom prst="line">
            <a:avLst/>
          </a:prstGeom>
          <a:ln w="9525">
            <a:solidFill>
              <a:srgbClr val="E0E0E0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2161729" y="1685032"/>
            <a:ext cx="0" cy="346621"/>
          </a:xfrm>
          <a:prstGeom prst="line">
            <a:avLst/>
          </a:prstGeom>
          <a:ln w="19050">
            <a:solidFill>
              <a:srgbClr val="4D4D4D"/>
            </a:solidFill>
          </a:ln>
        </p:spPr>
      </p:cxnSp>
      <p:sp>
        <p:nvSpPr>
          <p:cNvPr id="13" name="Rectangle 12"/>
          <p:cNvSpPr/>
          <p:nvPr/>
        </p:nvSpPr>
        <p:spPr>
          <a:xfrm>
            <a:off x="4712494" y="1484412"/>
            <a:ext cx="7277993" cy="33590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14" name="Connector 13"/>
          <p:cNvCxnSpPr/>
          <p:nvPr/>
        </p:nvCxnSpPr>
        <p:spPr>
          <a:xfrm>
            <a:off x="4712494" y="1489174"/>
            <a:ext cx="7277993" cy="0"/>
          </a:xfrm>
          <a:prstGeom prst="line">
            <a:avLst/>
          </a:prstGeom>
          <a:ln w="9525">
            <a:solidFill>
              <a:srgbClr val="E0E0E0"/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11985724" y="1484412"/>
            <a:ext cx="0" cy="335905"/>
          </a:xfrm>
          <a:prstGeom prst="line">
            <a:avLst/>
          </a:prstGeom>
          <a:ln w="9525">
            <a:solidFill>
              <a:srgbClr val="E0E0E0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4712494" y="1815554"/>
            <a:ext cx="7277993" cy="0"/>
          </a:xfrm>
          <a:prstGeom prst="line">
            <a:avLst/>
          </a:prstGeom>
          <a:ln w="9525">
            <a:solidFill>
              <a:srgbClr val="E0E0E0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4722019" y="1484412"/>
            <a:ext cx="0" cy="335905"/>
          </a:xfrm>
          <a:prstGeom prst="line">
            <a:avLst/>
          </a:prstGeom>
          <a:ln w="19050">
            <a:solidFill>
              <a:srgbClr val="A6A6A6"/>
            </a:solidFill>
          </a:ln>
        </p:spPr>
      </p:cxnSp>
      <p:sp>
        <p:nvSpPr>
          <p:cNvPr id="18" name="Rectangle 17"/>
          <p:cNvSpPr/>
          <p:nvPr/>
        </p:nvSpPr>
        <p:spPr>
          <a:xfrm>
            <a:off x="4712494" y="1896517"/>
            <a:ext cx="7277993" cy="33590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19" name="Connector 18"/>
          <p:cNvCxnSpPr/>
          <p:nvPr/>
        </p:nvCxnSpPr>
        <p:spPr>
          <a:xfrm>
            <a:off x="4712494" y="1901279"/>
            <a:ext cx="7277993" cy="0"/>
          </a:xfrm>
          <a:prstGeom prst="line">
            <a:avLst/>
          </a:prstGeom>
          <a:ln w="9525">
            <a:solidFill>
              <a:srgbClr val="E0E0E0"/>
            </a:solidFill>
          </a:ln>
        </p:spPr>
      </p:cxnSp>
      <p:cxnSp>
        <p:nvCxnSpPr>
          <p:cNvPr id="20" name="Connector 19"/>
          <p:cNvCxnSpPr/>
          <p:nvPr/>
        </p:nvCxnSpPr>
        <p:spPr>
          <a:xfrm>
            <a:off x="11985724" y="1896517"/>
            <a:ext cx="0" cy="335905"/>
          </a:xfrm>
          <a:prstGeom prst="line">
            <a:avLst/>
          </a:prstGeom>
          <a:ln w="9525">
            <a:solidFill>
              <a:srgbClr val="E0E0E0"/>
            </a:solidFill>
          </a:ln>
        </p:spPr>
      </p:cxnSp>
      <p:cxnSp>
        <p:nvCxnSpPr>
          <p:cNvPr id="21" name="Connector 20"/>
          <p:cNvCxnSpPr/>
          <p:nvPr/>
        </p:nvCxnSpPr>
        <p:spPr>
          <a:xfrm>
            <a:off x="4712494" y="2227659"/>
            <a:ext cx="7277993" cy="0"/>
          </a:xfrm>
          <a:prstGeom prst="line">
            <a:avLst/>
          </a:prstGeom>
          <a:ln w="9525">
            <a:solidFill>
              <a:srgbClr val="E0E0E0"/>
            </a:solidFill>
          </a:ln>
        </p:spPr>
      </p:cxnSp>
      <p:cxnSp>
        <p:nvCxnSpPr>
          <p:cNvPr id="22" name="Connector 21"/>
          <p:cNvCxnSpPr/>
          <p:nvPr/>
        </p:nvCxnSpPr>
        <p:spPr>
          <a:xfrm>
            <a:off x="4722019" y="1896517"/>
            <a:ext cx="0" cy="335905"/>
          </a:xfrm>
          <a:prstGeom prst="line">
            <a:avLst/>
          </a:prstGeom>
          <a:ln w="19050">
            <a:solidFill>
              <a:srgbClr val="A6A6A6"/>
            </a:solidFill>
          </a:ln>
        </p:spPr>
      </p:cxnSp>
      <p:sp>
        <p:nvSpPr>
          <p:cNvPr id="23" name="Rectangle 22"/>
          <p:cNvSpPr/>
          <p:nvPr/>
        </p:nvSpPr>
        <p:spPr>
          <a:xfrm>
            <a:off x="2152204" y="2509242"/>
            <a:ext cx="2286000" cy="34662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24" name="Connector 23"/>
          <p:cNvCxnSpPr/>
          <p:nvPr/>
        </p:nvCxnSpPr>
        <p:spPr>
          <a:xfrm>
            <a:off x="2152204" y="2514005"/>
            <a:ext cx="2286000" cy="0"/>
          </a:xfrm>
          <a:prstGeom prst="line">
            <a:avLst/>
          </a:prstGeom>
          <a:ln w="9525">
            <a:solidFill>
              <a:srgbClr val="E0E0E0"/>
            </a:solidFill>
          </a:ln>
        </p:spPr>
      </p:cxnSp>
      <p:cxnSp>
        <p:nvCxnSpPr>
          <p:cNvPr id="25" name="Connector 24"/>
          <p:cNvCxnSpPr/>
          <p:nvPr/>
        </p:nvCxnSpPr>
        <p:spPr>
          <a:xfrm>
            <a:off x="4433441" y="2509242"/>
            <a:ext cx="0" cy="346621"/>
          </a:xfrm>
          <a:prstGeom prst="line">
            <a:avLst/>
          </a:prstGeom>
          <a:ln w="9525">
            <a:solidFill>
              <a:srgbClr val="E0E0E0"/>
            </a:solidFill>
          </a:ln>
        </p:spPr>
      </p:cxnSp>
      <p:cxnSp>
        <p:nvCxnSpPr>
          <p:cNvPr id="26" name="Connector 25"/>
          <p:cNvCxnSpPr/>
          <p:nvPr/>
        </p:nvCxnSpPr>
        <p:spPr>
          <a:xfrm>
            <a:off x="2152204" y="2851100"/>
            <a:ext cx="2286000" cy="0"/>
          </a:xfrm>
          <a:prstGeom prst="line">
            <a:avLst/>
          </a:prstGeom>
          <a:ln w="9525">
            <a:solidFill>
              <a:srgbClr val="E0E0E0"/>
            </a:solidFill>
          </a:ln>
        </p:spPr>
      </p:cxnSp>
      <p:cxnSp>
        <p:nvCxnSpPr>
          <p:cNvPr id="27" name="Connector 26"/>
          <p:cNvCxnSpPr/>
          <p:nvPr/>
        </p:nvCxnSpPr>
        <p:spPr>
          <a:xfrm>
            <a:off x="2161729" y="2509242"/>
            <a:ext cx="0" cy="346621"/>
          </a:xfrm>
          <a:prstGeom prst="line">
            <a:avLst/>
          </a:prstGeom>
          <a:ln w="19050">
            <a:solidFill>
              <a:srgbClr val="4D4D4D"/>
            </a:solidFill>
          </a:ln>
        </p:spPr>
      </p:cxnSp>
      <p:sp>
        <p:nvSpPr>
          <p:cNvPr id="28" name="Rectangle 27"/>
          <p:cNvSpPr/>
          <p:nvPr/>
        </p:nvSpPr>
        <p:spPr>
          <a:xfrm>
            <a:off x="4712494" y="2308622"/>
            <a:ext cx="7277993" cy="33590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29" name="Connector 28"/>
          <p:cNvCxnSpPr/>
          <p:nvPr/>
        </p:nvCxnSpPr>
        <p:spPr>
          <a:xfrm>
            <a:off x="4712494" y="2313384"/>
            <a:ext cx="7277993" cy="0"/>
          </a:xfrm>
          <a:prstGeom prst="line">
            <a:avLst/>
          </a:prstGeom>
          <a:ln w="9525">
            <a:solidFill>
              <a:srgbClr val="E0E0E0"/>
            </a:solidFill>
          </a:ln>
        </p:spPr>
      </p:cxnSp>
      <p:cxnSp>
        <p:nvCxnSpPr>
          <p:cNvPr id="30" name="Connector 29"/>
          <p:cNvCxnSpPr/>
          <p:nvPr/>
        </p:nvCxnSpPr>
        <p:spPr>
          <a:xfrm>
            <a:off x="11985724" y="2308622"/>
            <a:ext cx="0" cy="335905"/>
          </a:xfrm>
          <a:prstGeom prst="line">
            <a:avLst/>
          </a:prstGeom>
          <a:ln w="9525">
            <a:solidFill>
              <a:srgbClr val="E0E0E0"/>
            </a:solidFill>
          </a:ln>
        </p:spPr>
      </p:cxnSp>
      <p:cxnSp>
        <p:nvCxnSpPr>
          <p:cNvPr id="31" name="Connector 30"/>
          <p:cNvCxnSpPr/>
          <p:nvPr/>
        </p:nvCxnSpPr>
        <p:spPr>
          <a:xfrm>
            <a:off x="4712494" y="2639764"/>
            <a:ext cx="7277993" cy="0"/>
          </a:xfrm>
          <a:prstGeom prst="line">
            <a:avLst/>
          </a:prstGeom>
          <a:ln w="9525">
            <a:solidFill>
              <a:srgbClr val="E0E0E0"/>
            </a:solidFill>
          </a:ln>
        </p:spPr>
      </p:cxnSp>
      <p:cxnSp>
        <p:nvCxnSpPr>
          <p:cNvPr id="32" name="Connector 31"/>
          <p:cNvCxnSpPr/>
          <p:nvPr/>
        </p:nvCxnSpPr>
        <p:spPr>
          <a:xfrm>
            <a:off x="4722019" y="2308622"/>
            <a:ext cx="0" cy="335905"/>
          </a:xfrm>
          <a:prstGeom prst="line">
            <a:avLst/>
          </a:prstGeom>
          <a:ln w="19050">
            <a:solidFill>
              <a:srgbClr val="A6A6A6"/>
            </a:solidFill>
          </a:ln>
        </p:spPr>
      </p:cxnSp>
      <p:sp>
        <p:nvSpPr>
          <p:cNvPr id="33" name="Rectangle 32"/>
          <p:cNvSpPr/>
          <p:nvPr/>
        </p:nvSpPr>
        <p:spPr>
          <a:xfrm>
            <a:off x="4712494" y="2720727"/>
            <a:ext cx="7277993" cy="33590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34" name="Connector 33"/>
          <p:cNvCxnSpPr/>
          <p:nvPr/>
        </p:nvCxnSpPr>
        <p:spPr>
          <a:xfrm>
            <a:off x="4712494" y="2725489"/>
            <a:ext cx="7277993" cy="0"/>
          </a:xfrm>
          <a:prstGeom prst="line">
            <a:avLst/>
          </a:prstGeom>
          <a:ln w="9525">
            <a:solidFill>
              <a:srgbClr val="E0E0E0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11985724" y="2720727"/>
            <a:ext cx="0" cy="335905"/>
          </a:xfrm>
          <a:prstGeom prst="line">
            <a:avLst/>
          </a:prstGeom>
          <a:ln w="9525">
            <a:solidFill>
              <a:srgbClr val="E0E0E0"/>
            </a:solidFill>
          </a:ln>
        </p:spPr>
      </p:cxnSp>
      <p:cxnSp>
        <p:nvCxnSpPr>
          <p:cNvPr id="36" name="Connector 35"/>
          <p:cNvCxnSpPr/>
          <p:nvPr/>
        </p:nvCxnSpPr>
        <p:spPr>
          <a:xfrm>
            <a:off x="4712494" y="3051870"/>
            <a:ext cx="7277993" cy="0"/>
          </a:xfrm>
          <a:prstGeom prst="line">
            <a:avLst/>
          </a:prstGeom>
          <a:ln w="9525">
            <a:solidFill>
              <a:srgbClr val="E0E0E0"/>
            </a:solidFill>
          </a:ln>
        </p:spPr>
      </p:cxnSp>
      <p:cxnSp>
        <p:nvCxnSpPr>
          <p:cNvPr id="37" name="Connector 36"/>
          <p:cNvCxnSpPr/>
          <p:nvPr/>
        </p:nvCxnSpPr>
        <p:spPr>
          <a:xfrm>
            <a:off x="4722019" y="2720727"/>
            <a:ext cx="0" cy="335905"/>
          </a:xfrm>
          <a:prstGeom prst="line">
            <a:avLst/>
          </a:prstGeom>
          <a:ln w="19050">
            <a:solidFill>
              <a:srgbClr val="A6A6A6"/>
            </a:solidFill>
          </a:ln>
        </p:spPr>
      </p:cxnSp>
      <p:sp>
        <p:nvSpPr>
          <p:cNvPr id="38" name="Rectangle 37"/>
          <p:cNvSpPr/>
          <p:nvPr/>
        </p:nvSpPr>
        <p:spPr>
          <a:xfrm>
            <a:off x="2152204" y="3333452"/>
            <a:ext cx="2286000" cy="34662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39" name="Connector 38"/>
          <p:cNvCxnSpPr/>
          <p:nvPr/>
        </p:nvCxnSpPr>
        <p:spPr>
          <a:xfrm>
            <a:off x="2152204" y="3338215"/>
            <a:ext cx="2286000" cy="0"/>
          </a:xfrm>
          <a:prstGeom prst="line">
            <a:avLst/>
          </a:prstGeom>
          <a:ln w="9525">
            <a:solidFill>
              <a:srgbClr val="E0E0E0"/>
            </a:solidFill>
          </a:ln>
        </p:spPr>
      </p:cxnSp>
      <p:cxnSp>
        <p:nvCxnSpPr>
          <p:cNvPr id="40" name="Connector 39"/>
          <p:cNvCxnSpPr/>
          <p:nvPr/>
        </p:nvCxnSpPr>
        <p:spPr>
          <a:xfrm>
            <a:off x="4433441" y="3333452"/>
            <a:ext cx="0" cy="346621"/>
          </a:xfrm>
          <a:prstGeom prst="line">
            <a:avLst/>
          </a:prstGeom>
          <a:ln w="9525">
            <a:solidFill>
              <a:srgbClr val="E0E0E0"/>
            </a:solidFill>
          </a:ln>
        </p:spPr>
      </p:cxnSp>
      <p:cxnSp>
        <p:nvCxnSpPr>
          <p:cNvPr id="41" name="Connector 40"/>
          <p:cNvCxnSpPr/>
          <p:nvPr/>
        </p:nvCxnSpPr>
        <p:spPr>
          <a:xfrm>
            <a:off x="2152204" y="3675311"/>
            <a:ext cx="2286000" cy="0"/>
          </a:xfrm>
          <a:prstGeom prst="line">
            <a:avLst/>
          </a:prstGeom>
          <a:ln w="9525">
            <a:solidFill>
              <a:srgbClr val="E0E0E0"/>
            </a:solidFill>
          </a:ln>
        </p:spPr>
      </p:cxnSp>
      <p:cxnSp>
        <p:nvCxnSpPr>
          <p:cNvPr id="42" name="Connector 41"/>
          <p:cNvCxnSpPr/>
          <p:nvPr/>
        </p:nvCxnSpPr>
        <p:spPr>
          <a:xfrm>
            <a:off x="2161729" y="3333452"/>
            <a:ext cx="0" cy="346621"/>
          </a:xfrm>
          <a:prstGeom prst="line">
            <a:avLst/>
          </a:prstGeom>
          <a:ln w="19050">
            <a:solidFill>
              <a:srgbClr val="4D4D4D"/>
            </a:solidFill>
          </a:ln>
        </p:spPr>
      </p:cxnSp>
      <p:sp>
        <p:nvSpPr>
          <p:cNvPr id="43" name="Rectangle 42"/>
          <p:cNvSpPr/>
          <p:nvPr/>
        </p:nvSpPr>
        <p:spPr>
          <a:xfrm>
            <a:off x="4712494" y="3132832"/>
            <a:ext cx="7277993" cy="33590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44" name="Connector 43"/>
          <p:cNvCxnSpPr/>
          <p:nvPr/>
        </p:nvCxnSpPr>
        <p:spPr>
          <a:xfrm>
            <a:off x="4712494" y="3137595"/>
            <a:ext cx="7277993" cy="0"/>
          </a:xfrm>
          <a:prstGeom prst="line">
            <a:avLst/>
          </a:prstGeom>
          <a:ln w="9525">
            <a:solidFill>
              <a:srgbClr val="E0E0E0"/>
            </a:solidFill>
          </a:ln>
        </p:spPr>
      </p:cxnSp>
      <p:cxnSp>
        <p:nvCxnSpPr>
          <p:cNvPr id="45" name="Connector 44"/>
          <p:cNvCxnSpPr/>
          <p:nvPr/>
        </p:nvCxnSpPr>
        <p:spPr>
          <a:xfrm>
            <a:off x="11985724" y="3132832"/>
            <a:ext cx="0" cy="335905"/>
          </a:xfrm>
          <a:prstGeom prst="line">
            <a:avLst/>
          </a:prstGeom>
          <a:ln w="9525">
            <a:solidFill>
              <a:srgbClr val="E0E0E0"/>
            </a:solidFill>
          </a:ln>
        </p:spPr>
      </p:cxnSp>
      <p:cxnSp>
        <p:nvCxnSpPr>
          <p:cNvPr id="46" name="Connector 45"/>
          <p:cNvCxnSpPr/>
          <p:nvPr/>
        </p:nvCxnSpPr>
        <p:spPr>
          <a:xfrm>
            <a:off x="4712494" y="3463975"/>
            <a:ext cx="7277993" cy="0"/>
          </a:xfrm>
          <a:prstGeom prst="line">
            <a:avLst/>
          </a:prstGeom>
          <a:ln w="9525">
            <a:solidFill>
              <a:srgbClr val="E0E0E0"/>
            </a:solidFill>
          </a:ln>
        </p:spPr>
      </p:cxnSp>
      <p:cxnSp>
        <p:nvCxnSpPr>
          <p:cNvPr id="47" name="Connector 46"/>
          <p:cNvCxnSpPr/>
          <p:nvPr/>
        </p:nvCxnSpPr>
        <p:spPr>
          <a:xfrm>
            <a:off x="4722019" y="3132832"/>
            <a:ext cx="0" cy="335905"/>
          </a:xfrm>
          <a:prstGeom prst="line">
            <a:avLst/>
          </a:prstGeom>
          <a:ln w="19050">
            <a:solidFill>
              <a:srgbClr val="A6A6A6"/>
            </a:solidFill>
          </a:ln>
        </p:spPr>
      </p:cxnSp>
      <p:sp>
        <p:nvSpPr>
          <p:cNvPr id="48" name="Rectangle 47"/>
          <p:cNvSpPr/>
          <p:nvPr/>
        </p:nvSpPr>
        <p:spPr>
          <a:xfrm>
            <a:off x="4712494" y="3544937"/>
            <a:ext cx="7277993" cy="33590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49" name="Connector 48"/>
          <p:cNvCxnSpPr/>
          <p:nvPr/>
        </p:nvCxnSpPr>
        <p:spPr>
          <a:xfrm>
            <a:off x="4712494" y="3549700"/>
            <a:ext cx="7277993" cy="0"/>
          </a:xfrm>
          <a:prstGeom prst="line">
            <a:avLst/>
          </a:prstGeom>
          <a:ln w="9525">
            <a:solidFill>
              <a:srgbClr val="E0E0E0"/>
            </a:solidFill>
          </a:ln>
        </p:spPr>
      </p:cxnSp>
      <p:cxnSp>
        <p:nvCxnSpPr>
          <p:cNvPr id="50" name="Connector 49"/>
          <p:cNvCxnSpPr/>
          <p:nvPr/>
        </p:nvCxnSpPr>
        <p:spPr>
          <a:xfrm>
            <a:off x="11985724" y="3544937"/>
            <a:ext cx="0" cy="335905"/>
          </a:xfrm>
          <a:prstGeom prst="line">
            <a:avLst/>
          </a:prstGeom>
          <a:ln w="9525">
            <a:solidFill>
              <a:srgbClr val="E0E0E0"/>
            </a:solidFill>
          </a:ln>
        </p:spPr>
      </p:cxnSp>
      <p:cxnSp>
        <p:nvCxnSpPr>
          <p:cNvPr id="51" name="Connector 50"/>
          <p:cNvCxnSpPr/>
          <p:nvPr/>
        </p:nvCxnSpPr>
        <p:spPr>
          <a:xfrm>
            <a:off x="4712494" y="3876080"/>
            <a:ext cx="7277993" cy="0"/>
          </a:xfrm>
          <a:prstGeom prst="line">
            <a:avLst/>
          </a:prstGeom>
          <a:ln w="9525">
            <a:solidFill>
              <a:srgbClr val="E0E0E0"/>
            </a:solidFill>
          </a:ln>
        </p:spPr>
      </p:cxnSp>
      <p:cxnSp>
        <p:nvCxnSpPr>
          <p:cNvPr id="52" name="Connector 51"/>
          <p:cNvCxnSpPr/>
          <p:nvPr/>
        </p:nvCxnSpPr>
        <p:spPr>
          <a:xfrm>
            <a:off x="4722019" y="3544937"/>
            <a:ext cx="0" cy="335905"/>
          </a:xfrm>
          <a:prstGeom prst="line">
            <a:avLst/>
          </a:prstGeom>
          <a:ln w="19050">
            <a:solidFill>
              <a:srgbClr val="A6A6A6"/>
            </a:solidFill>
          </a:ln>
        </p:spPr>
      </p:cxnSp>
      <p:sp>
        <p:nvSpPr>
          <p:cNvPr id="53" name="TextBox 52"/>
          <p:cNvSpPr txBox="1"/>
          <p:nvPr/>
        </p:nvSpPr>
        <p:spPr>
          <a:xfrm>
            <a:off x="201513" y="271165"/>
            <a:ext cx="1387781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パーツ25｜issue_tree</a:t>
            </a:r>
          </a:p>
        </p:txBody>
      </p:sp>
      <p:sp>
        <p:nvSpPr>
          <p:cNvPr id="54" name="Title"/>
          <p:cNvSpPr txBox="1"/>
          <p:nvPr/>
        </p:nvSpPr>
        <p:spPr>
          <a:xfrm>
            <a:off x="201513" y="504974"/>
            <a:ext cx="1592711" cy="2857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9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F1F1F"/>
                </a:solidFill>
                <a:latin typeface="Yu Mincho"/>
                <a:ea typeface="Yu Mincho"/>
                <a:cs typeface="Yu Mincho"/>
              </a:rPr>
              <a:t>イシューツリー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4863" y="2602557"/>
            <a:ext cx="972348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分解したいイシュー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285554" y="1778347"/>
            <a:ext cx="68863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サブイシュー1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5844" y="1577727"/>
            <a:ext cx="381857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6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論点1-1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845844" y="1989832"/>
            <a:ext cx="400741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6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論点1-2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285554" y="2602557"/>
            <a:ext cx="71247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サブイシュー2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845844" y="2401937"/>
            <a:ext cx="404455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6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論点2-1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45844" y="2814042"/>
            <a:ext cx="423184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6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論点2-2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285554" y="3426768"/>
            <a:ext cx="714018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サブイシュー3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45844" y="3226147"/>
            <a:ext cx="405229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6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論点3-1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845844" y="3638252"/>
            <a:ext cx="424113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6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論点3-2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01513" y="6274296"/>
            <a:ext cx="80177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出所）Source 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874401" y="6561981"/>
            <a:ext cx="13977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51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01513" y="1326505"/>
            <a:ext cx="11788974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sp>
        <p:nvSpPr>
          <p:cNvPr id="3" name="Rectangle 2"/>
          <p:cNvSpPr/>
          <p:nvPr/>
        </p:nvSpPr>
        <p:spPr>
          <a:xfrm>
            <a:off x="201513" y="1484412"/>
            <a:ext cx="5627787" cy="1869430"/>
          </a:xfrm>
          <a:prstGeom prst="rect">
            <a:avLst/>
          </a:prstGeom>
          <a:noFill/>
          <a:ln w="9525">
            <a:solidFill>
              <a:srgbClr val="E0E0E0"/>
            </a:solidFill>
          </a:ln>
        </p:spPr>
        <p:txBody>
          <a:bodyPr rtlCol="0" anchor="ctr"/>
          <a:lstStyle/>
          <a:p/>
        </p:txBody>
      </p:sp>
      <p:cxnSp>
        <p:nvCxnSpPr>
          <p:cNvPr id="4" name="Connector 3"/>
          <p:cNvCxnSpPr/>
          <p:nvPr/>
        </p:nvCxnSpPr>
        <p:spPr>
          <a:xfrm>
            <a:off x="424309" y="1927324"/>
            <a:ext cx="5182195" cy="0"/>
          </a:xfrm>
          <a:prstGeom prst="line">
            <a:avLst/>
          </a:prstGeom>
          <a:ln w="9525">
            <a:solidFill>
              <a:srgbClr val="1F1F1F"/>
            </a:solidFill>
          </a:ln>
        </p:spPr>
      </p:cxnSp>
      <p:sp>
        <p:nvSpPr>
          <p:cNvPr id="5" name="Oval 4"/>
          <p:cNvSpPr/>
          <p:nvPr/>
        </p:nvSpPr>
        <p:spPr>
          <a:xfrm>
            <a:off x="5882580" y="2205782"/>
            <a:ext cx="426690" cy="426690"/>
          </a:xfrm>
          <a:prstGeom prst="ellipse">
            <a:avLst/>
          </a:prstGeom>
          <a:solidFill>
            <a:srgbClr val="26262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362700" y="1484412"/>
            <a:ext cx="5627787" cy="1869430"/>
          </a:xfrm>
          <a:prstGeom prst="rect">
            <a:avLst/>
          </a:prstGeom>
          <a:noFill/>
          <a:ln w="9525">
            <a:solidFill>
              <a:srgbClr val="4D4D4D"/>
            </a:solidFill>
          </a:ln>
        </p:spPr>
        <p:txBody>
          <a:bodyPr rtlCol="0" anchor="ctr"/>
          <a:lstStyle/>
          <a:p/>
        </p:txBody>
      </p:sp>
      <p:cxnSp>
        <p:nvCxnSpPr>
          <p:cNvPr id="7" name="Connector 6"/>
          <p:cNvCxnSpPr/>
          <p:nvPr/>
        </p:nvCxnSpPr>
        <p:spPr>
          <a:xfrm>
            <a:off x="6585496" y="1927324"/>
            <a:ext cx="5182195" cy="0"/>
          </a:xfrm>
          <a:prstGeom prst="line">
            <a:avLst/>
          </a:prstGeom>
          <a:ln w="9525">
            <a:solidFill>
              <a:srgbClr val="4D4D4D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201513" y="271165"/>
            <a:ext cx="2089094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パーツ26｜current_target_state</a:t>
            </a:r>
          </a:p>
        </p:txBody>
      </p:sp>
      <p:sp>
        <p:nvSpPr>
          <p:cNvPr id="9" name="Title"/>
          <p:cNvSpPr txBox="1"/>
          <p:nvPr/>
        </p:nvSpPr>
        <p:spPr>
          <a:xfrm>
            <a:off x="201513" y="504974"/>
            <a:ext cx="1806773" cy="2857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9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F1F1F"/>
                </a:solidFill>
                <a:latin typeface="Yu Mincho"/>
                <a:ea typeface="Yu Mincho"/>
                <a:cs typeface="Yu Mincho"/>
              </a:rPr>
              <a:t>現状と目指す姿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4309" y="1682502"/>
            <a:ext cx="505218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76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4309" y="2038648"/>
            <a:ext cx="483858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12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3270" y="2337197"/>
            <a:ext cx="434173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3270" y="2606873"/>
            <a:ext cx="435257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3270" y="2876550"/>
            <a:ext cx="439281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49863" y="2283768"/>
            <a:ext cx="114705" cy="2571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5496" y="1682502"/>
            <a:ext cx="535245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76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4D4D4D"/>
                </a:solidFill>
                <a:latin typeface="Yu Gothic"/>
                <a:ea typeface="Yu Gothic"/>
                <a:cs typeface="Yu Gothic"/>
              </a:rPr>
              <a:t>ラベル2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5496" y="2038648"/>
            <a:ext cx="518529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12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44457" y="2337197"/>
            <a:ext cx="435566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44457" y="2606873"/>
            <a:ext cx="427982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44457" y="2876550"/>
            <a:ext cx="435412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513" y="6274296"/>
            <a:ext cx="80177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出所）Source 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51184" y="6561981"/>
            <a:ext cx="163925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52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01513" y="1326505"/>
            <a:ext cx="11788974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sp>
        <p:nvSpPr>
          <p:cNvPr id="3" name="Rectangle 2"/>
          <p:cNvSpPr/>
          <p:nvPr/>
        </p:nvSpPr>
        <p:spPr>
          <a:xfrm>
            <a:off x="10685859" y="1492002"/>
            <a:ext cx="121890" cy="121890"/>
          </a:xfrm>
          <a:prstGeom prst="rect">
            <a:avLst/>
          </a:prstGeom>
          <a:solidFill>
            <a:srgbClr val="262626"/>
          </a:solidFill>
          <a:ln w="9525">
            <a:solidFill>
              <a:srgbClr val="262626"/>
            </a:solidFill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11417945" y="1492002"/>
            <a:ext cx="121890" cy="121890"/>
          </a:xfrm>
          <a:prstGeom prst="rect">
            <a:avLst/>
          </a:prstGeom>
          <a:solidFill>
            <a:srgbClr val="4D4D4D"/>
          </a:solidFill>
          <a:ln w="9525">
            <a:solidFill>
              <a:srgbClr val="4D4D4D"/>
            </a:solidFill>
          </a:ln>
        </p:spPr>
        <p:txBody>
          <a:bodyPr rtlCol="0" anchor="ctr"/>
          <a:lstStyle/>
          <a:p/>
        </p:txBody>
      </p:sp>
      <p:cxnSp>
        <p:nvCxnSpPr>
          <p:cNvPr id="5" name="Connector 4"/>
          <p:cNvCxnSpPr/>
          <p:nvPr/>
        </p:nvCxnSpPr>
        <p:spPr>
          <a:xfrm>
            <a:off x="201513" y="3466654"/>
            <a:ext cx="3629621" cy="0"/>
          </a:xfrm>
          <a:prstGeom prst="line">
            <a:avLst/>
          </a:prstGeom>
          <a:ln w="9525">
            <a:solidFill>
              <a:srgbClr val="E0E0E0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351830" y="4324796"/>
            <a:ext cx="838200" cy="1524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1597223" y="4019996"/>
            <a:ext cx="838200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2842617" y="3562796"/>
            <a:ext cx="838200" cy="9144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9" name="Connector 8"/>
          <p:cNvCxnSpPr/>
          <p:nvPr/>
        </p:nvCxnSpPr>
        <p:spPr>
          <a:xfrm>
            <a:off x="4281041" y="3466654"/>
            <a:ext cx="3629769" cy="0"/>
          </a:xfrm>
          <a:prstGeom prst="line">
            <a:avLst/>
          </a:prstGeom>
          <a:ln w="9525">
            <a:solidFill>
              <a:srgbClr val="E0E0E0"/>
            </a:solidFill>
          </a:ln>
        </p:spPr>
      </p:cxnSp>
      <p:sp>
        <p:nvSpPr>
          <p:cNvPr id="10" name="Rectangle 9"/>
          <p:cNvSpPr/>
          <p:nvPr/>
        </p:nvSpPr>
        <p:spPr>
          <a:xfrm>
            <a:off x="4431357" y="3562796"/>
            <a:ext cx="838200" cy="9144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76751" y="3562796"/>
            <a:ext cx="838200" cy="9144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922294" y="3562796"/>
            <a:ext cx="838200" cy="9144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13" name="Connector 12"/>
          <p:cNvCxnSpPr/>
          <p:nvPr/>
        </p:nvCxnSpPr>
        <p:spPr>
          <a:xfrm>
            <a:off x="8360718" y="3466802"/>
            <a:ext cx="3629769" cy="0"/>
          </a:xfrm>
          <a:prstGeom prst="line">
            <a:avLst/>
          </a:prstGeom>
          <a:ln w="9525">
            <a:solidFill>
              <a:srgbClr val="E0E0E0"/>
            </a:solidFill>
          </a:ln>
        </p:spPr>
      </p:cxnSp>
      <p:sp>
        <p:nvSpPr>
          <p:cNvPr id="14" name="Rectangle 13"/>
          <p:cNvSpPr/>
          <p:nvPr/>
        </p:nvSpPr>
        <p:spPr>
          <a:xfrm>
            <a:off x="8511034" y="4332536"/>
            <a:ext cx="838200" cy="144661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8511034" y="4286845"/>
            <a:ext cx="838200" cy="4569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9756428" y="4111526"/>
            <a:ext cx="838200" cy="365671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9756428" y="4065836"/>
            <a:ext cx="838200" cy="4569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11001970" y="3608636"/>
            <a:ext cx="838200" cy="868561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11001970" y="3562945"/>
            <a:ext cx="838200" cy="4569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201513" y="271165"/>
            <a:ext cx="1326952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パーツ27｜calc_flow</a:t>
            </a:r>
          </a:p>
        </p:txBody>
      </p:sp>
      <p:sp>
        <p:nvSpPr>
          <p:cNvPr id="21" name="Title"/>
          <p:cNvSpPr txBox="1"/>
          <p:nvPr/>
        </p:nvSpPr>
        <p:spPr>
          <a:xfrm>
            <a:off x="201513" y="504974"/>
            <a:ext cx="2218646" cy="2857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9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F1F1F"/>
                </a:solidFill>
                <a:latin typeface="Yu Mincho"/>
                <a:ea typeface="Yu Mincho"/>
                <a:cs typeface="Yu Mincho"/>
              </a:rPr>
              <a:t>計算ロジックの流れ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68620" y="1474887"/>
            <a:ext cx="400276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ラベル1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600706" y="1474887"/>
            <a:ext cx="424422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ラベル2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513" y="1718518"/>
            <a:ext cx="846511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指標名、単位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1513" y="3254871"/>
            <a:ext cx="455997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52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498" y="4337000"/>
            <a:ext cx="63472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58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52294" y="6934200"/>
            <a:ext cx="487263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24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84325" y="4184600"/>
            <a:ext cx="85606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58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54770" y="6934200"/>
            <a:ext cx="482310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24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29570" y="3956000"/>
            <a:ext cx="85916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58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54148" y="6934200"/>
            <a:ext cx="483703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24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68204" y="3095625"/>
            <a:ext cx="201847" cy="3143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856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262626"/>
                </a:solidFill>
                <a:latin typeface="Yu Gothic"/>
                <a:ea typeface="Yu Gothic"/>
                <a:cs typeface="Yu Gothic"/>
              </a:rPr>
              <a:t>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81041" y="3254871"/>
            <a:ext cx="44779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52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19204" y="3956000"/>
            <a:ext cx="83903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58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53997" y="6934200"/>
            <a:ext cx="483858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24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64597" y="3956000"/>
            <a:ext cx="83903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58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54148" y="6934200"/>
            <a:ext cx="483703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24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0140" y="3956000"/>
            <a:ext cx="83903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58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23350" y="6934200"/>
            <a:ext cx="545151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24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47881" y="3095625"/>
            <a:ext cx="201847" cy="3143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856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262626"/>
                </a:solidFill>
                <a:latin typeface="Yu Gothic"/>
                <a:ea typeface="Yu Gothic"/>
                <a:cs typeface="Yu Gothic"/>
              </a:rPr>
              <a:t>=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60718" y="3255020"/>
            <a:ext cx="48339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52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ラベル11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860929" y="4340870"/>
            <a:ext cx="162997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58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1.5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26442" y="6934200"/>
            <a:ext cx="539115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24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ラベル12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97244" y="4230291"/>
            <a:ext cx="181880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58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3.8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25823" y="6934200"/>
            <a:ext cx="540353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24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388923" y="3978920"/>
            <a:ext cx="85916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58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25049" y="6934200"/>
            <a:ext cx="541901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24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ラベル18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01513" y="6274296"/>
            <a:ext cx="80177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出所）Source 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850291" y="6561981"/>
            <a:ext cx="16485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53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01513" y="1326505"/>
            <a:ext cx="11788974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sp>
        <p:nvSpPr>
          <p:cNvPr id="3" name="Oval 2"/>
          <p:cNvSpPr/>
          <p:nvPr/>
        </p:nvSpPr>
        <p:spPr>
          <a:xfrm>
            <a:off x="201513" y="1651992"/>
            <a:ext cx="335161" cy="335161"/>
          </a:xfrm>
          <a:prstGeom prst="ellipse">
            <a:avLst/>
          </a:prstGeom>
          <a:noFill/>
          <a:ln w="9525">
            <a:solidFill>
              <a:srgbClr val="1F1F1F"/>
            </a:solidFill>
          </a:ln>
        </p:spPr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3232547" y="1651992"/>
            <a:ext cx="335161" cy="335161"/>
          </a:xfrm>
          <a:prstGeom prst="ellipse">
            <a:avLst/>
          </a:prstGeom>
          <a:noFill/>
          <a:ln w="9525">
            <a:solidFill>
              <a:srgbClr val="1F1F1F"/>
            </a:solidFill>
          </a:ln>
        </p:spPr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6263580" y="1651992"/>
            <a:ext cx="335161" cy="335161"/>
          </a:xfrm>
          <a:prstGeom prst="ellipse">
            <a:avLst/>
          </a:prstGeom>
          <a:noFill/>
          <a:ln w="9525">
            <a:solidFill>
              <a:srgbClr val="1F1F1F"/>
            </a:solidFill>
          </a:ln>
        </p:spPr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9294614" y="1651992"/>
            <a:ext cx="335161" cy="335161"/>
          </a:xfrm>
          <a:prstGeom prst="ellipse">
            <a:avLst/>
          </a:prstGeom>
          <a:noFill/>
          <a:ln w="9525">
            <a:solidFill>
              <a:srgbClr val="1F1F1F"/>
            </a:solidFill>
          </a:ln>
        </p:spPr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201513" y="271165"/>
            <a:ext cx="1604010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パーツ28｜process_flow</a:t>
            </a:r>
          </a:p>
        </p:txBody>
      </p:sp>
      <p:sp>
        <p:nvSpPr>
          <p:cNvPr id="8" name="Title"/>
          <p:cNvSpPr txBox="1"/>
          <p:nvPr/>
        </p:nvSpPr>
        <p:spPr>
          <a:xfrm>
            <a:off x="201513" y="504974"/>
            <a:ext cx="1777829" cy="2857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9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F1F1F"/>
                </a:solidFill>
                <a:latin typeface="Yu Mincho"/>
                <a:ea typeface="Yu Mincho"/>
                <a:cs typeface="Yu Mincho"/>
              </a:rPr>
              <a:t>プロセスの段階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4566" y="1720453"/>
            <a:ext cx="90868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513" y="2099518"/>
            <a:ext cx="676251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タイトル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513" y="2374553"/>
            <a:ext cx="405229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8979" y="1684288"/>
            <a:ext cx="114705" cy="2571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62626"/>
                </a:solidFill>
                <a:latin typeface="Yu Gothic"/>
                <a:ea typeface="Yu Gothic"/>
                <a:cs typeface="Yu Gothic"/>
              </a:rPr>
              <a:t>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49675" y="1720453"/>
            <a:ext cx="123992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32547" y="2099518"/>
            <a:ext cx="678728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タイトル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32547" y="2374553"/>
            <a:ext cx="434173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50012" y="1684288"/>
            <a:ext cx="114705" cy="2571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62626"/>
                </a:solidFill>
                <a:latin typeface="Yu Gothic"/>
                <a:ea typeface="Yu Gothic"/>
                <a:cs typeface="Yu Gothic"/>
              </a:rPr>
              <a:t>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9518" y="1720453"/>
            <a:ext cx="126468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580" y="2099518"/>
            <a:ext cx="683681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タイトル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580" y="2374553"/>
            <a:ext cx="435257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81046" y="1684288"/>
            <a:ext cx="114705" cy="2571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62626"/>
                </a:solidFill>
                <a:latin typeface="Yu Gothic"/>
                <a:ea typeface="Yu Gothic"/>
                <a:cs typeface="Yu Gothic"/>
              </a:rPr>
              <a:t>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08021" y="1720453"/>
            <a:ext cx="131576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94614" y="2099518"/>
            <a:ext cx="677799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タイトル 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94614" y="2374553"/>
            <a:ext cx="439281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513" y="6274296"/>
            <a:ext cx="80177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出所）Source 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47165" y="6561981"/>
            <a:ext cx="16810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54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01513" y="1326505"/>
            <a:ext cx="11788974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sp>
        <p:nvSpPr>
          <p:cNvPr id="3" name="Oval 2"/>
          <p:cNvSpPr/>
          <p:nvPr/>
        </p:nvSpPr>
        <p:spPr>
          <a:xfrm>
            <a:off x="3148757" y="2515419"/>
            <a:ext cx="5894487" cy="2624286"/>
          </a:xfrm>
          <a:prstGeom prst="ellipse">
            <a:avLst/>
          </a:prstGeom>
          <a:noFill/>
          <a:ln w="9525">
            <a:solidFill>
              <a:srgbClr val="BFBFBF"/>
            </a:solidFill>
            <a:prstDash val="dash"/>
          </a:ln>
        </p:spPr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5928420" y="1819424"/>
            <a:ext cx="335161" cy="335161"/>
          </a:xfrm>
          <a:prstGeom prst="ellipse">
            <a:avLst/>
          </a:prstGeom>
          <a:noFill/>
          <a:ln w="9525">
            <a:solidFill>
              <a:srgbClr val="1F1F1F"/>
            </a:solidFill>
          </a:ln>
        </p:spPr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630073" y="2920603"/>
            <a:ext cx="335161" cy="335161"/>
          </a:xfrm>
          <a:prstGeom prst="ellipse">
            <a:avLst/>
          </a:prstGeom>
          <a:noFill/>
          <a:ln w="9525">
            <a:solidFill>
              <a:srgbClr val="1F1F1F"/>
            </a:solidFill>
          </a:ln>
        </p:spPr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8215461" y="4701480"/>
            <a:ext cx="335161" cy="335161"/>
          </a:xfrm>
          <a:prstGeom prst="ellipse">
            <a:avLst/>
          </a:prstGeom>
          <a:noFill/>
          <a:ln w="9525">
            <a:solidFill>
              <a:srgbClr val="1F1F1F"/>
            </a:solidFill>
          </a:ln>
        </p:spPr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3641229" y="4701480"/>
            <a:ext cx="335161" cy="335161"/>
          </a:xfrm>
          <a:prstGeom prst="ellipse">
            <a:avLst/>
          </a:prstGeom>
          <a:noFill/>
          <a:ln w="9525">
            <a:solidFill>
              <a:srgbClr val="1F1F1F"/>
            </a:solidFill>
          </a:ln>
        </p:spPr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2226618" y="2920603"/>
            <a:ext cx="335161" cy="335161"/>
          </a:xfrm>
          <a:prstGeom prst="ellipse">
            <a:avLst/>
          </a:prstGeom>
          <a:noFill/>
          <a:ln w="9525">
            <a:solidFill>
              <a:srgbClr val="1F1F1F"/>
            </a:solidFill>
          </a:ln>
        </p:spPr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201513" y="271165"/>
            <a:ext cx="1044166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パーツ29｜cycle</a:t>
            </a:r>
          </a:p>
        </p:txBody>
      </p:sp>
      <p:sp>
        <p:nvSpPr>
          <p:cNvPr id="10" name="Title"/>
          <p:cNvSpPr txBox="1"/>
          <p:nvPr/>
        </p:nvSpPr>
        <p:spPr>
          <a:xfrm>
            <a:off x="201513" y="504974"/>
            <a:ext cx="1489936" cy="2857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9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F1F1F"/>
                </a:solidFill>
                <a:latin typeface="Yu Mincho"/>
                <a:ea typeface="Yu Mincho"/>
                <a:cs typeface="Yu Mincho"/>
              </a:rPr>
              <a:t>循環サイクル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92256" y="2881499"/>
            <a:ext cx="270927" cy="2814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4D4D4D"/>
                </a:solidFill>
                <a:latin typeface="Yu Gothic"/>
                <a:ea typeface="Yu Gothic"/>
                <a:cs typeface="Yu Gothic"/>
              </a:rPr>
              <a:t>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52753" y="4043846"/>
            <a:ext cx="323975" cy="17922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4D4D4D"/>
                </a:solidFill>
                <a:latin typeface="Yu Gothic"/>
                <a:ea typeface="Yu Gothic"/>
                <a:cs typeface="Yu Gothic"/>
              </a:rPr>
              <a:t>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46738" y="4682877"/>
            <a:ext cx="121670" cy="2762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4D4D4D"/>
                </a:solidFill>
                <a:latin typeface="Yu Gothic"/>
                <a:ea typeface="Yu Gothic"/>
                <a:cs typeface="Yu Gothic"/>
              </a:rPr>
              <a:t>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5947" y="4043995"/>
            <a:ext cx="323975" cy="17922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4D4D4D"/>
                </a:solidFill>
                <a:latin typeface="Yu Gothic"/>
                <a:ea typeface="Yu Gothic"/>
                <a:cs typeface="Yu Gothic"/>
              </a:rPr>
              <a:t>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7286" y="2881573"/>
            <a:ext cx="270927" cy="2814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4D4D4D"/>
                </a:solidFill>
                <a:latin typeface="Yu Gothic"/>
                <a:ea typeface="Yu Gothic"/>
                <a:cs typeface="Yu Gothic"/>
              </a:rPr>
              <a:t>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50566" y="1887885"/>
            <a:ext cx="90868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74439" y="2236440"/>
            <a:ext cx="642973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345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タイトル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14671" y="2493020"/>
            <a:ext cx="36251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28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35657" y="2989064"/>
            <a:ext cx="123992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75006" y="3337620"/>
            <a:ext cx="645295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345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タイトル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3477" y="3594199"/>
            <a:ext cx="388203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28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19808" y="4769941"/>
            <a:ext cx="126468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58073" y="5118497"/>
            <a:ext cx="649938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345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タイトル 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88401" y="5375077"/>
            <a:ext cx="389132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28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42947" y="4769941"/>
            <a:ext cx="131576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86626" y="5118497"/>
            <a:ext cx="644366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345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タイトル 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12312" y="5375077"/>
            <a:ext cx="392847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28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31428" y="2989064"/>
            <a:ext cx="125540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71241" y="3337620"/>
            <a:ext cx="645914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345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タイトル 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00174" y="3594199"/>
            <a:ext cx="388048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28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1513" y="6274296"/>
            <a:ext cx="80177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出所）Source 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851481" y="6561981"/>
            <a:ext cx="163616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55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01513" y="1326505"/>
            <a:ext cx="11788974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sp>
        <p:nvSpPr>
          <p:cNvPr id="3" name="Freeform 2"/>
          <p:cNvSpPr/>
          <p:nvPr/>
        </p:nvSpPr>
        <p:spPr>
          <a:xfrm>
            <a:off x="201513" y="1484412"/>
            <a:ext cx="2369939" cy="1143000"/>
          </a:xfrm>
          <a:custGeom>
            <a:avLst/>
            <a:gdLst/>
            <a:ahLst/>
            <a:cxnLst/>
            <a:rect l="l" t="t" r="r" b="b"/>
            <a:pathLst>
              <a:path w="2369939" h="1143000">
                <a:moveTo>
                  <a:pt x="0" y="0"/>
                </a:moveTo>
                <a:lnTo>
                  <a:pt x="2141339" y="0"/>
                </a:lnTo>
                <a:lnTo>
                  <a:pt x="2369939" y="571500"/>
                </a:lnTo>
                <a:lnTo>
                  <a:pt x="2141339" y="1143000"/>
                </a:lnTo>
                <a:lnTo>
                  <a:pt x="0" y="1143000"/>
                </a:lnTo>
                <a:close/>
              </a:path>
            </a:pathLst>
          </a:custGeom>
          <a:solidFill>
            <a:srgbClr val="F2F2F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414784" y="1918692"/>
            <a:ext cx="274290" cy="274290"/>
          </a:xfrm>
          <a:prstGeom prst="ellipse">
            <a:avLst/>
          </a:prstGeom>
          <a:solidFill>
            <a:srgbClr val="26262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Freeform 4"/>
          <p:cNvSpPr/>
          <p:nvPr/>
        </p:nvSpPr>
        <p:spPr>
          <a:xfrm>
            <a:off x="2403872" y="1484412"/>
            <a:ext cx="2522339" cy="1143000"/>
          </a:xfrm>
          <a:custGeom>
            <a:avLst/>
            <a:gdLst/>
            <a:ahLst/>
            <a:cxnLst/>
            <a:rect l="l" t="t" r="r" b="b"/>
            <a:pathLst>
              <a:path w="2522339" h="1143000">
                <a:moveTo>
                  <a:pt x="0" y="0"/>
                </a:moveTo>
                <a:lnTo>
                  <a:pt x="2293739" y="0"/>
                </a:lnTo>
                <a:lnTo>
                  <a:pt x="2522339" y="571500"/>
                </a:lnTo>
                <a:lnTo>
                  <a:pt x="2293739" y="1143000"/>
                </a:lnTo>
                <a:lnTo>
                  <a:pt x="0" y="1143000"/>
                </a:lnTo>
                <a:lnTo>
                  <a:pt x="228600" y="571500"/>
                </a:lnTo>
                <a:close/>
              </a:path>
            </a:pathLst>
          </a:custGeom>
          <a:solidFill>
            <a:srgbClr val="F2F2F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2769543" y="1918692"/>
            <a:ext cx="274290" cy="274290"/>
          </a:xfrm>
          <a:prstGeom prst="ellipse">
            <a:avLst/>
          </a:prstGeom>
          <a:solidFill>
            <a:srgbClr val="26262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Freeform 6"/>
          <p:cNvSpPr/>
          <p:nvPr/>
        </p:nvSpPr>
        <p:spPr>
          <a:xfrm>
            <a:off x="4758630" y="1484412"/>
            <a:ext cx="2522340" cy="1143000"/>
          </a:xfrm>
          <a:custGeom>
            <a:avLst/>
            <a:gdLst/>
            <a:ahLst/>
            <a:cxnLst/>
            <a:rect l="l" t="t" r="r" b="b"/>
            <a:pathLst>
              <a:path w="2522340" h="1143000">
                <a:moveTo>
                  <a:pt x="0" y="0"/>
                </a:moveTo>
                <a:lnTo>
                  <a:pt x="2293740" y="0"/>
                </a:lnTo>
                <a:lnTo>
                  <a:pt x="2522340" y="571500"/>
                </a:lnTo>
                <a:lnTo>
                  <a:pt x="2293740" y="1143000"/>
                </a:lnTo>
                <a:lnTo>
                  <a:pt x="0" y="1143000"/>
                </a:lnTo>
                <a:lnTo>
                  <a:pt x="228600" y="571500"/>
                </a:lnTo>
                <a:close/>
              </a:path>
            </a:pathLst>
          </a:custGeom>
          <a:solidFill>
            <a:srgbClr val="F2F2F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5124301" y="1918692"/>
            <a:ext cx="274290" cy="274290"/>
          </a:xfrm>
          <a:prstGeom prst="ellipse">
            <a:avLst/>
          </a:prstGeom>
          <a:solidFill>
            <a:srgbClr val="26262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" name="Freeform 8"/>
          <p:cNvSpPr/>
          <p:nvPr/>
        </p:nvSpPr>
        <p:spPr>
          <a:xfrm>
            <a:off x="7113389" y="1484412"/>
            <a:ext cx="2522339" cy="1143000"/>
          </a:xfrm>
          <a:custGeom>
            <a:avLst/>
            <a:gdLst/>
            <a:ahLst/>
            <a:cxnLst/>
            <a:rect l="l" t="t" r="r" b="b"/>
            <a:pathLst>
              <a:path w="2522339" h="1143000">
                <a:moveTo>
                  <a:pt x="0" y="0"/>
                </a:moveTo>
                <a:lnTo>
                  <a:pt x="2293739" y="0"/>
                </a:lnTo>
                <a:lnTo>
                  <a:pt x="2522339" y="571500"/>
                </a:lnTo>
                <a:lnTo>
                  <a:pt x="2293739" y="1143000"/>
                </a:lnTo>
                <a:lnTo>
                  <a:pt x="0" y="1143000"/>
                </a:lnTo>
                <a:lnTo>
                  <a:pt x="228600" y="571500"/>
                </a:lnTo>
                <a:close/>
              </a:path>
            </a:pathLst>
          </a:custGeom>
          <a:solidFill>
            <a:srgbClr val="F2F2F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7479060" y="1918692"/>
            <a:ext cx="274290" cy="274290"/>
          </a:xfrm>
          <a:prstGeom prst="ellipse">
            <a:avLst/>
          </a:prstGeom>
          <a:solidFill>
            <a:srgbClr val="26262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Freeform 10"/>
          <p:cNvSpPr/>
          <p:nvPr/>
        </p:nvSpPr>
        <p:spPr>
          <a:xfrm>
            <a:off x="9468148" y="1484412"/>
            <a:ext cx="2522339" cy="1143000"/>
          </a:xfrm>
          <a:custGeom>
            <a:avLst/>
            <a:gdLst/>
            <a:ahLst/>
            <a:cxnLst/>
            <a:rect l="l" t="t" r="r" b="b"/>
            <a:pathLst>
              <a:path w="2522339" h="1143000">
                <a:moveTo>
                  <a:pt x="0" y="0"/>
                </a:moveTo>
                <a:lnTo>
                  <a:pt x="2293739" y="0"/>
                </a:lnTo>
                <a:lnTo>
                  <a:pt x="2522339" y="571500"/>
                </a:lnTo>
                <a:lnTo>
                  <a:pt x="2293739" y="1143000"/>
                </a:lnTo>
                <a:lnTo>
                  <a:pt x="0" y="1143000"/>
                </a:lnTo>
                <a:lnTo>
                  <a:pt x="228600" y="571500"/>
                </a:lnTo>
                <a:close/>
              </a:path>
            </a:pathLst>
          </a:custGeom>
          <a:solidFill>
            <a:srgbClr val="F2F2F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9833818" y="1918692"/>
            <a:ext cx="274290" cy="274290"/>
          </a:xfrm>
          <a:prstGeom prst="ellipse">
            <a:avLst/>
          </a:prstGeom>
          <a:solidFill>
            <a:srgbClr val="26262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01513" y="271165"/>
            <a:ext cx="1537609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パーツ30｜chevron_rail</a:t>
            </a:r>
          </a:p>
        </p:txBody>
      </p:sp>
      <p:sp>
        <p:nvSpPr>
          <p:cNvPr id="14" name="Title"/>
          <p:cNvSpPr txBox="1"/>
          <p:nvPr/>
        </p:nvSpPr>
        <p:spPr>
          <a:xfrm>
            <a:off x="201513" y="504974"/>
            <a:ext cx="3444050" cy="2857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9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F1F1F"/>
                </a:solidFill>
                <a:latin typeface="Yu Mincho"/>
                <a:ea typeface="Yu Mincho"/>
                <a:cs typeface="Yu Mincho"/>
              </a:rPr>
              <a:t>矢羽の段階（全体像の見出し）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2238" y="1968103"/>
            <a:ext cx="80653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0455" y="1887885"/>
            <a:ext cx="610160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タイトル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0455" y="2080022"/>
            <a:ext cx="34115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34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63453" y="1968103"/>
            <a:ext cx="108978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35213" y="1887885"/>
            <a:ext cx="612481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タイトル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35213" y="2080022"/>
            <a:ext cx="365296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34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7170" y="1968103"/>
            <a:ext cx="111145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9972" y="1887885"/>
            <a:ext cx="616815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タイトル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9972" y="2080022"/>
            <a:ext cx="36622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34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69845" y="1968103"/>
            <a:ext cx="115479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44730" y="1887885"/>
            <a:ext cx="611553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タイトル 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44730" y="2080022"/>
            <a:ext cx="369475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34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27134" y="1968103"/>
            <a:ext cx="110216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99489" y="1887885"/>
            <a:ext cx="612946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タイトル 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99489" y="2080022"/>
            <a:ext cx="364986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34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1513" y="6274296"/>
            <a:ext cx="80177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出所）Source 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49993" y="6561981"/>
            <a:ext cx="16516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56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01513" y="1326505"/>
            <a:ext cx="11788974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sp>
        <p:nvSpPr>
          <p:cNvPr id="3" name="Freeform 2"/>
          <p:cNvSpPr/>
          <p:nvPr/>
        </p:nvSpPr>
        <p:spPr>
          <a:xfrm>
            <a:off x="1244501" y="1484412"/>
            <a:ext cx="1495871" cy="426690"/>
          </a:xfrm>
          <a:custGeom>
            <a:avLst/>
            <a:gdLst/>
            <a:ahLst/>
            <a:cxnLst/>
            <a:rect l="l" t="t" r="r" b="b"/>
            <a:pathLst>
              <a:path w="1495871" h="426690">
                <a:moveTo>
                  <a:pt x="0" y="0"/>
                </a:moveTo>
                <a:lnTo>
                  <a:pt x="1343471" y="0"/>
                </a:lnTo>
                <a:lnTo>
                  <a:pt x="1495871" y="213345"/>
                </a:lnTo>
                <a:lnTo>
                  <a:pt x="1343471" y="426690"/>
                </a:lnTo>
                <a:lnTo>
                  <a:pt x="0" y="426690"/>
                </a:lnTo>
                <a:close/>
              </a:path>
            </a:pathLst>
          </a:custGeom>
          <a:solidFill>
            <a:srgbClr val="26262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Freeform 3"/>
          <p:cNvSpPr/>
          <p:nvPr/>
        </p:nvSpPr>
        <p:spPr>
          <a:xfrm>
            <a:off x="2679502" y="1484412"/>
            <a:ext cx="1602581" cy="426690"/>
          </a:xfrm>
          <a:custGeom>
            <a:avLst/>
            <a:gdLst/>
            <a:ahLst/>
            <a:cxnLst/>
            <a:rect l="l" t="t" r="r" b="b"/>
            <a:pathLst>
              <a:path w="1602581" h="426690">
                <a:moveTo>
                  <a:pt x="0" y="0"/>
                </a:moveTo>
                <a:lnTo>
                  <a:pt x="1450181" y="0"/>
                </a:lnTo>
                <a:lnTo>
                  <a:pt x="1602581" y="213345"/>
                </a:lnTo>
                <a:lnTo>
                  <a:pt x="1450181" y="426690"/>
                </a:lnTo>
                <a:lnTo>
                  <a:pt x="0" y="426690"/>
                </a:lnTo>
                <a:lnTo>
                  <a:pt x="152400" y="213345"/>
                </a:lnTo>
                <a:close/>
              </a:path>
            </a:pathLst>
          </a:custGeom>
          <a:solidFill>
            <a:srgbClr val="26262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Freeform 4"/>
          <p:cNvSpPr/>
          <p:nvPr/>
        </p:nvSpPr>
        <p:spPr>
          <a:xfrm>
            <a:off x="4221212" y="1484412"/>
            <a:ext cx="1602581" cy="426690"/>
          </a:xfrm>
          <a:custGeom>
            <a:avLst/>
            <a:gdLst/>
            <a:ahLst/>
            <a:cxnLst/>
            <a:rect l="l" t="t" r="r" b="b"/>
            <a:pathLst>
              <a:path w="1602581" h="426690">
                <a:moveTo>
                  <a:pt x="0" y="0"/>
                </a:moveTo>
                <a:lnTo>
                  <a:pt x="1450181" y="0"/>
                </a:lnTo>
                <a:lnTo>
                  <a:pt x="1602581" y="213345"/>
                </a:lnTo>
                <a:lnTo>
                  <a:pt x="1450181" y="426690"/>
                </a:lnTo>
                <a:lnTo>
                  <a:pt x="0" y="426690"/>
                </a:lnTo>
                <a:lnTo>
                  <a:pt x="152400" y="213345"/>
                </a:lnTo>
                <a:close/>
              </a:path>
            </a:pathLst>
          </a:custGeom>
          <a:solidFill>
            <a:srgbClr val="26262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" name="Freeform 5"/>
          <p:cNvSpPr/>
          <p:nvPr/>
        </p:nvSpPr>
        <p:spPr>
          <a:xfrm>
            <a:off x="5762923" y="1484412"/>
            <a:ext cx="1602432" cy="426690"/>
          </a:xfrm>
          <a:custGeom>
            <a:avLst/>
            <a:gdLst/>
            <a:ahLst/>
            <a:cxnLst/>
            <a:rect l="l" t="t" r="r" b="b"/>
            <a:pathLst>
              <a:path w="1602432" h="426690">
                <a:moveTo>
                  <a:pt x="0" y="0"/>
                </a:moveTo>
                <a:lnTo>
                  <a:pt x="1450032" y="0"/>
                </a:lnTo>
                <a:lnTo>
                  <a:pt x="1602432" y="213345"/>
                </a:lnTo>
                <a:lnTo>
                  <a:pt x="1450032" y="426690"/>
                </a:lnTo>
                <a:lnTo>
                  <a:pt x="0" y="426690"/>
                </a:lnTo>
                <a:lnTo>
                  <a:pt x="152400" y="213345"/>
                </a:lnTo>
                <a:close/>
              </a:path>
            </a:pathLst>
          </a:custGeom>
          <a:solidFill>
            <a:srgbClr val="26262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Freeform 6"/>
          <p:cNvSpPr/>
          <p:nvPr/>
        </p:nvSpPr>
        <p:spPr>
          <a:xfrm>
            <a:off x="7304484" y="1484412"/>
            <a:ext cx="1602582" cy="426690"/>
          </a:xfrm>
          <a:custGeom>
            <a:avLst/>
            <a:gdLst/>
            <a:ahLst/>
            <a:cxnLst/>
            <a:rect l="l" t="t" r="r" b="b"/>
            <a:pathLst>
              <a:path w="1602582" h="426690">
                <a:moveTo>
                  <a:pt x="0" y="0"/>
                </a:moveTo>
                <a:lnTo>
                  <a:pt x="1450182" y="0"/>
                </a:lnTo>
                <a:lnTo>
                  <a:pt x="1602582" y="213345"/>
                </a:lnTo>
                <a:lnTo>
                  <a:pt x="1450182" y="426690"/>
                </a:lnTo>
                <a:lnTo>
                  <a:pt x="0" y="426690"/>
                </a:lnTo>
                <a:lnTo>
                  <a:pt x="152400" y="213345"/>
                </a:lnTo>
                <a:close/>
              </a:path>
            </a:pathLst>
          </a:custGeom>
          <a:solidFill>
            <a:srgbClr val="26262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Freeform 7"/>
          <p:cNvSpPr/>
          <p:nvPr/>
        </p:nvSpPr>
        <p:spPr>
          <a:xfrm>
            <a:off x="8846195" y="1484412"/>
            <a:ext cx="1602581" cy="426690"/>
          </a:xfrm>
          <a:custGeom>
            <a:avLst/>
            <a:gdLst/>
            <a:ahLst/>
            <a:cxnLst/>
            <a:rect l="l" t="t" r="r" b="b"/>
            <a:pathLst>
              <a:path w="1602581" h="426690">
                <a:moveTo>
                  <a:pt x="0" y="0"/>
                </a:moveTo>
                <a:lnTo>
                  <a:pt x="1450181" y="0"/>
                </a:lnTo>
                <a:lnTo>
                  <a:pt x="1602581" y="213345"/>
                </a:lnTo>
                <a:lnTo>
                  <a:pt x="1450181" y="426690"/>
                </a:lnTo>
                <a:lnTo>
                  <a:pt x="0" y="426690"/>
                </a:lnTo>
                <a:lnTo>
                  <a:pt x="152400" y="213345"/>
                </a:lnTo>
                <a:close/>
              </a:path>
            </a:pathLst>
          </a:custGeom>
          <a:solidFill>
            <a:srgbClr val="26262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" name="Freeform 8"/>
          <p:cNvSpPr/>
          <p:nvPr/>
        </p:nvSpPr>
        <p:spPr>
          <a:xfrm>
            <a:off x="10387905" y="1484412"/>
            <a:ext cx="1602433" cy="426690"/>
          </a:xfrm>
          <a:custGeom>
            <a:avLst/>
            <a:gdLst/>
            <a:ahLst/>
            <a:cxnLst/>
            <a:rect l="l" t="t" r="r" b="b"/>
            <a:pathLst>
              <a:path w="1602433" h="426690">
                <a:moveTo>
                  <a:pt x="0" y="0"/>
                </a:moveTo>
                <a:lnTo>
                  <a:pt x="1450033" y="0"/>
                </a:lnTo>
                <a:lnTo>
                  <a:pt x="1602433" y="213345"/>
                </a:lnTo>
                <a:lnTo>
                  <a:pt x="1450033" y="426690"/>
                </a:lnTo>
                <a:lnTo>
                  <a:pt x="0" y="426690"/>
                </a:lnTo>
                <a:lnTo>
                  <a:pt x="152400" y="213345"/>
                </a:lnTo>
                <a:close/>
              </a:path>
            </a:pathLst>
          </a:custGeom>
          <a:solidFill>
            <a:srgbClr val="26262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" name="Freeform 9"/>
          <p:cNvSpPr/>
          <p:nvPr/>
        </p:nvSpPr>
        <p:spPr>
          <a:xfrm>
            <a:off x="1244501" y="2293293"/>
            <a:ext cx="1495871" cy="426690"/>
          </a:xfrm>
          <a:custGeom>
            <a:avLst/>
            <a:gdLst/>
            <a:ahLst/>
            <a:cxnLst/>
            <a:rect l="l" t="t" r="r" b="b"/>
            <a:pathLst>
              <a:path w="1495871" h="426690">
                <a:moveTo>
                  <a:pt x="0" y="0"/>
                </a:moveTo>
                <a:lnTo>
                  <a:pt x="1343471" y="0"/>
                </a:lnTo>
                <a:lnTo>
                  <a:pt x="1495871" y="213345"/>
                </a:lnTo>
                <a:lnTo>
                  <a:pt x="1343471" y="426690"/>
                </a:lnTo>
                <a:lnTo>
                  <a:pt x="0" y="426690"/>
                </a:lnTo>
                <a:close/>
              </a:path>
            </a:pathLst>
          </a:custGeom>
          <a:solidFill>
            <a:srgbClr val="A6A6A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Freeform 10"/>
          <p:cNvSpPr/>
          <p:nvPr/>
        </p:nvSpPr>
        <p:spPr>
          <a:xfrm>
            <a:off x="2679502" y="2293293"/>
            <a:ext cx="1602581" cy="426690"/>
          </a:xfrm>
          <a:custGeom>
            <a:avLst/>
            <a:gdLst/>
            <a:ahLst/>
            <a:cxnLst/>
            <a:rect l="l" t="t" r="r" b="b"/>
            <a:pathLst>
              <a:path w="1602581" h="426690">
                <a:moveTo>
                  <a:pt x="0" y="0"/>
                </a:moveTo>
                <a:lnTo>
                  <a:pt x="1450181" y="0"/>
                </a:lnTo>
                <a:lnTo>
                  <a:pt x="1602581" y="213345"/>
                </a:lnTo>
                <a:lnTo>
                  <a:pt x="1450181" y="426690"/>
                </a:lnTo>
                <a:lnTo>
                  <a:pt x="0" y="426690"/>
                </a:lnTo>
                <a:lnTo>
                  <a:pt x="152400" y="213345"/>
                </a:lnTo>
                <a:close/>
              </a:path>
            </a:pathLst>
          </a:custGeom>
          <a:solidFill>
            <a:srgbClr val="A6A6A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Freeform 11"/>
          <p:cNvSpPr/>
          <p:nvPr/>
        </p:nvSpPr>
        <p:spPr>
          <a:xfrm>
            <a:off x="4221212" y="2293293"/>
            <a:ext cx="1602581" cy="426690"/>
          </a:xfrm>
          <a:custGeom>
            <a:avLst/>
            <a:gdLst/>
            <a:ahLst/>
            <a:cxnLst/>
            <a:rect l="l" t="t" r="r" b="b"/>
            <a:pathLst>
              <a:path w="1602581" h="426690">
                <a:moveTo>
                  <a:pt x="0" y="0"/>
                </a:moveTo>
                <a:lnTo>
                  <a:pt x="1450181" y="0"/>
                </a:lnTo>
                <a:lnTo>
                  <a:pt x="1602581" y="213345"/>
                </a:lnTo>
                <a:lnTo>
                  <a:pt x="1450181" y="426690"/>
                </a:lnTo>
                <a:lnTo>
                  <a:pt x="0" y="426690"/>
                </a:lnTo>
                <a:lnTo>
                  <a:pt x="152400" y="213345"/>
                </a:lnTo>
                <a:close/>
              </a:path>
            </a:pathLst>
          </a:custGeom>
          <a:solidFill>
            <a:srgbClr val="A6A6A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" name="Freeform 12"/>
          <p:cNvSpPr/>
          <p:nvPr/>
        </p:nvSpPr>
        <p:spPr>
          <a:xfrm>
            <a:off x="5762923" y="2293293"/>
            <a:ext cx="1602432" cy="426690"/>
          </a:xfrm>
          <a:custGeom>
            <a:avLst/>
            <a:gdLst/>
            <a:ahLst/>
            <a:cxnLst/>
            <a:rect l="l" t="t" r="r" b="b"/>
            <a:pathLst>
              <a:path w="1602432" h="426690">
                <a:moveTo>
                  <a:pt x="0" y="0"/>
                </a:moveTo>
                <a:lnTo>
                  <a:pt x="1450032" y="0"/>
                </a:lnTo>
                <a:lnTo>
                  <a:pt x="1602432" y="213345"/>
                </a:lnTo>
                <a:lnTo>
                  <a:pt x="1450032" y="426690"/>
                </a:lnTo>
                <a:lnTo>
                  <a:pt x="0" y="426690"/>
                </a:lnTo>
                <a:lnTo>
                  <a:pt x="152400" y="213345"/>
                </a:lnTo>
                <a:close/>
              </a:path>
            </a:pathLst>
          </a:custGeom>
          <a:solidFill>
            <a:srgbClr val="A6A6A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" name="Freeform 13"/>
          <p:cNvSpPr/>
          <p:nvPr/>
        </p:nvSpPr>
        <p:spPr>
          <a:xfrm>
            <a:off x="7304484" y="2293293"/>
            <a:ext cx="1602582" cy="426690"/>
          </a:xfrm>
          <a:custGeom>
            <a:avLst/>
            <a:gdLst/>
            <a:ahLst/>
            <a:cxnLst/>
            <a:rect l="l" t="t" r="r" b="b"/>
            <a:pathLst>
              <a:path w="1602582" h="426690">
                <a:moveTo>
                  <a:pt x="0" y="0"/>
                </a:moveTo>
                <a:lnTo>
                  <a:pt x="1450182" y="0"/>
                </a:lnTo>
                <a:lnTo>
                  <a:pt x="1602582" y="213345"/>
                </a:lnTo>
                <a:lnTo>
                  <a:pt x="1450182" y="426690"/>
                </a:lnTo>
                <a:lnTo>
                  <a:pt x="0" y="426690"/>
                </a:lnTo>
                <a:lnTo>
                  <a:pt x="152400" y="213345"/>
                </a:lnTo>
                <a:close/>
              </a:path>
            </a:pathLst>
          </a:custGeom>
          <a:solidFill>
            <a:srgbClr val="A6A6A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" name="Freeform 14"/>
          <p:cNvSpPr/>
          <p:nvPr/>
        </p:nvSpPr>
        <p:spPr>
          <a:xfrm>
            <a:off x="8846195" y="2293293"/>
            <a:ext cx="1602581" cy="426690"/>
          </a:xfrm>
          <a:custGeom>
            <a:avLst/>
            <a:gdLst/>
            <a:ahLst/>
            <a:cxnLst/>
            <a:rect l="l" t="t" r="r" b="b"/>
            <a:pathLst>
              <a:path w="1602581" h="426690">
                <a:moveTo>
                  <a:pt x="0" y="0"/>
                </a:moveTo>
                <a:lnTo>
                  <a:pt x="1450181" y="0"/>
                </a:lnTo>
                <a:lnTo>
                  <a:pt x="1602581" y="213345"/>
                </a:lnTo>
                <a:lnTo>
                  <a:pt x="1450181" y="426690"/>
                </a:lnTo>
                <a:lnTo>
                  <a:pt x="0" y="426690"/>
                </a:lnTo>
                <a:lnTo>
                  <a:pt x="152400" y="213345"/>
                </a:lnTo>
                <a:close/>
              </a:path>
            </a:pathLst>
          </a:custGeom>
          <a:solidFill>
            <a:srgbClr val="A6A6A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6" name="Freeform 15"/>
          <p:cNvSpPr/>
          <p:nvPr/>
        </p:nvSpPr>
        <p:spPr>
          <a:xfrm>
            <a:off x="10387905" y="2293293"/>
            <a:ext cx="1602433" cy="426690"/>
          </a:xfrm>
          <a:custGeom>
            <a:avLst/>
            <a:gdLst/>
            <a:ahLst/>
            <a:cxnLst/>
            <a:rect l="l" t="t" r="r" b="b"/>
            <a:pathLst>
              <a:path w="1602433" h="426690">
                <a:moveTo>
                  <a:pt x="0" y="0"/>
                </a:moveTo>
                <a:lnTo>
                  <a:pt x="1450033" y="0"/>
                </a:lnTo>
                <a:lnTo>
                  <a:pt x="1602433" y="213345"/>
                </a:lnTo>
                <a:lnTo>
                  <a:pt x="1450033" y="426690"/>
                </a:lnTo>
                <a:lnTo>
                  <a:pt x="0" y="426690"/>
                </a:lnTo>
                <a:lnTo>
                  <a:pt x="152400" y="213345"/>
                </a:lnTo>
                <a:close/>
              </a:path>
            </a:pathLst>
          </a:custGeom>
          <a:solidFill>
            <a:srgbClr val="A6A6A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201513" y="271165"/>
            <a:ext cx="2101941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パーツ31｜chevron_value_chain</a:t>
            </a:r>
          </a:p>
        </p:txBody>
      </p:sp>
      <p:sp>
        <p:nvSpPr>
          <p:cNvPr id="18" name="Title"/>
          <p:cNvSpPr txBox="1"/>
          <p:nvPr/>
        </p:nvSpPr>
        <p:spPr>
          <a:xfrm>
            <a:off x="201513" y="504974"/>
            <a:ext cx="1875187" cy="2857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9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F1F1F"/>
                </a:solidFill>
                <a:latin typeface="Yu Mincho"/>
                <a:ea typeface="Yu Mincho"/>
                <a:cs typeface="Yu Mincho"/>
              </a:rPr>
              <a:t>バリューチェーン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513" y="1624608"/>
            <a:ext cx="428756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52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51901" y="1621334"/>
            <a:ext cx="48107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0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ラベル2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39250" y="1621334"/>
            <a:ext cx="483084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0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ラベル3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78797" y="1621334"/>
            <a:ext cx="487263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0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ラベル4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22984" y="1621334"/>
            <a:ext cx="482310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0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ラベル5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923" y="1621334"/>
            <a:ext cx="483703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0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ラベル6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0126" y="1621334"/>
            <a:ext cx="474571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0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ラベル7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47193" y="1621334"/>
            <a:ext cx="483858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0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ラベル8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51062" y="2032843"/>
            <a:ext cx="31932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92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92623" y="2032843"/>
            <a:ext cx="341769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92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4334" y="2032843"/>
            <a:ext cx="342698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92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76045" y="2032843"/>
            <a:ext cx="345793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92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17606" y="2032843"/>
            <a:ext cx="341614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92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59317" y="2032843"/>
            <a:ext cx="342852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92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1027" y="2032843"/>
            <a:ext cx="336971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92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1513" y="2433489"/>
            <a:ext cx="456462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52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719861" y="2430214"/>
            <a:ext cx="545151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0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24549" y="2430214"/>
            <a:ext cx="512338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0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ラベル11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52945" y="2430214"/>
            <a:ext cx="539115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0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ラベル12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93575" y="2430214"/>
            <a:ext cx="541127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0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33122" y="2430214"/>
            <a:ext cx="545306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0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ラベル14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77309" y="2430214"/>
            <a:ext cx="540353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0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ラベル15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18249" y="2430214"/>
            <a:ext cx="541746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0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ラベル16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51062" y="2841724"/>
            <a:ext cx="342698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92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892623" y="2841724"/>
            <a:ext cx="342852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92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34334" y="2841724"/>
            <a:ext cx="389132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92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10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76045" y="2841724"/>
            <a:ext cx="364367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92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11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517606" y="2841724"/>
            <a:ext cx="38681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92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12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059317" y="2841724"/>
            <a:ext cx="387739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92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13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601027" y="2841724"/>
            <a:ext cx="390835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92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14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01513" y="6274296"/>
            <a:ext cx="80177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出所）Source 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856244" y="6561981"/>
            <a:ext cx="158663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57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01513" y="1326505"/>
            <a:ext cx="11788974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215801" y="2609404"/>
            <a:ext cx="0" cy="595907"/>
          </a:xfrm>
          <a:prstGeom prst="line">
            <a:avLst/>
          </a:prstGeom>
          <a:ln w="28575">
            <a:solidFill>
              <a:srgbClr val="4D4D4D"/>
            </a:solidFill>
          </a:ln>
        </p:spPr>
      </p:cxnSp>
      <p:sp>
        <p:nvSpPr>
          <p:cNvPr id="4" name="Rectangle 3"/>
          <p:cNvSpPr/>
          <p:nvPr/>
        </p:nvSpPr>
        <p:spPr>
          <a:xfrm>
            <a:off x="5592217" y="1484412"/>
            <a:ext cx="6398121" cy="867370"/>
          </a:xfrm>
          <a:prstGeom prst="rect">
            <a:avLst/>
          </a:prstGeom>
          <a:noFill/>
          <a:ln w="9525">
            <a:solidFill>
              <a:srgbClr val="E0E0E0"/>
            </a:solidFill>
          </a:ln>
        </p:spPr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592217" y="2473672"/>
            <a:ext cx="6398121" cy="867370"/>
          </a:xfrm>
          <a:prstGeom prst="rect">
            <a:avLst/>
          </a:prstGeom>
          <a:noFill/>
          <a:ln w="9525">
            <a:solidFill>
              <a:srgbClr val="4D4D4D"/>
            </a:solidFill>
          </a:ln>
        </p:spPr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592217" y="3462933"/>
            <a:ext cx="6398121" cy="867370"/>
          </a:xfrm>
          <a:prstGeom prst="rect">
            <a:avLst/>
          </a:prstGeom>
          <a:noFill/>
          <a:ln w="9525">
            <a:solidFill>
              <a:srgbClr val="E0E0E0"/>
            </a:solidFill>
          </a:ln>
        </p:spPr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201513" y="271165"/>
            <a:ext cx="1617321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パーツ32｜decision_fork</a:t>
            </a:r>
          </a:p>
        </p:txBody>
      </p:sp>
      <p:sp>
        <p:nvSpPr>
          <p:cNvPr id="8" name="Title"/>
          <p:cNvSpPr txBox="1"/>
          <p:nvPr/>
        </p:nvSpPr>
        <p:spPr>
          <a:xfrm>
            <a:off x="201513" y="504974"/>
            <a:ext cx="1299710" cy="2857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9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F1F1F"/>
                </a:solidFill>
                <a:latin typeface="Yu Mincho"/>
                <a:ea typeface="Yu Mincho"/>
                <a:cs typeface="Yu Mincho"/>
              </a:rPr>
              <a:t>分岐と判断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8179" y="2792164"/>
            <a:ext cx="2411659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14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問い 1：検討すべき問いを記載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54142" y="1606302"/>
            <a:ext cx="505218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54142" y="1835200"/>
            <a:ext cx="383869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26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54142" y="2064395"/>
            <a:ext cx="39841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28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Text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54142" y="2595562"/>
            <a:ext cx="535245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54142" y="2824460"/>
            <a:ext cx="412194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26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54142" y="3053655"/>
            <a:ext cx="404301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28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Text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54142" y="3584823"/>
            <a:ext cx="537567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54142" y="3813721"/>
            <a:ext cx="410956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26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54142" y="4042916"/>
            <a:ext cx="400895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28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Text 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513" y="6274296"/>
            <a:ext cx="80177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出所）Source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50291" y="6561981"/>
            <a:ext cx="16485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58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01513" y="1326505"/>
            <a:ext cx="11788974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3143994" y="1484412"/>
            <a:ext cx="0" cy="827335"/>
          </a:xfrm>
          <a:prstGeom prst="line">
            <a:avLst/>
          </a:prstGeom>
          <a:ln w="9525">
            <a:solidFill>
              <a:srgbClr val="E0E0E0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6091237" y="1484412"/>
            <a:ext cx="0" cy="827335"/>
          </a:xfrm>
          <a:prstGeom prst="line">
            <a:avLst/>
          </a:prstGeom>
          <a:ln w="9525">
            <a:solidFill>
              <a:srgbClr val="E0E0E0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9038481" y="1484412"/>
            <a:ext cx="0" cy="827335"/>
          </a:xfrm>
          <a:prstGeom prst="line">
            <a:avLst/>
          </a:prstGeom>
          <a:ln w="9525">
            <a:solidFill>
              <a:srgbClr val="E0E0E0"/>
            </a:solidFill>
          </a:ln>
        </p:spPr>
      </p:cxnSp>
      <p:sp>
        <p:nvSpPr>
          <p:cNvPr id="6" name="TextBox 5"/>
          <p:cNvSpPr txBox="1"/>
          <p:nvPr/>
        </p:nvSpPr>
        <p:spPr>
          <a:xfrm>
            <a:off x="201513" y="271165"/>
            <a:ext cx="1291971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パーツ33｜roadmap</a:t>
            </a:r>
          </a:p>
        </p:txBody>
      </p:sp>
      <p:sp>
        <p:nvSpPr>
          <p:cNvPr id="7" name="Title"/>
          <p:cNvSpPr txBox="1"/>
          <p:nvPr/>
        </p:nvSpPr>
        <p:spPr>
          <a:xfrm>
            <a:off x="201513" y="504974"/>
            <a:ext cx="1378958" cy="2857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9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F1F1F"/>
                </a:solidFill>
                <a:latin typeface="Yu Mincho"/>
                <a:ea typeface="Yu Mincho"/>
                <a:cs typeface="Yu Mincho"/>
              </a:rPr>
              <a:t>ロードマップ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3913" y="1627287"/>
            <a:ext cx="873288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72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4D4D4D"/>
                </a:solidFill>
                <a:latin typeface="Yu Gothic"/>
                <a:ea typeface="Yu Gothic"/>
                <a:cs typeface="Yu Gothic"/>
              </a:rPr>
              <a:t>タイトル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3913" y="1981051"/>
            <a:ext cx="405229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01157" y="1627287"/>
            <a:ext cx="876538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72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4D4D4D"/>
                </a:solidFill>
                <a:latin typeface="Yu Gothic"/>
                <a:ea typeface="Yu Gothic"/>
                <a:cs typeface="Yu Gothic"/>
              </a:rPr>
              <a:t>タイトル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01157" y="1981051"/>
            <a:ext cx="434173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48400" y="1627287"/>
            <a:ext cx="882884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72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4D4D4D"/>
                </a:solidFill>
                <a:latin typeface="Yu Gothic"/>
                <a:ea typeface="Yu Gothic"/>
                <a:cs typeface="Yu Gothic"/>
              </a:rPr>
              <a:t>タイトル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48400" y="1981051"/>
            <a:ext cx="435257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95643" y="1627287"/>
            <a:ext cx="875300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72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4D4D4D"/>
                </a:solidFill>
                <a:latin typeface="Yu Gothic"/>
                <a:ea typeface="Yu Gothic"/>
                <a:cs typeface="Yu Gothic"/>
              </a:rPr>
              <a:t>タイトル 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95643" y="1981051"/>
            <a:ext cx="439281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513" y="6274296"/>
            <a:ext cx="80177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出所）Source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49993" y="6561981"/>
            <a:ext cx="16516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59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01513" y="1326505"/>
            <a:ext cx="11788974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201513" y="1696045"/>
            <a:ext cx="4072533" cy="0"/>
          </a:xfrm>
          <a:prstGeom prst="line">
            <a:avLst/>
          </a:prstGeom>
          <a:ln w="9525">
            <a:solidFill>
              <a:srgbClr val="1F1F1F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4274046" y="1489174"/>
            <a:ext cx="5787182" cy="0"/>
          </a:xfrm>
          <a:prstGeom prst="line">
            <a:avLst/>
          </a:prstGeom>
          <a:ln w="9525">
            <a:solidFill>
              <a:srgbClr val="E0E0E0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10056465" y="1484412"/>
            <a:ext cx="0" cy="216396"/>
          </a:xfrm>
          <a:prstGeom prst="line">
            <a:avLst/>
          </a:prstGeom>
          <a:ln w="9525">
            <a:solidFill>
              <a:srgbClr val="E0E0E0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278809" y="1484412"/>
            <a:ext cx="0" cy="216396"/>
          </a:xfrm>
          <a:prstGeom prst="line">
            <a:avLst/>
          </a:prstGeom>
          <a:ln w="9525">
            <a:solidFill>
              <a:srgbClr val="E0E0E0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061228" y="1489174"/>
            <a:ext cx="1929110" cy="0"/>
          </a:xfrm>
          <a:prstGeom prst="line">
            <a:avLst/>
          </a:prstGeom>
          <a:ln w="9525">
            <a:solidFill>
              <a:srgbClr val="E0E0E0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11985575" y="1484412"/>
            <a:ext cx="0" cy="216396"/>
          </a:xfrm>
          <a:prstGeom prst="line">
            <a:avLst/>
          </a:prstGeom>
          <a:ln w="9525">
            <a:solidFill>
              <a:srgbClr val="E0E0E0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10065990" y="1484412"/>
            <a:ext cx="0" cy="216396"/>
          </a:xfrm>
          <a:prstGeom prst="line">
            <a:avLst/>
          </a:prstGeom>
          <a:ln w="9525">
            <a:solidFill>
              <a:srgbClr val="E0E0E0"/>
            </a:solidFill>
          </a:ln>
        </p:spPr>
      </p:cxnSp>
      <p:cxnSp>
        <p:nvCxnSpPr>
          <p:cNvPr id="10" name="Connector 9"/>
          <p:cNvCxnSpPr/>
          <p:nvPr/>
        </p:nvCxnSpPr>
        <p:spPr>
          <a:xfrm>
            <a:off x="201513" y="1933873"/>
            <a:ext cx="4072533" cy="0"/>
          </a:xfrm>
          <a:prstGeom prst="line">
            <a:avLst/>
          </a:prstGeom>
          <a:ln w="9525">
            <a:solidFill>
              <a:srgbClr val="1F1F1F"/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4274046" y="1933873"/>
            <a:ext cx="7716292" cy="0"/>
          </a:xfrm>
          <a:prstGeom prst="line">
            <a:avLst/>
          </a:prstGeom>
          <a:ln w="9525">
            <a:solidFill>
              <a:srgbClr val="1F1F1F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4278809" y="1700808"/>
            <a:ext cx="0" cy="228302"/>
          </a:xfrm>
          <a:prstGeom prst="line">
            <a:avLst/>
          </a:prstGeom>
          <a:ln w="9525">
            <a:solidFill>
              <a:srgbClr val="E0E0E0"/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4921746" y="1700808"/>
            <a:ext cx="0" cy="228302"/>
          </a:xfrm>
          <a:prstGeom prst="line">
            <a:avLst/>
          </a:prstGeom>
          <a:ln w="9525">
            <a:solidFill>
              <a:srgbClr val="E0E0E0"/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5564832" y="1700808"/>
            <a:ext cx="0" cy="228302"/>
          </a:xfrm>
          <a:prstGeom prst="line">
            <a:avLst/>
          </a:prstGeom>
          <a:ln w="9525">
            <a:solidFill>
              <a:srgbClr val="E0E0E0"/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6207770" y="1700808"/>
            <a:ext cx="0" cy="228302"/>
          </a:xfrm>
          <a:prstGeom prst="line">
            <a:avLst/>
          </a:prstGeom>
          <a:ln w="9525">
            <a:solidFill>
              <a:srgbClr val="E0E0E0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6850856" y="1700808"/>
            <a:ext cx="0" cy="228302"/>
          </a:xfrm>
          <a:prstGeom prst="line">
            <a:avLst/>
          </a:prstGeom>
          <a:ln w="9525">
            <a:solidFill>
              <a:srgbClr val="E0E0E0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7493794" y="1700808"/>
            <a:ext cx="0" cy="228302"/>
          </a:xfrm>
          <a:prstGeom prst="line">
            <a:avLst/>
          </a:prstGeom>
          <a:ln w="9525">
            <a:solidFill>
              <a:srgbClr val="E0E0E0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8136880" y="1700808"/>
            <a:ext cx="0" cy="228302"/>
          </a:xfrm>
          <a:prstGeom prst="line">
            <a:avLst/>
          </a:prstGeom>
          <a:ln w="9525">
            <a:solidFill>
              <a:srgbClr val="E0E0E0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8779966" y="1700808"/>
            <a:ext cx="0" cy="228302"/>
          </a:xfrm>
          <a:prstGeom prst="line">
            <a:avLst/>
          </a:prstGeom>
          <a:ln w="9525">
            <a:solidFill>
              <a:srgbClr val="E0E0E0"/>
            </a:solidFill>
          </a:ln>
        </p:spPr>
      </p:cxnSp>
      <p:cxnSp>
        <p:nvCxnSpPr>
          <p:cNvPr id="20" name="Connector 19"/>
          <p:cNvCxnSpPr/>
          <p:nvPr/>
        </p:nvCxnSpPr>
        <p:spPr>
          <a:xfrm>
            <a:off x="9422904" y="1700808"/>
            <a:ext cx="0" cy="228302"/>
          </a:xfrm>
          <a:prstGeom prst="line">
            <a:avLst/>
          </a:prstGeom>
          <a:ln w="9525">
            <a:solidFill>
              <a:srgbClr val="E0E0E0"/>
            </a:solidFill>
          </a:ln>
        </p:spPr>
      </p:cxnSp>
      <p:cxnSp>
        <p:nvCxnSpPr>
          <p:cNvPr id="21" name="Connector 20"/>
          <p:cNvCxnSpPr/>
          <p:nvPr/>
        </p:nvCxnSpPr>
        <p:spPr>
          <a:xfrm>
            <a:off x="10065990" y="1700808"/>
            <a:ext cx="0" cy="228302"/>
          </a:xfrm>
          <a:prstGeom prst="line">
            <a:avLst/>
          </a:prstGeom>
          <a:ln w="9525">
            <a:solidFill>
              <a:srgbClr val="E0E0E0"/>
            </a:solidFill>
          </a:ln>
        </p:spPr>
      </p:cxnSp>
      <p:cxnSp>
        <p:nvCxnSpPr>
          <p:cNvPr id="22" name="Connector 21"/>
          <p:cNvCxnSpPr/>
          <p:nvPr/>
        </p:nvCxnSpPr>
        <p:spPr>
          <a:xfrm>
            <a:off x="10708928" y="1700808"/>
            <a:ext cx="0" cy="228302"/>
          </a:xfrm>
          <a:prstGeom prst="line">
            <a:avLst/>
          </a:prstGeom>
          <a:ln w="9525">
            <a:solidFill>
              <a:srgbClr val="E0E0E0"/>
            </a:solidFill>
          </a:ln>
        </p:spPr>
      </p:cxnSp>
      <p:cxnSp>
        <p:nvCxnSpPr>
          <p:cNvPr id="23" name="Connector 22"/>
          <p:cNvCxnSpPr/>
          <p:nvPr/>
        </p:nvCxnSpPr>
        <p:spPr>
          <a:xfrm>
            <a:off x="11352014" y="1700808"/>
            <a:ext cx="0" cy="228302"/>
          </a:xfrm>
          <a:prstGeom prst="line">
            <a:avLst/>
          </a:prstGeom>
          <a:ln w="9525">
            <a:solidFill>
              <a:srgbClr val="E0E0E0"/>
            </a:solidFill>
          </a:ln>
        </p:spPr>
      </p:cxnSp>
      <p:cxnSp>
        <p:nvCxnSpPr>
          <p:cNvPr id="24" name="Connector 23"/>
          <p:cNvCxnSpPr/>
          <p:nvPr/>
        </p:nvCxnSpPr>
        <p:spPr>
          <a:xfrm>
            <a:off x="201513" y="2324398"/>
            <a:ext cx="1714649" cy="0"/>
          </a:xfrm>
          <a:prstGeom prst="line">
            <a:avLst/>
          </a:prstGeom>
          <a:ln w="9525">
            <a:solidFill>
              <a:srgbClr val="1F1F1F"/>
            </a:solidFill>
          </a:ln>
        </p:spPr>
      </p:cxnSp>
      <p:cxnSp>
        <p:nvCxnSpPr>
          <p:cNvPr id="25" name="Connector 24"/>
          <p:cNvCxnSpPr/>
          <p:nvPr/>
        </p:nvCxnSpPr>
        <p:spPr>
          <a:xfrm>
            <a:off x="1916162" y="2324398"/>
            <a:ext cx="2357884" cy="0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</p:cxnSp>
      <p:pic>
        <p:nvPicPr>
          <p:cNvPr id="26" name="Picture 25" descr="img_64_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4046" y="2319635"/>
            <a:ext cx="7716292" cy="365671"/>
          </a:xfrm>
          <a:prstGeom prst="rect">
            <a:avLst/>
          </a:prstGeom>
        </p:spPr>
      </p:pic>
      <p:cxnSp>
        <p:nvCxnSpPr>
          <p:cNvPr id="27" name="Connector 26"/>
          <p:cNvCxnSpPr/>
          <p:nvPr/>
        </p:nvCxnSpPr>
        <p:spPr>
          <a:xfrm>
            <a:off x="4274046" y="2324398"/>
            <a:ext cx="7716292" cy="0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</p:cxnSp>
      <p:sp>
        <p:nvSpPr>
          <p:cNvPr id="28" name="Rounded Rectangle 27"/>
          <p:cNvSpPr/>
          <p:nvPr/>
        </p:nvSpPr>
        <p:spPr>
          <a:xfrm>
            <a:off x="4274046" y="2423368"/>
            <a:ext cx="642938" cy="167580"/>
          </a:xfrm>
          <a:prstGeom prst="roundRect">
            <a:avLst>
              <a:gd name="adj" fmla="val 13641"/>
            </a:avLst>
          </a:prstGeom>
          <a:solidFill>
            <a:srgbClr val="A6A6A6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29" name="Connector 28"/>
          <p:cNvCxnSpPr/>
          <p:nvPr/>
        </p:nvCxnSpPr>
        <p:spPr>
          <a:xfrm>
            <a:off x="201513" y="2690068"/>
            <a:ext cx="1714649" cy="0"/>
          </a:xfrm>
          <a:prstGeom prst="line">
            <a:avLst/>
          </a:prstGeom>
          <a:ln w="9525">
            <a:solidFill>
              <a:srgbClr val="1F1F1F"/>
            </a:solidFill>
          </a:ln>
        </p:spPr>
      </p:cxnSp>
      <p:cxnSp>
        <p:nvCxnSpPr>
          <p:cNvPr id="30" name="Connector 29"/>
          <p:cNvCxnSpPr/>
          <p:nvPr/>
        </p:nvCxnSpPr>
        <p:spPr>
          <a:xfrm>
            <a:off x="1916162" y="2690068"/>
            <a:ext cx="2357884" cy="0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</p:cxnSp>
      <p:pic>
        <p:nvPicPr>
          <p:cNvPr id="31" name="Picture 30" descr="img_64_1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4046" y="2685306"/>
            <a:ext cx="7716292" cy="365671"/>
          </a:xfrm>
          <a:prstGeom prst="rect">
            <a:avLst/>
          </a:prstGeom>
        </p:spPr>
      </p:pic>
      <p:cxnSp>
        <p:nvCxnSpPr>
          <p:cNvPr id="32" name="Connector 31"/>
          <p:cNvCxnSpPr/>
          <p:nvPr/>
        </p:nvCxnSpPr>
        <p:spPr>
          <a:xfrm>
            <a:off x="4274046" y="2690068"/>
            <a:ext cx="7716292" cy="0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</p:cxnSp>
      <p:sp>
        <p:nvSpPr>
          <p:cNvPr id="33" name="Rounded Rectangle 32"/>
          <p:cNvSpPr/>
          <p:nvPr/>
        </p:nvSpPr>
        <p:spPr>
          <a:xfrm>
            <a:off x="4916984" y="2789039"/>
            <a:ext cx="1286024" cy="167580"/>
          </a:xfrm>
          <a:prstGeom prst="roundRect">
            <a:avLst>
              <a:gd name="adj" fmla="val 13641"/>
            </a:avLst>
          </a:prstGeom>
          <a:solidFill>
            <a:srgbClr val="A6A6A6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34" name="Connector 33"/>
          <p:cNvCxnSpPr/>
          <p:nvPr/>
        </p:nvCxnSpPr>
        <p:spPr>
          <a:xfrm>
            <a:off x="201513" y="3055739"/>
            <a:ext cx="1714649" cy="0"/>
          </a:xfrm>
          <a:prstGeom prst="line">
            <a:avLst/>
          </a:prstGeom>
          <a:ln w="9525">
            <a:solidFill>
              <a:srgbClr val="1F1F1F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1916162" y="3055739"/>
            <a:ext cx="2357884" cy="0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</p:cxnSp>
      <p:pic>
        <p:nvPicPr>
          <p:cNvPr id="36" name="Picture 35" descr="img_64_2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4046" y="3050977"/>
            <a:ext cx="7716292" cy="365671"/>
          </a:xfrm>
          <a:prstGeom prst="rect">
            <a:avLst/>
          </a:prstGeom>
        </p:spPr>
      </p:pic>
      <p:cxnSp>
        <p:nvCxnSpPr>
          <p:cNvPr id="37" name="Connector 36"/>
          <p:cNvCxnSpPr/>
          <p:nvPr/>
        </p:nvCxnSpPr>
        <p:spPr>
          <a:xfrm>
            <a:off x="4274046" y="3055739"/>
            <a:ext cx="7716292" cy="0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</p:cxnSp>
      <p:sp>
        <p:nvSpPr>
          <p:cNvPr id="38" name="Rounded Rectangle 37"/>
          <p:cNvSpPr/>
          <p:nvPr/>
        </p:nvSpPr>
        <p:spPr>
          <a:xfrm>
            <a:off x="5560070" y="3154710"/>
            <a:ext cx="642938" cy="167580"/>
          </a:xfrm>
          <a:prstGeom prst="roundRect">
            <a:avLst>
              <a:gd name="adj" fmla="val 13641"/>
            </a:avLst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39" name="Connector 38"/>
          <p:cNvCxnSpPr/>
          <p:nvPr/>
        </p:nvCxnSpPr>
        <p:spPr>
          <a:xfrm>
            <a:off x="201513" y="3421410"/>
            <a:ext cx="1714649" cy="0"/>
          </a:xfrm>
          <a:prstGeom prst="line">
            <a:avLst/>
          </a:prstGeom>
          <a:ln w="9525">
            <a:solidFill>
              <a:srgbClr val="1F1F1F"/>
            </a:solidFill>
          </a:ln>
        </p:spPr>
      </p:cxnSp>
      <p:cxnSp>
        <p:nvCxnSpPr>
          <p:cNvPr id="40" name="Connector 39"/>
          <p:cNvCxnSpPr/>
          <p:nvPr/>
        </p:nvCxnSpPr>
        <p:spPr>
          <a:xfrm>
            <a:off x="1916162" y="3421410"/>
            <a:ext cx="2357884" cy="0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</p:cxnSp>
      <p:pic>
        <p:nvPicPr>
          <p:cNvPr id="41" name="Picture 40" descr="img_64_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4046" y="3416647"/>
            <a:ext cx="7716292" cy="365671"/>
          </a:xfrm>
          <a:prstGeom prst="rect">
            <a:avLst/>
          </a:prstGeom>
        </p:spPr>
      </p:pic>
      <p:cxnSp>
        <p:nvCxnSpPr>
          <p:cNvPr id="42" name="Connector 41"/>
          <p:cNvCxnSpPr/>
          <p:nvPr/>
        </p:nvCxnSpPr>
        <p:spPr>
          <a:xfrm>
            <a:off x="4274046" y="3421410"/>
            <a:ext cx="7716292" cy="0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</p:cxnSp>
      <p:sp>
        <p:nvSpPr>
          <p:cNvPr id="43" name="Rounded Rectangle 42"/>
          <p:cNvSpPr/>
          <p:nvPr/>
        </p:nvSpPr>
        <p:spPr>
          <a:xfrm>
            <a:off x="6203007" y="3520380"/>
            <a:ext cx="1286024" cy="167580"/>
          </a:xfrm>
          <a:prstGeom prst="roundRect">
            <a:avLst>
              <a:gd name="adj" fmla="val 13641"/>
            </a:avLst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44" name="Connector 43"/>
          <p:cNvCxnSpPr/>
          <p:nvPr/>
        </p:nvCxnSpPr>
        <p:spPr>
          <a:xfrm>
            <a:off x="201513" y="3787080"/>
            <a:ext cx="1714649" cy="0"/>
          </a:xfrm>
          <a:prstGeom prst="line">
            <a:avLst/>
          </a:prstGeom>
          <a:ln w="9525">
            <a:solidFill>
              <a:srgbClr val="1F1F1F"/>
            </a:solidFill>
          </a:ln>
        </p:spPr>
      </p:cxnSp>
      <p:cxnSp>
        <p:nvCxnSpPr>
          <p:cNvPr id="45" name="Connector 44"/>
          <p:cNvCxnSpPr/>
          <p:nvPr/>
        </p:nvCxnSpPr>
        <p:spPr>
          <a:xfrm>
            <a:off x="1916162" y="3787080"/>
            <a:ext cx="2357884" cy="0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</p:cxnSp>
      <p:pic>
        <p:nvPicPr>
          <p:cNvPr id="46" name="Picture 45" descr="img_64_1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4046" y="3782318"/>
            <a:ext cx="7716292" cy="365671"/>
          </a:xfrm>
          <a:prstGeom prst="rect">
            <a:avLst/>
          </a:prstGeom>
        </p:spPr>
      </p:pic>
      <p:cxnSp>
        <p:nvCxnSpPr>
          <p:cNvPr id="47" name="Connector 46"/>
          <p:cNvCxnSpPr/>
          <p:nvPr/>
        </p:nvCxnSpPr>
        <p:spPr>
          <a:xfrm>
            <a:off x="4274046" y="3787080"/>
            <a:ext cx="7716292" cy="0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</p:cxnSp>
      <p:sp>
        <p:nvSpPr>
          <p:cNvPr id="48" name="Rounded Rectangle 47"/>
          <p:cNvSpPr/>
          <p:nvPr/>
        </p:nvSpPr>
        <p:spPr>
          <a:xfrm>
            <a:off x="6846094" y="3886051"/>
            <a:ext cx="1286024" cy="167580"/>
          </a:xfrm>
          <a:prstGeom prst="roundRect">
            <a:avLst>
              <a:gd name="adj" fmla="val 13641"/>
            </a:avLst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49" name="Connector 48"/>
          <p:cNvCxnSpPr/>
          <p:nvPr/>
        </p:nvCxnSpPr>
        <p:spPr>
          <a:xfrm>
            <a:off x="201513" y="4152751"/>
            <a:ext cx="1714649" cy="0"/>
          </a:xfrm>
          <a:prstGeom prst="line">
            <a:avLst/>
          </a:prstGeom>
          <a:ln w="9525">
            <a:solidFill>
              <a:srgbClr val="1F1F1F"/>
            </a:solidFill>
          </a:ln>
        </p:spPr>
      </p:cxnSp>
      <p:cxnSp>
        <p:nvCxnSpPr>
          <p:cNvPr id="50" name="Connector 49"/>
          <p:cNvCxnSpPr/>
          <p:nvPr/>
        </p:nvCxnSpPr>
        <p:spPr>
          <a:xfrm>
            <a:off x="1916162" y="4152751"/>
            <a:ext cx="2357884" cy="0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</p:cxnSp>
      <p:pic>
        <p:nvPicPr>
          <p:cNvPr id="51" name="Picture 50" descr="img_64_2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4046" y="4147989"/>
            <a:ext cx="7716292" cy="365671"/>
          </a:xfrm>
          <a:prstGeom prst="rect">
            <a:avLst/>
          </a:prstGeom>
        </p:spPr>
      </p:pic>
      <p:cxnSp>
        <p:nvCxnSpPr>
          <p:cNvPr id="52" name="Connector 51"/>
          <p:cNvCxnSpPr/>
          <p:nvPr/>
        </p:nvCxnSpPr>
        <p:spPr>
          <a:xfrm>
            <a:off x="4274046" y="4152751"/>
            <a:ext cx="7716292" cy="0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</p:cxnSp>
      <p:sp>
        <p:nvSpPr>
          <p:cNvPr id="53" name="Rounded Rectangle 52"/>
          <p:cNvSpPr/>
          <p:nvPr/>
        </p:nvSpPr>
        <p:spPr>
          <a:xfrm>
            <a:off x="9418141" y="4251722"/>
            <a:ext cx="1286024" cy="167580"/>
          </a:xfrm>
          <a:prstGeom prst="roundRect">
            <a:avLst>
              <a:gd name="adj" fmla="val 13641"/>
            </a:avLst>
          </a:prstGeom>
          <a:solidFill>
            <a:srgbClr val="262626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54" name="Connector 53"/>
          <p:cNvCxnSpPr/>
          <p:nvPr/>
        </p:nvCxnSpPr>
        <p:spPr>
          <a:xfrm>
            <a:off x="201513" y="4518422"/>
            <a:ext cx="1714649" cy="0"/>
          </a:xfrm>
          <a:prstGeom prst="line">
            <a:avLst/>
          </a:prstGeom>
          <a:ln w="9525">
            <a:solidFill>
              <a:srgbClr val="1F1F1F"/>
            </a:solidFill>
          </a:ln>
        </p:spPr>
      </p:cxnSp>
      <p:cxnSp>
        <p:nvCxnSpPr>
          <p:cNvPr id="55" name="Connector 54"/>
          <p:cNvCxnSpPr/>
          <p:nvPr/>
        </p:nvCxnSpPr>
        <p:spPr>
          <a:xfrm>
            <a:off x="1916162" y="4518422"/>
            <a:ext cx="2357884" cy="0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</p:cxnSp>
      <p:pic>
        <p:nvPicPr>
          <p:cNvPr id="56" name="Picture 55" descr="img_64_1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4046" y="4513659"/>
            <a:ext cx="7716292" cy="365671"/>
          </a:xfrm>
          <a:prstGeom prst="rect">
            <a:avLst/>
          </a:prstGeom>
        </p:spPr>
      </p:pic>
      <p:cxnSp>
        <p:nvCxnSpPr>
          <p:cNvPr id="57" name="Connector 56"/>
          <p:cNvCxnSpPr/>
          <p:nvPr/>
        </p:nvCxnSpPr>
        <p:spPr>
          <a:xfrm>
            <a:off x="4274046" y="4518422"/>
            <a:ext cx="7716292" cy="0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</p:cxnSp>
      <p:sp>
        <p:nvSpPr>
          <p:cNvPr id="58" name="Freeform 57"/>
          <p:cNvSpPr/>
          <p:nvPr/>
        </p:nvSpPr>
        <p:spPr>
          <a:xfrm>
            <a:off x="10704165" y="4617393"/>
            <a:ext cx="1286024" cy="167580"/>
          </a:xfrm>
          <a:custGeom>
            <a:avLst/>
            <a:gdLst/>
            <a:ahLst/>
            <a:cxnLst/>
            <a:rect l="l" t="t" r="r" b="b"/>
            <a:pathLst>
              <a:path w="1286024" h="167580">
                <a:moveTo>
                  <a:pt x="0" y="0"/>
                </a:moveTo>
                <a:lnTo>
                  <a:pt x="1162199" y="0"/>
                </a:lnTo>
                <a:lnTo>
                  <a:pt x="1286024" y="83790"/>
                </a:lnTo>
                <a:lnTo>
                  <a:pt x="1162199" y="167580"/>
                </a:lnTo>
                <a:lnTo>
                  <a:pt x="0" y="167580"/>
                </a:lnTo>
                <a:close/>
              </a:path>
            </a:pathLst>
          </a:custGeom>
          <a:solidFill>
            <a:srgbClr val="26262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201513" y="271165"/>
            <a:ext cx="1035498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パーツ34｜gantt</a:t>
            </a:r>
          </a:p>
        </p:txBody>
      </p:sp>
      <p:sp>
        <p:nvSpPr>
          <p:cNvPr id="60" name="Title"/>
          <p:cNvSpPr txBox="1"/>
          <p:nvPr/>
        </p:nvSpPr>
        <p:spPr>
          <a:xfrm>
            <a:off x="201513" y="504974"/>
            <a:ext cx="1574447" cy="2857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9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F1F1F"/>
                </a:solidFill>
                <a:latin typeface="Yu Mincho"/>
                <a:ea typeface="Yu Mincho"/>
                <a:cs typeface="Yu Mincho"/>
              </a:rPr>
              <a:t>ガントチャート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912245" y="1524298"/>
            <a:ext cx="510635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152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ラベル13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768456" y="1524298"/>
            <a:ext cx="514505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152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ラベル14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398669" y="1721644"/>
            <a:ext cx="403217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029840" y="1721644"/>
            <a:ext cx="42689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671849" y="1721644"/>
            <a:ext cx="428756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13081" y="1721644"/>
            <a:ext cx="432316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958334" y="1721644"/>
            <a:ext cx="427982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600652" y="1721644"/>
            <a:ext cx="42922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247763" y="1721644"/>
            <a:ext cx="421172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886673" y="1721644"/>
            <a:ext cx="429375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529762" y="1721644"/>
            <a:ext cx="42922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45762" y="1721644"/>
            <a:ext cx="48339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ラベル10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803246" y="1721644"/>
            <a:ext cx="45445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ラベル11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1434417" y="1721644"/>
            <a:ext cx="478131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ラベル12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01513" y="2051000"/>
            <a:ext cx="739402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マイルストーン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26081" y="1965275"/>
            <a:ext cx="139315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▲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387084" y="2104281"/>
            <a:ext cx="417457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897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ラベル15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811584" y="1965275"/>
            <a:ext cx="139315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▲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671971" y="2104281"/>
            <a:ext cx="418540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897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ラベル16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740619" y="1965275"/>
            <a:ext cx="139315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▲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604564" y="2104281"/>
            <a:ext cx="411575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897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ラベル17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669729" y="1965275"/>
            <a:ext cx="139315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▲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530114" y="2104281"/>
            <a:ext cx="418695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897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ラベル18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1598765" y="1965275"/>
            <a:ext cx="139315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▲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1459152" y="2104281"/>
            <a:ext cx="418540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897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72951" y="2429470"/>
            <a:ext cx="571774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24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ラベル20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977033" y="2431107"/>
            <a:ext cx="503051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ラベル21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75892" y="2795141"/>
            <a:ext cx="5658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24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ラベル22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977033" y="2796778"/>
            <a:ext cx="529673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ラベル23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73728" y="3160812"/>
            <a:ext cx="570071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24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ラベル24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977033" y="3162449"/>
            <a:ext cx="528435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ラベル25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74502" y="3526482"/>
            <a:ext cx="568523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24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ラベル26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977033" y="3528120"/>
            <a:ext cx="523173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ラベル27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74499" y="3892153"/>
            <a:ext cx="568678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24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ラベル28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977033" y="3893790"/>
            <a:ext cx="529983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ラベル29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71867" y="4257824"/>
            <a:ext cx="573941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24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ラベル30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977033" y="4259461"/>
            <a:ext cx="50398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ラベル31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74811" y="4623495"/>
            <a:ext cx="567904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24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ラベル32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977033" y="4625132"/>
            <a:ext cx="530757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ラベル33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01513" y="6274296"/>
            <a:ext cx="80177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出所）Source 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1847463" y="6561981"/>
            <a:ext cx="167795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60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01513" y="1326505"/>
            <a:ext cx="11788974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6030664" y="1892945"/>
            <a:ext cx="5959823" cy="0"/>
          </a:xfrm>
          <a:prstGeom prst="line">
            <a:avLst/>
          </a:prstGeom>
          <a:ln w="9525">
            <a:solidFill>
              <a:srgbClr val="E0E0E0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6030664" y="2443311"/>
            <a:ext cx="5959823" cy="0"/>
          </a:xfrm>
          <a:prstGeom prst="line">
            <a:avLst/>
          </a:prstGeom>
          <a:ln w="9525">
            <a:solidFill>
              <a:srgbClr val="E0E0E0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201513" y="271165"/>
            <a:ext cx="1690842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パーツ35｜decision_page</a:t>
            </a:r>
          </a:p>
        </p:txBody>
      </p:sp>
      <p:sp>
        <p:nvSpPr>
          <p:cNvPr id="6" name="Title"/>
          <p:cNvSpPr txBox="1"/>
          <p:nvPr/>
        </p:nvSpPr>
        <p:spPr>
          <a:xfrm>
            <a:off x="201513" y="504974"/>
            <a:ext cx="1833086" cy="2857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9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F1F1F"/>
                </a:solidFill>
                <a:latin typeface="Yu Mincho"/>
                <a:ea typeface="Yu Mincho"/>
                <a:cs typeface="Yu Mincho"/>
              </a:rPr>
              <a:t>意思決定ページ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513" y="1484412"/>
            <a:ext cx="1121092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96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推奨する意思決定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513" y="1746052"/>
            <a:ext cx="771442" cy="3143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346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0664" y="1484412"/>
            <a:ext cx="114705" cy="2571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4D4D4D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02896" y="1484412"/>
            <a:ext cx="549485" cy="2095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0664" y="2034778"/>
            <a:ext cx="158817" cy="2571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4D4D4D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02896" y="2034778"/>
            <a:ext cx="551033" cy="2095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0664" y="2585145"/>
            <a:ext cx="162377" cy="2571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4D4D4D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02896" y="2585145"/>
            <a:ext cx="556141" cy="2095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Text 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513" y="6274296"/>
            <a:ext cx="80177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Yu Gothic"/>
                <a:ea typeface="Yu Gothic"/>
                <a:cs typeface="Yu Gothic"/>
              </a:rPr>
              <a:t>出所）Source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73061" y="6561981"/>
            <a:ext cx="141172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1F1F"/>
                </a:solidFill>
                <a:latin typeface="Yu Gothic"/>
                <a:ea typeface="Yu Gothic"/>
                <a:cs typeface="Yu Gothic"/>
              </a:rPr>
              <a:t>61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