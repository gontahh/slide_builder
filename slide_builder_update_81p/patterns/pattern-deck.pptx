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9.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4.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15.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charts/chart16.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17.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charts/chart18.xml" ContentType="application/vnd.openxmlformats-officedocument.drawingml.chart+xml"/>
  <Override PartName="/ppt/slideMasters/slideMaster66.xml" ContentType="application/vnd.openxmlformats-officedocument.presentationml.slideMaster+xml"/>
  <Override PartName="/ppt/slides/slide66.xml" ContentType="application/vnd.openxmlformats-officedocument.presentationml.slide+xml"/>
  <Override PartName="/ppt/charts/chart19.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charts/chart20.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9905695" cy="6858000"/>
  <p:notesSz cx="6858000" cy="9905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過去</c:v>
                </c:pt>
              </c:strCache>
            </c:strRef>
          </c:tx>
          <c:spPr>
            <a:solidFill>
              <a:srgbClr val="BFBFBF"/>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2015</c:v>
                  </c:pt>
                  <c:pt idx="1">
                    <c:v>2017</c:v>
                  </c:pt>
                  <c:pt idx="2">
                    <c:v>2019</c:v>
                  </c:pt>
                  <c:pt idx="3">
                    <c:v>2021</c:v>
                  </c:pt>
                  <c:pt idx="4">
                    <c:v>2023</c:v>
                  </c:pt>
                  <c:pt idx="5">
                    <c:v>2025</c:v>
                  </c:pt>
                </c:lvl>
              </c:multiLvlStrCache>
            </c:multiLvlStrRef>
          </c:cat>
          <c:val>
            <c:numRef>
              <c:f>Sheet1!$B$2:$B$7</c:f>
              <c:numCache>
                <c:formatCode>General</c:formatCode>
                <c:ptCount val="6"/>
                <c:pt idx="0">
                  <c:v>100</c:v>
                </c:pt>
                <c:pt idx="1">
                  <c:v>108</c:v>
                </c:pt>
                <c:pt idx="2">
                  <c:v>115</c:v>
                </c:pt>
                <c:pt idx="3">
                  <c:v>0</c:v>
                </c:pt>
                <c:pt idx="4">
                  <c:v>0</c:v>
                </c:pt>
                <c:pt idx="5">
                  <c:v>0</c:v>
                </c:pt>
              </c:numCache>
            </c:numRef>
          </c:val>
        </c:ser>
        <c:ser>
          <c:idx val="1"/>
          <c:order val="1"/>
          <c:tx>
            <c:strRef>
              <c:f>Sheet1!$C$1</c:f>
              <c:strCache>
                <c:ptCount val="1"/>
                <c:pt idx="0">
                  <c:v>直近</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2015</c:v>
                  </c:pt>
                  <c:pt idx="1">
                    <c:v>2017</c:v>
                  </c:pt>
                  <c:pt idx="2">
                    <c:v>2019</c:v>
                  </c:pt>
                  <c:pt idx="3">
                    <c:v>2021</c:v>
                  </c:pt>
                  <c:pt idx="4">
                    <c:v>2023</c:v>
                  </c:pt>
                  <c:pt idx="5">
                    <c:v>2025</c:v>
                  </c:pt>
                </c:lvl>
              </c:multiLvlStrCache>
            </c:multiLvlStrRef>
          </c:cat>
          <c:val>
            <c:numRef>
              <c:f>Sheet1!$C$2:$C$7</c:f>
              <c:numCache>
                <c:formatCode>General</c:formatCode>
                <c:ptCount val="6"/>
                <c:pt idx="0">
                  <c:v>0</c:v>
                </c:pt>
                <c:pt idx="1">
                  <c:v>0</c:v>
                </c:pt>
                <c:pt idx="2">
                  <c:v>0</c:v>
                </c:pt>
                <c:pt idx="3">
                  <c:v>132</c:v>
                </c:pt>
                <c:pt idx="4">
                  <c:v>150</c:v>
                </c:pt>
                <c:pt idx="5">
                  <c:v>170</c:v>
                </c:pt>
              </c:numCache>
            </c:numRef>
          </c:val>
        </c:ser>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その他</c:v>
                </c:pt>
              </c:strCache>
            </c:strRef>
          </c:tx>
          <c:spPr>
            <a:solidFill>
              <a:srgbClr val="BFBFBF"/>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地域H</c:v>
                  </c:pt>
                  <c:pt idx="1">
                    <c:v>地域G</c:v>
                  </c:pt>
                  <c:pt idx="2">
                    <c:v>地域F</c:v>
                  </c:pt>
                  <c:pt idx="3">
                    <c:v>【対象】</c:v>
                  </c:pt>
                  <c:pt idx="4">
                    <c:v>地域D</c:v>
                  </c:pt>
                  <c:pt idx="5">
                    <c:v>地域C</c:v>
                  </c:pt>
                  <c:pt idx="6">
                    <c:v>地域B</c:v>
                  </c:pt>
                  <c:pt idx="7">
                    <c:v>地域A</c:v>
                  </c:pt>
                </c:lvl>
              </c:multiLvlStrCache>
            </c:multiLvlStrRef>
          </c:cat>
          <c:val>
            <c:numRef>
              <c:f>Sheet1!$B$2:$B$9</c:f>
              <c:numCache>
                <c:formatCode>General</c:formatCode>
                <c:ptCount val="8"/>
                <c:pt idx="0">
                  <c:v>80</c:v>
                </c:pt>
                <c:pt idx="1">
                  <c:v>95</c:v>
                </c:pt>
                <c:pt idx="2">
                  <c:v>110</c:v>
                </c:pt>
                <c:pt idx="3">
                  <c:v>0</c:v>
                </c:pt>
                <c:pt idx="4">
                  <c:v>140</c:v>
                </c:pt>
                <c:pt idx="5">
                  <c:v>150</c:v>
                </c:pt>
                <c:pt idx="6">
                  <c:v>165</c:v>
                </c:pt>
                <c:pt idx="7">
                  <c:v>180</c:v>
                </c:pt>
              </c:numCache>
            </c:numRef>
          </c:val>
        </c:ser>
        <c:ser>
          <c:idx val="1"/>
          <c:order val="1"/>
          <c:tx>
            <c:strRef>
              <c:f>Sheet1!$C$1</c:f>
              <c:strCache>
                <c:ptCount val="1"/>
                <c:pt idx="0">
                  <c:v>対象</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地域H</c:v>
                  </c:pt>
                  <c:pt idx="1">
                    <c:v>地域G</c:v>
                  </c:pt>
                  <c:pt idx="2">
                    <c:v>地域F</c:v>
                  </c:pt>
                  <c:pt idx="3">
                    <c:v>【対象】</c:v>
                  </c:pt>
                  <c:pt idx="4">
                    <c:v>地域D</c:v>
                  </c:pt>
                  <c:pt idx="5">
                    <c:v>地域C</c:v>
                  </c:pt>
                  <c:pt idx="6">
                    <c:v>地域B</c:v>
                  </c:pt>
                  <c:pt idx="7">
                    <c:v>地域A</c:v>
                  </c:pt>
                </c:lvl>
              </c:multiLvlStrCache>
            </c:multiLvlStrRef>
          </c:cat>
          <c:val>
            <c:numRef>
              <c:f>Sheet1!$C$2:$C$9</c:f>
              <c:numCache>
                <c:formatCode>General</c:formatCode>
                <c:ptCount val="8"/>
                <c:pt idx="0">
                  <c:v>0</c:v>
                </c:pt>
                <c:pt idx="1">
                  <c:v>0</c:v>
                </c:pt>
                <c:pt idx="2">
                  <c:v>0</c:v>
                </c:pt>
                <c:pt idx="3">
                  <c:v>120</c:v>
                </c:pt>
                <c:pt idx="4">
                  <c:v>0</c:v>
                </c:pt>
                <c:pt idx="5">
                  <c:v>0</c:v>
                </c:pt>
                <c:pt idx="6">
                  <c:v>0</c:v>
                </c:pt>
                <c:pt idx="7">
                  <c:v>0</c:v>
                </c:pt>
              </c:numCache>
            </c:numRef>
          </c:val>
        </c:ser>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区分A</c:v>
                </c:pt>
              </c:strCache>
            </c:strRef>
          </c:tx>
          <c:spPr>
            <a:solidFill>
              <a:srgbClr val="595959"/>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2015</c:v>
                  </c:pt>
                  <c:pt idx="1">
                    <c:v>2020</c:v>
                  </c:pt>
                  <c:pt idx="2">
                    <c:v>2025</c:v>
                  </c:pt>
                </c:lvl>
              </c:multiLvlStrCache>
            </c:multiLvlStrRef>
          </c:cat>
          <c:val>
            <c:numRef>
              <c:f>Sheet1!$B$2:$B$4</c:f>
              <c:numCache>
                <c:formatCode>General</c:formatCode>
                <c:ptCount val="3"/>
                <c:pt idx="0">
                  <c:v>40</c:v>
                </c:pt>
                <c:pt idx="1">
                  <c:v>35</c:v>
                </c:pt>
                <c:pt idx="2">
                  <c:v>28</c:v>
                </c:pt>
              </c:numCache>
            </c:numRef>
          </c:val>
        </c:ser>
        <c:ser>
          <c:idx val="1"/>
          <c:order val="1"/>
          <c:tx>
            <c:strRef>
              <c:f>Sheet1!$C$1</c:f>
              <c:strCache>
                <c:ptCount val="1"/>
                <c:pt idx="0">
                  <c:v>区分B</c:v>
                </c:pt>
              </c:strCache>
            </c:strRef>
          </c:tx>
          <c:spPr>
            <a:solidFill>
              <a:srgbClr val="7F7F7F"/>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2015</c:v>
                  </c:pt>
                  <c:pt idx="1">
                    <c:v>2020</c:v>
                  </c:pt>
                  <c:pt idx="2">
                    <c:v>2025</c:v>
                  </c:pt>
                </c:lvl>
              </c:multiLvlStrCache>
            </c:multiLvlStrRef>
          </c:cat>
          <c:val>
            <c:numRef>
              <c:f>Sheet1!$C$2:$C$4</c:f>
              <c:numCache>
                <c:formatCode>General</c:formatCode>
                <c:ptCount val="3"/>
                <c:pt idx="0">
                  <c:v>35</c:v>
                </c:pt>
                <c:pt idx="1">
                  <c:v>33</c:v>
                </c:pt>
                <c:pt idx="2">
                  <c:v>30</c:v>
                </c:pt>
              </c:numCache>
            </c:numRef>
          </c:val>
        </c:ser>
        <c:ser>
          <c:idx val="2"/>
          <c:order val="2"/>
          <c:tx>
            <c:strRef>
              <c:f>Sheet1!$D$1</c:f>
              <c:strCache>
                <c:ptCount val="1"/>
                <c:pt idx="0">
                  <c:v>区分C</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2015</c:v>
                  </c:pt>
                  <c:pt idx="1">
                    <c:v>2020</c:v>
                  </c:pt>
                  <c:pt idx="2">
                    <c:v>2025</c:v>
                  </c:pt>
                </c:lvl>
              </c:multiLvlStrCache>
            </c:multiLvlStrRef>
          </c:cat>
          <c:val>
            <c:numRef>
              <c:f>Sheet1!$D$2:$D$4</c:f>
              <c:numCache>
                <c:formatCode>General</c:formatCode>
                <c:ptCount val="3"/>
                <c:pt idx="0">
                  <c:v>15</c:v>
                </c:pt>
                <c:pt idx="1">
                  <c:v>22</c:v>
                </c:pt>
                <c:pt idx="2">
                  <c:v>32</c:v>
                </c:pt>
              </c:numCache>
            </c:numRef>
          </c:val>
        </c:ser>
        <c:ser>
          <c:idx val="3"/>
          <c:order val="3"/>
          <c:tx>
            <c:strRef>
              <c:f>Sheet1!$E$1</c:f>
              <c:strCache>
                <c:ptCount val="1"/>
                <c:pt idx="0">
                  <c:v>その他</c:v>
                </c:pt>
              </c:strCache>
            </c:strRef>
          </c:tx>
          <c:spPr>
            <a:solidFill>
              <a:srgbClr val="A6A6A6"/>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2015</c:v>
                  </c:pt>
                  <c:pt idx="1">
                    <c:v>2020</c:v>
                  </c:pt>
                  <c:pt idx="2">
                    <c:v>2025</c:v>
                  </c:pt>
                </c:lvl>
              </c:multiLvlStrCache>
            </c:multiLvlStrRef>
          </c:cat>
          <c:val>
            <c:numRef>
              <c:f>Sheet1!$E$2:$E$4</c:f>
              <c:numCache>
                <c:formatCode>General</c:formatCode>
                <c:ptCount val="3"/>
                <c:pt idx="0">
                  <c:v>10</c:v>
                </c:pt>
                <c:pt idx="1">
                  <c:v>10</c:v>
                </c:pt>
                <c:pt idx="2">
                  <c:v>10</c:v>
                </c:pt>
              </c:numCache>
            </c:numRef>
          </c:val>
        </c:ser>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その他</c:v>
                </c:pt>
              </c:strCache>
            </c:strRef>
          </c:tx>
          <c:spPr>
            <a:solidFill>
              <a:srgbClr val="BFBFBF"/>
            </a:solidFill>
            <a:ln>
              <a:noFill/>
            </a:ln>
            <a:effectLst/>
          </c:spPr>
          <c:marker>
            <c:symbol val="circle"/>
            <c:size val="11"/>
            <c:spPr>
              <a:solidFill>
                <a:srgbClr val="BFBFBF"/>
              </a:solidFill>
              <a:ln w="9525" cap="flat">
                <a:solidFill>
                  <a:srgbClr val="BFBFBF"/>
                </a:solidFill>
                <a:prstDash val="solid"/>
                <a:round/>
              </a:ln>
              <a:effectLst/>
            </c:spPr>
          </c:marker>
          <c:xVal>
            <c:numRef>
              <c:f>Sheet1!$A$2:$A$12</c:f>
              <c:numCache>
                <c:formatCode>General</c:formatCode>
                <c:ptCount val="11"/>
                <c:pt idx="0">
                  <c:v>10</c:v>
                </c:pt>
                <c:pt idx="1">
                  <c:v>15</c:v>
                </c:pt>
                <c:pt idx="2">
                  <c:v>20</c:v>
                </c:pt>
                <c:pt idx="3">
                  <c:v>25</c:v>
                </c:pt>
                <c:pt idx="4">
                  <c:v>30</c:v>
                </c:pt>
                <c:pt idx="5">
                  <c:v>35</c:v>
                </c:pt>
                <c:pt idx="6">
                  <c:v>40</c:v>
                </c:pt>
                <c:pt idx="7">
                  <c:v>45</c:v>
                </c:pt>
                <c:pt idx="8">
                  <c:v>50</c:v>
                </c:pt>
                <c:pt idx="9">
                  <c:v>55</c:v>
                </c:pt>
                <c:pt idx="10">
                  <c:v>32</c:v>
                </c:pt>
              </c:numCache>
            </c:numRef>
          </c:xVal>
          <c:yVal>
            <c:numRef>
              <c:f>Sheet1!$B$2:$B$12</c:f>
              <c:numCache>
                <c:formatCode>General</c:formatCode>
                <c:ptCount val="11"/>
                <c:pt idx="0">
                  <c:v>22</c:v>
                </c:pt>
                <c:pt idx="1">
                  <c:v>30</c:v>
                </c:pt>
                <c:pt idx="2">
                  <c:v>28</c:v>
                </c:pt>
                <c:pt idx="3">
                  <c:v>40</c:v>
                </c:pt>
                <c:pt idx="4">
                  <c:v>42</c:v>
                </c:pt>
                <c:pt idx="5">
                  <c:v>50</c:v>
                </c:pt>
                <c:pt idx="6">
                  <c:v>47</c:v>
                </c:pt>
                <c:pt idx="7">
                  <c:v>60</c:v>
                </c:pt>
                <c:pt idx="8">
                  <c:v>58</c:v>
                </c:pt>
                <c:pt idx="9">
                  <c:v>66</c:v>
                </c:pt>
                <c:pt idx="10">
                  <c:v/>
                </c:pt>
              </c:numCache>
            </c:numRef>
          </c:yVal>
          <c:smooth val="0"/>
        </c:ser>
        <c:ser>
          <c:idx val="1"/>
          <c:order val="1"/>
          <c:tx>
            <c:strRef>
              <c:f>Sheet1!$C$1</c:f>
              <c:strCache>
                <c:ptCount val="1"/>
                <c:pt idx="0">
                  <c:v>【対象】</c:v>
                </c:pt>
              </c:strCache>
            </c:strRef>
          </c:tx>
          <c:spPr>
            <a:solidFill>
              <a:srgbClr val="000F78"/>
            </a:solidFill>
            <a:ln>
              <a:noFill/>
            </a:ln>
            <a:effectLst/>
          </c:spPr>
          <c:marker>
            <c:symbol val="circle"/>
            <c:size val="11"/>
            <c:spPr>
              <a:solidFill>
                <a:srgbClr val="000F78"/>
              </a:solidFill>
              <a:ln w="9525" cap="flat">
                <a:solidFill>
                  <a:srgbClr val="000F78"/>
                </a:solidFill>
                <a:prstDash val="solid"/>
                <a:round/>
              </a:ln>
              <a:effectLst/>
            </c:spPr>
          </c:marker>
          <c:xVal>
            <c:numRef>
              <c:f>Sheet1!$A$2:$A$12</c:f>
              <c:numCache>
                <c:formatCode>General</c:formatCode>
                <c:ptCount val="11"/>
                <c:pt idx="0">
                  <c:v>10</c:v>
                </c:pt>
                <c:pt idx="1">
                  <c:v>15</c:v>
                </c:pt>
                <c:pt idx="2">
                  <c:v>20</c:v>
                </c:pt>
                <c:pt idx="3">
                  <c:v>25</c:v>
                </c:pt>
                <c:pt idx="4">
                  <c:v>30</c:v>
                </c:pt>
                <c:pt idx="5">
                  <c:v>35</c:v>
                </c:pt>
                <c:pt idx="6">
                  <c:v>40</c:v>
                </c:pt>
                <c:pt idx="7">
                  <c:v>45</c:v>
                </c:pt>
                <c:pt idx="8">
                  <c:v>50</c:v>
                </c:pt>
                <c:pt idx="9">
                  <c:v>55</c:v>
                </c:pt>
                <c:pt idx="10">
                  <c:v>32</c:v>
                </c:pt>
              </c:numCache>
            </c:numRef>
          </c:xVal>
          <c:yVal>
            <c:numRef>
              <c:f>Sheet1!$C$2:$C$12</c:f>
              <c:numCache>
                <c:formatCode>General</c:formatCode>
                <c:ptCount val="11"/>
                <c:pt idx="0">
                  <c:v/>
                </c:pt>
                <c:pt idx="1">
                  <c:v/>
                </c:pt>
                <c:pt idx="2">
                  <c:v/>
                </c:pt>
                <c:pt idx="3">
                  <c:v/>
                </c:pt>
                <c:pt idx="4">
                  <c:v/>
                </c:pt>
                <c:pt idx="5">
                  <c:v/>
                </c:pt>
                <c:pt idx="6">
                  <c:v/>
                </c:pt>
                <c:pt idx="7">
                  <c:v/>
                </c:pt>
                <c:pt idx="8">
                  <c:v/>
                </c:pt>
                <c:pt idx="9">
                  <c:v/>
                </c:pt>
                <c:pt idx="10">
                  <c:v>30</c:v>
                </c:pt>
              </c:numCache>
            </c:numRef>
          </c:yVal>
          <c:smooth val="0"/>
        </c:ser>
        <c:dLbls>
          <c:numFmt formatCode="General"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BFBFBF"/>
            </a:solidFill>
            <a:prstDash val="solid"/>
            <a:round/>
          </a:ln>
        </c:spPr>
        <c:txPr>
          <a:bodyPr/>
          <a:lstStyle/>
          <a:p>
            <a:pPr>
              <a:defRPr sz="1400" b="0" i="0" u="none" strike="noStrike">
                <a:solidFill>
                  <a:srgbClr val="595959"/>
                </a:solidFill>
                <a:latin typeface="Arial"/>
              </a:defRPr>
            </a:pPr>
            <a:endParaRPr lang="en-US"/>
          </a:p>
        </c:txPr>
        <c:crossAx val="2094734552"/>
        <c:crosses val="autoZero"/>
        <c:auto val="1"/>
        <c:lblAlgn val="ctr"/>
        <c:noMultiLvlLbl val="1"/>
      </c:valAx>
      <c:valAx>
        <c:axId val="2094734552"/>
        <c:scaling>
          <c:orientation val="minMax"/>
        </c:scaling>
        <c:delete val="0"/>
        <c:axPos val="l"/>
        <c:numFmt formatCode="General" sourceLinked="0"/>
        <c:majorTickMark val="none"/>
        <c:minorTickMark val="none"/>
        <c:tickLblPos val="nextTo"/>
        <c:spPr>
          <a:ln w="12700" cap="flat">
            <a:noFill/>
            <a:prstDash val="solid"/>
            <a:round/>
          </a:ln>
        </c:spPr>
        <c:txPr>
          <a:bodyPr/>
          <a:lstStyle/>
          <a:p>
            <a:pPr>
              <a:defRPr sz="1400" b="0" i="0" u="none" strike="noStrike">
                <a:solidFill>
                  <a:srgbClr val="595959"/>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全国</c:v>
                </c:pt>
              </c:strCache>
            </c:strRef>
          </c:tx>
          <c:spPr>
            <a:solidFill>
              <a:srgbClr val="BFBFBF"/>
            </a:solidFill>
            <a:ln w="25400" cap="flat">
              <a:solidFill>
                <a:srgbClr val="BFBFBF"/>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FBFBF"/>
              </a:solidFill>
              <a:ln w="9525" cap="flat">
                <a:solidFill>
                  <a:srgbClr val="BFBFBF"/>
                </a:solidFill>
                <a:prstDash val="solid"/>
                <a:round/>
              </a:ln>
              <a:effectLst/>
            </c:spPr>
          </c:marker>
          <c:cat>
            <c:multiLvlStrRef>
              <c:f>Sheet1!$A$2:$A$12</c:f>
              <c:multiLvlStrCache>
                <c:ptCount val="11"/>
                <c:lvl>
                  <c:pt idx="0">
                    <c:v>2015</c:v>
                  </c:pt>
                  <c:pt idx="1">
                    <c:v>2016</c:v>
                  </c:pt>
                  <c:pt idx="2">
                    <c:v>2017</c:v>
                  </c:pt>
                  <c:pt idx="3">
                    <c:v>2018</c:v>
                  </c:pt>
                  <c:pt idx="4">
                    <c:v>2019</c:v>
                  </c:pt>
                  <c:pt idx="5">
                    <c:v>2020</c:v>
                  </c:pt>
                  <c:pt idx="6">
                    <c:v>2021</c:v>
                  </c:pt>
                  <c:pt idx="7">
                    <c:v>2022</c:v>
                  </c:pt>
                  <c:pt idx="8">
                    <c:v>2023</c:v>
                  </c:pt>
                  <c:pt idx="9">
                    <c:v>2024</c:v>
                  </c:pt>
                  <c:pt idx="10">
                    <c:v>2025</c:v>
                  </c:pt>
                </c:lvl>
              </c:multiLvlStrCache>
            </c:multiLvlStrRef>
          </c:cat>
          <c:val>
            <c:numRef>
              <c:f>Sheet1!$B$2:$B$12</c:f>
              <c:numCache>
                <c:formatCode>General</c:formatCode>
                <c:ptCount val="11"/>
                <c:pt idx="0">
                  <c:v>100</c:v>
                </c:pt>
                <c:pt idx="1">
                  <c:v>101</c:v>
                </c:pt>
                <c:pt idx="2">
                  <c:v>102</c:v>
                </c:pt>
                <c:pt idx="3">
                  <c:v>102</c:v>
                </c:pt>
                <c:pt idx="4">
                  <c:v>103</c:v>
                </c:pt>
                <c:pt idx="5">
                  <c:v>99</c:v>
                </c:pt>
                <c:pt idx="6">
                  <c:v>100</c:v>
                </c:pt>
                <c:pt idx="7">
                  <c:v>101</c:v>
                </c:pt>
                <c:pt idx="8">
                  <c:v>102</c:v>
                </c:pt>
                <c:pt idx="9">
                  <c:v>103</c:v>
                </c:pt>
                <c:pt idx="10">
                  <c:v>104</c:v>
                </c:pt>
              </c:numCache>
            </c:numRef>
          </c:val>
          <c:smooth val="0"/>
        </c:ser>
        <c:ser>
          <c:idx val="1"/>
          <c:order val="1"/>
          <c:tx>
            <c:strRef>
              <c:f>Sheet1!$C$1</c:f>
              <c:strCache>
                <c:ptCount val="1"/>
                <c:pt idx="0">
                  <c:v>類似地域</c:v>
                </c:pt>
              </c:strCache>
            </c:strRef>
          </c:tx>
          <c:spPr>
            <a:solidFill>
              <a:srgbClr val="7F7F7F"/>
            </a:solidFill>
            <a:ln w="25400" cap="flat">
              <a:solidFill>
                <a:srgbClr val="7F7F7F"/>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Sheet1!$A$2:$A$12</c:f>
              <c:multiLvlStrCache>
                <c:ptCount val="11"/>
                <c:lvl>
                  <c:pt idx="0">
                    <c:v>2015</c:v>
                  </c:pt>
                  <c:pt idx="1">
                    <c:v>2016</c:v>
                  </c:pt>
                  <c:pt idx="2">
                    <c:v>2017</c:v>
                  </c:pt>
                  <c:pt idx="3">
                    <c:v>2018</c:v>
                  </c:pt>
                  <c:pt idx="4">
                    <c:v>2019</c:v>
                  </c:pt>
                  <c:pt idx="5">
                    <c:v>2020</c:v>
                  </c:pt>
                  <c:pt idx="6">
                    <c:v>2021</c:v>
                  </c:pt>
                  <c:pt idx="7">
                    <c:v>2022</c:v>
                  </c:pt>
                  <c:pt idx="8">
                    <c:v>2023</c:v>
                  </c:pt>
                  <c:pt idx="9">
                    <c:v>2024</c:v>
                  </c:pt>
                  <c:pt idx="10">
                    <c:v>2025</c:v>
                  </c:pt>
                </c:lvl>
              </c:multiLvlStrCache>
            </c:multiLvlStrRef>
          </c:cat>
          <c:val>
            <c:numRef>
              <c:f>Sheet1!$C$2:$C$12</c:f>
              <c:numCache>
                <c:formatCode>General</c:formatCode>
                <c:ptCount val="11"/>
                <c:pt idx="0">
                  <c:v>100</c:v>
                </c:pt>
                <c:pt idx="1">
                  <c:v>99</c:v>
                </c:pt>
                <c:pt idx="2">
                  <c:v>99</c:v>
                </c:pt>
                <c:pt idx="3">
                  <c:v>98</c:v>
                </c:pt>
                <c:pt idx="4">
                  <c:v>98</c:v>
                </c:pt>
                <c:pt idx="5">
                  <c:v>95</c:v>
                </c:pt>
                <c:pt idx="6">
                  <c:v>95</c:v>
                </c:pt>
                <c:pt idx="7">
                  <c:v>96</c:v>
                </c:pt>
                <c:pt idx="8">
                  <c:v>96</c:v>
                </c:pt>
                <c:pt idx="9">
                  <c:v>96</c:v>
                </c:pt>
                <c:pt idx="10">
                  <c:v>97</c:v>
                </c:pt>
              </c:numCache>
            </c:numRef>
          </c:val>
          <c:smooth val="0"/>
        </c:ser>
        <c:ser>
          <c:idx val="2"/>
          <c:order val="2"/>
          <c:tx>
            <c:strRef>
              <c:f>Sheet1!$D$1</c:f>
              <c:strCache>
                <c:ptCount val="1"/>
                <c:pt idx="0">
                  <c:v>【対象】</c:v>
                </c:pt>
              </c:strCache>
            </c:strRef>
          </c:tx>
          <c:spPr>
            <a:solidFill>
              <a:srgbClr val="000F78"/>
            </a:solidFill>
            <a:ln w="25400" cap="flat">
              <a:solidFill>
                <a:srgbClr val="000F78"/>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0F78"/>
              </a:solidFill>
              <a:ln w="9525" cap="flat">
                <a:solidFill>
                  <a:srgbClr val="000F78"/>
                </a:solidFill>
                <a:prstDash val="solid"/>
                <a:round/>
              </a:ln>
              <a:effectLst/>
            </c:spPr>
          </c:marker>
          <c:cat>
            <c:multiLvlStrRef>
              <c:f>Sheet1!$A$2:$A$12</c:f>
              <c:multiLvlStrCache>
                <c:ptCount val="11"/>
                <c:lvl>
                  <c:pt idx="0">
                    <c:v>2015</c:v>
                  </c:pt>
                  <c:pt idx="1">
                    <c:v>2016</c:v>
                  </c:pt>
                  <c:pt idx="2">
                    <c:v>2017</c:v>
                  </c:pt>
                  <c:pt idx="3">
                    <c:v>2018</c:v>
                  </c:pt>
                  <c:pt idx="4">
                    <c:v>2019</c:v>
                  </c:pt>
                  <c:pt idx="5">
                    <c:v>2020</c:v>
                  </c:pt>
                  <c:pt idx="6">
                    <c:v>2021</c:v>
                  </c:pt>
                  <c:pt idx="7">
                    <c:v>2022</c:v>
                  </c:pt>
                  <c:pt idx="8">
                    <c:v>2023</c:v>
                  </c:pt>
                  <c:pt idx="9">
                    <c:v>2024</c:v>
                  </c:pt>
                  <c:pt idx="10">
                    <c:v>2025</c:v>
                  </c:pt>
                </c:lvl>
              </c:multiLvlStrCache>
            </c:multiLvlStrRef>
          </c:cat>
          <c:val>
            <c:numRef>
              <c:f>Sheet1!$D$2:$D$12</c:f>
              <c:numCache>
                <c:formatCode>General</c:formatCode>
                <c:ptCount val="11"/>
                <c:pt idx="0">
                  <c:v>100</c:v>
                </c:pt>
                <c:pt idx="1">
                  <c:v>97</c:v>
                </c:pt>
                <c:pt idx="2">
                  <c:v>95</c:v>
                </c:pt>
                <c:pt idx="3">
                  <c:v>92</c:v>
                </c:pt>
                <c:pt idx="4">
                  <c:v>90</c:v>
                </c:pt>
                <c:pt idx="5">
                  <c:v>85</c:v>
                </c:pt>
                <c:pt idx="6">
                  <c:v>84</c:v>
                </c:pt>
                <c:pt idx="7">
                  <c:v>83</c:v>
                </c:pt>
                <c:pt idx="8">
                  <c:v>81</c:v>
                </c:pt>
                <c:pt idx="9">
                  <c:v>80</c:v>
                </c:pt>
                <c:pt idx="10">
                  <c:v>78</c:v>
                </c:pt>
              </c:numCache>
            </c:numRef>
          </c:val>
          <c:smooth val="0"/>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70"/>
        </c:scaling>
        <c:delete val="0"/>
        <c:axPos val="l"/>
        <c:numFmt formatCode="General"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値</c:v>
                </c:pt>
              </c:strCache>
            </c:strRef>
          </c:tx>
          <c:spPr>
            <a:solidFill>
              <a:srgbClr val="BFBFBF"/>
            </a:solidFill>
            <a:effectLst/>
          </c:spPr>
          <c:invertIfNegative val="0"/>
          <c:dLbls>
            <c:numFmt formatCode="#,##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2015</c:v>
                  </c:pt>
                  <c:pt idx="1">
                    <c:v>2017</c:v>
                  </c:pt>
                  <c:pt idx="2">
                    <c:v>2019</c:v>
                  </c:pt>
                  <c:pt idx="3">
                    <c:v>2021</c:v>
                  </c:pt>
                  <c:pt idx="4">
                    <c:v>2023</c:v>
                  </c:pt>
                  <c:pt idx="5">
                    <c:v>2025</c:v>
                  </c:pt>
                </c:lvl>
              </c:multiLvlStrCache>
            </c:multiLvlStrRef>
          </c:cat>
          <c:val>
            <c:numRef>
              <c:f>Sheet1!$B$2:$B$7</c:f>
              <c:numCache>
                <c:formatCode>General</c:formatCode>
                <c:ptCount val="6"/>
                <c:pt idx="0">
                  <c:v>100</c:v>
                </c:pt>
                <c:pt idx="1">
                  <c:v>112</c:v>
                </c:pt>
                <c:pt idx="2">
                  <c:v>121</c:v>
                </c:pt>
                <c:pt idx="3">
                  <c:v>126</c:v>
                </c:pt>
                <c:pt idx="4">
                  <c:v>128</c:v>
                </c:pt>
                <c:pt idx="5">
                  <c:v>129</c:v>
                </c:pt>
              </c:numCache>
            </c:numRef>
          </c:val>
        </c:ser>
        <c:dLbls>
          <c:numFmt formatCode="#,##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そう思う</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Sheet1!$B$2:$B$6</c:f>
              <c:numCache>
                <c:formatCode>General</c:formatCode>
                <c:ptCount val="5"/>
                <c:pt idx="0">
                  <c:v>45</c:v>
                </c:pt>
                <c:pt idx="1">
                  <c:v>38</c:v>
                </c:pt>
                <c:pt idx="2">
                  <c:v>41</c:v>
                </c:pt>
                <c:pt idx="3">
                  <c:v>48</c:v>
                </c:pt>
                <c:pt idx="4">
                  <c:v>52</c:v>
                </c:pt>
              </c:numCache>
            </c:numRef>
          </c:val>
        </c:ser>
        <c:ser>
          <c:idx val="1"/>
          <c:order val="1"/>
          <c:tx>
            <c:strRef>
              <c:f>Sheet1!$C$1</c:f>
              <c:strCache>
                <c:ptCount val="1"/>
                <c:pt idx="0">
                  <c:v>ややそう思う</c:v>
                </c:pt>
              </c:strCache>
            </c:strRef>
          </c:tx>
          <c:spPr>
            <a:solidFill>
              <a:srgbClr val="595959"/>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Sheet1!$C$2:$C$6</c:f>
              <c:numCache>
                <c:formatCode>General</c:formatCode>
                <c:ptCount val="5"/>
                <c:pt idx="0">
                  <c:v>22</c:v>
                </c:pt>
                <c:pt idx="1">
                  <c:v>24</c:v>
                </c:pt>
                <c:pt idx="2">
                  <c:v>25</c:v>
                </c:pt>
                <c:pt idx="3">
                  <c:v>22</c:v>
                </c:pt>
                <c:pt idx="4">
                  <c:v>20</c:v>
                </c:pt>
              </c:numCache>
            </c:numRef>
          </c:val>
        </c:ser>
        <c:ser>
          <c:idx val="2"/>
          <c:order val="2"/>
          <c:tx>
            <c:strRef>
              <c:f>Sheet1!$D$1</c:f>
              <c:strCache>
                <c:ptCount val="1"/>
                <c:pt idx="0">
                  <c:v>どちらでもない</c:v>
                </c:pt>
              </c:strCache>
            </c:strRef>
          </c:tx>
          <c:spPr>
            <a:solidFill>
              <a:srgbClr val="7F7F7F"/>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Sheet1!$D$2:$D$6</c:f>
              <c:numCache>
                <c:formatCode>General</c:formatCode>
                <c:ptCount val="5"/>
                <c:pt idx="0">
                  <c:v>17</c:v>
                </c:pt>
                <c:pt idx="1">
                  <c:v>20</c:v>
                </c:pt>
                <c:pt idx="2">
                  <c:v>18</c:v>
                </c:pt>
                <c:pt idx="3">
                  <c:v>16</c:v>
                </c:pt>
                <c:pt idx="4">
                  <c:v>15</c:v>
                </c:pt>
              </c:numCache>
            </c:numRef>
          </c:val>
        </c:ser>
        <c:ser>
          <c:idx val="3"/>
          <c:order val="3"/>
          <c:tx>
            <c:strRef>
              <c:f>Sheet1!$E$1</c:f>
              <c:strCache>
                <c:ptCount val="1"/>
                <c:pt idx="0">
                  <c:v>そう思わない</c:v>
                </c:pt>
              </c:strCache>
            </c:strRef>
          </c:tx>
          <c:spPr>
            <a:solidFill>
              <a:srgbClr val="A6A6A6"/>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Sheet1!$E$2:$E$6</c:f>
              <c:numCache>
                <c:formatCode>General</c:formatCode>
                <c:ptCount val="5"/>
                <c:pt idx="0">
                  <c:v>16</c:v>
                </c:pt>
                <c:pt idx="1">
                  <c:v>18</c:v>
                </c:pt>
                <c:pt idx="2">
                  <c:v>16</c:v>
                </c:pt>
                <c:pt idx="3">
                  <c:v>14</c:v>
                </c:pt>
                <c:pt idx="4">
                  <c:v>13</c:v>
                </c:pt>
              </c:numCache>
            </c:numRef>
          </c:val>
        </c:ser>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その他</c:v>
                </c:pt>
              </c:strCache>
            </c:strRef>
          </c:tx>
          <c:spPr>
            <a:solidFill>
              <a:srgbClr val="BFBFBF"/>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区分X</c:v>
                  </c:pt>
                  <c:pt idx="1">
                    <c:v>区分Y</c:v>
                  </c:pt>
                  <c:pt idx="2">
                    <c:v>区分Z</c:v>
                  </c:pt>
                  <c:pt idx="3">
                    <c:v>その他</c:v>
                  </c:pt>
                </c:lvl>
              </c:multiLvlStrCache>
            </c:multiLvlStrRef>
          </c:cat>
          <c:val>
            <c:numRef>
              <c:f>Sheet1!$B$2:$B$5</c:f>
              <c:numCache>
                <c:formatCode>General</c:formatCode>
                <c:ptCount val="4"/>
                <c:pt idx="0">
                  <c:v>0</c:v>
                </c:pt>
                <c:pt idx="1">
                  <c:v>6</c:v>
                </c:pt>
                <c:pt idx="2">
                  <c:v>3</c:v>
                </c:pt>
                <c:pt idx="3">
                  <c:v>2</c:v>
                </c:pt>
              </c:numCache>
            </c:numRef>
          </c:val>
        </c:ser>
        <c:ser>
          <c:idx val="1"/>
          <c:order val="1"/>
          <c:tx>
            <c:strRef>
              <c:f>Sheet1!$C$1</c:f>
              <c:strCache>
                <c:ptCount val="1"/>
                <c:pt idx="0">
                  <c:v>注目</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区分X</c:v>
                  </c:pt>
                  <c:pt idx="1">
                    <c:v>区分Y</c:v>
                  </c:pt>
                  <c:pt idx="2">
                    <c:v>区分Z</c:v>
                  </c:pt>
                  <c:pt idx="3">
                    <c:v>その他</c:v>
                  </c:pt>
                </c:lvl>
              </c:multiLvlStrCache>
            </c:multiLvlStrRef>
          </c:cat>
          <c:val>
            <c:numRef>
              <c:f>Sheet1!$C$2:$C$5</c:f>
              <c:numCache>
                <c:formatCode>General</c:formatCode>
                <c:ptCount val="4"/>
                <c:pt idx="0">
                  <c:v>28</c:v>
                </c:pt>
                <c:pt idx="1">
                  <c:v>0</c:v>
                </c:pt>
                <c:pt idx="2">
                  <c:v>0</c:v>
                </c:pt>
                <c:pt idx="3">
                  <c:v>0</c:v>
                </c:pt>
              </c:numCache>
            </c:numRef>
          </c:val>
        </c:ser>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楽観</c:v>
                </c:pt>
              </c:strCache>
            </c:strRef>
          </c:tx>
          <c:spPr>
            <a:solidFill>
              <a:srgbClr val="BFBFBF"/>
            </a:solidFill>
            <a:ln w="25400" cap="flat">
              <a:solidFill>
                <a:srgbClr val="BFBFBF"/>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FBFBF"/>
              </a:solidFill>
              <a:ln w="9525" cap="flat">
                <a:solidFill>
                  <a:srgbClr val="BFBFBF"/>
                </a:solidFill>
                <a:prstDash val="solid"/>
                <a:round/>
              </a:ln>
              <a:effectLst/>
            </c:spPr>
          </c:marker>
          <c:cat>
            <c:multiLvlStrRef>
              <c:f>Sheet1!$A$2:$A$7</c:f>
              <c:multiLvlStrCache>
                <c:ptCount val="6"/>
                <c:lvl>
                  <c:pt idx="0">
                    <c:v>2025</c:v>
                  </c:pt>
                  <c:pt idx="1">
                    <c:v>2030</c:v>
                  </c:pt>
                  <c:pt idx="2">
                    <c:v>2035</c:v>
                  </c:pt>
                  <c:pt idx="3">
                    <c:v>2040</c:v>
                  </c:pt>
                  <c:pt idx="4">
                    <c:v>2045</c:v>
                  </c:pt>
                  <c:pt idx="5">
                    <c:v>2050</c:v>
                  </c:pt>
                </c:lvl>
              </c:multiLvlStrCache>
            </c:multiLvlStrRef>
          </c:cat>
          <c:val>
            <c:numRef>
              <c:f>Sheet1!$B$2:$B$7</c:f>
              <c:numCache>
                <c:formatCode>General</c:formatCode>
                <c:ptCount val="6"/>
                <c:pt idx="0">
                  <c:v>100</c:v>
                </c:pt>
                <c:pt idx="1">
                  <c:v>97</c:v>
                </c:pt>
                <c:pt idx="2">
                  <c:v>94</c:v>
                </c:pt>
                <c:pt idx="3">
                  <c:v>91</c:v>
                </c:pt>
                <c:pt idx="4">
                  <c:v>88</c:v>
                </c:pt>
                <c:pt idx="5">
                  <c:v>86</c:v>
                </c:pt>
              </c:numCache>
            </c:numRef>
          </c:val>
          <c:smooth val="0"/>
        </c:ser>
        <c:ser>
          <c:idx val="1"/>
          <c:order val="1"/>
          <c:tx>
            <c:strRef>
              <c:f>Sheet1!$C$1</c:f>
              <c:strCache>
                <c:ptCount val="1"/>
                <c:pt idx="0">
                  <c:v>基本</c:v>
                </c:pt>
              </c:strCache>
            </c:strRef>
          </c:tx>
          <c:spPr>
            <a:solidFill>
              <a:srgbClr val="000F78"/>
            </a:solidFill>
            <a:ln w="25400" cap="flat">
              <a:solidFill>
                <a:srgbClr val="000F78"/>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0F78"/>
              </a:solidFill>
              <a:ln w="9525" cap="flat">
                <a:solidFill>
                  <a:srgbClr val="000F78"/>
                </a:solidFill>
                <a:prstDash val="solid"/>
                <a:round/>
              </a:ln>
              <a:effectLst/>
            </c:spPr>
          </c:marker>
          <c:cat>
            <c:multiLvlStrRef>
              <c:f>Sheet1!$A$2:$A$7</c:f>
              <c:multiLvlStrCache>
                <c:ptCount val="6"/>
                <c:lvl>
                  <c:pt idx="0">
                    <c:v>2025</c:v>
                  </c:pt>
                  <c:pt idx="1">
                    <c:v>2030</c:v>
                  </c:pt>
                  <c:pt idx="2">
                    <c:v>2035</c:v>
                  </c:pt>
                  <c:pt idx="3">
                    <c:v>2040</c:v>
                  </c:pt>
                  <c:pt idx="4">
                    <c:v>2045</c:v>
                  </c:pt>
                  <c:pt idx="5">
                    <c:v>2050</c:v>
                  </c:pt>
                </c:lvl>
              </c:multiLvlStrCache>
            </c:multiLvlStrRef>
          </c:cat>
          <c:val>
            <c:numRef>
              <c:f>Sheet1!$C$2:$C$7</c:f>
              <c:numCache>
                <c:formatCode>General</c:formatCode>
                <c:ptCount val="6"/>
                <c:pt idx="0">
                  <c:v>100</c:v>
                </c:pt>
                <c:pt idx="1">
                  <c:v>93</c:v>
                </c:pt>
                <c:pt idx="2">
                  <c:v>86</c:v>
                </c:pt>
                <c:pt idx="3">
                  <c:v>79</c:v>
                </c:pt>
                <c:pt idx="4">
                  <c:v>72</c:v>
                </c:pt>
                <c:pt idx="5">
                  <c:v>66</c:v>
                </c:pt>
              </c:numCache>
            </c:numRef>
          </c:val>
          <c:smooth val="0"/>
        </c:ser>
        <c:ser>
          <c:idx val="2"/>
          <c:order val="2"/>
          <c:tx>
            <c:strRef>
              <c:f>Sheet1!$D$1</c:f>
              <c:strCache>
                <c:ptCount val="1"/>
                <c:pt idx="0">
                  <c:v>悲観</c:v>
                </c:pt>
              </c:strCache>
            </c:strRef>
          </c:tx>
          <c:spPr>
            <a:solidFill>
              <a:srgbClr val="7F7F7F"/>
            </a:solidFill>
            <a:ln w="25400" cap="flat">
              <a:solidFill>
                <a:srgbClr val="7F7F7F"/>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Sheet1!$A$2:$A$7</c:f>
              <c:multiLvlStrCache>
                <c:ptCount val="6"/>
                <c:lvl>
                  <c:pt idx="0">
                    <c:v>2025</c:v>
                  </c:pt>
                  <c:pt idx="1">
                    <c:v>2030</c:v>
                  </c:pt>
                  <c:pt idx="2">
                    <c:v>2035</c:v>
                  </c:pt>
                  <c:pt idx="3">
                    <c:v>2040</c:v>
                  </c:pt>
                  <c:pt idx="4">
                    <c:v>2045</c:v>
                  </c:pt>
                  <c:pt idx="5">
                    <c:v>2050</c:v>
                  </c:pt>
                </c:lvl>
              </c:multiLvlStrCache>
            </c:multiLvlStrRef>
          </c:cat>
          <c:val>
            <c:numRef>
              <c:f>Sheet1!$D$2:$D$7</c:f>
              <c:numCache>
                <c:formatCode>General</c:formatCode>
                <c:ptCount val="6"/>
                <c:pt idx="0">
                  <c:v>100</c:v>
                </c:pt>
                <c:pt idx="1">
                  <c:v>89</c:v>
                </c:pt>
                <c:pt idx="2">
                  <c:v>78</c:v>
                </c:pt>
                <c:pt idx="3">
                  <c:v>68</c:v>
                </c:pt>
                <c:pt idx="4">
                  <c:v>59</c:v>
                </c:pt>
                <c:pt idx="5">
                  <c:v>50</c:v>
                </c:pt>
              </c:numCache>
            </c:numRef>
          </c:val>
          <c:smooth val="0"/>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40"/>
        </c:scaling>
        <c:delete val="0"/>
        <c:axPos val="l"/>
        <c:numFmt formatCode="General"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地域A</c:v>
                </c:pt>
              </c:strCache>
            </c:strRef>
          </c:tx>
          <c:spPr>
            <a:solidFill>
              <a:srgbClr val="BFBFBF"/>
            </a:solidFill>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15</c:v>
                  </c:pt>
                  <c:pt idx="1">
                    <c:v>17</c:v>
                  </c:pt>
                  <c:pt idx="2">
                    <c:v>19</c:v>
                  </c:pt>
                  <c:pt idx="3">
                    <c:v>21</c:v>
                  </c:pt>
                  <c:pt idx="4">
                    <c:v>23</c:v>
                  </c:pt>
                  <c:pt idx="5">
                    <c:v>25</c:v>
                  </c:pt>
                </c:lvl>
              </c:multiLvlStrCache>
            </c:multiLvlStrRef>
          </c:cat>
          <c:val>
            <c:numRef>
              <c:f>Sheet1!$B$2:$B$7</c:f>
              <c:numCache>
                <c:formatCode>General</c:formatCode>
                <c:ptCount val="6"/>
                <c:pt idx="0">
                  <c:v>60</c:v>
                </c:pt>
                <c:pt idx="1">
                  <c:v>62</c:v>
                </c:pt>
                <c:pt idx="2">
                  <c:v>61</c:v>
                </c:pt>
                <c:pt idx="3">
                  <c:v>63</c:v>
                </c:pt>
                <c:pt idx="4">
                  <c:v>64</c:v>
                </c:pt>
                <c:pt idx="5">
                  <c:v>66</c:v>
                </c:pt>
              </c:numCache>
            </c:numRef>
          </c:val>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地域B</c:v>
                </c:pt>
              </c:strCache>
            </c:strRef>
          </c:tx>
          <c:spPr>
            <a:solidFill>
              <a:srgbClr val="BFBFBF"/>
            </a:solidFill>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15</c:v>
                  </c:pt>
                  <c:pt idx="1">
                    <c:v>17</c:v>
                  </c:pt>
                  <c:pt idx="2">
                    <c:v>19</c:v>
                  </c:pt>
                  <c:pt idx="3">
                    <c:v>21</c:v>
                  </c:pt>
                  <c:pt idx="4">
                    <c:v>23</c:v>
                  </c:pt>
                  <c:pt idx="5">
                    <c:v>25</c:v>
                  </c:pt>
                </c:lvl>
              </c:multiLvlStrCache>
            </c:multiLvlStrRef>
          </c:cat>
          <c:val>
            <c:numRef>
              <c:f>Sheet1!$B$2:$B$7</c:f>
              <c:numCache>
                <c:formatCode>General</c:formatCode>
                <c:ptCount val="6"/>
                <c:pt idx="0">
                  <c:v>55</c:v>
                </c:pt>
                <c:pt idx="1">
                  <c:v>54</c:v>
                </c:pt>
                <c:pt idx="2">
                  <c:v>56</c:v>
                </c:pt>
                <c:pt idx="3">
                  <c:v>55</c:v>
                </c:pt>
                <c:pt idx="4">
                  <c:v>57</c:v>
                </c:pt>
                <c:pt idx="5">
                  <c:v>58</c:v>
                </c:pt>
              </c:numCache>
            </c:numRef>
          </c:val>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地域C</c:v>
                </c:pt>
              </c:strCache>
            </c:strRef>
          </c:tx>
          <c:spPr>
            <a:solidFill>
              <a:srgbClr val="000F78"/>
            </a:solidFill>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15</c:v>
                  </c:pt>
                  <c:pt idx="1">
                    <c:v>17</c:v>
                  </c:pt>
                  <c:pt idx="2">
                    <c:v>19</c:v>
                  </c:pt>
                  <c:pt idx="3">
                    <c:v>21</c:v>
                  </c:pt>
                  <c:pt idx="4">
                    <c:v>23</c:v>
                  </c:pt>
                  <c:pt idx="5">
                    <c:v>25</c:v>
                  </c:pt>
                </c:lvl>
              </c:multiLvlStrCache>
            </c:multiLvlStrRef>
          </c:cat>
          <c:val>
            <c:numRef>
              <c:f>Sheet1!$B$2:$B$7</c:f>
              <c:numCache>
                <c:formatCode>General</c:formatCode>
                <c:ptCount val="6"/>
                <c:pt idx="0">
                  <c:v>70</c:v>
                </c:pt>
                <c:pt idx="1">
                  <c:v>64</c:v>
                </c:pt>
                <c:pt idx="2">
                  <c:v>58</c:v>
                </c:pt>
                <c:pt idx="3">
                  <c:v>52</c:v>
                </c:pt>
                <c:pt idx="4">
                  <c:v>47</c:v>
                </c:pt>
                <c:pt idx="5">
                  <c:v>41</c:v>
                </c:pt>
              </c:numCache>
            </c:numRef>
          </c:val>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地域D</c:v>
                </c:pt>
              </c:strCache>
            </c:strRef>
          </c:tx>
          <c:spPr>
            <a:solidFill>
              <a:srgbClr val="BFBFBF"/>
            </a:solidFill>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15</c:v>
                  </c:pt>
                  <c:pt idx="1">
                    <c:v>17</c:v>
                  </c:pt>
                  <c:pt idx="2">
                    <c:v>19</c:v>
                  </c:pt>
                  <c:pt idx="3">
                    <c:v>21</c:v>
                  </c:pt>
                  <c:pt idx="4">
                    <c:v>23</c:v>
                  </c:pt>
                  <c:pt idx="5">
                    <c:v>25</c:v>
                  </c:pt>
                </c:lvl>
              </c:multiLvlStrCache>
            </c:multiLvlStrRef>
          </c:cat>
          <c:val>
            <c:numRef>
              <c:f>Sheet1!$B$2:$B$7</c:f>
              <c:numCache>
                <c:formatCode>General</c:formatCode>
                <c:ptCount val="6"/>
                <c:pt idx="0">
                  <c:v>40</c:v>
                </c:pt>
                <c:pt idx="1">
                  <c:v>41</c:v>
                </c:pt>
                <c:pt idx="2">
                  <c:v>43</c:v>
                </c:pt>
                <c:pt idx="3">
                  <c:v>46</c:v>
                </c:pt>
                <c:pt idx="4">
                  <c:v>49</c:v>
                </c:pt>
                <c:pt idx="5">
                  <c:v>52</c:v>
                </c:pt>
              </c:numCache>
            </c:numRef>
          </c:val>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区分A</c:v>
                </c:pt>
              </c:strCache>
            </c:strRef>
          </c:tx>
          <c:spPr>
            <a:solidFill>
              <a:srgbClr val="7F7F7F"/>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Sheet1!$A$2:$A$7</c:f>
              <c:multiLvlStrCache>
                <c:ptCount val="6"/>
                <c:lvl>
                  <c:pt idx="0">
                    <c:v>2015</c:v>
                  </c:pt>
                  <c:pt idx="1">
                    <c:v>2017</c:v>
                  </c:pt>
                  <c:pt idx="2">
                    <c:v>2019</c:v>
                  </c:pt>
                  <c:pt idx="3">
                    <c:v>2021</c:v>
                  </c:pt>
                  <c:pt idx="4">
                    <c:v>2023</c:v>
                  </c:pt>
                  <c:pt idx="5">
                    <c:v>2025</c:v>
                  </c:pt>
                </c:lvl>
              </c:multiLvlStrCache>
            </c:multiLvlStrRef>
          </c:cat>
          <c:val>
            <c:numRef>
              <c:f>Sheet1!$B$2:$B$7</c:f>
              <c:numCache>
                <c:formatCode>General</c:formatCode>
                <c:ptCount val="6"/>
                <c:pt idx="0">
                  <c:v>40</c:v>
                </c:pt>
                <c:pt idx="1">
                  <c:v>41</c:v>
                </c:pt>
                <c:pt idx="2">
                  <c:v>40</c:v>
                </c:pt>
                <c:pt idx="3">
                  <c:v>41</c:v>
                </c:pt>
                <c:pt idx="4">
                  <c:v>40</c:v>
                </c:pt>
                <c:pt idx="5">
                  <c:v>41</c:v>
                </c:pt>
              </c:numCache>
            </c:numRef>
          </c:val>
        </c:ser>
        <c:ser>
          <c:idx val="1"/>
          <c:order val="1"/>
          <c:tx>
            <c:strRef>
              <c:f>Sheet1!$C$1</c:f>
              <c:strCache>
                <c:ptCount val="1"/>
                <c:pt idx="0">
                  <c:v>区分B</c:v>
                </c:pt>
              </c:strCache>
            </c:strRef>
          </c:tx>
          <c:spPr>
            <a:solidFill>
              <a:srgbClr val="BFBFBF"/>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Sheet1!$A$2:$A$7</c:f>
              <c:multiLvlStrCache>
                <c:ptCount val="6"/>
                <c:lvl>
                  <c:pt idx="0">
                    <c:v>2015</c:v>
                  </c:pt>
                  <c:pt idx="1">
                    <c:v>2017</c:v>
                  </c:pt>
                  <c:pt idx="2">
                    <c:v>2019</c:v>
                  </c:pt>
                  <c:pt idx="3">
                    <c:v>2021</c:v>
                  </c:pt>
                  <c:pt idx="4">
                    <c:v>2023</c:v>
                  </c:pt>
                  <c:pt idx="5">
                    <c:v>2025</c:v>
                  </c:pt>
                </c:lvl>
              </c:multiLvlStrCache>
            </c:multiLvlStrRef>
          </c:cat>
          <c:val>
            <c:numRef>
              <c:f>Sheet1!$C$2:$C$7</c:f>
              <c:numCache>
                <c:formatCode>General</c:formatCode>
                <c:ptCount val="6"/>
                <c:pt idx="0">
                  <c:v>30</c:v>
                </c:pt>
                <c:pt idx="1">
                  <c:v>30</c:v>
                </c:pt>
                <c:pt idx="2">
                  <c:v>31</c:v>
                </c:pt>
                <c:pt idx="3">
                  <c:v>30</c:v>
                </c:pt>
                <c:pt idx="4">
                  <c:v>31</c:v>
                </c:pt>
                <c:pt idx="5">
                  <c:v>30</c:v>
                </c:pt>
              </c:numCache>
            </c:numRef>
          </c:val>
        </c:ser>
        <c:ser>
          <c:idx val="2"/>
          <c:order val="2"/>
          <c:tx>
            <c:strRef>
              <c:f>Sheet1!$D$1</c:f>
              <c:strCache>
                <c:ptCount val="1"/>
                <c:pt idx="0">
                  <c:v>区分C</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Sheet1!$A$2:$A$7</c:f>
              <c:multiLvlStrCache>
                <c:ptCount val="6"/>
                <c:lvl>
                  <c:pt idx="0">
                    <c:v>2015</c:v>
                  </c:pt>
                  <c:pt idx="1">
                    <c:v>2017</c:v>
                  </c:pt>
                  <c:pt idx="2">
                    <c:v>2019</c:v>
                  </c:pt>
                  <c:pt idx="3">
                    <c:v>2021</c:v>
                  </c:pt>
                  <c:pt idx="4">
                    <c:v>2023</c:v>
                  </c:pt>
                  <c:pt idx="5">
                    <c:v>2025</c:v>
                  </c:pt>
                </c:lvl>
              </c:multiLvlStrCache>
            </c:multiLvlStrRef>
          </c:cat>
          <c:val>
            <c:numRef>
              <c:f>Sheet1!$D$2:$D$7</c:f>
              <c:numCache>
                <c:formatCode>General</c:formatCode>
                <c:ptCount val="6"/>
                <c:pt idx="0">
                  <c:v>10</c:v>
                </c:pt>
                <c:pt idx="1">
                  <c:v>16</c:v>
                </c:pt>
                <c:pt idx="2">
                  <c:v>24</c:v>
                </c:pt>
                <c:pt idx="3">
                  <c:v>33</c:v>
                </c:pt>
                <c:pt idx="4">
                  <c:v>41</c:v>
                </c:pt>
                <c:pt idx="5">
                  <c:v>49</c:v>
                </c:pt>
              </c:numCache>
            </c:numRef>
          </c:val>
        </c:ser>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その他</c:v>
                </c:pt>
              </c:strCache>
            </c:strRef>
          </c:tx>
          <c:spPr>
            <a:solidFill>
              <a:srgbClr val="BFBFBF"/>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属性D</c:v>
                  </c:pt>
                  <c:pt idx="1">
                    <c:v>属性C</c:v>
                  </c:pt>
                  <c:pt idx="2">
                    <c:v>属性B</c:v>
                  </c:pt>
                  <c:pt idx="3">
                    <c:v>属性A</c:v>
                  </c:pt>
                  <c:pt idx="4">
                    <c:v>全体</c:v>
                  </c:pt>
                </c:lvl>
              </c:multiLvlStrCache>
            </c:multiLvlStrRef>
          </c:cat>
          <c:val>
            <c:numRef>
              <c:f>Sheet1!$B$2:$B$6</c:f>
              <c:numCache>
                <c:formatCode>General</c:formatCode>
                <c:ptCount val="5"/>
                <c:pt idx="0">
                  <c:v>0</c:v>
                </c:pt>
                <c:pt idx="1">
                  <c:v>55</c:v>
                </c:pt>
                <c:pt idx="2">
                  <c:v>64</c:v>
                </c:pt>
                <c:pt idx="3">
                  <c:v>70</c:v>
                </c:pt>
                <c:pt idx="4">
                  <c:v>62</c:v>
                </c:pt>
              </c:numCache>
            </c:numRef>
          </c:val>
        </c:ser>
        <c:ser>
          <c:idx val="1"/>
          <c:order val="1"/>
          <c:tx>
            <c:strRef>
              <c:f>Sheet1!$C$1</c:f>
              <c:strCache>
                <c:ptCount val="1"/>
                <c:pt idx="0">
                  <c:v>注目</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属性D</c:v>
                  </c:pt>
                  <c:pt idx="1">
                    <c:v>属性C</c:v>
                  </c:pt>
                  <c:pt idx="2">
                    <c:v>属性B</c:v>
                  </c:pt>
                  <c:pt idx="3">
                    <c:v>属性A</c:v>
                  </c:pt>
                  <c:pt idx="4">
                    <c:v>全体</c:v>
                  </c:pt>
                </c:lvl>
              </c:multiLvlStrCache>
            </c:multiLvlStrRef>
          </c:cat>
          <c:val>
            <c:numRef>
              <c:f>Sheet1!$C$2:$C$6</c:f>
              <c:numCache>
                <c:formatCode>General</c:formatCode>
                <c:ptCount val="5"/>
                <c:pt idx="0">
                  <c:v>31</c:v>
                </c:pt>
                <c:pt idx="1">
                  <c:v>0</c:v>
                </c:pt>
                <c:pt idx="2">
                  <c:v>0</c:v>
                </c:pt>
                <c:pt idx="3">
                  <c:v>0</c:v>
                </c:pt>
                <c:pt idx="4">
                  <c:v>0</c:v>
                </c:pt>
              </c:numCache>
            </c:numRef>
          </c:val>
        </c:ser>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過去</c:v>
                </c:pt>
              </c:strCache>
            </c:strRef>
          </c:tx>
          <c:spPr>
            <a:solidFill>
              <a:srgbClr val="BFBFBF"/>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2014</c:v>
                  </c:pt>
                  <c:pt idx="1">
                    <c:v>2016</c:v>
                  </c:pt>
                  <c:pt idx="2">
                    <c:v>2018</c:v>
                  </c:pt>
                  <c:pt idx="3">
                    <c:v>2020</c:v>
                  </c:pt>
                  <c:pt idx="4">
                    <c:v>2022</c:v>
                  </c:pt>
                  <c:pt idx="5">
                    <c:v>2024</c:v>
                  </c:pt>
                </c:lvl>
              </c:multiLvlStrCache>
            </c:multiLvlStrRef>
          </c:cat>
          <c:val>
            <c:numRef>
              <c:f>Sheet1!$B$2:$B$7</c:f>
              <c:numCache>
                <c:formatCode>General</c:formatCode>
                <c:ptCount val="6"/>
                <c:pt idx="0">
                  <c:v>210</c:v>
                </c:pt>
                <c:pt idx="1">
                  <c:v>198</c:v>
                </c:pt>
                <c:pt idx="2">
                  <c:v>186</c:v>
                </c:pt>
                <c:pt idx="3">
                  <c:v>131</c:v>
                </c:pt>
                <c:pt idx="4">
                  <c:v>152</c:v>
                </c:pt>
                <c:pt idx="5">
                  <c:v>0</c:v>
                </c:pt>
              </c:numCache>
            </c:numRef>
          </c:val>
        </c:ser>
        <c:ser>
          <c:idx val="1"/>
          <c:order val="1"/>
          <c:tx>
            <c:strRef>
              <c:f>Sheet1!$C$1</c:f>
              <c:strCache>
                <c:ptCount val="1"/>
                <c:pt idx="0">
                  <c:v>直近</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2014</c:v>
                  </c:pt>
                  <c:pt idx="1">
                    <c:v>2016</c:v>
                  </c:pt>
                  <c:pt idx="2">
                    <c:v>2018</c:v>
                  </c:pt>
                  <c:pt idx="3">
                    <c:v>2020</c:v>
                  </c:pt>
                  <c:pt idx="4">
                    <c:v>2022</c:v>
                  </c:pt>
                  <c:pt idx="5">
                    <c:v>2024</c:v>
                  </c:pt>
                </c:lvl>
              </c:multiLvlStrCache>
            </c:multiLvlStrRef>
          </c:cat>
          <c:val>
            <c:numRef>
              <c:f>Sheet1!$C$2:$C$7</c:f>
              <c:numCache>
                <c:formatCode>General</c:formatCode>
                <c:ptCount val="6"/>
                <c:pt idx="0">
                  <c:v>0</c:v>
                </c:pt>
                <c:pt idx="1">
                  <c:v>0</c:v>
                </c:pt>
                <c:pt idx="2">
                  <c:v>0</c:v>
                </c:pt>
                <c:pt idx="3">
                  <c:v>0</c:v>
                </c:pt>
                <c:pt idx="4">
                  <c:v>0</c:v>
                </c:pt>
                <c:pt idx="5">
                  <c:v>158</c:v>
                </c:pt>
              </c:numCache>
            </c:numRef>
          </c:val>
        </c:ser>
        <c:dLbls>
          <c:numFmt formatCode="#,##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通学</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2014年度</c:v>
                  </c:pt>
                  <c:pt idx="1">
                    <c:v>2024年度</c:v>
                  </c:pt>
                </c:lvl>
              </c:multiLvlStrCache>
            </c:multiLvlStrRef>
          </c:cat>
          <c:val>
            <c:numRef>
              <c:f>Sheet1!$B$2:$B$3</c:f>
              <c:numCache>
                <c:formatCode>General</c:formatCode>
                <c:ptCount val="2"/>
                <c:pt idx="0">
                  <c:v>52</c:v>
                </c:pt>
                <c:pt idx="1">
                  <c:v>46</c:v>
                </c:pt>
              </c:numCache>
            </c:numRef>
          </c:val>
        </c:ser>
        <c:ser>
          <c:idx val="1"/>
          <c:order val="1"/>
          <c:tx>
            <c:strRef>
              <c:f>Sheet1!$C$1</c:f>
              <c:strCache>
                <c:ptCount val="1"/>
                <c:pt idx="0">
                  <c:v>通勤</c:v>
                </c:pt>
              </c:strCache>
            </c:strRef>
          </c:tx>
          <c:spPr>
            <a:solidFill>
              <a:srgbClr val="595959"/>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2014年度</c:v>
                  </c:pt>
                  <c:pt idx="1">
                    <c:v>2024年度</c:v>
                  </c:pt>
                </c:lvl>
              </c:multiLvlStrCache>
            </c:multiLvlStrRef>
          </c:cat>
          <c:val>
            <c:numRef>
              <c:f>Sheet1!$C$2:$C$3</c:f>
              <c:numCache>
                <c:formatCode>General</c:formatCode>
                <c:ptCount val="2"/>
                <c:pt idx="0">
                  <c:v>30</c:v>
                </c:pt>
                <c:pt idx="1">
                  <c:v>28</c:v>
                </c:pt>
              </c:numCache>
            </c:numRef>
          </c:val>
        </c:ser>
        <c:ser>
          <c:idx val="2"/>
          <c:order val="2"/>
          <c:tx>
            <c:strRef>
              <c:f>Sheet1!$D$1</c:f>
              <c:strCache>
                <c:ptCount val="1"/>
                <c:pt idx="0">
                  <c:v>通院・買物</c:v>
                </c:pt>
              </c:strCache>
            </c:strRef>
          </c:tx>
          <c:spPr>
            <a:solidFill>
              <a:srgbClr val="7F7F7F"/>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2014年度</c:v>
                  </c:pt>
                  <c:pt idx="1">
                    <c:v>2024年度</c:v>
                  </c:pt>
                </c:lvl>
              </c:multiLvlStrCache>
            </c:multiLvlStrRef>
          </c:cat>
          <c:val>
            <c:numRef>
              <c:f>Sheet1!$D$2:$D$3</c:f>
              <c:numCache>
                <c:formatCode>General</c:formatCode>
                <c:ptCount val="2"/>
                <c:pt idx="0">
                  <c:v>12</c:v>
                </c:pt>
                <c:pt idx="1">
                  <c:v>16</c:v>
                </c:pt>
              </c:numCache>
            </c:numRef>
          </c:val>
        </c:ser>
        <c:ser>
          <c:idx val="3"/>
          <c:order val="3"/>
          <c:tx>
            <c:strRef>
              <c:f>Sheet1!$E$1</c:f>
              <c:strCache>
                <c:ptCount val="1"/>
                <c:pt idx="0">
                  <c:v>観光</c:v>
                </c:pt>
              </c:strCache>
            </c:strRef>
          </c:tx>
          <c:spPr>
            <a:solidFill>
              <a:srgbClr val="A6A6A6"/>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2014年度</c:v>
                  </c:pt>
                  <c:pt idx="1">
                    <c:v>2024年度</c:v>
                  </c:pt>
                </c:lvl>
              </c:multiLvlStrCache>
            </c:multiLvlStrRef>
          </c:cat>
          <c:val>
            <c:numRef>
              <c:f>Sheet1!$E$2:$E$3</c:f>
              <c:numCache>
                <c:formatCode>General</c:formatCode>
                <c:ptCount val="2"/>
                <c:pt idx="0">
                  <c:v>6</c:v>
                </c:pt>
                <c:pt idx="1">
                  <c:v>10</c:v>
                </c:pt>
              </c:numCache>
            </c:numRef>
          </c:val>
        </c:ser>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8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楽観</c:v>
                </c:pt>
              </c:strCache>
            </c:strRef>
          </c:tx>
          <c:spPr>
            <a:solidFill>
              <a:srgbClr val="BFBFBF"/>
            </a:solidFill>
            <a:ln w="25400" cap="flat">
              <a:solidFill>
                <a:srgbClr val="BFBFBF"/>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FBFBF"/>
              </a:solidFill>
              <a:ln w="9525" cap="flat">
                <a:solidFill>
                  <a:srgbClr val="BFBFBF"/>
                </a:solidFill>
                <a:prstDash val="solid"/>
                <a:round/>
              </a:ln>
              <a:effectLst/>
            </c:spPr>
          </c:marker>
          <c:cat>
            <c:multiLvlStrRef>
              <c:f>Sheet1!$A$2:$A$6</c:f>
              <c:multiLvlStrCache>
                <c:ptCount val="5"/>
                <c:lvl>
                  <c:pt idx="0">
                    <c:v>2025</c:v>
                  </c:pt>
                  <c:pt idx="1">
                    <c:v>2030</c:v>
                  </c:pt>
                  <c:pt idx="2">
                    <c:v>2035</c:v>
                  </c:pt>
                  <c:pt idx="3">
                    <c:v>2040</c:v>
                  </c:pt>
                  <c:pt idx="4">
                    <c:v>2045</c:v>
                  </c:pt>
                </c:lvl>
              </c:multiLvlStrCache>
            </c:multiLvlStrRef>
          </c:cat>
          <c:val>
            <c:numRef>
              <c:f>Sheet1!$B$2:$B$6</c:f>
              <c:numCache>
                <c:formatCode>General</c:formatCode>
                <c:ptCount val="5"/>
                <c:pt idx="0">
                  <c:v>158</c:v>
                </c:pt>
                <c:pt idx="1">
                  <c:v>154</c:v>
                </c:pt>
                <c:pt idx="2">
                  <c:v>150</c:v>
                </c:pt>
                <c:pt idx="3">
                  <c:v>145</c:v>
                </c:pt>
                <c:pt idx="4">
                  <c:v>140</c:v>
                </c:pt>
              </c:numCache>
            </c:numRef>
          </c:val>
          <c:smooth val="0"/>
        </c:ser>
        <c:ser>
          <c:idx val="1"/>
          <c:order val="1"/>
          <c:tx>
            <c:strRef>
              <c:f>Sheet1!$C$1</c:f>
              <c:strCache>
                <c:ptCount val="1"/>
                <c:pt idx="0">
                  <c:v>基本</c:v>
                </c:pt>
              </c:strCache>
            </c:strRef>
          </c:tx>
          <c:spPr>
            <a:solidFill>
              <a:srgbClr val="000F78"/>
            </a:solidFill>
            <a:ln w="25400" cap="flat">
              <a:solidFill>
                <a:srgbClr val="000F78"/>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0F78"/>
              </a:solidFill>
              <a:ln w="9525" cap="flat">
                <a:solidFill>
                  <a:srgbClr val="000F78"/>
                </a:solidFill>
                <a:prstDash val="solid"/>
                <a:round/>
              </a:ln>
              <a:effectLst/>
            </c:spPr>
          </c:marker>
          <c:cat>
            <c:multiLvlStrRef>
              <c:f>Sheet1!$A$2:$A$6</c:f>
              <c:multiLvlStrCache>
                <c:ptCount val="5"/>
                <c:lvl>
                  <c:pt idx="0">
                    <c:v>2025</c:v>
                  </c:pt>
                  <c:pt idx="1">
                    <c:v>2030</c:v>
                  </c:pt>
                  <c:pt idx="2">
                    <c:v>2035</c:v>
                  </c:pt>
                  <c:pt idx="3">
                    <c:v>2040</c:v>
                  </c:pt>
                  <c:pt idx="4">
                    <c:v>2045</c:v>
                  </c:pt>
                </c:lvl>
              </c:multiLvlStrCache>
            </c:multiLvlStrRef>
          </c:cat>
          <c:val>
            <c:numRef>
              <c:f>Sheet1!$C$2:$C$6</c:f>
              <c:numCache>
                <c:formatCode>General</c:formatCode>
                <c:ptCount val="5"/>
                <c:pt idx="0">
                  <c:v>158</c:v>
                </c:pt>
                <c:pt idx="1">
                  <c:v>148</c:v>
                </c:pt>
                <c:pt idx="2">
                  <c:v>138</c:v>
                </c:pt>
                <c:pt idx="3">
                  <c:v>128</c:v>
                </c:pt>
                <c:pt idx="4">
                  <c:v>118</c:v>
                </c:pt>
              </c:numCache>
            </c:numRef>
          </c:val>
          <c:smooth val="0"/>
        </c:ser>
        <c:ser>
          <c:idx val="2"/>
          <c:order val="2"/>
          <c:tx>
            <c:strRef>
              <c:f>Sheet1!$D$1</c:f>
              <c:strCache>
                <c:ptCount val="1"/>
                <c:pt idx="0">
                  <c:v>悲観</c:v>
                </c:pt>
              </c:strCache>
            </c:strRef>
          </c:tx>
          <c:spPr>
            <a:solidFill>
              <a:srgbClr val="7F7F7F"/>
            </a:solidFill>
            <a:ln w="25400" cap="flat">
              <a:solidFill>
                <a:srgbClr val="7F7F7F"/>
              </a:solidFill>
              <a:prstDash val="solid"/>
              <a:round/>
            </a:ln>
            <a:effectLst/>
          </c:spPr>
          <c:invertIfNegative val="0"/>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Sheet1!$A$2:$A$6</c:f>
              <c:multiLvlStrCache>
                <c:ptCount val="5"/>
                <c:lvl>
                  <c:pt idx="0">
                    <c:v>2025</c:v>
                  </c:pt>
                  <c:pt idx="1">
                    <c:v>2030</c:v>
                  </c:pt>
                  <c:pt idx="2">
                    <c:v>2035</c:v>
                  </c:pt>
                  <c:pt idx="3">
                    <c:v>2040</c:v>
                  </c:pt>
                  <c:pt idx="4">
                    <c:v>2045</c:v>
                  </c:pt>
                </c:lvl>
              </c:multiLvlStrCache>
            </c:multiLvlStrRef>
          </c:cat>
          <c:val>
            <c:numRef>
              <c:f>Sheet1!$D$2:$D$6</c:f>
              <c:numCache>
                <c:formatCode>General</c:formatCode>
                <c:ptCount val="5"/>
                <c:pt idx="0">
                  <c:v>158</c:v>
                </c:pt>
                <c:pt idx="1">
                  <c:v>142</c:v>
                </c:pt>
                <c:pt idx="2">
                  <c:v>126</c:v>
                </c:pt>
                <c:pt idx="3">
                  <c:v>110</c:v>
                </c:pt>
                <c:pt idx="4">
                  <c:v>95</c:v>
                </c:pt>
              </c:numCache>
            </c:numRef>
          </c:val>
          <c:smooth val="0"/>
        </c:ser>
        <c:dLbls>
          <c:numFmt formatCode="#,##0" sourceLinked="0"/>
          <c:txPr>
            <a:bodyPr/>
            <a:lstStyle/>
            <a:p>
              <a:pPr>
                <a:defRPr b="0" i="0" strike="noStrike" sz="14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0"/>
          <c:min val="80"/>
        </c:scaling>
        <c:delete val="0"/>
        <c:axPos val="l"/>
        <c:numFmt formatCode="General"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そう思う</c:v>
                </c:pt>
              </c:strCache>
            </c:strRef>
          </c:tx>
          <c:spPr>
            <a:solidFill>
              <a:srgbClr val="000F78"/>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Sheet1!$B$2:$B$6</c:f>
              <c:numCache>
                <c:formatCode>General</c:formatCode>
                <c:ptCount val="5"/>
                <c:pt idx="0">
                  <c:v>45</c:v>
                </c:pt>
                <c:pt idx="1">
                  <c:v>37</c:v>
                </c:pt>
                <c:pt idx="2">
                  <c:v>35</c:v>
                </c:pt>
                <c:pt idx="3">
                  <c:v>48</c:v>
                </c:pt>
                <c:pt idx="4">
                  <c:v>41</c:v>
                </c:pt>
              </c:numCache>
            </c:numRef>
          </c:val>
        </c:ser>
        <c:ser>
          <c:idx val="1"/>
          <c:order val="1"/>
          <c:tx>
            <c:strRef>
              <c:f>Sheet1!$C$1</c:f>
              <c:strCache>
                <c:ptCount val="1"/>
                <c:pt idx="0">
                  <c:v>ややそう思う</c:v>
                </c:pt>
              </c:strCache>
            </c:strRef>
          </c:tx>
          <c:spPr>
            <a:solidFill>
              <a:srgbClr val="595959"/>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Sheet1!$C$2:$C$6</c:f>
              <c:numCache>
                <c:formatCode>General</c:formatCode>
                <c:ptCount val="5"/>
                <c:pt idx="0">
                  <c:v>29</c:v>
                </c:pt>
                <c:pt idx="1">
                  <c:v>28</c:v>
                </c:pt>
                <c:pt idx="2">
                  <c:v>27</c:v>
                </c:pt>
                <c:pt idx="3">
                  <c:v>22</c:v>
                </c:pt>
                <c:pt idx="4">
                  <c:v>27</c:v>
                </c:pt>
              </c:numCache>
            </c:numRef>
          </c:val>
        </c:ser>
        <c:ser>
          <c:idx val="2"/>
          <c:order val="2"/>
          <c:tx>
            <c:strRef>
              <c:f>Sheet1!$D$1</c:f>
              <c:strCache>
                <c:ptCount val="1"/>
                <c:pt idx="0">
                  <c:v>どちらでもない</c:v>
                </c:pt>
              </c:strCache>
            </c:strRef>
          </c:tx>
          <c:spPr>
            <a:solidFill>
              <a:srgbClr val="7F7F7F"/>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Sheet1!$D$2:$D$6</c:f>
              <c:numCache>
                <c:formatCode>General</c:formatCode>
                <c:ptCount val="5"/>
                <c:pt idx="0">
                  <c:v>15</c:v>
                </c:pt>
                <c:pt idx="1">
                  <c:v>20</c:v>
                </c:pt>
                <c:pt idx="2">
                  <c:v>22</c:v>
                </c:pt>
                <c:pt idx="3">
                  <c:v>16</c:v>
                </c:pt>
                <c:pt idx="4">
                  <c:v>18</c:v>
                </c:pt>
              </c:numCache>
            </c:numRef>
          </c:val>
        </c:ser>
        <c:ser>
          <c:idx val="3"/>
          <c:order val="3"/>
          <c:tx>
            <c:strRef>
              <c:f>Sheet1!$E$1</c:f>
              <c:strCache>
                <c:ptCount val="1"/>
                <c:pt idx="0">
                  <c:v>そう思わない</c:v>
                </c:pt>
              </c:strCache>
            </c:strRef>
          </c:tx>
          <c:spPr>
            <a:solidFill>
              <a:srgbClr val="A6A6A6"/>
            </a:solidFill>
            <a:effectLst/>
          </c:spPr>
          <c:invertIfNegative val="0"/>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70代以上</c:v>
                  </c:pt>
                  <c:pt idx="1">
                    <c:v>50〜60代</c:v>
                  </c:pt>
                  <c:pt idx="2">
                    <c:v>30〜40代</c:v>
                  </c:pt>
                  <c:pt idx="3">
                    <c:v>10〜20代</c:v>
                  </c:pt>
                  <c:pt idx="4">
                    <c:v>全体</c:v>
                  </c:pt>
                </c:lvl>
              </c:multiLvlStrCache>
            </c:multiLvlStrRef>
          </c:cat>
          <c:val>
            <c:numRef>
              <c:f>Sheet1!$E$2:$E$6</c:f>
              <c:numCache>
                <c:formatCode>General</c:formatCode>
                <c:ptCount val="5"/>
                <c:pt idx="0">
                  <c:v>11</c:v>
                </c:pt>
                <c:pt idx="1">
                  <c:v>15</c:v>
                </c:pt>
                <c:pt idx="2">
                  <c:v>16</c:v>
                </c:pt>
                <c:pt idx="3">
                  <c:v>14</c:v>
                </c:pt>
                <c:pt idx="4">
                  <c:v>14</c:v>
                </c:pt>
              </c:numCache>
            </c:numRef>
          </c:val>
        </c:ser>
        <c:dLbls>
          <c:numFmt formatCode="#,##0"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その他</c:v>
                </c:pt>
              </c:strCache>
            </c:strRef>
          </c:tx>
          <c:spPr>
            <a:solidFill>
              <a:srgbClr val="BFBFBF"/>
            </a:solidFill>
            <a:effectLst/>
          </c:spPr>
          <c:invertIfNegative val="0"/>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案B　上下分離</c:v>
                  </c:pt>
                  <c:pt idx="1">
                    <c:v>案C　BRT転換</c:v>
                  </c:pt>
                  <c:pt idx="2">
                    <c:v>案A　現行維持</c:v>
                  </c:pt>
                </c:lvl>
              </c:multiLvlStrCache>
            </c:multiLvlStrRef>
          </c:cat>
          <c:val>
            <c:numRef>
              <c:f>Sheet1!$B$2:$B$4</c:f>
              <c:numCache>
                <c:formatCode>General</c:formatCode>
                <c:ptCount val="3"/>
                <c:pt idx="0">
                  <c:v>0</c:v>
                </c:pt>
                <c:pt idx="1">
                  <c:v>2.4</c:v>
                </c:pt>
                <c:pt idx="2">
                  <c:v>6.3</c:v>
                </c:pt>
              </c:numCache>
            </c:numRef>
          </c:val>
        </c:ser>
        <c:ser>
          <c:idx val="1"/>
          <c:order val="1"/>
          <c:tx>
            <c:strRef>
              <c:f>Sheet1!$C$1</c:f>
              <c:strCache>
                <c:ptCount val="1"/>
                <c:pt idx="0">
                  <c:v>推奨</c:v>
                </c:pt>
              </c:strCache>
            </c:strRef>
          </c:tx>
          <c:spPr>
            <a:solidFill>
              <a:srgbClr val="000F78"/>
            </a:solidFill>
            <a:effectLst/>
          </c:spPr>
          <c:invertIfNegative val="0"/>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案B　上下分離</c:v>
                  </c:pt>
                  <c:pt idx="1">
                    <c:v>案C　BRT転換</c:v>
                  </c:pt>
                  <c:pt idx="2">
                    <c:v>案A　現行維持</c:v>
                  </c:pt>
                </c:lvl>
              </c:multiLvlStrCache>
            </c:multiLvlStrRef>
          </c:cat>
          <c:val>
            <c:numRef>
              <c:f>Sheet1!$C$2:$C$4</c:f>
              <c:numCache>
                <c:formatCode>General</c:formatCode>
                <c:ptCount val="3"/>
                <c:pt idx="0">
                  <c:v>2.2</c:v>
                </c:pt>
                <c:pt idx="1">
                  <c:v>0</c:v>
                </c:pt>
                <c:pt idx="2">
                  <c:v>0</c:v>
                </c:pt>
              </c:numCache>
            </c:numRef>
          </c:val>
        </c:ser>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表紙。案件で使う際は、このファイルを案件名で別名保存し、最後に見本スライドを削除する。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パターンID：P01
使う場面：デッキ冒頭。各章のメッセージラインを1行に要約し、根拠の数字を添える。最後の提言だけを紺にする。
差し替え：章ごとの結論文・根拠の数字・提言。
参考ページID：BCG02-p3（画像はPCの参照ライブラリ/pages/）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パターンID：P02
使う場面：目次、各章の扉。当該章だけ紺・太字、他はグレー。
差し替え：章名。
参考ページID：MCK01-p8、BCG01-p10（画像はPCの参照ライブラリ/pages/）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パターンID：P03
使う場面：時系列の増減を示す。期間が少ない（〜10本）場合。言いたい期間の棒だけ紺、CAGRを紺の注釈で。
差し替え：系列データ（グラフ用シート）、CAGRの値と範囲、見出し。
参考ページID：MCK03-p29（画像はPCの参照ライブラリ/pages/）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パターンID：P04
使う場面：大小・順位の比較。必ず降順。注目対象だけ紺、他はグレー。
差し替え：項目名と値（降順に並べ替える）、注目対象の位置。
参考ページID：MCK01-p5、MCK01-p33（画像はPCの参照ライブラリ/pages/）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パターンID：P05
使う場面：構成の変化。系列は5つ以内、グレーの濃淡で塗り分け、注目の1系列だけ紺。
差し替え：系列名・値、注目系列。
参考ページID：MCK01-p39、BCG02-p19（画像はPCの参照ライブラリ/pages/）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パターンID：P06
使う場面：増減の要因分解。始点・終点は濃いグレー、要因は中間のグレー、最大要因だけ紺。棒は図形で作図（編集可能）。
差し替え：要因名・値。棒の高さは値に比例させて調整する。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パターンID：P07
使う場面：規模と構成の両方が議論に必要なときだけ使う。片方だけなら棒グラフで足りる。
差し替え：セグメントの幅（規模比）とシェア。【当社】の区画だけ紺。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パターンID：P08
使う場面：2変数の関係。平均線で象限を切り、注目点だけ紺。
差し替え：X・Yの値、平均線の位置、注目点。
参考ページID：MCK03-p21（画像はPCの参照ライブラリ/pages/）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パターンID：P09
使う場面：長い期間の推移、複数系列（3本まで）。対象だけ紺、他はグレー。凡例を使わず線の端に系列名を直接書く。
差し替え：系列データ、系列名。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パターンID：P10
使う場面：チャートから読み取るべき点が2〜3ある場合。チャート上の番号とキーメッセージ欄の番号を対応させる。
差し替え：チャートデータ、読み取り3点。
参考ページID：MCK01-p28、MCK02-p8（画像はPCの参照ライブラリ/pages/）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パターンID：P11
使う場面：Before/After、現状とあるべき姿、定量と定性など2つのエクジビットを並べる場合。必ず左右に並べ、上下に積まない。結論側（右）だけ紺。
差し替え：左右の見出しと中身。
参考ページID：MCK01-p11、MCK01-p92、MCK03-p26（画像はPCの参照ライブラリ/pages/）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パターンID：P12
使う場面：関係者の関係、お金・モノ・情報の流れ。要素は6つ以内、各12字以内。変化する箇所だけ紺。アイコンはPowerPointの「アイコン」で単色の線画に差し替える。
差し替え：主体名、矢印のラベル。
参考ページID：MCK01-p10（画像はPCの参照ライブラリ/pages/）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パターンID：P13
使う場面：手順、スケジュール、段階的な実行。今回決める段階・判断点だけ紺。判断点は◆で示す。
差し替え：フェーズ名・期間・主な取組・判断点。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パターンID：P14
使う場面：要因の分解、論点整理。左から右へ。演算子（×＋）を明記。効いている枝だけ紺。
差し替え：各ノードの名前・値。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パターンID：P15
使う場面：2軸での優先順位付け、ポジショニング。軸の定義と各象限の意味を明記。推奨象限だけ紺。
差し替え：軸の名前、項目と位置。
参考ページID：MCK03-p35（画像はPCの参照ライブラリ/pages/）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パターンID：P16
使う場面：選択肢・事例の構造的な比較。評価はハーベイボール（グレー）。推奨する列だけ紺の細枠。表は4列4行程度まで。
差し替え：選択肢名・基準・評価。評価基準は注記で定義する。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パターンID：P17
使う場面：先行事例の紹介。左に概要（取組・体制）、右に成果の数値。成果の数値だけ紺。
差し替え：事例の各項目、成果の数値。
参考ページID：MCK02-p21、MCK03-p46、BCG01-p96（画像はPCの参照ライブラリ/pages/）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パターンID：P18
使う場面：アンケート結果。属性別の行を横の100%積上げで。設問文・n数・調査時期を必ず記載。注目の回答だけ紺。
差し替え：属性・回答割合・設問文。
参考ページID：MCK02-p58（画像はPCの参照ライブラリ/pages/）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パターンID：P19
使う場面：提言。グループに分け、番号を振って他ページから参照できるようにする。各施策は動詞で終える。実行時期を付ける。最優先の施策だけ紺。
差し替え：領域・施策・時期。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パターンID：P20
使う場面：主要な数値の並び（KPI）。3〜4個まで。最も言いたい数値だけ紺、他は黒。
差し替え：指標名・数値・補足。
参考ページID：MCK01-p29、MCK01-p38（画像はPCの参照ライブラリ/pages/）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パターンID：P21
使う場面：左の図（前提）から、右の読み取り（帰結）を導く。強い因果があるときだけ中央にグレーの三角を1つ置く。右の項目は左の図のどこの話かを番号で対応させる。
差し替え：左の図、右の読み取り3点。
参考ページID：MCK02-p9（画像はPCの参照ライブラリ/pages/）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パターンID：P22
使う場面：冒頭やエグゼクティブサマリーの前で、話の骨格を3段で示す。課題は「未達の原因」だけを書き、解決は課題と1対1で対応させる。解決の列だけ紺。
差し替え：各段の見出しと根拠2点。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パターンID：P23
使う場面：課題と打ち手を1対1で対応させる。打ち手のない課題、課題のない打ち手を作らない。最優先の組だけ紺。
差し替え：課題3つ、打ち手3つ、効果の目安。
参考ページID：MCK01-p7、BCG01-p34（画像はPCの参照ライブラリ/pages/）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パターンID：P24
使う場面：工程・手順・変遷を左から右へ。4〜6工程。今回決める工程・最も重要な工程だけ紺。各工程の下に、何をするか・誰がするかを2行以内で書く。
差し替え：工程名、内容、担当、期間。
参考ページID：MCK01-p20、MCK02-p49、MCK03-p54（画像はPCの参照ライブラリ/pages/）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パターンID：P25
使う場面：作業ごとの期間と順序。全体の完了時期を決める作業（クリティカルパス）だけ紺。節目は◆で示す。作業は8行程度まで。
差し替え：作業名、開始・終了月、節目。
参考ページID：MCK01-p12、BCG01-p6（画像はPCの参照ライブラリ/pages/）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パターンID：P26
使う場面：複数の主体にまたがる業務の流れ。行＝主体（レーン）、左から右へ時間。導入前の現状に提案物を混ぜない。問題の工程だけ紺。
差し替え：レーン名、工程、矢印。
参考ページID：BCG02-p9、BCG02-p24（画像はPCの参照ライブラリ/pages/）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パターンID：P27
使う場面：将来の見通しに幅がある場合。左にシナリオ別の推移、右に各シナリオの前提。基本シナリオだけ紺、他はグレー。見通しの期間は「（予測）」と明記。
差し替え：シナリオの値、前提、維持ライン。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パターンID：P28
使う場面：どの前提が結論を左右するかを示す。影響の大きい順に上から並べる。最も影響の大きい前提だけ紺。基本ケースの値を中央線で示す。
差し替え：前提名、下振れ・上振れの値。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パターンID：P29
使う場面：結論の数字がどの数字の掛け算・足し算で決まるかを示す。演算子（＝×−＋）を明記し、各箱に値を書く。動かすべきドライバーだけ紺。
差し替え：各ドライバーの名前と値、演算子。
参考ページID：MCK03-p40、MCK03-p67（画像はPCの参照ライブラリ/pages/）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パターンID：P30
使う場面：リスク・兆候・打ち手を一覧で示す。影響度の大きい順に並べる。最も影響の大きいリスクの行だけ紺。
差し替え：リスク、兆候（何を見れば分かるか）、影響度、打ち手。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パターンID：P31
使う場面：多数の項目×観点の強弱を一覧で示す。濃淡はグレー3段階、最も言いたい行（または列）だけ紺の枠で囲む。凡例で濃淡の意味を書く。
差し替え：行・列の名前、各セルの水準（1〜3）。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パターンID：P32
使う場面：会議で判断を求める。決めてほしいこと・選択肢と推奨・判断に必要な前提・決めた後の動きを1枚に。推奨案と「決めてほしいこと」だけ紺。依頼や合意事項がない資料では使わない。
差し替え：論点、案、推奨理由、前提、期限。
参考ページID：MCK01-p19（画像はPCの参照ライブラリ/pages/）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パターンID：P33
使う場面：同じ図法・同じ目盛りで、切り口違い（地域・事業・顧客層）を並べて比べる。目盛りは必ずそろえる。注目の1枚だけ紺、他はグレー。
差し替え：各小図のデータと見出し。
参考ページID：MCK01-p62、MCK02-p13、BCG01-p85（画像はPCの参照ライブラリ/pages/）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パターンID：P34
使う場面：本文が11枚以上の資料の冒頭で、論点と章の対応を一望させる。後続ページの章名トラッカーと同じ番号・言葉を使う。最重要の論点だけ紺。
差し替え：論点、章、ページ範囲。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パターンID：P35
使う場面：問いを「答えを決める要素」で分解し、各論点の確かめ方（分析・データ）を右列に置く。進め方の順番ではなく答えの構造で分ける。答えを最も左右する論点だけ紺。
差し替え：問い、サブ論点、確かめ方。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パターンID：P36
使う場面：観点ごとに現状・目指す姿・差を並べ、打ち手の必要性を示す。差の列を設け、最も大きい差だけ紺。
差し替え：観点、現状値、目標値、差。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パターンID：P37
使う場面：打ち手ごとの効果額・着手時期・確度を一覧にする。効果の大きい順に並べ、合計を最下行に置く。最大の打ち手だけ紺。合計は検算する。
差し替え：打ち手、効果、時期、確度。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パターンID：P38
使う場面：2つの数値の対比だけで主張が伝わる場合。数値は大きく、算定の前提は補足（11pt）に書く。言いたい側の数値だけ紺。
差し替え：2つの数値、単位、前提。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パターンID：P39
使う場面：割合を「100人中◯人」で直感的に示す。100個の点で表し、該当する点だけ紺。割合が1桁や90%台なら棒グラフの方がよい。
差し替え：割合、設問、内訳の読み取り。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パターンID：P40
使う場面：規模の違いを面積で印象づける。円の面積を値に比例させる（直径ではない）。比較は2〜3個まで。正確な比較が必要なら棒グラフを使う。
差し替え：値（面積比で直径を計算）、ラベル。
参考ページID：MCK02-p17（画像はPCの参照ライブラリ/pages/）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パターンID：P41
使う場面：総量の推移と内訳の両方を示す。棒の上に合計値、系列名は右端に直接書く。注目の系列だけ紺。構成比だけを言いたいなら100%積上げ（P05）を使う。
差し替え：系列データ、合計、系列名。
参考ページID：MCK02-p14（画像はPCの参照ライブラリ/pages/）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パターンID：P42
使う場面：目指す姿・柱（施策群）・土台（共通基盤）の関係を示す。屋根の箱は使わず、線と文字で構造を表す。最重要の柱と、前提となる土台だけ紺。
差し替え：目指す姿、柱、土台。
参考ページID：BCG01-p25（画像はPCの参照ライブラリ/pages/）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パターンID：P43
使う場面：工程（列）×観点（行）で課題を一覧にする。課題のあるセルだけ短く書き、集中している工程の列を紺の枠で囲む。
差し替え：工程、観点、課題の短文。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パターンID：P44
使う場面：施策（行）×年度（列）で、いつ何をするかを示す。ガント（P25）より粗い計画向け。各セルは短い動詞句。鍵になるセルだけ紺。
差し替え：施策、年度、取組。
参考ページID：MCK02-p40、BCG02-p44（画像はPCの参照ライブラリ/pages/）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パターンID：P45
使う場面：要素が互いに強め合う（または弱め合う）循環を示す。要素は4〜5個。循環の起点だけ紺。悪循環の場合は「断ち切る点」を紺にする。
差し替え：要素名、起点。
参考ページID：BCG01-p23、BCG01-p24（画像はPCの参照ライブラリ/pages/）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パターンID：P46
使う場面：業界の機能の連なりと、どこで価値（利益・費用）が生まれるかを示す。各段の下に値を置く。注目の段だけ紺。
差し替え：段の名前、配分、自社の位置。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パターンID：P47
使う場面：条件によって取るべき道が分かれることを示す。分岐の条件は数値の閾値で書く。今の時点で最も起こりやすい道、または推奨の道だけ紺。
差し替え：判断点、条件、それぞれの道と時期。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パターンID：P48
使う場面：外部動向（政策・技術・社会・競争）を4つ並べ、それぞれに数字1つと出所を添える。最も影響の大きい動向だけ紺。
差し替え：動向、数字、出所。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パターンID：P49
使う場面：冒頭で、結論がどの調査に基づくかを示し、信頼性を担保する。件数・期間・対象を数字で書く。最も重い調査だけ紺。
差し替え：調査名、件数、期間、対象。
参考ページID：BCG01-p95、BCG02-p10（画像はPCの参照ライブラリ/pages/）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パターンID：P50
使う場面：定例報告で、取組ごとの状態を一覧にする。状態は記号と言葉で示し、信号色（赤黄緑）は使わない。遅れている取組の行だけ紺。
差し替え：取組、状態、進捗率、次の打ち手。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パターンID：P51
使う場面：画面操作の説明。左に画面（スクリーンショットをそのまま）、右に番号付きの手順。画面上の番号と手順の番号を対応させる。最重要の操作だけ紺。個人情報はぼかす。
差し替え：画面画像、手順。
参考ページID：MCK02-p44、BCG02-p53（画像はPCの参照ライブラリ/pages/）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パターンID：P52
使う場面：複数の条件の重なりを示す。円は3つまで。円は塗らずに線で描き、重なりの中心（または注目の領域）だけ紺。各領域に数を書く。
差し替え：条件名、各領域の数。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パターンID：P53
使う場面：定量データを補う定性の根拠。発言は「」で短く引用し、発言者は属性で示す（個人名は出さない）。主張を最も端的に表す発言だけ紺。
差し替え：発言、属性。
参考ページID：MCK01-p93、BCG01-p36（画像はPCの参照ライブラリ/pages/）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パターンID：P54
使う場面：左に定量の図、右端の淡いグレーの縦帯に「現場の声」や「示唆」を集約する。公開資料（MCK02-p9、MCK02-p58、MCK03-p21）に多い構成。帯の中の結論の一文だけ紺。
差し替え：図のデータ、帯の声・示唆。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パターンID：P55
使う場面：表のまま数値の大小も見せたいとき、数値の横に小さな横棒を入れ、基準値（平均＝100など）を縦の点線で示す。公開資料（MCK03-p42、MCK03-p38）に見られる表とグラフの折衷。最も弱い（強い）行だけ紺。
差し替え：指標名、指数、基準線の位置。
参考ページID：未登録（slide-reference-library で収集後に追記）（画像はPCの参照ライブラリ/pages/）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使用した型：P02（部扉）
完成例の部扉。案件で使う場合は削除する。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使用した型：表紙
エビデンスID：―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使用した型：P01 エグゼクティブサマリー
エビデンスID：E-01〜E-12（各章の根拠）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使用した型：P34 全体マップ
エビデンスID：―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使用した型：P49 調査の土台
エビデンスID：E-00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使用した型：P02（章扉）
エビデンスID：―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使用した型：P03 縦棒の時系列＋CAGR
エビデンスID：E-01（運行データ）
検算：158÷210＝0.752（25%減）、年平均−2.8%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使用した型：P05 100%積上げ
エビデンスID：E-02（定期券種別データ・アンケート）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使用した型：P27 シナリオ比較
エビデンスID：E-03（将来人口推計）・E-01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使用した型：P18 アンケート結果
エビデンスID：E-04（沿線住民アンケート）
検算：全体 41＋27＝68%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使用した型：P02（章扉）
エビデンスID：―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使用した型：P06 ウォーターフォール
エビデンスID：E-05（費目別決算）
検算：2.1＋1.9＋0.8＋0.5＋0.2−0.3＝5.2、1.9÷3.1＝61%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使用した型：P38 大型数値の対比
エビデンスID：E-05・E-06（同規模事業者の公表決算）
検算：14.8億円÷158万人＝937円、937÷620＝1.51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使用した型：P29 計算ロジック
エビデンスID：E-05
検算：9.6−14.8＝−5.2、158万人×513円＝8.1億円、5.2億円÷513円＝101万人、(158＋101)÷158＝1.64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使用した型：P28 感度分析
エビデンスID：E-05
検算：運賃収入8.1×10%＝0.81、人件費6.9×10%＝0.69、修繕費3.2×10%＝0.32、減価償却2.1×10%＝0.21、動力費1.4×10%＝0.14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使用した型：P02（章扉）
エビデンスID：―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使用した型：P16 評価表
エビデンスID：E-07（案別の試算）・E-08（ヒアリング）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使用した型：P12 ポンチ絵
エビデンスID：E-07
検算：施設費用＝修繕費3.2＋減価償却費2.1＝5.3億円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使用した型：P04 降順の横棒
エビデンスID：E-07
検算：案B 5.3−1.0−2.1＝2.2、案A 2030年度の赤字見込み6.3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使用した型：P37 打ち手の効果表
エビデンスID：E-09（増収策の試算）
検算：0.40＋0.30＋0.15＋0.10＋0.05＝1.00、会社収支 −5.2＋5.3−1.0＝−0.9 → −0.9＋1.0＝＋0.1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使用した型：P02（章扉）
エビデンスID：―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使用した型：P13 プロセス／ロードマップ
エビデンスID：E-10（手続きの所要期間）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使用した型：P20 数値ハイライト
エビデンスID：E-07・E-09
検算：6.3−2.2＝4.1、会社収支 −0.9＋1.0＝＋0.1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使用した型：P30 リスク一覧
エビデンスID：E-07・E-08
検算：補助なしの実質負担＝5.3−1.0＝4.3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完成例（架空）
使用した型：P32 意思決定ページ
エビデンスID：E-07・E-10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chart" Target="/ppt/charts/chart12.xml"/><Relationship Id="rId4" Type="http://schemas.openxmlformats.org/officeDocument/2006/relationships/chart" Target="/ppt/charts/chart13.xml"/><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2194560"/>
            <a:ext cx="8229600" cy="731520"/>
          </a:xfrm>
          <a:prstGeom prst="rect">
            <a:avLst/>
          </a:prstGeom>
          <a:noFill/>
          <a:ln/>
        </p:spPr>
        <p:txBody>
          <a:bodyPr wrap="square" lIns="0" tIns="0" rIns="0" bIns="0" rtlCol="0" anchor="t"/>
          <a:lstStyle/>
          <a:p>
            <a:pPr indent="0" marL="0">
              <a:buNone/>
            </a:pPr>
            <a:r>
              <a:rPr lang="en-US" sz="3200" b="1" dirty="0">
                <a:solidFill>
                  <a:srgbClr val="000F78"/>
                </a:solidFill>
                <a:latin typeface="Yu Gothic UI" pitchFamily="34" charset="0"/>
                <a:ea typeface="Yu Gothic UI" pitchFamily="34" charset="-122"/>
                <a:cs typeface="Yu Gothic UI" pitchFamily="34" charset="-120"/>
              </a:rPr>
              <a:t>パターン見本デッキ</a:t>
            </a:r>
            <a:endParaRPr lang="en-US" sz="3200" dirty="0"/>
          </a:p>
        </p:txBody>
      </p:sp>
      <p:sp>
        <p:nvSpPr>
          <p:cNvPr id="3" name="Text 1"/>
          <p:cNvSpPr txBox="1"/>
          <p:nvPr/>
        </p:nvSpPr>
        <p:spPr>
          <a:xfrm>
            <a:off x="731520" y="3017520"/>
            <a:ext cx="8229600" cy="365760"/>
          </a:xfrm>
          <a:prstGeom prst="rect">
            <a:avLst/>
          </a:prstGeom>
          <a:noFill/>
          <a:ln/>
        </p:spPr>
        <p:txBody>
          <a:bodyPr wrap="square" lIns="0" tIns="0" rIns="0" bIns="0" rtlCol="0" anchor="t"/>
          <a:lstStyle/>
          <a:p>
            <a:pPr indent="0" marL="0">
              <a:buNone/>
            </a:pPr>
            <a:r>
              <a:rPr lang="en-US" sz="1600" dirty="0">
                <a:solidFill>
                  <a:srgbClr val="000000"/>
                </a:solidFill>
                <a:latin typeface="Yu Gothic UI" pitchFamily="34" charset="0"/>
                <a:ea typeface="Yu Gothic UI" pitchFamily="34" charset="-122"/>
                <a:cs typeface="Yu Gothic UI" pitchFamily="34" charset="-120"/>
              </a:rPr>
              <a:t>consulting-slide-builder 用　55の型（P01〜P55）＋通しの完成例</a:t>
            </a:r>
            <a:endParaRPr lang="en-US" sz="1600" dirty="0"/>
          </a:p>
        </p:txBody>
      </p:sp>
      <p:sp>
        <p:nvSpPr>
          <p:cNvPr id="4" name="Text 2"/>
          <p:cNvSpPr txBox="1"/>
          <p:nvPr/>
        </p:nvSpPr>
        <p:spPr>
          <a:xfrm>
            <a:off x="731520" y="3749040"/>
            <a:ext cx="8412480" cy="82296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使い方：この見本を複製し、中身だけを差し替えてスライドを作る。各スライドのノートに、パターンID・使う場面・差し替える箇所を記載。</a:t>
            </a:r>
            <a:endParaRPr lang="en-US" sz="1400" dirty="0"/>
          </a:p>
          <a:p>
            <a:pPr indent="0" marL="0">
              <a:buNone/>
            </a:pPr>
            <a:r>
              <a:rPr lang="en-US" sz="1400" dirty="0">
                <a:solidFill>
                  <a:srgbClr val="595959"/>
                </a:solidFill>
                <a:latin typeface="Yu Gothic UI" pitchFamily="34" charset="0"/>
                <a:ea typeface="Yu Gothic UI" pitchFamily="34" charset="-122"/>
                <a:cs typeface="Yu Gothic UI" pitchFamily="34" charset="-120"/>
              </a:rPr>
              <a:t>数値は全てダミー値。成果物に残さないこと。</a:t>
            </a:r>
            <a:endParaRPr lang="en-US" sz="1400" dirty="0"/>
          </a:p>
        </p:txBody>
      </p:sp>
      <p:sp>
        <p:nvSpPr>
          <p:cNvPr id="5" name="Shape 3"/>
          <p:cNvSpPr/>
          <p:nvPr/>
        </p:nvSpPr>
        <p:spPr>
          <a:xfrm>
            <a:off x="731520" y="3520440"/>
            <a:ext cx="8412480" cy="0"/>
          </a:xfrm>
          <a:prstGeom prst="line">
            <a:avLst/>
          </a:prstGeom>
          <a:noFill/>
          <a:ln w="9525">
            <a:solidFill>
              <a:srgbClr val="BFBFB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00　エグゼクティブサマリー</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【対象】は【課題】により【期間】で【数値A】が不足する。【打ち手A】と【打ち手B】を組み合わせ、【時期】までに【目標】を達成すべきである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a:t>
            </a:r>
            <a:endParaRPr lang="en-US" sz="900" dirty="0"/>
          </a:p>
        </p:txBody>
      </p:sp>
      <p:sp>
        <p:nvSpPr>
          <p:cNvPr id="10" name="Text 7"/>
          <p:cNvSpPr txBox="1"/>
          <p:nvPr/>
        </p:nvSpPr>
        <p:spPr>
          <a:xfrm>
            <a:off x="288036" y="1508760"/>
            <a:ext cx="1005840" cy="566928"/>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現状</a:t>
            </a:r>
            <a:endParaRPr lang="en-US" sz="1400" dirty="0"/>
          </a:p>
        </p:txBody>
      </p:sp>
      <p:sp>
        <p:nvSpPr>
          <p:cNvPr id="11" name="Text 8"/>
          <p:cNvSpPr txBox="1"/>
          <p:nvPr/>
        </p:nvSpPr>
        <p:spPr>
          <a:xfrm>
            <a:off x="1431036" y="1508760"/>
            <a:ext cx="81866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【対象】の【指標】は10年で【数値A】減少し、全国平均を下回る</a:t>
            </a:r>
            <a:endParaRPr lang="en-US" sz="1400" dirty="0"/>
          </a:p>
        </p:txBody>
      </p:sp>
      <p:sp>
        <p:nvSpPr>
          <p:cNvPr id="12" name="Text 9"/>
          <p:cNvSpPr txBox="1"/>
          <p:nvPr/>
        </p:nvSpPr>
        <p:spPr>
          <a:xfrm>
            <a:off x="1431036" y="1819656"/>
            <a:ext cx="818662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根拠：【指標】【数値】（【年度】）</a:t>
            </a:r>
            <a:endParaRPr lang="en-US" sz="1400" dirty="0"/>
          </a:p>
        </p:txBody>
      </p:sp>
      <p:sp>
        <p:nvSpPr>
          <p:cNvPr id="13" name="Shape 10"/>
          <p:cNvSpPr/>
          <p:nvPr/>
        </p:nvSpPr>
        <p:spPr>
          <a:xfrm>
            <a:off x="288036" y="2258568"/>
            <a:ext cx="9329623" cy="0"/>
          </a:xfrm>
          <a:prstGeom prst="line">
            <a:avLst/>
          </a:prstGeom>
          <a:noFill/>
          <a:ln w="9525">
            <a:solidFill>
              <a:srgbClr val="E7E6E6"/>
            </a:solidFill>
            <a:prstDash val="solid"/>
          </a:ln>
        </p:spPr>
      </p:sp>
      <p:sp>
        <p:nvSpPr>
          <p:cNvPr id="14" name="Text 11"/>
          <p:cNvSpPr txBox="1"/>
          <p:nvPr/>
        </p:nvSpPr>
        <p:spPr>
          <a:xfrm>
            <a:off x="288036" y="2423160"/>
            <a:ext cx="1005840" cy="566928"/>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課題</a:t>
            </a:r>
            <a:endParaRPr lang="en-US" sz="1400" dirty="0"/>
          </a:p>
        </p:txBody>
      </p:sp>
      <p:sp>
        <p:nvSpPr>
          <p:cNvPr id="15" name="Text 12"/>
          <p:cNvSpPr txBox="1"/>
          <p:nvPr/>
        </p:nvSpPr>
        <p:spPr>
          <a:xfrm>
            <a:off x="1431036" y="2423160"/>
            <a:ext cx="81866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減少の主因は【要因X】であり、【要因Y】の影響は限定的である</a:t>
            </a:r>
            <a:endParaRPr lang="en-US" sz="1400" dirty="0"/>
          </a:p>
        </p:txBody>
      </p:sp>
      <p:sp>
        <p:nvSpPr>
          <p:cNvPr id="16" name="Text 13"/>
          <p:cNvSpPr txBox="1"/>
          <p:nvPr/>
        </p:nvSpPr>
        <p:spPr>
          <a:xfrm>
            <a:off x="1431036" y="2734056"/>
            <a:ext cx="818662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根拠：要因分解で【要因X】が全体の【数値】%</a:t>
            </a:r>
            <a:endParaRPr lang="en-US" sz="1400" dirty="0"/>
          </a:p>
        </p:txBody>
      </p:sp>
      <p:sp>
        <p:nvSpPr>
          <p:cNvPr id="17" name="Shape 14"/>
          <p:cNvSpPr/>
          <p:nvPr/>
        </p:nvSpPr>
        <p:spPr>
          <a:xfrm>
            <a:off x="288036" y="3172968"/>
            <a:ext cx="9329623" cy="0"/>
          </a:xfrm>
          <a:prstGeom prst="line">
            <a:avLst/>
          </a:prstGeom>
          <a:noFill/>
          <a:ln w="9525">
            <a:solidFill>
              <a:srgbClr val="E7E6E6"/>
            </a:solidFill>
            <a:prstDash val="solid"/>
          </a:ln>
        </p:spPr>
      </p:sp>
      <p:sp>
        <p:nvSpPr>
          <p:cNvPr id="18" name="Text 15"/>
          <p:cNvSpPr txBox="1"/>
          <p:nvPr/>
        </p:nvSpPr>
        <p:spPr>
          <a:xfrm>
            <a:off x="288036" y="3337560"/>
            <a:ext cx="1005840" cy="566928"/>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打ち手</a:t>
            </a:r>
            <a:endParaRPr lang="en-US" sz="1400" dirty="0"/>
          </a:p>
        </p:txBody>
      </p:sp>
      <p:sp>
        <p:nvSpPr>
          <p:cNvPr id="19" name="Text 16"/>
          <p:cNvSpPr txBox="1"/>
          <p:nvPr/>
        </p:nvSpPr>
        <p:spPr>
          <a:xfrm>
            <a:off x="1431036" y="3337560"/>
            <a:ext cx="81866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【打ち手A】は効果と実現性の両面で最も優先度が高い</a:t>
            </a:r>
            <a:endParaRPr lang="en-US" sz="1400" dirty="0"/>
          </a:p>
        </p:txBody>
      </p:sp>
      <p:sp>
        <p:nvSpPr>
          <p:cNvPr id="20" name="Text 17"/>
          <p:cNvSpPr txBox="1"/>
          <p:nvPr/>
        </p:nvSpPr>
        <p:spPr>
          <a:xfrm>
            <a:off x="1431036" y="3648456"/>
            <a:ext cx="818662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根拠：評価表で4基準中3基準が最上位</a:t>
            </a:r>
            <a:endParaRPr lang="en-US" sz="1400" dirty="0"/>
          </a:p>
        </p:txBody>
      </p:sp>
      <p:sp>
        <p:nvSpPr>
          <p:cNvPr id="21" name="Shape 18"/>
          <p:cNvSpPr/>
          <p:nvPr/>
        </p:nvSpPr>
        <p:spPr>
          <a:xfrm>
            <a:off x="288036" y="4087368"/>
            <a:ext cx="9329623" cy="0"/>
          </a:xfrm>
          <a:prstGeom prst="line">
            <a:avLst/>
          </a:prstGeom>
          <a:noFill/>
          <a:ln w="9525">
            <a:solidFill>
              <a:srgbClr val="E7E6E6"/>
            </a:solidFill>
            <a:prstDash val="solid"/>
          </a:ln>
        </p:spPr>
      </p:sp>
      <p:sp>
        <p:nvSpPr>
          <p:cNvPr id="22" name="Shape 19"/>
          <p:cNvSpPr/>
          <p:nvPr/>
        </p:nvSpPr>
        <p:spPr>
          <a:xfrm>
            <a:off x="288036" y="4389120"/>
            <a:ext cx="9329623" cy="1234440"/>
          </a:xfrm>
          <a:prstGeom prst="rect">
            <a:avLst/>
          </a:prstGeom>
          <a:solidFill>
            <a:srgbClr val="000F78">
              <a:alpha val="10000"/>
            </a:srgbClr>
          </a:solidFill>
          <a:ln w="19050">
            <a:solidFill>
              <a:srgbClr val="000F78"/>
            </a:solidFill>
            <a:prstDash val="solid"/>
          </a:ln>
        </p:spPr>
      </p:sp>
      <p:sp>
        <p:nvSpPr>
          <p:cNvPr id="23" name="Text 20"/>
          <p:cNvSpPr txBox="1"/>
          <p:nvPr/>
        </p:nvSpPr>
        <p:spPr>
          <a:xfrm>
            <a:off x="470916" y="4526280"/>
            <a:ext cx="91440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提言</a:t>
            </a:r>
            <a:endParaRPr lang="en-US" sz="1400" dirty="0"/>
          </a:p>
        </p:txBody>
      </p:sp>
      <p:sp>
        <p:nvSpPr>
          <p:cNvPr id="24" name="Text 21"/>
          <p:cNvSpPr txBox="1"/>
          <p:nvPr/>
        </p:nvSpPr>
        <p:spPr>
          <a:xfrm>
            <a:off x="1431036" y="4526280"/>
            <a:ext cx="8003743" cy="91440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【打ち手A】を【時期】までに実行し、並行して【打ち手B】の検証に着手する。</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初年度は【体制】を立ち上げ、【KPI】で進捗を管理する</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本資料は【問い】に答えるため、現状・課題・打ち手・実行計画の順に検討結果を示す。本章では【章の要点】を明らかにし、次章の打ち手の前提とする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a:t>
            </a:r>
            <a:endParaRPr lang="en-US" sz="900" dirty="0"/>
          </a:p>
        </p:txBody>
      </p:sp>
      <p:sp>
        <p:nvSpPr>
          <p:cNvPr id="10" name="Text 7"/>
          <p:cNvSpPr txBox="1"/>
          <p:nvPr/>
        </p:nvSpPr>
        <p:spPr>
          <a:xfrm>
            <a:off x="562356" y="1691640"/>
            <a:ext cx="640080" cy="457200"/>
          </a:xfrm>
          <a:prstGeom prst="rect">
            <a:avLst/>
          </a:prstGeom>
          <a:noFill/>
          <a:ln/>
        </p:spPr>
        <p:txBody>
          <a:bodyPr wrap="square" lIns="0" tIns="0" rIns="0" bIns="0" rtlCol="0" anchor="ctr"/>
          <a:lstStyle/>
          <a:p>
            <a:pPr indent="0" marL="0">
              <a:buNone/>
            </a:pPr>
            <a:r>
              <a:rPr lang="en-US" sz="2000" b="1" dirty="0">
                <a:solidFill>
                  <a:srgbClr val="BFBFBF"/>
                </a:solidFill>
                <a:latin typeface="Arial" pitchFamily="34" charset="0"/>
                <a:ea typeface="Arial" pitchFamily="34" charset="-122"/>
                <a:cs typeface="Arial" pitchFamily="34" charset="-120"/>
              </a:rPr>
              <a:t>01</a:t>
            </a:r>
            <a:endParaRPr lang="en-US" sz="2000" dirty="0"/>
          </a:p>
        </p:txBody>
      </p:sp>
      <p:sp>
        <p:nvSpPr>
          <p:cNvPr id="11" name="Text 8"/>
          <p:cNvSpPr txBox="1"/>
          <p:nvPr/>
        </p:nvSpPr>
        <p:spPr>
          <a:xfrm>
            <a:off x="1385316" y="1691640"/>
            <a:ext cx="7315200" cy="457200"/>
          </a:xfrm>
          <a:prstGeom prst="rect">
            <a:avLst/>
          </a:prstGeom>
          <a:noFill/>
          <a:ln/>
        </p:spPr>
        <p:txBody>
          <a:bodyPr wrap="square" lIns="0" tIns="0" rIns="0" bIns="0" rtlCol="0" anchor="ctr"/>
          <a:lstStyle/>
          <a:p>
            <a:pPr indent="0" marL="0">
              <a:buNone/>
            </a:pPr>
            <a:r>
              <a:rPr lang="en-US" sz="1600" dirty="0">
                <a:solidFill>
                  <a:srgbClr val="7F7F7F"/>
                </a:solidFill>
                <a:latin typeface="Yu Gothic UI" pitchFamily="34" charset="0"/>
                <a:ea typeface="Yu Gothic UI" pitchFamily="34" charset="-122"/>
                <a:cs typeface="Yu Gothic UI" pitchFamily="34" charset="-120"/>
              </a:rPr>
              <a:t>現状：【対象】を取り巻く環境</a:t>
            </a:r>
            <a:endParaRPr lang="en-US" sz="1600" dirty="0"/>
          </a:p>
        </p:txBody>
      </p:sp>
      <p:sp>
        <p:nvSpPr>
          <p:cNvPr id="12" name="Shape 9"/>
          <p:cNvSpPr/>
          <p:nvPr/>
        </p:nvSpPr>
        <p:spPr>
          <a:xfrm>
            <a:off x="562356" y="2331720"/>
            <a:ext cx="8780983" cy="0"/>
          </a:xfrm>
          <a:prstGeom prst="line">
            <a:avLst/>
          </a:prstGeom>
          <a:noFill/>
          <a:ln w="9525">
            <a:solidFill>
              <a:srgbClr val="E7E6E6"/>
            </a:solidFill>
            <a:prstDash val="solid"/>
          </a:ln>
        </p:spPr>
      </p:sp>
      <p:sp>
        <p:nvSpPr>
          <p:cNvPr id="13" name="Text 10"/>
          <p:cNvSpPr txBox="1"/>
          <p:nvPr/>
        </p:nvSpPr>
        <p:spPr>
          <a:xfrm>
            <a:off x="562356" y="2514600"/>
            <a:ext cx="640080" cy="457200"/>
          </a:xfrm>
          <a:prstGeom prst="rect">
            <a:avLst/>
          </a:prstGeom>
          <a:noFill/>
          <a:ln/>
        </p:spPr>
        <p:txBody>
          <a:bodyPr wrap="square" lIns="0" tIns="0" rIns="0" bIns="0" rtlCol="0" anchor="ctr"/>
          <a:lstStyle/>
          <a:p>
            <a:pPr indent="0" marL="0">
              <a:buNone/>
            </a:pPr>
            <a:r>
              <a:rPr lang="en-US" sz="2000" b="1" dirty="0">
                <a:solidFill>
                  <a:srgbClr val="000F78"/>
                </a:solidFill>
                <a:latin typeface="Arial" pitchFamily="34" charset="0"/>
                <a:ea typeface="Arial" pitchFamily="34" charset="-122"/>
                <a:cs typeface="Arial" pitchFamily="34" charset="-120"/>
              </a:rPr>
              <a:t>02</a:t>
            </a:r>
            <a:endParaRPr lang="en-US" sz="2000" dirty="0"/>
          </a:p>
        </p:txBody>
      </p:sp>
      <p:sp>
        <p:nvSpPr>
          <p:cNvPr id="14" name="Text 11"/>
          <p:cNvSpPr txBox="1"/>
          <p:nvPr/>
        </p:nvSpPr>
        <p:spPr>
          <a:xfrm>
            <a:off x="1385316" y="2514600"/>
            <a:ext cx="7315200" cy="457200"/>
          </a:xfrm>
          <a:prstGeom prst="rect">
            <a:avLst/>
          </a:prstGeom>
          <a:noFill/>
          <a:ln/>
        </p:spPr>
        <p:txBody>
          <a:bodyPr wrap="square" lIns="0" tIns="0" rIns="0" bIns="0" rtlCol="0" anchor="ctr"/>
          <a:lstStyle/>
          <a:p>
            <a:pPr indent="0" marL="0">
              <a:buNone/>
            </a:pPr>
            <a:r>
              <a:rPr lang="en-US" sz="1600" b="1" dirty="0">
                <a:solidFill>
                  <a:srgbClr val="000F78"/>
                </a:solidFill>
                <a:latin typeface="Yu Gothic UI" pitchFamily="34" charset="0"/>
                <a:ea typeface="Yu Gothic UI" pitchFamily="34" charset="-122"/>
                <a:cs typeface="Yu Gothic UI" pitchFamily="34" charset="-120"/>
              </a:rPr>
              <a:t>課題：【指標】悪化の要因</a:t>
            </a:r>
            <a:endParaRPr lang="en-US" sz="1600" dirty="0"/>
          </a:p>
        </p:txBody>
      </p:sp>
      <p:sp>
        <p:nvSpPr>
          <p:cNvPr id="15" name="Shape 12"/>
          <p:cNvSpPr/>
          <p:nvPr/>
        </p:nvSpPr>
        <p:spPr>
          <a:xfrm>
            <a:off x="562356" y="3154680"/>
            <a:ext cx="8780983" cy="0"/>
          </a:xfrm>
          <a:prstGeom prst="line">
            <a:avLst/>
          </a:prstGeom>
          <a:noFill/>
          <a:ln w="9525">
            <a:solidFill>
              <a:srgbClr val="E7E6E6"/>
            </a:solidFill>
            <a:prstDash val="solid"/>
          </a:ln>
        </p:spPr>
      </p:sp>
      <p:sp>
        <p:nvSpPr>
          <p:cNvPr id="16" name="Text 13"/>
          <p:cNvSpPr txBox="1"/>
          <p:nvPr/>
        </p:nvSpPr>
        <p:spPr>
          <a:xfrm>
            <a:off x="562356" y="3337560"/>
            <a:ext cx="640080" cy="457200"/>
          </a:xfrm>
          <a:prstGeom prst="rect">
            <a:avLst/>
          </a:prstGeom>
          <a:noFill/>
          <a:ln/>
        </p:spPr>
        <p:txBody>
          <a:bodyPr wrap="square" lIns="0" tIns="0" rIns="0" bIns="0" rtlCol="0" anchor="ctr"/>
          <a:lstStyle/>
          <a:p>
            <a:pPr indent="0" marL="0">
              <a:buNone/>
            </a:pPr>
            <a:r>
              <a:rPr lang="en-US" sz="2000" b="1" dirty="0">
                <a:solidFill>
                  <a:srgbClr val="BFBFBF"/>
                </a:solidFill>
                <a:latin typeface="Arial" pitchFamily="34" charset="0"/>
                <a:ea typeface="Arial" pitchFamily="34" charset="-122"/>
                <a:cs typeface="Arial" pitchFamily="34" charset="-120"/>
              </a:rPr>
              <a:t>03</a:t>
            </a:r>
            <a:endParaRPr lang="en-US" sz="2000" dirty="0"/>
          </a:p>
        </p:txBody>
      </p:sp>
      <p:sp>
        <p:nvSpPr>
          <p:cNvPr id="17" name="Text 14"/>
          <p:cNvSpPr txBox="1"/>
          <p:nvPr/>
        </p:nvSpPr>
        <p:spPr>
          <a:xfrm>
            <a:off x="1385316" y="3337560"/>
            <a:ext cx="7315200" cy="457200"/>
          </a:xfrm>
          <a:prstGeom prst="rect">
            <a:avLst/>
          </a:prstGeom>
          <a:noFill/>
          <a:ln/>
        </p:spPr>
        <p:txBody>
          <a:bodyPr wrap="square" lIns="0" tIns="0" rIns="0" bIns="0" rtlCol="0" anchor="ctr"/>
          <a:lstStyle/>
          <a:p>
            <a:pPr indent="0" marL="0">
              <a:buNone/>
            </a:pPr>
            <a:r>
              <a:rPr lang="en-US" sz="1600" dirty="0">
                <a:solidFill>
                  <a:srgbClr val="7F7F7F"/>
                </a:solidFill>
                <a:latin typeface="Yu Gothic UI" pitchFamily="34" charset="0"/>
                <a:ea typeface="Yu Gothic UI" pitchFamily="34" charset="-122"/>
                <a:cs typeface="Yu Gothic UI" pitchFamily="34" charset="-120"/>
              </a:rPr>
              <a:t>打ち手：選択肢の評価</a:t>
            </a:r>
            <a:endParaRPr lang="en-US" sz="1600" dirty="0"/>
          </a:p>
        </p:txBody>
      </p:sp>
      <p:sp>
        <p:nvSpPr>
          <p:cNvPr id="18" name="Shape 15"/>
          <p:cNvSpPr/>
          <p:nvPr/>
        </p:nvSpPr>
        <p:spPr>
          <a:xfrm>
            <a:off x="562356" y="3977640"/>
            <a:ext cx="8780983" cy="0"/>
          </a:xfrm>
          <a:prstGeom prst="line">
            <a:avLst/>
          </a:prstGeom>
          <a:noFill/>
          <a:ln w="9525">
            <a:solidFill>
              <a:srgbClr val="E7E6E6"/>
            </a:solidFill>
            <a:prstDash val="solid"/>
          </a:ln>
        </p:spPr>
      </p:sp>
      <p:sp>
        <p:nvSpPr>
          <p:cNvPr id="19" name="Text 16"/>
          <p:cNvSpPr txBox="1"/>
          <p:nvPr/>
        </p:nvSpPr>
        <p:spPr>
          <a:xfrm>
            <a:off x="562356" y="4160520"/>
            <a:ext cx="640080" cy="457200"/>
          </a:xfrm>
          <a:prstGeom prst="rect">
            <a:avLst/>
          </a:prstGeom>
          <a:noFill/>
          <a:ln/>
        </p:spPr>
        <p:txBody>
          <a:bodyPr wrap="square" lIns="0" tIns="0" rIns="0" bIns="0" rtlCol="0" anchor="ctr"/>
          <a:lstStyle/>
          <a:p>
            <a:pPr indent="0" marL="0">
              <a:buNone/>
            </a:pPr>
            <a:r>
              <a:rPr lang="en-US" sz="2000" b="1" dirty="0">
                <a:solidFill>
                  <a:srgbClr val="BFBFBF"/>
                </a:solidFill>
                <a:latin typeface="Arial" pitchFamily="34" charset="0"/>
                <a:ea typeface="Arial" pitchFamily="34" charset="-122"/>
                <a:cs typeface="Arial" pitchFamily="34" charset="-120"/>
              </a:rPr>
              <a:t>04</a:t>
            </a:r>
            <a:endParaRPr lang="en-US" sz="2000" dirty="0"/>
          </a:p>
        </p:txBody>
      </p:sp>
      <p:sp>
        <p:nvSpPr>
          <p:cNvPr id="20" name="Text 17"/>
          <p:cNvSpPr txBox="1"/>
          <p:nvPr/>
        </p:nvSpPr>
        <p:spPr>
          <a:xfrm>
            <a:off x="1385316" y="4160520"/>
            <a:ext cx="7315200" cy="457200"/>
          </a:xfrm>
          <a:prstGeom prst="rect">
            <a:avLst/>
          </a:prstGeom>
          <a:noFill/>
          <a:ln/>
        </p:spPr>
        <p:txBody>
          <a:bodyPr wrap="square" lIns="0" tIns="0" rIns="0" bIns="0" rtlCol="0" anchor="ctr"/>
          <a:lstStyle/>
          <a:p>
            <a:pPr indent="0" marL="0">
              <a:buNone/>
            </a:pPr>
            <a:r>
              <a:rPr lang="en-US" sz="1600" dirty="0">
                <a:solidFill>
                  <a:srgbClr val="7F7F7F"/>
                </a:solidFill>
                <a:latin typeface="Yu Gothic UI" pitchFamily="34" charset="0"/>
                <a:ea typeface="Yu Gothic UI" pitchFamily="34" charset="-122"/>
                <a:cs typeface="Yu Gothic UI" pitchFamily="34" charset="-120"/>
              </a:rPr>
              <a:t>実行計画：ロードマップと体制</a:t>
            </a:r>
            <a:endParaRPr lang="en-US" sz="1600" dirty="0"/>
          </a:p>
        </p:txBody>
      </p:sp>
      <p:sp>
        <p:nvSpPr>
          <p:cNvPr id="21" name="Shape 18"/>
          <p:cNvSpPr/>
          <p:nvPr/>
        </p:nvSpPr>
        <p:spPr>
          <a:xfrm>
            <a:off x="562356" y="4800600"/>
            <a:ext cx="8780983" cy="0"/>
          </a:xfrm>
          <a:prstGeom prst="line">
            <a:avLst/>
          </a:prstGeom>
          <a:noFill/>
          <a:ln w="9525">
            <a:solidFill>
              <a:srgbClr val="E7E6E6"/>
            </a:solidFill>
            <a:prstDash val="solid"/>
          </a:ln>
        </p:spPr>
      </p:sp>
      <p:sp>
        <p:nvSpPr>
          <p:cNvPr id="22" name="Text 19"/>
          <p:cNvSpPr txBox="1"/>
          <p:nvPr/>
        </p:nvSpPr>
        <p:spPr>
          <a:xfrm>
            <a:off x="562356" y="4983480"/>
            <a:ext cx="640080" cy="457200"/>
          </a:xfrm>
          <a:prstGeom prst="rect">
            <a:avLst/>
          </a:prstGeom>
          <a:noFill/>
          <a:ln/>
        </p:spPr>
        <p:txBody>
          <a:bodyPr wrap="square" lIns="0" tIns="0" rIns="0" bIns="0" rtlCol="0" anchor="ctr"/>
          <a:lstStyle/>
          <a:p>
            <a:pPr indent="0" marL="0">
              <a:buNone/>
            </a:pPr>
            <a:r>
              <a:rPr lang="en-US" sz="2000" b="1" dirty="0">
                <a:solidFill>
                  <a:srgbClr val="BFBFBF"/>
                </a:solidFill>
                <a:latin typeface="Arial" pitchFamily="34" charset="0"/>
                <a:ea typeface="Arial" pitchFamily="34" charset="-122"/>
                <a:cs typeface="Arial" pitchFamily="34" charset="-120"/>
              </a:rPr>
              <a:t>05</a:t>
            </a:r>
            <a:endParaRPr lang="en-US" sz="2000" dirty="0"/>
          </a:p>
        </p:txBody>
      </p:sp>
      <p:sp>
        <p:nvSpPr>
          <p:cNvPr id="23" name="Text 20"/>
          <p:cNvSpPr txBox="1"/>
          <p:nvPr/>
        </p:nvSpPr>
        <p:spPr>
          <a:xfrm>
            <a:off x="1385316" y="4983480"/>
            <a:ext cx="7315200" cy="457200"/>
          </a:xfrm>
          <a:prstGeom prst="rect">
            <a:avLst/>
          </a:prstGeom>
          <a:noFill/>
          <a:ln/>
        </p:spPr>
        <p:txBody>
          <a:bodyPr wrap="square" lIns="0" tIns="0" rIns="0" bIns="0" rtlCol="0" anchor="ctr"/>
          <a:lstStyle/>
          <a:p>
            <a:pPr indent="0" marL="0">
              <a:buNone/>
            </a:pPr>
            <a:r>
              <a:rPr lang="en-US" sz="1600" dirty="0">
                <a:solidFill>
                  <a:srgbClr val="7F7F7F"/>
                </a:solidFill>
                <a:latin typeface="Yu Gothic UI" pitchFamily="34" charset="0"/>
                <a:ea typeface="Yu Gothic UI" pitchFamily="34" charset="-122"/>
                <a:cs typeface="Yu Gothic UI" pitchFamily="34" charset="-120"/>
              </a:rPr>
              <a:t>参考資料</a:t>
            </a:r>
            <a:endParaRPr lang="en-US" sz="1600" dirty="0"/>
          </a:p>
        </p:txBody>
      </p:sp>
      <p:sp>
        <p:nvSpPr>
          <p:cNvPr id="24" name="Shape 21"/>
          <p:cNvSpPr/>
          <p:nvPr/>
        </p:nvSpPr>
        <p:spPr>
          <a:xfrm>
            <a:off x="562356" y="5623560"/>
            <a:ext cx="8780983" cy="0"/>
          </a:xfrm>
          <a:prstGeom prst="line">
            <a:avLst/>
          </a:prstGeom>
          <a:noFill/>
          <a:ln w="9525">
            <a:solidFill>
              <a:srgbClr val="E7E6E6"/>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【対象】の【指標】は【期間】で【数値A】増加し、【比較対象】の【数値B】倍に達した。【示唆：だから何をすべきか】を早期に検討すべき局面にある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【対象】の【指標】の推移</a:t>
            </a:r>
            <a:pPr indent="0" marL="0">
              <a:buNone/>
            </a:pPr>
            <a:r>
              <a:rPr lang="en-US" sz="1100" dirty="0">
                <a:solidFill>
                  <a:srgbClr val="595959"/>
                </a:solidFill>
                <a:latin typeface="Yu Gothic UI" pitchFamily="34" charset="0"/>
                <a:ea typeface="Yu Gothic UI" pitchFamily="34" charset="-122"/>
                <a:cs typeface="Yu Gothic UI" pitchFamily="34" charset="-120"/>
              </a:rPr>
              <a:t>　（【単位】、2015–2025年度）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a:t>
            </a:r>
            <a:endParaRPr lang="en-US" sz="900" dirty="0"/>
          </a:p>
        </p:txBody>
      </p:sp>
      <p:graphicFrame>
        <p:nvGraphicFramePr>
          <p:cNvPr id="12" name="Chart 0" descr=""/>
          <p:cNvGraphicFramePr/>
          <p:nvPr/>
        </p:nvGraphicFramePr>
        <p:xfrm>
          <a:off x="288036" y="1965960"/>
          <a:ext cx="9329623" cy="411480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5120640" y="2331720"/>
            <a:ext cx="3474720" cy="0"/>
          </a:xfrm>
          <a:prstGeom prst="line">
            <a:avLst/>
          </a:prstGeom>
          <a:noFill/>
          <a:ln w="15875">
            <a:solidFill>
              <a:srgbClr val="000F78"/>
            </a:solidFill>
            <a:prstDash val="solid"/>
            <a:tailEnd type="triangle"/>
          </a:ln>
        </p:spPr>
      </p:sp>
      <p:sp>
        <p:nvSpPr>
          <p:cNvPr id="14" name="Text 10"/>
          <p:cNvSpPr txBox="1"/>
          <p:nvPr/>
        </p:nvSpPr>
        <p:spPr>
          <a:xfrm>
            <a:off x="5852160" y="1965960"/>
            <a:ext cx="2194560" cy="292608"/>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CAGR ＋【X】%</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【対象】の【指標】は8地域中【順位】位で、上位地域の【数値A】割にとどまる。上位との差は【要因】で説明でき、改善余地が大きい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地域別の【指標】</a:t>
            </a:r>
            <a:pPr indent="0" marL="0">
              <a:buNone/>
            </a:pPr>
            <a:r>
              <a:rPr lang="en-US" sz="1100" dirty="0">
                <a:solidFill>
                  <a:srgbClr val="595959"/>
                </a:solidFill>
                <a:latin typeface="Yu Gothic UI" pitchFamily="34" charset="0"/>
                <a:ea typeface="Yu Gothic UI" pitchFamily="34" charset="-122"/>
                <a:cs typeface="Yu Gothic UI" pitchFamily="34" charset="-120"/>
              </a:rPr>
              <a:t>　（【単位】、【年度】）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a:t>
            </a:r>
            <a:endParaRPr lang="en-US" sz="900" dirty="0"/>
          </a:p>
        </p:txBody>
      </p:sp>
      <p:graphicFrame>
        <p:nvGraphicFramePr>
          <p:cNvPr id="12" name="Chart 0" descr=""/>
          <p:cNvGraphicFramePr/>
          <p:nvPr/>
        </p:nvGraphicFramePr>
        <p:xfrm>
          <a:off x="288036" y="1874520"/>
          <a:ext cx="6583680" cy="425196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223760" y="4206240"/>
            <a:ext cx="2286000" cy="64008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上位地域との差は</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【数値】ポイント</a:t>
            </a:r>
            <a:endParaRPr lang="en-US" sz="1400" dirty="0"/>
          </a:p>
        </p:txBody>
      </p:sp>
      <p:sp>
        <p:nvSpPr>
          <p:cNvPr id="14" name="Shape 10"/>
          <p:cNvSpPr/>
          <p:nvPr/>
        </p:nvSpPr>
        <p:spPr>
          <a:xfrm>
            <a:off x="7086600" y="4526280"/>
            <a:ext cx="109728" cy="0"/>
          </a:xfrm>
          <a:prstGeom prst="line">
            <a:avLst/>
          </a:prstGeom>
          <a:noFill/>
          <a:ln w="15875">
            <a:solidFill>
              <a:srgbClr val="000F7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【対象】の構成比は【期間】で大きく変わり、【区分C】の比率が【数値A】ポイント上昇した。今後の需要は【区分C】を軸に組み立てる必要がある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【指標】の構成比の変化</a:t>
            </a:r>
            <a:pPr indent="0" marL="0">
              <a:buNone/>
            </a:pPr>
            <a:r>
              <a:rPr lang="en-US" sz="1100" dirty="0">
                <a:solidFill>
                  <a:srgbClr val="595959"/>
                </a:solidFill>
                <a:latin typeface="Yu Gothic UI" pitchFamily="34" charset="0"/>
                <a:ea typeface="Yu Gothic UI" pitchFamily="34" charset="-122"/>
                <a:cs typeface="Yu Gothic UI" pitchFamily="34" charset="-120"/>
              </a:rPr>
              <a:t>　（%、【年度】）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a:t>
            </a:r>
            <a:endParaRPr lang="en-US" sz="900" dirty="0"/>
          </a:p>
        </p:txBody>
      </p:sp>
      <p:graphicFrame>
        <p:nvGraphicFramePr>
          <p:cNvPr id="12" name="Chart 0" descr=""/>
          <p:cNvGraphicFramePr/>
          <p:nvPr/>
        </p:nvGraphicFramePr>
        <p:xfrm>
          <a:off x="288036" y="1874520"/>
          <a:ext cx="6949440" cy="425196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360920" y="2331720"/>
            <a:ext cx="109728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その他</a:t>
            </a:r>
            <a:endParaRPr lang="en-US" sz="1400" dirty="0"/>
          </a:p>
        </p:txBody>
      </p:sp>
      <p:sp>
        <p:nvSpPr>
          <p:cNvPr id="14" name="Text 10"/>
          <p:cNvSpPr txBox="1"/>
          <p:nvPr/>
        </p:nvSpPr>
        <p:spPr>
          <a:xfrm>
            <a:off x="7360920" y="3063240"/>
            <a:ext cx="109728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区分C</a:t>
            </a:r>
            <a:endParaRPr lang="en-US" sz="1400" dirty="0"/>
          </a:p>
        </p:txBody>
      </p:sp>
      <p:sp>
        <p:nvSpPr>
          <p:cNvPr id="15" name="Text 11"/>
          <p:cNvSpPr txBox="1"/>
          <p:nvPr/>
        </p:nvSpPr>
        <p:spPr>
          <a:xfrm>
            <a:off x="7360920" y="4069080"/>
            <a:ext cx="109728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区分B</a:t>
            </a:r>
            <a:endParaRPr lang="en-US" sz="1400" dirty="0"/>
          </a:p>
        </p:txBody>
      </p:sp>
      <p:sp>
        <p:nvSpPr>
          <p:cNvPr id="16" name="Text 12"/>
          <p:cNvSpPr txBox="1"/>
          <p:nvPr/>
        </p:nvSpPr>
        <p:spPr>
          <a:xfrm>
            <a:off x="7360920" y="5120640"/>
            <a:ext cx="109728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区分A</a:t>
            </a:r>
            <a:endParaRPr lang="en-US" sz="1400" dirty="0"/>
          </a:p>
        </p:txBody>
      </p:sp>
      <p:sp>
        <p:nvSpPr>
          <p:cNvPr id="17" name="Text 13"/>
          <p:cNvSpPr txBox="1"/>
          <p:nvPr/>
        </p:nvSpPr>
        <p:spPr>
          <a:xfrm>
            <a:off x="8183880" y="3063240"/>
            <a:ext cx="146304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＋【数値A】pt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【指標】は【期間】で【数値A】減少し、その約【数値B】割は【要因X】による。【要因X】への対策なしに【指標】を回復させることはできない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【指標】の増減要因</a:t>
            </a:r>
            <a:pPr indent="0" marL="0">
              <a:buNone/>
            </a:pPr>
            <a:r>
              <a:rPr lang="en-US" sz="1100" dirty="0">
                <a:solidFill>
                  <a:srgbClr val="595959"/>
                </a:solidFill>
                <a:latin typeface="Yu Gothic UI" pitchFamily="34" charset="0"/>
                <a:ea typeface="Yu Gothic UI" pitchFamily="34" charset="-122"/>
                <a:cs typeface="Yu Gothic UI" pitchFamily="34" charset="-120"/>
              </a:rPr>
              <a:t>　（【単位】、【期間】）</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a:t>
            </a:r>
            <a:endParaRPr lang="en-US" sz="900" dirty="0"/>
          </a:p>
        </p:txBody>
      </p:sp>
      <p:sp>
        <p:nvSpPr>
          <p:cNvPr id="12" name="Shape 9"/>
          <p:cNvSpPr/>
          <p:nvPr/>
        </p:nvSpPr>
        <p:spPr>
          <a:xfrm>
            <a:off x="562356" y="2377440"/>
            <a:ext cx="960120" cy="3108960"/>
          </a:xfrm>
          <a:prstGeom prst="rect">
            <a:avLst/>
          </a:prstGeom>
          <a:solidFill>
            <a:srgbClr val="7F7F7F"/>
          </a:solidFill>
          <a:ln/>
        </p:spPr>
      </p:sp>
      <p:sp>
        <p:nvSpPr>
          <p:cNvPr id="13" name="Text 10"/>
          <p:cNvSpPr txBox="1"/>
          <p:nvPr/>
        </p:nvSpPr>
        <p:spPr>
          <a:xfrm>
            <a:off x="562356" y="2084832"/>
            <a:ext cx="96012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100</a:t>
            </a:r>
            <a:endParaRPr lang="en-US" sz="1400" dirty="0"/>
          </a:p>
        </p:txBody>
      </p:sp>
      <p:sp>
        <p:nvSpPr>
          <p:cNvPr id="14" name="Text 11"/>
          <p:cNvSpPr txBox="1"/>
          <p:nvPr/>
        </p:nvSpPr>
        <p:spPr>
          <a:xfrm>
            <a:off x="470916" y="5559552"/>
            <a:ext cx="1143000" cy="50292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実績</a:t>
            </a:r>
            <a:endParaRPr lang="en-US" sz="1400" dirty="0"/>
          </a:p>
        </p:txBody>
      </p:sp>
      <p:sp>
        <p:nvSpPr>
          <p:cNvPr id="15" name="Shape 12"/>
          <p:cNvSpPr/>
          <p:nvPr/>
        </p:nvSpPr>
        <p:spPr>
          <a:xfrm>
            <a:off x="1522476" y="2377440"/>
            <a:ext cx="502920" cy="0"/>
          </a:xfrm>
          <a:prstGeom prst="line">
            <a:avLst/>
          </a:prstGeom>
          <a:noFill/>
          <a:ln w="6350">
            <a:solidFill>
              <a:srgbClr val="BFBFBF"/>
            </a:solidFill>
            <a:prstDash val="dash"/>
          </a:ln>
        </p:spPr>
      </p:sp>
      <p:sp>
        <p:nvSpPr>
          <p:cNvPr id="16" name="Shape 13"/>
          <p:cNvSpPr/>
          <p:nvPr/>
        </p:nvSpPr>
        <p:spPr>
          <a:xfrm>
            <a:off x="2025396" y="2377440"/>
            <a:ext cx="960120" cy="932688"/>
          </a:xfrm>
          <a:prstGeom prst="rect">
            <a:avLst/>
          </a:prstGeom>
          <a:solidFill>
            <a:srgbClr val="000F78"/>
          </a:solidFill>
          <a:ln/>
        </p:spPr>
      </p:sp>
      <p:sp>
        <p:nvSpPr>
          <p:cNvPr id="17" name="Text 14"/>
          <p:cNvSpPr txBox="1"/>
          <p:nvPr/>
        </p:nvSpPr>
        <p:spPr>
          <a:xfrm>
            <a:off x="2025396" y="2084832"/>
            <a:ext cx="960120" cy="256032"/>
          </a:xfrm>
          <a:prstGeom prst="rect">
            <a:avLst/>
          </a:prstGeom>
          <a:noFill/>
          <a:ln/>
        </p:spPr>
        <p:txBody>
          <a:bodyPr wrap="square" lIns="0" tIns="0" rIns="0" bIns="0" rtlCol="0" anchor="t"/>
          <a:lstStyle/>
          <a:p>
            <a:pPr algn="ctr" indent="0" marL="0">
              <a:buNone/>
            </a:pPr>
            <a:r>
              <a:rPr lang="en-US" sz="1400" b="1" dirty="0">
                <a:solidFill>
                  <a:srgbClr val="000F78"/>
                </a:solidFill>
                <a:latin typeface="Arial" pitchFamily="34" charset="0"/>
                <a:ea typeface="Arial" pitchFamily="34" charset="-122"/>
                <a:cs typeface="Arial" pitchFamily="34" charset="-120"/>
              </a:rPr>
              <a:t>−30</a:t>
            </a:r>
            <a:endParaRPr lang="en-US" sz="1400" dirty="0"/>
          </a:p>
        </p:txBody>
      </p:sp>
      <p:sp>
        <p:nvSpPr>
          <p:cNvPr id="18" name="Text 15"/>
          <p:cNvSpPr txBox="1"/>
          <p:nvPr/>
        </p:nvSpPr>
        <p:spPr>
          <a:xfrm>
            <a:off x="1933956" y="5559552"/>
            <a:ext cx="1143000" cy="50292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要因X</a:t>
            </a:r>
            <a:endParaRPr lang="en-US" sz="1400" dirty="0"/>
          </a:p>
        </p:txBody>
      </p:sp>
      <p:sp>
        <p:nvSpPr>
          <p:cNvPr id="19" name="Shape 16"/>
          <p:cNvSpPr/>
          <p:nvPr/>
        </p:nvSpPr>
        <p:spPr>
          <a:xfrm>
            <a:off x="2985516" y="3310128"/>
            <a:ext cx="502920" cy="0"/>
          </a:xfrm>
          <a:prstGeom prst="line">
            <a:avLst/>
          </a:prstGeom>
          <a:noFill/>
          <a:ln w="6350">
            <a:solidFill>
              <a:srgbClr val="BFBFBF"/>
            </a:solidFill>
            <a:prstDash val="dash"/>
          </a:ln>
        </p:spPr>
      </p:sp>
      <p:sp>
        <p:nvSpPr>
          <p:cNvPr id="20" name="Shape 17"/>
          <p:cNvSpPr/>
          <p:nvPr/>
        </p:nvSpPr>
        <p:spPr>
          <a:xfrm>
            <a:off x="3488436" y="3310128"/>
            <a:ext cx="960120" cy="248717"/>
          </a:xfrm>
          <a:prstGeom prst="rect">
            <a:avLst/>
          </a:prstGeom>
          <a:solidFill>
            <a:srgbClr val="BFBFBF"/>
          </a:solidFill>
          <a:ln/>
        </p:spPr>
      </p:sp>
      <p:sp>
        <p:nvSpPr>
          <p:cNvPr id="21" name="Text 18"/>
          <p:cNvSpPr txBox="1"/>
          <p:nvPr/>
        </p:nvSpPr>
        <p:spPr>
          <a:xfrm>
            <a:off x="3488436" y="3017520"/>
            <a:ext cx="96012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22" name="Text 19"/>
          <p:cNvSpPr txBox="1"/>
          <p:nvPr/>
        </p:nvSpPr>
        <p:spPr>
          <a:xfrm>
            <a:off x="3396996" y="5559552"/>
            <a:ext cx="1143000" cy="50292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要因Y</a:t>
            </a:r>
            <a:endParaRPr lang="en-US" sz="1400" dirty="0"/>
          </a:p>
        </p:txBody>
      </p:sp>
      <p:sp>
        <p:nvSpPr>
          <p:cNvPr id="23" name="Shape 20"/>
          <p:cNvSpPr/>
          <p:nvPr/>
        </p:nvSpPr>
        <p:spPr>
          <a:xfrm>
            <a:off x="4448556" y="3558845"/>
            <a:ext cx="502920" cy="0"/>
          </a:xfrm>
          <a:prstGeom prst="line">
            <a:avLst/>
          </a:prstGeom>
          <a:noFill/>
          <a:ln w="6350">
            <a:solidFill>
              <a:srgbClr val="BFBFBF"/>
            </a:solidFill>
            <a:prstDash val="dash"/>
          </a:ln>
        </p:spPr>
      </p:sp>
      <p:sp>
        <p:nvSpPr>
          <p:cNvPr id="24" name="Shape 21"/>
          <p:cNvSpPr/>
          <p:nvPr/>
        </p:nvSpPr>
        <p:spPr>
          <a:xfrm>
            <a:off x="4951476" y="3372307"/>
            <a:ext cx="960120" cy="186538"/>
          </a:xfrm>
          <a:prstGeom prst="rect">
            <a:avLst/>
          </a:prstGeom>
          <a:solidFill>
            <a:srgbClr val="BFBFBF"/>
          </a:solidFill>
          <a:ln/>
        </p:spPr>
      </p:sp>
      <p:sp>
        <p:nvSpPr>
          <p:cNvPr id="25" name="Text 22"/>
          <p:cNvSpPr txBox="1"/>
          <p:nvPr/>
        </p:nvSpPr>
        <p:spPr>
          <a:xfrm>
            <a:off x="4951476" y="3079699"/>
            <a:ext cx="96012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26" name="Text 23"/>
          <p:cNvSpPr txBox="1"/>
          <p:nvPr/>
        </p:nvSpPr>
        <p:spPr>
          <a:xfrm>
            <a:off x="4860036" y="5559552"/>
            <a:ext cx="1143000" cy="50292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要因Z</a:t>
            </a:r>
            <a:endParaRPr lang="en-US" sz="1400" dirty="0"/>
          </a:p>
        </p:txBody>
      </p:sp>
      <p:sp>
        <p:nvSpPr>
          <p:cNvPr id="27" name="Shape 24"/>
          <p:cNvSpPr/>
          <p:nvPr/>
        </p:nvSpPr>
        <p:spPr>
          <a:xfrm>
            <a:off x="5911596" y="3372307"/>
            <a:ext cx="502920" cy="0"/>
          </a:xfrm>
          <a:prstGeom prst="line">
            <a:avLst/>
          </a:prstGeom>
          <a:noFill/>
          <a:ln w="6350">
            <a:solidFill>
              <a:srgbClr val="BFBFBF"/>
            </a:solidFill>
            <a:prstDash val="dash"/>
          </a:ln>
        </p:spPr>
      </p:sp>
      <p:sp>
        <p:nvSpPr>
          <p:cNvPr id="28" name="Shape 25"/>
          <p:cNvSpPr/>
          <p:nvPr/>
        </p:nvSpPr>
        <p:spPr>
          <a:xfrm>
            <a:off x="6414516" y="3372307"/>
            <a:ext cx="960120" cy="93269"/>
          </a:xfrm>
          <a:prstGeom prst="rect">
            <a:avLst/>
          </a:prstGeom>
          <a:solidFill>
            <a:srgbClr val="BFBFBF"/>
          </a:solidFill>
          <a:ln/>
        </p:spPr>
      </p:sp>
      <p:sp>
        <p:nvSpPr>
          <p:cNvPr id="29" name="Text 26"/>
          <p:cNvSpPr txBox="1"/>
          <p:nvPr/>
        </p:nvSpPr>
        <p:spPr>
          <a:xfrm>
            <a:off x="6414516" y="3079699"/>
            <a:ext cx="96012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30" name="Text 27"/>
          <p:cNvSpPr txBox="1"/>
          <p:nvPr/>
        </p:nvSpPr>
        <p:spPr>
          <a:xfrm>
            <a:off x="6323076" y="5559552"/>
            <a:ext cx="1143000" cy="50292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その他</a:t>
            </a:r>
            <a:endParaRPr lang="en-US" sz="1400" dirty="0"/>
          </a:p>
        </p:txBody>
      </p:sp>
      <p:sp>
        <p:nvSpPr>
          <p:cNvPr id="31" name="Shape 28"/>
          <p:cNvSpPr/>
          <p:nvPr/>
        </p:nvSpPr>
        <p:spPr>
          <a:xfrm>
            <a:off x="7374636" y="3465576"/>
            <a:ext cx="502920" cy="0"/>
          </a:xfrm>
          <a:prstGeom prst="line">
            <a:avLst/>
          </a:prstGeom>
          <a:noFill/>
          <a:ln w="6350">
            <a:solidFill>
              <a:srgbClr val="BFBFBF"/>
            </a:solidFill>
            <a:prstDash val="dash"/>
          </a:ln>
        </p:spPr>
      </p:sp>
      <p:sp>
        <p:nvSpPr>
          <p:cNvPr id="32" name="Shape 29"/>
          <p:cNvSpPr/>
          <p:nvPr/>
        </p:nvSpPr>
        <p:spPr>
          <a:xfrm>
            <a:off x="7877556" y="3465576"/>
            <a:ext cx="960120" cy="2020824"/>
          </a:xfrm>
          <a:prstGeom prst="rect">
            <a:avLst/>
          </a:prstGeom>
          <a:solidFill>
            <a:srgbClr val="7F7F7F"/>
          </a:solidFill>
          <a:ln/>
        </p:spPr>
      </p:sp>
      <p:sp>
        <p:nvSpPr>
          <p:cNvPr id="33" name="Text 30"/>
          <p:cNvSpPr txBox="1"/>
          <p:nvPr/>
        </p:nvSpPr>
        <p:spPr>
          <a:xfrm>
            <a:off x="7877556" y="3172968"/>
            <a:ext cx="96012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65</a:t>
            </a:r>
            <a:endParaRPr lang="en-US" sz="1400" dirty="0"/>
          </a:p>
        </p:txBody>
      </p:sp>
      <p:sp>
        <p:nvSpPr>
          <p:cNvPr id="34" name="Text 31"/>
          <p:cNvSpPr txBox="1"/>
          <p:nvPr/>
        </p:nvSpPr>
        <p:spPr>
          <a:xfrm>
            <a:off x="7786116" y="5559552"/>
            <a:ext cx="1143000" cy="50292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実績</a:t>
            </a:r>
            <a:endParaRPr lang="en-US" sz="1400" dirty="0"/>
          </a:p>
        </p:txBody>
      </p:sp>
      <p:sp>
        <p:nvSpPr>
          <p:cNvPr id="35" name="Shape 32"/>
          <p:cNvSpPr/>
          <p:nvPr/>
        </p:nvSpPr>
        <p:spPr>
          <a:xfrm>
            <a:off x="288036" y="5486400"/>
            <a:ext cx="9329623" cy="0"/>
          </a:xfrm>
          <a:prstGeom prst="line">
            <a:avLst/>
          </a:prstGeom>
          <a:noFill/>
          <a:ln w="9525">
            <a:solidFill>
              <a:srgbClr val="BFBFB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【市場】の【数値A】割を占める最大セグメントで、【当社】のシェアは【数値B】%にとどまる。ここでの存在感の低さが成長の制約となっている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セグメント別の市場規模とプレイヤーシェア</a:t>
            </a:r>
            <a:pPr indent="0" marL="0">
              <a:buNone/>
            </a:pPr>
            <a:r>
              <a:rPr lang="en-US" sz="1100" dirty="0">
                <a:solidFill>
                  <a:srgbClr val="595959"/>
                </a:solidFill>
                <a:latin typeface="Yu Gothic UI" pitchFamily="34" charset="0"/>
                <a:ea typeface="Yu Gothic UI" pitchFamily="34" charset="-122"/>
                <a:cs typeface="Yu Gothic UI" pitchFamily="34" charset="-120"/>
              </a:rPr>
              <a:t>　（幅＝市場規模、高さ＝シェア、【年度】）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8</a:t>
            </a:r>
            <a:endParaRPr lang="en-US" sz="900" dirty="0"/>
          </a:p>
        </p:txBody>
      </p:sp>
      <p:sp>
        <p:nvSpPr>
          <p:cNvPr id="12" name="Shape 9"/>
          <p:cNvSpPr/>
          <p:nvPr/>
        </p:nvSpPr>
        <p:spPr>
          <a:xfrm>
            <a:off x="1476756" y="1965960"/>
            <a:ext cx="3128482" cy="1312164"/>
          </a:xfrm>
          <a:prstGeom prst="rect">
            <a:avLst/>
          </a:prstGeom>
          <a:solidFill>
            <a:srgbClr val="7F7F7F"/>
          </a:solidFill>
          <a:ln w="19050">
            <a:solidFill>
              <a:srgbClr val="FFFFFF"/>
            </a:solidFill>
            <a:prstDash val="solid"/>
          </a:ln>
        </p:spPr>
      </p:sp>
      <p:sp>
        <p:nvSpPr>
          <p:cNvPr id="13" name="Text 10"/>
          <p:cNvSpPr txBox="1"/>
          <p:nvPr/>
        </p:nvSpPr>
        <p:spPr>
          <a:xfrm>
            <a:off x="1476756" y="1965960"/>
            <a:ext cx="3128482" cy="1312164"/>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35%</a:t>
            </a:r>
            <a:endParaRPr lang="en-US" sz="1400" dirty="0"/>
          </a:p>
        </p:txBody>
      </p:sp>
      <p:sp>
        <p:nvSpPr>
          <p:cNvPr id="14" name="Shape 11"/>
          <p:cNvSpPr/>
          <p:nvPr/>
        </p:nvSpPr>
        <p:spPr>
          <a:xfrm>
            <a:off x="1476756" y="3278124"/>
            <a:ext cx="3128482" cy="937260"/>
          </a:xfrm>
          <a:prstGeom prst="rect">
            <a:avLst/>
          </a:prstGeom>
          <a:solidFill>
            <a:srgbClr val="BFBFBF"/>
          </a:solidFill>
          <a:ln w="19050">
            <a:solidFill>
              <a:srgbClr val="FFFFFF"/>
            </a:solidFill>
            <a:prstDash val="solid"/>
          </a:ln>
        </p:spPr>
      </p:sp>
      <p:sp>
        <p:nvSpPr>
          <p:cNvPr id="15" name="Text 12"/>
          <p:cNvSpPr txBox="1"/>
          <p:nvPr/>
        </p:nvSpPr>
        <p:spPr>
          <a:xfrm>
            <a:off x="1476756" y="3278124"/>
            <a:ext cx="3128482" cy="937260"/>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16" name="Shape 13"/>
          <p:cNvSpPr/>
          <p:nvPr/>
        </p:nvSpPr>
        <p:spPr>
          <a:xfrm>
            <a:off x="1476756" y="4215384"/>
            <a:ext cx="3128482" cy="562356"/>
          </a:xfrm>
          <a:prstGeom prst="rect">
            <a:avLst/>
          </a:prstGeom>
          <a:solidFill>
            <a:srgbClr val="000F78"/>
          </a:solidFill>
          <a:ln w="19050">
            <a:solidFill>
              <a:srgbClr val="FFFFFF"/>
            </a:solidFill>
            <a:prstDash val="solid"/>
          </a:ln>
        </p:spPr>
      </p:sp>
      <p:sp>
        <p:nvSpPr>
          <p:cNvPr id="17" name="Text 14"/>
          <p:cNvSpPr txBox="1"/>
          <p:nvPr/>
        </p:nvSpPr>
        <p:spPr>
          <a:xfrm>
            <a:off x="1476756" y="4215384"/>
            <a:ext cx="3128482" cy="56235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18" name="Shape 15"/>
          <p:cNvSpPr/>
          <p:nvPr/>
        </p:nvSpPr>
        <p:spPr>
          <a:xfrm>
            <a:off x="1476756" y="4777740"/>
            <a:ext cx="3128482" cy="937260"/>
          </a:xfrm>
          <a:prstGeom prst="rect">
            <a:avLst/>
          </a:prstGeom>
          <a:solidFill>
            <a:srgbClr val="E7E6E6"/>
          </a:solidFill>
          <a:ln w="19050">
            <a:solidFill>
              <a:srgbClr val="FFFFFF"/>
            </a:solidFill>
            <a:prstDash val="solid"/>
          </a:ln>
        </p:spPr>
      </p:sp>
      <p:sp>
        <p:nvSpPr>
          <p:cNvPr id="19" name="Text 16"/>
          <p:cNvSpPr txBox="1"/>
          <p:nvPr/>
        </p:nvSpPr>
        <p:spPr>
          <a:xfrm>
            <a:off x="1476756" y="4777740"/>
            <a:ext cx="3128482" cy="937260"/>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20" name="Text 17"/>
          <p:cNvSpPr txBox="1"/>
          <p:nvPr/>
        </p:nvSpPr>
        <p:spPr>
          <a:xfrm>
            <a:off x="1476756" y="5788152"/>
            <a:ext cx="3128482" cy="45720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セグメントA</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（規模45%）</a:t>
            </a:r>
            <a:endParaRPr lang="en-US" sz="1400" dirty="0"/>
          </a:p>
        </p:txBody>
      </p:sp>
      <p:sp>
        <p:nvSpPr>
          <p:cNvPr id="21" name="Shape 18"/>
          <p:cNvSpPr/>
          <p:nvPr/>
        </p:nvSpPr>
        <p:spPr>
          <a:xfrm>
            <a:off x="4605238" y="1965960"/>
            <a:ext cx="2085655" cy="749808"/>
          </a:xfrm>
          <a:prstGeom prst="rect">
            <a:avLst/>
          </a:prstGeom>
          <a:solidFill>
            <a:srgbClr val="7F7F7F"/>
          </a:solidFill>
          <a:ln w="19050">
            <a:solidFill>
              <a:srgbClr val="FFFFFF"/>
            </a:solidFill>
            <a:prstDash val="solid"/>
          </a:ln>
        </p:spPr>
      </p:sp>
      <p:sp>
        <p:nvSpPr>
          <p:cNvPr id="22" name="Text 19"/>
          <p:cNvSpPr txBox="1"/>
          <p:nvPr/>
        </p:nvSpPr>
        <p:spPr>
          <a:xfrm>
            <a:off x="4605238" y="1965960"/>
            <a:ext cx="2085655" cy="749808"/>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20%</a:t>
            </a:r>
            <a:endParaRPr lang="en-US" sz="1400" dirty="0"/>
          </a:p>
        </p:txBody>
      </p:sp>
      <p:sp>
        <p:nvSpPr>
          <p:cNvPr id="23" name="Shape 20"/>
          <p:cNvSpPr/>
          <p:nvPr/>
        </p:nvSpPr>
        <p:spPr>
          <a:xfrm>
            <a:off x="4605238" y="2715768"/>
            <a:ext cx="2085655" cy="1124712"/>
          </a:xfrm>
          <a:prstGeom prst="rect">
            <a:avLst/>
          </a:prstGeom>
          <a:solidFill>
            <a:srgbClr val="BFBFBF"/>
          </a:solidFill>
          <a:ln w="19050">
            <a:solidFill>
              <a:srgbClr val="FFFFFF"/>
            </a:solidFill>
            <a:prstDash val="solid"/>
          </a:ln>
        </p:spPr>
      </p:sp>
      <p:sp>
        <p:nvSpPr>
          <p:cNvPr id="24" name="Text 21"/>
          <p:cNvSpPr txBox="1"/>
          <p:nvPr/>
        </p:nvSpPr>
        <p:spPr>
          <a:xfrm>
            <a:off x="4605238" y="2715768"/>
            <a:ext cx="2085655" cy="1124712"/>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30%</a:t>
            </a:r>
            <a:endParaRPr lang="en-US" sz="1400" dirty="0"/>
          </a:p>
        </p:txBody>
      </p:sp>
      <p:sp>
        <p:nvSpPr>
          <p:cNvPr id="25" name="Shape 22"/>
          <p:cNvSpPr/>
          <p:nvPr/>
        </p:nvSpPr>
        <p:spPr>
          <a:xfrm>
            <a:off x="4605238" y="3840480"/>
            <a:ext cx="2085655" cy="1124712"/>
          </a:xfrm>
          <a:prstGeom prst="rect">
            <a:avLst/>
          </a:prstGeom>
          <a:solidFill>
            <a:srgbClr val="000F78"/>
          </a:solidFill>
          <a:ln w="19050">
            <a:solidFill>
              <a:srgbClr val="FFFFFF"/>
            </a:solidFill>
            <a:prstDash val="solid"/>
          </a:ln>
        </p:spPr>
      </p:sp>
      <p:sp>
        <p:nvSpPr>
          <p:cNvPr id="26" name="Text 23"/>
          <p:cNvSpPr txBox="1"/>
          <p:nvPr/>
        </p:nvSpPr>
        <p:spPr>
          <a:xfrm>
            <a:off x="4605238" y="3840480"/>
            <a:ext cx="2085655" cy="11247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27" name="Shape 24"/>
          <p:cNvSpPr/>
          <p:nvPr/>
        </p:nvSpPr>
        <p:spPr>
          <a:xfrm>
            <a:off x="4605238" y="4965192"/>
            <a:ext cx="2085655" cy="749808"/>
          </a:xfrm>
          <a:prstGeom prst="rect">
            <a:avLst/>
          </a:prstGeom>
          <a:solidFill>
            <a:srgbClr val="E7E6E6"/>
          </a:solidFill>
          <a:ln w="19050">
            <a:solidFill>
              <a:srgbClr val="FFFFFF"/>
            </a:solidFill>
            <a:prstDash val="solid"/>
          </a:ln>
        </p:spPr>
      </p:sp>
      <p:sp>
        <p:nvSpPr>
          <p:cNvPr id="28" name="Text 25"/>
          <p:cNvSpPr txBox="1"/>
          <p:nvPr/>
        </p:nvSpPr>
        <p:spPr>
          <a:xfrm>
            <a:off x="4605238" y="4965192"/>
            <a:ext cx="2085655" cy="749808"/>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29" name="Text 26"/>
          <p:cNvSpPr txBox="1"/>
          <p:nvPr/>
        </p:nvSpPr>
        <p:spPr>
          <a:xfrm>
            <a:off x="4605238" y="5788152"/>
            <a:ext cx="2085655" cy="45720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セグメントB</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（規模30%）</a:t>
            </a:r>
            <a:endParaRPr lang="en-US" sz="1400" dirty="0"/>
          </a:p>
        </p:txBody>
      </p:sp>
      <p:sp>
        <p:nvSpPr>
          <p:cNvPr id="30" name="Shape 27"/>
          <p:cNvSpPr/>
          <p:nvPr/>
        </p:nvSpPr>
        <p:spPr>
          <a:xfrm>
            <a:off x="6690893" y="1965960"/>
            <a:ext cx="1738046" cy="1499616"/>
          </a:xfrm>
          <a:prstGeom prst="rect">
            <a:avLst/>
          </a:prstGeom>
          <a:solidFill>
            <a:srgbClr val="7F7F7F"/>
          </a:solidFill>
          <a:ln w="19050">
            <a:solidFill>
              <a:srgbClr val="FFFFFF"/>
            </a:solidFill>
            <a:prstDash val="solid"/>
          </a:ln>
        </p:spPr>
      </p:sp>
      <p:sp>
        <p:nvSpPr>
          <p:cNvPr id="31" name="Text 28"/>
          <p:cNvSpPr txBox="1"/>
          <p:nvPr/>
        </p:nvSpPr>
        <p:spPr>
          <a:xfrm>
            <a:off x="6690893" y="1965960"/>
            <a:ext cx="1738046" cy="1499616"/>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40%</a:t>
            </a:r>
            <a:endParaRPr lang="en-US" sz="1400" dirty="0"/>
          </a:p>
        </p:txBody>
      </p:sp>
      <p:sp>
        <p:nvSpPr>
          <p:cNvPr id="32" name="Shape 29"/>
          <p:cNvSpPr/>
          <p:nvPr/>
        </p:nvSpPr>
        <p:spPr>
          <a:xfrm>
            <a:off x="6690893" y="3465576"/>
            <a:ext cx="1738046" cy="749808"/>
          </a:xfrm>
          <a:prstGeom prst="rect">
            <a:avLst/>
          </a:prstGeom>
          <a:solidFill>
            <a:srgbClr val="BFBFBF"/>
          </a:solidFill>
          <a:ln w="19050">
            <a:solidFill>
              <a:srgbClr val="FFFFFF"/>
            </a:solidFill>
            <a:prstDash val="solid"/>
          </a:ln>
        </p:spPr>
      </p:sp>
      <p:sp>
        <p:nvSpPr>
          <p:cNvPr id="33" name="Text 30"/>
          <p:cNvSpPr txBox="1"/>
          <p:nvPr/>
        </p:nvSpPr>
        <p:spPr>
          <a:xfrm>
            <a:off x="6690893" y="3465576"/>
            <a:ext cx="1738046" cy="749808"/>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34" name="Shape 31"/>
          <p:cNvSpPr/>
          <p:nvPr/>
        </p:nvSpPr>
        <p:spPr>
          <a:xfrm>
            <a:off x="6690893" y="4215384"/>
            <a:ext cx="1738046" cy="937260"/>
          </a:xfrm>
          <a:prstGeom prst="rect">
            <a:avLst/>
          </a:prstGeom>
          <a:solidFill>
            <a:srgbClr val="000F78"/>
          </a:solidFill>
          <a:ln w="19050">
            <a:solidFill>
              <a:srgbClr val="FFFFFF"/>
            </a:solidFill>
            <a:prstDash val="solid"/>
          </a:ln>
        </p:spPr>
      </p:sp>
      <p:sp>
        <p:nvSpPr>
          <p:cNvPr id="35" name="Text 32"/>
          <p:cNvSpPr txBox="1"/>
          <p:nvPr/>
        </p:nvSpPr>
        <p:spPr>
          <a:xfrm>
            <a:off x="6690893" y="4215384"/>
            <a:ext cx="1738046" cy="9372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36" name="Shape 33"/>
          <p:cNvSpPr/>
          <p:nvPr/>
        </p:nvSpPr>
        <p:spPr>
          <a:xfrm>
            <a:off x="6690893" y="5152644"/>
            <a:ext cx="1738046" cy="562356"/>
          </a:xfrm>
          <a:prstGeom prst="rect">
            <a:avLst/>
          </a:prstGeom>
          <a:solidFill>
            <a:srgbClr val="E7E6E6"/>
          </a:solidFill>
          <a:ln w="19050">
            <a:solidFill>
              <a:srgbClr val="FFFFFF"/>
            </a:solidFill>
            <a:prstDash val="solid"/>
          </a:ln>
        </p:spPr>
      </p:sp>
      <p:sp>
        <p:nvSpPr>
          <p:cNvPr id="37" name="Text 34"/>
          <p:cNvSpPr txBox="1"/>
          <p:nvPr/>
        </p:nvSpPr>
        <p:spPr>
          <a:xfrm>
            <a:off x="6690893" y="5152644"/>
            <a:ext cx="1738046" cy="56235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15%</a:t>
            </a:r>
            <a:endParaRPr lang="en-US" sz="1400" dirty="0"/>
          </a:p>
        </p:txBody>
      </p:sp>
      <p:sp>
        <p:nvSpPr>
          <p:cNvPr id="38" name="Text 35"/>
          <p:cNvSpPr txBox="1"/>
          <p:nvPr/>
        </p:nvSpPr>
        <p:spPr>
          <a:xfrm>
            <a:off x="6690893" y="5788152"/>
            <a:ext cx="1738046" cy="45720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セグメントC</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（規模25%）</a:t>
            </a:r>
            <a:endParaRPr lang="en-US" sz="1400" dirty="0"/>
          </a:p>
        </p:txBody>
      </p:sp>
      <p:sp>
        <p:nvSpPr>
          <p:cNvPr id="39" name="Text 36"/>
          <p:cNvSpPr txBox="1"/>
          <p:nvPr/>
        </p:nvSpPr>
        <p:spPr>
          <a:xfrm>
            <a:off x="8538667" y="2466137"/>
            <a:ext cx="109728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企業X</a:t>
            </a:r>
            <a:endParaRPr lang="en-US" sz="1400" dirty="0"/>
          </a:p>
        </p:txBody>
      </p:sp>
      <p:sp>
        <p:nvSpPr>
          <p:cNvPr id="40" name="Text 37"/>
          <p:cNvSpPr txBox="1"/>
          <p:nvPr/>
        </p:nvSpPr>
        <p:spPr>
          <a:xfrm>
            <a:off x="8538667" y="3590849"/>
            <a:ext cx="109728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企業Y</a:t>
            </a:r>
            <a:endParaRPr lang="en-US" sz="1400" dirty="0"/>
          </a:p>
        </p:txBody>
      </p:sp>
      <p:sp>
        <p:nvSpPr>
          <p:cNvPr id="41" name="Text 38"/>
          <p:cNvSpPr txBox="1"/>
          <p:nvPr/>
        </p:nvSpPr>
        <p:spPr>
          <a:xfrm>
            <a:off x="8538667" y="4340657"/>
            <a:ext cx="109728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【当社】</a:t>
            </a:r>
            <a:endParaRPr lang="en-US" sz="1400" dirty="0"/>
          </a:p>
        </p:txBody>
      </p:sp>
      <p:sp>
        <p:nvSpPr>
          <p:cNvPr id="42" name="Text 39"/>
          <p:cNvSpPr txBox="1"/>
          <p:nvPr/>
        </p:nvSpPr>
        <p:spPr>
          <a:xfrm>
            <a:off x="8538667" y="5127955"/>
            <a:ext cx="109728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その他</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【指標X】と【指標Y】には正の相関があり、【対象】は同規模の自治体より【指標Y】が低い。【指標X】を改善すれば【指標Y】も底上げできる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【指標X】と【指標Y】の関係</a:t>
            </a:r>
            <a:pPr indent="0" marL="0">
              <a:buNone/>
            </a:pPr>
            <a:r>
              <a:rPr lang="en-US" sz="1100" dirty="0">
                <a:solidFill>
                  <a:srgbClr val="595959"/>
                </a:solidFill>
                <a:latin typeface="Yu Gothic UI" pitchFamily="34" charset="0"/>
                <a:ea typeface="Yu Gothic UI" pitchFamily="34" charset="-122"/>
                <a:cs typeface="Yu Gothic UI" pitchFamily="34" charset="-120"/>
              </a:rPr>
              <a:t>　（【単位】、n＝【数値】、【年度】）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9</a:t>
            </a:r>
            <a:endParaRPr lang="en-US" sz="900" dirty="0"/>
          </a:p>
        </p:txBody>
      </p:sp>
      <p:graphicFrame>
        <p:nvGraphicFramePr>
          <p:cNvPr id="12" name="Chart 0" descr=""/>
          <p:cNvGraphicFramePr/>
          <p:nvPr/>
        </p:nvGraphicFramePr>
        <p:xfrm>
          <a:off x="288036" y="18745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315200" y="3291840"/>
            <a:ext cx="2286000" cy="64008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【対象】</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平均より【数値A】低い</a:t>
            </a:r>
            <a:endParaRPr lang="en-US" sz="1400" dirty="0"/>
          </a:p>
        </p:txBody>
      </p:sp>
      <p:sp>
        <p:nvSpPr>
          <p:cNvPr id="14" name="Text 10"/>
          <p:cNvSpPr txBox="1"/>
          <p:nvPr/>
        </p:nvSpPr>
        <p:spPr>
          <a:xfrm>
            <a:off x="7315200" y="5212080"/>
            <a:ext cx="2286000" cy="548640"/>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縦軸：【指標Y】</a:t>
            </a:r>
            <a:endParaRPr lang="en-US" sz="1100" dirty="0"/>
          </a:p>
          <a:p>
            <a:pPr indent="0" marL="0">
              <a:buNone/>
            </a:pPr>
            <a:r>
              <a:rPr lang="en-US" sz="1100" dirty="0">
                <a:solidFill>
                  <a:srgbClr val="595959"/>
                </a:solidFill>
                <a:latin typeface="Yu Gothic UI" pitchFamily="34" charset="0"/>
                <a:ea typeface="Yu Gothic UI" pitchFamily="34" charset="-122"/>
                <a:cs typeface="Yu Gothic UI" pitchFamily="34" charset="-120"/>
              </a:rPr>
              <a:t>横軸：【指標X】</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【対象】の【指標】は2015年以降一貫して低下し、比較対象との差は【数値A】ポイントに拡大した。他地域並みの水準へ戻すには構造的な対策が要る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【指標】の推移（地域比較）</a:t>
            </a:r>
            <a:pPr indent="0" marL="0">
              <a:buNone/>
            </a:pPr>
            <a:r>
              <a:rPr lang="en-US" sz="1100" dirty="0">
                <a:solidFill>
                  <a:srgbClr val="595959"/>
                </a:solidFill>
                <a:latin typeface="Yu Gothic UI" pitchFamily="34" charset="0"/>
                <a:ea typeface="Yu Gothic UI" pitchFamily="34" charset="-122"/>
                <a:cs typeface="Yu Gothic UI" pitchFamily="34" charset="-120"/>
              </a:rPr>
              <a:t>　（【単位】、2015–2025年）</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10</a:t>
            </a:r>
            <a:endParaRPr lang="en-US" sz="900" dirty="0"/>
          </a:p>
        </p:txBody>
      </p:sp>
      <p:graphicFrame>
        <p:nvGraphicFramePr>
          <p:cNvPr id="12" name="Chart 0" descr=""/>
          <p:cNvGraphicFramePr/>
          <p:nvPr/>
        </p:nvGraphicFramePr>
        <p:xfrm>
          <a:off x="288036" y="187452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863840" y="2331720"/>
            <a:ext cx="164592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全国</a:t>
            </a:r>
            <a:endParaRPr lang="en-US" sz="1400" dirty="0"/>
          </a:p>
        </p:txBody>
      </p:sp>
      <p:sp>
        <p:nvSpPr>
          <p:cNvPr id="14" name="Text 10"/>
          <p:cNvSpPr txBox="1"/>
          <p:nvPr/>
        </p:nvSpPr>
        <p:spPr>
          <a:xfrm>
            <a:off x="7863840" y="2971800"/>
            <a:ext cx="164592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類似地域</a:t>
            </a:r>
            <a:endParaRPr lang="en-US" sz="1400" dirty="0"/>
          </a:p>
        </p:txBody>
      </p:sp>
      <p:sp>
        <p:nvSpPr>
          <p:cNvPr id="15" name="Text 11"/>
          <p:cNvSpPr txBox="1"/>
          <p:nvPr/>
        </p:nvSpPr>
        <p:spPr>
          <a:xfrm>
            <a:off x="7863840" y="4160520"/>
            <a:ext cx="1737360" cy="5943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【対象】</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差は【数値A】pt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【指標】の伸びは【期間】で鈍化し、その背景には3つの構造的な要因がある。いずれも【対象】単独では解消が難しく、関係者との連携が欠かせない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【指標】の推移</a:t>
            </a:r>
            <a:pPr indent="0" marL="0">
              <a:buNone/>
            </a:pPr>
            <a:r>
              <a:rPr lang="en-US" sz="1100" dirty="0">
                <a:solidFill>
                  <a:srgbClr val="595959"/>
                </a:solidFill>
                <a:latin typeface="Yu Gothic UI" pitchFamily="34" charset="0"/>
                <a:ea typeface="Yu Gothic UI" pitchFamily="34" charset="-122"/>
                <a:cs typeface="Yu Gothic UI" pitchFamily="34" charset="-120"/>
              </a:rPr>
              <a:t>　（【単位】、2015–2025年度）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11</a:t>
            </a:r>
            <a:endParaRPr lang="en-US" sz="900" dirty="0"/>
          </a:p>
        </p:txBody>
      </p:sp>
      <p:graphicFrame>
        <p:nvGraphicFramePr>
          <p:cNvPr id="12" name="Chart 0" descr=""/>
          <p:cNvGraphicFramePr/>
          <p:nvPr/>
        </p:nvGraphicFramePr>
        <p:xfrm>
          <a:off x="288036" y="187452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3017520" y="2514600"/>
            <a:ext cx="292608" cy="292608"/>
          </a:xfrm>
          <a:prstGeom prst="ellipse">
            <a:avLst/>
          </a:prstGeom>
          <a:solidFill>
            <a:srgbClr val="000F78"/>
          </a:solidFill>
          <a:ln w="12700">
            <a:solidFill>
              <a:srgbClr val="000F78"/>
            </a:solidFill>
            <a:prstDash val="solid"/>
          </a:ln>
        </p:spPr>
      </p:sp>
      <p:sp>
        <p:nvSpPr>
          <p:cNvPr id="14" name="Text 10"/>
          <p:cNvSpPr txBox="1"/>
          <p:nvPr/>
        </p:nvSpPr>
        <p:spPr>
          <a:xfrm>
            <a:off x="3017520" y="2514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5" name="Shape 11"/>
          <p:cNvSpPr/>
          <p:nvPr/>
        </p:nvSpPr>
        <p:spPr>
          <a:xfrm>
            <a:off x="3886200" y="2331720"/>
            <a:ext cx="292608" cy="292608"/>
          </a:xfrm>
          <a:prstGeom prst="ellipse">
            <a:avLst/>
          </a:prstGeom>
          <a:solidFill>
            <a:srgbClr val="FFFFFF"/>
          </a:solidFill>
          <a:ln w="12700">
            <a:solidFill>
              <a:srgbClr val="000F78"/>
            </a:solidFill>
            <a:prstDash val="solid"/>
          </a:ln>
        </p:spPr>
      </p:sp>
      <p:sp>
        <p:nvSpPr>
          <p:cNvPr id="16" name="Text 12"/>
          <p:cNvSpPr txBox="1"/>
          <p:nvPr/>
        </p:nvSpPr>
        <p:spPr>
          <a:xfrm>
            <a:off x="3886200" y="2331720"/>
            <a:ext cx="292608" cy="292608"/>
          </a:xfrm>
          <a:prstGeom prst="rect">
            <a:avLst/>
          </a:prstGeom>
          <a:noFill/>
          <a:ln/>
        </p:spPr>
        <p:txBody>
          <a:bodyPr wrap="square" lIns="0" tIns="0" rIns="0" bIns="0" rtlCol="0" anchor="ctr"/>
          <a:lstStyle/>
          <a:p>
            <a:pPr algn="ctr" indent="0" marL="0">
              <a:buNone/>
            </a:pPr>
            <a:r>
              <a:rPr lang="en-US" sz="1200" b="1" dirty="0">
                <a:solidFill>
                  <a:srgbClr val="000F78"/>
                </a:solidFill>
                <a:latin typeface="Arial" pitchFamily="34" charset="0"/>
                <a:ea typeface="Arial" pitchFamily="34" charset="-122"/>
                <a:cs typeface="Arial" pitchFamily="34" charset="-120"/>
              </a:rPr>
              <a:t>2</a:t>
            </a:r>
            <a:endParaRPr lang="en-US" sz="1200" dirty="0"/>
          </a:p>
        </p:txBody>
      </p:sp>
      <p:sp>
        <p:nvSpPr>
          <p:cNvPr id="17" name="Shape 13"/>
          <p:cNvSpPr/>
          <p:nvPr/>
        </p:nvSpPr>
        <p:spPr>
          <a:xfrm>
            <a:off x="4754880" y="2240280"/>
            <a:ext cx="292608" cy="292608"/>
          </a:xfrm>
          <a:prstGeom prst="ellipse">
            <a:avLst/>
          </a:prstGeom>
          <a:solidFill>
            <a:srgbClr val="FFFFFF"/>
          </a:solidFill>
          <a:ln w="12700">
            <a:solidFill>
              <a:srgbClr val="000F78"/>
            </a:solidFill>
            <a:prstDash val="solid"/>
          </a:ln>
        </p:spPr>
      </p:sp>
      <p:sp>
        <p:nvSpPr>
          <p:cNvPr id="18" name="Text 14"/>
          <p:cNvSpPr txBox="1"/>
          <p:nvPr/>
        </p:nvSpPr>
        <p:spPr>
          <a:xfrm>
            <a:off x="4754880" y="2240280"/>
            <a:ext cx="292608" cy="292608"/>
          </a:xfrm>
          <a:prstGeom prst="rect">
            <a:avLst/>
          </a:prstGeom>
          <a:noFill/>
          <a:ln/>
        </p:spPr>
        <p:txBody>
          <a:bodyPr wrap="square" lIns="0" tIns="0" rIns="0" bIns="0" rtlCol="0" anchor="ctr"/>
          <a:lstStyle/>
          <a:p>
            <a:pPr algn="ctr" indent="0" marL="0">
              <a:buNone/>
            </a:pPr>
            <a:r>
              <a:rPr lang="en-US" sz="1200" b="1" dirty="0">
                <a:solidFill>
                  <a:srgbClr val="000F78"/>
                </a:solidFill>
                <a:latin typeface="Arial" pitchFamily="34" charset="0"/>
                <a:ea typeface="Arial" pitchFamily="34" charset="-122"/>
                <a:cs typeface="Arial" pitchFamily="34" charset="-120"/>
              </a:rPr>
              <a:t>3</a:t>
            </a:r>
            <a:endParaRPr lang="en-US" sz="1200" dirty="0"/>
          </a:p>
        </p:txBody>
      </p:sp>
      <p:sp>
        <p:nvSpPr>
          <p:cNvPr id="19" name="Shape 15"/>
          <p:cNvSpPr/>
          <p:nvPr/>
        </p:nvSpPr>
        <p:spPr>
          <a:xfrm>
            <a:off x="6172200" y="1965960"/>
            <a:ext cx="292608" cy="292608"/>
          </a:xfrm>
          <a:prstGeom prst="ellipse">
            <a:avLst/>
          </a:prstGeom>
          <a:solidFill>
            <a:srgbClr val="000F78"/>
          </a:solidFill>
          <a:ln w="12700">
            <a:solidFill>
              <a:srgbClr val="000F78"/>
            </a:solidFill>
            <a:prstDash val="solid"/>
          </a:ln>
        </p:spPr>
      </p:sp>
      <p:sp>
        <p:nvSpPr>
          <p:cNvPr id="20" name="Text 16"/>
          <p:cNvSpPr txBox="1"/>
          <p:nvPr/>
        </p:nvSpPr>
        <p:spPr>
          <a:xfrm>
            <a:off x="6172200" y="19659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1" name="Text 17"/>
          <p:cNvSpPr txBox="1"/>
          <p:nvPr/>
        </p:nvSpPr>
        <p:spPr>
          <a:xfrm>
            <a:off x="6583680" y="1947672"/>
            <a:ext cx="3017520" cy="292608"/>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伸び率の鈍化</a:t>
            </a:r>
            <a:endParaRPr lang="en-US" sz="1400" dirty="0"/>
          </a:p>
        </p:txBody>
      </p:sp>
      <p:sp>
        <p:nvSpPr>
          <p:cNvPr id="22" name="Text 18"/>
          <p:cNvSpPr txBox="1"/>
          <p:nvPr/>
        </p:nvSpPr>
        <p:spPr>
          <a:xfrm>
            <a:off x="6583680" y="2286000"/>
            <a:ext cx="3017520" cy="56692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2021年度以降の伸びは年【数値】%に低下</a:t>
            </a:r>
            <a:endParaRPr lang="en-US" sz="1400" dirty="0"/>
          </a:p>
        </p:txBody>
      </p:sp>
      <p:sp>
        <p:nvSpPr>
          <p:cNvPr id="23" name="Shape 19"/>
          <p:cNvSpPr/>
          <p:nvPr/>
        </p:nvSpPr>
        <p:spPr>
          <a:xfrm>
            <a:off x="6172200" y="3063240"/>
            <a:ext cx="3445459" cy="0"/>
          </a:xfrm>
          <a:prstGeom prst="line">
            <a:avLst/>
          </a:prstGeom>
          <a:noFill/>
          <a:ln w="9525">
            <a:solidFill>
              <a:srgbClr val="E7E6E6"/>
            </a:solidFill>
            <a:prstDash val="solid"/>
          </a:ln>
        </p:spPr>
      </p:sp>
      <p:sp>
        <p:nvSpPr>
          <p:cNvPr id="24" name="Shape 20"/>
          <p:cNvSpPr/>
          <p:nvPr/>
        </p:nvSpPr>
        <p:spPr>
          <a:xfrm>
            <a:off x="6172200" y="3291840"/>
            <a:ext cx="292608" cy="292608"/>
          </a:xfrm>
          <a:prstGeom prst="ellipse">
            <a:avLst/>
          </a:prstGeom>
          <a:solidFill>
            <a:srgbClr val="FFFFFF"/>
          </a:solidFill>
          <a:ln w="12700">
            <a:solidFill>
              <a:srgbClr val="000F78"/>
            </a:solidFill>
            <a:prstDash val="solid"/>
          </a:ln>
        </p:spPr>
      </p:sp>
      <p:sp>
        <p:nvSpPr>
          <p:cNvPr id="25" name="Text 21"/>
          <p:cNvSpPr txBox="1"/>
          <p:nvPr/>
        </p:nvSpPr>
        <p:spPr>
          <a:xfrm>
            <a:off x="6172200" y="3291840"/>
            <a:ext cx="292608" cy="292608"/>
          </a:xfrm>
          <a:prstGeom prst="rect">
            <a:avLst/>
          </a:prstGeom>
          <a:noFill/>
          <a:ln/>
        </p:spPr>
        <p:txBody>
          <a:bodyPr wrap="square" lIns="0" tIns="0" rIns="0" bIns="0" rtlCol="0" anchor="ctr"/>
          <a:lstStyle/>
          <a:p>
            <a:pPr algn="ctr" indent="0" marL="0">
              <a:buNone/>
            </a:pPr>
            <a:r>
              <a:rPr lang="en-US" sz="1200" b="1" dirty="0">
                <a:solidFill>
                  <a:srgbClr val="000F78"/>
                </a:solidFill>
                <a:latin typeface="Arial" pitchFamily="34" charset="0"/>
                <a:ea typeface="Arial" pitchFamily="34" charset="-122"/>
                <a:cs typeface="Arial" pitchFamily="34" charset="-120"/>
              </a:rPr>
              <a:t>2</a:t>
            </a:r>
            <a:endParaRPr lang="en-US" sz="1200" dirty="0"/>
          </a:p>
        </p:txBody>
      </p:sp>
      <p:sp>
        <p:nvSpPr>
          <p:cNvPr id="26" name="Text 22"/>
          <p:cNvSpPr txBox="1"/>
          <p:nvPr/>
        </p:nvSpPr>
        <p:spPr>
          <a:xfrm>
            <a:off x="6583680" y="3273552"/>
            <a:ext cx="3017520"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【要因2】</a:t>
            </a:r>
            <a:endParaRPr lang="en-US" sz="1400" dirty="0"/>
          </a:p>
        </p:txBody>
      </p:sp>
      <p:sp>
        <p:nvSpPr>
          <p:cNvPr id="27" name="Text 23"/>
          <p:cNvSpPr txBox="1"/>
          <p:nvPr/>
        </p:nvSpPr>
        <p:spPr>
          <a:xfrm>
            <a:off x="6583680" y="3611880"/>
            <a:ext cx="3017520" cy="56692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【要因2】の影響で需要の伸びが頭打ち</a:t>
            </a:r>
            <a:endParaRPr lang="en-US" sz="1400" dirty="0"/>
          </a:p>
        </p:txBody>
      </p:sp>
      <p:sp>
        <p:nvSpPr>
          <p:cNvPr id="28" name="Shape 24"/>
          <p:cNvSpPr/>
          <p:nvPr/>
        </p:nvSpPr>
        <p:spPr>
          <a:xfrm>
            <a:off x="6172200" y="4389120"/>
            <a:ext cx="3445459" cy="0"/>
          </a:xfrm>
          <a:prstGeom prst="line">
            <a:avLst/>
          </a:prstGeom>
          <a:noFill/>
          <a:ln w="9525">
            <a:solidFill>
              <a:srgbClr val="E7E6E6"/>
            </a:solidFill>
            <a:prstDash val="solid"/>
          </a:ln>
        </p:spPr>
      </p:sp>
      <p:sp>
        <p:nvSpPr>
          <p:cNvPr id="29" name="Shape 25"/>
          <p:cNvSpPr/>
          <p:nvPr/>
        </p:nvSpPr>
        <p:spPr>
          <a:xfrm>
            <a:off x="6172200" y="4617720"/>
            <a:ext cx="292608" cy="292608"/>
          </a:xfrm>
          <a:prstGeom prst="ellipse">
            <a:avLst/>
          </a:prstGeom>
          <a:solidFill>
            <a:srgbClr val="FFFFFF"/>
          </a:solidFill>
          <a:ln w="12700">
            <a:solidFill>
              <a:srgbClr val="000F78"/>
            </a:solidFill>
            <a:prstDash val="solid"/>
          </a:ln>
        </p:spPr>
      </p:sp>
      <p:sp>
        <p:nvSpPr>
          <p:cNvPr id="30" name="Text 26"/>
          <p:cNvSpPr txBox="1"/>
          <p:nvPr/>
        </p:nvSpPr>
        <p:spPr>
          <a:xfrm>
            <a:off x="6172200" y="4617720"/>
            <a:ext cx="292608" cy="292608"/>
          </a:xfrm>
          <a:prstGeom prst="rect">
            <a:avLst/>
          </a:prstGeom>
          <a:noFill/>
          <a:ln/>
        </p:spPr>
        <p:txBody>
          <a:bodyPr wrap="square" lIns="0" tIns="0" rIns="0" bIns="0" rtlCol="0" anchor="ctr"/>
          <a:lstStyle/>
          <a:p>
            <a:pPr algn="ctr" indent="0" marL="0">
              <a:buNone/>
            </a:pPr>
            <a:r>
              <a:rPr lang="en-US" sz="1200" b="1" dirty="0">
                <a:solidFill>
                  <a:srgbClr val="000F78"/>
                </a:solidFill>
                <a:latin typeface="Arial" pitchFamily="34" charset="0"/>
                <a:ea typeface="Arial" pitchFamily="34" charset="-122"/>
                <a:cs typeface="Arial" pitchFamily="34" charset="-120"/>
              </a:rPr>
              <a:t>3</a:t>
            </a:r>
            <a:endParaRPr lang="en-US" sz="1200" dirty="0"/>
          </a:p>
        </p:txBody>
      </p:sp>
      <p:sp>
        <p:nvSpPr>
          <p:cNvPr id="31" name="Text 27"/>
          <p:cNvSpPr txBox="1"/>
          <p:nvPr/>
        </p:nvSpPr>
        <p:spPr>
          <a:xfrm>
            <a:off x="6583680" y="4599432"/>
            <a:ext cx="3017520"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【要因3】</a:t>
            </a:r>
            <a:endParaRPr lang="en-US" sz="1400" dirty="0"/>
          </a:p>
        </p:txBody>
      </p:sp>
      <p:sp>
        <p:nvSpPr>
          <p:cNvPr id="32" name="Text 28"/>
          <p:cNvSpPr txBox="1"/>
          <p:nvPr/>
        </p:nvSpPr>
        <p:spPr>
          <a:xfrm>
            <a:off x="6583680" y="4937760"/>
            <a:ext cx="3017520" cy="56692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供給側の制約で回復が遅れている</a:t>
            </a:r>
            <a:endParaRPr lang="en-US" sz="1400" dirty="0"/>
          </a:p>
        </p:txBody>
      </p:sp>
      <p:sp>
        <p:nvSpPr>
          <p:cNvPr id="33" name="Shape 29"/>
          <p:cNvSpPr/>
          <p:nvPr/>
        </p:nvSpPr>
        <p:spPr>
          <a:xfrm>
            <a:off x="6172200" y="5715000"/>
            <a:ext cx="3445459" cy="0"/>
          </a:xfrm>
          <a:prstGeom prst="line">
            <a:avLst/>
          </a:prstGeom>
          <a:noFill/>
          <a:ln w="9525">
            <a:solidFill>
              <a:srgbClr val="E7E6E6"/>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現状は【主体A】と【主体B】が個別に【業務】を担い、重複コストが年【数値A】生じている。機能を統合すれば重複は解消し、【効果】が見込める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12</a:t>
            </a:r>
            <a:endParaRPr lang="en-US" sz="900" dirty="0"/>
          </a:p>
        </p:txBody>
      </p:sp>
      <p:sp>
        <p:nvSpPr>
          <p:cNvPr id="10" name="Text 7"/>
          <p:cNvSpPr txBox="1"/>
          <p:nvPr/>
        </p:nvSpPr>
        <p:spPr>
          <a:xfrm>
            <a:off x="288036" y="1417320"/>
            <a:ext cx="4481932"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現状</a:t>
            </a:r>
            <a:endParaRPr lang="en-US" sz="1400" dirty="0"/>
          </a:p>
        </p:txBody>
      </p:sp>
      <p:sp>
        <p:nvSpPr>
          <p:cNvPr id="11" name="Shape 8"/>
          <p:cNvSpPr/>
          <p:nvPr/>
        </p:nvSpPr>
        <p:spPr>
          <a:xfrm>
            <a:off x="288036" y="1728216"/>
            <a:ext cx="4481932" cy="0"/>
          </a:xfrm>
          <a:prstGeom prst="line">
            <a:avLst/>
          </a:prstGeom>
          <a:noFill/>
          <a:ln w="6350">
            <a:solidFill>
              <a:srgbClr val="BFBFBF"/>
            </a:solidFill>
            <a:prstDash val="solid"/>
          </a:ln>
        </p:spPr>
      </p:sp>
      <p:sp>
        <p:nvSpPr>
          <p:cNvPr id="12" name="Shape 9"/>
          <p:cNvSpPr/>
          <p:nvPr/>
        </p:nvSpPr>
        <p:spPr>
          <a:xfrm>
            <a:off x="288036" y="2057400"/>
            <a:ext cx="4481932" cy="960120"/>
          </a:xfrm>
          <a:prstGeom prst="rect">
            <a:avLst/>
          </a:prstGeom>
          <a:solidFill>
            <a:srgbClr val="FFFFFF"/>
          </a:solidFill>
          <a:ln w="9525">
            <a:solidFill>
              <a:srgbClr val="BFBFBF"/>
            </a:solidFill>
            <a:prstDash val="solid"/>
          </a:ln>
        </p:spPr>
      </p:sp>
      <p:sp>
        <p:nvSpPr>
          <p:cNvPr id="13" name="Text 10"/>
          <p:cNvSpPr txBox="1"/>
          <p:nvPr/>
        </p:nvSpPr>
        <p:spPr>
          <a:xfrm>
            <a:off x="516636" y="2057400"/>
            <a:ext cx="4024732"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【主体A】【主体B】が個別に運用</a:t>
            </a:r>
            <a:endParaRPr lang="en-US" sz="1400" dirty="0"/>
          </a:p>
        </p:txBody>
      </p:sp>
      <p:sp>
        <p:nvSpPr>
          <p:cNvPr id="14" name="Shape 11"/>
          <p:cNvSpPr/>
          <p:nvPr/>
        </p:nvSpPr>
        <p:spPr>
          <a:xfrm>
            <a:off x="288036" y="3291840"/>
            <a:ext cx="4481932" cy="960120"/>
          </a:xfrm>
          <a:prstGeom prst="rect">
            <a:avLst/>
          </a:prstGeom>
          <a:solidFill>
            <a:srgbClr val="FFFFFF"/>
          </a:solidFill>
          <a:ln w="9525">
            <a:solidFill>
              <a:srgbClr val="BFBFBF"/>
            </a:solidFill>
            <a:prstDash val="solid"/>
          </a:ln>
        </p:spPr>
      </p:sp>
      <p:sp>
        <p:nvSpPr>
          <p:cNvPr id="15" name="Text 12"/>
          <p:cNvSpPr txBox="1"/>
          <p:nvPr/>
        </p:nvSpPr>
        <p:spPr>
          <a:xfrm>
            <a:off x="516636" y="3291840"/>
            <a:ext cx="4024732"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同じ【業務】を二重に実施</a:t>
            </a:r>
            <a:endParaRPr lang="en-US" sz="1400" dirty="0"/>
          </a:p>
        </p:txBody>
      </p:sp>
      <p:sp>
        <p:nvSpPr>
          <p:cNvPr id="16" name="Shape 13"/>
          <p:cNvSpPr/>
          <p:nvPr/>
        </p:nvSpPr>
        <p:spPr>
          <a:xfrm>
            <a:off x="288036" y="4526280"/>
            <a:ext cx="4481932" cy="960120"/>
          </a:xfrm>
          <a:prstGeom prst="rect">
            <a:avLst/>
          </a:prstGeom>
          <a:solidFill>
            <a:srgbClr val="FFFFFF"/>
          </a:solidFill>
          <a:ln w="9525">
            <a:solidFill>
              <a:srgbClr val="BFBFBF"/>
            </a:solidFill>
            <a:prstDash val="solid"/>
          </a:ln>
        </p:spPr>
      </p:sp>
      <p:sp>
        <p:nvSpPr>
          <p:cNvPr id="17" name="Text 14"/>
          <p:cNvSpPr txBox="1"/>
          <p:nvPr/>
        </p:nvSpPr>
        <p:spPr>
          <a:xfrm>
            <a:off x="516636" y="4526280"/>
            <a:ext cx="4024732"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調整に年【数値】日を要する</a:t>
            </a:r>
            <a:endParaRPr lang="en-US" sz="1400" dirty="0"/>
          </a:p>
        </p:txBody>
      </p:sp>
      <p:sp>
        <p:nvSpPr>
          <p:cNvPr id="18" name="Text 15"/>
          <p:cNvSpPr txBox="1"/>
          <p:nvPr/>
        </p:nvSpPr>
        <p:spPr>
          <a:xfrm>
            <a:off x="5135728" y="1417320"/>
            <a:ext cx="4481932"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あるべき姿</a:t>
            </a:r>
            <a:endParaRPr lang="en-US" sz="1400" dirty="0"/>
          </a:p>
        </p:txBody>
      </p:sp>
      <p:sp>
        <p:nvSpPr>
          <p:cNvPr id="19" name="Shape 16"/>
          <p:cNvSpPr/>
          <p:nvPr/>
        </p:nvSpPr>
        <p:spPr>
          <a:xfrm>
            <a:off x="5135728" y="1728216"/>
            <a:ext cx="4481932" cy="0"/>
          </a:xfrm>
          <a:prstGeom prst="line">
            <a:avLst/>
          </a:prstGeom>
          <a:noFill/>
          <a:ln w="15875">
            <a:solidFill>
              <a:srgbClr val="000F78"/>
            </a:solidFill>
            <a:prstDash val="solid"/>
          </a:ln>
        </p:spPr>
      </p:sp>
      <p:sp>
        <p:nvSpPr>
          <p:cNvPr id="20" name="Shape 17"/>
          <p:cNvSpPr/>
          <p:nvPr/>
        </p:nvSpPr>
        <p:spPr>
          <a:xfrm>
            <a:off x="5135728" y="2057400"/>
            <a:ext cx="4481932" cy="960120"/>
          </a:xfrm>
          <a:prstGeom prst="rect">
            <a:avLst/>
          </a:prstGeom>
          <a:solidFill>
            <a:srgbClr val="FFFFFF"/>
          </a:solidFill>
          <a:ln w="9525">
            <a:solidFill>
              <a:srgbClr val="BFBFBF"/>
            </a:solidFill>
            <a:prstDash val="solid"/>
          </a:ln>
        </p:spPr>
      </p:sp>
      <p:sp>
        <p:nvSpPr>
          <p:cNvPr id="21" name="Text 18"/>
          <p:cNvSpPr txBox="1"/>
          <p:nvPr/>
        </p:nvSpPr>
        <p:spPr>
          <a:xfrm>
            <a:off x="5364328" y="2057400"/>
            <a:ext cx="4024732"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【機能】を【主体C】に一元化</a:t>
            </a:r>
            <a:endParaRPr lang="en-US" sz="1400" dirty="0"/>
          </a:p>
        </p:txBody>
      </p:sp>
      <p:sp>
        <p:nvSpPr>
          <p:cNvPr id="22" name="Shape 19"/>
          <p:cNvSpPr/>
          <p:nvPr/>
        </p:nvSpPr>
        <p:spPr>
          <a:xfrm>
            <a:off x="5135728" y="3291840"/>
            <a:ext cx="4481932" cy="960120"/>
          </a:xfrm>
          <a:prstGeom prst="rect">
            <a:avLst/>
          </a:prstGeom>
          <a:solidFill>
            <a:srgbClr val="FFFFFF"/>
          </a:solidFill>
          <a:ln w="19050">
            <a:solidFill>
              <a:srgbClr val="000F78"/>
            </a:solidFill>
            <a:prstDash val="solid"/>
          </a:ln>
        </p:spPr>
      </p:sp>
      <p:sp>
        <p:nvSpPr>
          <p:cNvPr id="23" name="Text 20"/>
          <p:cNvSpPr txBox="1"/>
          <p:nvPr/>
        </p:nvSpPr>
        <p:spPr>
          <a:xfrm>
            <a:off x="5364328" y="3291840"/>
            <a:ext cx="4024732" cy="96012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重複コストを年【数値A】削減</a:t>
            </a:r>
            <a:endParaRPr lang="en-US" sz="1400" dirty="0"/>
          </a:p>
        </p:txBody>
      </p:sp>
      <p:sp>
        <p:nvSpPr>
          <p:cNvPr id="24" name="Shape 21"/>
          <p:cNvSpPr/>
          <p:nvPr/>
        </p:nvSpPr>
        <p:spPr>
          <a:xfrm>
            <a:off x="5135728" y="4526280"/>
            <a:ext cx="4481932" cy="960120"/>
          </a:xfrm>
          <a:prstGeom prst="rect">
            <a:avLst/>
          </a:prstGeom>
          <a:solidFill>
            <a:srgbClr val="FFFFFF"/>
          </a:solidFill>
          <a:ln w="9525">
            <a:solidFill>
              <a:srgbClr val="BFBFBF"/>
            </a:solidFill>
            <a:prstDash val="solid"/>
          </a:ln>
        </p:spPr>
      </p:sp>
      <p:sp>
        <p:nvSpPr>
          <p:cNvPr id="25" name="Text 22"/>
          <p:cNvSpPr txBox="1"/>
          <p:nvPr/>
        </p:nvSpPr>
        <p:spPr>
          <a:xfrm>
            <a:off x="5364328" y="4526280"/>
            <a:ext cx="4024732"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意思決定が【数値】日短縮</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新たな仕組みでは【主体C】が【主体A】と【主体B】の間に入り、資金とデータの流れを一本化する。これにより利用者の負担が大きく減る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新しい仕組みの全体像</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13</a:t>
            </a:r>
            <a:endParaRPr lang="en-US" sz="900" dirty="0"/>
          </a:p>
        </p:txBody>
      </p:sp>
      <p:sp>
        <p:nvSpPr>
          <p:cNvPr id="12" name="Shape 9"/>
          <p:cNvSpPr/>
          <p:nvPr/>
        </p:nvSpPr>
        <p:spPr>
          <a:xfrm>
            <a:off x="914400" y="2651760"/>
            <a:ext cx="1005840" cy="1005840"/>
          </a:xfrm>
          <a:prstGeom prst="ellipse">
            <a:avLst/>
          </a:prstGeom>
          <a:solidFill>
            <a:srgbClr val="FFFFFF"/>
          </a:solidFill>
          <a:ln w="12700">
            <a:solidFill>
              <a:srgbClr val="7F7F7F"/>
            </a:solidFill>
            <a:prstDash val="solid"/>
          </a:ln>
        </p:spPr>
      </p:sp>
      <p:sp>
        <p:nvSpPr>
          <p:cNvPr id="13" name="Text 10"/>
          <p:cNvSpPr txBox="1"/>
          <p:nvPr/>
        </p:nvSpPr>
        <p:spPr>
          <a:xfrm>
            <a:off x="914400" y="3017520"/>
            <a:ext cx="1005840" cy="274320"/>
          </a:xfrm>
          <a:prstGeom prst="rect">
            <a:avLst/>
          </a:prstGeom>
          <a:noFill/>
          <a:ln/>
        </p:spPr>
        <p:txBody>
          <a:bodyPr wrap="square" lIns="0" tIns="0" rIns="0" bIns="0" rtlCol="0" anchor="t"/>
          <a:lstStyle/>
          <a:p>
            <a:pPr algn="ctr" indent="0" marL="0">
              <a:buNone/>
            </a:pPr>
            <a:r>
              <a:rPr lang="en-US" sz="1100" dirty="0">
                <a:solidFill>
                  <a:srgbClr val="BFBFBF"/>
                </a:solidFill>
                <a:latin typeface="Yu Gothic UI" pitchFamily="34" charset="0"/>
                <a:ea typeface="Yu Gothic UI" pitchFamily="34" charset="-122"/>
                <a:cs typeface="Yu Gothic UI" pitchFamily="34" charset="-120"/>
              </a:rPr>
              <a:t>アイコン</a:t>
            </a:r>
            <a:endParaRPr lang="en-US" sz="1100" dirty="0"/>
          </a:p>
        </p:txBody>
      </p:sp>
      <p:sp>
        <p:nvSpPr>
          <p:cNvPr id="14" name="Text 11"/>
          <p:cNvSpPr txBox="1"/>
          <p:nvPr/>
        </p:nvSpPr>
        <p:spPr>
          <a:xfrm>
            <a:off x="457200" y="3730752"/>
            <a:ext cx="1920240" cy="292608"/>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【主体A】</a:t>
            </a:r>
            <a:endParaRPr lang="en-US" sz="1400" dirty="0"/>
          </a:p>
        </p:txBody>
      </p:sp>
      <p:sp>
        <p:nvSpPr>
          <p:cNvPr id="15" name="Shape 12"/>
          <p:cNvSpPr/>
          <p:nvPr/>
        </p:nvSpPr>
        <p:spPr>
          <a:xfrm>
            <a:off x="4434840" y="2194560"/>
            <a:ext cx="1005840" cy="1005840"/>
          </a:xfrm>
          <a:prstGeom prst="ellipse">
            <a:avLst/>
          </a:prstGeom>
          <a:solidFill>
            <a:srgbClr val="FFFFFF"/>
          </a:solidFill>
          <a:ln w="25400">
            <a:solidFill>
              <a:srgbClr val="000F78"/>
            </a:solidFill>
            <a:prstDash val="solid"/>
          </a:ln>
        </p:spPr>
      </p:sp>
      <p:sp>
        <p:nvSpPr>
          <p:cNvPr id="16" name="Text 13"/>
          <p:cNvSpPr txBox="1"/>
          <p:nvPr/>
        </p:nvSpPr>
        <p:spPr>
          <a:xfrm>
            <a:off x="4434840" y="2560320"/>
            <a:ext cx="1005840" cy="274320"/>
          </a:xfrm>
          <a:prstGeom prst="rect">
            <a:avLst/>
          </a:prstGeom>
          <a:noFill/>
          <a:ln/>
        </p:spPr>
        <p:txBody>
          <a:bodyPr wrap="square" lIns="0" tIns="0" rIns="0" bIns="0" rtlCol="0" anchor="t"/>
          <a:lstStyle/>
          <a:p>
            <a:pPr algn="ctr" indent="0" marL="0">
              <a:buNone/>
            </a:pPr>
            <a:r>
              <a:rPr lang="en-US" sz="1100" dirty="0">
                <a:solidFill>
                  <a:srgbClr val="BFBFBF"/>
                </a:solidFill>
                <a:latin typeface="Yu Gothic UI" pitchFamily="34" charset="0"/>
                <a:ea typeface="Yu Gothic UI" pitchFamily="34" charset="-122"/>
                <a:cs typeface="Yu Gothic UI" pitchFamily="34" charset="-120"/>
              </a:rPr>
              <a:t>アイコン</a:t>
            </a:r>
            <a:endParaRPr lang="en-US" sz="1100" dirty="0"/>
          </a:p>
        </p:txBody>
      </p:sp>
      <p:sp>
        <p:nvSpPr>
          <p:cNvPr id="17" name="Text 14"/>
          <p:cNvSpPr txBox="1"/>
          <p:nvPr/>
        </p:nvSpPr>
        <p:spPr>
          <a:xfrm>
            <a:off x="3977640" y="3273552"/>
            <a:ext cx="1920240" cy="292608"/>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【主体C】</a:t>
            </a:r>
            <a:endParaRPr lang="en-US" sz="1400" dirty="0"/>
          </a:p>
        </p:txBody>
      </p:sp>
      <p:sp>
        <p:nvSpPr>
          <p:cNvPr id="18" name="Shape 15"/>
          <p:cNvSpPr/>
          <p:nvPr/>
        </p:nvSpPr>
        <p:spPr>
          <a:xfrm>
            <a:off x="7955280" y="2651760"/>
            <a:ext cx="1005840" cy="1005840"/>
          </a:xfrm>
          <a:prstGeom prst="ellipse">
            <a:avLst/>
          </a:prstGeom>
          <a:solidFill>
            <a:srgbClr val="FFFFFF"/>
          </a:solidFill>
          <a:ln w="12700">
            <a:solidFill>
              <a:srgbClr val="7F7F7F"/>
            </a:solidFill>
            <a:prstDash val="solid"/>
          </a:ln>
        </p:spPr>
      </p:sp>
      <p:sp>
        <p:nvSpPr>
          <p:cNvPr id="19" name="Text 16"/>
          <p:cNvSpPr txBox="1"/>
          <p:nvPr/>
        </p:nvSpPr>
        <p:spPr>
          <a:xfrm>
            <a:off x="7955280" y="3017520"/>
            <a:ext cx="1005840" cy="274320"/>
          </a:xfrm>
          <a:prstGeom prst="rect">
            <a:avLst/>
          </a:prstGeom>
          <a:noFill/>
          <a:ln/>
        </p:spPr>
        <p:txBody>
          <a:bodyPr wrap="square" lIns="0" tIns="0" rIns="0" bIns="0" rtlCol="0" anchor="t"/>
          <a:lstStyle/>
          <a:p>
            <a:pPr algn="ctr" indent="0" marL="0">
              <a:buNone/>
            </a:pPr>
            <a:r>
              <a:rPr lang="en-US" sz="1100" dirty="0">
                <a:solidFill>
                  <a:srgbClr val="BFBFBF"/>
                </a:solidFill>
                <a:latin typeface="Yu Gothic UI" pitchFamily="34" charset="0"/>
                <a:ea typeface="Yu Gothic UI" pitchFamily="34" charset="-122"/>
                <a:cs typeface="Yu Gothic UI" pitchFamily="34" charset="-120"/>
              </a:rPr>
              <a:t>アイコン</a:t>
            </a:r>
            <a:endParaRPr lang="en-US" sz="1100" dirty="0"/>
          </a:p>
        </p:txBody>
      </p:sp>
      <p:sp>
        <p:nvSpPr>
          <p:cNvPr id="20" name="Text 17"/>
          <p:cNvSpPr txBox="1"/>
          <p:nvPr/>
        </p:nvSpPr>
        <p:spPr>
          <a:xfrm>
            <a:off x="7498080" y="3730752"/>
            <a:ext cx="1920240" cy="292608"/>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【主体B】</a:t>
            </a:r>
            <a:endParaRPr lang="en-US" sz="1400" dirty="0"/>
          </a:p>
        </p:txBody>
      </p:sp>
      <p:sp>
        <p:nvSpPr>
          <p:cNvPr id="21" name="Shape 18"/>
          <p:cNvSpPr/>
          <p:nvPr/>
        </p:nvSpPr>
        <p:spPr>
          <a:xfrm>
            <a:off x="4434840" y="4572000"/>
            <a:ext cx="1005840" cy="1005840"/>
          </a:xfrm>
          <a:prstGeom prst="ellipse">
            <a:avLst/>
          </a:prstGeom>
          <a:solidFill>
            <a:srgbClr val="FFFFFF"/>
          </a:solidFill>
          <a:ln w="12700">
            <a:solidFill>
              <a:srgbClr val="7F7F7F"/>
            </a:solidFill>
            <a:prstDash val="solid"/>
          </a:ln>
        </p:spPr>
      </p:sp>
      <p:sp>
        <p:nvSpPr>
          <p:cNvPr id="22" name="Text 19"/>
          <p:cNvSpPr txBox="1"/>
          <p:nvPr/>
        </p:nvSpPr>
        <p:spPr>
          <a:xfrm>
            <a:off x="4434840" y="4937760"/>
            <a:ext cx="1005840" cy="274320"/>
          </a:xfrm>
          <a:prstGeom prst="rect">
            <a:avLst/>
          </a:prstGeom>
          <a:noFill/>
          <a:ln/>
        </p:spPr>
        <p:txBody>
          <a:bodyPr wrap="square" lIns="0" tIns="0" rIns="0" bIns="0" rtlCol="0" anchor="t"/>
          <a:lstStyle/>
          <a:p>
            <a:pPr algn="ctr" indent="0" marL="0">
              <a:buNone/>
            </a:pPr>
            <a:r>
              <a:rPr lang="en-US" sz="1100" dirty="0">
                <a:solidFill>
                  <a:srgbClr val="BFBFBF"/>
                </a:solidFill>
                <a:latin typeface="Yu Gothic UI" pitchFamily="34" charset="0"/>
                <a:ea typeface="Yu Gothic UI" pitchFamily="34" charset="-122"/>
                <a:cs typeface="Yu Gothic UI" pitchFamily="34" charset="-120"/>
              </a:rPr>
              <a:t>アイコン</a:t>
            </a:r>
            <a:endParaRPr lang="en-US" sz="1100" dirty="0"/>
          </a:p>
        </p:txBody>
      </p:sp>
      <p:sp>
        <p:nvSpPr>
          <p:cNvPr id="23" name="Text 20"/>
          <p:cNvSpPr txBox="1"/>
          <p:nvPr/>
        </p:nvSpPr>
        <p:spPr>
          <a:xfrm>
            <a:off x="3977640" y="5650992"/>
            <a:ext cx="1920240" cy="292608"/>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利用者</a:t>
            </a:r>
            <a:endParaRPr lang="en-US" sz="1400" dirty="0"/>
          </a:p>
        </p:txBody>
      </p:sp>
      <p:sp>
        <p:nvSpPr>
          <p:cNvPr id="24" name="Shape 21"/>
          <p:cNvSpPr/>
          <p:nvPr/>
        </p:nvSpPr>
        <p:spPr>
          <a:xfrm>
            <a:off x="2011680" y="3108960"/>
            <a:ext cx="2331720" cy="-320040"/>
          </a:xfrm>
          <a:prstGeom prst="line">
            <a:avLst/>
          </a:prstGeom>
          <a:noFill/>
          <a:ln w="22225">
            <a:solidFill>
              <a:srgbClr val="000F78"/>
            </a:solidFill>
            <a:prstDash val="solid"/>
            <a:tailEnd type="triangle"/>
          </a:ln>
        </p:spPr>
      </p:sp>
      <p:sp>
        <p:nvSpPr>
          <p:cNvPr id="25" name="Text 22"/>
          <p:cNvSpPr txBox="1"/>
          <p:nvPr/>
        </p:nvSpPr>
        <p:spPr>
          <a:xfrm>
            <a:off x="2240280" y="2514600"/>
            <a:ext cx="1828800" cy="274320"/>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データ</a:t>
            </a:r>
            <a:endParaRPr lang="en-US" sz="1400" dirty="0"/>
          </a:p>
        </p:txBody>
      </p:sp>
      <p:sp>
        <p:nvSpPr>
          <p:cNvPr id="26" name="Shape 23"/>
          <p:cNvSpPr/>
          <p:nvPr/>
        </p:nvSpPr>
        <p:spPr>
          <a:xfrm>
            <a:off x="5532120" y="2788920"/>
            <a:ext cx="2331720" cy="320040"/>
          </a:xfrm>
          <a:prstGeom prst="line">
            <a:avLst/>
          </a:prstGeom>
          <a:noFill/>
          <a:ln w="22225">
            <a:solidFill>
              <a:srgbClr val="000F78"/>
            </a:solidFill>
            <a:prstDash val="solid"/>
            <a:tailEnd type="triangle"/>
          </a:ln>
        </p:spPr>
      </p:sp>
      <p:sp>
        <p:nvSpPr>
          <p:cNvPr id="27" name="Text 24"/>
          <p:cNvSpPr txBox="1"/>
          <p:nvPr/>
        </p:nvSpPr>
        <p:spPr>
          <a:xfrm>
            <a:off x="5760720" y="2514600"/>
            <a:ext cx="1828800" cy="274320"/>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資金</a:t>
            </a:r>
            <a:endParaRPr lang="en-US" sz="1400" dirty="0"/>
          </a:p>
        </p:txBody>
      </p:sp>
      <p:sp>
        <p:nvSpPr>
          <p:cNvPr id="28" name="Shape 25"/>
          <p:cNvSpPr/>
          <p:nvPr/>
        </p:nvSpPr>
        <p:spPr>
          <a:xfrm>
            <a:off x="4937760" y="4114800"/>
            <a:ext cx="0" cy="411480"/>
          </a:xfrm>
          <a:prstGeom prst="line">
            <a:avLst/>
          </a:prstGeom>
          <a:noFill/>
          <a:ln w="12700">
            <a:solidFill>
              <a:srgbClr val="7F7F7F"/>
            </a:solidFill>
            <a:prstDash val="solid"/>
            <a:tailEnd type="triangle"/>
          </a:ln>
        </p:spPr>
      </p:sp>
      <p:sp>
        <p:nvSpPr>
          <p:cNvPr id="29" name="Text 26"/>
          <p:cNvSpPr txBox="1"/>
          <p:nvPr/>
        </p:nvSpPr>
        <p:spPr>
          <a:xfrm>
            <a:off x="5074920" y="4160520"/>
            <a:ext cx="1828800"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サービス</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取組は3段階で進め、【年度】までに【目標】を達成する。最初の判断点は【時期】の【判断事項】であり、ここで【条件】を満たせば本格展開に移る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実行ロードマップ</a:t>
            </a:r>
            <a:pPr indent="0" marL="0">
              <a:buNone/>
            </a:pPr>
            <a:r>
              <a:rPr lang="en-US" sz="1100" dirty="0">
                <a:solidFill>
                  <a:srgbClr val="595959"/>
                </a:solidFill>
                <a:latin typeface="Yu Gothic UI" pitchFamily="34" charset="0"/>
                <a:ea typeface="Yu Gothic UI" pitchFamily="34" charset="-122"/>
                <a:cs typeface="Yu Gothic UI" pitchFamily="34" charset="-120"/>
              </a:rPr>
              <a:t>　（【年度】〜【年度】）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14</a:t>
            </a:r>
            <a:endParaRPr lang="en-US" sz="900" dirty="0"/>
          </a:p>
        </p:txBody>
      </p:sp>
      <p:sp>
        <p:nvSpPr>
          <p:cNvPr id="12" name="Shape 9"/>
          <p:cNvSpPr/>
          <p:nvPr/>
        </p:nvSpPr>
        <p:spPr>
          <a:xfrm>
            <a:off x="288036" y="1965960"/>
            <a:ext cx="3018434" cy="640080"/>
          </a:xfrm>
          <a:prstGeom prst="chevron">
            <a:avLst/>
          </a:prstGeom>
          <a:solidFill>
            <a:srgbClr val="000F78"/>
          </a:solidFill>
          <a:ln w="12700">
            <a:solidFill>
              <a:srgbClr val="000F78"/>
            </a:solidFill>
            <a:prstDash val="solid"/>
          </a:ln>
        </p:spPr>
      </p:sp>
      <p:sp>
        <p:nvSpPr>
          <p:cNvPr id="13" name="Text 10"/>
          <p:cNvSpPr txBox="1"/>
          <p:nvPr/>
        </p:nvSpPr>
        <p:spPr>
          <a:xfrm>
            <a:off x="608076" y="1965960"/>
            <a:ext cx="2469794" cy="640080"/>
          </a:xfrm>
          <a:prstGeom prst="rect">
            <a:avLst/>
          </a:prstGeom>
          <a:noFill/>
          <a:ln/>
        </p:spPr>
        <p:txBody>
          <a:bodyPr wrap="square" lIns="0" tIns="0" rIns="0" bIns="0" rtlCol="0" anchor="ctr"/>
          <a:lstStyle/>
          <a:p>
            <a:pPr indent="0" marL="0">
              <a:buNone/>
            </a:pPr>
            <a:r>
              <a:rPr lang="en-US" sz="1400" b="1" dirty="0">
                <a:solidFill>
                  <a:srgbClr val="FFFFFF"/>
                </a:solidFill>
                <a:latin typeface="Yu Gothic UI" pitchFamily="34" charset="0"/>
                <a:ea typeface="Yu Gothic UI" pitchFamily="34" charset="-122"/>
                <a:cs typeface="Yu Gothic UI" pitchFamily="34" charset="-120"/>
              </a:rPr>
              <a:t>フェーズ1　検証</a:t>
            </a:r>
            <a:endParaRPr lang="en-US" sz="1400" dirty="0"/>
          </a:p>
        </p:txBody>
      </p:sp>
      <p:sp>
        <p:nvSpPr>
          <p:cNvPr id="14" name="Text 11"/>
          <p:cNvSpPr txBox="1"/>
          <p:nvPr/>
        </p:nvSpPr>
        <p:spPr>
          <a:xfrm>
            <a:off x="288036" y="2743200"/>
            <a:ext cx="3018434"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15" name="Text 12"/>
          <p:cNvSpPr txBox="1"/>
          <p:nvPr/>
        </p:nvSpPr>
        <p:spPr>
          <a:xfrm>
            <a:off x="470916" y="324612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・実証範囲の決定</a:t>
            </a:r>
            <a:endParaRPr lang="en-US" sz="1400" dirty="0"/>
          </a:p>
        </p:txBody>
      </p:sp>
      <p:sp>
        <p:nvSpPr>
          <p:cNvPr id="16" name="Text 13"/>
          <p:cNvSpPr txBox="1"/>
          <p:nvPr/>
        </p:nvSpPr>
        <p:spPr>
          <a:xfrm>
            <a:off x="470916" y="365760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・効果の測定</a:t>
            </a:r>
            <a:endParaRPr lang="en-US" sz="1400" dirty="0"/>
          </a:p>
        </p:txBody>
      </p:sp>
      <p:sp>
        <p:nvSpPr>
          <p:cNvPr id="17" name="Shape 14"/>
          <p:cNvSpPr/>
          <p:nvPr/>
        </p:nvSpPr>
        <p:spPr>
          <a:xfrm>
            <a:off x="3443630" y="1965960"/>
            <a:ext cx="3018434" cy="640080"/>
          </a:xfrm>
          <a:prstGeom prst="chevron">
            <a:avLst/>
          </a:prstGeom>
          <a:solidFill>
            <a:srgbClr val="FFFFFF"/>
          </a:solidFill>
          <a:ln w="12700">
            <a:solidFill>
              <a:srgbClr val="7F7F7F"/>
            </a:solidFill>
            <a:prstDash val="solid"/>
          </a:ln>
        </p:spPr>
      </p:sp>
      <p:sp>
        <p:nvSpPr>
          <p:cNvPr id="18" name="Text 15"/>
          <p:cNvSpPr txBox="1"/>
          <p:nvPr/>
        </p:nvSpPr>
        <p:spPr>
          <a:xfrm>
            <a:off x="3763670" y="1965960"/>
            <a:ext cx="2469794" cy="6400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フェーズ2　拡大</a:t>
            </a:r>
            <a:endParaRPr lang="en-US" sz="1400" dirty="0"/>
          </a:p>
        </p:txBody>
      </p:sp>
      <p:sp>
        <p:nvSpPr>
          <p:cNvPr id="19" name="Text 16"/>
          <p:cNvSpPr txBox="1"/>
          <p:nvPr/>
        </p:nvSpPr>
        <p:spPr>
          <a:xfrm>
            <a:off x="3443630" y="2743200"/>
            <a:ext cx="3018434"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20" name="Text 17"/>
          <p:cNvSpPr txBox="1"/>
          <p:nvPr/>
        </p:nvSpPr>
        <p:spPr>
          <a:xfrm>
            <a:off x="3626510" y="324612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・対象を【数値】に拡大</a:t>
            </a:r>
            <a:endParaRPr lang="en-US" sz="1400" dirty="0"/>
          </a:p>
        </p:txBody>
      </p:sp>
      <p:sp>
        <p:nvSpPr>
          <p:cNvPr id="21" name="Text 18"/>
          <p:cNvSpPr txBox="1"/>
          <p:nvPr/>
        </p:nvSpPr>
        <p:spPr>
          <a:xfrm>
            <a:off x="3626510" y="365760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・体制の整備</a:t>
            </a:r>
            <a:endParaRPr lang="en-US" sz="1400" dirty="0"/>
          </a:p>
        </p:txBody>
      </p:sp>
      <p:sp>
        <p:nvSpPr>
          <p:cNvPr id="22" name="Shape 19"/>
          <p:cNvSpPr/>
          <p:nvPr/>
        </p:nvSpPr>
        <p:spPr>
          <a:xfrm>
            <a:off x="6599225" y="1965960"/>
            <a:ext cx="3018434" cy="640080"/>
          </a:xfrm>
          <a:prstGeom prst="chevron">
            <a:avLst/>
          </a:prstGeom>
          <a:solidFill>
            <a:srgbClr val="FFFFFF"/>
          </a:solidFill>
          <a:ln w="12700">
            <a:solidFill>
              <a:srgbClr val="7F7F7F"/>
            </a:solidFill>
            <a:prstDash val="solid"/>
          </a:ln>
        </p:spPr>
      </p:sp>
      <p:sp>
        <p:nvSpPr>
          <p:cNvPr id="23" name="Text 20"/>
          <p:cNvSpPr txBox="1"/>
          <p:nvPr/>
        </p:nvSpPr>
        <p:spPr>
          <a:xfrm>
            <a:off x="6919265" y="1965960"/>
            <a:ext cx="2469794" cy="6400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フェーズ3　本格展開</a:t>
            </a:r>
            <a:endParaRPr lang="en-US" sz="1400" dirty="0"/>
          </a:p>
        </p:txBody>
      </p:sp>
      <p:sp>
        <p:nvSpPr>
          <p:cNvPr id="24" name="Text 21"/>
          <p:cNvSpPr txBox="1"/>
          <p:nvPr/>
        </p:nvSpPr>
        <p:spPr>
          <a:xfrm>
            <a:off x="6599225" y="2743200"/>
            <a:ext cx="3018434"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25" name="Text 22"/>
          <p:cNvSpPr txBox="1"/>
          <p:nvPr/>
        </p:nvSpPr>
        <p:spPr>
          <a:xfrm>
            <a:off x="6782105" y="324612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・全域で運用</a:t>
            </a:r>
            <a:endParaRPr lang="en-US" sz="1400" dirty="0"/>
          </a:p>
        </p:txBody>
      </p:sp>
      <p:sp>
        <p:nvSpPr>
          <p:cNvPr id="26" name="Text 23"/>
          <p:cNvSpPr txBox="1"/>
          <p:nvPr/>
        </p:nvSpPr>
        <p:spPr>
          <a:xfrm>
            <a:off x="6782105" y="365760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・収支の自立化</a:t>
            </a:r>
            <a:endParaRPr lang="en-US" sz="1400" dirty="0"/>
          </a:p>
        </p:txBody>
      </p:sp>
      <p:sp>
        <p:nvSpPr>
          <p:cNvPr id="27" name="Shape 24"/>
          <p:cNvSpPr/>
          <p:nvPr/>
        </p:nvSpPr>
        <p:spPr>
          <a:xfrm>
            <a:off x="3169310" y="4434840"/>
            <a:ext cx="310896" cy="310896"/>
          </a:xfrm>
          <a:prstGeom prst="diamond">
            <a:avLst/>
          </a:prstGeom>
          <a:solidFill>
            <a:srgbClr val="000F78"/>
          </a:solidFill>
          <a:ln/>
        </p:spPr>
      </p:sp>
      <p:sp>
        <p:nvSpPr>
          <p:cNvPr id="28" name="Text 25"/>
          <p:cNvSpPr txBox="1"/>
          <p:nvPr/>
        </p:nvSpPr>
        <p:spPr>
          <a:xfrm>
            <a:off x="3599078" y="4343400"/>
            <a:ext cx="3200400" cy="5943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判断点：【時期】</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【条件】を満たせば拡大へ</a:t>
            </a:r>
            <a:endParaRPr lang="en-US" sz="1400" dirty="0"/>
          </a:p>
        </p:txBody>
      </p:sp>
      <p:sp>
        <p:nvSpPr>
          <p:cNvPr id="29" name="Shape 26"/>
          <p:cNvSpPr/>
          <p:nvPr/>
        </p:nvSpPr>
        <p:spPr>
          <a:xfrm>
            <a:off x="288036" y="4590288"/>
            <a:ext cx="9329623" cy="0"/>
          </a:xfrm>
          <a:prstGeom prst="line">
            <a:avLst/>
          </a:prstGeom>
          <a:noFill/>
          <a:ln w="9525">
            <a:solidFill>
              <a:srgbClr val="BFBFBF"/>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【指標】の低下の【数値A】割は利用者数の減少で説明できる。中でも【要因X】の寄与が最も大きく、対策の優先度が最も高い要因である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【指標】の要因分解</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15</a:t>
            </a:r>
            <a:endParaRPr lang="en-US" sz="900" dirty="0"/>
          </a:p>
        </p:txBody>
      </p:sp>
      <p:sp>
        <p:nvSpPr>
          <p:cNvPr id="12" name="Shape 9"/>
          <p:cNvSpPr/>
          <p:nvPr/>
        </p:nvSpPr>
        <p:spPr>
          <a:xfrm>
            <a:off x="288036" y="3429000"/>
            <a:ext cx="1828800" cy="566928"/>
          </a:xfrm>
          <a:prstGeom prst="rect">
            <a:avLst/>
          </a:prstGeom>
          <a:solidFill>
            <a:srgbClr val="FFFFFF"/>
          </a:solidFill>
          <a:ln w="9525">
            <a:solidFill>
              <a:srgbClr val="7F7F7F"/>
            </a:solidFill>
            <a:prstDash val="solid"/>
          </a:ln>
        </p:spPr>
      </p:sp>
      <p:sp>
        <p:nvSpPr>
          <p:cNvPr id="13" name="Text 10"/>
          <p:cNvSpPr txBox="1"/>
          <p:nvPr/>
        </p:nvSpPr>
        <p:spPr>
          <a:xfrm>
            <a:off x="379476" y="3429000"/>
            <a:ext cx="1645920" cy="566928"/>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【指標】</a:t>
            </a:r>
            <a:endParaRPr lang="en-US" sz="1400" dirty="0"/>
          </a:p>
        </p:txBody>
      </p:sp>
      <p:sp>
        <p:nvSpPr>
          <p:cNvPr id="14" name="Shape 11"/>
          <p:cNvSpPr/>
          <p:nvPr/>
        </p:nvSpPr>
        <p:spPr>
          <a:xfrm>
            <a:off x="3108960" y="2423160"/>
            <a:ext cx="2011680" cy="566928"/>
          </a:xfrm>
          <a:prstGeom prst="rect">
            <a:avLst/>
          </a:prstGeom>
          <a:solidFill>
            <a:srgbClr val="FFFFFF"/>
          </a:solidFill>
          <a:ln w="22225">
            <a:solidFill>
              <a:srgbClr val="000F78"/>
            </a:solidFill>
            <a:prstDash val="solid"/>
          </a:ln>
        </p:spPr>
      </p:sp>
      <p:sp>
        <p:nvSpPr>
          <p:cNvPr id="15" name="Text 12"/>
          <p:cNvSpPr txBox="1"/>
          <p:nvPr/>
        </p:nvSpPr>
        <p:spPr>
          <a:xfrm>
            <a:off x="3200400" y="2423160"/>
            <a:ext cx="1828800" cy="566928"/>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利用者数</a:t>
            </a:r>
            <a:endParaRPr lang="en-US" sz="1400" dirty="0"/>
          </a:p>
        </p:txBody>
      </p:sp>
      <p:sp>
        <p:nvSpPr>
          <p:cNvPr id="16" name="Shape 13"/>
          <p:cNvSpPr/>
          <p:nvPr/>
        </p:nvSpPr>
        <p:spPr>
          <a:xfrm>
            <a:off x="3108960" y="4434840"/>
            <a:ext cx="2011680" cy="566928"/>
          </a:xfrm>
          <a:prstGeom prst="rect">
            <a:avLst/>
          </a:prstGeom>
          <a:solidFill>
            <a:srgbClr val="FFFFFF"/>
          </a:solidFill>
          <a:ln w="9525">
            <a:solidFill>
              <a:srgbClr val="7F7F7F"/>
            </a:solidFill>
            <a:prstDash val="solid"/>
          </a:ln>
        </p:spPr>
      </p:sp>
      <p:sp>
        <p:nvSpPr>
          <p:cNvPr id="17" name="Text 14"/>
          <p:cNvSpPr txBox="1"/>
          <p:nvPr/>
        </p:nvSpPr>
        <p:spPr>
          <a:xfrm>
            <a:off x="3200400" y="4434840"/>
            <a:ext cx="1828800" cy="566928"/>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単価</a:t>
            </a:r>
            <a:endParaRPr lang="en-US" sz="1400" dirty="0"/>
          </a:p>
        </p:txBody>
      </p:sp>
      <p:sp>
        <p:nvSpPr>
          <p:cNvPr id="18" name="Text 15"/>
          <p:cNvSpPr txBox="1"/>
          <p:nvPr/>
        </p:nvSpPr>
        <p:spPr>
          <a:xfrm>
            <a:off x="3886200" y="3611880"/>
            <a:ext cx="457200" cy="365760"/>
          </a:xfrm>
          <a:prstGeom prst="rect">
            <a:avLst/>
          </a:prstGeom>
          <a:noFill/>
          <a:ln/>
        </p:spPr>
        <p:txBody>
          <a:bodyPr wrap="square" lIns="0" tIns="0" rIns="0" bIns="0" rtlCol="0" anchor="t"/>
          <a:lstStyle/>
          <a:p>
            <a:pPr algn="ctr" indent="0" marL="0">
              <a:buNone/>
            </a:pPr>
            <a:r>
              <a:rPr lang="en-US" sz="1600" b="1" dirty="0">
                <a:solidFill>
                  <a:srgbClr val="595959"/>
                </a:solidFill>
                <a:latin typeface="Yu Gothic UI" pitchFamily="34" charset="0"/>
                <a:ea typeface="Yu Gothic UI" pitchFamily="34" charset="-122"/>
                <a:cs typeface="Yu Gothic UI" pitchFamily="34" charset="-120"/>
              </a:rPr>
              <a:t>×</a:t>
            </a:r>
            <a:endParaRPr lang="en-US" sz="1600" dirty="0"/>
          </a:p>
        </p:txBody>
      </p:sp>
      <p:sp>
        <p:nvSpPr>
          <p:cNvPr id="19" name="Shape 16"/>
          <p:cNvSpPr/>
          <p:nvPr/>
        </p:nvSpPr>
        <p:spPr>
          <a:xfrm>
            <a:off x="6309360" y="1828800"/>
            <a:ext cx="3291840" cy="566928"/>
          </a:xfrm>
          <a:prstGeom prst="rect">
            <a:avLst/>
          </a:prstGeom>
          <a:solidFill>
            <a:srgbClr val="FFFFFF"/>
          </a:solidFill>
          <a:ln w="22225">
            <a:solidFill>
              <a:srgbClr val="000F78"/>
            </a:solidFill>
            <a:prstDash val="solid"/>
          </a:ln>
        </p:spPr>
      </p:sp>
      <p:sp>
        <p:nvSpPr>
          <p:cNvPr id="20" name="Text 17"/>
          <p:cNvSpPr txBox="1"/>
          <p:nvPr/>
        </p:nvSpPr>
        <p:spPr>
          <a:xfrm>
            <a:off x="6400800" y="1828800"/>
            <a:ext cx="3108960" cy="566928"/>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【要因X】（寄与【数値】%）</a:t>
            </a:r>
            <a:endParaRPr lang="en-US" sz="1400" dirty="0"/>
          </a:p>
        </p:txBody>
      </p:sp>
      <p:sp>
        <p:nvSpPr>
          <p:cNvPr id="21" name="Shape 18"/>
          <p:cNvSpPr/>
          <p:nvPr/>
        </p:nvSpPr>
        <p:spPr>
          <a:xfrm>
            <a:off x="6309360" y="2697480"/>
            <a:ext cx="3291840" cy="566928"/>
          </a:xfrm>
          <a:prstGeom prst="rect">
            <a:avLst/>
          </a:prstGeom>
          <a:solidFill>
            <a:srgbClr val="FFFFFF"/>
          </a:solidFill>
          <a:ln w="9525">
            <a:solidFill>
              <a:srgbClr val="7F7F7F"/>
            </a:solidFill>
            <a:prstDash val="solid"/>
          </a:ln>
        </p:spPr>
      </p:sp>
      <p:sp>
        <p:nvSpPr>
          <p:cNvPr id="22" name="Text 19"/>
          <p:cNvSpPr txBox="1"/>
          <p:nvPr/>
        </p:nvSpPr>
        <p:spPr>
          <a:xfrm>
            <a:off x="6400800" y="2697480"/>
            <a:ext cx="3108960" cy="566928"/>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【要因Y】（寄与【数値】%）</a:t>
            </a:r>
            <a:endParaRPr lang="en-US" sz="1400" dirty="0"/>
          </a:p>
        </p:txBody>
      </p:sp>
      <p:sp>
        <p:nvSpPr>
          <p:cNvPr id="23" name="Shape 20"/>
          <p:cNvSpPr/>
          <p:nvPr/>
        </p:nvSpPr>
        <p:spPr>
          <a:xfrm>
            <a:off x="6309360" y="4114800"/>
            <a:ext cx="3291840" cy="566928"/>
          </a:xfrm>
          <a:prstGeom prst="rect">
            <a:avLst/>
          </a:prstGeom>
          <a:solidFill>
            <a:srgbClr val="FFFFFF"/>
          </a:solidFill>
          <a:ln w="9525">
            <a:solidFill>
              <a:srgbClr val="7F7F7F"/>
            </a:solidFill>
            <a:prstDash val="solid"/>
          </a:ln>
        </p:spPr>
      </p:sp>
      <p:sp>
        <p:nvSpPr>
          <p:cNvPr id="24" name="Text 21"/>
          <p:cNvSpPr txBox="1"/>
          <p:nvPr/>
        </p:nvSpPr>
        <p:spPr>
          <a:xfrm>
            <a:off x="6400800" y="4114800"/>
            <a:ext cx="3108960" cy="566928"/>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【要因Z】</a:t>
            </a:r>
            <a:endParaRPr lang="en-US" sz="1400" dirty="0"/>
          </a:p>
        </p:txBody>
      </p:sp>
      <p:sp>
        <p:nvSpPr>
          <p:cNvPr id="25" name="Shape 22"/>
          <p:cNvSpPr/>
          <p:nvPr/>
        </p:nvSpPr>
        <p:spPr>
          <a:xfrm>
            <a:off x="6309360" y="4983480"/>
            <a:ext cx="3291840" cy="566928"/>
          </a:xfrm>
          <a:prstGeom prst="rect">
            <a:avLst/>
          </a:prstGeom>
          <a:solidFill>
            <a:srgbClr val="FFFFFF"/>
          </a:solidFill>
          <a:ln w="9525">
            <a:solidFill>
              <a:srgbClr val="7F7F7F"/>
            </a:solidFill>
            <a:prstDash val="solid"/>
          </a:ln>
        </p:spPr>
      </p:sp>
      <p:sp>
        <p:nvSpPr>
          <p:cNvPr id="26" name="Text 23"/>
          <p:cNvSpPr txBox="1"/>
          <p:nvPr/>
        </p:nvSpPr>
        <p:spPr>
          <a:xfrm>
            <a:off x="6400800" y="4983480"/>
            <a:ext cx="3108960" cy="566928"/>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【要因W】</a:t>
            </a:r>
            <a:endParaRPr lang="en-US" sz="1400" dirty="0"/>
          </a:p>
        </p:txBody>
      </p:sp>
      <p:sp>
        <p:nvSpPr>
          <p:cNvPr id="27" name="Shape 24"/>
          <p:cNvSpPr/>
          <p:nvPr/>
        </p:nvSpPr>
        <p:spPr>
          <a:xfrm>
            <a:off x="2116836" y="3712464"/>
            <a:ext cx="496062" cy="0"/>
          </a:xfrm>
          <a:prstGeom prst="line">
            <a:avLst/>
          </a:prstGeom>
          <a:noFill/>
          <a:ln w="12700">
            <a:solidFill>
              <a:srgbClr val="000F78"/>
            </a:solidFill>
            <a:prstDash val="solid"/>
          </a:ln>
        </p:spPr>
      </p:sp>
      <p:sp>
        <p:nvSpPr>
          <p:cNvPr id="28" name="Shape 25"/>
          <p:cNvSpPr/>
          <p:nvPr/>
        </p:nvSpPr>
        <p:spPr>
          <a:xfrm>
            <a:off x="2612898" y="2706624"/>
            <a:ext cx="0" cy="1005840"/>
          </a:xfrm>
          <a:prstGeom prst="line">
            <a:avLst/>
          </a:prstGeom>
          <a:noFill/>
          <a:ln w="12700">
            <a:solidFill>
              <a:srgbClr val="000F78"/>
            </a:solidFill>
            <a:prstDash val="solid"/>
          </a:ln>
        </p:spPr>
      </p:sp>
      <p:sp>
        <p:nvSpPr>
          <p:cNvPr id="29" name="Shape 26"/>
          <p:cNvSpPr/>
          <p:nvPr/>
        </p:nvSpPr>
        <p:spPr>
          <a:xfrm>
            <a:off x="2612898" y="2706624"/>
            <a:ext cx="496062" cy="0"/>
          </a:xfrm>
          <a:prstGeom prst="line">
            <a:avLst/>
          </a:prstGeom>
          <a:noFill/>
          <a:ln w="12700">
            <a:solidFill>
              <a:srgbClr val="000F78"/>
            </a:solidFill>
            <a:prstDash val="solid"/>
          </a:ln>
        </p:spPr>
      </p:sp>
      <p:sp>
        <p:nvSpPr>
          <p:cNvPr id="30" name="Shape 27"/>
          <p:cNvSpPr/>
          <p:nvPr/>
        </p:nvSpPr>
        <p:spPr>
          <a:xfrm>
            <a:off x="2116836" y="3712464"/>
            <a:ext cx="496062" cy="0"/>
          </a:xfrm>
          <a:prstGeom prst="line">
            <a:avLst/>
          </a:prstGeom>
          <a:noFill/>
          <a:ln w="12700">
            <a:solidFill>
              <a:srgbClr val="BFBFBF"/>
            </a:solidFill>
            <a:prstDash val="solid"/>
          </a:ln>
        </p:spPr>
      </p:sp>
      <p:sp>
        <p:nvSpPr>
          <p:cNvPr id="31" name="Shape 28"/>
          <p:cNvSpPr/>
          <p:nvPr/>
        </p:nvSpPr>
        <p:spPr>
          <a:xfrm>
            <a:off x="2612898" y="3712464"/>
            <a:ext cx="0" cy="1005840"/>
          </a:xfrm>
          <a:prstGeom prst="line">
            <a:avLst/>
          </a:prstGeom>
          <a:noFill/>
          <a:ln w="12700">
            <a:solidFill>
              <a:srgbClr val="BFBFBF"/>
            </a:solidFill>
            <a:prstDash val="solid"/>
          </a:ln>
        </p:spPr>
      </p:sp>
      <p:sp>
        <p:nvSpPr>
          <p:cNvPr id="32" name="Shape 29"/>
          <p:cNvSpPr/>
          <p:nvPr/>
        </p:nvSpPr>
        <p:spPr>
          <a:xfrm>
            <a:off x="2612898" y="4718304"/>
            <a:ext cx="496062" cy="0"/>
          </a:xfrm>
          <a:prstGeom prst="line">
            <a:avLst/>
          </a:prstGeom>
          <a:noFill/>
          <a:ln w="12700">
            <a:solidFill>
              <a:srgbClr val="BFBFBF"/>
            </a:solidFill>
            <a:prstDash val="solid"/>
          </a:ln>
        </p:spPr>
      </p:sp>
      <p:sp>
        <p:nvSpPr>
          <p:cNvPr id="33" name="Shape 30"/>
          <p:cNvSpPr/>
          <p:nvPr/>
        </p:nvSpPr>
        <p:spPr>
          <a:xfrm>
            <a:off x="5120640" y="2706624"/>
            <a:ext cx="594360" cy="0"/>
          </a:xfrm>
          <a:prstGeom prst="line">
            <a:avLst/>
          </a:prstGeom>
          <a:noFill/>
          <a:ln w="12700">
            <a:solidFill>
              <a:srgbClr val="000F78"/>
            </a:solidFill>
            <a:prstDash val="solid"/>
          </a:ln>
        </p:spPr>
      </p:sp>
      <p:sp>
        <p:nvSpPr>
          <p:cNvPr id="34" name="Shape 31"/>
          <p:cNvSpPr/>
          <p:nvPr/>
        </p:nvSpPr>
        <p:spPr>
          <a:xfrm>
            <a:off x="5715000" y="2112264"/>
            <a:ext cx="0" cy="594360"/>
          </a:xfrm>
          <a:prstGeom prst="line">
            <a:avLst/>
          </a:prstGeom>
          <a:noFill/>
          <a:ln w="12700">
            <a:solidFill>
              <a:srgbClr val="000F78"/>
            </a:solidFill>
            <a:prstDash val="solid"/>
          </a:ln>
        </p:spPr>
      </p:sp>
      <p:sp>
        <p:nvSpPr>
          <p:cNvPr id="35" name="Shape 32"/>
          <p:cNvSpPr/>
          <p:nvPr/>
        </p:nvSpPr>
        <p:spPr>
          <a:xfrm>
            <a:off x="5715000" y="2112264"/>
            <a:ext cx="594360" cy="0"/>
          </a:xfrm>
          <a:prstGeom prst="line">
            <a:avLst/>
          </a:prstGeom>
          <a:noFill/>
          <a:ln w="12700">
            <a:solidFill>
              <a:srgbClr val="000F78"/>
            </a:solidFill>
            <a:prstDash val="solid"/>
          </a:ln>
        </p:spPr>
      </p:sp>
      <p:sp>
        <p:nvSpPr>
          <p:cNvPr id="36" name="Shape 33"/>
          <p:cNvSpPr/>
          <p:nvPr/>
        </p:nvSpPr>
        <p:spPr>
          <a:xfrm>
            <a:off x="5120640" y="2706624"/>
            <a:ext cx="594360" cy="0"/>
          </a:xfrm>
          <a:prstGeom prst="line">
            <a:avLst/>
          </a:prstGeom>
          <a:noFill/>
          <a:ln w="12700">
            <a:solidFill>
              <a:srgbClr val="BFBFBF"/>
            </a:solidFill>
            <a:prstDash val="solid"/>
          </a:ln>
        </p:spPr>
      </p:sp>
      <p:sp>
        <p:nvSpPr>
          <p:cNvPr id="37" name="Shape 34"/>
          <p:cNvSpPr/>
          <p:nvPr/>
        </p:nvSpPr>
        <p:spPr>
          <a:xfrm>
            <a:off x="5715000" y="2706624"/>
            <a:ext cx="0" cy="274320"/>
          </a:xfrm>
          <a:prstGeom prst="line">
            <a:avLst/>
          </a:prstGeom>
          <a:noFill/>
          <a:ln w="12700">
            <a:solidFill>
              <a:srgbClr val="BFBFBF"/>
            </a:solidFill>
            <a:prstDash val="solid"/>
          </a:ln>
        </p:spPr>
      </p:sp>
      <p:sp>
        <p:nvSpPr>
          <p:cNvPr id="38" name="Shape 35"/>
          <p:cNvSpPr/>
          <p:nvPr/>
        </p:nvSpPr>
        <p:spPr>
          <a:xfrm>
            <a:off x="5715000" y="2980944"/>
            <a:ext cx="594360" cy="0"/>
          </a:xfrm>
          <a:prstGeom prst="line">
            <a:avLst/>
          </a:prstGeom>
          <a:noFill/>
          <a:ln w="12700">
            <a:solidFill>
              <a:srgbClr val="BFBFBF"/>
            </a:solidFill>
            <a:prstDash val="solid"/>
          </a:ln>
        </p:spPr>
      </p:sp>
      <p:sp>
        <p:nvSpPr>
          <p:cNvPr id="39" name="Shape 36"/>
          <p:cNvSpPr/>
          <p:nvPr/>
        </p:nvSpPr>
        <p:spPr>
          <a:xfrm>
            <a:off x="5120640" y="4718304"/>
            <a:ext cx="594360" cy="0"/>
          </a:xfrm>
          <a:prstGeom prst="line">
            <a:avLst/>
          </a:prstGeom>
          <a:noFill/>
          <a:ln w="12700">
            <a:solidFill>
              <a:srgbClr val="BFBFBF"/>
            </a:solidFill>
            <a:prstDash val="solid"/>
          </a:ln>
        </p:spPr>
      </p:sp>
      <p:sp>
        <p:nvSpPr>
          <p:cNvPr id="40" name="Shape 37"/>
          <p:cNvSpPr/>
          <p:nvPr/>
        </p:nvSpPr>
        <p:spPr>
          <a:xfrm>
            <a:off x="5715000" y="4398264"/>
            <a:ext cx="0" cy="320040"/>
          </a:xfrm>
          <a:prstGeom prst="line">
            <a:avLst/>
          </a:prstGeom>
          <a:noFill/>
          <a:ln w="12700">
            <a:solidFill>
              <a:srgbClr val="BFBFBF"/>
            </a:solidFill>
            <a:prstDash val="solid"/>
          </a:ln>
        </p:spPr>
      </p:sp>
      <p:sp>
        <p:nvSpPr>
          <p:cNvPr id="41" name="Shape 38"/>
          <p:cNvSpPr/>
          <p:nvPr/>
        </p:nvSpPr>
        <p:spPr>
          <a:xfrm>
            <a:off x="5715000" y="4398264"/>
            <a:ext cx="594360" cy="0"/>
          </a:xfrm>
          <a:prstGeom prst="line">
            <a:avLst/>
          </a:prstGeom>
          <a:noFill/>
          <a:ln w="12700">
            <a:solidFill>
              <a:srgbClr val="BFBFBF"/>
            </a:solidFill>
            <a:prstDash val="solid"/>
          </a:ln>
        </p:spPr>
      </p:sp>
      <p:sp>
        <p:nvSpPr>
          <p:cNvPr id="42" name="Shape 39"/>
          <p:cNvSpPr/>
          <p:nvPr/>
        </p:nvSpPr>
        <p:spPr>
          <a:xfrm>
            <a:off x="5120640" y="4718304"/>
            <a:ext cx="594360" cy="0"/>
          </a:xfrm>
          <a:prstGeom prst="line">
            <a:avLst/>
          </a:prstGeom>
          <a:noFill/>
          <a:ln w="12700">
            <a:solidFill>
              <a:srgbClr val="BFBFBF"/>
            </a:solidFill>
            <a:prstDash val="solid"/>
          </a:ln>
        </p:spPr>
      </p:sp>
      <p:sp>
        <p:nvSpPr>
          <p:cNvPr id="43" name="Shape 40"/>
          <p:cNvSpPr/>
          <p:nvPr/>
        </p:nvSpPr>
        <p:spPr>
          <a:xfrm>
            <a:off x="5715000" y="4718304"/>
            <a:ext cx="0" cy="548640"/>
          </a:xfrm>
          <a:prstGeom prst="line">
            <a:avLst/>
          </a:prstGeom>
          <a:noFill/>
          <a:ln w="12700">
            <a:solidFill>
              <a:srgbClr val="BFBFBF"/>
            </a:solidFill>
            <a:prstDash val="solid"/>
          </a:ln>
        </p:spPr>
      </p:sp>
      <p:sp>
        <p:nvSpPr>
          <p:cNvPr id="44" name="Shape 41"/>
          <p:cNvSpPr/>
          <p:nvPr/>
        </p:nvSpPr>
        <p:spPr>
          <a:xfrm>
            <a:off x="5715000" y="5266944"/>
            <a:ext cx="594360" cy="0"/>
          </a:xfrm>
          <a:prstGeom prst="line">
            <a:avLst/>
          </a:prstGeom>
          <a:noFill/>
          <a:ln w="12700">
            <a:solidFill>
              <a:srgbClr val="BFBFBF"/>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6つの打ち手のうち、効果も実現性も高いのは【打ち手A】と【打ち手B】である。まずこの2つに資源を集中し、残りは中期の検討課題とする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打ち手の優先順位</a:t>
            </a:r>
            <a:pPr indent="0" marL="0">
              <a:buNone/>
            </a:pPr>
            <a:r>
              <a:rPr lang="en-US" sz="1100" dirty="0">
                <a:solidFill>
                  <a:srgbClr val="595959"/>
                </a:solidFill>
                <a:latin typeface="Yu Gothic UI" pitchFamily="34" charset="0"/>
                <a:ea typeface="Yu Gothic UI" pitchFamily="34" charset="-122"/>
                <a:cs typeface="Yu Gothic UI" pitchFamily="34" charset="-120"/>
              </a:rPr>
              <a:t>　（縦軸：効果、横軸：実現性）</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16</a:t>
            </a:r>
            <a:endParaRPr lang="en-US" sz="900" dirty="0"/>
          </a:p>
        </p:txBody>
      </p:sp>
      <p:sp>
        <p:nvSpPr>
          <p:cNvPr id="12" name="Shape 9"/>
          <p:cNvSpPr/>
          <p:nvPr/>
        </p:nvSpPr>
        <p:spPr>
          <a:xfrm>
            <a:off x="4585716" y="1965960"/>
            <a:ext cx="3383280" cy="1965960"/>
          </a:xfrm>
          <a:prstGeom prst="rect">
            <a:avLst/>
          </a:prstGeom>
          <a:solidFill>
            <a:srgbClr val="000F78">
              <a:alpha val="10000"/>
            </a:srgbClr>
          </a:solidFill>
          <a:ln/>
        </p:spPr>
      </p:sp>
      <p:sp>
        <p:nvSpPr>
          <p:cNvPr id="13" name="Shape 10"/>
          <p:cNvSpPr/>
          <p:nvPr/>
        </p:nvSpPr>
        <p:spPr>
          <a:xfrm>
            <a:off x="1202436" y="3931920"/>
            <a:ext cx="6766560" cy="0"/>
          </a:xfrm>
          <a:prstGeom prst="line">
            <a:avLst/>
          </a:prstGeom>
          <a:noFill/>
          <a:ln w="12700">
            <a:solidFill>
              <a:srgbClr val="7F7F7F"/>
            </a:solidFill>
            <a:prstDash val="solid"/>
          </a:ln>
        </p:spPr>
      </p:sp>
      <p:sp>
        <p:nvSpPr>
          <p:cNvPr id="14" name="Shape 11"/>
          <p:cNvSpPr/>
          <p:nvPr/>
        </p:nvSpPr>
        <p:spPr>
          <a:xfrm>
            <a:off x="4585716" y="1965960"/>
            <a:ext cx="0" cy="3931920"/>
          </a:xfrm>
          <a:prstGeom prst="line">
            <a:avLst/>
          </a:prstGeom>
          <a:noFill/>
          <a:ln w="12700">
            <a:solidFill>
              <a:srgbClr val="7F7F7F"/>
            </a:solidFill>
            <a:prstDash val="solid"/>
          </a:ln>
        </p:spPr>
      </p:sp>
      <p:sp>
        <p:nvSpPr>
          <p:cNvPr id="15" name="Text 12"/>
          <p:cNvSpPr txBox="1"/>
          <p:nvPr/>
        </p:nvSpPr>
        <p:spPr>
          <a:xfrm>
            <a:off x="288036" y="1965960"/>
            <a:ext cx="86868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効果 大</a:t>
            </a:r>
            <a:endParaRPr lang="en-US" sz="1400" dirty="0"/>
          </a:p>
        </p:txBody>
      </p:sp>
      <p:sp>
        <p:nvSpPr>
          <p:cNvPr id="16" name="Text 13"/>
          <p:cNvSpPr txBox="1"/>
          <p:nvPr/>
        </p:nvSpPr>
        <p:spPr>
          <a:xfrm>
            <a:off x="288036" y="5623560"/>
            <a:ext cx="86868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効果 小</a:t>
            </a:r>
            <a:endParaRPr lang="en-US" sz="1400" dirty="0"/>
          </a:p>
        </p:txBody>
      </p:sp>
      <p:sp>
        <p:nvSpPr>
          <p:cNvPr id="17" name="Text 14"/>
          <p:cNvSpPr txBox="1"/>
          <p:nvPr/>
        </p:nvSpPr>
        <p:spPr>
          <a:xfrm>
            <a:off x="1202436" y="5971032"/>
            <a:ext cx="13716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実現性 低</a:t>
            </a:r>
            <a:endParaRPr lang="en-US" sz="1400" dirty="0"/>
          </a:p>
        </p:txBody>
      </p:sp>
      <p:sp>
        <p:nvSpPr>
          <p:cNvPr id="18" name="Text 15"/>
          <p:cNvSpPr txBox="1"/>
          <p:nvPr/>
        </p:nvSpPr>
        <p:spPr>
          <a:xfrm>
            <a:off x="6597396" y="5971032"/>
            <a:ext cx="1371600" cy="27432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実現性 高</a:t>
            </a:r>
            <a:endParaRPr lang="en-US" sz="1400" dirty="0"/>
          </a:p>
        </p:txBody>
      </p:sp>
      <p:sp>
        <p:nvSpPr>
          <p:cNvPr id="19" name="Text 16"/>
          <p:cNvSpPr txBox="1"/>
          <p:nvPr/>
        </p:nvSpPr>
        <p:spPr>
          <a:xfrm>
            <a:off x="4722876" y="2057400"/>
            <a:ext cx="274320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最優先で着手</a:t>
            </a:r>
            <a:endParaRPr lang="en-US" sz="1400" dirty="0"/>
          </a:p>
        </p:txBody>
      </p:sp>
      <p:sp>
        <p:nvSpPr>
          <p:cNvPr id="20" name="Text 17"/>
          <p:cNvSpPr txBox="1"/>
          <p:nvPr/>
        </p:nvSpPr>
        <p:spPr>
          <a:xfrm>
            <a:off x="1339596" y="2057400"/>
            <a:ext cx="27432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中期で検討</a:t>
            </a:r>
            <a:endParaRPr lang="en-US" sz="1400" dirty="0"/>
          </a:p>
        </p:txBody>
      </p:sp>
      <p:sp>
        <p:nvSpPr>
          <p:cNvPr id="21" name="Shape 18"/>
          <p:cNvSpPr/>
          <p:nvPr/>
        </p:nvSpPr>
        <p:spPr>
          <a:xfrm>
            <a:off x="5957316" y="2606040"/>
            <a:ext cx="182880" cy="182880"/>
          </a:xfrm>
          <a:prstGeom prst="ellipse">
            <a:avLst/>
          </a:prstGeom>
          <a:solidFill>
            <a:srgbClr val="000F78"/>
          </a:solidFill>
          <a:ln/>
        </p:spPr>
      </p:sp>
      <p:sp>
        <p:nvSpPr>
          <p:cNvPr id="22" name="Text 19"/>
          <p:cNvSpPr txBox="1"/>
          <p:nvPr/>
        </p:nvSpPr>
        <p:spPr>
          <a:xfrm>
            <a:off x="6204204" y="2551176"/>
            <a:ext cx="146304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【打ち手A】</a:t>
            </a:r>
            <a:endParaRPr lang="en-US" sz="1400" dirty="0"/>
          </a:p>
        </p:txBody>
      </p:sp>
      <p:sp>
        <p:nvSpPr>
          <p:cNvPr id="23" name="Shape 20"/>
          <p:cNvSpPr/>
          <p:nvPr/>
        </p:nvSpPr>
        <p:spPr>
          <a:xfrm>
            <a:off x="5225796" y="3246120"/>
            <a:ext cx="182880" cy="182880"/>
          </a:xfrm>
          <a:prstGeom prst="ellipse">
            <a:avLst/>
          </a:prstGeom>
          <a:solidFill>
            <a:srgbClr val="000F78"/>
          </a:solidFill>
          <a:ln/>
        </p:spPr>
      </p:sp>
      <p:sp>
        <p:nvSpPr>
          <p:cNvPr id="24" name="Text 21"/>
          <p:cNvSpPr txBox="1"/>
          <p:nvPr/>
        </p:nvSpPr>
        <p:spPr>
          <a:xfrm>
            <a:off x="5472684" y="3191256"/>
            <a:ext cx="146304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【打ち手B】</a:t>
            </a:r>
            <a:endParaRPr lang="en-US" sz="1400" dirty="0"/>
          </a:p>
        </p:txBody>
      </p:sp>
      <p:sp>
        <p:nvSpPr>
          <p:cNvPr id="25" name="Shape 22"/>
          <p:cNvSpPr/>
          <p:nvPr/>
        </p:nvSpPr>
        <p:spPr>
          <a:xfrm>
            <a:off x="2299716" y="2788920"/>
            <a:ext cx="182880" cy="182880"/>
          </a:xfrm>
          <a:prstGeom prst="ellipse">
            <a:avLst/>
          </a:prstGeom>
          <a:solidFill>
            <a:srgbClr val="7F7F7F"/>
          </a:solidFill>
          <a:ln/>
        </p:spPr>
      </p:sp>
      <p:sp>
        <p:nvSpPr>
          <p:cNvPr id="26" name="Text 23"/>
          <p:cNvSpPr txBox="1"/>
          <p:nvPr/>
        </p:nvSpPr>
        <p:spPr>
          <a:xfrm>
            <a:off x="2546604" y="2734056"/>
            <a:ext cx="146304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【打ち手C】</a:t>
            </a:r>
            <a:endParaRPr lang="en-US" sz="1400" dirty="0"/>
          </a:p>
        </p:txBody>
      </p:sp>
      <p:sp>
        <p:nvSpPr>
          <p:cNvPr id="27" name="Shape 24"/>
          <p:cNvSpPr/>
          <p:nvPr/>
        </p:nvSpPr>
        <p:spPr>
          <a:xfrm>
            <a:off x="3031236" y="3429000"/>
            <a:ext cx="182880" cy="182880"/>
          </a:xfrm>
          <a:prstGeom prst="ellipse">
            <a:avLst/>
          </a:prstGeom>
          <a:solidFill>
            <a:srgbClr val="7F7F7F"/>
          </a:solidFill>
          <a:ln/>
        </p:spPr>
      </p:sp>
      <p:sp>
        <p:nvSpPr>
          <p:cNvPr id="28" name="Text 25"/>
          <p:cNvSpPr txBox="1"/>
          <p:nvPr/>
        </p:nvSpPr>
        <p:spPr>
          <a:xfrm>
            <a:off x="3278124" y="3374136"/>
            <a:ext cx="146304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【打ち手D】</a:t>
            </a:r>
            <a:endParaRPr lang="en-US" sz="1400" dirty="0"/>
          </a:p>
        </p:txBody>
      </p:sp>
      <p:sp>
        <p:nvSpPr>
          <p:cNvPr id="29" name="Shape 26"/>
          <p:cNvSpPr/>
          <p:nvPr/>
        </p:nvSpPr>
        <p:spPr>
          <a:xfrm>
            <a:off x="5774436" y="4709160"/>
            <a:ext cx="182880" cy="182880"/>
          </a:xfrm>
          <a:prstGeom prst="ellipse">
            <a:avLst/>
          </a:prstGeom>
          <a:solidFill>
            <a:srgbClr val="7F7F7F"/>
          </a:solidFill>
          <a:ln/>
        </p:spPr>
      </p:sp>
      <p:sp>
        <p:nvSpPr>
          <p:cNvPr id="30" name="Text 27"/>
          <p:cNvSpPr txBox="1"/>
          <p:nvPr/>
        </p:nvSpPr>
        <p:spPr>
          <a:xfrm>
            <a:off x="6021324" y="4654296"/>
            <a:ext cx="146304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【打ち手E】</a:t>
            </a:r>
            <a:endParaRPr lang="en-US" sz="1400" dirty="0"/>
          </a:p>
        </p:txBody>
      </p:sp>
      <p:sp>
        <p:nvSpPr>
          <p:cNvPr id="31" name="Shape 28"/>
          <p:cNvSpPr/>
          <p:nvPr/>
        </p:nvSpPr>
        <p:spPr>
          <a:xfrm>
            <a:off x="2116836" y="4983480"/>
            <a:ext cx="182880" cy="182880"/>
          </a:xfrm>
          <a:prstGeom prst="ellipse">
            <a:avLst/>
          </a:prstGeom>
          <a:solidFill>
            <a:srgbClr val="7F7F7F"/>
          </a:solidFill>
          <a:ln/>
        </p:spPr>
      </p:sp>
      <p:sp>
        <p:nvSpPr>
          <p:cNvPr id="32" name="Text 29"/>
          <p:cNvSpPr txBox="1"/>
          <p:nvPr/>
        </p:nvSpPr>
        <p:spPr>
          <a:xfrm>
            <a:off x="2363724" y="4928616"/>
            <a:ext cx="146304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【打ち手F】</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4つの選択肢を4基準で評価すると、【案B】が効果・費用・実現性で最も高い。リスク面の弱点は【対策】で補えるため、【案B】を推奨する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選択肢の評価</a:t>
            </a:r>
            <a:pPr indent="0" marL="0">
              <a:buNone/>
            </a:pPr>
            <a:r>
              <a:rPr lang="en-US" sz="1100" dirty="0">
                <a:solidFill>
                  <a:srgbClr val="595959"/>
                </a:solidFill>
                <a:latin typeface="Yu Gothic UI" pitchFamily="34" charset="0"/>
                <a:ea typeface="Yu Gothic UI" pitchFamily="34" charset="-122"/>
                <a:cs typeface="Yu Gothic UI" pitchFamily="34" charset="-120"/>
              </a:rPr>
              <a:t>　（●高　◑中　○低）</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2011680"/>
                <a:gridCol w="1828800"/>
                <a:gridCol w="2011680"/>
                <a:gridCol w="1828800"/>
                <a:gridCol w="1648663"/>
              </a:tblGrid>
              <a:tr h="502920">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評価基準</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【案A】</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【案B】（推奨）</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【案C】</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【案D】</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8686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効果</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費用</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実現性</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リスク</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
        <p:nvSpPr>
          <p:cNvPr id="13" name="Shape 9"/>
          <p:cNvSpPr/>
          <p:nvPr/>
        </p:nvSpPr>
        <p:spPr>
          <a:xfrm>
            <a:off x="4128516" y="1874520"/>
            <a:ext cx="2011680" cy="4023360"/>
          </a:xfrm>
          <a:prstGeom prst="rect">
            <a:avLst/>
          </a:prstGeom>
          <a:ln w="19050">
            <a:solidFill>
              <a:srgbClr val="000F78"/>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【事例地域】では【取組】により【期間】で【指標】を【数値A】改善した。成功の鍵は【要因】であり、【対象】でも同じ条件を整えれば再現できる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事例：【事例名】</a:t>
            </a:r>
            <a:pPr indent="0" marL="0">
              <a:buNone/>
            </a:pPr>
            <a:r>
              <a:rPr lang="en-US" sz="1100" dirty="0">
                <a:solidFill>
                  <a:srgbClr val="595959"/>
                </a:solidFill>
                <a:latin typeface="Yu Gothic UI" pitchFamily="34" charset="0"/>
                <a:ea typeface="Yu Gothic UI" pitchFamily="34" charset="-122"/>
                <a:cs typeface="Yu Gothic UI" pitchFamily="34" charset="-120"/>
              </a:rPr>
              <a:t>　（【事例地域】、【年度】〜）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18</a:t>
            </a:r>
            <a:endParaRPr lang="en-US" sz="900" dirty="0"/>
          </a:p>
        </p:txBody>
      </p:sp>
      <p:sp>
        <p:nvSpPr>
          <p:cNvPr id="12" name="Text 9"/>
          <p:cNvSpPr txBox="1"/>
          <p:nvPr/>
        </p:nvSpPr>
        <p:spPr>
          <a:xfrm>
            <a:off x="288036" y="1965960"/>
            <a:ext cx="118872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背景</a:t>
            </a:r>
            <a:endParaRPr lang="en-US" sz="1400" dirty="0"/>
          </a:p>
        </p:txBody>
      </p:sp>
      <p:sp>
        <p:nvSpPr>
          <p:cNvPr id="13" name="Text 10"/>
          <p:cNvSpPr txBox="1"/>
          <p:nvPr/>
        </p:nvSpPr>
        <p:spPr>
          <a:xfrm>
            <a:off x="1568196" y="1965960"/>
            <a:ext cx="4114800"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【背景】により【課題】が深刻化</a:t>
            </a:r>
            <a:endParaRPr lang="en-US" sz="1400" dirty="0"/>
          </a:p>
        </p:txBody>
      </p:sp>
      <p:sp>
        <p:nvSpPr>
          <p:cNvPr id="14" name="Shape 11"/>
          <p:cNvSpPr/>
          <p:nvPr/>
        </p:nvSpPr>
        <p:spPr>
          <a:xfrm>
            <a:off x="288036" y="2743200"/>
            <a:ext cx="5394960" cy="0"/>
          </a:xfrm>
          <a:prstGeom prst="line">
            <a:avLst/>
          </a:prstGeom>
          <a:noFill/>
          <a:ln w="9525">
            <a:solidFill>
              <a:srgbClr val="E7E6E6"/>
            </a:solidFill>
            <a:prstDash val="solid"/>
          </a:ln>
        </p:spPr>
      </p:sp>
      <p:sp>
        <p:nvSpPr>
          <p:cNvPr id="15" name="Text 12"/>
          <p:cNvSpPr txBox="1"/>
          <p:nvPr/>
        </p:nvSpPr>
        <p:spPr>
          <a:xfrm>
            <a:off x="288036" y="2926080"/>
            <a:ext cx="118872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取組</a:t>
            </a:r>
            <a:endParaRPr lang="en-US" sz="1400" dirty="0"/>
          </a:p>
        </p:txBody>
      </p:sp>
      <p:sp>
        <p:nvSpPr>
          <p:cNvPr id="16" name="Text 13"/>
          <p:cNvSpPr txBox="1"/>
          <p:nvPr/>
        </p:nvSpPr>
        <p:spPr>
          <a:xfrm>
            <a:off x="1568196" y="2926080"/>
            <a:ext cx="4114800"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【取組1】と【取組2】を同時に実施</a:t>
            </a:r>
            <a:endParaRPr lang="en-US" sz="1400" dirty="0"/>
          </a:p>
        </p:txBody>
      </p:sp>
      <p:sp>
        <p:nvSpPr>
          <p:cNvPr id="17" name="Shape 14"/>
          <p:cNvSpPr/>
          <p:nvPr/>
        </p:nvSpPr>
        <p:spPr>
          <a:xfrm>
            <a:off x="288036" y="3703320"/>
            <a:ext cx="5394960" cy="0"/>
          </a:xfrm>
          <a:prstGeom prst="line">
            <a:avLst/>
          </a:prstGeom>
          <a:noFill/>
          <a:ln w="9525">
            <a:solidFill>
              <a:srgbClr val="E7E6E6"/>
            </a:solidFill>
            <a:prstDash val="solid"/>
          </a:ln>
        </p:spPr>
      </p:sp>
      <p:sp>
        <p:nvSpPr>
          <p:cNvPr id="18" name="Text 15"/>
          <p:cNvSpPr txBox="1"/>
          <p:nvPr/>
        </p:nvSpPr>
        <p:spPr>
          <a:xfrm>
            <a:off x="288036" y="3886200"/>
            <a:ext cx="118872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体制</a:t>
            </a:r>
            <a:endParaRPr lang="en-US" sz="1400" dirty="0"/>
          </a:p>
        </p:txBody>
      </p:sp>
      <p:sp>
        <p:nvSpPr>
          <p:cNvPr id="19" name="Text 16"/>
          <p:cNvSpPr txBox="1"/>
          <p:nvPr/>
        </p:nvSpPr>
        <p:spPr>
          <a:xfrm>
            <a:off x="1568196" y="3886200"/>
            <a:ext cx="4114800"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【主体A】が主導し【主体B】が協力</a:t>
            </a:r>
            <a:endParaRPr lang="en-US" sz="1400" dirty="0"/>
          </a:p>
        </p:txBody>
      </p:sp>
      <p:sp>
        <p:nvSpPr>
          <p:cNvPr id="20" name="Shape 17"/>
          <p:cNvSpPr/>
          <p:nvPr/>
        </p:nvSpPr>
        <p:spPr>
          <a:xfrm>
            <a:off x="288036" y="4663440"/>
            <a:ext cx="5394960" cy="0"/>
          </a:xfrm>
          <a:prstGeom prst="line">
            <a:avLst/>
          </a:prstGeom>
          <a:noFill/>
          <a:ln w="9525">
            <a:solidFill>
              <a:srgbClr val="E7E6E6"/>
            </a:solidFill>
            <a:prstDash val="solid"/>
          </a:ln>
        </p:spPr>
      </p:sp>
      <p:sp>
        <p:nvSpPr>
          <p:cNvPr id="21" name="Text 18"/>
          <p:cNvSpPr txBox="1"/>
          <p:nvPr/>
        </p:nvSpPr>
        <p:spPr>
          <a:xfrm>
            <a:off x="288036" y="4846320"/>
            <a:ext cx="118872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成功の鍵</a:t>
            </a:r>
            <a:endParaRPr lang="en-US" sz="1400" dirty="0"/>
          </a:p>
        </p:txBody>
      </p:sp>
      <p:sp>
        <p:nvSpPr>
          <p:cNvPr id="22" name="Text 19"/>
          <p:cNvSpPr txBox="1"/>
          <p:nvPr/>
        </p:nvSpPr>
        <p:spPr>
          <a:xfrm>
            <a:off x="1568196" y="4846320"/>
            <a:ext cx="4114800"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【要因】を初期に整えたこと</a:t>
            </a:r>
            <a:endParaRPr lang="en-US" sz="1400" dirty="0"/>
          </a:p>
        </p:txBody>
      </p:sp>
      <p:sp>
        <p:nvSpPr>
          <p:cNvPr id="23" name="Shape 20"/>
          <p:cNvSpPr/>
          <p:nvPr/>
        </p:nvSpPr>
        <p:spPr>
          <a:xfrm>
            <a:off x="288036" y="5623560"/>
            <a:ext cx="5394960" cy="0"/>
          </a:xfrm>
          <a:prstGeom prst="line">
            <a:avLst/>
          </a:prstGeom>
          <a:noFill/>
          <a:ln w="9525">
            <a:solidFill>
              <a:srgbClr val="E7E6E6"/>
            </a:solidFill>
            <a:prstDash val="solid"/>
          </a:ln>
        </p:spPr>
      </p:sp>
      <p:sp>
        <p:nvSpPr>
          <p:cNvPr id="24" name="Text 21"/>
          <p:cNvSpPr txBox="1"/>
          <p:nvPr/>
        </p:nvSpPr>
        <p:spPr>
          <a:xfrm>
            <a:off x="6140196" y="1965960"/>
            <a:ext cx="347746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成果</a:t>
            </a:r>
            <a:endParaRPr lang="en-US" sz="1400" dirty="0"/>
          </a:p>
        </p:txBody>
      </p:sp>
      <p:sp>
        <p:nvSpPr>
          <p:cNvPr id="25" name="Shape 22"/>
          <p:cNvSpPr/>
          <p:nvPr/>
        </p:nvSpPr>
        <p:spPr>
          <a:xfrm>
            <a:off x="6140196" y="2286000"/>
            <a:ext cx="3477463" cy="0"/>
          </a:xfrm>
          <a:prstGeom prst="line">
            <a:avLst/>
          </a:prstGeom>
          <a:noFill/>
          <a:ln w="6350">
            <a:solidFill>
              <a:srgbClr val="BFBFBF"/>
            </a:solidFill>
            <a:prstDash val="solid"/>
          </a:ln>
        </p:spPr>
      </p:sp>
      <p:sp>
        <p:nvSpPr>
          <p:cNvPr id="26" name="Text 23"/>
          <p:cNvSpPr txBox="1"/>
          <p:nvPr/>
        </p:nvSpPr>
        <p:spPr>
          <a:xfrm>
            <a:off x="6140196" y="2514600"/>
            <a:ext cx="347746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【指標】</a:t>
            </a:r>
            <a:endParaRPr lang="en-US" sz="1400" dirty="0"/>
          </a:p>
        </p:txBody>
      </p:sp>
      <p:sp>
        <p:nvSpPr>
          <p:cNvPr id="27" name="Text 24"/>
          <p:cNvSpPr txBox="1"/>
          <p:nvPr/>
        </p:nvSpPr>
        <p:spPr>
          <a:xfrm>
            <a:off x="6140196" y="2834640"/>
            <a:ext cx="3477463" cy="731520"/>
          </a:xfrm>
          <a:prstGeom prst="rect">
            <a:avLst/>
          </a:prstGeom>
          <a:noFill/>
          <a:ln/>
        </p:spPr>
        <p:txBody>
          <a:bodyPr wrap="square" lIns="0" tIns="0" rIns="0" bIns="0" rtlCol="0" anchor="t"/>
          <a:lstStyle/>
          <a:p>
            <a:pPr indent="0" marL="0">
              <a:buNone/>
            </a:pPr>
            <a:r>
              <a:rPr lang="en-US" sz="3600" b="1" dirty="0">
                <a:solidFill>
                  <a:srgbClr val="000F78"/>
                </a:solidFill>
                <a:latin typeface="Yu Gothic UI" pitchFamily="34" charset="0"/>
                <a:ea typeface="Yu Gothic UI" pitchFamily="34" charset="-122"/>
                <a:cs typeface="Yu Gothic UI" pitchFamily="34" charset="-120"/>
              </a:rPr>
              <a:t>＋【数値A】%</a:t>
            </a:r>
            <a:endParaRPr lang="en-US" sz="3600" dirty="0"/>
          </a:p>
        </p:txBody>
      </p:sp>
      <p:sp>
        <p:nvSpPr>
          <p:cNvPr id="28" name="Text 25"/>
          <p:cNvSpPr txBox="1"/>
          <p:nvPr/>
        </p:nvSpPr>
        <p:spPr>
          <a:xfrm>
            <a:off x="6140196" y="3611880"/>
            <a:ext cx="347746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【期間】での改善幅</a:t>
            </a:r>
            <a:endParaRPr lang="en-US" sz="1400" dirty="0"/>
          </a:p>
        </p:txBody>
      </p:sp>
      <p:sp>
        <p:nvSpPr>
          <p:cNvPr id="29" name="Text 26"/>
          <p:cNvSpPr txBox="1"/>
          <p:nvPr/>
        </p:nvSpPr>
        <p:spPr>
          <a:xfrm>
            <a:off x="6140196" y="4343400"/>
            <a:ext cx="347746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【副次的な成果】</a:t>
            </a:r>
            <a:endParaRPr lang="en-US" sz="1400" dirty="0"/>
          </a:p>
        </p:txBody>
      </p:sp>
      <p:sp>
        <p:nvSpPr>
          <p:cNvPr id="30" name="Text 27"/>
          <p:cNvSpPr txBox="1"/>
          <p:nvPr/>
        </p:nvSpPr>
        <p:spPr>
          <a:xfrm>
            <a:off x="6140196" y="4663440"/>
            <a:ext cx="3477463" cy="548640"/>
          </a:xfrm>
          <a:prstGeom prst="rect">
            <a:avLst/>
          </a:prstGeom>
          <a:noFill/>
          <a:ln/>
        </p:spPr>
        <p:txBody>
          <a:bodyPr wrap="square" lIns="0" tIns="0" rIns="0" bIns="0" rtlCol="0" anchor="t"/>
          <a:lstStyle/>
          <a:p>
            <a:pPr indent="0" marL="0">
              <a:buNone/>
            </a:pPr>
            <a:r>
              <a:rPr lang="en-US" sz="2800" b="1" dirty="0">
                <a:solidFill>
                  <a:srgbClr val="000000"/>
                </a:solidFill>
                <a:latin typeface="Yu Gothic UI" pitchFamily="34" charset="0"/>
                <a:ea typeface="Yu Gothic UI" pitchFamily="34" charset="-122"/>
                <a:cs typeface="Yu Gothic UI" pitchFamily="34" charset="-120"/>
              </a:rPr>
              <a:t>【数値B】</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利用者の【数値A】割が【サービス】の継続を望んでおり、特に【属性】では【数値B】%に達する。継続の是非より、維持の方法を議論すべき段階にある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【サービス】を継続すべきと思うか</a:t>
            </a:r>
            <a:pPr indent="0" marL="0">
              <a:buNone/>
            </a:pPr>
            <a:r>
              <a:rPr lang="en-US" sz="1100" dirty="0">
                <a:solidFill>
                  <a:srgbClr val="595959"/>
                </a:solidFill>
                <a:latin typeface="Yu Gothic UI" pitchFamily="34" charset="0"/>
                <a:ea typeface="Yu Gothic UI" pitchFamily="34" charset="-122"/>
                <a:cs typeface="Yu Gothic UI" pitchFamily="34" charset="-120"/>
              </a:rPr>
              <a:t>　（%、n＝【数値】、【調査時期】）</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19</a:t>
            </a:r>
            <a:endParaRPr lang="en-US" sz="900" dirty="0"/>
          </a:p>
        </p:txBody>
      </p:sp>
      <p:graphicFrame>
        <p:nvGraphicFramePr>
          <p:cNvPr id="12" name="Chart 0" descr=""/>
          <p:cNvGraphicFramePr/>
          <p:nvPr/>
        </p:nvGraphicFramePr>
        <p:xfrm>
          <a:off x="288036" y="2240280"/>
          <a:ext cx="9329623" cy="384048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1751076" y="1892808"/>
            <a:ext cx="182880" cy="182880"/>
          </a:xfrm>
          <a:prstGeom prst="rect">
            <a:avLst/>
          </a:prstGeom>
          <a:solidFill>
            <a:srgbClr val="000F78"/>
          </a:solidFill>
          <a:ln/>
        </p:spPr>
      </p:sp>
      <p:sp>
        <p:nvSpPr>
          <p:cNvPr id="14" name="Text 10"/>
          <p:cNvSpPr txBox="1"/>
          <p:nvPr/>
        </p:nvSpPr>
        <p:spPr>
          <a:xfrm>
            <a:off x="2007108" y="1847088"/>
            <a:ext cx="173736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そう思う</a:t>
            </a:r>
            <a:endParaRPr lang="en-US" sz="1400" dirty="0"/>
          </a:p>
        </p:txBody>
      </p:sp>
      <p:sp>
        <p:nvSpPr>
          <p:cNvPr id="15" name="Shape 11"/>
          <p:cNvSpPr/>
          <p:nvPr/>
        </p:nvSpPr>
        <p:spPr>
          <a:xfrm>
            <a:off x="3808476" y="1892808"/>
            <a:ext cx="182880" cy="182880"/>
          </a:xfrm>
          <a:prstGeom prst="rect">
            <a:avLst/>
          </a:prstGeom>
          <a:solidFill>
            <a:srgbClr val="595959"/>
          </a:solidFill>
          <a:ln/>
        </p:spPr>
      </p:sp>
      <p:sp>
        <p:nvSpPr>
          <p:cNvPr id="16" name="Text 12"/>
          <p:cNvSpPr txBox="1"/>
          <p:nvPr/>
        </p:nvSpPr>
        <p:spPr>
          <a:xfrm>
            <a:off x="4064508" y="1847088"/>
            <a:ext cx="173736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ややそう思う</a:t>
            </a:r>
            <a:endParaRPr lang="en-US" sz="1400" dirty="0"/>
          </a:p>
        </p:txBody>
      </p:sp>
      <p:sp>
        <p:nvSpPr>
          <p:cNvPr id="17" name="Shape 13"/>
          <p:cNvSpPr/>
          <p:nvPr/>
        </p:nvSpPr>
        <p:spPr>
          <a:xfrm>
            <a:off x="5865876" y="1892808"/>
            <a:ext cx="182880" cy="182880"/>
          </a:xfrm>
          <a:prstGeom prst="rect">
            <a:avLst/>
          </a:prstGeom>
          <a:solidFill>
            <a:srgbClr val="7F7F7F"/>
          </a:solidFill>
          <a:ln/>
        </p:spPr>
      </p:sp>
      <p:sp>
        <p:nvSpPr>
          <p:cNvPr id="18" name="Text 14"/>
          <p:cNvSpPr txBox="1"/>
          <p:nvPr/>
        </p:nvSpPr>
        <p:spPr>
          <a:xfrm>
            <a:off x="6121908" y="1847088"/>
            <a:ext cx="173736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どちらでもない</a:t>
            </a:r>
            <a:endParaRPr lang="en-US" sz="1400" dirty="0"/>
          </a:p>
        </p:txBody>
      </p:sp>
      <p:sp>
        <p:nvSpPr>
          <p:cNvPr id="19" name="Shape 15"/>
          <p:cNvSpPr/>
          <p:nvPr/>
        </p:nvSpPr>
        <p:spPr>
          <a:xfrm>
            <a:off x="7923276" y="1892808"/>
            <a:ext cx="182880" cy="182880"/>
          </a:xfrm>
          <a:prstGeom prst="rect">
            <a:avLst/>
          </a:prstGeom>
          <a:solidFill>
            <a:srgbClr val="A6A6A6"/>
          </a:solidFill>
          <a:ln/>
        </p:spPr>
      </p:sp>
      <p:sp>
        <p:nvSpPr>
          <p:cNvPr id="20" name="Text 16"/>
          <p:cNvSpPr txBox="1"/>
          <p:nvPr/>
        </p:nvSpPr>
        <p:spPr>
          <a:xfrm>
            <a:off x="8179308" y="1847088"/>
            <a:ext cx="173736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そう思わない</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提言</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【目標】の達成に向け、収入・費用・体制の3領域で7つの施策を提言する。うち効果の大きい1-1と2-1は【時期】までに着手する必要がある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提言の全体像</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20</a:t>
            </a:r>
            <a:endParaRPr lang="en-US" sz="900" dirty="0"/>
          </a:p>
        </p:txBody>
      </p:sp>
      <p:sp>
        <p:nvSpPr>
          <p:cNvPr id="12" name="Text 9"/>
          <p:cNvSpPr txBox="1"/>
          <p:nvPr/>
        </p:nvSpPr>
        <p:spPr>
          <a:xfrm>
            <a:off x="8428939" y="1828800"/>
            <a:ext cx="1188720" cy="274320"/>
          </a:xfrm>
          <a:prstGeom prst="rect">
            <a:avLst/>
          </a:prstGeom>
          <a:noFill/>
          <a:ln/>
        </p:spPr>
        <p:txBody>
          <a:bodyPr wrap="square" lIns="0" tIns="0" rIns="0" bIns="0" rtlCol="0" anchor="t"/>
          <a:lstStyle/>
          <a:p>
            <a:pPr algn="r" indent="0" marL="0">
              <a:buNone/>
            </a:pPr>
            <a:r>
              <a:rPr lang="en-US" sz="1100" dirty="0">
                <a:solidFill>
                  <a:srgbClr val="595959"/>
                </a:solidFill>
                <a:latin typeface="Yu Gothic UI" pitchFamily="34" charset="0"/>
                <a:ea typeface="Yu Gothic UI" pitchFamily="34" charset="-122"/>
                <a:cs typeface="Yu Gothic UI" pitchFamily="34" charset="-120"/>
              </a:rPr>
              <a:t>着手時期</a:t>
            </a:r>
            <a:endParaRPr lang="en-US" sz="1100" dirty="0"/>
          </a:p>
        </p:txBody>
      </p:sp>
      <p:sp>
        <p:nvSpPr>
          <p:cNvPr id="13" name="Text 10"/>
          <p:cNvSpPr txBox="1"/>
          <p:nvPr/>
        </p:nvSpPr>
        <p:spPr>
          <a:xfrm>
            <a:off x="288036" y="2148840"/>
            <a:ext cx="2377440" cy="32004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1　収入を増やす</a:t>
            </a:r>
            <a:endParaRPr lang="en-US" sz="1400" dirty="0"/>
          </a:p>
        </p:txBody>
      </p:sp>
      <p:sp>
        <p:nvSpPr>
          <p:cNvPr id="14" name="Text 11"/>
          <p:cNvSpPr txBox="1"/>
          <p:nvPr/>
        </p:nvSpPr>
        <p:spPr>
          <a:xfrm>
            <a:off x="2756916" y="2148840"/>
            <a:ext cx="548640" cy="320040"/>
          </a:xfrm>
          <a:prstGeom prst="rect">
            <a:avLst/>
          </a:prstGeom>
          <a:noFill/>
          <a:ln/>
        </p:spPr>
        <p:txBody>
          <a:bodyPr wrap="square" lIns="0" tIns="0" rIns="0" bIns="0" rtlCol="0" anchor="t"/>
          <a:lstStyle/>
          <a:p>
            <a:pPr indent="0" marL="0">
              <a:buNone/>
            </a:pPr>
            <a:r>
              <a:rPr lang="en-US" sz="1400" b="1" dirty="0">
                <a:solidFill>
                  <a:srgbClr val="000F78"/>
                </a:solidFill>
                <a:latin typeface="Arial" pitchFamily="34" charset="0"/>
                <a:ea typeface="Arial" pitchFamily="34" charset="-122"/>
                <a:cs typeface="Arial" pitchFamily="34" charset="-120"/>
              </a:rPr>
              <a:t>1-1</a:t>
            </a:r>
            <a:endParaRPr lang="en-US" sz="1400" dirty="0"/>
          </a:p>
        </p:txBody>
      </p:sp>
      <p:sp>
        <p:nvSpPr>
          <p:cNvPr id="15" name="Text 12"/>
          <p:cNvSpPr txBox="1"/>
          <p:nvPr/>
        </p:nvSpPr>
        <p:spPr>
          <a:xfrm>
            <a:off x="3351276" y="2148840"/>
            <a:ext cx="4754880"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【対象】向けの新サービスを導入する</a:t>
            </a:r>
            <a:endParaRPr lang="en-US" sz="1400" dirty="0"/>
          </a:p>
        </p:txBody>
      </p:sp>
      <p:sp>
        <p:nvSpPr>
          <p:cNvPr id="16" name="Text 13"/>
          <p:cNvSpPr txBox="1"/>
          <p:nvPr/>
        </p:nvSpPr>
        <p:spPr>
          <a:xfrm>
            <a:off x="8428939" y="2148840"/>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17" name="Text 14"/>
          <p:cNvSpPr txBox="1"/>
          <p:nvPr/>
        </p:nvSpPr>
        <p:spPr>
          <a:xfrm>
            <a:off x="2756916" y="2606040"/>
            <a:ext cx="548640" cy="320040"/>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1-2</a:t>
            </a:r>
            <a:endParaRPr lang="en-US" sz="1400" dirty="0"/>
          </a:p>
        </p:txBody>
      </p:sp>
      <p:sp>
        <p:nvSpPr>
          <p:cNvPr id="18" name="Text 15"/>
          <p:cNvSpPr txBox="1"/>
          <p:nvPr/>
        </p:nvSpPr>
        <p:spPr>
          <a:xfrm>
            <a:off x="3351276" y="2606040"/>
            <a:ext cx="4754880"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料金体系を見直す</a:t>
            </a:r>
            <a:endParaRPr lang="en-US" sz="1400" dirty="0"/>
          </a:p>
        </p:txBody>
      </p:sp>
      <p:sp>
        <p:nvSpPr>
          <p:cNvPr id="19" name="Text 16"/>
          <p:cNvSpPr txBox="1"/>
          <p:nvPr/>
        </p:nvSpPr>
        <p:spPr>
          <a:xfrm>
            <a:off x="8428939" y="2606040"/>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20" name="Shape 17"/>
          <p:cNvSpPr/>
          <p:nvPr/>
        </p:nvSpPr>
        <p:spPr>
          <a:xfrm>
            <a:off x="288036" y="3017520"/>
            <a:ext cx="9329623" cy="0"/>
          </a:xfrm>
          <a:prstGeom prst="line">
            <a:avLst/>
          </a:prstGeom>
          <a:noFill/>
          <a:ln w="9525">
            <a:solidFill>
              <a:srgbClr val="E7E6E6"/>
            </a:solidFill>
            <a:prstDash val="solid"/>
          </a:ln>
        </p:spPr>
      </p:sp>
      <p:sp>
        <p:nvSpPr>
          <p:cNvPr id="21" name="Text 18"/>
          <p:cNvSpPr txBox="1"/>
          <p:nvPr/>
        </p:nvSpPr>
        <p:spPr>
          <a:xfrm>
            <a:off x="288036" y="3172968"/>
            <a:ext cx="2377440" cy="32004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2　費用を抑える</a:t>
            </a:r>
            <a:endParaRPr lang="en-US" sz="1400" dirty="0"/>
          </a:p>
        </p:txBody>
      </p:sp>
      <p:sp>
        <p:nvSpPr>
          <p:cNvPr id="22" name="Text 19"/>
          <p:cNvSpPr txBox="1"/>
          <p:nvPr/>
        </p:nvSpPr>
        <p:spPr>
          <a:xfrm>
            <a:off x="2756916" y="3172968"/>
            <a:ext cx="548640" cy="320040"/>
          </a:xfrm>
          <a:prstGeom prst="rect">
            <a:avLst/>
          </a:prstGeom>
          <a:noFill/>
          <a:ln/>
        </p:spPr>
        <p:txBody>
          <a:bodyPr wrap="square" lIns="0" tIns="0" rIns="0" bIns="0" rtlCol="0" anchor="t"/>
          <a:lstStyle/>
          <a:p>
            <a:pPr indent="0" marL="0">
              <a:buNone/>
            </a:pPr>
            <a:r>
              <a:rPr lang="en-US" sz="1400" b="1" dirty="0">
                <a:solidFill>
                  <a:srgbClr val="000F78"/>
                </a:solidFill>
                <a:latin typeface="Arial" pitchFamily="34" charset="0"/>
                <a:ea typeface="Arial" pitchFamily="34" charset="-122"/>
                <a:cs typeface="Arial" pitchFamily="34" charset="-120"/>
              </a:rPr>
              <a:t>2-1</a:t>
            </a:r>
            <a:endParaRPr lang="en-US" sz="1400" dirty="0"/>
          </a:p>
        </p:txBody>
      </p:sp>
      <p:sp>
        <p:nvSpPr>
          <p:cNvPr id="23" name="Text 20"/>
          <p:cNvSpPr txBox="1"/>
          <p:nvPr/>
        </p:nvSpPr>
        <p:spPr>
          <a:xfrm>
            <a:off x="3351276" y="3172968"/>
            <a:ext cx="4754880"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【業務】を共同化する</a:t>
            </a:r>
            <a:endParaRPr lang="en-US" sz="1400" dirty="0"/>
          </a:p>
        </p:txBody>
      </p:sp>
      <p:sp>
        <p:nvSpPr>
          <p:cNvPr id="24" name="Text 21"/>
          <p:cNvSpPr txBox="1"/>
          <p:nvPr/>
        </p:nvSpPr>
        <p:spPr>
          <a:xfrm>
            <a:off x="8428939" y="3172968"/>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25" name="Text 22"/>
          <p:cNvSpPr txBox="1"/>
          <p:nvPr/>
        </p:nvSpPr>
        <p:spPr>
          <a:xfrm>
            <a:off x="2756916" y="3630168"/>
            <a:ext cx="548640" cy="320040"/>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2-2</a:t>
            </a:r>
            <a:endParaRPr lang="en-US" sz="1400" dirty="0"/>
          </a:p>
        </p:txBody>
      </p:sp>
      <p:sp>
        <p:nvSpPr>
          <p:cNvPr id="26" name="Text 23"/>
          <p:cNvSpPr txBox="1"/>
          <p:nvPr/>
        </p:nvSpPr>
        <p:spPr>
          <a:xfrm>
            <a:off x="3351276" y="3630168"/>
            <a:ext cx="4754880"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設備更新の優先順位を見直す</a:t>
            </a:r>
            <a:endParaRPr lang="en-US" sz="1400" dirty="0"/>
          </a:p>
        </p:txBody>
      </p:sp>
      <p:sp>
        <p:nvSpPr>
          <p:cNvPr id="27" name="Text 24"/>
          <p:cNvSpPr txBox="1"/>
          <p:nvPr/>
        </p:nvSpPr>
        <p:spPr>
          <a:xfrm>
            <a:off x="8428939" y="3630168"/>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28" name="Text 25"/>
          <p:cNvSpPr txBox="1"/>
          <p:nvPr/>
        </p:nvSpPr>
        <p:spPr>
          <a:xfrm>
            <a:off x="2756916" y="4087368"/>
            <a:ext cx="548640" cy="320040"/>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2-3</a:t>
            </a:r>
            <a:endParaRPr lang="en-US" sz="1400" dirty="0"/>
          </a:p>
        </p:txBody>
      </p:sp>
      <p:sp>
        <p:nvSpPr>
          <p:cNvPr id="29" name="Text 26"/>
          <p:cNvSpPr txBox="1"/>
          <p:nvPr/>
        </p:nvSpPr>
        <p:spPr>
          <a:xfrm>
            <a:off x="3351276" y="4087368"/>
            <a:ext cx="4754880"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調達方法を変える</a:t>
            </a:r>
            <a:endParaRPr lang="en-US" sz="1400" dirty="0"/>
          </a:p>
        </p:txBody>
      </p:sp>
      <p:sp>
        <p:nvSpPr>
          <p:cNvPr id="30" name="Text 27"/>
          <p:cNvSpPr txBox="1"/>
          <p:nvPr/>
        </p:nvSpPr>
        <p:spPr>
          <a:xfrm>
            <a:off x="8428939" y="4087368"/>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31" name="Shape 28"/>
          <p:cNvSpPr/>
          <p:nvPr/>
        </p:nvSpPr>
        <p:spPr>
          <a:xfrm>
            <a:off x="288036" y="4498848"/>
            <a:ext cx="9329623" cy="0"/>
          </a:xfrm>
          <a:prstGeom prst="line">
            <a:avLst/>
          </a:prstGeom>
          <a:noFill/>
          <a:ln w="9525">
            <a:solidFill>
              <a:srgbClr val="E7E6E6"/>
            </a:solidFill>
            <a:prstDash val="solid"/>
          </a:ln>
        </p:spPr>
      </p:sp>
      <p:sp>
        <p:nvSpPr>
          <p:cNvPr id="32" name="Text 29"/>
          <p:cNvSpPr txBox="1"/>
          <p:nvPr/>
        </p:nvSpPr>
        <p:spPr>
          <a:xfrm>
            <a:off x="288036" y="4654296"/>
            <a:ext cx="2377440" cy="32004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3　体制を整える</a:t>
            </a:r>
            <a:endParaRPr lang="en-US" sz="1400" dirty="0"/>
          </a:p>
        </p:txBody>
      </p:sp>
      <p:sp>
        <p:nvSpPr>
          <p:cNvPr id="33" name="Text 30"/>
          <p:cNvSpPr txBox="1"/>
          <p:nvPr/>
        </p:nvSpPr>
        <p:spPr>
          <a:xfrm>
            <a:off x="2756916" y="4654296"/>
            <a:ext cx="548640" cy="320040"/>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3-1</a:t>
            </a:r>
            <a:endParaRPr lang="en-US" sz="1400" dirty="0"/>
          </a:p>
        </p:txBody>
      </p:sp>
      <p:sp>
        <p:nvSpPr>
          <p:cNvPr id="34" name="Text 31"/>
          <p:cNvSpPr txBox="1"/>
          <p:nvPr/>
        </p:nvSpPr>
        <p:spPr>
          <a:xfrm>
            <a:off x="3351276" y="4654296"/>
            <a:ext cx="4754880"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推進組織を立ち上げる</a:t>
            </a:r>
            <a:endParaRPr lang="en-US" sz="1400" dirty="0"/>
          </a:p>
        </p:txBody>
      </p:sp>
      <p:sp>
        <p:nvSpPr>
          <p:cNvPr id="35" name="Text 32"/>
          <p:cNvSpPr txBox="1"/>
          <p:nvPr/>
        </p:nvSpPr>
        <p:spPr>
          <a:xfrm>
            <a:off x="8428939" y="4654296"/>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36" name="Text 33"/>
          <p:cNvSpPr txBox="1"/>
          <p:nvPr/>
        </p:nvSpPr>
        <p:spPr>
          <a:xfrm>
            <a:off x="2756916" y="5111496"/>
            <a:ext cx="548640" cy="320040"/>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3-2</a:t>
            </a:r>
            <a:endParaRPr lang="en-US" sz="1400" dirty="0"/>
          </a:p>
        </p:txBody>
      </p:sp>
      <p:sp>
        <p:nvSpPr>
          <p:cNvPr id="37" name="Text 34"/>
          <p:cNvSpPr txBox="1"/>
          <p:nvPr/>
        </p:nvSpPr>
        <p:spPr>
          <a:xfrm>
            <a:off x="3351276" y="5111496"/>
            <a:ext cx="4754880"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KPIで進捗を管理する</a:t>
            </a:r>
            <a:endParaRPr lang="en-US" sz="1400" dirty="0"/>
          </a:p>
        </p:txBody>
      </p:sp>
      <p:sp>
        <p:nvSpPr>
          <p:cNvPr id="38" name="Text 35"/>
          <p:cNvSpPr txBox="1"/>
          <p:nvPr/>
        </p:nvSpPr>
        <p:spPr>
          <a:xfrm>
            <a:off x="8428939" y="5111496"/>
            <a:ext cx="1188720" cy="320040"/>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【年度】</a:t>
            </a:r>
            <a:endParaRPr lang="en-US" sz="1400" dirty="0"/>
          </a:p>
        </p:txBody>
      </p:sp>
      <p:sp>
        <p:nvSpPr>
          <p:cNvPr id="39" name="Shape 36"/>
          <p:cNvSpPr/>
          <p:nvPr/>
        </p:nvSpPr>
        <p:spPr>
          <a:xfrm>
            <a:off x="288036" y="5522976"/>
            <a:ext cx="9329623" cy="0"/>
          </a:xfrm>
          <a:prstGeom prst="line">
            <a:avLst/>
          </a:prstGeom>
          <a:noFill/>
          <a:ln w="9525">
            <a:solidFill>
              <a:srgbClr val="E7E6E6"/>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施策を全て実行すると【年度】には収支が年【数値A】改善し、利用者数も【数値B】%増える。収支の改善が最も大きく、事業の自立化が視野に入る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施策実行後の効果（【年度】時点）</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21</a:t>
            </a:r>
            <a:endParaRPr lang="en-US" sz="900" dirty="0"/>
          </a:p>
        </p:txBody>
      </p:sp>
      <p:sp>
        <p:nvSpPr>
          <p:cNvPr id="12" name="Text 9"/>
          <p:cNvSpPr txBox="1"/>
          <p:nvPr/>
        </p:nvSpPr>
        <p:spPr>
          <a:xfrm>
            <a:off x="425196" y="219456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収支</a:t>
            </a:r>
            <a:endParaRPr lang="en-US" sz="1400" dirty="0"/>
          </a:p>
        </p:txBody>
      </p:sp>
      <p:sp>
        <p:nvSpPr>
          <p:cNvPr id="13" name="Text 10"/>
          <p:cNvSpPr txBox="1"/>
          <p:nvPr/>
        </p:nvSpPr>
        <p:spPr>
          <a:xfrm>
            <a:off x="379476" y="2743200"/>
            <a:ext cx="2149526" cy="914400"/>
          </a:xfrm>
          <a:prstGeom prst="rect">
            <a:avLst/>
          </a:prstGeom>
          <a:noFill/>
          <a:ln/>
        </p:spPr>
        <p:txBody>
          <a:bodyPr wrap="square" lIns="0" tIns="0" rIns="0" bIns="0" rtlCol="0" anchor="ctr"/>
          <a:lstStyle/>
          <a:p>
            <a:pPr algn="ctr" indent="0" marL="0">
              <a:buNone/>
            </a:pPr>
            <a:r>
              <a:rPr lang="en-US" sz="2600" b="1" dirty="0">
                <a:solidFill>
                  <a:srgbClr val="000F78"/>
                </a:solidFill>
                <a:latin typeface="Yu Gothic UI" pitchFamily="34" charset="0"/>
                <a:ea typeface="Yu Gothic UI" pitchFamily="34" charset="-122"/>
                <a:cs typeface="Yu Gothic UI" pitchFamily="34" charset="-120"/>
              </a:rPr>
              <a:t>＋【数値A】</a:t>
            </a:r>
            <a:endParaRPr lang="en-US" sz="2600" dirty="0"/>
          </a:p>
        </p:txBody>
      </p:sp>
      <p:sp>
        <p:nvSpPr>
          <p:cNvPr id="14" name="Text 11"/>
          <p:cNvSpPr txBox="1"/>
          <p:nvPr/>
        </p:nvSpPr>
        <p:spPr>
          <a:xfrm>
            <a:off x="425196" y="370332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億円／年</a:t>
            </a:r>
            <a:endParaRPr lang="en-US" sz="1400" dirty="0"/>
          </a:p>
        </p:txBody>
      </p:sp>
      <p:sp>
        <p:nvSpPr>
          <p:cNvPr id="15" name="Text 12"/>
          <p:cNvSpPr txBox="1"/>
          <p:nvPr/>
        </p:nvSpPr>
        <p:spPr>
          <a:xfrm>
            <a:off x="425196" y="4389120"/>
            <a:ext cx="2058086" cy="548640"/>
          </a:xfrm>
          <a:prstGeom prst="rect">
            <a:avLst/>
          </a:prstGeom>
          <a:noFill/>
          <a:ln/>
        </p:spPr>
        <p:txBody>
          <a:bodyPr wrap="square" lIns="0" tIns="0" rIns="0" bIns="0" rtlCol="0" anchor="t"/>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【補足：算定の前提】</a:t>
            </a:r>
            <a:endParaRPr lang="en-US" sz="1100" dirty="0"/>
          </a:p>
        </p:txBody>
      </p:sp>
      <p:sp>
        <p:nvSpPr>
          <p:cNvPr id="16" name="Shape 13"/>
          <p:cNvSpPr/>
          <p:nvPr/>
        </p:nvSpPr>
        <p:spPr>
          <a:xfrm>
            <a:off x="2620442" y="2103120"/>
            <a:ext cx="0" cy="3108960"/>
          </a:xfrm>
          <a:prstGeom prst="line">
            <a:avLst/>
          </a:prstGeom>
          <a:noFill/>
          <a:ln w="9525">
            <a:solidFill>
              <a:srgbClr val="E7E6E6"/>
            </a:solidFill>
            <a:prstDash val="solid"/>
          </a:ln>
        </p:spPr>
      </p:sp>
      <p:sp>
        <p:nvSpPr>
          <p:cNvPr id="17" name="Text 14"/>
          <p:cNvSpPr txBox="1"/>
          <p:nvPr/>
        </p:nvSpPr>
        <p:spPr>
          <a:xfrm>
            <a:off x="2757602" y="219456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利用者数</a:t>
            </a:r>
            <a:endParaRPr lang="en-US" sz="1400" dirty="0"/>
          </a:p>
        </p:txBody>
      </p:sp>
      <p:sp>
        <p:nvSpPr>
          <p:cNvPr id="18" name="Text 15"/>
          <p:cNvSpPr txBox="1"/>
          <p:nvPr/>
        </p:nvSpPr>
        <p:spPr>
          <a:xfrm>
            <a:off x="2711882" y="2743200"/>
            <a:ext cx="2149526" cy="914400"/>
          </a:xfrm>
          <a:prstGeom prst="rect">
            <a:avLst/>
          </a:prstGeom>
          <a:noFill/>
          <a:ln/>
        </p:spPr>
        <p:txBody>
          <a:bodyPr wrap="square" lIns="0" tIns="0" rIns="0" bIns="0" rtlCol="0" anchor="ctr"/>
          <a:lstStyle/>
          <a:p>
            <a:pPr algn="ctr" indent="0" marL="0">
              <a:buNone/>
            </a:pPr>
            <a:r>
              <a:rPr lang="en-US" sz="2600" b="1" dirty="0">
                <a:solidFill>
                  <a:srgbClr val="000000"/>
                </a:solidFill>
                <a:latin typeface="Yu Gothic UI" pitchFamily="34" charset="0"/>
                <a:ea typeface="Yu Gothic UI" pitchFamily="34" charset="-122"/>
                <a:cs typeface="Yu Gothic UI" pitchFamily="34" charset="-120"/>
              </a:rPr>
              <a:t>＋【数値B】</a:t>
            </a:r>
            <a:endParaRPr lang="en-US" sz="2600" dirty="0"/>
          </a:p>
        </p:txBody>
      </p:sp>
      <p:sp>
        <p:nvSpPr>
          <p:cNvPr id="19" name="Text 16"/>
          <p:cNvSpPr txBox="1"/>
          <p:nvPr/>
        </p:nvSpPr>
        <p:spPr>
          <a:xfrm>
            <a:off x="2757602" y="370332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a:t>
            </a:r>
            <a:endParaRPr lang="en-US" sz="1400" dirty="0"/>
          </a:p>
        </p:txBody>
      </p:sp>
      <p:sp>
        <p:nvSpPr>
          <p:cNvPr id="20" name="Text 17"/>
          <p:cNvSpPr txBox="1"/>
          <p:nvPr/>
        </p:nvSpPr>
        <p:spPr>
          <a:xfrm>
            <a:off x="2757602" y="4389120"/>
            <a:ext cx="2058086" cy="548640"/>
          </a:xfrm>
          <a:prstGeom prst="rect">
            <a:avLst/>
          </a:prstGeom>
          <a:noFill/>
          <a:ln/>
        </p:spPr>
        <p:txBody>
          <a:bodyPr wrap="square" lIns="0" tIns="0" rIns="0" bIns="0" rtlCol="0" anchor="t"/>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【補足：算定の前提】</a:t>
            </a:r>
            <a:endParaRPr lang="en-US" sz="1100" dirty="0"/>
          </a:p>
        </p:txBody>
      </p:sp>
      <p:sp>
        <p:nvSpPr>
          <p:cNvPr id="21" name="Shape 18"/>
          <p:cNvSpPr/>
          <p:nvPr/>
        </p:nvSpPr>
        <p:spPr>
          <a:xfrm>
            <a:off x="4952848" y="2103120"/>
            <a:ext cx="0" cy="3108960"/>
          </a:xfrm>
          <a:prstGeom prst="line">
            <a:avLst/>
          </a:prstGeom>
          <a:noFill/>
          <a:ln w="9525">
            <a:solidFill>
              <a:srgbClr val="E7E6E6"/>
            </a:solidFill>
            <a:prstDash val="solid"/>
          </a:ln>
        </p:spPr>
      </p:sp>
      <p:sp>
        <p:nvSpPr>
          <p:cNvPr id="22" name="Text 19"/>
          <p:cNvSpPr txBox="1"/>
          <p:nvPr/>
        </p:nvSpPr>
        <p:spPr>
          <a:xfrm>
            <a:off x="5090008" y="219456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CO₂排出量</a:t>
            </a:r>
            <a:endParaRPr lang="en-US" sz="1400" dirty="0"/>
          </a:p>
        </p:txBody>
      </p:sp>
      <p:sp>
        <p:nvSpPr>
          <p:cNvPr id="23" name="Text 20"/>
          <p:cNvSpPr txBox="1"/>
          <p:nvPr/>
        </p:nvSpPr>
        <p:spPr>
          <a:xfrm>
            <a:off x="5044288" y="2743200"/>
            <a:ext cx="2149526" cy="914400"/>
          </a:xfrm>
          <a:prstGeom prst="rect">
            <a:avLst/>
          </a:prstGeom>
          <a:noFill/>
          <a:ln/>
        </p:spPr>
        <p:txBody>
          <a:bodyPr wrap="square" lIns="0" tIns="0" rIns="0" bIns="0" rtlCol="0" anchor="ctr"/>
          <a:lstStyle/>
          <a:p>
            <a:pPr algn="ctr" indent="0" marL="0">
              <a:buNone/>
            </a:pPr>
            <a:r>
              <a:rPr lang="en-US" sz="2600" b="1" dirty="0">
                <a:solidFill>
                  <a:srgbClr val="000000"/>
                </a:solidFill>
                <a:latin typeface="Yu Gothic UI" pitchFamily="34" charset="0"/>
                <a:ea typeface="Yu Gothic UI" pitchFamily="34" charset="-122"/>
                <a:cs typeface="Yu Gothic UI" pitchFamily="34" charset="-120"/>
              </a:rPr>
              <a:t>−【数値C】</a:t>
            </a:r>
            <a:endParaRPr lang="en-US" sz="2600" dirty="0"/>
          </a:p>
        </p:txBody>
      </p:sp>
      <p:sp>
        <p:nvSpPr>
          <p:cNvPr id="24" name="Text 21"/>
          <p:cNvSpPr txBox="1"/>
          <p:nvPr/>
        </p:nvSpPr>
        <p:spPr>
          <a:xfrm>
            <a:off x="5090008" y="370332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t／年</a:t>
            </a:r>
            <a:endParaRPr lang="en-US" sz="1400" dirty="0"/>
          </a:p>
        </p:txBody>
      </p:sp>
      <p:sp>
        <p:nvSpPr>
          <p:cNvPr id="25" name="Text 22"/>
          <p:cNvSpPr txBox="1"/>
          <p:nvPr/>
        </p:nvSpPr>
        <p:spPr>
          <a:xfrm>
            <a:off x="5090008" y="4389120"/>
            <a:ext cx="2058086" cy="548640"/>
          </a:xfrm>
          <a:prstGeom prst="rect">
            <a:avLst/>
          </a:prstGeom>
          <a:noFill/>
          <a:ln/>
        </p:spPr>
        <p:txBody>
          <a:bodyPr wrap="square" lIns="0" tIns="0" rIns="0" bIns="0" rtlCol="0" anchor="t"/>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【補足：算定の前提】</a:t>
            </a:r>
            <a:endParaRPr lang="en-US" sz="1100" dirty="0"/>
          </a:p>
        </p:txBody>
      </p:sp>
      <p:sp>
        <p:nvSpPr>
          <p:cNvPr id="26" name="Shape 23"/>
          <p:cNvSpPr/>
          <p:nvPr/>
        </p:nvSpPr>
        <p:spPr>
          <a:xfrm>
            <a:off x="7285253" y="2103120"/>
            <a:ext cx="0" cy="3108960"/>
          </a:xfrm>
          <a:prstGeom prst="line">
            <a:avLst/>
          </a:prstGeom>
          <a:noFill/>
          <a:ln w="9525">
            <a:solidFill>
              <a:srgbClr val="E7E6E6"/>
            </a:solidFill>
            <a:prstDash val="solid"/>
          </a:ln>
        </p:spPr>
      </p:sp>
      <p:sp>
        <p:nvSpPr>
          <p:cNvPr id="27" name="Text 24"/>
          <p:cNvSpPr txBox="1"/>
          <p:nvPr/>
        </p:nvSpPr>
        <p:spPr>
          <a:xfrm>
            <a:off x="7422413" y="219456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担い手</a:t>
            </a:r>
            <a:endParaRPr lang="en-US" sz="1400" dirty="0"/>
          </a:p>
        </p:txBody>
      </p:sp>
      <p:sp>
        <p:nvSpPr>
          <p:cNvPr id="28" name="Text 25"/>
          <p:cNvSpPr txBox="1"/>
          <p:nvPr/>
        </p:nvSpPr>
        <p:spPr>
          <a:xfrm>
            <a:off x="7376693" y="2743200"/>
            <a:ext cx="2149526" cy="914400"/>
          </a:xfrm>
          <a:prstGeom prst="rect">
            <a:avLst/>
          </a:prstGeom>
          <a:noFill/>
          <a:ln/>
        </p:spPr>
        <p:txBody>
          <a:bodyPr wrap="square" lIns="0" tIns="0" rIns="0" bIns="0" rtlCol="0" anchor="ctr"/>
          <a:lstStyle/>
          <a:p>
            <a:pPr algn="ctr" indent="0" marL="0">
              <a:buNone/>
            </a:pPr>
            <a:r>
              <a:rPr lang="en-US" sz="2600" b="1" dirty="0">
                <a:solidFill>
                  <a:srgbClr val="000000"/>
                </a:solidFill>
                <a:latin typeface="Yu Gothic UI" pitchFamily="34" charset="0"/>
                <a:ea typeface="Yu Gothic UI" pitchFamily="34" charset="-122"/>
                <a:cs typeface="Yu Gothic UI" pitchFamily="34" charset="-120"/>
              </a:rPr>
              <a:t>＋【数値D】</a:t>
            </a:r>
            <a:endParaRPr lang="en-US" sz="2600" dirty="0"/>
          </a:p>
        </p:txBody>
      </p:sp>
      <p:sp>
        <p:nvSpPr>
          <p:cNvPr id="29" name="Text 26"/>
          <p:cNvSpPr txBox="1"/>
          <p:nvPr/>
        </p:nvSpPr>
        <p:spPr>
          <a:xfrm>
            <a:off x="7422413" y="3703320"/>
            <a:ext cx="205808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人</a:t>
            </a:r>
            <a:endParaRPr lang="en-US" sz="1400" dirty="0"/>
          </a:p>
        </p:txBody>
      </p:sp>
      <p:sp>
        <p:nvSpPr>
          <p:cNvPr id="30" name="Text 27"/>
          <p:cNvSpPr txBox="1"/>
          <p:nvPr/>
        </p:nvSpPr>
        <p:spPr>
          <a:xfrm>
            <a:off x="7422413" y="4389120"/>
            <a:ext cx="2058086" cy="548640"/>
          </a:xfrm>
          <a:prstGeom prst="rect">
            <a:avLst/>
          </a:prstGeom>
          <a:noFill/>
          <a:ln/>
        </p:spPr>
        <p:txBody>
          <a:bodyPr wrap="square" lIns="0" tIns="0" rIns="0" bIns="0" rtlCol="0" anchor="t"/>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【補足：算定の前提】</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【指標】の減少分の大半は【区分X】で生じている。対策の対象を【区分X】に絞れば、限られた予算でも十分な効果を出せる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22</a:t>
            </a:r>
            <a:endParaRPr lang="en-US" sz="900" dirty="0"/>
          </a:p>
        </p:txBody>
      </p:sp>
      <p:sp>
        <p:nvSpPr>
          <p:cNvPr id="10" name="Text 7"/>
          <p:cNvSpPr txBox="1"/>
          <p:nvPr/>
        </p:nvSpPr>
        <p:spPr>
          <a:xfrm>
            <a:off x="288036" y="1417320"/>
            <a:ext cx="448056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【指標】の区分別の増減</a:t>
            </a:r>
            <a:endParaRPr lang="en-US" sz="1400" dirty="0"/>
          </a:p>
        </p:txBody>
      </p:sp>
      <p:sp>
        <p:nvSpPr>
          <p:cNvPr id="11" name="Shape 8"/>
          <p:cNvSpPr/>
          <p:nvPr/>
        </p:nvSpPr>
        <p:spPr>
          <a:xfrm>
            <a:off x="288036" y="1728216"/>
            <a:ext cx="4480560" cy="0"/>
          </a:xfrm>
          <a:prstGeom prst="line">
            <a:avLst/>
          </a:prstGeom>
          <a:noFill/>
          <a:ln w="6350">
            <a:solidFill>
              <a:srgbClr val="BFBFBF"/>
            </a:solidFill>
            <a:prstDash val="solid"/>
          </a:ln>
        </p:spPr>
      </p:sp>
      <p:graphicFrame>
        <p:nvGraphicFramePr>
          <p:cNvPr id="12" name="Chart 0" descr=""/>
          <p:cNvGraphicFramePr/>
          <p:nvPr/>
        </p:nvGraphicFramePr>
        <p:xfrm>
          <a:off x="288036" y="1920240"/>
          <a:ext cx="4480560" cy="402336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rot="5400000">
            <a:off x="4878324" y="3566160"/>
            <a:ext cx="411480" cy="292608"/>
          </a:xfrm>
          <a:prstGeom prst="triangle">
            <a:avLst/>
          </a:prstGeom>
          <a:solidFill>
            <a:srgbClr val="7F7F7F"/>
          </a:solidFill>
          <a:ln/>
        </p:spPr>
      </p:sp>
      <p:sp>
        <p:nvSpPr>
          <p:cNvPr id="14" name="Text 10"/>
          <p:cNvSpPr txBox="1"/>
          <p:nvPr/>
        </p:nvSpPr>
        <p:spPr>
          <a:xfrm>
            <a:off x="5454396" y="1417320"/>
            <a:ext cx="416326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読み取り</a:t>
            </a:r>
            <a:endParaRPr lang="en-US" sz="1400" dirty="0"/>
          </a:p>
        </p:txBody>
      </p:sp>
      <p:sp>
        <p:nvSpPr>
          <p:cNvPr id="15" name="Shape 11"/>
          <p:cNvSpPr/>
          <p:nvPr/>
        </p:nvSpPr>
        <p:spPr>
          <a:xfrm>
            <a:off x="5454396" y="1728216"/>
            <a:ext cx="4163263" cy="0"/>
          </a:xfrm>
          <a:prstGeom prst="line">
            <a:avLst/>
          </a:prstGeom>
          <a:noFill/>
          <a:ln w="6350">
            <a:solidFill>
              <a:srgbClr val="BFBFBF"/>
            </a:solidFill>
            <a:prstDash val="solid"/>
          </a:ln>
        </p:spPr>
      </p:sp>
      <p:sp>
        <p:nvSpPr>
          <p:cNvPr id="16" name="Text 12"/>
          <p:cNvSpPr txBox="1"/>
          <p:nvPr/>
        </p:nvSpPr>
        <p:spPr>
          <a:xfrm>
            <a:off x="5454396" y="1965960"/>
            <a:ext cx="274320" cy="292608"/>
          </a:xfrm>
          <a:prstGeom prst="rect">
            <a:avLst/>
          </a:prstGeom>
          <a:noFill/>
          <a:ln/>
        </p:spPr>
        <p:txBody>
          <a:bodyPr wrap="square" lIns="0" tIns="0" rIns="0" bIns="0" rtlCol="0" anchor="t"/>
          <a:lstStyle/>
          <a:p>
            <a:pPr indent="0" marL="0">
              <a:buNone/>
            </a:pPr>
            <a:r>
              <a:rPr lang="en-US" sz="1400" b="1" dirty="0">
                <a:solidFill>
                  <a:srgbClr val="000F78"/>
                </a:solidFill>
                <a:latin typeface="Arial" pitchFamily="34" charset="0"/>
                <a:ea typeface="Arial" pitchFamily="34" charset="-122"/>
                <a:cs typeface="Arial" pitchFamily="34" charset="-120"/>
              </a:rPr>
              <a:t>1</a:t>
            </a:r>
            <a:endParaRPr lang="en-US" sz="1400" dirty="0"/>
          </a:p>
        </p:txBody>
      </p:sp>
      <p:sp>
        <p:nvSpPr>
          <p:cNvPr id="17" name="Text 13"/>
          <p:cNvSpPr txBox="1"/>
          <p:nvPr/>
        </p:nvSpPr>
        <p:spPr>
          <a:xfrm>
            <a:off x="5774436" y="1965960"/>
            <a:ext cx="3843223" cy="292608"/>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減少の【数値】割は区分X</a:t>
            </a:r>
            <a:endParaRPr lang="en-US" sz="1400" dirty="0"/>
          </a:p>
        </p:txBody>
      </p:sp>
      <p:sp>
        <p:nvSpPr>
          <p:cNvPr id="18" name="Text 14"/>
          <p:cNvSpPr txBox="1"/>
          <p:nvPr/>
        </p:nvSpPr>
        <p:spPr>
          <a:xfrm>
            <a:off x="5774436" y="2313432"/>
            <a:ext cx="3843223"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区分Xだけで【数値B】の減少</a:t>
            </a:r>
            <a:endParaRPr lang="en-US" sz="1400" dirty="0"/>
          </a:p>
        </p:txBody>
      </p:sp>
      <p:sp>
        <p:nvSpPr>
          <p:cNvPr id="19" name="Shape 15"/>
          <p:cNvSpPr/>
          <p:nvPr/>
        </p:nvSpPr>
        <p:spPr>
          <a:xfrm>
            <a:off x="5454396" y="3044952"/>
            <a:ext cx="4163263" cy="0"/>
          </a:xfrm>
          <a:prstGeom prst="line">
            <a:avLst/>
          </a:prstGeom>
          <a:noFill/>
          <a:ln w="9525">
            <a:solidFill>
              <a:srgbClr val="E7E6E6"/>
            </a:solidFill>
            <a:prstDash val="solid"/>
          </a:ln>
        </p:spPr>
      </p:sp>
      <p:sp>
        <p:nvSpPr>
          <p:cNvPr id="20" name="Text 16"/>
          <p:cNvSpPr txBox="1"/>
          <p:nvPr/>
        </p:nvSpPr>
        <p:spPr>
          <a:xfrm>
            <a:off x="5454396" y="3291840"/>
            <a:ext cx="274320" cy="292608"/>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2</a:t>
            </a:r>
            <a:endParaRPr lang="en-US" sz="1400" dirty="0"/>
          </a:p>
        </p:txBody>
      </p:sp>
      <p:sp>
        <p:nvSpPr>
          <p:cNvPr id="21" name="Text 17"/>
          <p:cNvSpPr txBox="1"/>
          <p:nvPr/>
        </p:nvSpPr>
        <p:spPr>
          <a:xfrm>
            <a:off x="5774436" y="3291840"/>
            <a:ext cx="38432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区分Y・Zは横ばい</a:t>
            </a:r>
            <a:endParaRPr lang="en-US" sz="1400" dirty="0"/>
          </a:p>
        </p:txBody>
      </p:sp>
      <p:sp>
        <p:nvSpPr>
          <p:cNvPr id="22" name="Text 18"/>
          <p:cNvSpPr txBox="1"/>
          <p:nvPr/>
        </p:nvSpPr>
        <p:spPr>
          <a:xfrm>
            <a:off x="5774436" y="3639312"/>
            <a:ext cx="3843223"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対策を急ぐ必要は小さい</a:t>
            </a:r>
            <a:endParaRPr lang="en-US" sz="1400" dirty="0"/>
          </a:p>
        </p:txBody>
      </p:sp>
      <p:sp>
        <p:nvSpPr>
          <p:cNvPr id="23" name="Shape 19"/>
          <p:cNvSpPr/>
          <p:nvPr/>
        </p:nvSpPr>
        <p:spPr>
          <a:xfrm>
            <a:off x="5454396" y="4370832"/>
            <a:ext cx="4163263" cy="0"/>
          </a:xfrm>
          <a:prstGeom prst="line">
            <a:avLst/>
          </a:prstGeom>
          <a:noFill/>
          <a:ln w="9525">
            <a:solidFill>
              <a:srgbClr val="E7E6E6"/>
            </a:solidFill>
            <a:prstDash val="solid"/>
          </a:ln>
        </p:spPr>
      </p:sp>
      <p:sp>
        <p:nvSpPr>
          <p:cNvPr id="24" name="Text 20"/>
          <p:cNvSpPr txBox="1"/>
          <p:nvPr/>
        </p:nvSpPr>
        <p:spPr>
          <a:xfrm>
            <a:off x="5454396" y="4617720"/>
            <a:ext cx="274320" cy="292608"/>
          </a:xfrm>
          <a:prstGeom prst="rect">
            <a:avLst/>
          </a:prstGeom>
          <a:noFill/>
          <a:ln/>
        </p:spPr>
        <p:txBody>
          <a:bodyPr wrap="square" lIns="0" tIns="0" rIns="0" bIns="0" rtlCol="0" anchor="t"/>
          <a:lstStyle/>
          <a:p>
            <a:pPr indent="0" marL="0">
              <a:buNone/>
            </a:pPr>
            <a:r>
              <a:rPr lang="en-US" sz="1400" b="1" dirty="0">
                <a:solidFill>
                  <a:srgbClr val="595959"/>
                </a:solidFill>
                <a:latin typeface="Arial" pitchFamily="34" charset="0"/>
                <a:ea typeface="Arial" pitchFamily="34" charset="-122"/>
                <a:cs typeface="Arial" pitchFamily="34" charset="-120"/>
              </a:rPr>
              <a:t>3</a:t>
            </a:r>
            <a:endParaRPr lang="en-US" sz="1400" dirty="0"/>
          </a:p>
        </p:txBody>
      </p:sp>
      <p:sp>
        <p:nvSpPr>
          <p:cNvPr id="25" name="Text 21"/>
          <p:cNvSpPr txBox="1"/>
          <p:nvPr/>
        </p:nvSpPr>
        <p:spPr>
          <a:xfrm>
            <a:off x="5774436" y="4617720"/>
            <a:ext cx="38432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対象を区分Xに絞る</a:t>
            </a:r>
            <a:endParaRPr lang="en-US" sz="1400" dirty="0"/>
          </a:p>
        </p:txBody>
      </p:sp>
      <p:sp>
        <p:nvSpPr>
          <p:cNvPr id="26" name="Text 22"/>
          <p:cNvSpPr txBox="1"/>
          <p:nvPr/>
        </p:nvSpPr>
        <p:spPr>
          <a:xfrm>
            <a:off x="5774436" y="4965192"/>
            <a:ext cx="3843223"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予算【数値C】で効果が見込める</a:t>
            </a:r>
            <a:endParaRPr lang="en-US" sz="1400" dirty="0"/>
          </a:p>
        </p:txBody>
      </p:sp>
      <p:sp>
        <p:nvSpPr>
          <p:cNvPr id="27" name="Shape 23"/>
          <p:cNvSpPr/>
          <p:nvPr/>
        </p:nvSpPr>
        <p:spPr>
          <a:xfrm>
            <a:off x="5454396" y="5696712"/>
            <a:ext cx="4163263" cy="0"/>
          </a:xfrm>
          <a:prstGeom prst="line">
            <a:avLst/>
          </a:prstGeom>
          <a:noFill/>
          <a:ln w="9525">
            <a:solidFill>
              <a:srgbClr val="E7E6E6"/>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0　全体像</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【対象】を支えてきた【前提】は、【変化】により崩れつつある。【解決策】へ転換すれば、【期間】で【数値A】の改善が見込める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23</a:t>
            </a:r>
            <a:endParaRPr lang="en-US" sz="900" dirty="0"/>
          </a:p>
        </p:txBody>
      </p:sp>
      <p:sp>
        <p:nvSpPr>
          <p:cNvPr id="10" name="Text 7"/>
          <p:cNvSpPr txBox="1"/>
          <p:nvPr/>
        </p:nvSpPr>
        <p:spPr>
          <a:xfrm>
            <a:off x="288036" y="1417320"/>
            <a:ext cx="2926994" cy="365760"/>
          </a:xfrm>
          <a:prstGeom prst="rect">
            <a:avLst/>
          </a:prstGeom>
          <a:noFill/>
          <a:ln/>
        </p:spPr>
        <p:txBody>
          <a:bodyPr wrap="square" lIns="0" tIns="0" rIns="0" bIns="0" rtlCol="0" anchor="t"/>
          <a:lstStyle/>
          <a:p>
            <a:pPr indent="0" marL="0">
              <a:buNone/>
            </a:pPr>
            <a:r>
              <a:rPr lang="en-US" sz="1800" b="1" dirty="0">
                <a:solidFill>
                  <a:srgbClr val="000000"/>
                </a:solidFill>
                <a:latin typeface="Yu Gothic UI" pitchFamily="34" charset="0"/>
                <a:ea typeface="Yu Gothic UI" pitchFamily="34" charset="-122"/>
                <a:cs typeface="Yu Gothic UI" pitchFamily="34" charset="-120"/>
              </a:rPr>
              <a:t>状況</a:t>
            </a:r>
            <a:endParaRPr lang="en-US" sz="1800" dirty="0"/>
          </a:p>
        </p:txBody>
      </p:sp>
      <p:sp>
        <p:nvSpPr>
          <p:cNvPr id="11" name="Text 8"/>
          <p:cNvSpPr txBox="1"/>
          <p:nvPr/>
        </p:nvSpPr>
        <p:spPr>
          <a:xfrm>
            <a:off x="288036" y="1801368"/>
            <a:ext cx="2926994"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これまでの前提</a:t>
            </a:r>
            <a:endParaRPr lang="en-US" sz="1400" dirty="0"/>
          </a:p>
        </p:txBody>
      </p:sp>
      <p:sp>
        <p:nvSpPr>
          <p:cNvPr id="12" name="Shape 9"/>
          <p:cNvSpPr/>
          <p:nvPr/>
        </p:nvSpPr>
        <p:spPr>
          <a:xfrm>
            <a:off x="288036" y="2148840"/>
            <a:ext cx="2926994" cy="0"/>
          </a:xfrm>
          <a:prstGeom prst="line">
            <a:avLst/>
          </a:prstGeom>
          <a:noFill/>
          <a:ln w="9525">
            <a:solidFill>
              <a:srgbClr val="BFBFBF"/>
            </a:solidFill>
            <a:prstDash val="solid"/>
          </a:ln>
        </p:spPr>
      </p:sp>
      <p:sp>
        <p:nvSpPr>
          <p:cNvPr id="13" name="Shape 10"/>
          <p:cNvSpPr/>
          <p:nvPr/>
        </p:nvSpPr>
        <p:spPr>
          <a:xfrm>
            <a:off x="288036" y="2423160"/>
            <a:ext cx="2926994" cy="1143000"/>
          </a:xfrm>
          <a:prstGeom prst="rect">
            <a:avLst/>
          </a:prstGeom>
          <a:solidFill>
            <a:srgbClr val="FFFFFF"/>
          </a:solidFill>
          <a:ln w="9525">
            <a:solidFill>
              <a:srgbClr val="BFBFBF"/>
            </a:solidFill>
            <a:prstDash val="solid"/>
          </a:ln>
        </p:spPr>
      </p:sp>
      <p:sp>
        <p:nvSpPr>
          <p:cNvPr id="14" name="Text 11"/>
          <p:cNvSpPr txBox="1"/>
          <p:nvPr/>
        </p:nvSpPr>
        <p:spPr>
          <a:xfrm>
            <a:off x="470916" y="2423160"/>
            <a:ext cx="2561234" cy="11430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【前提1】により需要が安定</a:t>
            </a:r>
            <a:endParaRPr lang="en-US" sz="1400" dirty="0"/>
          </a:p>
        </p:txBody>
      </p:sp>
      <p:sp>
        <p:nvSpPr>
          <p:cNvPr id="15" name="Shape 12"/>
          <p:cNvSpPr/>
          <p:nvPr/>
        </p:nvSpPr>
        <p:spPr>
          <a:xfrm>
            <a:off x="288036" y="3886200"/>
            <a:ext cx="2926994" cy="1143000"/>
          </a:xfrm>
          <a:prstGeom prst="rect">
            <a:avLst/>
          </a:prstGeom>
          <a:solidFill>
            <a:srgbClr val="FFFFFF"/>
          </a:solidFill>
          <a:ln w="9525">
            <a:solidFill>
              <a:srgbClr val="BFBFBF"/>
            </a:solidFill>
            <a:prstDash val="solid"/>
          </a:ln>
        </p:spPr>
      </p:sp>
      <p:sp>
        <p:nvSpPr>
          <p:cNvPr id="16" name="Text 13"/>
          <p:cNvSpPr txBox="1"/>
          <p:nvPr/>
        </p:nvSpPr>
        <p:spPr>
          <a:xfrm>
            <a:off x="470916" y="3886200"/>
            <a:ext cx="2561234" cy="11430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【前提2】で費用を賄えた</a:t>
            </a:r>
            <a:endParaRPr lang="en-US" sz="1400" dirty="0"/>
          </a:p>
        </p:txBody>
      </p:sp>
      <p:sp>
        <p:nvSpPr>
          <p:cNvPr id="17" name="Shape 14"/>
          <p:cNvSpPr/>
          <p:nvPr/>
        </p:nvSpPr>
        <p:spPr>
          <a:xfrm rot="5400000">
            <a:off x="3251606" y="3611880"/>
            <a:ext cx="219456" cy="182880"/>
          </a:xfrm>
          <a:prstGeom prst="triangle">
            <a:avLst/>
          </a:prstGeom>
          <a:solidFill>
            <a:srgbClr val="BFBFBF"/>
          </a:solidFill>
          <a:ln/>
        </p:spPr>
      </p:sp>
      <p:sp>
        <p:nvSpPr>
          <p:cNvPr id="18" name="Text 15"/>
          <p:cNvSpPr txBox="1"/>
          <p:nvPr/>
        </p:nvSpPr>
        <p:spPr>
          <a:xfrm>
            <a:off x="3489350" y="1417320"/>
            <a:ext cx="2926994" cy="365760"/>
          </a:xfrm>
          <a:prstGeom prst="rect">
            <a:avLst/>
          </a:prstGeom>
          <a:noFill/>
          <a:ln/>
        </p:spPr>
        <p:txBody>
          <a:bodyPr wrap="square" lIns="0" tIns="0" rIns="0" bIns="0" rtlCol="0" anchor="t"/>
          <a:lstStyle/>
          <a:p>
            <a:pPr indent="0" marL="0">
              <a:buNone/>
            </a:pPr>
            <a:r>
              <a:rPr lang="en-US" sz="1800" b="1" dirty="0">
                <a:solidFill>
                  <a:srgbClr val="000000"/>
                </a:solidFill>
                <a:latin typeface="Yu Gothic UI" pitchFamily="34" charset="0"/>
                <a:ea typeface="Yu Gothic UI" pitchFamily="34" charset="-122"/>
                <a:cs typeface="Yu Gothic UI" pitchFamily="34" charset="-120"/>
              </a:rPr>
              <a:t>課題</a:t>
            </a:r>
            <a:endParaRPr lang="en-US" sz="1800" dirty="0"/>
          </a:p>
        </p:txBody>
      </p:sp>
      <p:sp>
        <p:nvSpPr>
          <p:cNvPr id="19" name="Text 16"/>
          <p:cNvSpPr txBox="1"/>
          <p:nvPr/>
        </p:nvSpPr>
        <p:spPr>
          <a:xfrm>
            <a:off x="3489350" y="1801368"/>
            <a:ext cx="2926994"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前提が崩れた原因</a:t>
            </a:r>
            <a:endParaRPr lang="en-US" sz="1400" dirty="0"/>
          </a:p>
        </p:txBody>
      </p:sp>
      <p:sp>
        <p:nvSpPr>
          <p:cNvPr id="20" name="Shape 17"/>
          <p:cNvSpPr/>
          <p:nvPr/>
        </p:nvSpPr>
        <p:spPr>
          <a:xfrm>
            <a:off x="3489350" y="2148840"/>
            <a:ext cx="2926994" cy="0"/>
          </a:xfrm>
          <a:prstGeom prst="line">
            <a:avLst/>
          </a:prstGeom>
          <a:noFill/>
          <a:ln w="9525">
            <a:solidFill>
              <a:srgbClr val="BFBFBF"/>
            </a:solidFill>
            <a:prstDash val="solid"/>
          </a:ln>
        </p:spPr>
      </p:sp>
      <p:sp>
        <p:nvSpPr>
          <p:cNvPr id="21" name="Shape 18"/>
          <p:cNvSpPr/>
          <p:nvPr/>
        </p:nvSpPr>
        <p:spPr>
          <a:xfrm>
            <a:off x="3489350" y="2423160"/>
            <a:ext cx="2926994" cy="1143000"/>
          </a:xfrm>
          <a:prstGeom prst="rect">
            <a:avLst/>
          </a:prstGeom>
          <a:solidFill>
            <a:srgbClr val="FFFFFF"/>
          </a:solidFill>
          <a:ln w="9525">
            <a:solidFill>
              <a:srgbClr val="BFBFBF"/>
            </a:solidFill>
            <a:prstDash val="solid"/>
          </a:ln>
        </p:spPr>
      </p:sp>
      <p:sp>
        <p:nvSpPr>
          <p:cNvPr id="22" name="Text 19"/>
          <p:cNvSpPr txBox="1"/>
          <p:nvPr/>
        </p:nvSpPr>
        <p:spPr>
          <a:xfrm>
            <a:off x="3672230" y="2423160"/>
            <a:ext cx="2561234" cy="11430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【変化1】で需要が【数値】減少</a:t>
            </a:r>
            <a:endParaRPr lang="en-US" sz="1400" dirty="0"/>
          </a:p>
        </p:txBody>
      </p:sp>
      <p:sp>
        <p:nvSpPr>
          <p:cNvPr id="23" name="Shape 20"/>
          <p:cNvSpPr/>
          <p:nvPr/>
        </p:nvSpPr>
        <p:spPr>
          <a:xfrm>
            <a:off x="3489350" y="3886200"/>
            <a:ext cx="2926994" cy="1143000"/>
          </a:xfrm>
          <a:prstGeom prst="rect">
            <a:avLst/>
          </a:prstGeom>
          <a:solidFill>
            <a:srgbClr val="FFFFFF"/>
          </a:solidFill>
          <a:ln w="9525">
            <a:solidFill>
              <a:srgbClr val="BFBFBF"/>
            </a:solidFill>
            <a:prstDash val="solid"/>
          </a:ln>
        </p:spPr>
      </p:sp>
      <p:sp>
        <p:nvSpPr>
          <p:cNvPr id="24" name="Text 21"/>
          <p:cNvSpPr txBox="1"/>
          <p:nvPr/>
        </p:nvSpPr>
        <p:spPr>
          <a:xfrm>
            <a:off x="3672230" y="3886200"/>
            <a:ext cx="2561234" cy="11430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【変化2】で費用が【数値】増加</a:t>
            </a:r>
            <a:endParaRPr lang="en-US" sz="1400" dirty="0"/>
          </a:p>
        </p:txBody>
      </p:sp>
      <p:sp>
        <p:nvSpPr>
          <p:cNvPr id="25" name="Shape 22"/>
          <p:cNvSpPr/>
          <p:nvPr/>
        </p:nvSpPr>
        <p:spPr>
          <a:xfrm rot="5400000">
            <a:off x="6452921" y="3611880"/>
            <a:ext cx="219456" cy="182880"/>
          </a:xfrm>
          <a:prstGeom prst="triangle">
            <a:avLst/>
          </a:prstGeom>
          <a:solidFill>
            <a:srgbClr val="BFBFBF"/>
          </a:solidFill>
          <a:ln/>
        </p:spPr>
      </p:sp>
      <p:sp>
        <p:nvSpPr>
          <p:cNvPr id="26" name="Text 23"/>
          <p:cNvSpPr txBox="1"/>
          <p:nvPr/>
        </p:nvSpPr>
        <p:spPr>
          <a:xfrm>
            <a:off x="6690665" y="1417320"/>
            <a:ext cx="2926994" cy="365760"/>
          </a:xfrm>
          <a:prstGeom prst="rect">
            <a:avLst/>
          </a:prstGeom>
          <a:noFill/>
          <a:ln/>
        </p:spPr>
        <p:txBody>
          <a:bodyPr wrap="square" lIns="0" tIns="0" rIns="0" bIns="0" rtlCol="0" anchor="t"/>
          <a:lstStyle/>
          <a:p>
            <a:pPr indent="0" marL="0">
              <a:buNone/>
            </a:pPr>
            <a:r>
              <a:rPr lang="en-US" sz="1800" b="1" dirty="0">
                <a:solidFill>
                  <a:srgbClr val="000F78"/>
                </a:solidFill>
                <a:latin typeface="Yu Gothic UI" pitchFamily="34" charset="0"/>
                <a:ea typeface="Yu Gothic UI" pitchFamily="34" charset="-122"/>
                <a:cs typeface="Yu Gothic UI" pitchFamily="34" charset="-120"/>
              </a:rPr>
              <a:t>解決</a:t>
            </a:r>
            <a:endParaRPr lang="en-US" sz="1800" dirty="0"/>
          </a:p>
        </p:txBody>
      </p:sp>
      <p:sp>
        <p:nvSpPr>
          <p:cNvPr id="27" name="Text 24"/>
          <p:cNvSpPr txBox="1"/>
          <p:nvPr/>
        </p:nvSpPr>
        <p:spPr>
          <a:xfrm>
            <a:off x="6690665" y="1801368"/>
            <a:ext cx="2926994"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とるべき打ち手</a:t>
            </a:r>
            <a:endParaRPr lang="en-US" sz="1400" dirty="0"/>
          </a:p>
        </p:txBody>
      </p:sp>
      <p:sp>
        <p:nvSpPr>
          <p:cNvPr id="28" name="Shape 25"/>
          <p:cNvSpPr/>
          <p:nvPr/>
        </p:nvSpPr>
        <p:spPr>
          <a:xfrm>
            <a:off x="6690665" y="2148840"/>
            <a:ext cx="2926994" cy="0"/>
          </a:xfrm>
          <a:prstGeom prst="line">
            <a:avLst/>
          </a:prstGeom>
          <a:noFill/>
          <a:ln w="19050">
            <a:solidFill>
              <a:srgbClr val="000F78"/>
            </a:solidFill>
            <a:prstDash val="solid"/>
          </a:ln>
        </p:spPr>
      </p:sp>
      <p:sp>
        <p:nvSpPr>
          <p:cNvPr id="29" name="Shape 26"/>
          <p:cNvSpPr/>
          <p:nvPr/>
        </p:nvSpPr>
        <p:spPr>
          <a:xfrm>
            <a:off x="6690665" y="2423160"/>
            <a:ext cx="2926994" cy="1143000"/>
          </a:xfrm>
          <a:prstGeom prst="rect">
            <a:avLst/>
          </a:prstGeom>
          <a:solidFill>
            <a:srgbClr val="FFFFFF"/>
          </a:solidFill>
          <a:ln w="15875">
            <a:solidFill>
              <a:srgbClr val="000F78"/>
            </a:solidFill>
            <a:prstDash val="solid"/>
          </a:ln>
        </p:spPr>
      </p:sp>
      <p:sp>
        <p:nvSpPr>
          <p:cNvPr id="30" name="Text 27"/>
          <p:cNvSpPr txBox="1"/>
          <p:nvPr/>
        </p:nvSpPr>
        <p:spPr>
          <a:xfrm>
            <a:off x="6873545" y="2423160"/>
            <a:ext cx="2561234" cy="11430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【打ち手1】で需要を補う</a:t>
            </a:r>
            <a:endParaRPr lang="en-US" sz="1400" dirty="0"/>
          </a:p>
        </p:txBody>
      </p:sp>
      <p:sp>
        <p:nvSpPr>
          <p:cNvPr id="31" name="Shape 28"/>
          <p:cNvSpPr/>
          <p:nvPr/>
        </p:nvSpPr>
        <p:spPr>
          <a:xfrm>
            <a:off x="6690665" y="3886200"/>
            <a:ext cx="2926994" cy="1143000"/>
          </a:xfrm>
          <a:prstGeom prst="rect">
            <a:avLst/>
          </a:prstGeom>
          <a:solidFill>
            <a:srgbClr val="FFFFFF"/>
          </a:solidFill>
          <a:ln w="15875">
            <a:solidFill>
              <a:srgbClr val="000F78"/>
            </a:solidFill>
            <a:prstDash val="solid"/>
          </a:ln>
        </p:spPr>
      </p:sp>
      <p:sp>
        <p:nvSpPr>
          <p:cNvPr id="32" name="Text 29"/>
          <p:cNvSpPr txBox="1"/>
          <p:nvPr/>
        </p:nvSpPr>
        <p:spPr>
          <a:xfrm>
            <a:off x="6873545" y="3886200"/>
            <a:ext cx="2561234" cy="11430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【打ち手2】で費用を抑える</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3つの課題にはそれぞれ対応する打ち手がある。効果が最も大きい【打ち手A】に、他の2つより先に資源を集中して着手すべきである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24</a:t>
            </a:r>
            <a:endParaRPr lang="en-US" sz="900" dirty="0"/>
          </a:p>
        </p:txBody>
      </p:sp>
      <p:sp>
        <p:nvSpPr>
          <p:cNvPr id="10" name="Text 7"/>
          <p:cNvSpPr txBox="1"/>
          <p:nvPr/>
        </p:nvSpPr>
        <p:spPr>
          <a:xfrm>
            <a:off x="288036" y="1417320"/>
            <a:ext cx="338328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課題</a:t>
            </a:r>
            <a:endParaRPr lang="en-US" sz="1400" dirty="0"/>
          </a:p>
        </p:txBody>
      </p:sp>
      <p:sp>
        <p:nvSpPr>
          <p:cNvPr id="11" name="Shape 8"/>
          <p:cNvSpPr/>
          <p:nvPr/>
        </p:nvSpPr>
        <p:spPr>
          <a:xfrm>
            <a:off x="288036" y="1728216"/>
            <a:ext cx="3383280" cy="0"/>
          </a:xfrm>
          <a:prstGeom prst="line">
            <a:avLst/>
          </a:prstGeom>
          <a:noFill/>
          <a:ln w="6350">
            <a:solidFill>
              <a:srgbClr val="BFBFBF"/>
            </a:solidFill>
            <a:prstDash val="solid"/>
          </a:ln>
        </p:spPr>
      </p:sp>
      <p:sp>
        <p:nvSpPr>
          <p:cNvPr id="12" name="Text 9"/>
          <p:cNvSpPr txBox="1"/>
          <p:nvPr/>
        </p:nvSpPr>
        <p:spPr>
          <a:xfrm>
            <a:off x="4585716" y="1417320"/>
            <a:ext cx="338328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打ち手</a:t>
            </a:r>
            <a:endParaRPr lang="en-US" sz="1400" dirty="0"/>
          </a:p>
        </p:txBody>
      </p:sp>
      <p:sp>
        <p:nvSpPr>
          <p:cNvPr id="13" name="Shape 10"/>
          <p:cNvSpPr/>
          <p:nvPr/>
        </p:nvSpPr>
        <p:spPr>
          <a:xfrm>
            <a:off x="4585716" y="1728216"/>
            <a:ext cx="3383280" cy="0"/>
          </a:xfrm>
          <a:prstGeom prst="line">
            <a:avLst/>
          </a:prstGeom>
          <a:noFill/>
          <a:ln w="6350">
            <a:solidFill>
              <a:srgbClr val="BFBFBF"/>
            </a:solidFill>
            <a:prstDash val="solid"/>
          </a:ln>
        </p:spPr>
      </p:sp>
      <p:sp>
        <p:nvSpPr>
          <p:cNvPr id="14" name="Text 11"/>
          <p:cNvSpPr txBox="1"/>
          <p:nvPr/>
        </p:nvSpPr>
        <p:spPr>
          <a:xfrm>
            <a:off x="8154619" y="1417320"/>
            <a:ext cx="640080" cy="274320"/>
          </a:xfrm>
          <a:prstGeom prst="rect">
            <a:avLst/>
          </a:prstGeom>
          <a:noFill/>
          <a:ln/>
        </p:spPr>
        <p:txBody>
          <a:bodyPr wrap="square" lIns="0" tIns="0" rIns="0" bIns="0" rtlCol="0" anchor="t"/>
          <a:lstStyle/>
          <a:p>
            <a:pPr algn="r" indent="0" marL="0">
              <a:buNone/>
            </a:pPr>
            <a:r>
              <a:rPr lang="en-US" sz="1400" b="1" dirty="0">
                <a:solidFill>
                  <a:srgbClr val="000000"/>
                </a:solidFill>
                <a:latin typeface="Yu Gothic UI" pitchFamily="34" charset="0"/>
                <a:ea typeface="Yu Gothic UI" pitchFamily="34" charset="-122"/>
                <a:cs typeface="Yu Gothic UI" pitchFamily="34" charset="-120"/>
              </a:rPr>
              <a:t>効果</a:t>
            </a:r>
            <a:endParaRPr lang="en-US" sz="1400" dirty="0"/>
          </a:p>
        </p:txBody>
      </p:sp>
      <p:sp>
        <p:nvSpPr>
          <p:cNvPr id="15" name="Shape 12"/>
          <p:cNvSpPr/>
          <p:nvPr/>
        </p:nvSpPr>
        <p:spPr>
          <a:xfrm>
            <a:off x="288036" y="2011680"/>
            <a:ext cx="3383280" cy="960120"/>
          </a:xfrm>
          <a:prstGeom prst="rect">
            <a:avLst/>
          </a:prstGeom>
          <a:solidFill>
            <a:srgbClr val="FFFFFF"/>
          </a:solidFill>
          <a:ln w="15875">
            <a:solidFill>
              <a:srgbClr val="000F78"/>
            </a:solidFill>
            <a:prstDash val="solid"/>
          </a:ln>
        </p:spPr>
      </p:sp>
      <p:sp>
        <p:nvSpPr>
          <p:cNvPr id="16" name="Text 13"/>
          <p:cNvSpPr txBox="1"/>
          <p:nvPr/>
        </p:nvSpPr>
        <p:spPr>
          <a:xfrm>
            <a:off x="470916" y="2011680"/>
            <a:ext cx="3017520" cy="96012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1　【課題1】で需要が減少</a:t>
            </a:r>
            <a:endParaRPr lang="en-US" sz="1400" dirty="0"/>
          </a:p>
        </p:txBody>
      </p:sp>
      <p:sp>
        <p:nvSpPr>
          <p:cNvPr id="17" name="Shape 14"/>
          <p:cNvSpPr/>
          <p:nvPr/>
        </p:nvSpPr>
        <p:spPr>
          <a:xfrm>
            <a:off x="3762756" y="2487168"/>
            <a:ext cx="731520" cy="0"/>
          </a:xfrm>
          <a:prstGeom prst="line">
            <a:avLst/>
          </a:prstGeom>
          <a:noFill/>
          <a:ln w="22225">
            <a:solidFill>
              <a:srgbClr val="000F78"/>
            </a:solidFill>
            <a:prstDash val="solid"/>
            <a:tailEnd type="triangle"/>
          </a:ln>
        </p:spPr>
      </p:sp>
      <p:sp>
        <p:nvSpPr>
          <p:cNvPr id="18" name="Shape 15"/>
          <p:cNvSpPr/>
          <p:nvPr/>
        </p:nvSpPr>
        <p:spPr>
          <a:xfrm>
            <a:off x="4585716" y="2011680"/>
            <a:ext cx="3383280" cy="960120"/>
          </a:xfrm>
          <a:prstGeom prst="rect">
            <a:avLst/>
          </a:prstGeom>
          <a:solidFill>
            <a:srgbClr val="FFFFFF"/>
          </a:solidFill>
          <a:ln w="15875">
            <a:solidFill>
              <a:srgbClr val="000F78"/>
            </a:solidFill>
            <a:prstDash val="solid"/>
          </a:ln>
        </p:spPr>
      </p:sp>
      <p:sp>
        <p:nvSpPr>
          <p:cNvPr id="19" name="Text 16"/>
          <p:cNvSpPr txBox="1"/>
          <p:nvPr/>
        </p:nvSpPr>
        <p:spPr>
          <a:xfrm>
            <a:off x="4768596" y="2011680"/>
            <a:ext cx="3017520" cy="96012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【打ち手A】で新たな需要を取り込む</a:t>
            </a:r>
            <a:endParaRPr lang="en-US" sz="1400" dirty="0"/>
          </a:p>
        </p:txBody>
      </p:sp>
      <p:sp>
        <p:nvSpPr>
          <p:cNvPr id="20" name="Text 17"/>
          <p:cNvSpPr txBox="1"/>
          <p:nvPr/>
        </p:nvSpPr>
        <p:spPr>
          <a:xfrm>
            <a:off x="8154619" y="2011680"/>
            <a:ext cx="640080" cy="960120"/>
          </a:xfrm>
          <a:prstGeom prst="rect">
            <a:avLst/>
          </a:prstGeom>
          <a:noFill/>
          <a:ln/>
        </p:spPr>
        <p:txBody>
          <a:bodyPr wrap="square" lIns="0" tIns="0" rIns="0" bIns="0" rtlCol="0" anchor="ctr"/>
          <a:lstStyle/>
          <a:p>
            <a:pPr algn="r" indent="0" marL="0">
              <a:buNone/>
            </a:pPr>
            <a:r>
              <a:rPr lang="en-US" sz="1800" b="1" dirty="0">
                <a:solidFill>
                  <a:srgbClr val="000F78"/>
                </a:solidFill>
                <a:latin typeface="Yu Gothic UI" pitchFamily="34" charset="0"/>
                <a:ea typeface="Yu Gothic UI" pitchFamily="34" charset="-122"/>
                <a:cs typeface="Yu Gothic UI" pitchFamily="34" charset="-120"/>
              </a:rPr>
              <a:t>大</a:t>
            </a:r>
            <a:endParaRPr lang="en-US" sz="1800" dirty="0"/>
          </a:p>
        </p:txBody>
      </p:sp>
      <p:sp>
        <p:nvSpPr>
          <p:cNvPr id="21" name="Shape 18"/>
          <p:cNvSpPr/>
          <p:nvPr/>
        </p:nvSpPr>
        <p:spPr>
          <a:xfrm>
            <a:off x="288036" y="3383280"/>
            <a:ext cx="3383280" cy="960120"/>
          </a:xfrm>
          <a:prstGeom prst="rect">
            <a:avLst/>
          </a:prstGeom>
          <a:solidFill>
            <a:srgbClr val="FFFFFF"/>
          </a:solidFill>
          <a:ln w="9525">
            <a:solidFill>
              <a:srgbClr val="BFBFBF"/>
            </a:solidFill>
            <a:prstDash val="solid"/>
          </a:ln>
        </p:spPr>
      </p:sp>
      <p:sp>
        <p:nvSpPr>
          <p:cNvPr id="22" name="Text 19"/>
          <p:cNvSpPr txBox="1"/>
          <p:nvPr/>
        </p:nvSpPr>
        <p:spPr>
          <a:xfrm>
            <a:off x="470916" y="3383280"/>
            <a:ext cx="3017520"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2　【課題2】で費用が増加</a:t>
            </a:r>
            <a:endParaRPr lang="en-US" sz="1400" dirty="0"/>
          </a:p>
        </p:txBody>
      </p:sp>
      <p:sp>
        <p:nvSpPr>
          <p:cNvPr id="23" name="Shape 20"/>
          <p:cNvSpPr/>
          <p:nvPr/>
        </p:nvSpPr>
        <p:spPr>
          <a:xfrm>
            <a:off x="3762756" y="3858768"/>
            <a:ext cx="731520" cy="0"/>
          </a:xfrm>
          <a:prstGeom prst="line">
            <a:avLst/>
          </a:prstGeom>
          <a:noFill/>
          <a:ln w="12700">
            <a:solidFill>
              <a:srgbClr val="7F7F7F"/>
            </a:solidFill>
            <a:prstDash val="solid"/>
            <a:tailEnd type="triangle"/>
          </a:ln>
        </p:spPr>
      </p:sp>
      <p:sp>
        <p:nvSpPr>
          <p:cNvPr id="24" name="Shape 21"/>
          <p:cNvSpPr/>
          <p:nvPr/>
        </p:nvSpPr>
        <p:spPr>
          <a:xfrm>
            <a:off x="4585716" y="3383280"/>
            <a:ext cx="3383280" cy="960120"/>
          </a:xfrm>
          <a:prstGeom prst="rect">
            <a:avLst/>
          </a:prstGeom>
          <a:solidFill>
            <a:srgbClr val="FFFFFF"/>
          </a:solidFill>
          <a:ln w="9525">
            <a:solidFill>
              <a:srgbClr val="BFBFBF"/>
            </a:solidFill>
            <a:prstDash val="solid"/>
          </a:ln>
        </p:spPr>
      </p:sp>
      <p:sp>
        <p:nvSpPr>
          <p:cNvPr id="25" name="Text 22"/>
          <p:cNvSpPr txBox="1"/>
          <p:nvPr/>
        </p:nvSpPr>
        <p:spPr>
          <a:xfrm>
            <a:off x="4768596" y="3383280"/>
            <a:ext cx="3017520"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【打ち手B】で業務を共同化する</a:t>
            </a:r>
            <a:endParaRPr lang="en-US" sz="1400" dirty="0"/>
          </a:p>
        </p:txBody>
      </p:sp>
      <p:sp>
        <p:nvSpPr>
          <p:cNvPr id="26" name="Text 23"/>
          <p:cNvSpPr txBox="1"/>
          <p:nvPr/>
        </p:nvSpPr>
        <p:spPr>
          <a:xfrm>
            <a:off x="8154619" y="3383280"/>
            <a:ext cx="640080" cy="960120"/>
          </a:xfrm>
          <a:prstGeom prst="rect">
            <a:avLst/>
          </a:prstGeom>
          <a:noFill/>
          <a:ln/>
        </p:spPr>
        <p:txBody>
          <a:bodyPr wrap="square" lIns="0" tIns="0" rIns="0" bIns="0" rtlCol="0" anchor="ctr"/>
          <a:lstStyle/>
          <a:p>
            <a:pPr algn="r" indent="0" marL="0">
              <a:buNone/>
            </a:pPr>
            <a:r>
              <a:rPr lang="en-US" sz="1800" b="1" dirty="0">
                <a:solidFill>
                  <a:srgbClr val="595959"/>
                </a:solidFill>
                <a:latin typeface="Yu Gothic UI" pitchFamily="34" charset="0"/>
                <a:ea typeface="Yu Gothic UI" pitchFamily="34" charset="-122"/>
                <a:cs typeface="Yu Gothic UI" pitchFamily="34" charset="-120"/>
              </a:rPr>
              <a:t>中</a:t>
            </a:r>
            <a:endParaRPr lang="en-US" sz="1800" dirty="0"/>
          </a:p>
        </p:txBody>
      </p:sp>
      <p:sp>
        <p:nvSpPr>
          <p:cNvPr id="27" name="Shape 24"/>
          <p:cNvSpPr/>
          <p:nvPr/>
        </p:nvSpPr>
        <p:spPr>
          <a:xfrm>
            <a:off x="288036" y="4754880"/>
            <a:ext cx="3383280" cy="960120"/>
          </a:xfrm>
          <a:prstGeom prst="rect">
            <a:avLst/>
          </a:prstGeom>
          <a:solidFill>
            <a:srgbClr val="FFFFFF"/>
          </a:solidFill>
          <a:ln w="9525">
            <a:solidFill>
              <a:srgbClr val="BFBFBF"/>
            </a:solidFill>
            <a:prstDash val="solid"/>
          </a:ln>
        </p:spPr>
      </p:sp>
      <p:sp>
        <p:nvSpPr>
          <p:cNvPr id="28" name="Text 25"/>
          <p:cNvSpPr txBox="1"/>
          <p:nvPr/>
        </p:nvSpPr>
        <p:spPr>
          <a:xfrm>
            <a:off x="470916" y="4754880"/>
            <a:ext cx="3017520"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3　【課題3】で担い手が不足</a:t>
            </a:r>
            <a:endParaRPr lang="en-US" sz="1400" dirty="0"/>
          </a:p>
        </p:txBody>
      </p:sp>
      <p:sp>
        <p:nvSpPr>
          <p:cNvPr id="29" name="Shape 26"/>
          <p:cNvSpPr/>
          <p:nvPr/>
        </p:nvSpPr>
        <p:spPr>
          <a:xfrm>
            <a:off x="3762756" y="5230368"/>
            <a:ext cx="731520" cy="0"/>
          </a:xfrm>
          <a:prstGeom prst="line">
            <a:avLst/>
          </a:prstGeom>
          <a:noFill/>
          <a:ln w="12700">
            <a:solidFill>
              <a:srgbClr val="7F7F7F"/>
            </a:solidFill>
            <a:prstDash val="solid"/>
            <a:tailEnd type="triangle"/>
          </a:ln>
        </p:spPr>
      </p:sp>
      <p:sp>
        <p:nvSpPr>
          <p:cNvPr id="30" name="Shape 27"/>
          <p:cNvSpPr/>
          <p:nvPr/>
        </p:nvSpPr>
        <p:spPr>
          <a:xfrm>
            <a:off x="4585716" y="4754880"/>
            <a:ext cx="3383280" cy="960120"/>
          </a:xfrm>
          <a:prstGeom prst="rect">
            <a:avLst/>
          </a:prstGeom>
          <a:solidFill>
            <a:srgbClr val="FFFFFF"/>
          </a:solidFill>
          <a:ln w="9525">
            <a:solidFill>
              <a:srgbClr val="BFBFBF"/>
            </a:solidFill>
            <a:prstDash val="solid"/>
          </a:ln>
        </p:spPr>
      </p:sp>
      <p:sp>
        <p:nvSpPr>
          <p:cNvPr id="31" name="Text 28"/>
          <p:cNvSpPr txBox="1"/>
          <p:nvPr/>
        </p:nvSpPr>
        <p:spPr>
          <a:xfrm>
            <a:off x="4768596" y="4754880"/>
            <a:ext cx="3017520" cy="96012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【打ち手C】で外部人材を活用する</a:t>
            </a:r>
            <a:endParaRPr lang="en-US" sz="1400" dirty="0"/>
          </a:p>
        </p:txBody>
      </p:sp>
      <p:sp>
        <p:nvSpPr>
          <p:cNvPr id="32" name="Text 29"/>
          <p:cNvSpPr txBox="1"/>
          <p:nvPr/>
        </p:nvSpPr>
        <p:spPr>
          <a:xfrm>
            <a:off x="8154619" y="4754880"/>
            <a:ext cx="640080" cy="960120"/>
          </a:xfrm>
          <a:prstGeom prst="rect">
            <a:avLst/>
          </a:prstGeom>
          <a:noFill/>
          <a:ln/>
        </p:spPr>
        <p:txBody>
          <a:bodyPr wrap="square" lIns="0" tIns="0" rIns="0" bIns="0" rtlCol="0" anchor="ctr"/>
          <a:lstStyle/>
          <a:p>
            <a:pPr algn="r" indent="0" marL="0">
              <a:buNone/>
            </a:pPr>
            <a:r>
              <a:rPr lang="en-US" sz="1800" b="1" dirty="0">
                <a:solidFill>
                  <a:srgbClr val="595959"/>
                </a:solidFill>
                <a:latin typeface="Yu Gothic UI" pitchFamily="34" charset="0"/>
                <a:ea typeface="Yu Gothic UI" pitchFamily="34" charset="-122"/>
                <a:cs typeface="Yu Gothic UI" pitchFamily="34" charset="-120"/>
              </a:rPr>
              <a:t>中</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導入は5工程で進め、利用者に影響が出るのは工程4からである。工程3までに【準備事項】を終えることが、計画どおり進む条件となる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導入の工程</a:t>
            </a:r>
            <a:pPr indent="0" marL="0">
              <a:buNone/>
            </a:pPr>
            <a:r>
              <a:rPr lang="en-US" sz="1100" dirty="0">
                <a:solidFill>
                  <a:srgbClr val="595959"/>
                </a:solidFill>
                <a:latin typeface="Yu Gothic UI" pitchFamily="34" charset="0"/>
                <a:ea typeface="Yu Gothic UI" pitchFamily="34" charset="-122"/>
                <a:cs typeface="Yu Gothic UI" pitchFamily="34" charset="-120"/>
              </a:rPr>
              <a:t>　（【期間】）</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25</a:t>
            </a:r>
            <a:endParaRPr lang="en-US" sz="900" dirty="0"/>
          </a:p>
        </p:txBody>
      </p:sp>
      <p:sp>
        <p:nvSpPr>
          <p:cNvPr id="12" name="Shape 9"/>
          <p:cNvSpPr/>
          <p:nvPr/>
        </p:nvSpPr>
        <p:spPr>
          <a:xfrm>
            <a:off x="288036" y="1965960"/>
            <a:ext cx="1975653" cy="685800"/>
          </a:xfrm>
          <a:prstGeom prst="homePlate">
            <a:avLst/>
          </a:prstGeom>
          <a:solidFill>
            <a:srgbClr val="FFFFFF"/>
          </a:solidFill>
          <a:ln w="12700">
            <a:solidFill>
              <a:srgbClr val="7F7F7F"/>
            </a:solidFill>
            <a:prstDash val="solid"/>
          </a:ln>
        </p:spPr>
      </p:sp>
      <p:sp>
        <p:nvSpPr>
          <p:cNvPr id="13" name="Text 10"/>
          <p:cNvSpPr txBox="1"/>
          <p:nvPr/>
        </p:nvSpPr>
        <p:spPr>
          <a:xfrm>
            <a:off x="562356" y="1965960"/>
            <a:ext cx="1472733"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1　現状把握</a:t>
            </a:r>
            <a:endParaRPr lang="en-US" sz="1400" dirty="0"/>
          </a:p>
        </p:txBody>
      </p:sp>
      <p:sp>
        <p:nvSpPr>
          <p:cNvPr id="14" name="Text 11"/>
          <p:cNvSpPr txBox="1"/>
          <p:nvPr/>
        </p:nvSpPr>
        <p:spPr>
          <a:xfrm>
            <a:off x="379476" y="2788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【期間】</a:t>
            </a:r>
            <a:endParaRPr lang="en-US" sz="1400" dirty="0"/>
          </a:p>
        </p:txBody>
      </p:sp>
      <p:sp>
        <p:nvSpPr>
          <p:cNvPr id="15" name="Text 12"/>
          <p:cNvSpPr txBox="1"/>
          <p:nvPr/>
        </p:nvSpPr>
        <p:spPr>
          <a:xfrm>
            <a:off x="379476" y="3200400"/>
            <a:ext cx="1701333" cy="5943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利用実態を調べる</a:t>
            </a:r>
            <a:endParaRPr lang="en-US" sz="1400" dirty="0"/>
          </a:p>
        </p:txBody>
      </p:sp>
      <p:sp>
        <p:nvSpPr>
          <p:cNvPr id="16" name="Text 13"/>
          <p:cNvSpPr txBox="1"/>
          <p:nvPr/>
        </p:nvSpPr>
        <p:spPr>
          <a:xfrm>
            <a:off x="379476" y="3931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担当：【主体】</a:t>
            </a:r>
            <a:endParaRPr lang="en-US" sz="1400" dirty="0"/>
          </a:p>
        </p:txBody>
      </p:sp>
      <p:sp>
        <p:nvSpPr>
          <p:cNvPr id="17" name="Shape 14"/>
          <p:cNvSpPr/>
          <p:nvPr/>
        </p:nvSpPr>
        <p:spPr>
          <a:xfrm>
            <a:off x="2126529" y="1965960"/>
            <a:ext cx="1975653" cy="685800"/>
          </a:xfrm>
          <a:prstGeom prst="chevron">
            <a:avLst/>
          </a:prstGeom>
          <a:solidFill>
            <a:srgbClr val="FFFFFF"/>
          </a:solidFill>
          <a:ln w="12700">
            <a:solidFill>
              <a:srgbClr val="7F7F7F"/>
            </a:solidFill>
            <a:prstDash val="solid"/>
          </a:ln>
        </p:spPr>
      </p:sp>
      <p:sp>
        <p:nvSpPr>
          <p:cNvPr id="18" name="Text 15"/>
          <p:cNvSpPr txBox="1"/>
          <p:nvPr/>
        </p:nvSpPr>
        <p:spPr>
          <a:xfrm>
            <a:off x="2400849" y="1965960"/>
            <a:ext cx="1472733"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2　設計</a:t>
            </a:r>
            <a:endParaRPr lang="en-US" sz="1400" dirty="0"/>
          </a:p>
        </p:txBody>
      </p:sp>
      <p:sp>
        <p:nvSpPr>
          <p:cNvPr id="19" name="Text 16"/>
          <p:cNvSpPr txBox="1"/>
          <p:nvPr/>
        </p:nvSpPr>
        <p:spPr>
          <a:xfrm>
            <a:off x="2217969" y="2788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【期間】</a:t>
            </a:r>
            <a:endParaRPr lang="en-US" sz="1400" dirty="0"/>
          </a:p>
        </p:txBody>
      </p:sp>
      <p:sp>
        <p:nvSpPr>
          <p:cNvPr id="20" name="Text 17"/>
          <p:cNvSpPr txBox="1"/>
          <p:nvPr/>
        </p:nvSpPr>
        <p:spPr>
          <a:xfrm>
            <a:off x="2217969" y="3200400"/>
            <a:ext cx="1701333" cy="5943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運用ルールを決める</a:t>
            </a:r>
            <a:endParaRPr lang="en-US" sz="1400" dirty="0"/>
          </a:p>
        </p:txBody>
      </p:sp>
      <p:sp>
        <p:nvSpPr>
          <p:cNvPr id="21" name="Text 18"/>
          <p:cNvSpPr txBox="1"/>
          <p:nvPr/>
        </p:nvSpPr>
        <p:spPr>
          <a:xfrm>
            <a:off x="2217969" y="3931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担当：【主体】</a:t>
            </a:r>
            <a:endParaRPr lang="en-US" sz="1400" dirty="0"/>
          </a:p>
        </p:txBody>
      </p:sp>
      <p:sp>
        <p:nvSpPr>
          <p:cNvPr id="22" name="Shape 19"/>
          <p:cNvSpPr/>
          <p:nvPr/>
        </p:nvSpPr>
        <p:spPr>
          <a:xfrm>
            <a:off x="3965021" y="1965960"/>
            <a:ext cx="1975653" cy="685800"/>
          </a:xfrm>
          <a:prstGeom prst="chevron">
            <a:avLst/>
          </a:prstGeom>
          <a:solidFill>
            <a:srgbClr val="FFFFFF"/>
          </a:solidFill>
          <a:ln w="12700">
            <a:solidFill>
              <a:srgbClr val="7F7F7F"/>
            </a:solidFill>
            <a:prstDash val="solid"/>
          </a:ln>
        </p:spPr>
      </p:sp>
      <p:sp>
        <p:nvSpPr>
          <p:cNvPr id="23" name="Text 20"/>
          <p:cNvSpPr txBox="1"/>
          <p:nvPr/>
        </p:nvSpPr>
        <p:spPr>
          <a:xfrm>
            <a:off x="4239341" y="1965960"/>
            <a:ext cx="1472733"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3　準備</a:t>
            </a:r>
            <a:endParaRPr lang="en-US" sz="1400" dirty="0"/>
          </a:p>
        </p:txBody>
      </p:sp>
      <p:sp>
        <p:nvSpPr>
          <p:cNvPr id="24" name="Text 21"/>
          <p:cNvSpPr txBox="1"/>
          <p:nvPr/>
        </p:nvSpPr>
        <p:spPr>
          <a:xfrm>
            <a:off x="4056461" y="2788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【期間】</a:t>
            </a:r>
            <a:endParaRPr lang="en-US" sz="1400" dirty="0"/>
          </a:p>
        </p:txBody>
      </p:sp>
      <p:sp>
        <p:nvSpPr>
          <p:cNvPr id="25" name="Text 22"/>
          <p:cNvSpPr txBox="1"/>
          <p:nvPr/>
        </p:nvSpPr>
        <p:spPr>
          <a:xfrm>
            <a:off x="4056461" y="3200400"/>
            <a:ext cx="1701333" cy="5943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設備と人を用意する</a:t>
            </a:r>
            <a:endParaRPr lang="en-US" sz="1400" dirty="0"/>
          </a:p>
        </p:txBody>
      </p:sp>
      <p:sp>
        <p:nvSpPr>
          <p:cNvPr id="26" name="Text 23"/>
          <p:cNvSpPr txBox="1"/>
          <p:nvPr/>
        </p:nvSpPr>
        <p:spPr>
          <a:xfrm>
            <a:off x="4056461" y="3931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担当：【主体】</a:t>
            </a:r>
            <a:endParaRPr lang="en-US" sz="1400" dirty="0"/>
          </a:p>
        </p:txBody>
      </p:sp>
      <p:sp>
        <p:nvSpPr>
          <p:cNvPr id="27" name="Shape 24"/>
          <p:cNvSpPr/>
          <p:nvPr/>
        </p:nvSpPr>
        <p:spPr>
          <a:xfrm>
            <a:off x="5803514" y="1965960"/>
            <a:ext cx="1975653" cy="685800"/>
          </a:xfrm>
          <a:prstGeom prst="chevron">
            <a:avLst/>
          </a:prstGeom>
          <a:solidFill>
            <a:srgbClr val="000F78"/>
          </a:solidFill>
          <a:ln w="12700">
            <a:solidFill>
              <a:srgbClr val="000F78"/>
            </a:solidFill>
            <a:prstDash val="solid"/>
          </a:ln>
        </p:spPr>
      </p:sp>
      <p:sp>
        <p:nvSpPr>
          <p:cNvPr id="28" name="Text 25"/>
          <p:cNvSpPr txBox="1"/>
          <p:nvPr/>
        </p:nvSpPr>
        <p:spPr>
          <a:xfrm>
            <a:off x="6077834" y="1965960"/>
            <a:ext cx="1472733" cy="685800"/>
          </a:xfrm>
          <a:prstGeom prst="rect">
            <a:avLst/>
          </a:prstGeom>
          <a:noFill/>
          <a:ln/>
        </p:spPr>
        <p:txBody>
          <a:bodyPr wrap="square" lIns="0" tIns="0" rIns="0" bIns="0" rtlCol="0" anchor="ctr"/>
          <a:lstStyle/>
          <a:p>
            <a:pPr indent="0" marL="0">
              <a:buNone/>
            </a:pPr>
            <a:r>
              <a:rPr lang="en-US" sz="1400" b="1" dirty="0">
                <a:solidFill>
                  <a:srgbClr val="FFFFFF"/>
                </a:solidFill>
                <a:latin typeface="Yu Gothic UI" pitchFamily="34" charset="0"/>
                <a:ea typeface="Yu Gothic UI" pitchFamily="34" charset="-122"/>
                <a:cs typeface="Yu Gothic UI" pitchFamily="34" charset="-120"/>
              </a:rPr>
              <a:t>4　試行</a:t>
            </a:r>
            <a:endParaRPr lang="en-US" sz="1400" dirty="0"/>
          </a:p>
        </p:txBody>
      </p:sp>
      <p:sp>
        <p:nvSpPr>
          <p:cNvPr id="29" name="Text 26"/>
          <p:cNvSpPr txBox="1"/>
          <p:nvPr/>
        </p:nvSpPr>
        <p:spPr>
          <a:xfrm>
            <a:off x="5894954" y="2788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【期間】</a:t>
            </a:r>
            <a:endParaRPr lang="en-US" sz="1400" dirty="0"/>
          </a:p>
        </p:txBody>
      </p:sp>
      <p:sp>
        <p:nvSpPr>
          <p:cNvPr id="30" name="Text 27"/>
          <p:cNvSpPr txBox="1"/>
          <p:nvPr/>
        </p:nvSpPr>
        <p:spPr>
          <a:xfrm>
            <a:off x="5894954" y="3200400"/>
            <a:ext cx="1701333" cy="5943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一部地域で試す</a:t>
            </a:r>
            <a:endParaRPr lang="en-US" sz="1400" dirty="0"/>
          </a:p>
        </p:txBody>
      </p:sp>
      <p:sp>
        <p:nvSpPr>
          <p:cNvPr id="31" name="Text 28"/>
          <p:cNvSpPr txBox="1"/>
          <p:nvPr/>
        </p:nvSpPr>
        <p:spPr>
          <a:xfrm>
            <a:off x="5894954" y="3931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担当：【主体】</a:t>
            </a:r>
            <a:endParaRPr lang="en-US" sz="1400" dirty="0"/>
          </a:p>
        </p:txBody>
      </p:sp>
      <p:sp>
        <p:nvSpPr>
          <p:cNvPr id="32" name="Shape 29"/>
          <p:cNvSpPr/>
          <p:nvPr/>
        </p:nvSpPr>
        <p:spPr>
          <a:xfrm>
            <a:off x="7642007" y="1965960"/>
            <a:ext cx="1975653" cy="685800"/>
          </a:xfrm>
          <a:prstGeom prst="chevron">
            <a:avLst/>
          </a:prstGeom>
          <a:solidFill>
            <a:srgbClr val="FFFFFF"/>
          </a:solidFill>
          <a:ln w="12700">
            <a:solidFill>
              <a:srgbClr val="7F7F7F"/>
            </a:solidFill>
            <a:prstDash val="solid"/>
          </a:ln>
        </p:spPr>
      </p:sp>
      <p:sp>
        <p:nvSpPr>
          <p:cNvPr id="33" name="Text 30"/>
          <p:cNvSpPr txBox="1"/>
          <p:nvPr/>
        </p:nvSpPr>
        <p:spPr>
          <a:xfrm>
            <a:off x="7916327" y="1965960"/>
            <a:ext cx="1472733"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5　本格運用</a:t>
            </a:r>
            <a:endParaRPr lang="en-US" sz="1400" dirty="0"/>
          </a:p>
        </p:txBody>
      </p:sp>
      <p:sp>
        <p:nvSpPr>
          <p:cNvPr id="34" name="Text 31"/>
          <p:cNvSpPr txBox="1"/>
          <p:nvPr/>
        </p:nvSpPr>
        <p:spPr>
          <a:xfrm>
            <a:off x="7733447" y="2788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【時期】〜</a:t>
            </a:r>
            <a:endParaRPr lang="en-US" sz="1400" dirty="0"/>
          </a:p>
        </p:txBody>
      </p:sp>
      <p:sp>
        <p:nvSpPr>
          <p:cNvPr id="35" name="Text 32"/>
          <p:cNvSpPr txBox="1"/>
          <p:nvPr/>
        </p:nvSpPr>
        <p:spPr>
          <a:xfrm>
            <a:off x="7733447" y="3200400"/>
            <a:ext cx="1701333" cy="5943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全域に広げる</a:t>
            </a:r>
            <a:endParaRPr lang="en-US" sz="1400" dirty="0"/>
          </a:p>
        </p:txBody>
      </p:sp>
      <p:sp>
        <p:nvSpPr>
          <p:cNvPr id="36" name="Text 33"/>
          <p:cNvSpPr txBox="1"/>
          <p:nvPr/>
        </p:nvSpPr>
        <p:spPr>
          <a:xfrm>
            <a:off x="7733447" y="3931920"/>
            <a:ext cx="1701333"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担当：【主体】</a:t>
            </a:r>
            <a:endParaRPr lang="en-US" sz="1400" dirty="0"/>
          </a:p>
        </p:txBody>
      </p:sp>
      <p:sp>
        <p:nvSpPr>
          <p:cNvPr id="37" name="Shape 34"/>
          <p:cNvSpPr/>
          <p:nvPr/>
        </p:nvSpPr>
        <p:spPr>
          <a:xfrm>
            <a:off x="288036" y="4434840"/>
            <a:ext cx="9329623" cy="0"/>
          </a:xfrm>
          <a:prstGeom prst="line">
            <a:avLst/>
          </a:prstGeom>
          <a:noFill/>
          <a:ln w="9525">
            <a:solidFill>
              <a:srgbClr val="E7E6E6"/>
            </a:solidFill>
            <a:prstDash val="solid"/>
          </a:ln>
        </p:spPr>
      </p:sp>
      <p:sp>
        <p:nvSpPr>
          <p:cNvPr id="38" name="Text 35"/>
          <p:cNvSpPr txBox="1"/>
          <p:nvPr/>
        </p:nvSpPr>
        <p:spPr>
          <a:xfrm>
            <a:off x="288036" y="4617720"/>
            <a:ext cx="9329623"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工程4の開始条件：【条件1】と【条件2】を満たすこと</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全体の完了時期は最も長い【作業B】で決まる。【作業B】に着手する【時期】までに予算を確定できるかが、計画の成否を分ける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スケジュール</a:t>
            </a:r>
            <a:pPr indent="0" marL="0">
              <a:buNone/>
            </a:pPr>
            <a:r>
              <a:rPr lang="en-US" sz="1100" dirty="0">
                <a:solidFill>
                  <a:srgbClr val="595959"/>
                </a:solidFill>
                <a:latin typeface="Yu Gothic UI" pitchFamily="34" charset="0"/>
                <a:ea typeface="Yu Gothic UI" pitchFamily="34" charset="-122"/>
                <a:cs typeface="Yu Gothic UI" pitchFamily="34" charset="-120"/>
              </a:rPr>
              <a:t>　（【年度】）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26</a:t>
            </a:r>
            <a:endParaRPr lang="en-US" sz="900" dirty="0"/>
          </a:p>
        </p:txBody>
      </p:sp>
      <p:sp>
        <p:nvSpPr>
          <p:cNvPr id="12" name="Text 9"/>
          <p:cNvSpPr txBox="1"/>
          <p:nvPr/>
        </p:nvSpPr>
        <p:spPr>
          <a:xfrm>
            <a:off x="2848356"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4月</a:t>
            </a:r>
            <a:endParaRPr lang="en-US" sz="1400" dirty="0"/>
          </a:p>
        </p:txBody>
      </p:sp>
      <p:sp>
        <p:nvSpPr>
          <p:cNvPr id="13" name="Text 10"/>
          <p:cNvSpPr txBox="1"/>
          <p:nvPr/>
        </p:nvSpPr>
        <p:spPr>
          <a:xfrm>
            <a:off x="3412465"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5月</a:t>
            </a:r>
            <a:endParaRPr lang="en-US" sz="1400" dirty="0"/>
          </a:p>
        </p:txBody>
      </p:sp>
      <p:sp>
        <p:nvSpPr>
          <p:cNvPr id="14" name="Shape 11"/>
          <p:cNvSpPr/>
          <p:nvPr/>
        </p:nvSpPr>
        <p:spPr>
          <a:xfrm>
            <a:off x="3412465" y="2240280"/>
            <a:ext cx="0" cy="3566160"/>
          </a:xfrm>
          <a:prstGeom prst="line">
            <a:avLst/>
          </a:prstGeom>
          <a:noFill/>
          <a:ln w="9525">
            <a:solidFill>
              <a:srgbClr val="F2F2F2"/>
            </a:solidFill>
            <a:prstDash val="solid"/>
          </a:ln>
        </p:spPr>
      </p:sp>
      <p:sp>
        <p:nvSpPr>
          <p:cNvPr id="15" name="Text 12"/>
          <p:cNvSpPr txBox="1"/>
          <p:nvPr/>
        </p:nvSpPr>
        <p:spPr>
          <a:xfrm>
            <a:off x="3976573"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6月</a:t>
            </a:r>
            <a:endParaRPr lang="en-US" sz="1400" dirty="0"/>
          </a:p>
        </p:txBody>
      </p:sp>
      <p:sp>
        <p:nvSpPr>
          <p:cNvPr id="16" name="Shape 13"/>
          <p:cNvSpPr/>
          <p:nvPr/>
        </p:nvSpPr>
        <p:spPr>
          <a:xfrm>
            <a:off x="3976573" y="2240280"/>
            <a:ext cx="0" cy="3566160"/>
          </a:xfrm>
          <a:prstGeom prst="line">
            <a:avLst/>
          </a:prstGeom>
          <a:noFill/>
          <a:ln w="9525">
            <a:solidFill>
              <a:srgbClr val="F2F2F2"/>
            </a:solidFill>
            <a:prstDash val="solid"/>
          </a:ln>
        </p:spPr>
      </p:sp>
      <p:sp>
        <p:nvSpPr>
          <p:cNvPr id="17" name="Text 14"/>
          <p:cNvSpPr txBox="1"/>
          <p:nvPr/>
        </p:nvSpPr>
        <p:spPr>
          <a:xfrm>
            <a:off x="4540682"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7月</a:t>
            </a:r>
            <a:endParaRPr lang="en-US" sz="1400" dirty="0"/>
          </a:p>
        </p:txBody>
      </p:sp>
      <p:sp>
        <p:nvSpPr>
          <p:cNvPr id="18" name="Shape 15"/>
          <p:cNvSpPr/>
          <p:nvPr/>
        </p:nvSpPr>
        <p:spPr>
          <a:xfrm>
            <a:off x="4540682" y="2240280"/>
            <a:ext cx="0" cy="3566160"/>
          </a:xfrm>
          <a:prstGeom prst="line">
            <a:avLst/>
          </a:prstGeom>
          <a:noFill/>
          <a:ln w="9525">
            <a:solidFill>
              <a:srgbClr val="F2F2F2"/>
            </a:solidFill>
            <a:prstDash val="solid"/>
          </a:ln>
        </p:spPr>
      </p:sp>
      <p:sp>
        <p:nvSpPr>
          <p:cNvPr id="19" name="Text 16"/>
          <p:cNvSpPr txBox="1"/>
          <p:nvPr/>
        </p:nvSpPr>
        <p:spPr>
          <a:xfrm>
            <a:off x="5104790"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8月</a:t>
            </a:r>
            <a:endParaRPr lang="en-US" sz="1400" dirty="0"/>
          </a:p>
        </p:txBody>
      </p:sp>
      <p:sp>
        <p:nvSpPr>
          <p:cNvPr id="20" name="Shape 17"/>
          <p:cNvSpPr/>
          <p:nvPr/>
        </p:nvSpPr>
        <p:spPr>
          <a:xfrm>
            <a:off x="5104790" y="2240280"/>
            <a:ext cx="0" cy="3566160"/>
          </a:xfrm>
          <a:prstGeom prst="line">
            <a:avLst/>
          </a:prstGeom>
          <a:noFill/>
          <a:ln w="9525">
            <a:solidFill>
              <a:srgbClr val="F2F2F2"/>
            </a:solidFill>
            <a:prstDash val="solid"/>
          </a:ln>
        </p:spPr>
      </p:sp>
      <p:sp>
        <p:nvSpPr>
          <p:cNvPr id="21" name="Text 18"/>
          <p:cNvSpPr txBox="1"/>
          <p:nvPr/>
        </p:nvSpPr>
        <p:spPr>
          <a:xfrm>
            <a:off x="5668899"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9月</a:t>
            </a:r>
            <a:endParaRPr lang="en-US" sz="1400" dirty="0"/>
          </a:p>
        </p:txBody>
      </p:sp>
      <p:sp>
        <p:nvSpPr>
          <p:cNvPr id="22" name="Shape 19"/>
          <p:cNvSpPr/>
          <p:nvPr/>
        </p:nvSpPr>
        <p:spPr>
          <a:xfrm>
            <a:off x="5668899" y="2240280"/>
            <a:ext cx="0" cy="3566160"/>
          </a:xfrm>
          <a:prstGeom prst="line">
            <a:avLst/>
          </a:prstGeom>
          <a:noFill/>
          <a:ln w="9525">
            <a:solidFill>
              <a:srgbClr val="F2F2F2"/>
            </a:solidFill>
            <a:prstDash val="solid"/>
          </a:ln>
        </p:spPr>
      </p:sp>
      <p:sp>
        <p:nvSpPr>
          <p:cNvPr id="23" name="Text 20"/>
          <p:cNvSpPr txBox="1"/>
          <p:nvPr/>
        </p:nvSpPr>
        <p:spPr>
          <a:xfrm>
            <a:off x="6233008"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10月</a:t>
            </a:r>
            <a:endParaRPr lang="en-US" sz="1400" dirty="0"/>
          </a:p>
        </p:txBody>
      </p:sp>
      <p:sp>
        <p:nvSpPr>
          <p:cNvPr id="24" name="Shape 21"/>
          <p:cNvSpPr/>
          <p:nvPr/>
        </p:nvSpPr>
        <p:spPr>
          <a:xfrm>
            <a:off x="6233008" y="2240280"/>
            <a:ext cx="0" cy="3566160"/>
          </a:xfrm>
          <a:prstGeom prst="line">
            <a:avLst/>
          </a:prstGeom>
          <a:noFill/>
          <a:ln w="9525">
            <a:solidFill>
              <a:srgbClr val="F2F2F2"/>
            </a:solidFill>
            <a:prstDash val="solid"/>
          </a:ln>
        </p:spPr>
      </p:sp>
      <p:sp>
        <p:nvSpPr>
          <p:cNvPr id="25" name="Text 22"/>
          <p:cNvSpPr txBox="1"/>
          <p:nvPr/>
        </p:nvSpPr>
        <p:spPr>
          <a:xfrm>
            <a:off x="6797116"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11月</a:t>
            </a:r>
            <a:endParaRPr lang="en-US" sz="1400" dirty="0"/>
          </a:p>
        </p:txBody>
      </p:sp>
      <p:sp>
        <p:nvSpPr>
          <p:cNvPr id="26" name="Shape 23"/>
          <p:cNvSpPr/>
          <p:nvPr/>
        </p:nvSpPr>
        <p:spPr>
          <a:xfrm>
            <a:off x="6797116" y="2240280"/>
            <a:ext cx="0" cy="3566160"/>
          </a:xfrm>
          <a:prstGeom prst="line">
            <a:avLst/>
          </a:prstGeom>
          <a:noFill/>
          <a:ln w="9525">
            <a:solidFill>
              <a:srgbClr val="F2F2F2"/>
            </a:solidFill>
            <a:prstDash val="solid"/>
          </a:ln>
        </p:spPr>
      </p:sp>
      <p:sp>
        <p:nvSpPr>
          <p:cNvPr id="27" name="Text 24"/>
          <p:cNvSpPr txBox="1"/>
          <p:nvPr/>
        </p:nvSpPr>
        <p:spPr>
          <a:xfrm>
            <a:off x="7361225"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12月</a:t>
            </a:r>
            <a:endParaRPr lang="en-US" sz="1400" dirty="0"/>
          </a:p>
        </p:txBody>
      </p:sp>
      <p:sp>
        <p:nvSpPr>
          <p:cNvPr id="28" name="Shape 25"/>
          <p:cNvSpPr/>
          <p:nvPr/>
        </p:nvSpPr>
        <p:spPr>
          <a:xfrm>
            <a:off x="7361225" y="2240280"/>
            <a:ext cx="0" cy="3566160"/>
          </a:xfrm>
          <a:prstGeom prst="line">
            <a:avLst/>
          </a:prstGeom>
          <a:noFill/>
          <a:ln w="9525">
            <a:solidFill>
              <a:srgbClr val="F2F2F2"/>
            </a:solidFill>
            <a:prstDash val="solid"/>
          </a:ln>
        </p:spPr>
      </p:sp>
      <p:sp>
        <p:nvSpPr>
          <p:cNvPr id="29" name="Text 26"/>
          <p:cNvSpPr txBox="1"/>
          <p:nvPr/>
        </p:nvSpPr>
        <p:spPr>
          <a:xfrm>
            <a:off x="7925333"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1月</a:t>
            </a:r>
            <a:endParaRPr lang="en-US" sz="1400" dirty="0"/>
          </a:p>
        </p:txBody>
      </p:sp>
      <p:sp>
        <p:nvSpPr>
          <p:cNvPr id="30" name="Shape 27"/>
          <p:cNvSpPr/>
          <p:nvPr/>
        </p:nvSpPr>
        <p:spPr>
          <a:xfrm>
            <a:off x="7925333" y="2240280"/>
            <a:ext cx="0" cy="3566160"/>
          </a:xfrm>
          <a:prstGeom prst="line">
            <a:avLst/>
          </a:prstGeom>
          <a:noFill/>
          <a:ln w="9525">
            <a:solidFill>
              <a:srgbClr val="F2F2F2"/>
            </a:solidFill>
            <a:prstDash val="solid"/>
          </a:ln>
        </p:spPr>
      </p:sp>
      <p:sp>
        <p:nvSpPr>
          <p:cNvPr id="31" name="Text 28"/>
          <p:cNvSpPr txBox="1"/>
          <p:nvPr/>
        </p:nvSpPr>
        <p:spPr>
          <a:xfrm>
            <a:off x="8489442"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2月</a:t>
            </a:r>
            <a:endParaRPr lang="en-US" sz="1400" dirty="0"/>
          </a:p>
        </p:txBody>
      </p:sp>
      <p:sp>
        <p:nvSpPr>
          <p:cNvPr id="32" name="Shape 29"/>
          <p:cNvSpPr/>
          <p:nvPr/>
        </p:nvSpPr>
        <p:spPr>
          <a:xfrm>
            <a:off x="8489442" y="2240280"/>
            <a:ext cx="0" cy="3566160"/>
          </a:xfrm>
          <a:prstGeom prst="line">
            <a:avLst/>
          </a:prstGeom>
          <a:noFill/>
          <a:ln w="9525">
            <a:solidFill>
              <a:srgbClr val="F2F2F2"/>
            </a:solidFill>
            <a:prstDash val="solid"/>
          </a:ln>
        </p:spPr>
      </p:sp>
      <p:sp>
        <p:nvSpPr>
          <p:cNvPr id="33" name="Text 30"/>
          <p:cNvSpPr txBox="1"/>
          <p:nvPr/>
        </p:nvSpPr>
        <p:spPr>
          <a:xfrm>
            <a:off x="9053551" y="1920240"/>
            <a:ext cx="564109"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3月</a:t>
            </a:r>
            <a:endParaRPr lang="en-US" sz="1400" dirty="0"/>
          </a:p>
        </p:txBody>
      </p:sp>
      <p:sp>
        <p:nvSpPr>
          <p:cNvPr id="34" name="Shape 31"/>
          <p:cNvSpPr/>
          <p:nvPr/>
        </p:nvSpPr>
        <p:spPr>
          <a:xfrm>
            <a:off x="9053551" y="2240280"/>
            <a:ext cx="0" cy="3566160"/>
          </a:xfrm>
          <a:prstGeom prst="line">
            <a:avLst/>
          </a:prstGeom>
          <a:noFill/>
          <a:ln w="9525">
            <a:solidFill>
              <a:srgbClr val="F2F2F2"/>
            </a:solidFill>
            <a:prstDash val="solid"/>
          </a:ln>
        </p:spPr>
      </p:sp>
      <p:sp>
        <p:nvSpPr>
          <p:cNvPr id="35" name="Shape 32"/>
          <p:cNvSpPr/>
          <p:nvPr/>
        </p:nvSpPr>
        <p:spPr>
          <a:xfrm>
            <a:off x="288036" y="2240280"/>
            <a:ext cx="9329623" cy="0"/>
          </a:xfrm>
          <a:prstGeom prst="line">
            <a:avLst/>
          </a:prstGeom>
          <a:noFill/>
          <a:ln w="9525">
            <a:solidFill>
              <a:srgbClr val="BFBFBF"/>
            </a:solidFill>
            <a:prstDash val="solid"/>
          </a:ln>
        </p:spPr>
      </p:sp>
      <p:sp>
        <p:nvSpPr>
          <p:cNvPr id="36" name="Text 33"/>
          <p:cNvSpPr txBox="1"/>
          <p:nvPr/>
        </p:nvSpPr>
        <p:spPr>
          <a:xfrm>
            <a:off x="288036" y="2377440"/>
            <a:ext cx="2468880" cy="36576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作業A　現状調査</a:t>
            </a:r>
            <a:endParaRPr lang="en-US" sz="1400" dirty="0"/>
          </a:p>
        </p:txBody>
      </p:sp>
      <p:sp>
        <p:nvSpPr>
          <p:cNvPr id="37" name="Shape 34"/>
          <p:cNvSpPr/>
          <p:nvPr/>
        </p:nvSpPr>
        <p:spPr>
          <a:xfrm>
            <a:off x="2875788" y="2450592"/>
            <a:ext cx="1637462" cy="237744"/>
          </a:xfrm>
          <a:prstGeom prst="rect">
            <a:avLst/>
          </a:prstGeom>
          <a:solidFill>
            <a:srgbClr val="BFBFBF"/>
          </a:solidFill>
          <a:ln/>
        </p:spPr>
      </p:sp>
      <p:sp>
        <p:nvSpPr>
          <p:cNvPr id="38" name="Shape 35"/>
          <p:cNvSpPr/>
          <p:nvPr/>
        </p:nvSpPr>
        <p:spPr>
          <a:xfrm>
            <a:off x="288036" y="2852928"/>
            <a:ext cx="9329623" cy="0"/>
          </a:xfrm>
          <a:prstGeom prst="line">
            <a:avLst/>
          </a:prstGeom>
          <a:noFill/>
          <a:ln w="6350">
            <a:solidFill>
              <a:srgbClr val="F2F2F2"/>
            </a:solidFill>
            <a:prstDash val="solid"/>
          </a:ln>
        </p:spPr>
      </p:sp>
      <p:sp>
        <p:nvSpPr>
          <p:cNvPr id="39" name="Text 36"/>
          <p:cNvSpPr txBox="1"/>
          <p:nvPr/>
        </p:nvSpPr>
        <p:spPr>
          <a:xfrm>
            <a:off x="288036" y="2944368"/>
            <a:ext cx="2468880" cy="36576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作業B　システム整備</a:t>
            </a:r>
            <a:endParaRPr lang="en-US" sz="1400" dirty="0"/>
          </a:p>
        </p:txBody>
      </p:sp>
      <p:sp>
        <p:nvSpPr>
          <p:cNvPr id="40" name="Shape 37"/>
          <p:cNvSpPr/>
          <p:nvPr/>
        </p:nvSpPr>
        <p:spPr>
          <a:xfrm>
            <a:off x="4004005" y="3017520"/>
            <a:ext cx="4458005" cy="237744"/>
          </a:xfrm>
          <a:prstGeom prst="rect">
            <a:avLst/>
          </a:prstGeom>
          <a:solidFill>
            <a:srgbClr val="000F78"/>
          </a:solidFill>
          <a:ln/>
        </p:spPr>
      </p:sp>
      <p:sp>
        <p:nvSpPr>
          <p:cNvPr id="41" name="Shape 38"/>
          <p:cNvSpPr/>
          <p:nvPr/>
        </p:nvSpPr>
        <p:spPr>
          <a:xfrm>
            <a:off x="288036" y="3419856"/>
            <a:ext cx="9329623" cy="0"/>
          </a:xfrm>
          <a:prstGeom prst="line">
            <a:avLst/>
          </a:prstGeom>
          <a:noFill/>
          <a:ln w="6350">
            <a:solidFill>
              <a:srgbClr val="F2F2F2"/>
            </a:solidFill>
            <a:prstDash val="solid"/>
          </a:ln>
        </p:spPr>
      </p:sp>
      <p:sp>
        <p:nvSpPr>
          <p:cNvPr id="42" name="Text 39"/>
          <p:cNvSpPr txBox="1"/>
          <p:nvPr/>
        </p:nvSpPr>
        <p:spPr>
          <a:xfrm>
            <a:off x="288036" y="3511296"/>
            <a:ext cx="2468880" cy="36576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作業C　関係者協議</a:t>
            </a:r>
            <a:endParaRPr lang="en-US" sz="1400" dirty="0"/>
          </a:p>
        </p:txBody>
      </p:sp>
      <p:sp>
        <p:nvSpPr>
          <p:cNvPr id="43" name="Shape 40"/>
          <p:cNvSpPr/>
          <p:nvPr/>
        </p:nvSpPr>
        <p:spPr>
          <a:xfrm>
            <a:off x="3439897" y="3584448"/>
            <a:ext cx="2765679" cy="237744"/>
          </a:xfrm>
          <a:prstGeom prst="rect">
            <a:avLst/>
          </a:prstGeom>
          <a:solidFill>
            <a:srgbClr val="BFBFBF"/>
          </a:solidFill>
          <a:ln/>
        </p:spPr>
      </p:sp>
      <p:sp>
        <p:nvSpPr>
          <p:cNvPr id="44" name="Shape 41"/>
          <p:cNvSpPr/>
          <p:nvPr/>
        </p:nvSpPr>
        <p:spPr>
          <a:xfrm>
            <a:off x="288036" y="3986784"/>
            <a:ext cx="9329623" cy="0"/>
          </a:xfrm>
          <a:prstGeom prst="line">
            <a:avLst/>
          </a:prstGeom>
          <a:noFill/>
          <a:ln w="6350">
            <a:solidFill>
              <a:srgbClr val="F2F2F2"/>
            </a:solidFill>
            <a:prstDash val="solid"/>
          </a:ln>
        </p:spPr>
      </p:sp>
      <p:sp>
        <p:nvSpPr>
          <p:cNvPr id="45" name="Text 42"/>
          <p:cNvSpPr txBox="1"/>
          <p:nvPr/>
        </p:nvSpPr>
        <p:spPr>
          <a:xfrm>
            <a:off x="288036" y="4078224"/>
            <a:ext cx="2468880" cy="36576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作業D　規程の改定</a:t>
            </a:r>
            <a:endParaRPr lang="en-US" sz="1400" dirty="0"/>
          </a:p>
        </p:txBody>
      </p:sp>
      <p:sp>
        <p:nvSpPr>
          <p:cNvPr id="46" name="Shape 43"/>
          <p:cNvSpPr/>
          <p:nvPr/>
        </p:nvSpPr>
        <p:spPr>
          <a:xfrm>
            <a:off x="5696331" y="4151376"/>
            <a:ext cx="1637462" cy="237744"/>
          </a:xfrm>
          <a:prstGeom prst="rect">
            <a:avLst/>
          </a:prstGeom>
          <a:solidFill>
            <a:srgbClr val="BFBFBF"/>
          </a:solidFill>
          <a:ln/>
        </p:spPr>
      </p:sp>
      <p:sp>
        <p:nvSpPr>
          <p:cNvPr id="47" name="Shape 44"/>
          <p:cNvSpPr/>
          <p:nvPr/>
        </p:nvSpPr>
        <p:spPr>
          <a:xfrm>
            <a:off x="288036" y="4553712"/>
            <a:ext cx="9329623" cy="0"/>
          </a:xfrm>
          <a:prstGeom prst="line">
            <a:avLst/>
          </a:prstGeom>
          <a:noFill/>
          <a:ln w="6350">
            <a:solidFill>
              <a:srgbClr val="F2F2F2"/>
            </a:solidFill>
            <a:prstDash val="solid"/>
          </a:ln>
        </p:spPr>
      </p:sp>
      <p:sp>
        <p:nvSpPr>
          <p:cNvPr id="48" name="Text 45"/>
          <p:cNvSpPr txBox="1"/>
          <p:nvPr/>
        </p:nvSpPr>
        <p:spPr>
          <a:xfrm>
            <a:off x="288036" y="4645152"/>
            <a:ext cx="2468880" cy="36576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作業E　試行運用</a:t>
            </a:r>
            <a:endParaRPr lang="en-US" sz="1400" dirty="0"/>
          </a:p>
        </p:txBody>
      </p:sp>
      <p:sp>
        <p:nvSpPr>
          <p:cNvPr id="49" name="Shape 46"/>
          <p:cNvSpPr/>
          <p:nvPr/>
        </p:nvSpPr>
        <p:spPr>
          <a:xfrm>
            <a:off x="7388657" y="4718304"/>
            <a:ext cx="1637462" cy="237744"/>
          </a:xfrm>
          <a:prstGeom prst="rect">
            <a:avLst/>
          </a:prstGeom>
          <a:solidFill>
            <a:srgbClr val="BFBFBF"/>
          </a:solidFill>
          <a:ln/>
        </p:spPr>
      </p:sp>
      <p:sp>
        <p:nvSpPr>
          <p:cNvPr id="50" name="Shape 47"/>
          <p:cNvSpPr/>
          <p:nvPr/>
        </p:nvSpPr>
        <p:spPr>
          <a:xfrm>
            <a:off x="288036" y="5120640"/>
            <a:ext cx="9329623" cy="0"/>
          </a:xfrm>
          <a:prstGeom prst="line">
            <a:avLst/>
          </a:prstGeom>
          <a:noFill/>
          <a:ln w="6350">
            <a:solidFill>
              <a:srgbClr val="F2F2F2"/>
            </a:solidFill>
            <a:prstDash val="solid"/>
          </a:ln>
        </p:spPr>
      </p:sp>
      <p:sp>
        <p:nvSpPr>
          <p:cNvPr id="51" name="Text 48"/>
          <p:cNvSpPr txBox="1"/>
          <p:nvPr/>
        </p:nvSpPr>
        <p:spPr>
          <a:xfrm>
            <a:off x="288036" y="5212080"/>
            <a:ext cx="2468880" cy="36576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作業F　効果検証</a:t>
            </a:r>
            <a:endParaRPr lang="en-US" sz="1400" dirty="0"/>
          </a:p>
        </p:txBody>
      </p:sp>
      <p:sp>
        <p:nvSpPr>
          <p:cNvPr id="52" name="Shape 49"/>
          <p:cNvSpPr/>
          <p:nvPr/>
        </p:nvSpPr>
        <p:spPr>
          <a:xfrm>
            <a:off x="8516874" y="5285232"/>
            <a:ext cx="1073353" cy="237744"/>
          </a:xfrm>
          <a:prstGeom prst="rect">
            <a:avLst/>
          </a:prstGeom>
          <a:solidFill>
            <a:srgbClr val="BFBFBF"/>
          </a:solidFill>
          <a:ln/>
        </p:spPr>
      </p:sp>
      <p:sp>
        <p:nvSpPr>
          <p:cNvPr id="53" name="Shape 50"/>
          <p:cNvSpPr/>
          <p:nvPr/>
        </p:nvSpPr>
        <p:spPr>
          <a:xfrm>
            <a:off x="288036" y="5687568"/>
            <a:ext cx="9329623" cy="0"/>
          </a:xfrm>
          <a:prstGeom prst="line">
            <a:avLst/>
          </a:prstGeom>
          <a:noFill/>
          <a:ln w="6350">
            <a:solidFill>
              <a:srgbClr val="F2F2F2"/>
            </a:solidFill>
            <a:prstDash val="solid"/>
          </a:ln>
        </p:spPr>
      </p:sp>
      <p:sp>
        <p:nvSpPr>
          <p:cNvPr id="54" name="Shape 51"/>
          <p:cNvSpPr/>
          <p:nvPr/>
        </p:nvSpPr>
        <p:spPr>
          <a:xfrm>
            <a:off x="6104992" y="5833872"/>
            <a:ext cx="256032" cy="256032"/>
          </a:xfrm>
          <a:prstGeom prst="diamond">
            <a:avLst/>
          </a:prstGeom>
          <a:solidFill>
            <a:srgbClr val="7F7F7F"/>
          </a:solidFill>
          <a:ln/>
        </p:spPr>
      </p:sp>
      <p:sp>
        <p:nvSpPr>
          <p:cNvPr id="55" name="Text 52"/>
          <p:cNvSpPr txBox="1"/>
          <p:nvPr/>
        </p:nvSpPr>
        <p:spPr>
          <a:xfrm>
            <a:off x="4769968" y="5852160"/>
            <a:ext cx="1280160" cy="274320"/>
          </a:xfrm>
          <a:prstGeom prst="rect">
            <a:avLst/>
          </a:prstGeom>
          <a:noFill/>
          <a:ln/>
        </p:spPr>
        <p:txBody>
          <a:bodyPr wrap="square" lIns="0" tIns="0" rIns="0" bIns="0" rtlCol="0" anchor="t"/>
          <a:lstStyle/>
          <a:p>
            <a:pPr algn="r" indent="0" marL="0">
              <a:buNone/>
            </a:pPr>
            <a:r>
              <a:rPr lang="en-US" sz="1400" dirty="0">
                <a:solidFill>
                  <a:srgbClr val="000000"/>
                </a:solidFill>
                <a:latin typeface="Yu Gothic UI" pitchFamily="34" charset="0"/>
                <a:ea typeface="Yu Gothic UI" pitchFamily="34" charset="-122"/>
                <a:cs typeface="Yu Gothic UI" pitchFamily="34" charset="-120"/>
              </a:rPr>
              <a:t>協議の合意</a:t>
            </a:r>
            <a:endParaRPr lang="en-US" sz="1400" dirty="0"/>
          </a:p>
        </p:txBody>
      </p:sp>
      <p:sp>
        <p:nvSpPr>
          <p:cNvPr id="56" name="Shape 53"/>
          <p:cNvSpPr/>
          <p:nvPr/>
        </p:nvSpPr>
        <p:spPr>
          <a:xfrm>
            <a:off x="9489643" y="5833872"/>
            <a:ext cx="256032" cy="256032"/>
          </a:xfrm>
          <a:prstGeom prst="diamond">
            <a:avLst/>
          </a:prstGeom>
          <a:solidFill>
            <a:srgbClr val="000F78"/>
          </a:solidFill>
          <a:ln/>
        </p:spPr>
      </p:sp>
      <p:sp>
        <p:nvSpPr>
          <p:cNvPr id="57" name="Text 54"/>
          <p:cNvSpPr txBox="1"/>
          <p:nvPr/>
        </p:nvSpPr>
        <p:spPr>
          <a:xfrm>
            <a:off x="8154619" y="5852160"/>
            <a:ext cx="1280160" cy="274320"/>
          </a:xfrm>
          <a:prstGeom prst="rect">
            <a:avLst/>
          </a:prstGeom>
          <a:noFill/>
          <a:ln/>
        </p:spPr>
        <p:txBody>
          <a:bodyPr wrap="square" lIns="0" tIns="0" rIns="0" bIns="0" rtlCol="0" anchor="t"/>
          <a:lstStyle/>
          <a:p>
            <a:pPr algn="r" indent="0" marL="0">
              <a:buNone/>
            </a:pPr>
            <a:r>
              <a:rPr lang="en-US" sz="1400" b="1" dirty="0">
                <a:solidFill>
                  <a:srgbClr val="000F78"/>
                </a:solidFill>
                <a:latin typeface="Yu Gothic UI" pitchFamily="34" charset="0"/>
                <a:ea typeface="Yu Gothic UI" pitchFamily="34" charset="-122"/>
                <a:cs typeface="Yu Gothic UI" pitchFamily="34" charset="-120"/>
              </a:rPr>
              <a:t>本格運用の判断</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現在の手続きは完了までに平均【数値A】日かかり、遅れの大半は【主体B】での確認待ちで生じている。ここが改善の焦点となる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現在の手続きの流れ</a:t>
            </a:r>
            <a:pPr indent="0" marL="0">
              <a:buNone/>
            </a:pPr>
            <a:r>
              <a:rPr lang="en-US" sz="1100" dirty="0">
                <a:solidFill>
                  <a:srgbClr val="595959"/>
                </a:solidFill>
                <a:latin typeface="Yu Gothic UI" pitchFamily="34" charset="0"/>
                <a:ea typeface="Yu Gothic UI" pitchFamily="34" charset="-122"/>
                <a:cs typeface="Yu Gothic UI" pitchFamily="34" charset="-120"/>
              </a:rPr>
              <a:t>　（導入前の現状）</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27</a:t>
            </a:r>
            <a:endParaRPr lang="en-US" sz="900" dirty="0"/>
          </a:p>
        </p:txBody>
      </p:sp>
      <p:sp>
        <p:nvSpPr>
          <p:cNvPr id="12" name="Shape 9"/>
          <p:cNvSpPr/>
          <p:nvPr/>
        </p:nvSpPr>
        <p:spPr>
          <a:xfrm>
            <a:off x="288036" y="1920240"/>
            <a:ext cx="9329623" cy="1325880"/>
          </a:xfrm>
          <a:prstGeom prst="rect">
            <a:avLst/>
          </a:prstGeom>
          <a:solidFill>
            <a:srgbClr val="F2F2F2"/>
          </a:solidFill>
          <a:ln/>
        </p:spPr>
      </p:sp>
      <p:sp>
        <p:nvSpPr>
          <p:cNvPr id="13" name="Text 10"/>
          <p:cNvSpPr txBox="1"/>
          <p:nvPr/>
        </p:nvSpPr>
        <p:spPr>
          <a:xfrm>
            <a:off x="379476" y="1920240"/>
            <a:ext cx="1188720" cy="13258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利用者</a:t>
            </a:r>
            <a:endParaRPr lang="en-US" sz="1400" dirty="0"/>
          </a:p>
        </p:txBody>
      </p:sp>
      <p:sp>
        <p:nvSpPr>
          <p:cNvPr id="14" name="Shape 11"/>
          <p:cNvSpPr/>
          <p:nvPr/>
        </p:nvSpPr>
        <p:spPr>
          <a:xfrm>
            <a:off x="288036" y="3246120"/>
            <a:ext cx="9329623" cy="0"/>
          </a:xfrm>
          <a:prstGeom prst="line">
            <a:avLst/>
          </a:prstGeom>
          <a:noFill/>
          <a:ln w="6350">
            <a:solidFill>
              <a:srgbClr val="BFBFBF"/>
            </a:solidFill>
            <a:prstDash val="solid"/>
          </a:ln>
        </p:spPr>
      </p:sp>
      <p:sp>
        <p:nvSpPr>
          <p:cNvPr id="15" name="Text 12"/>
          <p:cNvSpPr txBox="1"/>
          <p:nvPr/>
        </p:nvSpPr>
        <p:spPr>
          <a:xfrm>
            <a:off x="379476" y="3246120"/>
            <a:ext cx="1188720" cy="13258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【主体A】</a:t>
            </a:r>
            <a:endParaRPr lang="en-US" sz="1400" dirty="0"/>
          </a:p>
        </p:txBody>
      </p:sp>
      <p:sp>
        <p:nvSpPr>
          <p:cNvPr id="16" name="Shape 13"/>
          <p:cNvSpPr/>
          <p:nvPr/>
        </p:nvSpPr>
        <p:spPr>
          <a:xfrm>
            <a:off x="288036" y="4572000"/>
            <a:ext cx="9329623" cy="0"/>
          </a:xfrm>
          <a:prstGeom prst="line">
            <a:avLst/>
          </a:prstGeom>
          <a:noFill/>
          <a:ln w="6350">
            <a:solidFill>
              <a:srgbClr val="BFBFBF"/>
            </a:solidFill>
            <a:prstDash val="solid"/>
          </a:ln>
        </p:spPr>
      </p:sp>
      <p:sp>
        <p:nvSpPr>
          <p:cNvPr id="17" name="Shape 14"/>
          <p:cNvSpPr/>
          <p:nvPr/>
        </p:nvSpPr>
        <p:spPr>
          <a:xfrm>
            <a:off x="288036" y="4572000"/>
            <a:ext cx="9329623" cy="1325880"/>
          </a:xfrm>
          <a:prstGeom prst="rect">
            <a:avLst/>
          </a:prstGeom>
          <a:solidFill>
            <a:srgbClr val="F2F2F2"/>
          </a:solidFill>
          <a:ln/>
        </p:spPr>
      </p:sp>
      <p:sp>
        <p:nvSpPr>
          <p:cNvPr id="18" name="Text 15"/>
          <p:cNvSpPr txBox="1"/>
          <p:nvPr/>
        </p:nvSpPr>
        <p:spPr>
          <a:xfrm>
            <a:off x="379476" y="4572000"/>
            <a:ext cx="1188720" cy="13258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【主体B】</a:t>
            </a:r>
            <a:endParaRPr lang="en-US" sz="1400" dirty="0"/>
          </a:p>
        </p:txBody>
      </p:sp>
      <p:sp>
        <p:nvSpPr>
          <p:cNvPr id="19" name="Shape 16"/>
          <p:cNvSpPr/>
          <p:nvPr/>
        </p:nvSpPr>
        <p:spPr>
          <a:xfrm>
            <a:off x="288036" y="5897880"/>
            <a:ext cx="9329623" cy="0"/>
          </a:xfrm>
          <a:prstGeom prst="line">
            <a:avLst/>
          </a:prstGeom>
          <a:noFill/>
          <a:ln w="6350">
            <a:solidFill>
              <a:srgbClr val="BFBFBF"/>
            </a:solidFill>
            <a:prstDash val="solid"/>
          </a:ln>
        </p:spPr>
      </p:sp>
      <p:sp>
        <p:nvSpPr>
          <p:cNvPr id="20" name="Shape 17"/>
          <p:cNvSpPr/>
          <p:nvPr/>
        </p:nvSpPr>
        <p:spPr>
          <a:xfrm>
            <a:off x="288036" y="1920240"/>
            <a:ext cx="9329623" cy="0"/>
          </a:xfrm>
          <a:prstGeom prst="line">
            <a:avLst/>
          </a:prstGeom>
          <a:noFill/>
          <a:ln w="6350">
            <a:solidFill>
              <a:srgbClr val="BFBFBF"/>
            </a:solidFill>
            <a:prstDash val="solid"/>
          </a:ln>
        </p:spPr>
      </p:sp>
      <p:sp>
        <p:nvSpPr>
          <p:cNvPr id="21" name="Shape 18"/>
          <p:cNvSpPr/>
          <p:nvPr/>
        </p:nvSpPr>
        <p:spPr>
          <a:xfrm>
            <a:off x="1659636" y="1920240"/>
            <a:ext cx="0" cy="3977640"/>
          </a:xfrm>
          <a:prstGeom prst="line">
            <a:avLst/>
          </a:prstGeom>
          <a:noFill/>
          <a:ln w="6350">
            <a:solidFill>
              <a:srgbClr val="BFBFBF"/>
            </a:solidFill>
            <a:prstDash val="solid"/>
          </a:ln>
        </p:spPr>
      </p:sp>
      <p:sp>
        <p:nvSpPr>
          <p:cNvPr id="22" name="Shape 19"/>
          <p:cNvSpPr/>
          <p:nvPr/>
        </p:nvSpPr>
        <p:spPr>
          <a:xfrm>
            <a:off x="1796796" y="2263140"/>
            <a:ext cx="1143000" cy="640080"/>
          </a:xfrm>
          <a:prstGeom prst="rect">
            <a:avLst/>
          </a:prstGeom>
          <a:solidFill>
            <a:srgbClr val="FFFFFF"/>
          </a:solidFill>
          <a:ln w="9525">
            <a:solidFill>
              <a:srgbClr val="7F7F7F"/>
            </a:solidFill>
            <a:prstDash val="solid"/>
          </a:ln>
        </p:spPr>
      </p:sp>
      <p:sp>
        <p:nvSpPr>
          <p:cNvPr id="23" name="Text 20"/>
          <p:cNvSpPr txBox="1"/>
          <p:nvPr/>
        </p:nvSpPr>
        <p:spPr>
          <a:xfrm>
            <a:off x="1842516" y="2263140"/>
            <a:ext cx="1051560" cy="64008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申請</a:t>
            </a:r>
            <a:endParaRPr lang="en-US" sz="1400" dirty="0"/>
          </a:p>
        </p:txBody>
      </p:sp>
      <p:sp>
        <p:nvSpPr>
          <p:cNvPr id="24" name="Shape 21"/>
          <p:cNvSpPr/>
          <p:nvPr/>
        </p:nvSpPr>
        <p:spPr>
          <a:xfrm>
            <a:off x="2939796" y="2583180"/>
            <a:ext cx="68580" cy="0"/>
          </a:xfrm>
          <a:prstGeom prst="line">
            <a:avLst/>
          </a:prstGeom>
          <a:noFill/>
          <a:ln w="12700">
            <a:solidFill>
              <a:srgbClr val="7F7F7F"/>
            </a:solidFill>
            <a:prstDash val="solid"/>
          </a:ln>
        </p:spPr>
      </p:sp>
      <p:sp>
        <p:nvSpPr>
          <p:cNvPr id="25" name="Shape 22"/>
          <p:cNvSpPr/>
          <p:nvPr/>
        </p:nvSpPr>
        <p:spPr>
          <a:xfrm>
            <a:off x="3008376" y="2583180"/>
            <a:ext cx="0" cy="1325880"/>
          </a:xfrm>
          <a:prstGeom prst="line">
            <a:avLst/>
          </a:prstGeom>
          <a:noFill/>
          <a:ln w="12700">
            <a:solidFill>
              <a:srgbClr val="7F7F7F"/>
            </a:solidFill>
            <a:prstDash val="solid"/>
          </a:ln>
        </p:spPr>
      </p:sp>
      <p:sp>
        <p:nvSpPr>
          <p:cNvPr id="26" name="Shape 23"/>
          <p:cNvSpPr/>
          <p:nvPr/>
        </p:nvSpPr>
        <p:spPr>
          <a:xfrm>
            <a:off x="3008376" y="3909060"/>
            <a:ext cx="68580" cy="0"/>
          </a:xfrm>
          <a:prstGeom prst="line">
            <a:avLst/>
          </a:prstGeom>
          <a:noFill/>
          <a:ln w="12700">
            <a:solidFill>
              <a:srgbClr val="7F7F7F"/>
            </a:solidFill>
            <a:prstDash val="solid"/>
            <a:tailEnd type="triangle"/>
          </a:ln>
        </p:spPr>
      </p:sp>
      <p:sp>
        <p:nvSpPr>
          <p:cNvPr id="27" name="Shape 24"/>
          <p:cNvSpPr/>
          <p:nvPr/>
        </p:nvSpPr>
        <p:spPr>
          <a:xfrm>
            <a:off x="3076956" y="3589020"/>
            <a:ext cx="1143000" cy="640080"/>
          </a:xfrm>
          <a:prstGeom prst="rect">
            <a:avLst/>
          </a:prstGeom>
          <a:solidFill>
            <a:srgbClr val="FFFFFF"/>
          </a:solidFill>
          <a:ln w="9525">
            <a:solidFill>
              <a:srgbClr val="7F7F7F"/>
            </a:solidFill>
            <a:prstDash val="solid"/>
          </a:ln>
        </p:spPr>
      </p:sp>
      <p:sp>
        <p:nvSpPr>
          <p:cNvPr id="28" name="Text 25"/>
          <p:cNvSpPr txBox="1"/>
          <p:nvPr/>
        </p:nvSpPr>
        <p:spPr>
          <a:xfrm>
            <a:off x="3122676" y="3589020"/>
            <a:ext cx="1051560" cy="64008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受付</a:t>
            </a:r>
            <a:endParaRPr lang="en-US" sz="1400" dirty="0"/>
          </a:p>
        </p:txBody>
      </p:sp>
      <p:sp>
        <p:nvSpPr>
          <p:cNvPr id="29" name="Shape 26"/>
          <p:cNvSpPr/>
          <p:nvPr/>
        </p:nvSpPr>
        <p:spPr>
          <a:xfrm>
            <a:off x="4219956" y="3909060"/>
            <a:ext cx="68580" cy="0"/>
          </a:xfrm>
          <a:prstGeom prst="line">
            <a:avLst/>
          </a:prstGeom>
          <a:noFill/>
          <a:ln w="12700">
            <a:solidFill>
              <a:srgbClr val="7F7F7F"/>
            </a:solidFill>
            <a:prstDash val="solid"/>
          </a:ln>
        </p:spPr>
      </p:sp>
      <p:sp>
        <p:nvSpPr>
          <p:cNvPr id="30" name="Shape 27"/>
          <p:cNvSpPr/>
          <p:nvPr/>
        </p:nvSpPr>
        <p:spPr>
          <a:xfrm>
            <a:off x="4288536" y="3909060"/>
            <a:ext cx="0" cy="1325880"/>
          </a:xfrm>
          <a:prstGeom prst="line">
            <a:avLst/>
          </a:prstGeom>
          <a:noFill/>
          <a:ln w="12700">
            <a:solidFill>
              <a:srgbClr val="7F7F7F"/>
            </a:solidFill>
            <a:prstDash val="solid"/>
          </a:ln>
        </p:spPr>
      </p:sp>
      <p:sp>
        <p:nvSpPr>
          <p:cNvPr id="31" name="Shape 28"/>
          <p:cNvSpPr/>
          <p:nvPr/>
        </p:nvSpPr>
        <p:spPr>
          <a:xfrm>
            <a:off x="4288536" y="5234940"/>
            <a:ext cx="68580" cy="0"/>
          </a:xfrm>
          <a:prstGeom prst="line">
            <a:avLst/>
          </a:prstGeom>
          <a:noFill/>
          <a:ln w="12700">
            <a:solidFill>
              <a:srgbClr val="7F7F7F"/>
            </a:solidFill>
            <a:prstDash val="solid"/>
            <a:tailEnd type="triangle"/>
          </a:ln>
        </p:spPr>
      </p:sp>
      <p:sp>
        <p:nvSpPr>
          <p:cNvPr id="32" name="Shape 29"/>
          <p:cNvSpPr/>
          <p:nvPr/>
        </p:nvSpPr>
        <p:spPr>
          <a:xfrm>
            <a:off x="4357116" y="4914900"/>
            <a:ext cx="1143000" cy="640080"/>
          </a:xfrm>
          <a:prstGeom prst="rect">
            <a:avLst/>
          </a:prstGeom>
          <a:solidFill>
            <a:srgbClr val="FFFFFF"/>
          </a:solidFill>
          <a:ln w="22225">
            <a:solidFill>
              <a:srgbClr val="000F78"/>
            </a:solidFill>
            <a:prstDash val="solid"/>
          </a:ln>
        </p:spPr>
      </p:sp>
      <p:sp>
        <p:nvSpPr>
          <p:cNvPr id="33" name="Text 30"/>
          <p:cNvSpPr txBox="1"/>
          <p:nvPr/>
        </p:nvSpPr>
        <p:spPr>
          <a:xfrm>
            <a:off x="4402836" y="4914900"/>
            <a:ext cx="1051560" cy="64008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内容の確認</a:t>
            </a:r>
            <a:endParaRPr lang="en-US" sz="1400" dirty="0"/>
          </a:p>
        </p:txBody>
      </p:sp>
      <p:sp>
        <p:nvSpPr>
          <p:cNvPr id="34" name="Shape 31"/>
          <p:cNvSpPr/>
          <p:nvPr/>
        </p:nvSpPr>
        <p:spPr>
          <a:xfrm>
            <a:off x="5500116" y="5234940"/>
            <a:ext cx="68580" cy="0"/>
          </a:xfrm>
          <a:prstGeom prst="line">
            <a:avLst/>
          </a:prstGeom>
          <a:noFill/>
          <a:ln w="12700">
            <a:solidFill>
              <a:srgbClr val="7F7F7F"/>
            </a:solidFill>
            <a:prstDash val="solid"/>
          </a:ln>
        </p:spPr>
      </p:sp>
      <p:sp>
        <p:nvSpPr>
          <p:cNvPr id="35" name="Shape 32"/>
          <p:cNvSpPr/>
          <p:nvPr/>
        </p:nvSpPr>
        <p:spPr>
          <a:xfrm>
            <a:off x="5568696" y="3909060"/>
            <a:ext cx="0" cy="1325880"/>
          </a:xfrm>
          <a:prstGeom prst="line">
            <a:avLst/>
          </a:prstGeom>
          <a:noFill/>
          <a:ln w="12700">
            <a:solidFill>
              <a:srgbClr val="7F7F7F"/>
            </a:solidFill>
            <a:prstDash val="solid"/>
          </a:ln>
        </p:spPr>
      </p:sp>
      <p:sp>
        <p:nvSpPr>
          <p:cNvPr id="36" name="Shape 33"/>
          <p:cNvSpPr/>
          <p:nvPr/>
        </p:nvSpPr>
        <p:spPr>
          <a:xfrm>
            <a:off x="5568696" y="3909060"/>
            <a:ext cx="68580" cy="0"/>
          </a:xfrm>
          <a:prstGeom prst="line">
            <a:avLst/>
          </a:prstGeom>
          <a:noFill/>
          <a:ln w="12700">
            <a:solidFill>
              <a:srgbClr val="7F7F7F"/>
            </a:solidFill>
            <a:prstDash val="solid"/>
            <a:tailEnd type="triangle"/>
          </a:ln>
        </p:spPr>
      </p:sp>
      <p:sp>
        <p:nvSpPr>
          <p:cNvPr id="37" name="Shape 34"/>
          <p:cNvSpPr/>
          <p:nvPr/>
        </p:nvSpPr>
        <p:spPr>
          <a:xfrm>
            <a:off x="5637276" y="3589020"/>
            <a:ext cx="1143000" cy="640080"/>
          </a:xfrm>
          <a:prstGeom prst="rect">
            <a:avLst/>
          </a:prstGeom>
          <a:solidFill>
            <a:srgbClr val="FFFFFF"/>
          </a:solidFill>
          <a:ln w="9525">
            <a:solidFill>
              <a:srgbClr val="7F7F7F"/>
            </a:solidFill>
            <a:prstDash val="solid"/>
          </a:ln>
        </p:spPr>
      </p:sp>
      <p:sp>
        <p:nvSpPr>
          <p:cNvPr id="38" name="Text 35"/>
          <p:cNvSpPr txBox="1"/>
          <p:nvPr/>
        </p:nvSpPr>
        <p:spPr>
          <a:xfrm>
            <a:off x="5682996" y="3589020"/>
            <a:ext cx="1051560" cy="64008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補正の依頼</a:t>
            </a:r>
            <a:endParaRPr lang="en-US" sz="1400" dirty="0"/>
          </a:p>
        </p:txBody>
      </p:sp>
      <p:sp>
        <p:nvSpPr>
          <p:cNvPr id="39" name="Shape 36"/>
          <p:cNvSpPr/>
          <p:nvPr/>
        </p:nvSpPr>
        <p:spPr>
          <a:xfrm>
            <a:off x="6780276" y="3909060"/>
            <a:ext cx="68580" cy="0"/>
          </a:xfrm>
          <a:prstGeom prst="line">
            <a:avLst/>
          </a:prstGeom>
          <a:noFill/>
          <a:ln w="12700">
            <a:solidFill>
              <a:srgbClr val="7F7F7F"/>
            </a:solidFill>
            <a:prstDash val="solid"/>
          </a:ln>
        </p:spPr>
      </p:sp>
      <p:sp>
        <p:nvSpPr>
          <p:cNvPr id="40" name="Shape 37"/>
          <p:cNvSpPr/>
          <p:nvPr/>
        </p:nvSpPr>
        <p:spPr>
          <a:xfrm>
            <a:off x="6848856" y="2583180"/>
            <a:ext cx="0" cy="1325880"/>
          </a:xfrm>
          <a:prstGeom prst="line">
            <a:avLst/>
          </a:prstGeom>
          <a:noFill/>
          <a:ln w="12700">
            <a:solidFill>
              <a:srgbClr val="7F7F7F"/>
            </a:solidFill>
            <a:prstDash val="solid"/>
          </a:ln>
        </p:spPr>
      </p:sp>
      <p:sp>
        <p:nvSpPr>
          <p:cNvPr id="41" name="Shape 38"/>
          <p:cNvSpPr/>
          <p:nvPr/>
        </p:nvSpPr>
        <p:spPr>
          <a:xfrm>
            <a:off x="6848856" y="2583180"/>
            <a:ext cx="68580" cy="0"/>
          </a:xfrm>
          <a:prstGeom prst="line">
            <a:avLst/>
          </a:prstGeom>
          <a:noFill/>
          <a:ln w="12700">
            <a:solidFill>
              <a:srgbClr val="7F7F7F"/>
            </a:solidFill>
            <a:prstDash val="solid"/>
            <a:tailEnd type="triangle"/>
          </a:ln>
        </p:spPr>
      </p:sp>
      <p:sp>
        <p:nvSpPr>
          <p:cNvPr id="42" name="Shape 39"/>
          <p:cNvSpPr/>
          <p:nvPr/>
        </p:nvSpPr>
        <p:spPr>
          <a:xfrm>
            <a:off x="6917436" y="2263140"/>
            <a:ext cx="1143000" cy="640080"/>
          </a:xfrm>
          <a:prstGeom prst="rect">
            <a:avLst/>
          </a:prstGeom>
          <a:solidFill>
            <a:srgbClr val="FFFFFF"/>
          </a:solidFill>
          <a:ln w="9525">
            <a:solidFill>
              <a:srgbClr val="7F7F7F"/>
            </a:solidFill>
            <a:prstDash val="solid"/>
          </a:ln>
        </p:spPr>
      </p:sp>
      <p:sp>
        <p:nvSpPr>
          <p:cNvPr id="43" name="Text 40"/>
          <p:cNvSpPr txBox="1"/>
          <p:nvPr/>
        </p:nvSpPr>
        <p:spPr>
          <a:xfrm>
            <a:off x="6963156" y="2263140"/>
            <a:ext cx="1051560" cy="64008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書類の再提出</a:t>
            </a:r>
            <a:endParaRPr lang="en-US" sz="1400" dirty="0"/>
          </a:p>
        </p:txBody>
      </p:sp>
      <p:sp>
        <p:nvSpPr>
          <p:cNvPr id="44" name="Shape 41"/>
          <p:cNvSpPr/>
          <p:nvPr/>
        </p:nvSpPr>
        <p:spPr>
          <a:xfrm>
            <a:off x="8060436" y="2583180"/>
            <a:ext cx="68580" cy="0"/>
          </a:xfrm>
          <a:prstGeom prst="line">
            <a:avLst/>
          </a:prstGeom>
          <a:noFill/>
          <a:ln w="12700">
            <a:solidFill>
              <a:srgbClr val="7F7F7F"/>
            </a:solidFill>
            <a:prstDash val="solid"/>
          </a:ln>
        </p:spPr>
      </p:sp>
      <p:sp>
        <p:nvSpPr>
          <p:cNvPr id="45" name="Shape 42"/>
          <p:cNvSpPr/>
          <p:nvPr/>
        </p:nvSpPr>
        <p:spPr>
          <a:xfrm>
            <a:off x="8129016" y="2583180"/>
            <a:ext cx="0" cy="2651760"/>
          </a:xfrm>
          <a:prstGeom prst="line">
            <a:avLst/>
          </a:prstGeom>
          <a:noFill/>
          <a:ln w="12700">
            <a:solidFill>
              <a:srgbClr val="7F7F7F"/>
            </a:solidFill>
            <a:prstDash val="solid"/>
          </a:ln>
        </p:spPr>
      </p:sp>
      <p:sp>
        <p:nvSpPr>
          <p:cNvPr id="46" name="Shape 43"/>
          <p:cNvSpPr/>
          <p:nvPr/>
        </p:nvSpPr>
        <p:spPr>
          <a:xfrm>
            <a:off x="8129016" y="5234940"/>
            <a:ext cx="68580" cy="0"/>
          </a:xfrm>
          <a:prstGeom prst="line">
            <a:avLst/>
          </a:prstGeom>
          <a:noFill/>
          <a:ln w="12700">
            <a:solidFill>
              <a:srgbClr val="7F7F7F"/>
            </a:solidFill>
            <a:prstDash val="solid"/>
            <a:tailEnd type="triangle"/>
          </a:ln>
        </p:spPr>
      </p:sp>
      <p:sp>
        <p:nvSpPr>
          <p:cNvPr id="47" name="Shape 44"/>
          <p:cNvSpPr/>
          <p:nvPr/>
        </p:nvSpPr>
        <p:spPr>
          <a:xfrm>
            <a:off x="8197596" y="4914900"/>
            <a:ext cx="1143000" cy="640080"/>
          </a:xfrm>
          <a:prstGeom prst="rect">
            <a:avLst/>
          </a:prstGeom>
          <a:solidFill>
            <a:srgbClr val="FFFFFF"/>
          </a:solidFill>
          <a:ln w="9525">
            <a:solidFill>
              <a:srgbClr val="7F7F7F"/>
            </a:solidFill>
            <a:prstDash val="solid"/>
          </a:ln>
        </p:spPr>
      </p:sp>
      <p:sp>
        <p:nvSpPr>
          <p:cNvPr id="48" name="Text 45"/>
          <p:cNvSpPr txBox="1"/>
          <p:nvPr/>
        </p:nvSpPr>
        <p:spPr>
          <a:xfrm>
            <a:off x="8243316" y="4914900"/>
            <a:ext cx="1051560" cy="64008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承認</a:t>
            </a:r>
            <a:endParaRPr lang="en-US" sz="1400" dirty="0"/>
          </a:p>
        </p:txBody>
      </p:sp>
      <p:sp>
        <p:nvSpPr>
          <p:cNvPr id="49" name="Text 46"/>
          <p:cNvSpPr txBox="1"/>
          <p:nvPr/>
        </p:nvSpPr>
        <p:spPr>
          <a:xfrm>
            <a:off x="4082796" y="5591556"/>
            <a:ext cx="237744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確認待ち 平均【数値B】日</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【指標】は基本シナリオでも【年度】に【数値A】まで減る。どのシナリオでも維持ラインを下回り、現行体制の見直しは避けられない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28</a:t>
            </a:r>
            <a:endParaRPr lang="en-US" sz="900" dirty="0"/>
          </a:p>
        </p:txBody>
      </p:sp>
      <p:sp>
        <p:nvSpPr>
          <p:cNvPr id="10" name="Text 7"/>
          <p:cNvSpPr txBox="1"/>
          <p:nvPr/>
        </p:nvSpPr>
        <p:spPr>
          <a:xfrm>
            <a:off x="288036" y="1417320"/>
            <a:ext cx="539496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【指標】の見通し</a:t>
            </a:r>
            <a:pPr indent="0" marL="0">
              <a:buNone/>
            </a:pPr>
            <a:r>
              <a:rPr lang="en-US" sz="1100" dirty="0">
                <a:solidFill>
                  <a:srgbClr val="595959"/>
                </a:solidFill>
                <a:latin typeface="Yu Gothic UI" pitchFamily="34" charset="0"/>
                <a:ea typeface="Yu Gothic UI" pitchFamily="34" charset="-122"/>
                <a:cs typeface="Yu Gothic UI" pitchFamily="34" charset="-120"/>
              </a:rPr>
              <a:t>　（【単位】、【年度】〜【年度】（予測））</a:t>
            </a:r>
            <a:endParaRPr lang="en-US" sz="1400" dirty="0"/>
          </a:p>
        </p:txBody>
      </p:sp>
      <p:sp>
        <p:nvSpPr>
          <p:cNvPr id="11" name="Shape 8"/>
          <p:cNvSpPr/>
          <p:nvPr/>
        </p:nvSpPr>
        <p:spPr>
          <a:xfrm>
            <a:off x="288036" y="1728216"/>
            <a:ext cx="5394960" cy="0"/>
          </a:xfrm>
          <a:prstGeom prst="line">
            <a:avLst/>
          </a:prstGeom>
          <a:noFill/>
          <a:ln w="6350">
            <a:solidFill>
              <a:srgbClr val="BFBFBF"/>
            </a:solidFill>
            <a:prstDash val="solid"/>
          </a:ln>
        </p:spPr>
      </p:sp>
      <p:graphicFrame>
        <p:nvGraphicFramePr>
          <p:cNvPr id="12" name="Chart 0" descr=""/>
          <p:cNvGraphicFramePr/>
          <p:nvPr/>
        </p:nvGraphicFramePr>
        <p:xfrm>
          <a:off x="288036" y="1874520"/>
          <a:ext cx="4572000" cy="416052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4905756" y="2514600"/>
            <a:ext cx="77724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楽観</a:t>
            </a:r>
            <a:endParaRPr lang="en-US" sz="1400" dirty="0"/>
          </a:p>
        </p:txBody>
      </p:sp>
      <p:sp>
        <p:nvSpPr>
          <p:cNvPr id="14" name="Text 10"/>
          <p:cNvSpPr txBox="1"/>
          <p:nvPr/>
        </p:nvSpPr>
        <p:spPr>
          <a:xfrm>
            <a:off x="4905756" y="3337560"/>
            <a:ext cx="77724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基本</a:t>
            </a:r>
            <a:endParaRPr lang="en-US" sz="1400" dirty="0"/>
          </a:p>
        </p:txBody>
      </p:sp>
      <p:sp>
        <p:nvSpPr>
          <p:cNvPr id="15" name="Text 11"/>
          <p:cNvSpPr txBox="1"/>
          <p:nvPr/>
        </p:nvSpPr>
        <p:spPr>
          <a:xfrm>
            <a:off x="4905756" y="4160520"/>
            <a:ext cx="77724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悲観</a:t>
            </a:r>
            <a:endParaRPr lang="en-US" sz="1400" dirty="0"/>
          </a:p>
        </p:txBody>
      </p:sp>
      <p:sp>
        <p:nvSpPr>
          <p:cNvPr id="16" name="Text 12"/>
          <p:cNvSpPr txBox="1"/>
          <p:nvPr/>
        </p:nvSpPr>
        <p:spPr>
          <a:xfrm>
            <a:off x="5957316" y="1417320"/>
            <a:ext cx="366034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各シナリオの前提</a:t>
            </a:r>
            <a:endParaRPr lang="en-US" sz="1400" dirty="0"/>
          </a:p>
        </p:txBody>
      </p:sp>
      <p:sp>
        <p:nvSpPr>
          <p:cNvPr id="17" name="Shape 13"/>
          <p:cNvSpPr/>
          <p:nvPr/>
        </p:nvSpPr>
        <p:spPr>
          <a:xfrm>
            <a:off x="5957316" y="1728216"/>
            <a:ext cx="3660343" cy="0"/>
          </a:xfrm>
          <a:prstGeom prst="line">
            <a:avLst/>
          </a:prstGeom>
          <a:noFill/>
          <a:ln w="6350">
            <a:solidFill>
              <a:srgbClr val="BFBFBF"/>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57316" y="1965960"/>
          <a:ext cx="3660343" cy="914400"/>
        </p:xfrm>
        <a:graphic>
          <a:graphicData uri="http://schemas.openxmlformats.org/drawingml/2006/table">
            <a:tbl>
              <a:tblPr/>
              <a:tblGrid>
                <a:gridCol w="914400"/>
                <a:gridCol w="1372972"/>
                <a:gridCol w="1372972"/>
              </a:tblGrid>
              <a:tr h="457200">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人口</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利用率</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6400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楽観</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−【X】%</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＋【Y】pt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40080">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基本</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−【X】%</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±0pt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400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悲観</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−【X】%</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−【Y】pt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
        <p:nvSpPr>
          <p:cNvPr id="19" name="Text 14"/>
          <p:cNvSpPr txBox="1"/>
          <p:nvPr/>
        </p:nvSpPr>
        <p:spPr>
          <a:xfrm>
            <a:off x="5957316" y="4572000"/>
            <a:ext cx="3660343" cy="64008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現行体制の維持には【指標】【数値C】以上が必要</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収支を最も左右する前提は【前提X】で、±10%の変動で収支が【数値A】動く。本格投資の前に【前提X】を試行で確かめるべきである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前提が±10%変動したときの収支の変化</a:t>
            </a:r>
            <a:pPr indent="0" marL="0">
              <a:buNone/>
            </a:pPr>
            <a:r>
              <a:rPr lang="en-US" sz="1100" dirty="0">
                <a:solidFill>
                  <a:srgbClr val="595959"/>
                </a:solidFill>
                <a:latin typeface="Yu Gothic UI" pitchFamily="34" charset="0"/>
                <a:ea typeface="Yu Gothic UI" pitchFamily="34" charset="-122"/>
                <a:cs typeface="Yu Gothic UI" pitchFamily="34" charset="-120"/>
              </a:rPr>
              <a:t>　（【単位】、基本ケース＝【数値】）</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29</a:t>
            </a:r>
            <a:endParaRPr lang="en-US" sz="900" dirty="0"/>
          </a:p>
        </p:txBody>
      </p:sp>
      <p:sp>
        <p:nvSpPr>
          <p:cNvPr id="12" name="Text 9"/>
          <p:cNvSpPr txBox="1"/>
          <p:nvPr/>
        </p:nvSpPr>
        <p:spPr>
          <a:xfrm>
            <a:off x="4084168" y="1783080"/>
            <a:ext cx="2011680" cy="256032"/>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下振れ</a:t>
            </a:r>
            <a:endParaRPr lang="en-US" sz="1400" dirty="0"/>
          </a:p>
        </p:txBody>
      </p:sp>
      <p:sp>
        <p:nvSpPr>
          <p:cNvPr id="13" name="Text 10"/>
          <p:cNvSpPr txBox="1"/>
          <p:nvPr/>
        </p:nvSpPr>
        <p:spPr>
          <a:xfrm>
            <a:off x="6461608" y="1783080"/>
            <a:ext cx="2011680" cy="256032"/>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上振れ</a:t>
            </a:r>
            <a:endParaRPr lang="en-US" sz="1400" dirty="0"/>
          </a:p>
        </p:txBody>
      </p:sp>
      <p:sp>
        <p:nvSpPr>
          <p:cNvPr id="14" name="Text 11"/>
          <p:cNvSpPr txBox="1"/>
          <p:nvPr/>
        </p:nvSpPr>
        <p:spPr>
          <a:xfrm>
            <a:off x="288036" y="2286000"/>
            <a:ext cx="2560320" cy="4572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【前提X】（利用者数）</a:t>
            </a:r>
            <a:endParaRPr lang="en-US" sz="1400" dirty="0"/>
          </a:p>
        </p:txBody>
      </p:sp>
      <p:sp>
        <p:nvSpPr>
          <p:cNvPr id="15" name="Shape 12"/>
          <p:cNvSpPr/>
          <p:nvPr/>
        </p:nvSpPr>
        <p:spPr>
          <a:xfrm>
            <a:off x="3590392" y="2350008"/>
            <a:ext cx="2688336" cy="329184"/>
          </a:xfrm>
          <a:prstGeom prst="rect">
            <a:avLst/>
          </a:prstGeom>
          <a:solidFill>
            <a:srgbClr val="000F78"/>
          </a:solidFill>
          <a:ln/>
        </p:spPr>
      </p:sp>
      <p:sp>
        <p:nvSpPr>
          <p:cNvPr id="16" name="Shape 13"/>
          <p:cNvSpPr/>
          <p:nvPr/>
        </p:nvSpPr>
        <p:spPr>
          <a:xfrm>
            <a:off x="6278728" y="2350008"/>
            <a:ext cx="2432304" cy="329184"/>
          </a:xfrm>
          <a:prstGeom prst="rect">
            <a:avLst/>
          </a:prstGeom>
          <a:solidFill>
            <a:srgbClr val="000F78"/>
          </a:solidFill>
          <a:ln/>
        </p:spPr>
      </p:sp>
      <p:sp>
        <p:nvSpPr>
          <p:cNvPr id="17" name="Text 14"/>
          <p:cNvSpPr txBox="1"/>
          <p:nvPr/>
        </p:nvSpPr>
        <p:spPr>
          <a:xfrm>
            <a:off x="2904592" y="2286000"/>
            <a:ext cx="640080" cy="457200"/>
          </a:xfrm>
          <a:prstGeom prst="rect">
            <a:avLst/>
          </a:prstGeom>
          <a:noFill/>
          <a:ln/>
        </p:spPr>
        <p:txBody>
          <a:bodyPr wrap="square" lIns="0" tIns="0" rIns="0" bIns="0" rtlCol="0" anchor="ctr"/>
          <a:lstStyle/>
          <a:p>
            <a:pPr algn="r" indent="0" marL="0">
              <a:buNone/>
            </a:pPr>
            <a:r>
              <a:rPr lang="en-US" sz="1400" b="1" dirty="0">
                <a:solidFill>
                  <a:srgbClr val="000F78"/>
                </a:solidFill>
                <a:latin typeface="Arial" pitchFamily="34" charset="0"/>
                <a:ea typeface="Arial" pitchFamily="34" charset="-122"/>
                <a:cs typeface="Arial" pitchFamily="34" charset="-120"/>
              </a:rPr>
              <a:t>−42</a:t>
            </a:r>
            <a:endParaRPr lang="en-US" sz="1400" dirty="0"/>
          </a:p>
        </p:txBody>
      </p:sp>
      <p:sp>
        <p:nvSpPr>
          <p:cNvPr id="18" name="Text 15"/>
          <p:cNvSpPr txBox="1"/>
          <p:nvPr/>
        </p:nvSpPr>
        <p:spPr>
          <a:xfrm>
            <a:off x="8756752" y="2286000"/>
            <a:ext cx="640080" cy="457200"/>
          </a:xfrm>
          <a:prstGeom prst="rect">
            <a:avLst/>
          </a:prstGeom>
          <a:noFill/>
          <a:ln/>
        </p:spPr>
        <p:txBody>
          <a:bodyPr wrap="square" lIns="0" tIns="0" rIns="0" bIns="0" rtlCol="0" anchor="ctr"/>
          <a:lstStyle/>
          <a:p>
            <a:pPr indent="0" marL="0">
              <a:buNone/>
            </a:pPr>
            <a:r>
              <a:rPr lang="en-US" sz="1400" b="1" dirty="0">
                <a:solidFill>
                  <a:srgbClr val="000F78"/>
                </a:solidFill>
                <a:latin typeface="Arial" pitchFamily="34" charset="0"/>
                <a:ea typeface="Arial" pitchFamily="34" charset="-122"/>
                <a:cs typeface="Arial" pitchFamily="34" charset="-120"/>
              </a:rPr>
              <a:t>＋38</a:t>
            </a:r>
            <a:endParaRPr lang="en-US" sz="1400" dirty="0"/>
          </a:p>
        </p:txBody>
      </p:sp>
      <p:sp>
        <p:nvSpPr>
          <p:cNvPr id="19" name="Text 16"/>
          <p:cNvSpPr txBox="1"/>
          <p:nvPr/>
        </p:nvSpPr>
        <p:spPr>
          <a:xfrm>
            <a:off x="288036" y="3035808"/>
            <a:ext cx="256032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【前提Y】（単価）</a:t>
            </a:r>
            <a:endParaRPr lang="en-US" sz="1400" dirty="0"/>
          </a:p>
        </p:txBody>
      </p:sp>
      <p:sp>
        <p:nvSpPr>
          <p:cNvPr id="20" name="Shape 17"/>
          <p:cNvSpPr/>
          <p:nvPr/>
        </p:nvSpPr>
        <p:spPr>
          <a:xfrm>
            <a:off x="4678528" y="3099816"/>
            <a:ext cx="1600200" cy="329184"/>
          </a:xfrm>
          <a:prstGeom prst="rect">
            <a:avLst/>
          </a:prstGeom>
          <a:solidFill>
            <a:srgbClr val="BFBFBF"/>
          </a:solidFill>
          <a:ln/>
        </p:spPr>
      </p:sp>
      <p:sp>
        <p:nvSpPr>
          <p:cNvPr id="21" name="Shape 18"/>
          <p:cNvSpPr/>
          <p:nvPr/>
        </p:nvSpPr>
        <p:spPr>
          <a:xfrm>
            <a:off x="6278728" y="3099816"/>
            <a:ext cx="1600200" cy="329184"/>
          </a:xfrm>
          <a:prstGeom prst="rect">
            <a:avLst/>
          </a:prstGeom>
          <a:solidFill>
            <a:srgbClr val="BFBFBF"/>
          </a:solidFill>
          <a:ln/>
        </p:spPr>
      </p:sp>
      <p:sp>
        <p:nvSpPr>
          <p:cNvPr id="22" name="Text 19"/>
          <p:cNvSpPr txBox="1"/>
          <p:nvPr/>
        </p:nvSpPr>
        <p:spPr>
          <a:xfrm>
            <a:off x="3992728" y="3035808"/>
            <a:ext cx="64008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23" name="Text 20"/>
          <p:cNvSpPr txBox="1"/>
          <p:nvPr/>
        </p:nvSpPr>
        <p:spPr>
          <a:xfrm>
            <a:off x="7924648" y="3035808"/>
            <a:ext cx="64008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24" name="Text 21"/>
          <p:cNvSpPr txBox="1"/>
          <p:nvPr/>
        </p:nvSpPr>
        <p:spPr>
          <a:xfrm>
            <a:off x="288036" y="3785616"/>
            <a:ext cx="256032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【前提Z】（人件費）</a:t>
            </a:r>
            <a:endParaRPr lang="en-US" sz="1400" dirty="0"/>
          </a:p>
        </p:txBody>
      </p:sp>
      <p:sp>
        <p:nvSpPr>
          <p:cNvPr id="25" name="Shape 22"/>
          <p:cNvSpPr/>
          <p:nvPr/>
        </p:nvSpPr>
        <p:spPr>
          <a:xfrm>
            <a:off x="5126584" y="3849624"/>
            <a:ext cx="1152144" cy="329184"/>
          </a:xfrm>
          <a:prstGeom prst="rect">
            <a:avLst/>
          </a:prstGeom>
          <a:solidFill>
            <a:srgbClr val="BFBFBF"/>
          </a:solidFill>
          <a:ln/>
        </p:spPr>
      </p:sp>
      <p:sp>
        <p:nvSpPr>
          <p:cNvPr id="26" name="Shape 23"/>
          <p:cNvSpPr/>
          <p:nvPr/>
        </p:nvSpPr>
        <p:spPr>
          <a:xfrm>
            <a:off x="6278728" y="3849624"/>
            <a:ext cx="960120" cy="329184"/>
          </a:xfrm>
          <a:prstGeom prst="rect">
            <a:avLst/>
          </a:prstGeom>
          <a:solidFill>
            <a:srgbClr val="BFBFBF"/>
          </a:solidFill>
          <a:ln/>
        </p:spPr>
      </p:sp>
      <p:sp>
        <p:nvSpPr>
          <p:cNvPr id="27" name="Text 24"/>
          <p:cNvSpPr txBox="1"/>
          <p:nvPr/>
        </p:nvSpPr>
        <p:spPr>
          <a:xfrm>
            <a:off x="4440784" y="3785616"/>
            <a:ext cx="64008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28" name="Text 25"/>
          <p:cNvSpPr txBox="1"/>
          <p:nvPr/>
        </p:nvSpPr>
        <p:spPr>
          <a:xfrm>
            <a:off x="7284568" y="3785616"/>
            <a:ext cx="64008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＋15</a:t>
            </a:r>
            <a:endParaRPr lang="en-US" sz="1400" dirty="0"/>
          </a:p>
        </p:txBody>
      </p:sp>
      <p:sp>
        <p:nvSpPr>
          <p:cNvPr id="29" name="Text 26"/>
          <p:cNvSpPr txBox="1"/>
          <p:nvPr/>
        </p:nvSpPr>
        <p:spPr>
          <a:xfrm>
            <a:off x="288036" y="4535424"/>
            <a:ext cx="256032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【前提W】（設備費）</a:t>
            </a:r>
            <a:endParaRPr lang="en-US" sz="1400" dirty="0"/>
          </a:p>
        </p:txBody>
      </p:sp>
      <p:sp>
        <p:nvSpPr>
          <p:cNvPr id="30" name="Shape 27"/>
          <p:cNvSpPr/>
          <p:nvPr/>
        </p:nvSpPr>
        <p:spPr>
          <a:xfrm>
            <a:off x="5638648" y="4599432"/>
            <a:ext cx="640080" cy="329184"/>
          </a:xfrm>
          <a:prstGeom prst="rect">
            <a:avLst/>
          </a:prstGeom>
          <a:solidFill>
            <a:srgbClr val="BFBFBF"/>
          </a:solidFill>
          <a:ln/>
        </p:spPr>
      </p:sp>
      <p:sp>
        <p:nvSpPr>
          <p:cNvPr id="31" name="Shape 28"/>
          <p:cNvSpPr/>
          <p:nvPr/>
        </p:nvSpPr>
        <p:spPr>
          <a:xfrm>
            <a:off x="6278728" y="4599432"/>
            <a:ext cx="576072" cy="329184"/>
          </a:xfrm>
          <a:prstGeom prst="rect">
            <a:avLst/>
          </a:prstGeom>
          <a:solidFill>
            <a:srgbClr val="BFBFBF"/>
          </a:solidFill>
          <a:ln/>
        </p:spPr>
      </p:sp>
      <p:sp>
        <p:nvSpPr>
          <p:cNvPr id="32" name="Text 29"/>
          <p:cNvSpPr txBox="1"/>
          <p:nvPr/>
        </p:nvSpPr>
        <p:spPr>
          <a:xfrm>
            <a:off x="4952848" y="4535424"/>
            <a:ext cx="64008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−10</a:t>
            </a:r>
            <a:endParaRPr lang="en-US" sz="1400" dirty="0"/>
          </a:p>
        </p:txBody>
      </p:sp>
      <p:sp>
        <p:nvSpPr>
          <p:cNvPr id="33" name="Text 30"/>
          <p:cNvSpPr txBox="1"/>
          <p:nvPr/>
        </p:nvSpPr>
        <p:spPr>
          <a:xfrm>
            <a:off x="6900520" y="4535424"/>
            <a:ext cx="64008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＋9</a:t>
            </a:r>
            <a:endParaRPr lang="en-US" sz="1400" dirty="0"/>
          </a:p>
        </p:txBody>
      </p:sp>
      <p:sp>
        <p:nvSpPr>
          <p:cNvPr id="34" name="Text 31"/>
          <p:cNvSpPr txBox="1"/>
          <p:nvPr/>
        </p:nvSpPr>
        <p:spPr>
          <a:xfrm>
            <a:off x="288036" y="5285232"/>
            <a:ext cx="256032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その他</a:t>
            </a:r>
            <a:endParaRPr lang="en-US" sz="1400" dirty="0"/>
          </a:p>
        </p:txBody>
      </p:sp>
      <p:sp>
        <p:nvSpPr>
          <p:cNvPr id="35" name="Shape 32"/>
          <p:cNvSpPr/>
          <p:nvPr/>
        </p:nvSpPr>
        <p:spPr>
          <a:xfrm>
            <a:off x="5958688" y="5349240"/>
            <a:ext cx="320040" cy="329184"/>
          </a:xfrm>
          <a:prstGeom prst="rect">
            <a:avLst/>
          </a:prstGeom>
          <a:solidFill>
            <a:srgbClr val="BFBFBF"/>
          </a:solidFill>
          <a:ln/>
        </p:spPr>
      </p:sp>
      <p:sp>
        <p:nvSpPr>
          <p:cNvPr id="36" name="Shape 33"/>
          <p:cNvSpPr/>
          <p:nvPr/>
        </p:nvSpPr>
        <p:spPr>
          <a:xfrm>
            <a:off x="6278728" y="5349240"/>
            <a:ext cx="256032" cy="329184"/>
          </a:xfrm>
          <a:prstGeom prst="rect">
            <a:avLst/>
          </a:prstGeom>
          <a:solidFill>
            <a:srgbClr val="BFBFBF"/>
          </a:solidFill>
          <a:ln/>
        </p:spPr>
      </p:sp>
      <p:sp>
        <p:nvSpPr>
          <p:cNvPr id="37" name="Text 34"/>
          <p:cNvSpPr txBox="1"/>
          <p:nvPr/>
        </p:nvSpPr>
        <p:spPr>
          <a:xfrm>
            <a:off x="5272888" y="5285232"/>
            <a:ext cx="64008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38" name="Text 35"/>
          <p:cNvSpPr txBox="1"/>
          <p:nvPr/>
        </p:nvSpPr>
        <p:spPr>
          <a:xfrm>
            <a:off x="6580480" y="5285232"/>
            <a:ext cx="64008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39" name="Shape 36"/>
          <p:cNvSpPr/>
          <p:nvPr/>
        </p:nvSpPr>
        <p:spPr>
          <a:xfrm>
            <a:off x="6278728" y="2148840"/>
            <a:ext cx="0" cy="3886200"/>
          </a:xfrm>
          <a:prstGeom prst="line">
            <a:avLst/>
          </a:prstGeom>
          <a:noFill/>
          <a:ln w="12700">
            <a:solidFill>
              <a:srgbClr val="7F7F7F"/>
            </a:solidFill>
            <a:prstDash val="solid"/>
          </a:ln>
        </p:spPr>
      </p:sp>
      <p:sp>
        <p:nvSpPr>
          <p:cNvPr id="40" name="Text 37"/>
          <p:cNvSpPr txBox="1"/>
          <p:nvPr/>
        </p:nvSpPr>
        <p:spPr>
          <a:xfrm>
            <a:off x="5547208" y="6080760"/>
            <a:ext cx="1463040"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基本ケース</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収支の赤字【数値A】は、利用者数×単価で決まる収入が費用を下回るためである。黒字化には利用者数を【数値C】増やす必要がある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収支の計算ロジック</a:t>
            </a:r>
            <a:pPr indent="0" marL="0">
              <a:buNone/>
            </a:pPr>
            <a:r>
              <a:rPr lang="en-US" sz="1100" dirty="0">
                <a:solidFill>
                  <a:srgbClr val="595959"/>
                </a:solidFill>
                <a:latin typeface="Yu Gothic UI" pitchFamily="34" charset="0"/>
                <a:ea typeface="Yu Gothic UI" pitchFamily="34" charset="-122"/>
                <a:cs typeface="Yu Gothic UI" pitchFamily="34" charset="-120"/>
              </a:rPr>
              <a:t>　（【単位】、【年度】）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30</a:t>
            </a:r>
            <a:endParaRPr lang="en-US" sz="900" dirty="0"/>
          </a:p>
        </p:txBody>
      </p:sp>
      <p:sp>
        <p:nvSpPr>
          <p:cNvPr id="12" name="Shape 9"/>
          <p:cNvSpPr/>
          <p:nvPr/>
        </p:nvSpPr>
        <p:spPr>
          <a:xfrm>
            <a:off x="288036" y="2103120"/>
            <a:ext cx="1828800" cy="914400"/>
          </a:xfrm>
          <a:prstGeom prst="rect">
            <a:avLst/>
          </a:prstGeom>
          <a:solidFill>
            <a:srgbClr val="FFFFFF"/>
          </a:solidFill>
          <a:ln w="9525">
            <a:solidFill>
              <a:srgbClr val="7F7F7F"/>
            </a:solidFill>
            <a:prstDash val="solid"/>
          </a:ln>
        </p:spPr>
      </p:sp>
      <p:sp>
        <p:nvSpPr>
          <p:cNvPr id="13" name="Text 10"/>
          <p:cNvSpPr txBox="1"/>
          <p:nvPr/>
        </p:nvSpPr>
        <p:spPr>
          <a:xfrm>
            <a:off x="379476" y="2194560"/>
            <a:ext cx="164592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収支</a:t>
            </a:r>
            <a:endParaRPr lang="en-US" sz="1400" dirty="0"/>
          </a:p>
        </p:txBody>
      </p:sp>
      <p:sp>
        <p:nvSpPr>
          <p:cNvPr id="14" name="Text 11"/>
          <p:cNvSpPr txBox="1"/>
          <p:nvPr/>
        </p:nvSpPr>
        <p:spPr>
          <a:xfrm>
            <a:off x="379476" y="2514600"/>
            <a:ext cx="164592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−【数値A】</a:t>
            </a:r>
            <a:endParaRPr lang="en-US" sz="1800" dirty="0"/>
          </a:p>
        </p:txBody>
      </p:sp>
      <p:sp>
        <p:nvSpPr>
          <p:cNvPr id="15" name="Text 12"/>
          <p:cNvSpPr txBox="1"/>
          <p:nvPr/>
        </p:nvSpPr>
        <p:spPr>
          <a:xfrm>
            <a:off x="2116836" y="2103120"/>
            <a:ext cx="45720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16" name="Shape 13"/>
          <p:cNvSpPr/>
          <p:nvPr/>
        </p:nvSpPr>
        <p:spPr>
          <a:xfrm>
            <a:off x="2574036" y="2103120"/>
            <a:ext cx="1828800" cy="914400"/>
          </a:xfrm>
          <a:prstGeom prst="rect">
            <a:avLst/>
          </a:prstGeom>
          <a:solidFill>
            <a:srgbClr val="FFFFFF"/>
          </a:solidFill>
          <a:ln w="9525">
            <a:solidFill>
              <a:srgbClr val="7F7F7F"/>
            </a:solidFill>
            <a:prstDash val="solid"/>
          </a:ln>
        </p:spPr>
      </p:sp>
      <p:sp>
        <p:nvSpPr>
          <p:cNvPr id="17" name="Text 14"/>
          <p:cNvSpPr txBox="1"/>
          <p:nvPr/>
        </p:nvSpPr>
        <p:spPr>
          <a:xfrm>
            <a:off x="2665476" y="2194560"/>
            <a:ext cx="164592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収入</a:t>
            </a:r>
            <a:endParaRPr lang="en-US" sz="1400" dirty="0"/>
          </a:p>
        </p:txBody>
      </p:sp>
      <p:sp>
        <p:nvSpPr>
          <p:cNvPr id="18" name="Text 15"/>
          <p:cNvSpPr txBox="1"/>
          <p:nvPr/>
        </p:nvSpPr>
        <p:spPr>
          <a:xfrm>
            <a:off x="2665476" y="2514600"/>
            <a:ext cx="164592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【数値】</a:t>
            </a:r>
            <a:endParaRPr lang="en-US" sz="1800" dirty="0"/>
          </a:p>
        </p:txBody>
      </p:sp>
      <p:sp>
        <p:nvSpPr>
          <p:cNvPr id="19" name="Text 16"/>
          <p:cNvSpPr txBox="1"/>
          <p:nvPr/>
        </p:nvSpPr>
        <p:spPr>
          <a:xfrm>
            <a:off x="4402836" y="2103120"/>
            <a:ext cx="45720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20" name="Shape 17"/>
          <p:cNvSpPr/>
          <p:nvPr/>
        </p:nvSpPr>
        <p:spPr>
          <a:xfrm>
            <a:off x="4860036" y="2103120"/>
            <a:ext cx="1828800" cy="914400"/>
          </a:xfrm>
          <a:prstGeom prst="rect">
            <a:avLst/>
          </a:prstGeom>
          <a:solidFill>
            <a:srgbClr val="FFFFFF"/>
          </a:solidFill>
          <a:ln w="9525">
            <a:solidFill>
              <a:srgbClr val="7F7F7F"/>
            </a:solidFill>
            <a:prstDash val="solid"/>
          </a:ln>
        </p:spPr>
      </p:sp>
      <p:sp>
        <p:nvSpPr>
          <p:cNvPr id="21" name="Text 18"/>
          <p:cNvSpPr txBox="1"/>
          <p:nvPr/>
        </p:nvSpPr>
        <p:spPr>
          <a:xfrm>
            <a:off x="4951476" y="2194560"/>
            <a:ext cx="164592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費用</a:t>
            </a:r>
            <a:endParaRPr lang="en-US" sz="1400" dirty="0"/>
          </a:p>
        </p:txBody>
      </p:sp>
      <p:sp>
        <p:nvSpPr>
          <p:cNvPr id="22" name="Text 19"/>
          <p:cNvSpPr txBox="1"/>
          <p:nvPr/>
        </p:nvSpPr>
        <p:spPr>
          <a:xfrm>
            <a:off x="4951476" y="2514600"/>
            <a:ext cx="164592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【数値】</a:t>
            </a:r>
            <a:endParaRPr lang="en-US" sz="1800" dirty="0"/>
          </a:p>
        </p:txBody>
      </p:sp>
      <p:sp>
        <p:nvSpPr>
          <p:cNvPr id="23" name="Shape 20"/>
          <p:cNvSpPr/>
          <p:nvPr/>
        </p:nvSpPr>
        <p:spPr>
          <a:xfrm>
            <a:off x="3488436" y="3017520"/>
            <a:ext cx="0" cy="457200"/>
          </a:xfrm>
          <a:prstGeom prst="line">
            <a:avLst/>
          </a:prstGeom>
          <a:noFill/>
          <a:ln w="9525">
            <a:solidFill>
              <a:srgbClr val="BFBFBF"/>
            </a:solidFill>
            <a:prstDash val="solid"/>
          </a:ln>
        </p:spPr>
      </p:sp>
      <p:sp>
        <p:nvSpPr>
          <p:cNvPr id="24" name="Shape 21"/>
          <p:cNvSpPr/>
          <p:nvPr/>
        </p:nvSpPr>
        <p:spPr>
          <a:xfrm>
            <a:off x="836676" y="3657600"/>
            <a:ext cx="1828800" cy="914400"/>
          </a:xfrm>
          <a:prstGeom prst="rect">
            <a:avLst/>
          </a:prstGeom>
          <a:solidFill>
            <a:srgbClr val="FFFFFF"/>
          </a:solidFill>
          <a:ln w="22225">
            <a:solidFill>
              <a:srgbClr val="000F78"/>
            </a:solidFill>
            <a:prstDash val="solid"/>
          </a:ln>
        </p:spPr>
      </p:sp>
      <p:sp>
        <p:nvSpPr>
          <p:cNvPr id="25" name="Text 22"/>
          <p:cNvSpPr txBox="1"/>
          <p:nvPr/>
        </p:nvSpPr>
        <p:spPr>
          <a:xfrm>
            <a:off x="928116" y="3749040"/>
            <a:ext cx="1645920" cy="292608"/>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利用者数</a:t>
            </a:r>
            <a:endParaRPr lang="en-US" sz="1400" dirty="0"/>
          </a:p>
        </p:txBody>
      </p:sp>
      <p:sp>
        <p:nvSpPr>
          <p:cNvPr id="26" name="Text 23"/>
          <p:cNvSpPr txBox="1"/>
          <p:nvPr/>
        </p:nvSpPr>
        <p:spPr>
          <a:xfrm>
            <a:off x="928116" y="4069080"/>
            <a:ext cx="1645920" cy="411480"/>
          </a:xfrm>
          <a:prstGeom prst="rect">
            <a:avLst/>
          </a:prstGeom>
          <a:noFill/>
          <a:ln/>
        </p:spPr>
        <p:txBody>
          <a:bodyPr wrap="square" lIns="0" tIns="0" rIns="0" bIns="0" rtlCol="0" anchor="t"/>
          <a:lstStyle/>
          <a:p>
            <a:pPr algn="ctr" indent="0" marL="0">
              <a:buNone/>
            </a:pPr>
            <a:r>
              <a:rPr lang="en-US" sz="1800" b="1" dirty="0">
                <a:solidFill>
                  <a:srgbClr val="000F78"/>
                </a:solidFill>
                <a:latin typeface="Yu Gothic UI" pitchFamily="34" charset="0"/>
                <a:ea typeface="Yu Gothic UI" pitchFamily="34" charset="-122"/>
                <a:cs typeface="Yu Gothic UI" pitchFamily="34" charset="-120"/>
              </a:rPr>
              <a:t>【数値】人</a:t>
            </a:r>
            <a:endParaRPr lang="en-US" sz="1800" dirty="0"/>
          </a:p>
        </p:txBody>
      </p:sp>
      <p:sp>
        <p:nvSpPr>
          <p:cNvPr id="27" name="Text 24"/>
          <p:cNvSpPr txBox="1"/>
          <p:nvPr/>
        </p:nvSpPr>
        <p:spPr>
          <a:xfrm>
            <a:off x="2665476" y="3657600"/>
            <a:ext cx="45720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28" name="Shape 25"/>
          <p:cNvSpPr/>
          <p:nvPr/>
        </p:nvSpPr>
        <p:spPr>
          <a:xfrm>
            <a:off x="3122676" y="3657600"/>
            <a:ext cx="1828800" cy="914400"/>
          </a:xfrm>
          <a:prstGeom prst="rect">
            <a:avLst/>
          </a:prstGeom>
          <a:solidFill>
            <a:srgbClr val="FFFFFF"/>
          </a:solidFill>
          <a:ln w="9525">
            <a:solidFill>
              <a:srgbClr val="7F7F7F"/>
            </a:solidFill>
            <a:prstDash val="solid"/>
          </a:ln>
        </p:spPr>
      </p:sp>
      <p:sp>
        <p:nvSpPr>
          <p:cNvPr id="29" name="Text 26"/>
          <p:cNvSpPr txBox="1"/>
          <p:nvPr/>
        </p:nvSpPr>
        <p:spPr>
          <a:xfrm>
            <a:off x="3214116" y="3749040"/>
            <a:ext cx="164592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単価</a:t>
            </a:r>
            <a:endParaRPr lang="en-US" sz="1400" dirty="0"/>
          </a:p>
        </p:txBody>
      </p:sp>
      <p:sp>
        <p:nvSpPr>
          <p:cNvPr id="30" name="Text 27"/>
          <p:cNvSpPr txBox="1"/>
          <p:nvPr/>
        </p:nvSpPr>
        <p:spPr>
          <a:xfrm>
            <a:off x="3214116" y="4069080"/>
            <a:ext cx="164592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【数値】円</a:t>
            </a:r>
            <a:endParaRPr lang="en-US" sz="1800" dirty="0"/>
          </a:p>
        </p:txBody>
      </p:sp>
      <p:sp>
        <p:nvSpPr>
          <p:cNvPr id="31" name="Shape 28"/>
          <p:cNvSpPr/>
          <p:nvPr/>
        </p:nvSpPr>
        <p:spPr>
          <a:xfrm>
            <a:off x="1751076" y="3474720"/>
            <a:ext cx="2286000" cy="0"/>
          </a:xfrm>
          <a:prstGeom prst="line">
            <a:avLst/>
          </a:prstGeom>
          <a:noFill/>
          <a:ln w="9525">
            <a:solidFill>
              <a:srgbClr val="BFBFBF"/>
            </a:solidFill>
            <a:prstDash val="solid"/>
          </a:ln>
        </p:spPr>
      </p:sp>
      <p:sp>
        <p:nvSpPr>
          <p:cNvPr id="32" name="Shape 29"/>
          <p:cNvSpPr/>
          <p:nvPr/>
        </p:nvSpPr>
        <p:spPr>
          <a:xfrm>
            <a:off x="1751076" y="3474720"/>
            <a:ext cx="0" cy="182880"/>
          </a:xfrm>
          <a:prstGeom prst="line">
            <a:avLst/>
          </a:prstGeom>
          <a:noFill/>
          <a:ln w="9525">
            <a:solidFill>
              <a:srgbClr val="BFBFBF"/>
            </a:solidFill>
            <a:prstDash val="solid"/>
          </a:ln>
        </p:spPr>
      </p:sp>
      <p:sp>
        <p:nvSpPr>
          <p:cNvPr id="33" name="Shape 30"/>
          <p:cNvSpPr/>
          <p:nvPr/>
        </p:nvSpPr>
        <p:spPr>
          <a:xfrm>
            <a:off x="4037076" y="3474720"/>
            <a:ext cx="0" cy="182880"/>
          </a:xfrm>
          <a:prstGeom prst="line">
            <a:avLst/>
          </a:prstGeom>
          <a:noFill/>
          <a:ln w="9525">
            <a:solidFill>
              <a:srgbClr val="BFBFBF"/>
            </a:solidFill>
            <a:prstDash val="solid"/>
          </a:ln>
        </p:spPr>
      </p:sp>
      <p:sp>
        <p:nvSpPr>
          <p:cNvPr id="34" name="Shape 31"/>
          <p:cNvSpPr/>
          <p:nvPr/>
        </p:nvSpPr>
        <p:spPr>
          <a:xfrm>
            <a:off x="5774436" y="3017520"/>
            <a:ext cx="0" cy="457200"/>
          </a:xfrm>
          <a:prstGeom prst="line">
            <a:avLst/>
          </a:prstGeom>
          <a:noFill/>
          <a:ln w="9525">
            <a:solidFill>
              <a:srgbClr val="BFBFBF"/>
            </a:solidFill>
            <a:prstDash val="solid"/>
          </a:ln>
        </p:spPr>
      </p:sp>
      <p:sp>
        <p:nvSpPr>
          <p:cNvPr id="35" name="Shape 32"/>
          <p:cNvSpPr/>
          <p:nvPr/>
        </p:nvSpPr>
        <p:spPr>
          <a:xfrm>
            <a:off x="5134356" y="3657600"/>
            <a:ext cx="1463040" cy="914400"/>
          </a:xfrm>
          <a:prstGeom prst="rect">
            <a:avLst/>
          </a:prstGeom>
          <a:solidFill>
            <a:srgbClr val="FFFFFF"/>
          </a:solidFill>
          <a:ln w="9525">
            <a:solidFill>
              <a:srgbClr val="7F7F7F"/>
            </a:solidFill>
            <a:prstDash val="solid"/>
          </a:ln>
        </p:spPr>
      </p:sp>
      <p:sp>
        <p:nvSpPr>
          <p:cNvPr id="36" name="Text 33"/>
          <p:cNvSpPr txBox="1"/>
          <p:nvPr/>
        </p:nvSpPr>
        <p:spPr>
          <a:xfrm>
            <a:off x="5225796" y="3749040"/>
            <a:ext cx="128016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人件費</a:t>
            </a:r>
            <a:endParaRPr lang="en-US" sz="1400" dirty="0"/>
          </a:p>
        </p:txBody>
      </p:sp>
      <p:sp>
        <p:nvSpPr>
          <p:cNvPr id="37" name="Text 34"/>
          <p:cNvSpPr txBox="1"/>
          <p:nvPr/>
        </p:nvSpPr>
        <p:spPr>
          <a:xfrm>
            <a:off x="5225796" y="4069080"/>
            <a:ext cx="128016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【数値】</a:t>
            </a:r>
            <a:endParaRPr lang="en-US" sz="1800" dirty="0"/>
          </a:p>
        </p:txBody>
      </p:sp>
      <p:sp>
        <p:nvSpPr>
          <p:cNvPr id="38" name="Text 35"/>
          <p:cNvSpPr txBox="1"/>
          <p:nvPr/>
        </p:nvSpPr>
        <p:spPr>
          <a:xfrm>
            <a:off x="6597396" y="3657600"/>
            <a:ext cx="45720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39" name="Shape 36"/>
          <p:cNvSpPr/>
          <p:nvPr/>
        </p:nvSpPr>
        <p:spPr>
          <a:xfrm>
            <a:off x="7054596" y="3657600"/>
            <a:ext cx="1463040" cy="914400"/>
          </a:xfrm>
          <a:prstGeom prst="rect">
            <a:avLst/>
          </a:prstGeom>
          <a:solidFill>
            <a:srgbClr val="FFFFFF"/>
          </a:solidFill>
          <a:ln w="9525">
            <a:solidFill>
              <a:srgbClr val="7F7F7F"/>
            </a:solidFill>
            <a:prstDash val="solid"/>
          </a:ln>
        </p:spPr>
      </p:sp>
      <p:sp>
        <p:nvSpPr>
          <p:cNvPr id="40" name="Text 37"/>
          <p:cNvSpPr txBox="1"/>
          <p:nvPr/>
        </p:nvSpPr>
        <p:spPr>
          <a:xfrm>
            <a:off x="7146036" y="3749040"/>
            <a:ext cx="128016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設備費</a:t>
            </a:r>
            <a:endParaRPr lang="en-US" sz="1400" dirty="0"/>
          </a:p>
        </p:txBody>
      </p:sp>
      <p:sp>
        <p:nvSpPr>
          <p:cNvPr id="41" name="Text 38"/>
          <p:cNvSpPr txBox="1"/>
          <p:nvPr/>
        </p:nvSpPr>
        <p:spPr>
          <a:xfrm>
            <a:off x="7146036" y="4069080"/>
            <a:ext cx="128016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【数値】</a:t>
            </a:r>
            <a:endParaRPr lang="en-US" sz="1800" dirty="0"/>
          </a:p>
        </p:txBody>
      </p:sp>
      <p:sp>
        <p:nvSpPr>
          <p:cNvPr id="42" name="Shape 39"/>
          <p:cNvSpPr/>
          <p:nvPr/>
        </p:nvSpPr>
        <p:spPr>
          <a:xfrm>
            <a:off x="5865876" y="3474720"/>
            <a:ext cx="2194560" cy="0"/>
          </a:xfrm>
          <a:prstGeom prst="line">
            <a:avLst/>
          </a:prstGeom>
          <a:noFill/>
          <a:ln w="9525">
            <a:solidFill>
              <a:srgbClr val="BFBFBF"/>
            </a:solidFill>
            <a:prstDash val="solid"/>
          </a:ln>
        </p:spPr>
      </p:sp>
      <p:sp>
        <p:nvSpPr>
          <p:cNvPr id="43" name="Shape 40"/>
          <p:cNvSpPr/>
          <p:nvPr/>
        </p:nvSpPr>
        <p:spPr>
          <a:xfrm>
            <a:off x="5865876" y="3474720"/>
            <a:ext cx="0" cy="182880"/>
          </a:xfrm>
          <a:prstGeom prst="line">
            <a:avLst/>
          </a:prstGeom>
          <a:noFill/>
          <a:ln w="9525">
            <a:solidFill>
              <a:srgbClr val="BFBFBF"/>
            </a:solidFill>
            <a:prstDash val="solid"/>
          </a:ln>
        </p:spPr>
      </p:sp>
      <p:sp>
        <p:nvSpPr>
          <p:cNvPr id="44" name="Shape 41"/>
          <p:cNvSpPr/>
          <p:nvPr/>
        </p:nvSpPr>
        <p:spPr>
          <a:xfrm>
            <a:off x="8060436" y="3474720"/>
            <a:ext cx="0" cy="182880"/>
          </a:xfrm>
          <a:prstGeom prst="line">
            <a:avLst/>
          </a:prstGeom>
          <a:noFill/>
          <a:ln w="9525">
            <a:solidFill>
              <a:srgbClr val="BFBFBF"/>
            </a:solidFill>
            <a:prstDash val="solid"/>
          </a:ln>
        </p:spPr>
      </p:sp>
      <p:sp>
        <p:nvSpPr>
          <p:cNvPr id="45" name="Text 42"/>
          <p:cNvSpPr txBox="1"/>
          <p:nvPr/>
        </p:nvSpPr>
        <p:spPr>
          <a:xfrm>
            <a:off x="288036" y="5029200"/>
            <a:ext cx="9329623"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黒字化に必要な利用者数：＋【数値C】人（単価据え置きの場合）</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最も影響が大きいリスクは【リスク1】である。兆候を【時期】から毎月確認し、発生時はすぐ【打ち手】に切り替えられるよう備える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主なリスクと対応</a:t>
            </a:r>
            <a:pPr indent="0" marL="0">
              <a:buNone/>
            </a:pPr>
            <a:r>
              <a:rPr lang="en-US" sz="1100" dirty="0">
                <a:solidFill>
                  <a:srgbClr val="595959"/>
                </a:solidFill>
                <a:latin typeface="Yu Gothic UI" pitchFamily="34" charset="0"/>
                <a:ea typeface="Yu Gothic UI" pitchFamily="34" charset="-122"/>
                <a:cs typeface="Yu Gothic UI" pitchFamily="34" charset="-120"/>
              </a:rPr>
              <a:t>　（影響度：●大　◑中　○小）</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3017520"/>
                <a:gridCol w="2834640"/>
                <a:gridCol w="914400"/>
                <a:gridCol w="2563063"/>
              </a:tblGrid>
              <a:tr h="45720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リスク</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兆候（何を見るか）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影響度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打ち手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868680">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【リスク1】利用者が想定を下回る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月次の利用者数が計画比90%未満</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000F78"/>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【打ち手1】に切り替える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【リスク2】費用が膨らむ</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四半期の費用が予算比110%超</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7F7F7F"/>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【打ち手2】で調達を見直す</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【リスク3】関係者の合意が遅れる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協議の開催が計画から1か月遅延</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7F7F7F"/>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【主体】から働きかける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【リスク4】担い手が集まらない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応募数が募集枠の半数未満</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7F7F7F"/>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外部委託で補う</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【地域C】は需要・採算・担い手のいずれも弱く、課題が集中している。支援の優先順位は【地域C】を最上位に置くべきである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地域別・観点別の状況</a:t>
            </a:r>
            <a:pPr indent="0" marL="0">
              <a:buNone/>
            </a:pPr>
            <a:r>
              <a:rPr lang="en-US" sz="1100" dirty="0">
                <a:solidFill>
                  <a:srgbClr val="595959"/>
                </a:solidFill>
                <a:latin typeface="Yu Gothic UI" pitchFamily="34" charset="0"/>
                <a:ea typeface="Yu Gothic UI" pitchFamily="34" charset="-122"/>
                <a:cs typeface="Yu Gothic UI" pitchFamily="34" charset="-120"/>
              </a:rPr>
              <a:t>　（色が濃いほど課題が大きい、【年度】）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32</a:t>
            </a:r>
            <a:endParaRPr lang="en-US" sz="900" dirty="0"/>
          </a:p>
        </p:txBody>
      </p:sp>
      <p:sp>
        <p:nvSpPr>
          <p:cNvPr id="12" name="Text 9"/>
          <p:cNvSpPr txBox="1"/>
          <p:nvPr/>
        </p:nvSpPr>
        <p:spPr>
          <a:xfrm>
            <a:off x="1933956" y="1965960"/>
            <a:ext cx="1143000"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需要</a:t>
            </a:r>
            <a:endParaRPr lang="en-US" sz="1400" dirty="0"/>
          </a:p>
        </p:txBody>
      </p:sp>
      <p:sp>
        <p:nvSpPr>
          <p:cNvPr id="13" name="Text 10"/>
          <p:cNvSpPr txBox="1"/>
          <p:nvPr/>
        </p:nvSpPr>
        <p:spPr>
          <a:xfrm>
            <a:off x="3076956" y="1965960"/>
            <a:ext cx="1143000"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採算</a:t>
            </a:r>
            <a:endParaRPr lang="en-US" sz="1400" dirty="0"/>
          </a:p>
        </p:txBody>
      </p:sp>
      <p:sp>
        <p:nvSpPr>
          <p:cNvPr id="14" name="Text 11"/>
          <p:cNvSpPr txBox="1"/>
          <p:nvPr/>
        </p:nvSpPr>
        <p:spPr>
          <a:xfrm>
            <a:off x="4219956" y="1965960"/>
            <a:ext cx="1143000"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担い手</a:t>
            </a:r>
            <a:endParaRPr lang="en-US" sz="1400" dirty="0"/>
          </a:p>
        </p:txBody>
      </p:sp>
      <p:sp>
        <p:nvSpPr>
          <p:cNvPr id="15" name="Text 12"/>
          <p:cNvSpPr txBox="1"/>
          <p:nvPr/>
        </p:nvSpPr>
        <p:spPr>
          <a:xfrm>
            <a:off x="5362956" y="1965960"/>
            <a:ext cx="1143000"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設備</a:t>
            </a:r>
            <a:endParaRPr lang="en-US" sz="1400" dirty="0"/>
          </a:p>
        </p:txBody>
      </p:sp>
      <p:sp>
        <p:nvSpPr>
          <p:cNvPr id="16" name="Text 13"/>
          <p:cNvSpPr txBox="1"/>
          <p:nvPr/>
        </p:nvSpPr>
        <p:spPr>
          <a:xfrm>
            <a:off x="6505956" y="1965960"/>
            <a:ext cx="1143000"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連携</a:t>
            </a:r>
            <a:endParaRPr lang="en-US" sz="1400" dirty="0"/>
          </a:p>
        </p:txBody>
      </p:sp>
      <p:sp>
        <p:nvSpPr>
          <p:cNvPr id="17" name="Text 14"/>
          <p:cNvSpPr txBox="1"/>
          <p:nvPr/>
        </p:nvSpPr>
        <p:spPr>
          <a:xfrm>
            <a:off x="288036" y="2377440"/>
            <a:ext cx="1554480" cy="512064"/>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地域A</a:t>
            </a:r>
            <a:endParaRPr lang="en-US" sz="1400" dirty="0"/>
          </a:p>
        </p:txBody>
      </p:sp>
      <p:sp>
        <p:nvSpPr>
          <p:cNvPr id="18" name="Shape 15"/>
          <p:cNvSpPr/>
          <p:nvPr/>
        </p:nvSpPr>
        <p:spPr>
          <a:xfrm>
            <a:off x="1961388" y="2404872"/>
            <a:ext cx="1088136" cy="512064"/>
          </a:xfrm>
          <a:prstGeom prst="rect">
            <a:avLst/>
          </a:prstGeom>
          <a:solidFill>
            <a:srgbClr val="F2F2F2"/>
          </a:solidFill>
          <a:ln/>
        </p:spPr>
      </p:sp>
      <p:sp>
        <p:nvSpPr>
          <p:cNvPr id="19" name="Shape 16"/>
          <p:cNvSpPr/>
          <p:nvPr/>
        </p:nvSpPr>
        <p:spPr>
          <a:xfrm>
            <a:off x="3104388" y="2404872"/>
            <a:ext cx="1088136" cy="512064"/>
          </a:xfrm>
          <a:prstGeom prst="rect">
            <a:avLst/>
          </a:prstGeom>
          <a:solidFill>
            <a:srgbClr val="F2F2F2"/>
          </a:solidFill>
          <a:ln/>
        </p:spPr>
      </p:sp>
      <p:sp>
        <p:nvSpPr>
          <p:cNvPr id="20" name="Shape 17"/>
          <p:cNvSpPr/>
          <p:nvPr/>
        </p:nvSpPr>
        <p:spPr>
          <a:xfrm>
            <a:off x="4247388" y="2404872"/>
            <a:ext cx="1088136" cy="512064"/>
          </a:xfrm>
          <a:prstGeom prst="rect">
            <a:avLst/>
          </a:prstGeom>
          <a:solidFill>
            <a:srgbClr val="BFBFBF"/>
          </a:solidFill>
          <a:ln/>
        </p:spPr>
      </p:sp>
      <p:sp>
        <p:nvSpPr>
          <p:cNvPr id="21" name="Shape 18"/>
          <p:cNvSpPr/>
          <p:nvPr/>
        </p:nvSpPr>
        <p:spPr>
          <a:xfrm>
            <a:off x="5390388" y="2404872"/>
            <a:ext cx="1088136" cy="512064"/>
          </a:xfrm>
          <a:prstGeom prst="rect">
            <a:avLst/>
          </a:prstGeom>
          <a:solidFill>
            <a:srgbClr val="F2F2F2"/>
          </a:solidFill>
          <a:ln/>
        </p:spPr>
      </p:sp>
      <p:sp>
        <p:nvSpPr>
          <p:cNvPr id="22" name="Shape 19"/>
          <p:cNvSpPr/>
          <p:nvPr/>
        </p:nvSpPr>
        <p:spPr>
          <a:xfrm>
            <a:off x="6533388" y="2404872"/>
            <a:ext cx="1088136" cy="512064"/>
          </a:xfrm>
          <a:prstGeom prst="rect">
            <a:avLst/>
          </a:prstGeom>
          <a:solidFill>
            <a:srgbClr val="F2F2F2"/>
          </a:solidFill>
          <a:ln/>
        </p:spPr>
      </p:sp>
      <p:sp>
        <p:nvSpPr>
          <p:cNvPr id="23" name="Text 20"/>
          <p:cNvSpPr txBox="1"/>
          <p:nvPr/>
        </p:nvSpPr>
        <p:spPr>
          <a:xfrm>
            <a:off x="288036" y="2944368"/>
            <a:ext cx="1554480" cy="512064"/>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地域B</a:t>
            </a:r>
            <a:endParaRPr lang="en-US" sz="1400" dirty="0"/>
          </a:p>
        </p:txBody>
      </p:sp>
      <p:sp>
        <p:nvSpPr>
          <p:cNvPr id="24" name="Shape 21"/>
          <p:cNvSpPr/>
          <p:nvPr/>
        </p:nvSpPr>
        <p:spPr>
          <a:xfrm>
            <a:off x="1961388" y="2971800"/>
            <a:ext cx="1088136" cy="512064"/>
          </a:xfrm>
          <a:prstGeom prst="rect">
            <a:avLst/>
          </a:prstGeom>
          <a:solidFill>
            <a:srgbClr val="BFBFBF"/>
          </a:solidFill>
          <a:ln/>
        </p:spPr>
      </p:sp>
      <p:sp>
        <p:nvSpPr>
          <p:cNvPr id="25" name="Shape 22"/>
          <p:cNvSpPr/>
          <p:nvPr/>
        </p:nvSpPr>
        <p:spPr>
          <a:xfrm>
            <a:off x="3104388" y="2971800"/>
            <a:ext cx="1088136" cy="512064"/>
          </a:xfrm>
          <a:prstGeom prst="rect">
            <a:avLst/>
          </a:prstGeom>
          <a:solidFill>
            <a:srgbClr val="F2F2F2"/>
          </a:solidFill>
          <a:ln/>
        </p:spPr>
      </p:sp>
      <p:sp>
        <p:nvSpPr>
          <p:cNvPr id="26" name="Shape 23"/>
          <p:cNvSpPr/>
          <p:nvPr/>
        </p:nvSpPr>
        <p:spPr>
          <a:xfrm>
            <a:off x="4247388" y="2971800"/>
            <a:ext cx="1088136" cy="512064"/>
          </a:xfrm>
          <a:prstGeom prst="rect">
            <a:avLst/>
          </a:prstGeom>
          <a:solidFill>
            <a:srgbClr val="F2F2F2"/>
          </a:solidFill>
          <a:ln/>
        </p:spPr>
      </p:sp>
      <p:sp>
        <p:nvSpPr>
          <p:cNvPr id="27" name="Shape 24"/>
          <p:cNvSpPr/>
          <p:nvPr/>
        </p:nvSpPr>
        <p:spPr>
          <a:xfrm>
            <a:off x="5390388" y="2971800"/>
            <a:ext cx="1088136" cy="512064"/>
          </a:xfrm>
          <a:prstGeom prst="rect">
            <a:avLst/>
          </a:prstGeom>
          <a:solidFill>
            <a:srgbClr val="BFBFBF"/>
          </a:solidFill>
          <a:ln/>
        </p:spPr>
      </p:sp>
      <p:sp>
        <p:nvSpPr>
          <p:cNvPr id="28" name="Shape 25"/>
          <p:cNvSpPr/>
          <p:nvPr/>
        </p:nvSpPr>
        <p:spPr>
          <a:xfrm>
            <a:off x="6533388" y="2971800"/>
            <a:ext cx="1088136" cy="512064"/>
          </a:xfrm>
          <a:prstGeom prst="rect">
            <a:avLst/>
          </a:prstGeom>
          <a:solidFill>
            <a:srgbClr val="F2F2F2"/>
          </a:solidFill>
          <a:ln/>
        </p:spPr>
      </p:sp>
      <p:sp>
        <p:nvSpPr>
          <p:cNvPr id="29" name="Text 26"/>
          <p:cNvSpPr txBox="1"/>
          <p:nvPr/>
        </p:nvSpPr>
        <p:spPr>
          <a:xfrm>
            <a:off x="288036" y="3511296"/>
            <a:ext cx="1554480" cy="512064"/>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地域C</a:t>
            </a:r>
            <a:endParaRPr lang="en-US" sz="1400" dirty="0"/>
          </a:p>
        </p:txBody>
      </p:sp>
      <p:sp>
        <p:nvSpPr>
          <p:cNvPr id="30" name="Shape 27"/>
          <p:cNvSpPr/>
          <p:nvPr/>
        </p:nvSpPr>
        <p:spPr>
          <a:xfrm>
            <a:off x="1961388" y="3538728"/>
            <a:ext cx="1088136" cy="512064"/>
          </a:xfrm>
          <a:prstGeom prst="rect">
            <a:avLst/>
          </a:prstGeom>
          <a:solidFill>
            <a:srgbClr val="7F7F7F"/>
          </a:solidFill>
          <a:ln/>
        </p:spPr>
      </p:sp>
      <p:sp>
        <p:nvSpPr>
          <p:cNvPr id="31" name="Shape 28"/>
          <p:cNvSpPr/>
          <p:nvPr/>
        </p:nvSpPr>
        <p:spPr>
          <a:xfrm>
            <a:off x="3104388" y="3538728"/>
            <a:ext cx="1088136" cy="512064"/>
          </a:xfrm>
          <a:prstGeom prst="rect">
            <a:avLst/>
          </a:prstGeom>
          <a:solidFill>
            <a:srgbClr val="7F7F7F"/>
          </a:solidFill>
          <a:ln/>
        </p:spPr>
      </p:sp>
      <p:sp>
        <p:nvSpPr>
          <p:cNvPr id="32" name="Shape 29"/>
          <p:cNvSpPr/>
          <p:nvPr/>
        </p:nvSpPr>
        <p:spPr>
          <a:xfrm>
            <a:off x="4247388" y="3538728"/>
            <a:ext cx="1088136" cy="512064"/>
          </a:xfrm>
          <a:prstGeom prst="rect">
            <a:avLst/>
          </a:prstGeom>
          <a:solidFill>
            <a:srgbClr val="7F7F7F"/>
          </a:solidFill>
          <a:ln/>
        </p:spPr>
      </p:sp>
      <p:sp>
        <p:nvSpPr>
          <p:cNvPr id="33" name="Shape 30"/>
          <p:cNvSpPr/>
          <p:nvPr/>
        </p:nvSpPr>
        <p:spPr>
          <a:xfrm>
            <a:off x="5390388" y="3538728"/>
            <a:ext cx="1088136" cy="512064"/>
          </a:xfrm>
          <a:prstGeom prst="rect">
            <a:avLst/>
          </a:prstGeom>
          <a:solidFill>
            <a:srgbClr val="BFBFBF"/>
          </a:solidFill>
          <a:ln/>
        </p:spPr>
      </p:sp>
      <p:sp>
        <p:nvSpPr>
          <p:cNvPr id="34" name="Shape 31"/>
          <p:cNvSpPr/>
          <p:nvPr/>
        </p:nvSpPr>
        <p:spPr>
          <a:xfrm>
            <a:off x="6533388" y="3538728"/>
            <a:ext cx="1088136" cy="512064"/>
          </a:xfrm>
          <a:prstGeom prst="rect">
            <a:avLst/>
          </a:prstGeom>
          <a:solidFill>
            <a:srgbClr val="BFBFBF"/>
          </a:solidFill>
          <a:ln/>
        </p:spPr>
      </p:sp>
      <p:sp>
        <p:nvSpPr>
          <p:cNvPr id="35" name="Text 32"/>
          <p:cNvSpPr txBox="1"/>
          <p:nvPr/>
        </p:nvSpPr>
        <p:spPr>
          <a:xfrm>
            <a:off x="288036" y="4078224"/>
            <a:ext cx="1554480" cy="512064"/>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地域D</a:t>
            </a:r>
            <a:endParaRPr lang="en-US" sz="1400" dirty="0"/>
          </a:p>
        </p:txBody>
      </p:sp>
      <p:sp>
        <p:nvSpPr>
          <p:cNvPr id="36" name="Shape 33"/>
          <p:cNvSpPr/>
          <p:nvPr/>
        </p:nvSpPr>
        <p:spPr>
          <a:xfrm>
            <a:off x="1961388" y="4105656"/>
            <a:ext cx="1088136" cy="512064"/>
          </a:xfrm>
          <a:prstGeom prst="rect">
            <a:avLst/>
          </a:prstGeom>
          <a:solidFill>
            <a:srgbClr val="F2F2F2"/>
          </a:solidFill>
          <a:ln/>
        </p:spPr>
      </p:sp>
      <p:sp>
        <p:nvSpPr>
          <p:cNvPr id="37" name="Shape 34"/>
          <p:cNvSpPr/>
          <p:nvPr/>
        </p:nvSpPr>
        <p:spPr>
          <a:xfrm>
            <a:off x="3104388" y="4105656"/>
            <a:ext cx="1088136" cy="512064"/>
          </a:xfrm>
          <a:prstGeom prst="rect">
            <a:avLst/>
          </a:prstGeom>
          <a:solidFill>
            <a:srgbClr val="BFBFBF"/>
          </a:solidFill>
          <a:ln/>
        </p:spPr>
      </p:sp>
      <p:sp>
        <p:nvSpPr>
          <p:cNvPr id="38" name="Shape 35"/>
          <p:cNvSpPr/>
          <p:nvPr/>
        </p:nvSpPr>
        <p:spPr>
          <a:xfrm>
            <a:off x="4247388" y="4105656"/>
            <a:ext cx="1088136" cy="512064"/>
          </a:xfrm>
          <a:prstGeom prst="rect">
            <a:avLst/>
          </a:prstGeom>
          <a:solidFill>
            <a:srgbClr val="F2F2F2"/>
          </a:solidFill>
          <a:ln/>
        </p:spPr>
      </p:sp>
      <p:sp>
        <p:nvSpPr>
          <p:cNvPr id="39" name="Shape 36"/>
          <p:cNvSpPr/>
          <p:nvPr/>
        </p:nvSpPr>
        <p:spPr>
          <a:xfrm>
            <a:off x="5390388" y="4105656"/>
            <a:ext cx="1088136" cy="512064"/>
          </a:xfrm>
          <a:prstGeom prst="rect">
            <a:avLst/>
          </a:prstGeom>
          <a:solidFill>
            <a:srgbClr val="F2F2F2"/>
          </a:solidFill>
          <a:ln/>
        </p:spPr>
      </p:sp>
      <p:sp>
        <p:nvSpPr>
          <p:cNvPr id="40" name="Shape 37"/>
          <p:cNvSpPr/>
          <p:nvPr/>
        </p:nvSpPr>
        <p:spPr>
          <a:xfrm>
            <a:off x="6533388" y="4105656"/>
            <a:ext cx="1088136" cy="512064"/>
          </a:xfrm>
          <a:prstGeom prst="rect">
            <a:avLst/>
          </a:prstGeom>
          <a:solidFill>
            <a:srgbClr val="BFBFBF"/>
          </a:solidFill>
          <a:ln/>
        </p:spPr>
      </p:sp>
      <p:sp>
        <p:nvSpPr>
          <p:cNvPr id="41" name="Text 38"/>
          <p:cNvSpPr txBox="1"/>
          <p:nvPr/>
        </p:nvSpPr>
        <p:spPr>
          <a:xfrm>
            <a:off x="288036" y="4645152"/>
            <a:ext cx="1554480" cy="512064"/>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地域E</a:t>
            </a:r>
            <a:endParaRPr lang="en-US" sz="1400" dirty="0"/>
          </a:p>
        </p:txBody>
      </p:sp>
      <p:sp>
        <p:nvSpPr>
          <p:cNvPr id="42" name="Shape 39"/>
          <p:cNvSpPr/>
          <p:nvPr/>
        </p:nvSpPr>
        <p:spPr>
          <a:xfrm>
            <a:off x="1961388" y="4672584"/>
            <a:ext cx="1088136" cy="512064"/>
          </a:xfrm>
          <a:prstGeom prst="rect">
            <a:avLst/>
          </a:prstGeom>
          <a:solidFill>
            <a:srgbClr val="BFBFBF"/>
          </a:solidFill>
          <a:ln/>
        </p:spPr>
      </p:sp>
      <p:sp>
        <p:nvSpPr>
          <p:cNvPr id="43" name="Shape 40"/>
          <p:cNvSpPr/>
          <p:nvPr/>
        </p:nvSpPr>
        <p:spPr>
          <a:xfrm>
            <a:off x="3104388" y="4672584"/>
            <a:ext cx="1088136" cy="512064"/>
          </a:xfrm>
          <a:prstGeom prst="rect">
            <a:avLst/>
          </a:prstGeom>
          <a:solidFill>
            <a:srgbClr val="BFBFBF"/>
          </a:solidFill>
          <a:ln/>
        </p:spPr>
      </p:sp>
      <p:sp>
        <p:nvSpPr>
          <p:cNvPr id="44" name="Shape 41"/>
          <p:cNvSpPr/>
          <p:nvPr/>
        </p:nvSpPr>
        <p:spPr>
          <a:xfrm>
            <a:off x="4247388" y="4672584"/>
            <a:ext cx="1088136" cy="512064"/>
          </a:xfrm>
          <a:prstGeom prst="rect">
            <a:avLst/>
          </a:prstGeom>
          <a:solidFill>
            <a:srgbClr val="F2F2F2"/>
          </a:solidFill>
          <a:ln/>
        </p:spPr>
      </p:sp>
      <p:sp>
        <p:nvSpPr>
          <p:cNvPr id="45" name="Shape 42"/>
          <p:cNvSpPr/>
          <p:nvPr/>
        </p:nvSpPr>
        <p:spPr>
          <a:xfrm>
            <a:off x="5390388" y="4672584"/>
            <a:ext cx="1088136" cy="512064"/>
          </a:xfrm>
          <a:prstGeom prst="rect">
            <a:avLst/>
          </a:prstGeom>
          <a:solidFill>
            <a:srgbClr val="7F7F7F"/>
          </a:solidFill>
          <a:ln/>
        </p:spPr>
      </p:sp>
      <p:sp>
        <p:nvSpPr>
          <p:cNvPr id="46" name="Shape 43"/>
          <p:cNvSpPr/>
          <p:nvPr/>
        </p:nvSpPr>
        <p:spPr>
          <a:xfrm>
            <a:off x="6533388" y="4672584"/>
            <a:ext cx="1088136" cy="512064"/>
          </a:xfrm>
          <a:prstGeom prst="rect">
            <a:avLst/>
          </a:prstGeom>
          <a:solidFill>
            <a:srgbClr val="F2F2F2"/>
          </a:solidFill>
          <a:ln/>
        </p:spPr>
      </p:sp>
      <p:sp>
        <p:nvSpPr>
          <p:cNvPr id="47" name="Text 44"/>
          <p:cNvSpPr txBox="1"/>
          <p:nvPr/>
        </p:nvSpPr>
        <p:spPr>
          <a:xfrm>
            <a:off x="288036" y="5212080"/>
            <a:ext cx="1554480" cy="512064"/>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地域F</a:t>
            </a:r>
            <a:endParaRPr lang="en-US" sz="1400" dirty="0"/>
          </a:p>
        </p:txBody>
      </p:sp>
      <p:sp>
        <p:nvSpPr>
          <p:cNvPr id="48" name="Shape 45"/>
          <p:cNvSpPr/>
          <p:nvPr/>
        </p:nvSpPr>
        <p:spPr>
          <a:xfrm>
            <a:off x="1961388" y="5239512"/>
            <a:ext cx="1088136" cy="512064"/>
          </a:xfrm>
          <a:prstGeom prst="rect">
            <a:avLst/>
          </a:prstGeom>
          <a:solidFill>
            <a:srgbClr val="F2F2F2"/>
          </a:solidFill>
          <a:ln/>
        </p:spPr>
      </p:sp>
      <p:sp>
        <p:nvSpPr>
          <p:cNvPr id="49" name="Shape 46"/>
          <p:cNvSpPr/>
          <p:nvPr/>
        </p:nvSpPr>
        <p:spPr>
          <a:xfrm>
            <a:off x="3104388" y="5239512"/>
            <a:ext cx="1088136" cy="512064"/>
          </a:xfrm>
          <a:prstGeom prst="rect">
            <a:avLst/>
          </a:prstGeom>
          <a:solidFill>
            <a:srgbClr val="F2F2F2"/>
          </a:solidFill>
          <a:ln/>
        </p:spPr>
      </p:sp>
      <p:sp>
        <p:nvSpPr>
          <p:cNvPr id="50" name="Shape 47"/>
          <p:cNvSpPr/>
          <p:nvPr/>
        </p:nvSpPr>
        <p:spPr>
          <a:xfrm>
            <a:off x="4247388" y="5239512"/>
            <a:ext cx="1088136" cy="512064"/>
          </a:xfrm>
          <a:prstGeom prst="rect">
            <a:avLst/>
          </a:prstGeom>
          <a:solidFill>
            <a:srgbClr val="BFBFBF"/>
          </a:solidFill>
          <a:ln/>
        </p:spPr>
      </p:sp>
      <p:sp>
        <p:nvSpPr>
          <p:cNvPr id="51" name="Shape 48"/>
          <p:cNvSpPr/>
          <p:nvPr/>
        </p:nvSpPr>
        <p:spPr>
          <a:xfrm>
            <a:off x="5390388" y="5239512"/>
            <a:ext cx="1088136" cy="512064"/>
          </a:xfrm>
          <a:prstGeom prst="rect">
            <a:avLst/>
          </a:prstGeom>
          <a:solidFill>
            <a:srgbClr val="BFBFBF"/>
          </a:solidFill>
          <a:ln/>
        </p:spPr>
      </p:sp>
      <p:sp>
        <p:nvSpPr>
          <p:cNvPr id="52" name="Shape 49"/>
          <p:cNvSpPr/>
          <p:nvPr/>
        </p:nvSpPr>
        <p:spPr>
          <a:xfrm>
            <a:off x="6533388" y="5239512"/>
            <a:ext cx="1088136" cy="512064"/>
          </a:xfrm>
          <a:prstGeom prst="rect">
            <a:avLst/>
          </a:prstGeom>
          <a:solidFill>
            <a:srgbClr val="F2F2F2"/>
          </a:solidFill>
          <a:ln/>
        </p:spPr>
      </p:sp>
      <p:sp>
        <p:nvSpPr>
          <p:cNvPr id="53" name="Shape 50"/>
          <p:cNvSpPr/>
          <p:nvPr/>
        </p:nvSpPr>
        <p:spPr>
          <a:xfrm>
            <a:off x="242316" y="3493008"/>
            <a:ext cx="7452360" cy="603504"/>
          </a:xfrm>
          <a:prstGeom prst="rect">
            <a:avLst/>
          </a:prstGeom>
          <a:ln w="22225">
            <a:solidFill>
              <a:srgbClr val="000F78"/>
            </a:solidFill>
            <a:prstDash val="solid"/>
          </a:ln>
        </p:spPr>
      </p:sp>
      <p:sp>
        <p:nvSpPr>
          <p:cNvPr id="54" name="Shape 51"/>
          <p:cNvSpPr/>
          <p:nvPr/>
        </p:nvSpPr>
        <p:spPr>
          <a:xfrm>
            <a:off x="8106156" y="2423160"/>
            <a:ext cx="320040" cy="274320"/>
          </a:xfrm>
          <a:prstGeom prst="rect">
            <a:avLst/>
          </a:prstGeom>
          <a:solidFill>
            <a:srgbClr val="7F7F7F"/>
          </a:solidFill>
          <a:ln/>
        </p:spPr>
      </p:sp>
      <p:sp>
        <p:nvSpPr>
          <p:cNvPr id="55" name="Text 52"/>
          <p:cNvSpPr txBox="1"/>
          <p:nvPr/>
        </p:nvSpPr>
        <p:spPr>
          <a:xfrm>
            <a:off x="8517636" y="2395728"/>
            <a:ext cx="1463040" cy="320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課題 大</a:t>
            </a:r>
            <a:endParaRPr lang="en-US" sz="1400" dirty="0"/>
          </a:p>
        </p:txBody>
      </p:sp>
      <p:sp>
        <p:nvSpPr>
          <p:cNvPr id="56" name="Shape 53"/>
          <p:cNvSpPr/>
          <p:nvPr/>
        </p:nvSpPr>
        <p:spPr>
          <a:xfrm>
            <a:off x="8106156" y="2880360"/>
            <a:ext cx="320040" cy="274320"/>
          </a:xfrm>
          <a:prstGeom prst="rect">
            <a:avLst/>
          </a:prstGeom>
          <a:solidFill>
            <a:srgbClr val="BFBFBF"/>
          </a:solidFill>
          <a:ln/>
        </p:spPr>
      </p:sp>
      <p:sp>
        <p:nvSpPr>
          <p:cNvPr id="57" name="Text 54"/>
          <p:cNvSpPr txBox="1"/>
          <p:nvPr/>
        </p:nvSpPr>
        <p:spPr>
          <a:xfrm>
            <a:off x="8517636" y="2852928"/>
            <a:ext cx="1463040" cy="320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課題 中</a:t>
            </a:r>
            <a:endParaRPr lang="en-US" sz="1400" dirty="0"/>
          </a:p>
        </p:txBody>
      </p:sp>
      <p:sp>
        <p:nvSpPr>
          <p:cNvPr id="58" name="Shape 55"/>
          <p:cNvSpPr/>
          <p:nvPr/>
        </p:nvSpPr>
        <p:spPr>
          <a:xfrm>
            <a:off x="8106156" y="3337560"/>
            <a:ext cx="320040" cy="274320"/>
          </a:xfrm>
          <a:prstGeom prst="rect">
            <a:avLst/>
          </a:prstGeom>
          <a:solidFill>
            <a:srgbClr val="F2F2F2"/>
          </a:solidFill>
          <a:ln/>
        </p:spPr>
      </p:sp>
      <p:sp>
        <p:nvSpPr>
          <p:cNvPr id="59" name="Text 56"/>
          <p:cNvSpPr txBox="1"/>
          <p:nvPr/>
        </p:nvSpPr>
        <p:spPr>
          <a:xfrm>
            <a:off x="8517636" y="3310128"/>
            <a:ext cx="1463040" cy="320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課題 小</a:t>
            </a:r>
            <a:endParaRPr lang="en-US" sz="1400" dirty="0"/>
          </a:p>
        </p:txBody>
      </p:sp>
      <p:sp>
        <p:nvSpPr>
          <p:cNvPr id="60" name="Text 57"/>
          <p:cNvSpPr txBox="1"/>
          <p:nvPr/>
        </p:nvSpPr>
        <p:spPr>
          <a:xfrm>
            <a:off x="8106156" y="4206240"/>
            <a:ext cx="1511503" cy="86868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【地域C】は5観点中3観点で課題が大きい</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5　ご判断いただきたい事項</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本日は【論点】について【案B】の採用をご判断いただきたい。【案B】は費用と効果の釣り合いが最も良く、【年度】に効果が出る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33</a:t>
            </a:r>
            <a:endParaRPr lang="en-US" sz="900" dirty="0"/>
          </a:p>
        </p:txBody>
      </p:sp>
      <p:sp>
        <p:nvSpPr>
          <p:cNvPr id="10" name="Shape 7"/>
          <p:cNvSpPr/>
          <p:nvPr/>
        </p:nvSpPr>
        <p:spPr>
          <a:xfrm>
            <a:off x="288036" y="1417320"/>
            <a:ext cx="8506663" cy="685800"/>
          </a:xfrm>
          <a:prstGeom prst="rect">
            <a:avLst/>
          </a:prstGeom>
          <a:solidFill>
            <a:srgbClr val="000F78">
              <a:alpha val="10000"/>
            </a:srgbClr>
          </a:solidFill>
          <a:ln w="15875">
            <a:solidFill>
              <a:srgbClr val="000F78"/>
            </a:solidFill>
            <a:prstDash val="solid"/>
          </a:ln>
        </p:spPr>
      </p:sp>
      <p:sp>
        <p:nvSpPr>
          <p:cNvPr id="11" name="Text 8"/>
          <p:cNvSpPr txBox="1"/>
          <p:nvPr/>
        </p:nvSpPr>
        <p:spPr>
          <a:xfrm>
            <a:off x="470916" y="1417320"/>
            <a:ext cx="237744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決めていただきたいこと</a:t>
            </a:r>
            <a:endParaRPr lang="en-US" sz="1400" dirty="0"/>
          </a:p>
        </p:txBody>
      </p:sp>
      <p:sp>
        <p:nvSpPr>
          <p:cNvPr id="12" name="Text 9"/>
          <p:cNvSpPr txBox="1"/>
          <p:nvPr/>
        </p:nvSpPr>
        <p:spPr>
          <a:xfrm>
            <a:off x="2939796" y="1417320"/>
            <a:ext cx="5672023"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【論点】について、【案B】を採用し、【時期】に着手すること</a:t>
            </a:r>
            <a:endParaRPr lang="en-US" sz="1400" dirty="0"/>
          </a:p>
        </p:txBody>
      </p:sp>
      <p:sp>
        <p:nvSpPr>
          <p:cNvPr id="13" name="Text 10"/>
          <p:cNvSpPr txBox="1"/>
          <p:nvPr/>
        </p:nvSpPr>
        <p:spPr>
          <a:xfrm>
            <a:off x="288036" y="2331720"/>
            <a:ext cx="512064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選択肢</a:t>
            </a:r>
            <a:endParaRPr lang="en-US" sz="1400" dirty="0"/>
          </a:p>
        </p:txBody>
      </p:sp>
      <p:sp>
        <p:nvSpPr>
          <p:cNvPr id="14" name="Shape 11"/>
          <p:cNvSpPr/>
          <p:nvPr/>
        </p:nvSpPr>
        <p:spPr>
          <a:xfrm>
            <a:off x="288036" y="2642616"/>
            <a:ext cx="5120640" cy="0"/>
          </a:xfrm>
          <a:prstGeom prst="line">
            <a:avLst/>
          </a:prstGeom>
          <a:noFill/>
          <a:ln w="6350">
            <a:solidFill>
              <a:srgbClr val="BFBFBF"/>
            </a:solidFill>
            <a:prstDash val="solid"/>
          </a:ln>
        </p:spPr>
      </p:sp>
      <p:sp>
        <p:nvSpPr>
          <p:cNvPr id="15" name="Text 12"/>
          <p:cNvSpPr txBox="1"/>
          <p:nvPr/>
        </p:nvSpPr>
        <p:spPr>
          <a:xfrm>
            <a:off x="288036" y="2743200"/>
            <a:ext cx="14630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案A</a:t>
            </a:r>
            <a:endParaRPr lang="en-US" sz="1400" dirty="0"/>
          </a:p>
        </p:txBody>
      </p:sp>
      <p:sp>
        <p:nvSpPr>
          <p:cNvPr id="16" name="Text 13"/>
          <p:cNvSpPr txBox="1"/>
          <p:nvPr/>
        </p:nvSpPr>
        <p:spPr>
          <a:xfrm>
            <a:off x="1796796" y="2743200"/>
            <a:ext cx="155448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【内容】</a:t>
            </a:r>
            <a:endParaRPr lang="en-US" sz="1400" dirty="0"/>
          </a:p>
        </p:txBody>
      </p:sp>
      <p:sp>
        <p:nvSpPr>
          <p:cNvPr id="17" name="Text 14"/>
          <p:cNvSpPr txBox="1"/>
          <p:nvPr/>
        </p:nvSpPr>
        <p:spPr>
          <a:xfrm>
            <a:off x="3396996" y="2743200"/>
            <a:ext cx="201168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費用 小／効果 小</a:t>
            </a:r>
            <a:endParaRPr lang="en-US" sz="1400" dirty="0"/>
          </a:p>
        </p:txBody>
      </p:sp>
      <p:sp>
        <p:nvSpPr>
          <p:cNvPr id="18" name="Shape 15"/>
          <p:cNvSpPr/>
          <p:nvPr/>
        </p:nvSpPr>
        <p:spPr>
          <a:xfrm>
            <a:off x="288036" y="3520440"/>
            <a:ext cx="5120640" cy="0"/>
          </a:xfrm>
          <a:prstGeom prst="line">
            <a:avLst/>
          </a:prstGeom>
          <a:noFill/>
          <a:ln w="9525">
            <a:solidFill>
              <a:srgbClr val="E7E6E6"/>
            </a:solidFill>
            <a:prstDash val="solid"/>
          </a:ln>
        </p:spPr>
      </p:sp>
      <p:sp>
        <p:nvSpPr>
          <p:cNvPr id="19" name="Text 16"/>
          <p:cNvSpPr txBox="1"/>
          <p:nvPr/>
        </p:nvSpPr>
        <p:spPr>
          <a:xfrm>
            <a:off x="288036" y="3611880"/>
            <a:ext cx="146304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案B（推奨）</a:t>
            </a:r>
            <a:endParaRPr lang="en-US" sz="1400" dirty="0"/>
          </a:p>
        </p:txBody>
      </p:sp>
      <p:sp>
        <p:nvSpPr>
          <p:cNvPr id="20" name="Text 17"/>
          <p:cNvSpPr txBox="1"/>
          <p:nvPr/>
        </p:nvSpPr>
        <p:spPr>
          <a:xfrm>
            <a:off x="1796796" y="3611880"/>
            <a:ext cx="1554480" cy="685800"/>
          </a:xfrm>
          <a:prstGeom prst="rect">
            <a:avLst/>
          </a:prstGeom>
          <a:noFill/>
          <a:ln/>
        </p:spPr>
        <p:txBody>
          <a:bodyPr wrap="square" lIns="0" tIns="0" rIns="0" bIns="0" rtlCol="0" anchor="ctr"/>
          <a:lstStyle/>
          <a:p>
            <a:pPr indent="0" marL="0">
              <a:buNone/>
            </a:pPr>
            <a:r>
              <a:rPr lang="en-US" sz="1400" dirty="0">
                <a:solidFill>
                  <a:srgbClr val="000F78"/>
                </a:solidFill>
                <a:latin typeface="Yu Gothic UI" pitchFamily="34" charset="0"/>
                <a:ea typeface="Yu Gothic UI" pitchFamily="34" charset="-122"/>
                <a:cs typeface="Yu Gothic UI" pitchFamily="34" charset="-120"/>
              </a:rPr>
              <a:t>【内容】</a:t>
            </a:r>
            <a:endParaRPr lang="en-US" sz="1400" dirty="0"/>
          </a:p>
        </p:txBody>
      </p:sp>
      <p:sp>
        <p:nvSpPr>
          <p:cNvPr id="21" name="Text 18"/>
          <p:cNvSpPr txBox="1"/>
          <p:nvPr/>
        </p:nvSpPr>
        <p:spPr>
          <a:xfrm>
            <a:off x="3396996" y="3611880"/>
            <a:ext cx="201168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費用 中／効果 大</a:t>
            </a:r>
            <a:endParaRPr lang="en-US" sz="1400" dirty="0"/>
          </a:p>
        </p:txBody>
      </p:sp>
      <p:sp>
        <p:nvSpPr>
          <p:cNvPr id="22" name="Shape 19"/>
          <p:cNvSpPr/>
          <p:nvPr/>
        </p:nvSpPr>
        <p:spPr>
          <a:xfrm>
            <a:off x="288036" y="4389120"/>
            <a:ext cx="5120640" cy="0"/>
          </a:xfrm>
          <a:prstGeom prst="line">
            <a:avLst/>
          </a:prstGeom>
          <a:noFill/>
          <a:ln w="9525">
            <a:solidFill>
              <a:srgbClr val="E7E6E6"/>
            </a:solidFill>
            <a:prstDash val="solid"/>
          </a:ln>
        </p:spPr>
      </p:sp>
      <p:sp>
        <p:nvSpPr>
          <p:cNvPr id="23" name="Text 20"/>
          <p:cNvSpPr txBox="1"/>
          <p:nvPr/>
        </p:nvSpPr>
        <p:spPr>
          <a:xfrm>
            <a:off x="288036" y="4480560"/>
            <a:ext cx="14630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案C</a:t>
            </a:r>
            <a:endParaRPr lang="en-US" sz="1400" dirty="0"/>
          </a:p>
        </p:txBody>
      </p:sp>
      <p:sp>
        <p:nvSpPr>
          <p:cNvPr id="24" name="Text 21"/>
          <p:cNvSpPr txBox="1"/>
          <p:nvPr/>
        </p:nvSpPr>
        <p:spPr>
          <a:xfrm>
            <a:off x="1796796" y="4480560"/>
            <a:ext cx="155448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【内容】</a:t>
            </a:r>
            <a:endParaRPr lang="en-US" sz="1400" dirty="0"/>
          </a:p>
        </p:txBody>
      </p:sp>
      <p:sp>
        <p:nvSpPr>
          <p:cNvPr id="25" name="Text 22"/>
          <p:cNvSpPr txBox="1"/>
          <p:nvPr/>
        </p:nvSpPr>
        <p:spPr>
          <a:xfrm>
            <a:off x="3396996" y="4480560"/>
            <a:ext cx="201168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費用 大／効果 大</a:t>
            </a:r>
            <a:endParaRPr lang="en-US" sz="1400" dirty="0"/>
          </a:p>
        </p:txBody>
      </p:sp>
      <p:sp>
        <p:nvSpPr>
          <p:cNvPr id="26" name="Shape 23"/>
          <p:cNvSpPr/>
          <p:nvPr/>
        </p:nvSpPr>
        <p:spPr>
          <a:xfrm>
            <a:off x="288036" y="5257800"/>
            <a:ext cx="5120640" cy="0"/>
          </a:xfrm>
          <a:prstGeom prst="line">
            <a:avLst/>
          </a:prstGeom>
          <a:noFill/>
          <a:ln w="9525">
            <a:solidFill>
              <a:srgbClr val="E7E6E6"/>
            </a:solidFill>
            <a:prstDash val="solid"/>
          </a:ln>
        </p:spPr>
      </p:sp>
      <p:sp>
        <p:nvSpPr>
          <p:cNvPr id="27" name="Shape 24"/>
          <p:cNvSpPr/>
          <p:nvPr/>
        </p:nvSpPr>
        <p:spPr>
          <a:xfrm>
            <a:off x="242316" y="3611880"/>
            <a:ext cx="5212080" cy="777240"/>
          </a:xfrm>
          <a:prstGeom prst="rect">
            <a:avLst/>
          </a:prstGeom>
          <a:ln w="19050">
            <a:solidFill>
              <a:srgbClr val="000F78"/>
            </a:solidFill>
            <a:prstDash val="solid"/>
          </a:ln>
        </p:spPr>
      </p:sp>
      <p:sp>
        <p:nvSpPr>
          <p:cNvPr id="28" name="Text 25"/>
          <p:cNvSpPr txBox="1"/>
          <p:nvPr/>
        </p:nvSpPr>
        <p:spPr>
          <a:xfrm>
            <a:off x="5774436" y="2331720"/>
            <a:ext cx="384322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判断の前提</a:t>
            </a:r>
            <a:endParaRPr lang="en-US" sz="1400" dirty="0"/>
          </a:p>
        </p:txBody>
      </p:sp>
      <p:sp>
        <p:nvSpPr>
          <p:cNvPr id="29" name="Shape 26"/>
          <p:cNvSpPr/>
          <p:nvPr/>
        </p:nvSpPr>
        <p:spPr>
          <a:xfrm>
            <a:off x="5774436" y="2642616"/>
            <a:ext cx="3843223" cy="0"/>
          </a:xfrm>
          <a:prstGeom prst="line">
            <a:avLst/>
          </a:prstGeom>
          <a:noFill/>
          <a:ln w="6350">
            <a:solidFill>
              <a:srgbClr val="BFBFBF"/>
            </a:solidFill>
            <a:prstDash val="solid"/>
          </a:ln>
        </p:spPr>
      </p:sp>
      <p:sp>
        <p:nvSpPr>
          <p:cNvPr id="30" name="Text 27"/>
          <p:cNvSpPr txBox="1"/>
          <p:nvPr/>
        </p:nvSpPr>
        <p:spPr>
          <a:xfrm>
            <a:off x="5774436" y="2743200"/>
            <a:ext cx="3843223" cy="11887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・予算の上限は【数値】</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・【条件】が満たされること</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・効果の算定方法は参考資料p.【X】</a:t>
            </a:r>
            <a:endParaRPr lang="en-US" sz="1400" dirty="0"/>
          </a:p>
        </p:txBody>
      </p:sp>
      <p:sp>
        <p:nvSpPr>
          <p:cNvPr id="31" name="Text 28"/>
          <p:cNvSpPr txBox="1"/>
          <p:nvPr/>
        </p:nvSpPr>
        <p:spPr>
          <a:xfrm>
            <a:off x="5774436" y="4069080"/>
            <a:ext cx="384322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決定後の動き</a:t>
            </a:r>
            <a:endParaRPr lang="en-US" sz="1400" dirty="0"/>
          </a:p>
        </p:txBody>
      </p:sp>
      <p:sp>
        <p:nvSpPr>
          <p:cNvPr id="32" name="Shape 29"/>
          <p:cNvSpPr/>
          <p:nvPr/>
        </p:nvSpPr>
        <p:spPr>
          <a:xfrm>
            <a:off x="5774436" y="4379976"/>
            <a:ext cx="3843223" cy="0"/>
          </a:xfrm>
          <a:prstGeom prst="line">
            <a:avLst/>
          </a:prstGeom>
          <a:noFill/>
          <a:ln w="6350">
            <a:solidFill>
              <a:srgbClr val="BFBFBF"/>
            </a:solidFill>
            <a:prstDash val="solid"/>
          </a:ln>
        </p:spPr>
      </p:sp>
      <p:sp>
        <p:nvSpPr>
          <p:cNvPr id="33" name="Text 30"/>
          <p:cNvSpPr txBox="1"/>
          <p:nvPr/>
        </p:nvSpPr>
        <p:spPr>
          <a:xfrm>
            <a:off x="5774436" y="4480560"/>
            <a:ext cx="3843223" cy="11887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【時期】　体制の立ち上げ</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【時期】　試行の開始</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【時期】　効果の中間報告</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【指標】が減り続けているのは4地域中【地域C】だけで、他は横ばいか増加である。【地域C】に固有の要因を特定する必要がある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地域別の【指標】の推移</a:t>
            </a:r>
            <a:pPr indent="0" marL="0">
              <a:buNone/>
            </a:pPr>
            <a:r>
              <a:rPr lang="en-US" sz="1100" dirty="0">
                <a:solidFill>
                  <a:srgbClr val="595959"/>
                </a:solidFill>
                <a:latin typeface="Yu Gothic UI" pitchFamily="34" charset="0"/>
                <a:ea typeface="Yu Gothic UI" pitchFamily="34" charset="-122"/>
                <a:cs typeface="Yu Gothic UI" pitchFamily="34" charset="-120"/>
              </a:rPr>
              <a:t>　（【単位】、2015–2025年度、縦軸はすべて同じ目盛り）</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34</a:t>
            </a:r>
            <a:endParaRPr lang="en-US" sz="900" dirty="0"/>
          </a:p>
        </p:txBody>
      </p:sp>
      <p:sp>
        <p:nvSpPr>
          <p:cNvPr id="12" name="Text 9"/>
          <p:cNvSpPr txBox="1"/>
          <p:nvPr/>
        </p:nvSpPr>
        <p:spPr>
          <a:xfrm>
            <a:off x="288036" y="1965960"/>
            <a:ext cx="2195246" cy="292608"/>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地域A</a:t>
            </a:r>
            <a:endParaRPr lang="en-US" sz="1400" dirty="0"/>
          </a:p>
        </p:txBody>
      </p:sp>
      <p:graphicFrame>
        <p:nvGraphicFramePr>
          <p:cNvPr id="13" name="Chart 0" descr=""/>
          <p:cNvGraphicFramePr/>
          <p:nvPr/>
        </p:nvGraphicFramePr>
        <p:xfrm>
          <a:off x="288036" y="2331720"/>
          <a:ext cx="2195246" cy="329184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288036" y="5669280"/>
            <a:ext cx="2195246"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＋6</a:t>
            </a:r>
            <a:endParaRPr lang="en-US" sz="1400" dirty="0"/>
          </a:p>
        </p:txBody>
      </p:sp>
      <p:sp>
        <p:nvSpPr>
          <p:cNvPr id="15" name="Text 11"/>
          <p:cNvSpPr txBox="1"/>
          <p:nvPr/>
        </p:nvSpPr>
        <p:spPr>
          <a:xfrm>
            <a:off x="2666162" y="1965960"/>
            <a:ext cx="2195246" cy="292608"/>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地域B</a:t>
            </a:r>
            <a:endParaRPr lang="en-US" sz="1400" dirty="0"/>
          </a:p>
        </p:txBody>
      </p:sp>
      <p:graphicFrame>
        <p:nvGraphicFramePr>
          <p:cNvPr id="16" name="Chart 1" descr=""/>
          <p:cNvGraphicFramePr/>
          <p:nvPr/>
        </p:nvGraphicFramePr>
        <p:xfrm>
          <a:off x="2666162" y="2331720"/>
          <a:ext cx="2195246" cy="3291840"/>
        </p:xfrm>
        <a:graphic xmlns:a="http://schemas.openxmlformats.org/drawingml/2006/main">
          <a:graphicData uri="http://schemas.openxmlformats.org/drawingml/2006/chart">
            <c:chart xmlns:c="http://schemas.openxmlformats.org/drawingml/2006/chart" r:id="rId2"/>
          </a:graphicData>
        </a:graphic>
      </p:graphicFrame>
      <p:sp>
        <p:nvSpPr>
          <p:cNvPr id="17" name="Text 12"/>
          <p:cNvSpPr txBox="1"/>
          <p:nvPr/>
        </p:nvSpPr>
        <p:spPr>
          <a:xfrm>
            <a:off x="2666162" y="5669280"/>
            <a:ext cx="2195246"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＋3</a:t>
            </a:r>
            <a:endParaRPr lang="en-US" sz="1400" dirty="0"/>
          </a:p>
        </p:txBody>
      </p:sp>
      <p:sp>
        <p:nvSpPr>
          <p:cNvPr id="18" name="Text 13"/>
          <p:cNvSpPr txBox="1"/>
          <p:nvPr/>
        </p:nvSpPr>
        <p:spPr>
          <a:xfrm>
            <a:off x="5044288" y="1965960"/>
            <a:ext cx="2195246" cy="292608"/>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地域C</a:t>
            </a:r>
            <a:endParaRPr lang="en-US" sz="1400" dirty="0"/>
          </a:p>
        </p:txBody>
      </p:sp>
      <p:graphicFrame>
        <p:nvGraphicFramePr>
          <p:cNvPr id="19" name="Chart 2" descr=""/>
          <p:cNvGraphicFramePr/>
          <p:nvPr/>
        </p:nvGraphicFramePr>
        <p:xfrm>
          <a:off x="5044288" y="2331720"/>
          <a:ext cx="2195246" cy="3291840"/>
        </p:xfrm>
        <a:graphic xmlns:a="http://schemas.openxmlformats.org/drawingml/2006/main">
          <a:graphicData uri="http://schemas.openxmlformats.org/drawingml/2006/chart">
            <c:chart xmlns:c="http://schemas.openxmlformats.org/drawingml/2006/chart" r:id="rId3"/>
          </a:graphicData>
        </a:graphic>
      </p:graphicFrame>
      <p:sp>
        <p:nvSpPr>
          <p:cNvPr id="20" name="Text 14"/>
          <p:cNvSpPr txBox="1"/>
          <p:nvPr/>
        </p:nvSpPr>
        <p:spPr>
          <a:xfrm>
            <a:off x="5044288" y="5669280"/>
            <a:ext cx="2195246" cy="320040"/>
          </a:xfrm>
          <a:prstGeom prst="rect">
            <a:avLst/>
          </a:prstGeom>
          <a:noFill/>
          <a:ln/>
        </p:spPr>
        <p:txBody>
          <a:bodyPr wrap="square" lIns="0" tIns="0" rIns="0" bIns="0" rtlCol="0" anchor="t"/>
          <a:lstStyle/>
          <a:p>
            <a:pPr algn="ctr" indent="0" marL="0">
              <a:buNone/>
            </a:pPr>
            <a:r>
              <a:rPr lang="en-US" sz="1400" b="1" dirty="0">
                <a:solidFill>
                  <a:srgbClr val="000F78"/>
                </a:solidFill>
                <a:latin typeface="Arial" pitchFamily="34" charset="0"/>
                <a:ea typeface="Arial" pitchFamily="34" charset="-122"/>
                <a:cs typeface="Arial" pitchFamily="34" charset="-120"/>
              </a:rPr>
              <a:t>−29</a:t>
            </a:r>
            <a:endParaRPr lang="en-US" sz="1400" dirty="0"/>
          </a:p>
        </p:txBody>
      </p:sp>
      <p:sp>
        <p:nvSpPr>
          <p:cNvPr id="21" name="Text 15"/>
          <p:cNvSpPr txBox="1"/>
          <p:nvPr/>
        </p:nvSpPr>
        <p:spPr>
          <a:xfrm>
            <a:off x="7422413" y="1965960"/>
            <a:ext cx="2195246" cy="292608"/>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地域D</a:t>
            </a:r>
            <a:endParaRPr lang="en-US" sz="1400" dirty="0"/>
          </a:p>
        </p:txBody>
      </p:sp>
      <p:graphicFrame>
        <p:nvGraphicFramePr>
          <p:cNvPr id="22" name="Chart 3" descr=""/>
          <p:cNvGraphicFramePr/>
          <p:nvPr/>
        </p:nvGraphicFramePr>
        <p:xfrm>
          <a:off x="7422413" y="2331720"/>
          <a:ext cx="2195246" cy="3291840"/>
        </p:xfrm>
        <a:graphic xmlns:a="http://schemas.openxmlformats.org/drawingml/2006/main">
          <a:graphicData uri="http://schemas.openxmlformats.org/drawingml/2006/chart">
            <c:chart xmlns:c="http://schemas.openxmlformats.org/drawingml/2006/chart" r:id="rId4"/>
          </a:graphicData>
        </a:graphic>
      </p:graphicFrame>
      <p:sp>
        <p:nvSpPr>
          <p:cNvPr id="23" name="Text 16"/>
          <p:cNvSpPr txBox="1"/>
          <p:nvPr/>
        </p:nvSpPr>
        <p:spPr>
          <a:xfrm>
            <a:off x="7422413" y="5669280"/>
            <a:ext cx="2195246"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0　全体像</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本資料は4つの論点に、論点ごとに現状・課題・打ち手の順で答える。最も重要なのは論点3の【論点名】であり、第3章で詳しく扱う</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本資料の全体マップ</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35</a:t>
            </a:r>
            <a:endParaRPr lang="en-US" sz="900" dirty="0"/>
          </a:p>
        </p:txBody>
      </p:sp>
      <p:sp>
        <p:nvSpPr>
          <p:cNvPr id="12" name="Text 9"/>
          <p:cNvSpPr txBox="1"/>
          <p:nvPr/>
        </p:nvSpPr>
        <p:spPr>
          <a:xfrm>
            <a:off x="3214116" y="1920240"/>
            <a:ext cx="2134514" cy="274320"/>
          </a:xfrm>
          <a:prstGeom prst="rect">
            <a:avLst/>
          </a:prstGeom>
          <a:noFill/>
          <a:ln/>
        </p:spPr>
        <p:txBody>
          <a:bodyPr wrap="square" lIns="0" tIns="0" rIns="0" bIns="0" rtlCol="0" anchor="t"/>
          <a:lstStyle/>
          <a:p>
            <a:pPr algn="ctr" indent="0" marL="0">
              <a:buNone/>
            </a:pPr>
            <a:r>
              <a:rPr lang="en-US" sz="1400" b="1" dirty="0">
                <a:solidFill>
                  <a:srgbClr val="595959"/>
                </a:solidFill>
                <a:latin typeface="Yu Gothic UI" pitchFamily="34" charset="0"/>
                <a:ea typeface="Yu Gothic UI" pitchFamily="34" charset="-122"/>
                <a:cs typeface="Yu Gothic UI" pitchFamily="34" charset="-120"/>
              </a:rPr>
              <a:t>現状</a:t>
            </a:r>
            <a:endParaRPr lang="en-US" sz="1400" dirty="0"/>
          </a:p>
        </p:txBody>
      </p:sp>
      <p:sp>
        <p:nvSpPr>
          <p:cNvPr id="13" name="Text 10"/>
          <p:cNvSpPr txBox="1"/>
          <p:nvPr/>
        </p:nvSpPr>
        <p:spPr>
          <a:xfrm>
            <a:off x="5348630" y="1920240"/>
            <a:ext cx="2134514" cy="274320"/>
          </a:xfrm>
          <a:prstGeom prst="rect">
            <a:avLst/>
          </a:prstGeom>
          <a:noFill/>
          <a:ln/>
        </p:spPr>
        <p:txBody>
          <a:bodyPr wrap="square" lIns="0" tIns="0" rIns="0" bIns="0" rtlCol="0" anchor="t"/>
          <a:lstStyle/>
          <a:p>
            <a:pPr algn="ctr" indent="0" marL="0">
              <a:buNone/>
            </a:pPr>
            <a:r>
              <a:rPr lang="en-US" sz="1400" b="1" dirty="0">
                <a:solidFill>
                  <a:srgbClr val="595959"/>
                </a:solidFill>
                <a:latin typeface="Yu Gothic UI" pitchFamily="34" charset="0"/>
                <a:ea typeface="Yu Gothic UI" pitchFamily="34" charset="-122"/>
                <a:cs typeface="Yu Gothic UI" pitchFamily="34" charset="-120"/>
              </a:rPr>
              <a:t>課題</a:t>
            </a:r>
            <a:endParaRPr lang="en-US" sz="1400" dirty="0"/>
          </a:p>
        </p:txBody>
      </p:sp>
      <p:sp>
        <p:nvSpPr>
          <p:cNvPr id="14" name="Text 11"/>
          <p:cNvSpPr txBox="1"/>
          <p:nvPr/>
        </p:nvSpPr>
        <p:spPr>
          <a:xfrm>
            <a:off x="7483145" y="1920240"/>
            <a:ext cx="2134514" cy="274320"/>
          </a:xfrm>
          <a:prstGeom prst="rect">
            <a:avLst/>
          </a:prstGeom>
          <a:noFill/>
          <a:ln/>
        </p:spPr>
        <p:txBody>
          <a:bodyPr wrap="square" lIns="0" tIns="0" rIns="0" bIns="0" rtlCol="0" anchor="t"/>
          <a:lstStyle/>
          <a:p>
            <a:pPr algn="ctr" indent="0" marL="0">
              <a:buNone/>
            </a:pPr>
            <a:r>
              <a:rPr lang="en-US" sz="1400" b="1" dirty="0">
                <a:solidFill>
                  <a:srgbClr val="595959"/>
                </a:solidFill>
                <a:latin typeface="Yu Gothic UI" pitchFamily="34" charset="0"/>
                <a:ea typeface="Yu Gothic UI" pitchFamily="34" charset="-122"/>
                <a:cs typeface="Yu Gothic UI" pitchFamily="34" charset="-120"/>
              </a:rPr>
              <a:t>打ち手</a:t>
            </a:r>
            <a:endParaRPr lang="en-US" sz="1400" dirty="0"/>
          </a:p>
        </p:txBody>
      </p:sp>
      <p:sp>
        <p:nvSpPr>
          <p:cNvPr id="15" name="Shape 12"/>
          <p:cNvSpPr/>
          <p:nvPr/>
        </p:nvSpPr>
        <p:spPr>
          <a:xfrm>
            <a:off x="288036" y="2240280"/>
            <a:ext cx="9329623" cy="0"/>
          </a:xfrm>
          <a:prstGeom prst="line">
            <a:avLst/>
          </a:prstGeom>
          <a:noFill/>
          <a:ln w="12700">
            <a:solidFill>
              <a:srgbClr val="7F7F7F"/>
            </a:solidFill>
            <a:prstDash val="solid"/>
          </a:ln>
        </p:spPr>
      </p:sp>
      <p:sp>
        <p:nvSpPr>
          <p:cNvPr id="16" name="Text 13"/>
          <p:cNvSpPr txBox="1"/>
          <p:nvPr/>
        </p:nvSpPr>
        <p:spPr>
          <a:xfrm>
            <a:off x="379476" y="2377440"/>
            <a:ext cx="2743200" cy="585216"/>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論点1　【論点名】</a:t>
            </a:r>
            <a:endParaRPr lang="en-US" sz="1400" dirty="0"/>
          </a:p>
        </p:txBody>
      </p:sp>
      <p:sp>
        <p:nvSpPr>
          <p:cNvPr id="17" name="Text 14"/>
          <p:cNvSpPr txBox="1"/>
          <p:nvPr/>
        </p:nvSpPr>
        <p:spPr>
          <a:xfrm>
            <a:off x="3214116" y="237744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p.4–6</a:t>
            </a:r>
            <a:endParaRPr lang="en-US" sz="1400" dirty="0"/>
          </a:p>
        </p:txBody>
      </p:sp>
      <p:sp>
        <p:nvSpPr>
          <p:cNvPr id="18" name="Text 15"/>
          <p:cNvSpPr txBox="1"/>
          <p:nvPr/>
        </p:nvSpPr>
        <p:spPr>
          <a:xfrm>
            <a:off x="5348630" y="237744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p.7–8</a:t>
            </a:r>
            <a:endParaRPr lang="en-US" sz="1400" dirty="0"/>
          </a:p>
        </p:txBody>
      </p:sp>
      <p:sp>
        <p:nvSpPr>
          <p:cNvPr id="19" name="Text 16"/>
          <p:cNvSpPr txBox="1"/>
          <p:nvPr/>
        </p:nvSpPr>
        <p:spPr>
          <a:xfrm>
            <a:off x="7483145" y="237744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p.9</a:t>
            </a:r>
            <a:endParaRPr lang="en-US" sz="1400" dirty="0"/>
          </a:p>
        </p:txBody>
      </p:sp>
      <p:sp>
        <p:nvSpPr>
          <p:cNvPr id="20" name="Shape 17"/>
          <p:cNvSpPr/>
          <p:nvPr/>
        </p:nvSpPr>
        <p:spPr>
          <a:xfrm>
            <a:off x="288036" y="3108960"/>
            <a:ext cx="9329623" cy="0"/>
          </a:xfrm>
          <a:prstGeom prst="line">
            <a:avLst/>
          </a:prstGeom>
          <a:noFill/>
          <a:ln w="9525">
            <a:solidFill>
              <a:srgbClr val="E7E6E6"/>
            </a:solidFill>
            <a:prstDash val="solid"/>
          </a:ln>
        </p:spPr>
      </p:sp>
      <p:sp>
        <p:nvSpPr>
          <p:cNvPr id="21" name="Text 18"/>
          <p:cNvSpPr txBox="1"/>
          <p:nvPr/>
        </p:nvSpPr>
        <p:spPr>
          <a:xfrm>
            <a:off x="379476" y="3246120"/>
            <a:ext cx="2743200" cy="585216"/>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論点2　【論点名】</a:t>
            </a:r>
            <a:endParaRPr lang="en-US" sz="1400" dirty="0"/>
          </a:p>
        </p:txBody>
      </p:sp>
      <p:sp>
        <p:nvSpPr>
          <p:cNvPr id="22" name="Text 19"/>
          <p:cNvSpPr txBox="1"/>
          <p:nvPr/>
        </p:nvSpPr>
        <p:spPr>
          <a:xfrm>
            <a:off x="3214116" y="324612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p.10–11</a:t>
            </a:r>
            <a:endParaRPr lang="en-US" sz="1400" dirty="0"/>
          </a:p>
        </p:txBody>
      </p:sp>
      <p:sp>
        <p:nvSpPr>
          <p:cNvPr id="23" name="Text 20"/>
          <p:cNvSpPr txBox="1"/>
          <p:nvPr/>
        </p:nvSpPr>
        <p:spPr>
          <a:xfrm>
            <a:off x="5348630" y="324612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p.12</a:t>
            </a:r>
            <a:endParaRPr lang="en-US" sz="1400" dirty="0"/>
          </a:p>
        </p:txBody>
      </p:sp>
      <p:sp>
        <p:nvSpPr>
          <p:cNvPr id="24" name="Text 21"/>
          <p:cNvSpPr txBox="1"/>
          <p:nvPr/>
        </p:nvSpPr>
        <p:spPr>
          <a:xfrm>
            <a:off x="7483145" y="324612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p.13</a:t>
            </a:r>
            <a:endParaRPr lang="en-US" sz="1400" dirty="0"/>
          </a:p>
        </p:txBody>
      </p:sp>
      <p:sp>
        <p:nvSpPr>
          <p:cNvPr id="25" name="Shape 22"/>
          <p:cNvSpPr/>
          <p:nvPr/>
        </p:nvSpPr>
        <p:spPr>
          <a:xfrm>
            <a:off x="288036" y="3977640"/>
            <a:ext cx="9329623" cy="0"/>
          </a:xfrm>
          <a:prstGeom prst="line">
            <a:avLst/>
          </a:prstGeom>
          <a:noFill/>
          <a:ln w="9525">
            <a:solidFill>
              <a:srgbClr val="E7E6E6"/>
            </a:solidFill>
            <a:prstDash val="solid"/>
          </a:ln>
        </p:spPr>
      </p:sp>
      <p:sp>
        <p:nvSpPr>
          <p:cNvPr id="26" name="Shape 23"/>
          <p:cNvSpPr/>
          <p:nvPr/>
        </p:nvSpPr>
        <p:spPr>
          <a:xfrm>
            <a:off x="288036" y="4041648"/>
            <a:ext cx="9329623" cy="731520"/>
          </a:xfrm>
          <a:prstGeom prst="rect">
            <a:avLst/>
          </a:prstGeom>
          <a:solidFill>
            <a:srgbClr val="000F78">
              <a:alpha val="10000"/>
            </a:srgbClr>
          </a:solidFill>
          <a:ln/>
        </p:spPr>
      </p:sp>
      <p:sp>
        <p:nvSpPr>
          <p:cNvPr id="27" name="Text 24"/>
          <p:cNvSpPr txBox="1"/>
          <p:nvPr/>
        </p:nvSpPr>
        <p:spPr>
          <a:xfrm>
            <a:off x="379476" y="4114800"/>
            <a:ext cx="2743200" cy="585216"/>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論点3　【論点名】</a:t>
            </a:r>
            <a:endParaRPr lang="en-US" sz="1400" dirty="0"/>
          </a:p>
        </p:txBody>
      </p:sp>
      <p:sp>
        <p:nvSpPr>
          <p:cNvPr id="28" name="Text 25"/>
          <p:cNvSpPr txBox="1"/>
          <p:nvPr/>
        </p:nvSpPr>
        <p:spPr>
          <a:xfrm>
            <a:off x="3214116" y="4114800"/>
            <a:ext cx="2134514" cy="585216"/>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p.14–16</a:t>
            </a:r>
            <a:endParaRPr lang="en-US" sz="1400" dirty="0"/>
          </a:p>
        </p:txBody>
      </p:sp>
      <p:sp>
        <p:nvSpPr>
          <p:cNvPr id="29" name="Text 26"/>
          <p:cNvSpPr txBox="1"/>
          <p:nvPr/>
        </p:nvSpPr>
        <p:spPr>
          <a:xfrm>
            <a:off x="5348630" y="4114800"/>
            <a:ext cx="2134514" cy="585216"/>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p.17–19</a:t>
            </a:r>
            <a:endParaRPr lang="en-US" sz="1400" dirty="0"/>
          </a:p>
        </p:txBody>
      </p:sp>
      <p:sp>
        <p:nvSpPr>
          <p:cNvPr id="30" name="Text 27"/>
          <p:cNvSpPr txBox="1"/>
          <p:nvPr/>
        </p:nvSpPr>
        <p:spPr>
          <a:xfrm>
            <a:off x="7483145" y="4114800"/>
            <a:ext cx="2134514" cy="585216"/>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p.20–22</a:t>
            </a:r>
            <a:endParaRPr lang="en-US" sz="1400" dirty="0"/>
          </a:p>
        </p:txBody>
      </p:sp>
      <p:sp>
        <p:nvSpPr>
          <p:cNvPr id="31" name="Shape 28"/>
          <p:cNvSpPr/>
          <p:nvPr/>
        </p:nvSpPr>
        <p:spPr>
          <a:xfrm>
            <a:off x="288036" y="4846320"/>
            <a:ext cx="9329623" cy="0"/>
          </a:xfrm>
          <a:prstGeom prst="line">
            <a:avLst/>
          </a:prstGeom>
          <a:noFill/>
          <a:ln w="9525">
            <a:solidFill>
              <a:srgbClr val="E7E6E6"/>
            </a:solidFill>
            <a:prstDash val="solid"/>
          </a:ln>
        </p:spPr>
      </p:sp>
      <p:sp>
        <p:nvSpPr>
          <p:cNvPr id="32" name="Text 29"/>
          <p:cNvSpPr txBox="1"/>
          <p:nvPr/>
        </p:nvSpPr>
        <p:spPr>
          <a:xfrm>
            <a:off x="379476" y="4983480"/>
            <a:ext cx="2743200" cy="585216"/>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論点4　【論点名】</a:t>
            </a:r>
            <a:endParaRPr lang="en-US" sz="1400" dirty="0"/>
          </a:p>
        </p:txBody>
      </p:sp>
      <p:sp>
        <p:nvSpPr>
          <p:cNvPr id="33" name="Text 30"/>
          <p:cNvSpPr txBox="1"/>
          <p:nvPr/>
        </p:nvSpPr>
        <p:spPr>
          <a:xfrm>
            <a:off x="3214116" y="498348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p.23</a:t>
            </a:r>
            <a:endParaRPr lang="en-US" sz="1400" dirty="0"/>
          </a:p>
        </p:txBody>
      </p:sp>
      <p:sp>
        <p:nvSpPr>
          <p:cNvPr id="34" name="Text 31"/>
          <p:cNvSpPr txBox="1"/>
          <p:nvPr/>
        </p:nvSpPr>
        <p:spPr>
          <a:xfrm>
            <a:off x="5348630" y="498348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p.24</a:t>
            </a:r>
            <a:endParaRPr lang="en-US" sz="1400" dirty="0"/>
          </a:p>
        </p:txBody>
      </p:sp>
      <p:sp>
        <p:nvSpPr>
          <p:cNvPr id="35" name="Text 32"/>
          <p:cNvSpPr txBox="1"/>
          <p:nvPr/>
        </p:nvSpPr>
        <p:spPr>
          <a:xfrm>
            <a:off x="7483145" y="4983480"/>
            <a:ext cx="2134514" cy="585216"/>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p.25</a:t>
            </a:r>
            <a:endParaRPr lang="en-US" sz="1400" dirty="0"/>
          </a:p>
        </p:txBody>
      </p:sp>
      <p:sp>
        <p:nvSpPr>
          <p:cNvPr id="36" name="Shape 33"/>
          <p:cNvSpPr/>
          <p:nvPr/>
        </p:nvSpPr>
        <p:spPr>
          <a:xfrm>
            <a:off x="288036" y="5715000"/>
            <a:ext cx="9329623" cy="0"/>
          </a:xfrm>
          <a:prstGeom prst="line">
            <a:avLst/>
          </a:prstGeom>
          <a:noFill/>
          <a:ln w="9525">
            <a:solidFill>
              <a:srgbClr val="E7E6E6"/>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0　全体像</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「【問い】」には需要・費用・体制の3つを確かめれば答えられる。答えを最も左右するのは需要であり、調査の資源をここに厚く配分する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論点の分解と確かめ方</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36</a:t>
            </a:r>
            <a:endParaRPr lang="en-US" sz="900" dirty="0"/>
          </a:p>
        </p:txBody>
      </p:sp>
      <p:sp>
        <p:nvSpPr>
          <p:cNvPr id="12" name="Shape 9"/>
          <p:cNvSpPr/>
          <p:nvPr/>
        </p:nvSpPr>
        <p:spPr>
          <a:xfrm>
            <a:off x="288036" y="3246120"/>
            <a:ext cx="2103120" cy="914400"/>
          </a:xfrm>
          <a:prstGeom prst="rect">
            <a:avLst/>
          </a:prstGeom>
          <a:solidFill>
            <a:srgbClr val="FFFFFF"/>
          </a:solidFill>
          <a:ln w="9525">
            <a:solidFill>
              <a:srgbClr val="BFBFBF"/>
            </a:solidFill>
            <a:prstDash val="solid"/>
          </a:ln>
        </p:spPr>
      </p:sp>
      <p:sp>
        <p:nvSpPr>
          <p:cNvPr id="13" name="Text 10"/>
          <p:cNvSpPr txBox="1"/>
          <p:nvPr/>
        </p:nvSpPr>
        <p:spPr>
          <a:xfrm>
            <a:off x="425196" y="3246120"/>
            <a:ext cx="1828800" cy="91440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【問い】</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◯◯すべきか</a:t>
            </a:r>
            <a:endParaRPr lang="en-US" sz="1400" dirty="0"/>
          </a:p>
        </p:txBody>
      </p:sp>
      <p:sp>
        <p:nvSpPr>
          <p:cNvPr id="14" name="Shape 11"/>
          <p:cNvSpPr/>
          <p:nvPr/>
        </p:nvSpPr>
        <p:spPr>
          <a:xfrm>
            <a:off x="3031236" y="1965960"/>
            <a:ext cx="2926080" cy="914400"/>
          </a:xfrm>
          <a:prstGeom prst="rect">
            <a:avLst/>
          </a:prstGeom>
          <a:solidFill>
            <a:srgbClr val="FFFFFF"/>
          </a:solidFill>
          <a:ln w="19050">
            <a:solidFill>
              <a:srgbClr val="000F78"/>
            </a:solidFill>
            <a:prstDash val="solid"/>
          </a:ln>
        </p:spPr>
      </p:sp>
      <p:sp>
        <p:nvSpPr>
          <p:cNvPr id="15" name="Text 12"/>
          <p:cNvSpPr txBox="1"/>
          <p:nvPr/>
        </p:nvSpPr>
        <p:spPr>
          <a:xfrm>
            <a:off x="3168396" y="1965960"/>
            <a:ext cx="2651760" cy="91440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需要は維持できるか</a:t>
            </a:r>
            <a:endParaRPr lang="en-US" sz="1400" dirty="0"/>
          </a:p>
        </p:txBody>
      </p:sp>
      <p:sp>
        <p:nvSpPr>
          <p:cNvPr id="16" name="Shape 13"/>
          <p:cNvSpPr/>
          <p:nvPr/>
        </p:nvSpPr>
        <p:spPr>
          <a:xfrm>
            <a:off x="2391156" y="3703320"/>
            <a:ext cx="320040" cy="0"/>
          </a:xfrm>
          <a:prstGeom prst="line">
            <a:avLst/>
          </a:prstGeom>
          <a:noFill/>
          <a:ln w="9525">
            <a:solidFill>
              <a:srgbClr val="BFBFBF"/>
            </a:solidFill>
            <a:prstDash val="solid"/>
          </a:ln>
        </p:spPr>
      </p:sp>
      <p:sp>
        <p:nvSpPr>
          <p:cNvPr id="17" name="Shape 14"/>
          <p:cNvSpPr/>
          <p:nvPr/>
        </p:nvSpPr>
        <p:spPr>
          <a:xfrm>
            <a:off x="2711196" y="2423160"/>
            <a:ext cx="0" cy="2743200"/>
          </a:xfrm>
          <a:prstGeom prst="line">
            <a:avLst/>
          </a:prstGeom>
          <a:noFill/>
          <a:ln w="9525">
            <a:solidFill>
              <a:srgbClr val="BFBFBF"/>
            </a:solidFill>
            <a:prstDash val="solid"/>
          </a:ln>
        </p:spPr>
      </p:sp>
      <p:sp>
        <p:nvSpPr>
          <p:cNvPr id="18" name="Shape 15"/>
          <p:cNvSpPr/>
          <p:nvPr/>
        </p:nvSpPr>
        <p:spPr>
          <a:xfrm>
            <a:off x="2711196" y="2423160"/>
            <a:ext cx="320040" cy="0"/>
          </a:xfrm>
          <a:prstGeom prst="line">
            <a:avLst/>
          </a:prstGeom>
          <a:noFill/>
          <a:ln w="15875">
            <a:solidFill>
              <a:srgbClr val="000F78"/>
            </a:solidFill>
            <a:prstDash val="solid"/>
          </a:ln>
        </p:spPr>
      </p:sp>
      <p:sp>
        <p:nvSpPr>
          <p:cNvPr id="19" name="Text 16"/>
          <p:cNvSpPr txBox="1"/>
          <p:nvPr/>
        </p:nvSpPr>
        <p:spPr>
          <a:xfrm>
            <a:off x="6231636" y="1965960"/>
            <a:ext cx="3386023" cy="9144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人口推計×利用率でシナリオ試算</a:t>
            </a:r>
            <a:endParaRPr lang="en-US" sz="1400" dirty="0"/>
          </a:p>
        </p:txBody>
      </p:sp>
      <p:sp>
        <p:nvSpPr>
          <p:cNvPr id="20" name="Shape 17"/>
          <p:cNvSpPr/>
          <p:nvPr/>
        </p:nvSpPr>
        <p:spPr>
          <a:xfrm>
            <a:off x="6231636" y="3017520"/>
            <a:ext cx="3386023" cy="0"/>
          </a:xfrm>
          <a:prstGeom prst="line">
            <a:avLst/>
          </a:prstGeom>
          <a:noFill/>
          <a:ln w="9525">
            <a:solidFill>
              <a:srgbClr val="E7E6E6"/>
            </a:solidFill>
            <a:prstDash val="solid"/>
          </a:ln>
        </p:spPr>
      </p:sp>
      <p:sp>
        <p:nvSpPr>
          <p:cNvPr id="21" name="Shape 18"/>
          <p:cNvSpPr/>
          <p:nvPr/>
        </p:nvSpPr>
        <p:spPr>
          <a:xfrm>
            <a:off x="3031236" y="3337560"/>
            <a:ext cx="2926080" cy="914400"/>
          </a:xfrm>
          <a:prstGeom prst="rect">
            <a:avLst/>
          </a:prstGeom>
          <a:solidFill>
            <a:srgbClr val="FFFFFF"/>
          </a:solidFill>
          <a:ln w="9525">
            <a:solidFill>
              <a:srgbClr val="BFBFBF"/>
            </a:solidFill>
            <a:prstDash val="solid"/>
          </a:ln>
        </p:spPr>
      </p:sp>
      <p:sp>
        <p:nvSpPr>
          <p:cNvPr id="22" name="Text 19"/>
          <p:cNvSpPr txBox="1"/>
          <p:nvPr/>
        </p:nvSpPr>
        <p:spPr>
          <a:xfrm>
            <a:off x="3168396" y="3337560"/>
            <a:ext cx="2651760" cy="91440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費用は賄えるか</a:t>
            </a:r>
            <a:endParaRPr lang="en-US" sz="1400" dirty="0"/>
          </a:p>
        </p:txBody>
      </p:sp>
      <p:sp>
        <p:nvSpPr>
          <p:cNvPr id="23" name="Shape 20"/>
          <p:cNvSpPr/>
          <p:nvPr/>
        </p:nvSpPr>
        <p:spPr>
          <a:xfrm>
            <a:off x="2391156" y="3703320"/>
            <a:ext cx="320040" cy="0"/>
          </a:xfrm>
          <a:prstGeom prst="line">
            <a:avLst/>
          </a:prstGeom>
          <a:noFill/>
          <a:ln w="9525">
            <a:solidFill>
              <a:srgbClr val="BFBFBF"/>
            </a:solidFill>
            <a:prstDash val="solid"/>
          </a:ln>
        </p:spPr>
      </p:sp>
      <p:sp>
        <p:nvSpPr>
          <p:cNvPr id="24" name="Shape 21"/>
          <p:cNvSpPr/>
          <p:nvPr/>
        </p:nvSpPr>
        <p:spPr>
          <a:xfrm>
            <a:off x="2711196" y="2423160"/>
            <a:ext cx="0" cy="2743200"/>
          </a:xfrm>
          <a:prstGeom prst="line">
            <a:avLst/>
          </a:prstGeom>
          <a:noFill/>
          <a:ln w="9525">
            <a:solidFill>
              <a:srgbClr val="BFBFBF"/>
            </a:solidFill>
            <a:prstDash val="solid"/>
          </a:ln>
        </p:spPr>
      </p:sp>
      <p:sp>
        <p:nvSpPr>
          <p:cNvPr id="25" name="Shape 22"/>
          <p:cNvSpPr/>
          <p:nvPr/>
        </p:nvSpPr>
        <p:spPr>
          <a:xfrm>
            <a:off x="2711196" y="3794760"/>
            <a:ext cx="320040" cy="0"/>
          </a:xfrm>
          <a:prstGeom prst="line">
            <a:avLst/>
          </a:prstGeom>
          <a:noFill/>
          <a:ln w="9525">
            <a:solidFill>
              <a:srgbClr val="BFBFBF"/>
            </a:solidFill>
            <a:prstDash val="solid"/>
          </a:ln>
        </p:spPr>
      </p:sp>
      <p:sp>
        <p:nvSpPr>
          <p:cNvPr id="26" name="Text 23"/>
          <p:cNvSpPr txBox="1"/>
          <p:nvPr/>
        </p:nvSpPr>
        <p:spPr>
          <a:xfrm>
            <a:off x="6231636" y="3337560"/>
            <a:ext cx="3386023" cy="9144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費目別の10年推移と単価比較</a:t>
            </a:r>
            <a:endParaRPr lang="en-US" sz="1400" dirty="0"/>
          </a:p>
        </p:txBody>
      </p:sp>
      <p:sp>
        <p:nvSpPr>
          <p:cNvPr id="27" name="Shape 24"/>
          <p:cNvSpPr/>
          <p:nvPr/>
        </p:nvSpPr>
        <p:spPr>
          <a:xfrm>
            <a:off x="6231636" y="4389120"/>
            <a:ext cx="3386023" cy="0"/>
          </a:xfrm>
          <a:prstGeom prst="line">
            <a:avLst/>
          </a:prstGeom>
          <a:noFill/>
          <a:ln w="9525">
            <a:solidFill>
              <a:srgbClr val="E7E6E6"/>
            </a:solidFill>
            <a:prstDash val="solid"/>
          </a:ln>
        </p:spPr>
      </p:sp>
      <p:sp>
        <p:nvSpPr>
          <p:cNvPr id="28" name="Shape 25"/>
          <p:cNvSpPr/>
          <p:nvPr/>
        </p:nvSpPr>
        <p:spPr>
          <a:xfrm>
            <a:off x="3031236" y="4709160"/>
            <a:ext cx="2926080" cy="914400"/>
          </a:xfrm>
          <a:prstGeom prst="rect">
            <a:avLst/>
          </a:prstGeom>
          <a:solidFill>
            <a:srgbClr val="FFFFFF"/>
          </a:solidFill>
          <a:ln w="9525">
            <a:solidFill>
              <a:srgbClr val="BFBFBF"/>
            </a:solidFill>
            <a:prstDash val="solid"/>
          </a:ln>
        </p:spPr>
      </p:sp>
      <p:sp>
        <p:nvSpPr>
          <p:cNvPr id="29" name="Text 26"/>
          <p:cNvSpPr txBox="1"/>
          <p:nvPr/>
        </p:nvSpPr>
        <p:spPr>
          <a:xfrm>
            <a:off x="3168396" y="4709160"/>
            <a:ext cx="2651760" cy="91440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担い手を確保できるか</a:t>
            </a:r>
            <a:endParaRPr lang="en-US" sz="1400" dirty="0"/>
          </a:p>
        </p:txBody>
      </p:sp>
      <p:sp>
        <p:nvSpPr>
          <p:cNvPr id="30" name="Shape 27"/>
          <p:cNvSpPr/>
          <p:nvPr/>
        </p:nvSpPr>
        <p:spPr>
          <a:xfrm>
            <a:off x="2391156" y="3703320"/>
            <a:ext cx="320040" cy="0"/>
          </a:xfrm>
          <a:prstGeom prst="line">
            <a:avLst/>
          </a:prstGeom>
          <a:noFill/>
          <a:ln w="9525">
            <a:solidFill>
              <a:srgbClr val="BFBFBF"/>
            </a:solidFill>
            <a:prstDash val="solid"/>
          </a:ln>
        </p:spPr>
      </p:sp>
      <p:sp>
        <p:nvSpPr>
          <p:cNvPr id="31" name="Shape 28"/>
          <p:cNvSpPr/>
          <p:nvPr/>
        </p:nvSpPr>
        <p:spPr>
          <a:xfrm>
            <a:off x="2711196" y="2423160"/>
            <a:ext cx="0" cy="2743200"/>
          </a:xfrm>
          <a:prstGeom prst="line">
            <a:avLst/>
          </a:prstGeom>
          <a:noFill/>
          <a:ln w="9525">
            <a:solidFill>
              <a:srgbClr val="BFBFBF"/>
            </a:solidFill>
            <a:prstDash val="solid"/>
          </a:ln>
        </p:spPr>
      </p:sp>
      <p:sp>
        <p:nvSpPr>
          <p:cNvPr id="32" name="Shape 29"/>
          <p:cNvSpPr/>
          <p:nvPr/>
        </p:nvSpPr>
        <p:spPr>
          <a:xfrm>
            <a:off x="2711196" y="5166360"/>
            <a:ext cx="320040" cy="0"/>
          </a:xfrm>
          <a:prstGeom prst="line">
            <a:avLst/>
          </a:prstGeom>
          <a:noFill/>
          <a:ln w="9525">
            <a:solidFill>
              <a:srgbClr val="BFBFBF"/>
            </a:solidFill>
            <a:prstDash val="solid"/>
          </a:ln>
        </p:spPr>
      </p:sp>
      <p:sp>
        <p:nvSpPr>
          <p:cNvPr id="33" name="Text 30"/>
          <p:cNvSpPr txBox="1"/>
          <p:nvPr/>
        </p:nvSpPr>
        <p:spPr>
          <a:xfrm>
            <a:off x="6231636" y="4709160"/>
            <a:ext cx="3386023" cy="9144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関係者ヒアリング（20件）</a:t>
            </a:r>
            <a:endParaRPr lang="en-US" sz="1400" dirty="0"/>
          </a:p>
        </p:txBody>
      </p:sp>
      <p:sp>
        <p:nvSpPr>
          <p:cNvPr id="34" name="Shape 31"/>
          <p:cNvSpPr/>
          <p:nvPr/>
        </p:nvSpPr>
        <p:spPr>
          <a:xfrm>
            <a:off x="6231636" y="5760720"/>
            <a:ext cx="3386023" cy="0"/>
          </a:xfrm>
          <a:prstGeom prst="line">
            <a:avLst/>
          </a:prstGeom>
          <a:noFill/>
          <a:ln w="9525">
            <a:solidFill>
              <a:srgbClr val="E7E6E6"/>
            </a:solidFill>
            <a:prstDash val="solid"/>
          </a:ln>
        </p:spPr>
      </p:sp>
      <p:sp>
        <p:nvSpPr>
          <p:cNvPr id="35" name="Text 32"/>
          <p:cNvSpPr txBox="1"/>
          <p:nvPr/>
        </p:nvSpPr>
        <p:spPr>
          <a:xfrm>
            <a:off x="6231636" y="1417320"/>
            <a:ext cx="1828800" cy="27432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確かめ方</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3つの観点すべてで目指す姿との差があり、最も大きいのは【観点2】の【数値A】である。この差を埋める打ち手を最優先で講じるべきである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現状と目指す姿の差</a:t>
            </a:r>
            <a:pPr indent="0" marL="0">
              <a:buNone/>
            </a:pPr>
            <a:r>
              <a:rPr lang="en-US" sz="1100" dirty="0">
                <a:solidFill>
                  <a:srgbClr val="595959"/>
                </a:solidFill>
                <a:latin typeface="Yu Gothic UI" pitchFamily="34" charset="0"/>
                <a:ea typeface="Yu Gothic UI" pitchFamily="34" charset="-122"/>
                <a:cs typeface="Yu Gothic UI" pitchFamily="34" charset="-120"/>
              </a:rPr>
              <a:t>　（【年度】時点）</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288036" y="1965960"/>
          <a:ext cx="9329623" cy="914400"/>
        </p:xfrm>
        <a:graphic>
          <a:graphicData uri="http://schemas.openxmlformats.org/drawingml/2006/table">
            <a:tbl>
              <a:tblPr/>
              <a:tblGrid>
                <a:gridCol w="2743200"/>
                <a:gridCol w="2011680"/>
                <a:gridCol w="2377440"/>
                <a:gridCol w="2197303"/>
              </a:tblGrid>
              <a:tr h="45720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観点</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現状</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目指す姿（【年度】）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差</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100584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【観点1】</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800" dirty="0">
                          <a:solidFill>
                            <a:srgbClr val="000000"/>
                          </a:solidFill>
                          <a:latin typeface="Yu Gothic UI" pitchFamily="34" charset="0"/>
                          <a:ea typeface="Yu Gothic UI" pitchFamily="34" charset="-122"/>
                          <a:cs typeface="Yu Gothic UI" pitchFamily="34" charset="-120"/>
                        </a:rPr>
                        <a:t>＋【数値】</a:t>
                      </a:r>
                      <a:endParaRPr lang="en-US" sz="18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100584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【観点2】</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800" b="1" dirty="0">
                          <a:solidFill>
                            <a:srgbClr val="000F78"/>
                          </a:solidFill>
                          <a:latin typeface="Yu Gothic UI" pitchFamily="34" charset="0"/>
                          <a:ea typeface="Yu Gothic UI" pitchFamily="34" charset="-122"/>
                          <a:cs typeface="Yu Gothic UI" pitchFamily="34" charset="-120"/>
                        </a:rPr>
                        <a:t>＋【数値A】</a:t>
                      </a:r>
                      <a:endParaRPr lang="en-US" sz="18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100584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【観点3】</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800" dirty="0">
                          <a:solidFill>
                            <a:srgbClr val="000000"/>
                          </a:solidFill>
                          <a:latin typeface="Yu Gothic UI" pitchFamily="34" charset="0"/>
                          <a:ea typeface="Yu Gothic UI" pitchFamily="34" charset="-122"/>
                          <a:cs typeface="Yu Gothic UI" pitchFamily="34" charset="-120"/>
                        </a:rPr>
                        <a:t>−【数値】</a:t>
                      </a:r>
                      <a:endParaRPr lang="en-US" sz="18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5つの打ち手で年【数値A】の収支改善が見込め、その半分以上を【打ち手1】が占める。【打ち手1】の実現性が全体の成否を決める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打ち手ごとの効果と時期</a:t>
            </a:r>
            <a:pPr indent="0" marL="0">
              <a:buNone/>
            </a:pPr>
            <a:r>
              <a:rPr lang="en-US" sz="1100" dirty="0">
                <a:solidFill>
                  <a:srgbClr val="595959"/>
                </a:solidFill>
                <a:latin typeface="Yu Gothic UI" pitchFamily="34" charset="0"/>
                <a:ea typeface="Yu Gothic UI" pitchFamily="34" charset="-122"/>
                <a:cs typeface="Yu Gothic UI" pitchFamily="34" charset="-120"/>
              </a:rPr>
              <a:t>　（【単位】／年、【年度】時点）</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2560320"/>
                <a:gridCol w="1005840"/>
                <a:gridCol w="3291840"/>
                <a:gridCol w="1280160"/>
                <a:gridCol w="1191463"/>
              </a:tblGrid>
              <a:tr h="4114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打ち手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効果</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効果の大きさ</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着手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確度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548640">
                <a:tc>
                  <a:txBody>
                    <a:bodyP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【打ち手1】</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中</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【打ち手2】</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0.9</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高</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【打ち手3】</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0.6</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高</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【打ち手4】</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中</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【打ち手5】</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0.2</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低</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合計</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4.4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bl>
          </a:graphicData>
        </a:graphic>
      </p:graphicFrame>
      <p:sp>
        <p:nvSpPr>
          <p:cNvPr id="13" name="Shape 9"/>
          <p:cNvSpPr/>
          <p:nvPr/>
        </p:nvSpPr>
        <p:spPr>
          <a:xfrm>
            <a:off x="3899916" y="2487168"/>
            <a:ext cx="2852928" cy="237744"/>
          </a:xfrm>
          <a:prstGeom prst="rect">
            <a:avLst/>
          </a:prstGeom>
          <a:solidFill>
            <a:srgbClr val="000F78"/>
          </a:solidFill>
          <a:ln/>
        </p:spPr>
      </p:sp>
      <p:sp>
        <p:nvSpPr>
          <p:cNvPr id="14" name="Shape 10"/>
          <p:cNvSpPr/>
          <p:nvPr/>
        </p:nvSpPr>
        <p:spPr>
          <a:xfrm>
            <a:off x="3899916" y="3035808"/>
            <a:ext cx="1069848" cy="237744"/>
          </a:xfrm>
          <a:prstGeom prst="rect">
            <a:avLst/>
          </a:prstGeom>
          <a:solidFill>
            <a:srgbClr val="BFBFBF"/>
          </a:solidFill>
          <a:ln/>
        </p:spPr>
      </p:sp>
      <p:sp>
        <p:nvSpPr>
          <p:cNvPr id="15" name="Shape 11"/>
          <p:cNvSpPr/>
          <p:nvPr/>
        </p:nvSpPr>
        <p:spPr>
          <a:xfrm>
            <a:off x="3899916" y="3584448"/>
            <a:ext cx="713232" cy="237744"/>
          </a:xfrm>
          <a:prstGeom prst="rect">
            <a:avLst/>
          </a:prstGeom>
          <a:solidFill>
            <a:srgbClr val="BFBFBF"/>
          </a:solidFill>
          <a:ln/>
        </p:spPr>
      </p:sp>
      <p:sp>
        <p:nvSpPr>
          <p:cNvPr id="16" name="Shape 12"/>
          <p:cNvSpPr/>
          <p:nvPr/>
        </p:nvSpPr>
        <p:spPr>
          <a:xfrm>
            <a:off x="3899916" y="4133088"/>
            <a:ext cx="356616" cy="237744"/>
          </a:xfrm>
          <a:prstGeom prst="rect">
            <a:avLst/>
          </a:prstGeom>
          <a:solidFill>
            <a:srgbClr val="BFBFBF"/>
          </a:solidFill>
          <a:ln/>
        </p:spPr>
      </p:sp>
      <p:sp>
        <p:nvSpPr>
          <p:cNvPr id="17" name="Shape 13"/>
          <p:cNvSpPr/>
          <p:nvPr/>
        </p:nvSpPr>
        <p:spPr>
          <a:xfrm>
            <a:off x="3899916" y="4681728"/>
            <a:ext cx="237744" cy="237744"/>
          </a:xfrm>
          <a:prstGeom prst="rect">
            <a:avLst/>
          </a:prstGeom>
          <a:solidFill>
            <a:srgbClr val="BFBFBF"/>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【対象】の1人当たり費用は【比較対象】の【数値A】倍で、差は10年で倍に広がった。規模では説明できず、運営方法に原因がある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39</a:t>
            </a:r>
            <a:endParaRPr lang="en-US" sz="900" dirty="0"/>
          </a:p>
        </p:txBody>
      </p:sp>
      <p:sp>
        <p:nvSpPr>
          <p:cNvPr id="10" name="Text 7"/>
          <p:cNvSpPr txBox="1"/>
          <p:nvPr/>
        </p:nvSpPr>
        <p:spPr>
          <a:xfrm>
            <a:off x="288036" y="2011680"/>
            <a:ext cx="4116172" cy="320040"/>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【対象】</a:t>
            </a:r>
            <a:endParaRPr lang="en-US" sz="1400" dirty="0"/>
          </a:p>
        </p:txBody>
      </p:sp>
      <p:sp>
        <p:nvSpPr>
          <p:cNvPr id="11" name="Shape 8"/>
          <p:cNvSpPr/>
          <p:nvPr/>
        </p:nvSpPr>
        <p:spPr>
          <a:xfrm>
            <a:off x="288036" y="2395728"/>
            <a:ext cx="4116172" cy="0"/>
          </a:xfrm>
          <a:prstGeom prst="line">
            <a:avLst/>
          </a:prstGeom>
          <a:noFill/>
          <a:ln w="15875">
            <a:solidFill>
              <a:srgbClr val="000F78"/>
            </a:solidFill>
            <a:prstDash val="solid"/>
          </a:ln>
        </p:spPr>
      </p:sp>
      <p:sp>
        <p:nvSpPr>
          <p:cNvPr id="12" name="Text 9"/>
          <p:cNvSpPr txBox="1"/>
          <p:nvPr/>
        </p:nvSpPr>
        <p:spPr>
          <a:xfrm>
            <a:off x="288036" y="2651760"/>
            <a:ext cx="4116172" cy="1188720"/>
          </a:xfrm>
          <a:prstGeom prst="rect">
            <a:avLst/>
          </a:prstGeom>
          <a:noFill/>
          <a:ln/>
        </p:spPr>
        <p:txBody>
          <a:bodyPr wrap="square" lIns="0" tIns="0" rIns="0" bIns="0" rtlCol="0" anchor="ctr"/>
          <a:lstStyle/>
          <a:p>
            <a:pPr algn="ctr" indent="0" marL="0">
              <a:buNone/>
            </a:pPr>
            <a:r>
              <a:rPr lang="en-US" sz="5400" b="1" dirty="0">
                <a:solidFill>
                  <a:srgbClr val="000F78"/>
                </a:solidFill>
                <a:latin typeface="Arial" pitchFamily="34" charset="0"/>
                <a:ea typeface="Arial" pitchFamily="34" charset="-122"/>
                <a:cs typeface="Arial" pitchFamily="34" charset="-120"/>
              </a:rPr>
              <a:t>【数値】</a:t>
            </a:r>
            <a:endParaRPr lang="en-US" sz="5400" dirty="0"/>
          </a:p>
        </p:txBody>
      </p:sp>
      <p:sp>
        <p:nvSpPr>
          <p:cNvPr id="13" name="Text 10"/>
          <p:cNvSpPr txBox="1"/>
          <p:nvPr/>
        </p:nvSpPr>
        <p:spPr>
          <a:xfrm>
            <a:off x="288036" y="3886200"/>
            <a:ext cx="4116172"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円／人</a:t>
            </a:r>
            <a:endParaRPr lang="en-US" sz="1400" dirty="0"/>
          </a:p>
        </p:txBody>
      </p:sp>
      <p:sp>
        <p:nvSpPr>
          <p:cNvPr id="14" name="Text 11"/>
          <p:cNvSpPr txBox="1"/>
          <p:nvPr/>
        </p:nvSpPr>
        <p:spPr>
          <a:xfrm>
            <a:off x="5501488" y="2011680"/>
            <a:ext cx="4116172"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【比較対象】の平均</a:t>
            </a:r>
            <a:endParaRPr lang="en-US" sz="1400" dirty="0"/>
          </a:p>
        </p:txBody>
      </p:sp>
      <p:sp>
        <p:nvSpPr>
          <p:cNvPr id="15" name="Shape 12"/>
          <p:cNvSpPr/>
          <p:nvPr/>
        </p:nvSpPr>
        <p:spPr>
          <a:xfrm>
            <a:off x="5501488" y="2395728"/>
            <a:ext cx="4116172" cy="0"/>
          </a:xfrm>
          <a:prstGeom prst="line">
            <a:avLst/>
          </a:prstGeom>
          <a:noFill/>
          <a:ln w="6350">
            <a:solidFill>
              <a:srgbClr val="BFBFBF"/>
            </a:solidFill>
            <a:prstDash val="solid"/>
          </a:ln>
        </p:spPr>
      </p:sp>
      <p:sp>
        <p:nvSpPr>
          <p:cNvPr id="16" name="Text 13"/>
          <p:cNvSpPr txBox="1"/>
          <p:nvPr/>
        </p:nvSpPr>
        <p:spPr>
          <a:xfrm>
            <a:off x="5501488" y="2651760"/>
            <a:ext cx="4116172" cy="1188720"/>
          </a:xfrm>
          <a:prstGeom prst="rect">
            <a:avLst/>
          </a:prstGeom>
          <a:noFill/>
          <a:ln/>
        </p:spPr>
        <p:txBody>
          <a:bodyPr wrap="square" lIns="0" tIns="0" rIns="0" bIns="0" rtlCol="0" anchor="ctr"/>
          <a:lstStyle/>
          <a:p>
            <a:pPr algn="ctr" indent="0" marL="0">
              <a:buNone/>
            </a:pPr>
            <a:r>
              <a:rPr lang="en-US" sz="5400" b="1" dirty="0">
                <a:solidFill>
                  <a:srgbClr val="7F7F7F"/>
                </a:solidFill>
                <a:latin typeface="Arial" pitchFamily="34" charset="0"/>
                <a:ea typeface="Arial" pitchFamily="34" charset="-122"/>
                <a:cs typeface="Arial" pitchFamily="34" charset="-120"/>
              </a:rPr>
              <a:t>【数値】</a:t>
            </a:r>
            <a:endParaRPr lang="en-US" sz="5400" dirty="0"/>
          </a:p>
        </p:txBody>
      </p:sp>
      <p:sp>
        <p:nvSpPr>
          <p:cNvPr id="17" name="Text 14"/>
          <p:cNvSpPr txBox="1"/>
          <p:nvPr/>
        </p:nvSpPr>
        <p:spPr>
          <a:xfrm>
            <a:off x="5501488" y="3886200"/>
            <a:ext cx="4116172"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円／人</a:t>
            </a:r>
            <a:endParaRPr lang="en-US" sz="1400" dirty="0"/>
          </a:p>
        </p:txBody>
      </p:sp>
      <p:sp>
        <p:nvSpPr>
          <p:cNvPr id="18" name="Text 15"/>
          <p:cNvSpPr txBox="1"/>
          <p:nvPr/>
        </p:nvSpPr>
        <p:spPr>
          <a:xfrm>
            <a:off x="4404208" y="2971800"/>
            <a:ext cx="1097280" cy="548640"/>
          </a:xfrm>
          <a:prstGeom prst="rect">
            <a:avLst/>
          </a:prstGeom>
          <a:noFill/>
          <a:ln/>
        </p:spPr>
        <p:txBody>
          <a:bodyPr wrap="square" lIns="0" tIns="0" rIns="0" bIns="0" rtlCol="0" anchor="ctr"/>
          <a:lstStyle/>
          <a:p>
            <a:pPr algn="ctr" indent="0" marL="0">
              <a:buNone/>
            </a:pPr>
            <a:r>
              <a:rPr lang="en-US" sz="2000" b="1" dirty="0">
                <a:solidFill>
                  <a:srgbClr val="000F78"/>
                </a:solidFill>
                <a:latin typeface="Yu Gothic UI" pitchFamily="34" charset="0"/>
                <a:ea typeface="Yu Gothic UI" pitchFamily="34" charset="-122"/>
                <a:cs typeface="Yu Gothic UI" pitchFamily="34" charset="-120"/>
              </a:rPr>
              <a:t>×【数値A】</a:t>
            </a:r>
            <a:endParaRPr lang="en-US" sz="2000" dirty="0"/>
          </a:p>
        </p:txBody>
      </p:sp>
      <p:sp>
        <p:nvSpPr>
          <p:cNvPr id="19" name="Text 16"/>
          <p:cNvSpPr txBox="1"/>
          <p:nvPr/>
        </p:nvSpPr>
        <p:spPr>
          <a:xfrm>
            <a:off x="288036" y="4754880"/>
            <a:ext cx="9329623" cy="274320"/>
          </a:xfrm>
          <a:prstGeom prst="rect">
            <a:avLst/>
          </a:prstGeom>
          <a:noFill/>
          <a:ln/>
        </p:spPr>
        <p:txBody>
          <a:bodyPr wrap="square" lIns="0" tIns="0" rIns="0" bIns="0" rtlCol="0" anchor="t"/>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補足：1人当たり費用＝年間費用÷利用者数。【年度】決算ベース</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利用者の10人に3人は代わりの移動手段を持たず、多くは高校生と高齢者である。この層には生活の前提であり、単純な廃止は選べない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代わりの移動手段がない利用者の割合</a:t>
            </a:r>
            <a:pPr indent="0" marL="0">
              <a:buNone/>
            </a:pPr>
            <a:r>
              <a:rPr lang="en-US" sz="1100" dirty="0">
                <a:solidFill>
                  <a:srgbClr val="595959"/>
                </a:solidFill>
                <a:latin typeface="Yu Gothic UI" pitchFamily="34" charset="0"/>
                <a:ea typeface="Yu Gothic UI" pitchFamily="34" charset="-122"/>
                <a:cs typeface="Yu Gothic UI" pitchFamily="34" charset="-120"/>
              </a:rPr>
              <a:t>　（%、n＝【数値】、【調査時期】）</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40</a:t>
            </a:r>
            <a:endParaRPr lang="en-US" sz="900" dirty="0"/>
          </a:p>
        </p:txBody>
      </p:sp>
      <p:sp>
        <p:nvSpPr>
          <p:cNvPr id="12" name="Shape 9"/>
          <p:cNvSpPr/>
          <p:nvPr/>
        </p:nvSpPr>
        <p:spPr>
          <a:xfrm>
            <a:off x="653796" y="2057400"/>
            <a:ext cx="219456" cy="219456"/>
          </a:xfrm>
          <a:prstGeom prst="ellipse">
            <a:avLst/>
          </a:prstGeom>
          <a:solidFill>
            <a:srgbClr val="000F78"/>
          </a:solidFill>
          <a:ln/>
        </p:spPr>
      </p:sp>
      <p:sp>
        <p:nvSpPr>
          <p:cNvPr id="13" name="Shape 10"/>
          <p:cNvSpPr/>
          <p:nvPr/>
        </p:nvSpPr>
        <p:spPr>
          <a:xfrm>
            <a:off x="982980" y="2057400"/>
            <a:ext cx="219456" cy="219456"/>
          </a:xfrm>
          <a:prstGeom prst="ellipse">
            <a:avLst/>
          </a:prstGeom>
          <a:solidFill>
            <a:srgbClr val="000F78"/>
          </a:solidFill>
          <a:ln/>
        </p:spPr>
      </p:sp>
      <p:sp>
        <p:nvSpPr>
          <p:cNvPr id="14" name="Shape 11"/>
          <p:cNvSpPr/>
          <p:nvPr/>
        </p:nvSpPr>
        <p:spPr>
          <a:xfrm>
            <a:off x="1312164" y="2057400"/>
            <a:ext cx="219456" cy="219456"/>
          </a:xfrm>
          <a:prstGeom prst="ellipse">
            <a:avLst/>
          </a:prstGeom>
          <a:solidFill>
            <a:srgbClr val="000F78"/>
          </a:solidFill>
          <a:ln/>
        </p:spPr>
      </p:sp>
      <p:sp>
        <p:nvSpPr>
          <p:cNvPr id="15" name="Shape 12"/>
          <p:cNvSpPr/>
          <p:nvPr/>
        </p:nvSpPr>
        <p:spPr>
          <a:xfrm>
            <a:off x="1641348" y="2057400"/>
            <a:ext cx="219456" cy="219456"/>
          </a:xfrm>
          <a:prstGeom prst="ellipse">
            <a:avLst/>
          </a:prstGeom>
          <a:solidFill>
            <a:srgbClr val="000F78"/>
          </a:solidFill>
          <a:ln/>
        </p:spPr>
      </p:sp>
      <p:sp>
        <p:nvSpPr>
          <p:cNvPr id="16" name="Shape 13"/>
          <p:cNvSpPr/>
          <p:nvPr/>
        </p:nvSpPr>
        <p:spPr>
          <a:xfrm>
            <a:off x="1970532" y="2057400"/>
            <a:ext cx="219456" cy="219456"/>
          </a:xfrm>
          <a:prstGeom prst="ellipse">
            <a:avLst/>
          </a:prstGeom>
          <a:solidFill>
            <a:srgbClr val="000F78"/>
          </a:solidFill>
          <a:ln/>
        </p:spPr>
      </p:sp>
      <p:sp>
        <p:nvSpPr>
          <p:cNvPr id="17" name="Shape 14"/>
          <p:cNvSpPr/>
          <p:nvPr/>
        </p:nvSpPr>
        <p:spPr>
          <a:xfrm>
            <a:off x="2299716" y="2057400"/>
            <a:ext cx="219456" cy="219456"/>
          </a:xfrm>
          <a:prstGeom prst="ellipse">
            <a:avLst/>
          </a:prstGeom>
          <a:solidFill>
            <a:srgbClr val="000F78"/>
          </a:solidFill>
          <a:ln/>
        </p:spPr>
      </p:sp>
      <p:sp>
        <p:nvSpPr>
          <p:cNvPr id="18" name="Shape 15"/>
          <p:cNvSpPr/>
          <p:nvPr/>
        </p:nvSpPr>
        <p:spPr>
          <a:xfrm>
            <a:off x="2628900" y="2057400"/>
            <a:ext cx="219456" cy="219456"/>
          </a:xfrm>
          <a:prstGeom prst="ellipse">
            <a:avLst/>
          </a:prstGeom>
          <a:solidFill>
            <a:srgbClr val="000F78"/>
          </a:solidFill>
          <a:ln/>
        </p:spPr>
      </p:sp>
      <p:sp>
        <p:nvSpPr>
          <p:cNvPr id="19" name="Shape 16"/>
          <p:cNvSpPr/>
          <p:nvPr/>
        </p:nvSpPr>
        <p:spPr>
          <a:xfrm>
            <a:off x="2958084" y="2057400"/>
            <a:ext cx="219456" cy="219456"/>
          </a:xfrm>
          <a:prstGeom prst="ellipse">
            <a:avLst/>
          </a:prstGeom>
          <a:solidFill>
            <a:srgbClr val="000F78"/>
          </a:solidFill>
          <a:ln/>
        </p:spPr>
      </p:sp>
      <p:sp>
        <p:nvSpPr>
          <p:cNvPr id="20" name="Shape 17"/>
          <p:cNvSpPr/>
          <p:nvPr/>
        </p:nvSpPr>
        <p:spPr>
          <a:xfrm>
            <a:off x="3287268" y="2057400"/>
            <a:ext cx="219456" cy="219456"/>
          </a:xfrm>
          <a:prstGeom prst="ellipse">
            <a:avLst/>
          </a:prstGeom>
          <a:solidFill>
            <a:srgbClr val="000F78"/>
          </a:solidFill>
          <a:ln/>
        </p:spPr>
      </p:sp>
      <p:sp>
        <p:nvSpPr>
          <p:cNvPr id="21" name="Shape 18"/>
          <p:cNvSpPr/>
          <p:nvPr/>
        </p:nvSpPr>
        <p:spPr>
          <a:xfrm>
            <a:off x="3616452" y="2057400"/>
            <a:ext cx="219456" cy="219456"/>
          </a:xfrm>
          <a:prstGeom prst="ellipse">
            <a:avLst/>
          </a:prstGeom>
          <a:solidFill>
            <a:srgbClr val="000F78"/>
          </a:solidFill>
          <a:ln/>
        </p:spPr>
      </p:sp>
      <p:sp>
        <p:nvSpPr>
          <p:cNvPr id="22" name="Shape 19"/>
          <p:cNvSpPr/>
          <p:nvPr/>
        </p:nvSpPr>
        <p:spPr>
          <a:xfrm>
            <a:off x="653796" y="2386584"/>
            <a:ext cx="219456" cy="219456"/>
          </a:xfrm>
          <a:prstGeom prst="ellipse">
            <a:avLst/>
          </a:prstGeom>
          <a:solidFill>
            <a:srgbClr val="000F78"/>
          </a:solidFill>
          <a:ln/>
        </p:spPr>
      </p:sp>
      <p:sp>
        <p:nvSpPr>
          <p:cNvPr id="23" name="Shape 20"/>
          <p:cNvSpPr/>
          <p:nvPr/>
        </p:nvSpPr>
        <p:spPr>
          <a:xfrm>
            <a:off x="982980" y="2386584"/>
            <a:ext cx="219456" cy="219456"/>
          </a:xfrm>
          <a:prstGeom prst="ellipse">
            <a:avLst/>
          </a:prstGeom>
          <a:solidFill>
            <a:srgbClr val="000F78"/>
          </a:solidFill>
          <a:ln/>
        </p:spPr>
      </p:sp>
      <p:sp>
        <p:nvSpPr>
          <p:cNvPr id="24" name="Shape 21"/>
          <p:cNvSpPr/>
          <p:nvPr/>
        </p:nvSpPr>
        <p:spPr>
          <a:xfrm>
            <a:off x="1312164" y="2386584"/>
            <a:ext cx="219456" cy="219456"/>
          </a:xfrm>
          <a:prstGeom prst="ellipse">
            <a:avLst/>
          </a:prstGeom>
          <a:solidFill>
            <a:srgbClr val="000F78"/>
          </a:solidFill>
          <a:ln/>
        </p:spPr>
      </p:sp>
      <p:sp>
        <p:nvSpPr>
          <p:cNvPr id="25" name="Shape 22"/>
          <p:cNvSpPr/>
          <p:nvPr/>
        </p:nvSpPr>
        <p:spPr>
          <a:xfrm>
            <a:off x="1641348" y="2386584"/>
            <a:ext cx="219456" cy="219456"/>
          </a:xfrm>
          <a:prstGeom prst="ellipse">
            <a:avLst/>
          </a:prstGeom>
          <a:solidFill>
            <a:srgbClr val="000F78"/>
          </a:solidFill>
          <a:ln/>
        </p:spPr>
      </p:sp>
      <p:sp>
        <p:nvSpPr>
          <p:cNvPr id="26" name="Shape 23"/>
          <p:cNvSpPr/>
          <p:nvPr/>
        </p:nvSpPr>
        <p:spPr>
          <a:xfrm>
            <a:off x="1970532" y="2386584"/>
            <a:ext cx="219456" cy="219456"/>
          </a:xfrm>
          <a:prstGeom prst="ellipse">
            <a:avLst/>
          </a:prstGeom>
          <a:solidFill>
            <a:srgbClr val="000F78"/>
          </a:solidFill>
          <a:ln/>
        </p:spPr>
      </p:sp>
      <p:sp>
        <p:nvSpPr>
          <p:cNvPr id="27" name="Shape 24"/>
          <p:cNvSpPr/>
          <p:nvPr/>
        </p:nvSpPr>
        <p:spPr>
          <a:xfrm>
            <a:off x="2299716" y="2386584"/>
            <a:ext cx="219456" cy="219456"/>
          </a:xfrm>
          <a:prstGeom prst="ellipse">
            <a:avLst/>
          </a:prstGeom>
          <a:solidFill>
            <a:srgbClr val="000F78"/>
          </a:solidFill>
          <a:ln/>
        </p:spPr>
      </p:sp>
      <p:sp>
        <p:nvSpPr>
          <p:cNvPr id="28" name="Shape 25"/>
          <p:cNvSpPr/>
          <p:nvPr/>
        </p:nvSpPr>
        <p:spPr>
          <a:xfrm>
            <a:off x="2628900" y="2386584"/>
            <a:ext cx="219456" cy="219456"/>
          </a:xfrm>
          <a:prstGeom prst="ellipse">
            <a:avLst/>
          </a:prstGeom>
          <a:solidFill>
            <a:srgbClr val="000F78"/>
          </a:solidFill>
          <a:ln/>
        </p:spPr>
      </p:sp>
      <p:sp>
        <p:nvSpPr>
          <p:cNvPr id="29" name="Shape 26"/>
          <p:cNvSpPr/>
          <p:nvPr/>
        </p:nvSpPr>
        <p:spPr>
          <a:xfrm>
            <a:off x="2958084" y="2386584"/>
            <a:ext cx="219456" cy="219456"/>
          </a:xfrm>
          <a:prstGeom prst="ellipse">
            <a:avLst/>
          </a:prstGeom>
          <a:solidFill>
            <a:srgbClr val="000F78"/>
          </a:solidFill>
          <a:ln/>
        </p:spPr>
      </p:sp>
      <p:sp>
        <p:nvSpPr>
          <p:cNvPr id="30" name="Shape 27"/>
          <p:cNvSpPr/>
          <p:nvPr/>
        </p:nvSpPr>
        <p:spPr>
          <a:xfrm>
            <a:off x="3287268" y="2386584"/>
            <a:ext cx="219456" cy="219456"/>
          </a:xfrm>
          <a:prstGeom prst="ellipse">
            <a:avLst/>
          </a:prstGeom>
          <a:solidFill>
            <a:srgbClr val="000F78"/>
          </a:solidFill>
          <a:ln/>
        </p:spPr>
      </p:sp>
      <p:sp>
        <p:nvSpPr>
          <p:cNvPr id="31" name="Shape 28"/>
          <p:cNvSpPr/>
          <p:nvPr/>
        </p:nvSpPr>
        <p:spPr>
          <a:xfrm>
            <a:off x="3616452" y="2386584"/>
            <a:ext cx="219456" cy="219456"/>
          </a:xfrm>
          <a:prstGeom prst="ellipse">
            <a:avLst/>
          </a:prstGeom>
          <a:solidFill>
            <a:srgbClr val="000F78"/>
          </a:solidFill>
          <a:ln/>
        </p:spPr>
      </p:sp>
      <p:sp>
        <p:nvSpPr>
          <p:cNvPr id="32" name="Shape 29"/>
          <p:cNvSpPr/>
          <p:nvPr/>
        </p:nvSpPr>
        <p:spPr>
          <a:xfrm>
            <a:off x="653796" y="2715768"/>
            <a:ext cx="219456" cy="219456"/>
          </a:xfrm>
          <a:prstGeom prst="ellipse">
            <a:avLst/>
          </a:prstGeom>
          <a:solidFill>
            <a:srgbClr val="000F78"/>
          </a:solidFill>
          <a:ln/>
        </p:spPr>
      </p:sp>
      <p:sp>
        <p:nvSpPr>
          <p:cNvPr id="33" name="Shape 30"/>
          <p:cNvSpPr/>
          <p:nvPr/>
        </p:nvSpPr>
        <p:spPr>
          <a:xfrm>
            <a:off x="982980" y="2715768"/>
            <a:ext cx="219456" cy="219456"/>
          </a:xfrm>
          <a:prstGeom prst="ellipse">
            <a:avLst/>
          </a:prstGeom>
          <a:solidFill>
            <a:srgbClr val="000F78"/>
          </a:solidFill>
          <a:ln/>
        </p:spPr>
      </p:sp>
      <p:sp>
        <p:nvSpPr>
          <p:cNvPr id="34" name="Shape 31"/>
          <p:cNvSpPr/>
          <p:nvPr/>
        </p:nvSpPr>
        <p:spPr>
          <a:xfrm>
            <a:off x="1312164" y="2715768"/>
            <a:ext cx="219456" cy="219456"/>
          </a:xfrm>
          <a:prstGeom prst="ellipse">
            <a:avLst/>
          </a:prstGeom>
          <a:solidFill>
            <a:srgbClr val="000F78"/>
          </a:solidFill>
          <a:ln/>
        </p:spPr>
      </p:sp>
      <p:sp>
        <p:nvSpPr>
          <p:cNvPr id="35" name="Shape 32"/>
          <p:cNvSpPr/>
          <p:nvPr/>
        </p:nvSpPr>
        <p:spPr>
          <a:xfrm>
            <a:off x="1641348" y="2715768"/>
            <a:ext cx="219456" cy="219456"/>
          </a:xfrm>
          <a:prstGeom prst="ellipse">
            <a:avLst/>
          </a:prstGeom>
          <a:solidFill>
            <a:srgbClr val="000F78"/>
          </a:solidFill>
          <a:ln/>
        </p:spPr>
      </p:sp>
      <p:sp>
        <p:nvSpPr>
          <p:cNvPr id="36" name="Shape 33"/>
          <p:cNvSpPr/>
          <p:nvPr/>
        </p:nvSpPr>
        <p:spPr>
          <a:xfrm>
            <a:off x="1970532" y="2715768"/>
            <a:ext cx="219456" cy="219456"/>
          </a:xfrm>
          <a:prstGeom prst="ellipse">
            <a:avLst/>
          </a:prstGeom>
          <a:solidFill>
            <a:srgbClr val="000F78"/>
          </a:solidFill>
          <a:ln/>
        </p:spPr>
      </p:sp>
      <p:sp>
        <p:nvSpPr>
          <p:cNvPr id="37" name="Shape 34"/>
          <p:cNvSpPr/>
          <p:nvPr/>
        </p:nvSpPr>
        <p:spPr>
          <a:xfrm>
            <a:off x="2299716" y="2715768"/>
            <a:ext cx="219456" cy="219456"/>
          </a:xfrm>
          <a:prstGeom prst="ellipse">
            <a:avLst/>
          </a:prstGeom>
          <a:solidFill>
            <a:srgbClr val="000F78"/>
          </a:solidFill>
          <a:ln/>
        </p:spPr>
      </p:sp>
      <p:sp>
        <p:nvSpPr>
          <p:cNvPr id="38" name="Shape 35"/>
          <p:cNvSpPr/>
          <p:nvPr/>
        </p:nvSpPr>
        <p:spPr>
          <a:xfrm>
            <a:off x="2628900" y="2715768"/>
            <a:ext cx="219456" cy="219456"/>
          </a:xfrm>
          <a:prstGeom prst="ellipse">
            <a:avLst/>
          </a:prstGeom>
          <a:solidFill>
            <a:srgbClr val="000F78"/>
          </a:solidFill>
          <a:ln/>
        </p:spPr>
      </p:sp>
      <p:sp>
        <p:nvSpPr>
          <p:cNvPr id="39" name="Shape 36"/>
          <p:cNvSpPr/>
          <p:nvPr/>
        </p:nvSpPr>
        <p:spPr>
          <a:xfrm>
            <a:off x="2958084" y="2715768"/>
            <a:ext cx="219456" cy="219456"/>
          </a:xfrm>
          <a:prstGeom prst="ellipse">
            <a:avLst/>
          </a:prstGeom>
          <a:solidFill>
            <a:srgbClr val="000F78"/>
          </a:solidFill>
          <a:ln/>
        </p:spPr>
      </p:sp>
      <p:sp>
        <p:nvSpPr>
          <p:cNvPr id="40" name="Shape 37"/>
          <p:cNvSpPr/>
          <p:nvPr/>
        </p:nvSpPr>
        <p:spPr>
          <a:xfrm>
            <a:off x="3287268" y="2715768"/>
            <a:ext cx="219456" cy="219456"/>
          </a:xfrm>
          <a:prstGeom prst="ellipse">
            <a:avLst/>
          </a:prstGeom>
          <a:solidFill>
            <a:srgbClr val="000F78"/>
          </a:solidFill>
          <a:ln/>
        </p:spPr>
      </p:sp>
      <p:sp>
        <p:nvSpPr>
          <p:cNvPr id="41" name="Shape 38"/>
          <p:cNvSpPr/>
          <p:nvPr/>
        </p:nvSpPr>
        <p:spPr>
          <a:xfrm>
            <a:off x="3616452" y="2715768"/>
            <a:ext cx="219456" cy="219456"/>
          </a:xfrm>
          <a:prstGeom prst="ellipse">
            <a:avLst/>
          </a:prstGeom>
          <a:solidFill>
            <a:srgbClr val="000F78"/>
          </a:solidFill>
          <a:ln/>
        </p:spPr>
      </p:sp>
      <p:sp>
        <p:nvSpPr>
          <p:cNvPr id="42" name="Shape 39"/>
          <p:cNvSpPr/>
          <p:nvPr/>
        </p:nvSpPr>
        <p:spPr>
          <a:xfrm>
            <a:off x="653796" y="3044952"/>
            <a:ext cx="219456" cy="219456"/>
          </a:xfrm>
          <a:prstGeom prst="ellipse">
            <a:avLst/>
          </a:prstGeom>
          <a:solidFill>
            <a:srgbClr val="E7E6E6"/>
          </a:solidFill>
          <a:ln/>
        </p:spPr>
      </p:sp>
      <p:sp>
        <p:nvSpPr>
          <p:cNvPr id="43" name="Shape 40"/>
          <p:cNvSpPr/>
          <p:nvPr/>
        </p:nvSpPr>
        <p:spPr>
          <a:xfrm>
            <a:off x="982980" y="3044952"/>
            <a:ext cx="219456" cy="219456"/>
          </a:xfrm>
          <a:prstGeom prst="ellipse">
            <a:avLst/>
          </a:prstGeom>
          <a:solidFill>
            <a:srgbClr val="E7E6E6"/>
          </a:solidFill>
          <a:ln/>
        </p:spPr>
      </p:sp>
      <p:sp>
        <p:nvSpPr>
          <p:cNvPr id="44" name="Shape 41"/>
          <p:cNvSpPr/>
          <p:nvPr/>
        </p:nvSpPr>
        <p:spPr>
          <a:xfrm>
            <a:off x="1312164" y="3044952"/>
            <a:ext cx="219456" cy="219456"/>
          </a:xfrm>
          <a:prstGeom prst="ellipse">
            <a:avLst/>
          </a:prstGeom>
          <a:solidFill>
            <a:srgbClr val="E7E6E6"/>
          </a:solidFill>
          <a:ln/>
        </p:spPr>
      </p:sp>
      <p:sp>
        <p:nvSpPr>
          <p:cNvPr id="45" name="Shape 42"/>
          <p:cNvSpPr/>
          <p:nvPr/>
        </p:nvSpPr>
        <p:spPr>
          <a:xfrm>
            <a:off x="1641348" y="3044952"/>
            <a:ext cx="219456" cy="219456"/>
          </a:xfrm>
          <a:prstGeom prst="ellipse">
            <a:avLst/>
          </a:prstGeom>
          <a:solidFill>
            <a:srgbClr val="E7E6E6"/>
          </a:solidFill>
          <a:ln/>
        </p:spPr>
      </p:sp>
      <p:sp>
        <p:nvSpPr>
          <p:cNvPr id="46" name="Shape 43"/>
          <p:cNvSpPr/>
          <p:nvPr/>
        </p:nvSpPr>
        <p:spPr>
          <a:xfrm>
            <a:off x="1970532" y="3044952"/>
            <a:ext cx="219456" cy="219456"/>
          </a:xfrm>
          <a:prstGeom prst="ellipse">
            <a:avLst/>
          </a:prstGeom>
          <a:solidFill>
            <a:srgbClr val="E7E6E6"/>
          </a:solidFill>
          <a:ln/>
        </p:spPr>
      </p:sp>
      <p:sp>
        <p:nvSpPr>
          <p:cNvPr id="47" name="Shape 44"/>
          <p:cNvSpPr/>
          <p:nvPr/>
        </p:nvSpPr>
        <p:spPr>
          <a:xfrm>
            <a:off x="2299716" y="3044952"/>
            <a:ext cx="219456" cy="219456"/>
          </a:xfrm>
          <a:prstGeom prst="ellipse">
            <a:avLst/>
          </a:prstGeom>
          <a:solidFill>
            <a:srgbClr val="E7E6E6"/>
          </a:solidFill>
          <a:ln/>
        </p:spPr>
      </p:sp>
      <p:sp>
        <p:nvSpPr>
          <p:cNvPr id="48" name="Shape 45"/>
          <p:cNvSpPr/>
          <p:nvPr/>
        </p:nvSpPr>
        <p:spPr>
          <a:xfrm>
            <a:off x="2628900" y="3044952"/>
            <a:ext cx="219456" cy="219456"/>
          </a:xfrm>
          <a:prstGeom prst="ellipse">
            <a:avLst/>
          </a:prstGeom>
          <a:solidFill>
            <a:srgbClr val="E7E6E6"/>
          </a:solidFill>
          <a:ln/>
        </p:spPr>
      </p:sp>
      <p:sp>
        <p:nvSpPr>
          <p:cNvPr id="49" name="Shape 46"/>
          <p:cNvSpPr/>
          <p:nvPr/>
        </p:nvSpPr>
        <p:spPr>
          <a:xfrm>
            <a:off x="2958084" y="3044952"/>
            <a:ext cx="219456" cy="219456"/>
          </a:xfrm>
          <a:prstGeom prst="ellipse">
            <a:avLst/>
          </a:prstGeom>
          <a:solidFill>
            <a:srgbClr val="E7E6E6"/>
          </a:solidFill>
          <a:ln/>
        </p:spPr>
      </p:sp>
      <p:sp>
        <p:nvSpPr>
          <p:cNvPr id="50" name="Shape 47"/>
          <p:cNvSpPr/>
          <p:nvPr/>
        </p:nvSpPr>
        <p:spPr>
          <a:xfrm>
            <a:off x="3287268" y="3044952"/>
            <a:ext cx="219456" cy="219456"/>
          </a:xfrm>
          <a:prstGeom prst="ellipse">
            <a:avLst/>
          </a:prstGeom>
          <a:solidFill>
            <a:srgbClr val="E7E6E6"/>
          </a:solidFill>
          <a:ln/>
        </p:spPr>
      </p:sp>
      <p:sp>
        <p:nvSpPr>
          <p:cNvPr id="51" name="Shape 48"/>
          <p:cNvSpPr/>
          <p:nvPr/>
        </p:nvSpPr>
        <p:spPr>
          <a:xfrm>
            <a:off x="3616452" y="3044952"/>
            <a:ext cx="219456" cy="219456"/>
          </a:xfrm>
          <a:prstGeom prst="ellipse">
            <a:avLst/>
          </a:prstGeom>
          <a:solidFill>
            <a:srgbClr val="E7E6E6"/>
          </a:solidFill>
          <a:ln/>
        </p:spPr>
      </p:sp>
      <p:sp>
        <p:nvSpPr>
          <p:cNvPr id="52" name="Shape 49"/>
          <p:cNvSpPr/>
          <p:nvPr/>
        </p:nvSpPr>
        <p:spPr>
          <a:xfrm>
            <a:off x="653796" y="3374136"/>
            <a:ext cx="219456" cy="219456"/>
          </a:xfrm>
          <a:prstGeom prst="ellipse">
            <a:avLst/>
          </a:prstGeom>
          <a:solidFill>
            <a:srgbClr val="E7E6E6"/>
          </a:solidFill>
          <a:ln/>
        </p:spPr>
      </p:sp>
      <p:sp>
        <p:nvSpPr>
          <p:cNvPr id="53" name="Shape 50"/>
          <p:cNvSpPr/>
          <p:nvPr/>
        </p:nvSpPr>
        <p:spPr>
          <a:xfrm>
            <a:off x="982980" y="3374136"/>
            <a:ext cx="219456" cy="219456"/>
          </a:xfrm>
          <a:prstGeom prst="ellipse">
            <a:avLst/>
          </a:prstGeom>
          <a:solidFill>
            <a:srgbClr val="E7E6E6"/>
          </a:solidFill>
          <a:ln/>
        </p:spPr>
      </p:sp>
      <p:sp>
        <p:nvSpPr>
          <p:cNvPr id="54" name="Shape 51"/>
          <p:cNvSpPr/>
          <p:nvPr/>
        </p:nvSpPr>
        <p:spPr>
          <a:xfrm>
            <a:off x="1312164" y="3374136"/>
            <a:ext cx="219456" cy="219456"/>
          </a:xfrm>
          <a:prstGeom prst="ellipse">
            <a:avLst/>
          </a:prstGeom>
          <a:solidFill>
            <a:srgbClr val="E7E6E6"/>
          </a:solidFill>
          <a:ln/>
        </p:spPr>
      </p:sp>
      <p:sp>
        <p:nvSpPr>
          <p:cNvPr id="55" name="Shape 52"/>
          <p:cNvSpPr/>
          <p:nvPr/>
        </p:nvSpPr>
        <p:spPr>
          <a:xfrm>
            <a:off x="1641348" y="3374136"/>
            <a:ext cx="219456" cy="219456"/>
          </a:xfrm>
          <a:prstGeom prst="ellipse">
            <a:avLst/>
          </a:prstGeom>
          <a:solidFill>
            <a:srgbClr val="E7E6E6"/>
          </a:solidFill>
          <a:ln/>
        </p:spPr>
      </p:sp>
      <p:sp>
        <p:nvSpPr>
          <p:cNvPr id="56" name="Shape 53"/>
          <p:cNvSpPr/>
          <p:nvPr/>
        </p:nvSpPr>
        <p:spPr>
          <a:xfrm>
            <a:off x="1970532" y="3374136"/>
            <a:ext cx="219456" cy="219456"/>
          </a:xfrm>
          <a:prstGeom prst="ellipse">
            <a:avLst/>
          </a:prstGeom>
          <a:solidFill>
            <a:srgbClr val="E7E6E6"/>
          </a:solidFill>
          <a:ln/>
        </p:spPr>
      </p:sp>
      <p:sp>
        <p:nvSpPr>
          <p:cNvPr id="57" name="Shape 54"/>
          <p:cNvSpPr/>
          <p:nvPr/>
        </p:nvSpPr>
        <p:spPr>
          <a:xfrm>
            <a:off x="2299716" y="3374136"/>
            <a:ext cx="219456" cy="219456"/>
          </a:xfrm>
          <a:prstGeom prst="ellipse">
            <a:avLst/>
          </a:prstGeom>
          <a:solidFill>
            <a:srgbClr val="E7E6E6"/>
          </a:solidFill>
          <a:ln/>
        </p:spPr>
      </p:sp>
      <p:sp>
        <p:nvSpPr>
          <p:cNvPr id="58" name="Shape 55"/>
          <p:cNvSpPr/>
          <p:nvPr/>
        </p:nvSpPr>
        <p:spPr>
          <a:xfrm>
            <a:off x="2628900" y="3374136"/>
            <a:ext cx="219456" cy="219456"/>
          </a:xfrm>
          <a:prstGeom prst="ellipse">
            <a:avLst/>
          </a:prstGeom>
          <a:solidFill>
            <a:srgbClr val="E7E6E6"/>
          </a:solidFill>
          <a:ln/>
        </p:spPr>
      </p:sp>
      <p:sp>
        <p:nvSpPr>
          <p:cNvPr id="59" name="Shape 56"/>
          <p:cNvSpPr/>
          <p:nvPr/>
        </p:nvSpPr>
        <p:spPr>
          <a:xfrm>
            <a:off x="2958084" y="3374136"/>
            <a:ext cx="219456" cy="219456"/>
          </a:xfrm>
          <a:prstGeom prst="ellipse">
            <a:avLst/>
          </a:prstGeom>
          <a:solidFill>
            <a:srgbClr val="E7E6E6"/>
          </a:solidFill>
          <a:ln/>
        </p:spPr>
      </p:sp>
      <p:sp>
        <p:nvSpPr>
          <p:cNvPr id="60" name="Shape 57"/>
          <p:cNvSpPr/>
          <p:nvPr/>
        </p:nvSpPr>
        <p:spPr>
          <a:xfrm>
            <a:off x="3287268" y="3374136"/>
            <a:ext cx="219456" cy="219456"/>
          </a:xfrm>
          <a:prstGeom prst="ellipse">
            <a:avLst/>
          </a:prstGeom>
          <a:solidFill>
            <a:srgbClr val="E7E6E6"/>
          </a:solidFill>
          <a:ln/>
        </p:spPr>
      </p:sp>
      <p:sp>
        <p:nvSpPr>
          <p:cNvPr id="61" name="Shape 58"/>
          <p:cNvSpPr/>
          <p:nvPr/>
        </p:nvSpPr>
        <p:spPr>
          <a:xfrm>
            <a:off x="3616452" y="3374136"/>
            <a:ext cx="219456" cy="219456"/>
          </a:xfrm>
          <a:prstGeom prst="ellipse">
            <a:avLst/>
          </a:prstGeom>
          <a:solidFill>
            <a:srgbClr val="E7E6E6"/>
          </a:solidFill>
          <a:ln/>
        </p:spPr>
      </p:sp>
      <p:sp>
        <p:nvSpPr>
          <p:cNvPr id="62" name="Shape 59"/>
          <p:cNvSpPr/>
          <p:nvPr/>
        </p:nvSpPr>
        <p:spPr>
          <a:xfrm>
            <a:off x="653796" y="3703320"/>
            <a:ext cx="219456" cy="219456"/>
          </a:xfrm>
          <a:prstGeom prst="ellipse">
            <a:avLst/>
          </a:prstGeom>
          <a:solidFill>
            <a:srgbClr val="E7E6E6"/>
          </a:solidFill>
          <a:ln/>
        </p:spPr>
      </p:sp>
      <p:sp>
        <p:nvSpPr>
          <p:cNvPr id="63" name="Shape 60"/>
          <p:cNvSpPr/>
          <p:nvPr/>
        </p:nvSpPr>
        <p:spPr>
          <a:xfrm>
            <a:off x="982980" y="3703320"/>
            <a:ext cx="219456" cy="219456"/>
          </a:xfrm>
          <a:prstGeom prst="ellipse">
            <a:avLst/>
          </a:prstGeom>
          <a:solidFill>
            <a:srgbClr val="E7E6E6"/>
          </a:solidFill>
          <a:ln/>
        </p:spPr>
      </p:sp>
      <p:sp>
        <p:nvSpPr>
          <p:cNvPr id="64" name="Shape 61"/>
          <p:cNvSpPr/>
          <p:nvPr/>
        </p:nvSpPr>
        <p:spPr>
          <a:xfrm>
            <a:off x="1312164" y="3703320"/>
            <a:ext cx="219456" cy="219456"/>
          </a:xfrm>
          <a:prstGeom prst="ellipse">
            <a:avLst/>
          </a:prstGeom>
          <a:solidFill>
            <a:srgbClr val="E7E6E6"/>
          </a:solidFill>
          <a:ln/>
        </p:spPr>
      </p:sp>
      <p:sp>
        <p:nvSpPr>
          <p:cNvPr id="65" name="Shape 62"/>
          <p:cNvSpPr/>
          <p:nvPr/>
        </p:nvSpPr>
        <p:spPr>
          <a:xfrm>
            <a:off x="1641348" y="3703320"/>
            <a:ext cx="219456" cy="219456"/>
          </a:xfrm>
          <a:prstGeom prst="ellipse">
            <a:avLst/>
          </a:prstGeom>
          <a:solidFill>
            <a:srgbClr val="E7E6E6"/>
          </a:solidFill>
          <a:ln/>
        </p:spPr>
      </p:sp>
      <p:sp>
        <p:nvSpPr>
          <p:cNvPr id="66" name="Shape 63"/>
          <p:cNvSpPr/>
          <p:nvPr/>
        </p:nvSpPr>
        <p:spPr>
          <a:xfrm>
            <a:off x="1970532" y="3703320"/>
            <a:ext cx="219456" cy="219456"/>
          </a:xfrm>
          <a:prstGeom prst="ellipse">
            <a:avLst/>
          </a:prstGeom>
          <a:solidFill>
            <a:srgbClr val="E7E6E6"/>
          </a:solidFill>
          <a:ln/>
        </p:spPr>
      </p:sp>
      <p:sp>
        <p:nvSpPr>
          <p:cNvPr id="67" name="Shape 64"/>
          <p:cNvSpPr/>
          <p:nvPr/>
        </p:nvSpPr>
        <p:spPr>
          <a:xfrm>
            <a:off x="2299716" y="3703320"/>
            <a:ext cx="219456" cy="219456"/>
          </a:xfrm>
          <a:prstGeom prst="ellipse">
            <a:avLst/>
          </a:prstGeom>
          <a:solidFill>
            <a:srgbClr val="E7E6E6"/>
          </a:solidFill>
          <a:ln/>
        </p:spPr>
      </p:sp>
      <p:sp>
        <p:nvSpPr>
          <p:cNvPr id="68" name="Shape 65"/>
          <p:cNvSpPr/>
          <p:nvPr/>
        </p:nvSpPr>
        <p:spPr>
          <a:xfrm>
            <a:off x="2628900" y="3703320"/>
            <a:ext cx="219456" cy="219456"/>
          </a:xfrm>
          <a:prstGeom prst="ellipse">
            <a:avLst/>
          </a:prstGeom>
          <a:solidFill>
            <a:srgbClr val="E7E6E6"/>
          </a:solidFill>
          <a:ln/>
        </p:spPr>
      </p:sp>
      <p:sp>
        <p:nvSpPr>
          <p:cNvPr id="69" name="Shape 66"/>
          <p:cNvSpPr/>
          <p:nvPr/>
        </p:nvSpPr>
        <p:spPr>
          <a:xfrm>
            <a:off x="2958084" y="3703320"/>
            <a:ext cx="219456" cy="219456"/>
          </a:xfrm>
          <a:prstGeom prst="ellipse">
            <a:avLst/>
          </a:prstGeom>
          <a:solidFill>
            <a:srgbClr val="E7E6E6"/>
          </a:solidFill>
          <a:ln/>
        </p:spPr>
      </p:sp>
      <p:sp>
        <p:nvSpPr>
          <p:cNvPr id="70" name="Shape 67"/>
          <p:cNvSpPr/>
          <p:nvPr/>
        </p:nvSpPr>
        <p:spPr>
          <a:xfrm>
            <a:off x="3287268" y="3703320"/>
            <a:ext cx="219456" cy="219456"/>
          </a:xfrm>
          <a:prstGeom prst="ellipse">
            <a:avLst/>
          </a:prstGeom>
          <a:solidFill>
            <a:srgbClr val="E7E6E6"/>
          </a:solidFill>
          <a:ln/>
        </p:spPr>
      </p:sp>
      <p:sp>
        <p:nvSpPr>
          <p:cNvPr id="71" name="Shape 68"/>
          <p:cNvSpPr/>
          <p:nvPr/>
        </p:nvSpPr>
        <p:spPr>
          <a:xfrm>
            <a:off x="3616452" y="3703320"/>
            <a:ext cx="219456" cy="219456"/>
          </a:xfrm>
          <a:prstGeom prst="ellipse">
            <a:avLst/>
          </a:prstGeom>
          <a:solidFill>
            <a:srgbClr val="E7E6E6"/>
          </a:solidFill>
          <a:ln/>
        </p:spPr>
      </p:sp>
      <p:sp>
        <p:nvSpPr>
          <p:cNvPr id="72" name="Shape 69"/>
          <p:cNvSpPr/>
          <p:nvPr/>
        </p:nvSpPr>
        <p:spPr>
          <a:xfrm>
            <a:off x="653796" y="4032504"/>
            <a:ext cx="219456" cy="219456"/>
          </a:xfrm>
          <a:prstGeom prst="ellipse">
            <a:avLst/>
          </a:prstGeom>
          <a:solidFill>
            <a:srgbClr val="E7E6E6"/>
          </a:solidFill>
          <a:ln/>
        </p:spPr>
      </p:sp>
      <p:sp>
        <p:nvSpPr>
          <p:cNvPr id="73" name="Shape 70"/>
          <p:cNvSpPr/>
          <p:nvPr/>
        </p:nvSpPr>
        <p:spPr>
          <a:xfrm>
            <a:off x="982980" y="4032504"/>
            <a:ext cx="219456" cy="219456"/>
          </a:xfrm>
          <a:prstGeom prst="ellipse">
            <a:avLst/>
          </a:prstGeom>
          <a:solidFill>
            <a:srgbClr val="E7E6E6"/>
          </a:solidFill>
          <a:ln/>
        </p:spPr>
      </p:sp>
      <p:sp>
        <p:nvSpPr>
          <p:cNvPr id="74" name="Shape 71"/>
          <p:cNvSpPr/>
          <p:nvPr/>
        </p:nvSpPr>
        <p:spPr>
          <a:xfrm>
            <a:off x="1312164" y="4032504"/>
            <a:ext cx="219456" cy="219456"/>
          </a:xfrm>
          <a:prstGeom prst="ellipse">
            <a:avLst/>
          </a:prstGeom>
          <a:solidFill>
            <a:srgbClr val="E7E6E6"/>
          </a:solidFill>
          <a:ln/>
        </p:spPr>
      </p:sp>
      <p:sp>
        <p:nvSpPr>
          <p:cNvPr id="75" name="Shape 72"/>
          <p:cNvSpPr/>
          <p:nvPr/>
        </p:nvSpPr>
        <p:spPr>
          <a:xfrm>
            <a:off x="1641348" y="4032504"/>
            <a:ext cx="219456" cy="219456"/>
          </a:xfrm>
          <a:prstGeom prst="ellipse">
            <a:avLst/>
          </a:prstGeom>
          <a:solidFill>
            <a:srgbClr val="E7E6E6"/>
          </a:solidFill>
          <a:ln/>
        </p:spPr>
      </p:sp>
      <p:sp>
        <p:nvSpPr>
          <p:cNvPr id="76" name="Shape 73"/>
          <p:cNvSpPr/>
          <p:nvPr/>
        </p:nvSpPr>
        <p:spPr>
          <a:xfrm>
            <a:off x="1970532" y="4032504"/>
            <a:ext cx="219456" cy="219456"/>
          </a:xfrm>
          <a:prstGeom prst="ellipse">
            <a:avLst/>
          </a:prstGeom>
          <a:solidFill>
            <a:srgbClr val="E7E6E6"/>
          </a:solidFill>
          <a:ln/>
        </p:spPr>
      </p:sp>
      <p:sp>
        <p:nvSpPr>
          <p:cNvPr id="77" name="Shape 74"/>
          <p:cNvSpPr/>
          <p:nvPr/>
        </p:nvSpPr>
        <p:spPr>
          <a:xfrm>
            <a:off x="2299716" y="4032504"/>
            <a:ext cx="219456" cy="219456"/>
          </a:xfrm>
          <a:prstGeom prst="ellipse">
            <a:avLst/>
          </a:prstGeom>
          <a:solidFill>
            <a:srgbClr val="E7E6E6"/>
          </a:solidFill>
          <a:ln/>
        </p:spPr>
      </p:sp>
      <p:sp>
        <p:nvSpPr>
          <p:cNvPr id="78" name="Shape 75"/>
          <p:cNvSpPr/>
          <p:nvPr/>
        </p:nvSpPr>
        <p:spPr>
          <a:xfrm>
            <a:off x="2628900" y="4032504"/>
            <a:ext cx="219456" cy="219456"/>
          </a:xfrm>
          <a:prstGeom prst="ellipse">
            <a:avLst/>
          </a:prstGeom>
          <a:solidFill>
            <a:srgbClr val="E7E6E6"/>
          </a:solidFill>
          <a:ln/>
        </p:spPr>
      </p:sp>
      <p:sp>
        <p:nvSpPr>
          <p:cNvPr id="79" name="Shape 76"/>
          <p:cNvSpPr/>
          <p:nvPr/>
        </p:nvSpPr>
        <p:spPr>
          <a:xfrm>
            <a:off x="2958084" y="4032504"/>
            <a:ext cx="219456" cy="219456"/>
          </a:xfrm>
          <a:prstGeom prst="ellipse">
            <a:avLst/>
          </a:prstGeom>
          <a:solidFill>
            <a:srgbClr val="E7E6E6"/>
          </a:solidFill>
          <a:ln/>
        </p:spPr>
      </p:sp>
      <p:sp>
        <p:nvSpPr>
          <p:cNvPr id="80" name="Shape 77"/>
          <p:cNvSpPr/>
          <p:nvPr/>
        </p:nvSpPr>
        <p:spPr>
          <a:xfrm>
            <a:off x="3287268" y="4032504"/>
            <a:ext cx="219456" cy="219456"/>
          </a:xfrm>
          <a:prstGeom prst="ellipse">
            <a:avLst/>
          </a:prstGeom>
          <a:solidFill>
            <a:srgbClr val="E7E6E6"/>
          </a:solidFill>
          <a:ln/>
        </p:spPr>
      </p:sp>
      <p:sp>
        <p:nvSpPr>
          <p:cNvPr id="81" name="Shape 78"/>
          <p:cNvSpPr/>
          <p:nvPr/>
        </p:nvSpPr>
        <p:spPr>
          <a:xfrm>
            <a:off x="3616452" y="4032504"/>
            <a:ext cx="219456" cy="219456"/>
          </a:xfrm>
          <a:prstGeom prst="ellipse">
            <a:avLst/>
          </a:prstGeom>
          <a:solidFill>
            <a:srgbClr val="E7E6E6"/>
          </a:solidFill>
          <a:ln/>
        </p:spPr>
      </p:sp>
      <p:sp>
        <p:nvSpPr>
          <p:cNvPr id="82" name="Shape 79"/>
          <p:cNvSpPr/>
          <p:nvPr/>
        </p:nvSpPr>
        <p:spPr>
          <a:xfrm>
            <a:off x="653796" y="4361688"/>
            <a:ext cx="219456" cy="219456"/>
          </a:xfrm>
          <a:prstGeom prst="ellipse">
            <a:avLst/>
          </a:prstGeom>
          <a:solidFill>
            <a:srgbClr val="E7E6E6"/>
          </a:solidFill>
          <a:ln/>
        </p:spPr>
      </p:sp>
      <p:sp>
        <p:nvSpPr>
          <p:cNvPr id="83" name="Shape 80"/>
          <p:cNvSpPr/>
          <p:nvPr/>
        </p:nvSpPr>
        <p:spPr>
          <a:xfrm>
            <a:off x="982980" y="4361688"/>
            <a:ext cx="219456" cy="219456"/>
          </a:xfrm>
          <a:prstGeom prst="ellipse">
            <a:avLst/>
          </a:prstGeom>
          <a:solidFill>
            <a:srgbClr val="E7E6E6"/>
          </a:solidFill>
          <a:ln/>
        </p:spPr>
      </p:sp>
      <p:sp>
        <p:nvSpPr>
          <p:cNvPr id="84" name="Shape 81"/>
          <p:cNvSpPr/>
          <p:nvPr/>
        </p:nvSpPr>
        <p:spPr>
          <a:xfrm>
            <a:off x="1312164" y="4361688"/>
            <a:ext cx="219456" cy="219456"/>
          </a:xfrm>
          <a:prstGeom prst="ellipse">
            <a:avLst/>
          </a:prstGeom>
          <a:solidFill>
            <a:srgbClr val="E7E6E6"/>
          </a:solidFill>
          <a:ln/>
        </p:spPr>
      </p:sp>
      <p:sp>
        <p:nvSpPr>
          <p:cNvPr id="85" name="Shape 82"/>
          <p:cNvSpPr/>
          <p:nvPr/>
        </p:nvSpPr>
        <p:spPr>
          <a:xfrm>
            <a:off x="1641348" y="4361688"/>
            <a:ext cx="219456" cy="219456"/>
          </a:xfrm>
          <a:prstGeom prst="ellipse">
            <a:avLst/>
          </a:prstGeom>
          <a:solidFill>
            <a:srgbClr val="E7E6E6"/>
          </a:solidFill>
          <a:ln/>
        </p:spPr>
      </p:sp>
      <p:sp>
        <p:nvSpPr>
          <p:cNvPr id="86" name="Shape 83"/>
          <p:cNvSpPr/>
          <p:nvPr/>
        </p:nvSpPr>
        <p:spPr>
          <a:xfrm>
            <a:off x="1970532" y="4361688"/>
            <a:ext cx="219456" cy="219456"/>
          </a:xfrm>
          <a:prstGeom prst="ellipse">
            <a:avLst/>
          </a:prstGeom>
          <a:solidFill>
            <a:srgbClr val="E7E6E6"/>
          </a:solidFill>
          <a:ln/>
        </p:spPr>
      </p:sp>
      <p:sp>
        <p:nvSpPr>
          <p:cNvPr id="87" name="Shape 84"/>
          <p:cNvSpPr/>
          <p:nvPr/>
        </p:nvSpPr>
        <p:spPr>
          <a:xfrm>
            <a:off x="2299716" y="4361688"/>
            <a:ext cx="219456" cy="219456"/>
          </a:xfrm>
          <a:prstGeom prst="ellipse">
            <a:avLst/>
          </a:prstGeom>
          <a:solidFill>
            <a:srgbClr val="E7E6E6"/>
          </a:solidFill>
          <a:ln/>
        </p:spPr>
      </p:sp>
      <p:sp>
        <p:nvSpPr>
          <p:cNvPr id="88" name="Shape 85"/>
          <p:cNvSpPr/>
          <p:nvPr/>
        </p:nvSpPr>
        <p:spPr>
          <a:xfrm>
            <a:off x="2628900" y="4361688"/>
            <a:ext cx="219456" cy="219456"/>
          </a:xfrm>
          <a:prstGeom prst="ellipse">
            <a:avLst/>
          </a:prstGeom>
          <a:solidFill>
            <a:srgbClr val="E7E6E6"/>
          </a:solidFill>
          <a:ln/>
        </p:spPr>
      </p:sp>
      <p:sp>
        <p:nvSpPr>
          <p:cNvPr id="89" name="Shape 86"/>
          <p:cNvSpPr/>
          <p:nvPr/>
        </p:nvSpPr>
        <p:spPr>
          <a:xfrm>
            <a:off x="2958084" y="4361688"/>
            <a:ext cx="219456" cy="219456"/>
          </a:xfrm>
          <a:prstGeom prst="ellipse">
            <a:avLst/>
          </a:prstGeom>
          <a:solidFill>
            <a:srgbClr val="E7E6E6"/>
          </a:solidFill>
          <a:ln/>
        </p:spPr>
      </p:sp>
      <p:sp>
        <p:nvSpPr>
          <p:cNvPr id="90" name="Shape 87"/>
          <p:cNvSpPr/>
          <p:nvPr/>
        </p:nvSpPr>
        <p:spPr>
          <a:xfrm>
            <a:off x="3287268" y="4361688"/>
            <a:ext cx="219456" cy="219456"/>
          </a:xfrm>
          <a:prstGeom prst="ellipse">
            <a:avLst/>
          </a:prstGeom>
          <a:solidFill>
            <a:srgbClr val="E7E6E6"/>
          </a:solidFill>
          <a:ln/>
        </p:spPr>
      </p:sp>
      <p:sp>
        <p:nvSpPr>
          <p:cNvPr id="91" name="Shape 88"/>
          <p:cNvSpPr/>
          <p:nvPr/>
        </p:nvSpPr>
        <p:spPr>
          <a:xfrm>
            <a:off x="3616452" y="4361688"/>
            <a:ext cx="219456" cy="219456"/>
          </a:xfrm>
          <a:prstGeom prst="ellipse">
            <a:avLst/>
          </a:prstGeom>
          <a:solidFill>
            <a:srgbClr val="E7E6E6"/>
          </a:solidFill>
          <a:ln/>
        </p:spPr>
      </p:sp>
      <p:sp>
        <p:nvSpPr>
          <p:cNvPr id="92" name="Shape 89"/>
          <p:cNvSpPr/>
          <p:nvPr/>
        </p:nvSpPr>
        <p:spPr>
          <a:xfrm>
            <a:off x="653796" y="4690872"/>
            <a:ext cx="219456" cy="219456"/>
          </a:xfrm>
          <a:prstGeom prst="ellipse">
            <a:avLst/>
          </a:prstGeom>
          <a:solidFill>
            <a:srgbClr val="E7E6E6"/>
          </a:solidFill>
          <a:ln/>
        </p:spPr>
      </p:sp>
      <p:sp>
        <p:nvSpPr>
          <p:cNvPr id="93" name="Shape 90"/>
          <p:cNvSpPr/>
          <p:nvPr/>
        </p:nvSpPr>
        <p:spPr>
          <a:xfrm>
            <a:off x="982980" y="4690872"/>
            <a:ext cx="219456" cy="219456"/>
          </a:xfrm>
          <a:prstGeom prst="ellipse">
            <a:avLst/>
          </a:prstGeom>
          <a:solidFill>
            <a:srgbClr val="E7E6E6"/>
          </a:solidFill>
          <a:ln/>
        </p:spPr>
      </p:sp>
      <p:sp>
        <p:nvSpPr>
          <p:cNvPr id="94" name="Shape 91"/>
          <p:cNvSpPr/>
          <p:nvPr/>
        </p:nvSpPr>
        <p:spPr>
          <a:xfrm>
            <a:off x="1312164" y="4690872"/>
            <a:ext cx="219456" cy="219456"/>
          </a:xfrm>
          <a:prstGeom prst="ellipse">
            <a:avLst/>
          </a:prstGeom>
          <a:solidFill>
            <a:srgbClr val="E7E6E6"/>
          </a:solidFill>
          <a:ln/>
        </p:spPr>
      </p:sp>
      <p:sp>
        <p:nvSpPr>
          <p:cNvPr id="95" name="Shape 92"/>
          <p:cNvSpPr/>
          <p:nvPr/>
        </p:nvSpPr>
        <p:spPr>
          <a:xfrm>
            <a:off x="1641348" y="4690872"/>
            <a:ext cx="219456" cy="219456"/>
          </a:xfrm>
          <a:prstGeom prst="ellipse">
            <a:avLst/>
          </a:prstGeom>
          <a:solidFill>
            <a:srgbClr val="E7E6E6"/>
          </a:solidFill>
          <a:ln/>
        </p:spPr>
      </p:sp>
      <p:sp>
        <p:nvSpPr>
          <p:cNvPr id="96" name="Shape 93"/>
          <p:cNvSpPr/>
          <p:nvPr/>
        </p:nvSpPr>
        <p:spPr>
          <a:xfrm>
            <a:off x="1970532" y="4690872"/>
            <a:ext cx="219456" cy="219456"/>
          </a:xfrm>
          <a:prstGeom prst="ellipse">
            <a:avLst/>
          </a:prstGeom>
          <a:solidFill>
            <a:srgbClr val="E7E6E6"/>
          </a:solidFill>
          <a:ln/>
        </p:spPr>
      </p:sp>
      <p:sp>
        <p:nvSpPr>
          <p:cNvPr id="97" name="Shape 94"/>
          <p:cNvSpPr/>
          <p:nvPr/>
        </p:nvSpPr>
        <p:spPr>
          <a:xfrm>
            <a:off x="2299716" y="4690872"/>
            <a:ext cx="219456" cy="219456"/>
          </a:xfrm>
          <a:prstGeom prst="ellipse">
            <a:avLst/>
          </a:prstGeom>
          <a:solidFill>
            <a:srgbClr val="E7E6E6"/>
          </a:solidFill>
          <a:ln/>
        </p:spPr>
      </p:sp>
      <p:sp>
        <p:nvSpPr>
          <p:cNvPr id="98" name="Shape 95"/>
          <p:cNvSpPr/>
          <p:nvPr/>
        </p:nvSpPr>
        <p:spPr>
          <a:xfrm>
            <a:off x="2628900" y="4690872"/>
            <a:ext cx="219456" cy="219456"/>
          </a:xfrm>
          <a:prstGeom prst="ellipse">
            <a:avLst/>
          </a:prstGeom>
          <a:solidFill>
            <a:srgbClr val="E7E6E6"/>
          </a:solidFill>
          <a:ln/>
        </p:spPr>
      </p:sp>
      <p:sp>
        <p:nvSpPr>
          <p:cNvPr id="99" name="Shape 96"/>
          <p:cNvSpPr/>
          <p:nvPr/>
        </p:nvSpPr>
        <p:spPr>
          <a:xfrm>
            <a:off x="2958084" y="4690872"/>
            <a:ext cx="219456" cy="219456"/>
          </a:xfrm>
          <a:prstGeom prst="ellipse">
            <a:avLst/>
          </a:prstGeom>
          <a:solidFill>
            <a:srgbClr val="E7E6E6"/>
          </a:solidFill>
          <a:ln/>
        </p:spPr>
      </p:sp>
      <p:sp>
        <p:nvSpPr>
          <p:cNvPr id="100" name="Shape 97"/>
          <p:cNvSpPr/>
          <p:nvPr/>
        </p:nvSpPr>
        <p:spPr>
          <a:xfrm>
            <a:off x="3287268" y="4690872"/>
            <a:ext cx="219456" cy="219456"/>
          </a:xfrm>
          <a:prstGeom prst="ellipse">
            <a:avLst/>
          </a:prstGeom>
          <a:solidFill>
            <a:srgbClr val="E7E6E6"/>
          </a:solidFill>
          <a:ln/>
        </p:spPr>
      </p:sp>
      <p:sp>
        <p:nvSpPr>
          <p:cNvPr id="101" name="Shape 98"/>
          <p:cNvSpPr/>
          <p:nvPr/>
        </p:nvSpPr>
        <p:spPr>
          <a:xfrm>
            <a:off x="3616452" y="4690872"/>
            <a:ext cx="219456" cy="219456"/>
          </a:xfrm>
          <a:prstGeom prst="ellipse">
            <a:avLst/>
          </a:prstGeom>
          <a:solidFill>
            <a:srgbClr val="E7E6E6"/>
          </a:solidFill>
          <a:ln/>
        </p:spPr>
      </p:sp>
      <p:sp>
        <p:nvSpPr>
          <p:cNvPr id="102" name="Shape 99"/>
          <p:cNvSpPr/>
          <p:nvPr/>
        </p:nvSpPr>
        <p:spPr>
          <a:xfrm>
            <a:off x="653796" y="5020056"/>
            <a:ext cx="219456" cy="219456"/>
          </a:xfrm>
          <a:prstGeom prst="ellipse">
            <a:avLst/>
          </a:prstGeom>
          <a:solidFill>
            <a:srgbClr val="E7E6E6"/>
          </a:solidFill>
          <a:ln/>
        </p:spPr>
      </p:sp>
      <p:sp>
        <p:nvSpPr>
          <p:cNvPr id="103" name="Shape 100"/>
          <p:cNvSpPr/>
          <p:nvPr/>
        </p:nvSpPr>
        <p:spPr>
          <a:xfrm>
            <a:off x="982980" y="5020056"/>
            <a:ext cx="219456" cy="219456"/>
          </a:xfrm>
          <a:prstGeom prst="ellipse">
            <a:avLst/>
          </a:prstGeom>
          <a:solidFill>
            <a:srgbClr val="E7E6E6"/>
          </a:solidFill>
          <a:ln/>
        </p:spPr>
      </p:sp>
      <p:sp>
        <p:nvSpPr>
          <p:cNvPr id="104" name="Shape 101"/>
          <p:cNvSpPr/>
          <p:nvPr/>
        </p:nvSpPr>
        <p:spPr>
          <a:xfrm>
            <a:off x="1312164" y="5020056"/>
            <a:ext cx="219456" cy="219456"/>
          </a:xfrm>
          <a:prstGeom prst="ellipse">
            <a:avLst/>
          </a:prstGeom>
          <a:solidFill>
            <a:srgbClr val="E7E6E6"/>
          </a:solidFill>
          <a:ln/>
        </p:spPr>
      </p:sp>
      <p:sp>
        <p:nvSpPr>
          <p:cNvPr id="105" name="Shape 102"/>
          <p:cNvSpPr/>
          <p:nvPr/>
        </p:nvSpPr>
        <p:spPr>
          <a:xfrm>
            <a:off x="1641348" y="5020056"/>
            <a:ext cx="219456" cy="219456"/>
          </a:xfrm>
          <a:prstGeom prst="ellipse">
            <a:avLst/>
          </a:prstGeom>
          <a:solidFill>
            <a:srgbClr val="E7E6E6"/>
          </a:solidFill>
          <a:ln/>
        </p:spPr>
      </p:sp>
      <p:sp>
        <p:nvSpPr>
          <p:cNvPr id="106" name="Shape 103"/>
          <p:cNvSpPr/>
          <p:nvPr/>
        </p:nvSpPr>
        <p:spPr>
          <a:xfrm>
            <a:off x="1970532" y="5020056"/>
            <a:ext cx="219456" cy="219456"/>
          </a:xfrm>
          <a:prstGeom prst="ellipse">
            <a:avLst/>
          </a:prstGeom>
          <a:solidFill>
            <a:srgbClr val="E7E6E6"/>
          </a:solidFill>
          <a:ln/>
        </p:spPr>
      </p:sp>
      <p:sp>
        <p:nvSpPr>
          <p:cNvPr id="107" name="Shape 104"/>
          <p:cNvSpPr/>
          <p:nvPr/>
        </p:nvSpPr>
        <p:spPr>
          <a:xfrm>
            <a:off x="2299716" y="5020056"/>
            <a:ext cx="219456" cy="219456"/>
          </a:xfrm>
          <a:prstGeom prst="ellipse">
            <a:avLst/>
          </a:prstGeom>
          <a:solidFill>
            <a:srgbClr val="E7E6E6"/>
          </a:solidFill>
          <a:ln/>
        </p:spPr>
      </p:sp>
      <p:sp>
        <p:nvSpPr>
          <p:cNvPr id="108" name="Shape 105"/>
          <p:cNvSpPr/>
          <p:nvPr/>
        </p:nvSpPr>
        <p:spPr>
          <a:xfrm>
            <a:off x="2628900" y="5020056"/>
            <a:ext cx="219456" cy="219456"/>
          </a:xfrm>
          <a:prstGeom prst="ellipse">
            <a:avLst/>
          </a:prstGeom>
          <a:solidFill>
            <a:srgbClr val="E7E6E6"/>
          </a:solidFill>
          <a:ln/>
        </p:spPr>
      </p:sp>
      <p:sp>
        <p:nvSpPr>
          <p:cNvPr id="109" name="Shape 106"/>
          <p:cNvSpPr/>
          <p:nvPr/>
        </p:nvSpPr>
        <p:spPr>
          <a:xfrm>
            <a:off x="2958084" y="5020056"/>
            <a:ext cx="219456" cy="219456"/>
          </a:xfrm>
          <a:prstGeom prst="ellipse">
            <a:avLst/>
          </a:prstGeom>
          <a:solidFill>
            <a:srgbClr val="E7E6E6"/>
          </a:solidFill>
          <a:ln/>
        </p:spPr>
      </p:sp>
      <p:sp>
        <p:nvSpPr>
          <p:cNvPr id="110" name="Shape 107"/>
          <p:cNvSpPr/>
          <p:nvPr/>
        </p:nvSpPr>
        <p:spPr>
          <a:xfrm>
            <a:off x="3287268" y="5020056"/>
            <a:ext cx="219456" cy="219456"/>
          </a:xfrm>
          <a:prstGeom prst="ellipse">
            <a:avLst/>
          </a:prstGeom>
          <a:solidFill>
            <a:srgbClr val="E7E6E6"/>
          </a:solidFill>
          <a:ln/>
        </p:spPr>
      </p:sp>
      <p:sp>
        <p:nvSpPr>
          <p:cNvPr id="111" name="Shape 108"/>
          <p:cNvSpPr/>
          <p:nvPr/>
        </p:nvSpPr>
        <p:spPr>
          <a:xfrm>
            <a:off x="3616452" y="5020056"/>
            <a:ext cx="219456" cy="219456"/>
          </a:xfrm>
          <a:prstGeom prst="ellipse">
            <a:avLst/>
          </a:prstGeom>
          <a:solidFill>
            <a:srgbClr val="E7E6E6"/>
          </a:solidFill>
          <a:ln/>
        </p:spPr>
      </p:sp>
      <p:sp>
        <p:nvSpPr>
          <p:cNvPr id="112" name="Text 109"/>
          <p:cNvSpPr txBox="1"/>
          <p:nvPr/>
        </p:nvSpPr>
        <p:spPr>
          <a:xfrm>
            <a:off x="4494276" y="2103120"/>
            <a:ext cx="3200400" cy="914400"/>
          </a:xfrm>
          <a:prstGeom prst="rect">
            <a:avLst/>
          </a:prstGeom>
          <a:noFill/>
          <a:ln/>
        </p:spPr>
        <p:txBody>
          <a:bodyPr wrap="square" lIns="0" tIns="0" rIns="0" bIns="0" rtlCol="0" anchor="t"/>
          <a:lstStyle/>
          <a:p>
            <a:pPr indent="0" marL="0">
              <a:buNone/>
            </a:pPr>
            <a:r>
              <a:rPr lang="en-US" sz="4400" b="1" dirty="0">
                <a:solidFill>
                  <a:srgbClr val="000F78"/>
                </a:solidFill>
                <a:latin typeface="Arial" pitchFamily="34" charset="0"/>
                <a:ea typeface="Arial" pitchFamily="34" charset="-122"/>
                <a:cs typeface="Arial" pitchFamily="34" charset="-120"/>
              </a:rPr>
              <a:t>30%</a:t>
            </a:r>
            <a:endParaRPr lang="en-US" sz="4400" dirty="0"/>
          </a:p>
        </p:txBody>
      </p:sp>
      <p:sp>
        <p:nvSpPr>
          <p:cNvPr id="113" name="Text 110"/>
          <p:cNvSpPr txBox="1"/>
          <p:nvPr/>
        </p:nvSpPr>
        <p:spPr>
          <a:xfrm>
            <a:off x="4494276" y="3017520"/>
            <a:ext cx="3840480"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代わりの手段がない</a:t>
            </a:r>
            <a:endParaRPr lang="en-US" sz="1400" dirty="0"/>
          </a:p>
        </p:txBody>
      </p:sp>
      <p:sp>
        <p:nvSpPr>
          <p:cNvPr id="114" name="Shape 111"/>
          <p:cNvSpPr/>
          <p:nvPr/>
        </p:nvSpPr>
        <p:spPr>
          <a:xfrm>
            <a:off x="4494276" y="3520440"/>
            <a:ext cx="5123383" cy="0"/>
          </a:xfrm>
          <a:prstGeom prst="line">
            <a:avLst/>
          </a:prstGeom>
          <a:noFill/>
          <a:ln w="9525">
            <a:solidFill>
              <a:srgbClr val="E7E6E6"/>
            </a:solidFill>
            <a:prstDash val="solid"/>
          </a:ln>
        </p:spPr>
      </p:sp>
      <p:sp>
        <p:nvSpPr>
          <p:cNvPr id="115" name="Text 112"/>
          <p:cNvSpPr txBox="1"/>
          <p:nvPr/>
        </p:nvSpPr>
        <p:spPr>
          <a:xfrm>
            <a:off x="4494276" y="3657600"/>
            <a:ext cx="5123383" cy="7315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うち高校生　【数値】%</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うち70歳以上　【数値】%</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【市場】は【年度】までに約3倍の【数値B】に拡大し、拡大分の大半を【区分X】が占める見込みである。参入の好機は今後5年にある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【市場】の規模</a:t>
            </a:r>
            <a:pPr indent="0" marL="0">
              <a:buNone/>
            </a:pPr>
            <a:r>
              <a:rPr lang="en-US" sz="1100" dirty="0">
                <a:solidFill>
                  <a:srgbClr val="595959"/>
                </a:solidFill>
                <a:latin typeface="Yu Gothic UI" pitchFamily="34" charset="0"/>
                <a:ea typeface="Yu Gothic UI" pitchFamily="34" charset="-122"/>
                <a:cs typeface="Yu Gothic UI" pitchFamily="34" charset="-120"/>
              </a:rPr>
              <a:t>　（【単位】、【年度】と【年度】（予測））</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41</a:t>
            </a:r>
            <a:endParaRPr lang="en-US" sz="900" dirty="0"/>
          </a:p>
        </p:txBody>
      </p:sp>
      <p:sp>
        <p:nvSpPr>
          <p:cNvPr id="12" name="Shape 9"/>
          <p:cNvSpPr/>
          <p:nvPr/>
        </p:nvSpPr>
        <p:spPr>
          <a:xfrm>
            <a:off x="1751076" y="3566160"/>
            <a:ext cx="1554480" cy="1554480"/>
          </a:xfrm>
          <a:prstGeom prst="ellipse">
            <a:avLst/>
          </a:prstGeom>
          <a:solidFill>
            <a:srgbClr val="BFBFBF"/>
          </a:solidFill>
          <a:ln/>
        </p:spPr>
      </p:sp>
      <p:sp>
        <p:nvSpPr>
          <p:cNvPr id="13" name="Shape 10"/>
          <p:cNvSpPr/>
          <p:nvPr/>
        </p:nvSpPr>
        <p:spPr>
          <a:xfrm>
            <a:off x="4860036" y="2428202"/>
            <a:ext cx="2692438" cy="2692438"/>
          </a:xfrm>
          <a:prstGeom prst="ellipse">
            <a:avLst/>
          </a:prstGeom>
          <a:solidFill>
            <a:srgbClr val="000F78"/>
          </a:solidFill>
          <a:ln/>
        </p:spPr>
      </p:sp>
      <p:sp>
        <p:nvSpPr>
          <p:cNvPr id="14" name="Text 11"/>
          <p:cNvSpPr txBox="1"/>
          <p:nvPr/>
        </p:nvSpPr>
        <p:spPr>
          <a:xfrm>
            <a:off x="1202436" y="5212080"/>
            <a:ext cx="2651760" cy="59436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【年度】</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【数値A】</a:t>
            </a:r>
            <a:endParaRPr lang="en-US" sz="1400" dirty="0"/>
          </a:p>
        </p:txBody>
      </p:sp>
      <p:sp>
        <p:nvSpPr>
          <p:cNvPr id="15" name="Text 12"/>
          <p:cNvSpPr txBox="1"/>
          <p:nvPr/>
        </p:nvSpPr>
        <p:spPr>
          <a:xfrm>
            <a:off x="4585716" y="5212080"/>
            <a:ext cx="3241078" cy="594360"/>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【年度】（予測）</a:t>
            </a:r>
            <a:endParaRPr lang="en-US" sz="1400" dirty="0"/>
          </a:p>
          <a:p>
            <a:pPr algn="ctr" indent="0" marL="0">
              <a:buNone/>
            </a:pPr>
            <a:r>
              <a:rPr lang="en-US" sz="1400" b="1" dirty="0">
                <a:solidFill>
                  <a:srgbClr val="000F78"/>
                </a:solidFill>
                <a:latin typeface="Yu Gothic UI" pitchFamily="34" charset="0"/>
                <a:ea typeface="Yu Gothic UI" pitchFamily="34" charset="-122"/>
                <a:cs typeface="Yu Gothic UI" pitchFamily="34" charset="-120"/>
              </a:rPr>
              <a:t>【数値B】</a:t>
            </a:r>
            <a:endParaRPr lang="en-US" sz="1400" dirty="0"/>
          </a:p>
        </p:txBody>
      </p:sp>
      <p:sp>
        <p:nvSpPr>
          <p:cNvPr id="16" name="Shape 13"/>
          <p:cNvSpPr/>
          <p:nvPr/>
        </p:nvSpPr>
        <p:spPr>
          <a:xfrm>
            <a:off x="3488436" y="4343400"/>
            <a:ext cx="1188720" cy="0"/>
          </a:xfrm>
          <a:prstGeom prst="line">
            <a:avLst/>
          </a:prstGeom>
          <a:noFill/>
          <a:ln w="15875">
            <a:solidFill>
              <a:srgbClr val="7F7F7F"/>
            </a:solidFill>
            <a:prstDash val="solid"/>
            <a:tailEnd type="triangle"/>
          </a:ln>
        </p:spPr>
      </p:sp>
      <p:sp>
        <p:nvSpPr>
          <p:cNvPr id="17" name="Text 14"/>
          <p:cNvSpPr txBox="1"/>
          <p:nvPr/>
        </p:nvSpPr>
        <p:spPr>
          <a:xfrm>
            <a:off x="2939796" y="3931920"/>
            <a:ext cx="1280160" cy="320040"/>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約3倍</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【指標】は10年で【数値A】増えたが、増加分のほぼすべては【区分C】による。他の区分は横ばいで、成長は1区分に依存している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【指標】の区分別の推移</a:t>
            </a:r>
            <a:pPr indent="0" marL="0">
              <a:buNone/>
            </a:pPr>
            <a:r>
              <a:rPr lang="en-US" sz="1100" dirty="0">
                <a:solidFill>
                  <a:srgbClr val="595959"/>
                </a:solidFill>
                <a:latin typeface="Yu Gothic UI" pitchFamily="34" charset="0"/>
                <a:ea typeface="Yu Gothic UI" pitchFamily="34" charset="-122"/>
                <a:cs typeface="Yu Gothic UI" pitchFamily="34" charset="-120"/>
              </a:rPr>
              <a:t>　（【単位】、2015–2025年度）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42</a:t>
            </a:r>
            <a:endParaRPr lang="en-US" sz="900" dirty="0"/>
          </a:p>
        </p:txBody>
      </p:sp>
      <p:graphicFrame>
        <p:nvGraphicFramePr>
          <p:cNvPr id="12" name="Chart 0" descr=""/>
          <p:cNvGraphicFramePr/>
          <p:nvPr/>
        </p:nvGraphicFramePr>
        <p:xfrm>
          <a:off x="288036" y="1965960"/>
          <a:ext cx="7315200" cy="41148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740396" y="2514600"/>
            <a:ext cx="137160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区分C</a:t>
            </a:r>
            <a:endParaRPr lang="en-US" sz="1400" dirty="0"/>
          </a:p>
        </p:txBody>
      </p:sp>
      <p:sp>
        <p:nvSpPr>
          <p:cNvPr id="14" name="Text 10"/>
          <p:cNvSpPr txBox="1"/>
          <p:nvPr/>
        </p:nvSpPr>
        <p:spPr>
          <a:xfrm>
            <a:off x="7740396" y="3703320"/>
            <a:ext cx="137160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区分B</a:t>
            </a:r>
            <a:endParaRPr lang="en-US" sz="1400" dirty="0"/>
          </a:p>
        </p:txBody>
      </p:sp>
      <p:sp>
        <p:nvSpPr>
          <p:cNvPr id="15" name="Text 11"/>
          <p:cNvSpPr txBox="1"/>
          <p:nvPr/>
        </p:nvSpPr>
        <p:spPr>
          <a:xfrm>
            <a:off x="7740396" y="4800600"/>
            <a:ext cx="137160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区分A</a:t>
            </a:r>
            <a:endParaRPr lang="en-US" sz="1400" dirty="0"/>
          </a:p>
        </p:txBody>
      </p:sp>
      <p:sp>
        <p:nvSpPr>
          <p:cNvPr id="16" name="Text 12"/>
          <p:cNvSpPr txBox="1"/>
          <p:nvPr/>
        </p:nvSpPr>
        <p:spPr>
          <a:xfrm>
            <a:off x="7740396" y="2011680"/>
            <a:ext cx="192024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合計 80 → 120</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提言</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目指す姿は3つの柱と2つの土台で実現する。最も効果が大きいのは【柱1】であり、【土台1】が整わなければどの柱も機能しない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戦略の全体像</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43</a:t>
            </a:r>
            <a:endParaRPr lang="en-US" sz="900" dirty="0"/>
          </a:p>
        </p:txBody>
      </p:sp>
      <p:sp>
        <p:nvSpPr>
          <p:cNvPr id="12" name="Text 9"/>
          <p:cNvSpPr txBox="1"/>
          <p:nvPr/>
        </p:nvSpPr>
        <p:spPr>
          <a:xfrm>
            <a:off x="288036" y="1920240"/>
            <a:ext cx="9329623" cy="457200"/>
          </a:xfrm>
          <a:prstGeom prst="rect">
            <a:avLst/>
          </a:prstGeom>
          <a:noFill/>
          <a:ln/>
        </p:spPr>
        <p:txBody>
          <a:bodyPr wrap="square" lIns="0" tIns="0" rIns="0" bIns="0" rtlCol="0" anchor="t"/>
          <a:lstStyle/>
          <a:p>
            <a:pPr algn="ctr" indent="0" marL="0">
              <a:buNone/>
            </a:pPr>
            <a:r>
              <a:rPr lang="en-US" sz="1600" b="1" dirty="0">
                <a:solidFill>
                  <a:srgbClr val="000000"/>
                </a:solidFill>
                <a:latin typeface="Yu Gothic UI" pitchFamily="34" charset="0"/>
                <a:ea typeface="Yu Gothic UI" pitchFamily="34" charset="-122"/>
                <a:cs typeface="Yu Gothic UI" pitchFamily="34" charset="-120"/>
              </a:rPr>
              <a:t>目指す姿：【目指す姿を1文で】</a:t>
            </a:r>
            <a:endParaRPr lang="en-US" sz="1600" dirty="0"/>
          </a:p>
        </p:txBody>
      </p:sp>
      <p:sp>
        <p:nvSpPr>
          <p:cNvPr id="13" name="Shape 10"/>
          <p:cNvSpPr/>
          <p:nvPr/>
        </p:nvSpPr>
        <p:spPr>
          <a:xfrm>
            <a:off x="288036" y="2514600"/>
            <a:ext cx="9329623" cy="0"/>
          </a:xfrm>
          <a:prstGeom prst="line">
            <a:avLst/>
          </a:prstGeom>
          <a:noFill/>
          <a:ln w="15875">
            <a:solidFill>
              <a:srgbClr val="7F7F7F"/>
            </a:solidFill>
            <a:prstDash val="solid"/>
          </a:ln>
        </p:spPr>
      </p:sp>
      <p:sp>
        <p:nvSpPr>
          <p:cNvPr id="14" name="Shape 11"/>
          <p:cNvSpPr/>
          <p:nvPr/>
        </p:nvSpPr>
        <p:spPr>
          <a:xfrm>
            <a:off x="288036" y="2697480"/>
            <a:ext cx="0" cy="2103120"/>
          </a:xfrm>
          <a:prstGeom prst="line">
            <a:avLst/>
          </a:prstGeom>
          <a:noFill/>
          <a:ln w="25400">
            <a:solidFill>
              <a:srgbClr val="000F78"/>
            </a:solidFill>
            <a:prstDash val="solid"/>
          </a:ln>
        </p:spPr>
      </p:sp>
      <p:sp>
        <p:nvSpPr>
          <p:cNvPr id="15" name="Text 12"/>
          <p:cNvSpPr txBox="1"/>
          <p:nvPr/>
        </p:nvSpPr>
        <p:spPr>
          <a:xfrm>
            <a:off x="470916" y="2743200"/>
            <a:ext cx="2652674"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柱1</a:t>
            </a:r>
            <a:endParaRPr lang="en-US" sz="1400" dirty="0"/>
          </a:p>
        </p:txBody>
      </p:sp>
      <p:sp>
        <p:nvSpPr>
          <p:cNvPr id="16" name="Text 13"/>
          <p:cNvSpPr txBox="1"/>
          <p:nvPr/>
        </p:nvSpPr>
        <p:spPr>
          <a:xfrm>
            <a:off x="470916" y="3063240"/>
            <a:ext cx="2652674" cy="3657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【柱1の名前】</a:t>
            </a:r>
            <a:endParaRPr lang="en-US" sz="1400" dirty="0"/>
          </a:p>
        </p:txBody>
      </p:sp>
      <p:sp>
        <p:nvSpPr>
          <p:cNvPr id="17" name="Text 14"/>
          <p:cNvSpPr txBox="1"/>
          <p:nvPr/>
        </p:nvSpPr>
        <p:spPr>
          <a:xfrm>
            <a:off x="470916" y="3520440"/>
            <a:ext cx="2652674" cy="109728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・【施策】</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・【施策】</a:t>
            </a:r>
            <a:endParaRPr lang="en-US" sz="1400" dirty="0"/>
          </a:p>
        </p:txBody>
      </p:sp>
      <p:sp>
        <p:nvSpPr>
          <p:cNvPr id="18" name="Shape 15"/>
          <p:cNvSpPr/>
          <p:nvPr/>
        </p:nvSpPr>
        <p:spPr>
          <a:xfrm>
            <a:off x="3489350" y="2697480"/>
            <a:ext cx="0" cy="2103120"/>
          </a:xfrm>
          <a:prstGeom prst="line">
            <a:avLst/>
          </a:prstGeom>
          <a:noFill/>
          <a:ln w="12700">
            <a:solidFill>
              <a:srgbClr val="BFBFBF"/>
            </a:solidFill>
            <a:prstDash val="solid"/>
          </a:ln>
        </p:spPr>
      </p:sp>
      <p:sp>
        <p:nvSpPr>
          <p:cNvPr id="19" name="Text 16"/>
          <p:cNvSpPr txBox="1"/>
          <p:nvPr/>
        </p:nvSpPr>
        <p:spPr>
          <a:xfrm>
            <a:off x="3672230" y="2743200"/>
            <a:ext cx="2652674" cy="27432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柱2</a:t>
            </a:r>
            <a:endParaRPr lang="en-US" sz="1400" dirty="0"/>
          </a:p>
        </p:txBody>
      </p:sp>
      <p:sp>
        <p:nvSpPr>
          <p:cNvPr id="20" name="Text 17"/>
          <p:cNvSpPr txBox="1"/>
          <p:nvPr/>
        </p:nvSpPr>
        <p:spPr>
          <a:xfrm>
            <a:off x="3672230" y="3063240"/>
            <a:ext cx="2652674"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【柱2の名前】</a:t>
            </a:r>
            <a:endParaRPr lang="en-US" sz="1400" dirty="0"/>
          </a:p>
        </p:txBody>
      </p:sp>
      <p:sp>
        <p:nvSpPr>
          <p:cNvPr id="21" name="Text 18"/>
          <p:cNvSpPr txBox="1"/>
          <p:nvPr/>
        </p:nvSpPr>
        <p:spPr>
          <a:xfrm>
            <a:off x="3672230" y="3520440"/>
            <a:ext cx="2652674" cy="109728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・【施策】</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・【施策】</a:t>
            </a:r>
            <a:endParaRPr lang="en-US" sz="1400" dirty="0"/>
          </a:p>
        </p:txBody>
      </p:sp>
      <p:sp>
        <p:nvSpPr>
          <p:cNvPr id="22" name="Shape 19"/>
          <p:cNvSpPr/>
          <p:nvPr/>
        </p:nvSpPr>
        <p:spPr>
          <a:xfrm>
            <a:off x="6690665" y="2697480"/>
            <a:ext cx="0" cy="2103120"/>
          </a:xfrm>
          <a:prstGeom prst="line">
            <a:avLst/>
          </a:prstGeom>
          <a:noFill/>
          <a:ln w="12700">
            <a:solidFill>
              <a:srgbClr val="BFBFBF"/>
            </a:solidFill>
            <a:prstDash val="solid"/>
          </a:ln>
        </p:spPr>
      </p:sp>
      <p:sp>
        <p:nvSpPr>
          <p:cNvPr id="23" name="Text 20"/>
          <p:cNvSpPr txBox="1"/>
          <p:nvPr/>
        </p:nvSpPr>
        <p:spPr>
          <a:xfrm>
            <a:off x="6873545" y="2743200"/>
            <a:ext cx="2652674" cy="27432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柱3</a:t>
            </a:r>
            <a:endParaRPr lang="en-US" sz="1400" dirty="0"/>
          </a:p>
        </p:txBody>
      </p:sp>
      <p:sp>
        <p:nvSpPr>
          <p:cNvPr id="24" name="Text 21"/>
          <p:cNvSpPr txBox="1"/>
          <p:nvPr/>
        </p:nvSpPr>
        <p:spPr>
          <a:xfrm>
            <a:off x="6873545" y="3063240"/>
            <a:ext cx="2652674"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【柱3の名前】</a:t>
            </a:r>
            <a:endParaRPr lang="en-US" sz="1400" dirty="0"/>
          </a:p>
        </p:txBody>
      </p:sp>
      <p:sp>
        <p:nvSpPr>
          <p:cNvPr id="25" name="Text 22"/>
          <p:cNvSpPr txBox="1"/>
          <p:nvPr/>
        </p:nvSpPr>
        <p:spPr>
          <a:xfrm>
            <a:off x="6873545" y="3520440"/>
            <a:ext cx="2652674" cy="109728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・【施策】</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・【施策】</a:t>
            </a:r>
            <a:endParaRPr lang="en-US" sz="1400" dirty="0"/>
          </a:p>
        </p:txBody>
      </p:sp>
      <p:sp>
        <p:nvSpPr>
          <p:cNvPr id="26" name="Shape 23"/>
          <p:cNvSpPr/>
          <p:nvPr/>
        </p:nvSpPr>
        <p:spPr>
          <a:xfrm>
            <a:off x="288036" y="4937760"/>
            <a:ext cx="9329623" cy="0"/>
          </a:xfrm>
          <a:prstGeom prst="line">
            <a:avLst/>
          </a:prstGeom>
          <a:noFill/>
          <a:ln w="15875">
            <a:solidFill>
              <a:srgbClr val="7F7F7F"/>
            </a:solidFill>
            <a:prstDash val="solid"/>
          </a:ln>
        </p:spPr>
      </p:sp>
      <p:sp>
        <p:nvSpPr>
          <p:cNvPr id="27" name="Text 24"/>
          <p:cNvSpPr txBox="1"/>
          <p:nvPr/>
        </p:nvSpPr>
        <p:spPr>
          <a:xfrm>
            <a:off x="288036" y="5074920"/>
            <a:ext cx="4481932" cy="41148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土台1　【データ基盤】</a:t>
            </a:r>
            <a:endParaRPr lang="en-US" sz="1400" dirty="0"/>
          </a:p>
        </p:txBody>
      </p:sp>
      <p:sp>
        <p:nvSpPr>
          <p:cNvPr id="28" name="Text 25"/>
          <p:cNvSpPr txBox="1"/>
          <p:nvPr/>
        </p:nvSpPr>
        <p:spPr>
          <a:xfrm>
            <a:off x="4952848" y="5074920"/>
            <a:ext cx="4481932"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土台2　【人材・体制】</a:t>
            </a:r>
            <a:endParaRPr lang="en-US" sz="1400" dirty="0"/>
          </a:p>
        </p:txBody>
      </p:sp>
      <p:sp>
        <p:nvSpPr>
          <p:cNvPr id="29" name="Shape 26"/>
          <p:cNvSpPr/>
          <p:nvPr/>
        </p:nvSpPr>
        <p:spPr>
          <a:xfrm>
            <a:off x="4952848" y="5029200"/>
            <a:ext cx="0" cy="502920"/>
          </a:xfrm>
          <a:prstGeom prst="line">
            <a:avLst/>
          </a:prstGeom>
          <a:noFill/>
          <a:ln w="9525">
            <a:solidFill>
              <a:srgbClr val="BFBFBF"/>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5工程を3観点で点検すると、課題は「受付」と「確認」に集中している。両工程の手作業を減らせば、処理時間を半分にできる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工程別・観点別の課題</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44</a:t>
            </a:r>
            <a:endParaRPr lang="en-US" sz="900" dirty="0"/>
          </a:p>
        </p:txBody>
      </p:sp>
      <p:sp>
        <p:nvSpPr>
          <p:cNvPr id="12" name="Shape 9"/>
          <p:cNvSpPr/>
          <p:nvPr/>
        </p:nvSpPr>
        <p:spPr>
          <a:xfrm>
            <a:off x="1568196" y="1965960"/>
            <a:ext cx="1655613" cy="457200"/>
          </a:xfrm>
          <a:prstGeom prst="chevron">
            <a:avLst/>
          </a:prstGeom>
          <a:solidFill>
            <a:srgbClr val="FFFFFF"/>
          </a:solidFill>
          <a:ln w="12700">
            <a:solidFill>
              <a:srgbClr val="7F7F7F"/>
            </a:solidFill>
            <a:prstDash val="solid"/>
          </a:ln>
        </p:spPr>
      </p:sp>
      <p:sp>
        <p:nvSpPr>
          <p:cNvPr id="13" name="Shape 10"/>
          <p:cNvSpPr/>
          <p:nvPr/>
        </p:nvSpPr>
        <p:spPr>
          <a:xfrm>
            <a:off x="3178089" y="1965960"/>
            <a:ext cx="1655613" cy="457200"/>
          </a:xfrm>
          <a:prstGeom prst="chevron">
            <a:avLst/>
          </a:prstGeom>
          <a:solidFill>
            <a:srgbClr val="FFFFFF"/>
          </a:solidFill>
          <a:ln w="12700">
            <a:solidFill>
              <a:srgbClr val="000F78"/>
            </a:solidFill>
            <a:prstDash val="solid"/>
          </a:ln>
        </p:spPr>
      </p:sp>
      <p:sp>
        <p:nvSpPr>
          <p:cNvPr id="14" name="Shape 11"/>
          <p:cNvSpPr/>
          <p:nvPr/>
        </p:nvSpPr>
        <p:spPr>
          <a:xfrm>
            <a:off x="4787981" y="1965960"/>
            <a:ext cx="1655613" cy="457200"/>
          </a:xfrm>
          <a:prstGeom prst="chevron">
            <a:avLst/>
          </a:prstGeom>
          <a:solidFill>
            <a:srgbClr val="FFFFFF"/>
          </a:solidFill>
          <a:ln w="12700">
            <a:solidFill>
              <a:srgbClr val="000F78"/>
            </a:solidFill>
            <a:prstDash val="solid"/>
          </a:ln>
        </p:spPr>
      </p:sp>
      <p:sp>
        <p:nvSpPr>
          <p:cNvPr id="15" name="Shape 12"/>
          <p:cNvSpPr/>
          <p:nvPr/>
        </p:nvSpPr>
        <p:spPr>
          <a:xfrm>
            <a:off x="6397874" y="1965960"/>
            <a:ext cx="1655613" cy="457200"/>
          </a:xfrm>
          <a:prstGeom prst="chevron">
            <a:avLst/>
          </a:prstGeom>
          <a:solidFill>
            <a:srgbClr val="FFFFFF"/>
          </a:solidFill>
          <a:ln w="12700">
            <a:solidFill>
              <a:srgbClr val="7F7F7F"/>
            </a:solidFill>
            <a:prstDash val="solid"/>
          </a:ln>
        </p:spPr>
      </p:sp>
      <p:sp>
        <p:nvSpPr>
          <p:cNvPr id="16" name="Shape 13"/>
          <p:cNvSpPr/>
          <p:nvPr/>
        </p:nvSpPr>
        <p:spPr>
          <a:xfrm>
            <a:off x="8007767" y="1965960"/>
            <a:ext cx="1655613" cy="457200"/>
          </a:xfrm>
          <a:prstGeom prst="chevron">
            <a:avLst/>
          </a:prstGeom>
          <a:solidFill>
            <a:srgbClr val="FFFFFF"/>
          </a:solidFill>
          <a:ln w="12700">
            <a:solidFill>
              <a:srgbClr val="7F7F7F"/>
            </a:solidFill>
            <a:prstDash val="solid"/>
          </a:ln>
        </p:spPr>
      </p:sp>
      <p:sp>
        <p:nvSpPr>
          <p:cNvPr id="17" name="Text 14"/>
          <p:cNvSpPr txBox="1"/>
          <p:nvPr/>
        </p:nvSpPr>
        <p:spPr>
          <a:xfrm>
            <a:off x="1751076" y="1965960"/>
            <a:ext cx="1335573" cy="4572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申込</a:t>
            </a:r>
            <a:endParaRPr lang="en-US" sz="1400" dirty="0"/>
          </a:p>
        </p:txBody>
      </p:sp>
      <p:sp>
        <p:nvSpPr>
          <p:cNvPr id="18" name="Text 15"/>
          <p:cNvSpPr txBox="1"/>
          <p:nvPr/>
        </p:nvSpPr>
        <p:spPr>
          <a:xfrm>
            <a:off x="3360969" y="1965960"/>
            <a:ext cx="1335573" cy="45720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受付</a:t>
            </a:r>
            <a:endParaRPr lang="en-US" sz="1400" dirty="0"/>
          </a:p>
        </p:txBody>
      </p:sp>
      <p:sp>
        <p:nvSpPr>
          <p:cNvPr id="19" name="Text 16"/>
          <p:cNvSpPr txBox="1"/>
          <p:nvPr/>
        </p:nvSpPr>
        <p:spPr>
          <a:xfrm>
            <a:off x="4970861" y="1965960"/>
            <a:ext cx="1335573" cy="45720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確認</a:t>
            </a:r>
            <a:endParaRPr lang="en-US" sz="1400" dirty="0"/>
          </a:p>
        </p:txBody>
      </p:sp>
      <p:sp>
        <p:nvSpPr>
          <p:cNvPr id="20" name="Text 17"/>
          <p:cNvSpPr txBox="1"/>
          <p:nvPr/>
        </p:nvSpPr>
        <p:spPr>
          <a:xfrm>
            <a:off x="6580754" y="1965960"/>
            <a:ext cx="1335573" cy="4572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承認</a:t>
            </a:r>
            <a:endParaRPr lang="en-US" sz="1400" dirty="0"/>
          </a:p>
        </p:txBody>
      </p:sp>
      <p:sp>
        <p:nvSpPr>
          <p:cNvPr id="21" name="Text 18"/>
          <p:cNvSpPr txBox="1"/>
          <p:nvPr/>
        </p:nvSpPr>
        <p:spPr>
          <a:xfrm>
            <a:off x="8190647" y="1965960"/>
            <a:ext cx="1335573" cy="4572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通知</a:t>
            </a:r>
            <a:endParaRPr lang="en-US" sz="1400" dirty="0"/>
          </a:p>
        </p:txBody>
      </p:sp>
      <p:sp>
        <p:nvSpPr>
          <p:cNvPr id="22" name="Text 19"/>
          <p:cNvSpPr txBox="1"/>
          <p:nvPr/>
        </p:nvSpPr>
        <p:spPr>
          <a:xfrm>
            <a:off x="288036" y="2606040"/>
            <a:ext cx="1188720" cy="1051560"/>
          </a:xfrm>
          <a:prstGeom prst="rect">
            <a:avLst/>
          </a:prstGeom>
          <a:noFill/>
          <a:ln/>
        </p:spPr>
        <p:txBody>
          <a:bodyPr wrap="square" lIns="0" tIns="0" rIns="0" bIns="0" rtlCol="0" anchor="ctr"/>
          <a:lstStyle/>
          <a:p>
            <a:pPr indent="0" marL="0">
              <a:buNone/>
            </a:pPr>
            <a:r>
              <a:rPr lang="en-US" sz="1400" b="1" dirty="0">
                <a:solidFill>
                  <a:srgbClr val="595959"/>
                </a:solidFill>
                <a:latin typeface="Yu Gothic UI" pitchFamily="34" charset="0"/>
                <a:ea typeface="Yu Gothic UI" pitchFamily="34" charset="-122"/>
                <a:cs typeface="Yu Gothic UI" pitchFamily="34" charset="-120"/>
              </a:rPr>
              <a:t>時間</a:t>
            </a:r>
            <a:endParaRPr lang="en-US" sz="1400" dirty="0"/>
          </a:p>
        </p:txBody>
      </p:sp>
      <p:sp>
        <p:nvSpPr>
          <p:cNvPr id="23" name="Shape 20"/>
          <p:cNvSpPr/>
          <p:nvPr/>
        </p:nvSpPr>
        <p:spPr>
          <a:xfrm>
            <a:off x="288036" y="3657600"/>
            <a:ext cx="9329623" cy="0"/>
          </a:xfrm>
          <a:prstGeom prst="line">
            <a:avLst/>
          </a:prstGeom>
          <a:noFill/>
          <a:ln w="9525">
            <a:solidFill>
              <a:srgbClr val="E7E6E6"/>
            </a:solidFill>
            <a:prstDash val="solid"/>
          </a:ln>
        </p:spPr>
      </p:sp>
      <p:sp>
        <p:nvSpPr>
          <p:cNvPr id="24" name="Text 21"/>
          <p:cNvSpPr txBox="1"/>
          <p:nvPr/>
        </p:nvSpPr>
        <p:spPr>
          <a:xfrm>
            <a:off x="3269529" y="2606040"/>
            <a:ext cx="1427013" cy="1051560"/>
          </a:xfrm>
          <a:prstGeom prst="rect">
            <a:avLst/>
          </a:prstGeom>
          <a:noFill/>
          <a:ln/>
        </p:spPr>
        <p:txBody>
          <a:bodyPr wrap="square" lIns="0" tIns="0" rIns="0" bIns="0" rtlCol="0" anchor="ctr"/>
          <a:lstStyle/>
          <a:p>
            <a:pPr algn="ctr" indent="0" marL="0">
              <a:buNone/>
            </a:pPr>
            <a:r>
              <a:rPr lang="en-US" sz="1400" dirty="0">
                <a:solidFill>
                  <a:srgbClr val="000F78"/>
                </a:solidFill>
                <a:latin typeface="Yu Gothic UI" pitchFamily="34" charset="0"/>
                <a:ea typeface="Yu Gothic UI" pitchFamily="34" charset="-122"/>
                <a:cs typeface="Yu Gothic UI" pitchFamily="34" charset="-120"/>
              </a:rPr>
              <a:t>入力に平均20分</a:t>
            </a:r>
            <a:endParaRPr lang="en-US" sz="1400" dirty="0"/>
          </a:p>
        </p:txBody>
      </p:sp>
      <p:sp>
        <p:nvSpPr>
          <p:cNvPr id="25" name="Text 22"/>
          <p:cNvSpPr txBox="1"/>
          <p:nvPr/>
        </p:nvSpPr>
        <p:spPr>
          <a:xfrm>
            <a:off x="4879421" y="2606040"/>
            <a:ext cx="1427013" cy="1051560"/>
          </a:xfrm>
          <a:prstGeom prst="rect">
            <a:avLst/>
          </a:prstGeom>
          <a:noFill/>
          <a:ln/>
        </p:spPr>
        <p:txBody>
          <a:bodyPr wrap="square" lIns="0" tIns="0" rIns="0" bIns="0" rtlCol="0" anchor="ctr"/>
          <a:lstStyle/>
          <a:p>
            <a:pPr algn="ctr" indent="0" marL="0">
              <a:buNone/>
            </a:pPr>
            <a:r>
              <a:rPr lang="en-US" sz="1400" dirty="0">
                <a:solidFill>
                  <a:srgbClr val="000F78"/>
                </a:solidFill>
                <a:latin typeface="Yu Gothic UI" pitchFamily="34" charset="0"/>
                <a:ea typeface="Yu Gothic UI" pitchFamily="34" charset="-122"/>
                <a:cs typeface="Yu Gothic UI" pitchFamily="34" charset="-120"/>
              </a:rPr>
              <a:t>差戻しで3日待ち</a:t>
            </a:r>
            <a:endParaRPr lang="en-US" sz="1400" dirty="0"/>
          </a:p>
        </p:txBody>
      </p:sp>
      <p:sp>
        <p:nvSpPr>
          <p:cNvPr id="26" name="Text 23"/>
          <p:cNvSpPr txBox="1"/>
          <p:nvPr/>
        </p:nvSpPr>
        <p:spPr>
          <a:xfrm>
            <a:off x="288036" y="3657600"/>
            <a:ext cx="1188720" cy="1051560"/>
          </a:xfrm>
          <a:prstGeom prst="rect">
            <a:avLst/>
          </a:prstGeom>
          <a:noFill/>
          <a:ln/>
        </p:spPr>
        <p:txBody>
          <a:bodyPr wrap="square" lIns="0" tIns="0" rIns="0" bIns="0" rtlCol="0" anchor="ctr"/>
          <a:lstStyle/>
          <a:p>
            <a:pPr indent="0" marL="0">
              <a:buNone/>
            </a:pPr>
            <a:r>
              <a:rPr lang="en-US" sz="1400" b="1" dirty="0">
                <a:solidFill>
                  <a:srgbClr val="595959"/>
                </a:solidFill>
                <a:latin typeface="Yu Gothic UI" pitchFamily="34" charset="0"/>
                <a:ea typeface="Yu Gothic UI" pitchFamily="34" charset="-122"/>
                <a:cs typeface="Yu Gothic UI" pitchFamily="34" charset="-120"/>
              </a:rPr>
              <a:t>品質</a:t>
            </a:r>
            <a:endParaRPr lang="en-US" sz="1400" dirty="0"/>
          </a:p>
        </p:txBody>
      </p:sp>
      <p:sp>
        <p:nvSpPr>
          <p:cNvPr id="27" name="Shape 24"/>
          <p:cNvSpPr/>
          <p:nvPr/>
        </p:nvSpPr>
        <p:spPr>
          <a:xfrm>
            <a:off x="288036" y="4709160"/>
            <a:ext cx="9329623" cy="0"/>
          </a:xfrm>
          <a:prstGeom prst="line">
            <a:avLst/>
          </a:prstGeom>
          <a:noFill/>
          <a:ln w="9525">
            <a:solidFill>
              <a:srgbClr val="E7E6E6"/>
            </a:solidFill>
            <a:prstDash val="solid"/>
          </a:ln>
        </p:spPr>
      </p:sp>
      <p:sp>
        <p:nvSpPr>
          <p:cNvPr id="28" name="Text 25"/>
          <p:cNvSpPr txBox="1"/>
          <p:nvPr/>
        </p:nvSpPr>
        <p:spPr>
          <a:xfrm>
            <a:off x="4879421" y="3657600"/>
            <a:ext cx="1427013" cy="1051560"/>
          </a:xfrm>
          <a:prstGeom prst="rect">
            <a:avLst/>
          </a:prstGeom>
          <a:noFill/>
          <a:ln/>
        </p:spPr>
        <p:txBody>
          <a:bodyPr wrap="square" lIns="0" tIns="0" rIns="0" bIns="0" rtlCol="0" anchor="ctr"/>
          <a:lstStyle/>
          <a:p>
            <a:pPr algn="ctr" indent="0" marL="0">
              <a:buNone/>
            </a:pPr>
            <a:r>
              <a:rPr lang="en-US" sz="1400" dirty="0">
                <a:solidFill>
                  <a:srgbClr val="000F78"/>
                </a:solidFill>
                <a:latin typeface="Yu Gothic UI" pitchFamily="34" charset="0"/>
                <a:ea typeface="Yu Gothic UI" pitchFamily="34" charset="-122"/>
                <a:cs typeface="Yu Gothic UI" pitchFamily="34" charset="-120"/>
              </a:rPr>
              <a:t>誤り率8%</a:t>
            </a:r>
            <a:endParaRPr lang="en-US" sz="1400" dirty="0"/>
          </a:p>
        </p:txBody>
      </p:sp>
      <p:sp>
        <p:nvSpPr>
          <p:cNvPr id="29" name="Text 26"/>
          <p:cNvSpPr txBox="1"/>
          <p:nvPr/>
        </p:nvSpPr>
        <p:spPr>
          <a:xfrm>
            <a:off x="288036" y="4709160"/>
            <a:ext cx="1188720" cy="1051560"/>
          </a:xfrm>
          <a:prstGeom prst="rect">
            <a:avLst/>
          </a:prstGeom>
          <a:noFill/>
          <a:ln/>
        </p:spPr>
        <p:txBody>
          <a:bodyPr wrap="square" lIns="0" tIns="0" rIns="0" bIns="0" rtlCol="0" anchor="ctr"/>
          <a:lstStyle/>
          <a:p>
            <a:pPr indent="0" marL="0">
              <a:buNone/>
            </a:pPr>
            <a:r>
              <a:rPr lang="en-US" sz="1400" b="1" dirty="0">
                <a:solidFill>
                  <a:srgbClr val="595959"/>
                </a:solidFill>
                <a:latin typeface="Yu Gothic UI" pitchFamily="34" charset="0"/>
                <a:ea typeface="Yu Gothic UI" pitchFamily="34" charset="-122"/>
                <a:cs typeface="Yu Gothic UI" pitchFamily="34" charset="-120"/>
              </a:rPr>
              <a:t>費用</a:t>
            </a:r>
            <a:endParaRPr lang="en-US" sz="1400" dirty="0"/>
          </a:p>
        </p:txBody>
      </p:sp>
      <p:sp>
        <p:nvSpPr>
          <p:cNvPr id="30" name="Shape 27"/>
          <p:cNvSpPr/>
          <p:nvPr/>
        </p:nvSpPr>
        <p:spPr>
          <a:xfrm>
            <a:off x="288036" y="5760720"/>
            <a:ext cx="9329623" cy="0"/>
          </a:xfrm>
          <a:prstGeom prst="line">
            <a:avLst/>
          </a:prstGeom>
          <a:noFill/>
          <a:ln w="9525">
            <a:solidFill>
              <a:srgbClr val="E7E6E6"/>
            </a:solidFill>
            <a:prstDash val="solid"/>
          </a:ln>
        </p:spPr>
      </p:sp>
      <p:sp>
        <p:nvSpPr>
          <p:cNvPr id="31" name="Text 28"/>
          <p:cNvSpPr txBox="1"/>
          <p:nvPr/>
        </p:nvSpPr>
        <p:spPr>
          <a:xfrm>
            <a:off x="3269529" y="4709160"/>
            <a:ext cx="1427013" cy="1051560"/>
          </a:xfrm>
          <a:prstGeom prst="rect">
            <a:avLst/>
          </a:prstGeom>
          <a:noFill/>
          <a:ln/>
        </p:spPr>
        <p:txBody>
          <a:bodyPr wrap="square" lIns="0" tIns="0" rIns="0" bIns="0" rtlCol="0" anchor="ctr"/>
          <a:lstStyle/>
          <a:p>
            <a:pPr algn="ctr" indent="0" marL="0">
              <a:buNone/>
            </a:pPr>
            <a:r>
              <a:rPr lang="en-US" sz="1400" dirty="0">
                <a:solidFill>
                  <a:srgbClr val="000F78"/>
                </a:solidFill>
                <a:latin typeface="Yu Gothic UI" pitchFamily="34" charset="0"/>
                <a:ea typeface="Yu Gothic UI" pitchFamily="34" charset="-122"/>
                <a:cs typeface="Yu Gothic UI" pitchFamily="34" charset="-120"/>
              </a:rPr>
              <a:t>紙の転記が残る</a:t>
            </a:r>
            <a:endParaRPr lang="en-US" sz="1400" dirty="0"/>
          </a:p>
        </p:txBody>
      </p:sp>
      <p:sp>
        <p:nvSpPr>
          <p:cNvPr id="32" name="Shape 29"/>
          <p:cNvSpPr/>
          <p:nvPr/>
        </p:nvSpPr>
        <p:spPr>
          <a:xfrm>
            <a:off x="3178089" y="1920240"/>
            <a:ext cx="3219785" cy="3840480"/>
          </a:xfrm>
          <a:prstGeom prst="rect">
            <a:avLst/>
          </a:prstGeom>
          <a:ln w="19050">
            <a:solidFill>
              <a:srgbClr val="000F78"/>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施策は3年で段階的に広げ、2年目の【施策B】開始が3年目の目標達成の鍵となる。初年度は基盤づくりに集中し、成果を急がない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年度別の取組</a:t>
            </a:r>
            <a:pPr indent="0" marL="0">
              <a:buNone/>
            </a:pPr>
            <a:r>
              <a:rPr lang="en-US" sz="1100" dirty="0">
                <a:solidFill>
                  <a:srgbClr val="595959"/>
                </a:solidFill>
                <a:latin typeface="Yu Gothic UI" pitchFamily="34" charset="0"/>
                <a:ea typeface="Yu Gothic UI" pitchFamily="34" charset="-122"/>
                <a:cs typeface="Yu Gothic UI" pitchFamily="34" charset="-120"/>
              </a:rPr>
              <a:t>　（【年度】〜【年度】）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45</a:t>
            </a:r>
            <a:endParaRPr lang="en-US" sz="900" dirty="0"/>
          </a:p>
        </p:txBody>
      </p:sp>
      <p:sp>
        <p:nvSpPr>
          <p:cNvPr id="12" name="Text 9"/>
          <p:cNvSpPr txBox="1"/>
          <p:nvPr/>
        </p:nvSpPr>
        <p:spPr>
          <a:xfrm>
            <a:off x="2665476" y="1965960"/>
            <a:ext cx="2317394"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1年目</a:t>
            </a:r>
            <a:endParaRPr lang="en-US" sz="1400" dirty="0"/>
          </a:p>
        </p:txBody>
      </p:sp>
      <p:sp>
        <p:nvSpPr>
          <p:cNvPr id="13" name="Text 10"/>
          <p:cNvSpPr txBox="1"/>
          <p:nvPr/>
        </p:nvSpPr>
        <p:spPr>
          <a:xfrm>
            <a:off x="4982870" y="1965960"/>
            <a:ext cx="2317394"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2年目</a:t>
            </a:r>
            <a:endParaRPr lang="en-US" sz="1400" dirty="0"/>
          </a:p>
        </p:txBody>
      </p:sp>
      <p:sp>
        <p:nvSpPr>
          <p:cNvPr id="14" name="Text 11"/>
          <p:cNvSpPr txBox="1"/>
          <p:nvPr/>
        </p:nvSpPr>
        <p:spPr>
          <a:xfrm>
            <a:off x="7300265" y="1965960"/>
            <a:ext cx="2317394"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3年目</a:t>
            </a:r>
            <a:endParaRPr lang="en-US" sz="1400" dirty="0"/>
          </a:p>
        </p:txBody>
      </p:sp>
      <p:sp>
        <p:nvSpPr>
          <p:cNvPr id="15" name="Shape 12"/>
          <p:cNvSpPr/>
          <p:nvPr/>
        </p:nvSpPr>
        <p:spPr>
          <a:xfrm>
            <a:off x="288036" y="2350008"/>
            <a:ext cx="9329623" cy="0"/>
          </a:xfrm>
          <a:prstGeom prst="line">
            <a:avLst/>
          </a:prstGeom>
          <a:noFill/>
          <a:ln w="12700">
            <a:solidFill>
              <a:srgbClr val="7F7F7F"/>
            </a:solidFill>
            <a:prstDash val="solid"/>
          </a:ln>
        </p:spPr>
      </p:sp>
      <p:sp>
        <p:nvSpPr>
          <p:cNvPr id="16" name="Text 13"/>
          <p:cNvSpPr txBox="1"/>
          <p:nvPr/>
        </p:nvSpPr>
        <p:spPr>
          <a:xfrm>
            <a:off x="288036" y="2468880"/>
            <a:ext cx="2286000" cy="8686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【施策A】</a:t>
            </a:r>
            <a:endParaRPr lang="en-US" sz="1400" dirty="0"/>
          </a:p>
        </p:txBody>
      </p:sp>
      <p:sp>
        <p:nvSpPr>
          <p:cNvPr id="17" name="Shape 14"/>
          <p:cNvSpPr/>
          <p:nvPr/>
        </p:nvSpPr>
        <p:spPr>
          <a:xfrm>
            <a:off x="2738628" y="2578608"/>
            <a:ext cx="2171090" cy="649224"/>
          </a:xfrm>
          <a:prstGeom prst="rect">
            <a:avLst/>
          </a:prstGeom>
          <a:solidFill>
            <a:srgbClr val="FFFFFF"/>
          </a:solidFill>
          <a:ln w="9525">
            <a:solidFill>
              <a:srgbClr val="BFBFBF"/>
            </a:solidFill>
            <a:prstDash val="solid"/>
          </a:ln>
        </p:spPr>
      </p:sp>
      <p:sp>
        <p:nvSpPr>
          <p:cNvPr id="18" name="Text 15"/>
          <p:cNvSpPr txBox="1"/>
          <p:nvPr/>
        </p:nvSpPr>
        <p:spPr>
          <a:xfrm>
            <a:off x="2875788" y="257860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試行する</a:t>
            </a:r>
            <a:endParaRPr lang="en-US" sz="1400" dirty="0"/>
          </a:p>
        </p:txBody>
      </p:sp>
      <p:sp>
        <p:nvSpPr>
          <p:cNvPr id="19" name="Shape 16"/>
          <p:cNvSpPr/>
          <p:nvPr/>
        </p:nvSpPr>
        <p:spPr>
          <a:xfrm>
            <a:off x="5056022" y="2578608"/>
            <a:ext cx="2171090" cy="649224"/>
          </a:xfrm>
          <a:prstGeom prst="rect">
            <a:avLst/>
          </a:prstGeom>
          <a:solidFill>
            <a:srgbClr val="FFFFFF"/>
          </a:solidFill>
          <a:ln w="9525">
            <a:solidFill>
              <a:srgbClr val="BFBFBF"/>
            </a:solidFill>
            <a:prstDash val="solid"/>
          </a:ln>
        </p:spPr>
      </p:sp>
      <p:sp>
        <p:nvSpPr>
          <p:cNvPr id="20" name="Text 17"/>
          <p:cNvSpPr txBox="1"/>
          <p:nvPr/>
        </p:nvSpPr>
        <p:spPr>
          <a:xfrm>
            <a:off x="5193182" y="257860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対象を広げる</a:t>
            </a:r>
            <a:endParaRPr lang="en-US" sz="1400" dirty="0"/>
          </a:p>
        </p:txBody>
      </p:sp>
      <p:sp>
        <p:nvSpPr>
          <p:cNvPr id="21" name="Shape 18"/>
          <p:cNvSpPr/>
          <p:nvPr/>
        </p:nvSpPr>
        <p:spPr>
          <a:xfrm>
            <a:off x="7373417" y="2578608"/>
            <a:ext cx="2171090" cy="649224"/>
          </a:xfrm>
          <a:prstGeom prst="rect">
            <a:avLst/>
          </a:prstGeom>
          <a:solidFill>
            <a:srgbClr val="FFFFFF"/>
          </a:solidFill>
          <a:ln w="9525">
            <a:solidFill>
              <a:srgbClr val="BFBFBF"/>
            </a:solidFill>
            <a:prstDash val="solid"/>
          </a:ln>
        </p:spPr>
      </p:sp>
      <p:sp>
        <p:nvSpPr>
          <p:cNvPr id="22" name="Text 19"/>
          <p:cNvSpPr txBox="1"/>
          <p:nvPr/>
        </p:nvSpPr>
        <p:spPr>
          <a:xfrm>
            <a:off x="7510577" y="257860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全域で実施</a:t>
            </a:r>
            <a:endParaRPr lang="en-US" sz="1400" dirty="0"/>
          </a:p>
        </p:txBody>
      </p:sp>
      <p:sp>
        <p:nvSpPr>
          <p:cNvPr id="23" name="Text 20"/>
          <p:cNvSpPr txBox="1"/>
          <p:nvPr/>
        </p:nvSpPr>
        <p:spPr>
          <a:xfrm>
            <a:off x="288036" y="3429000"/>
            <a:ext cx="2286000" cy="8686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【施策B】</a:t>
            </a:r>
            <a:endParaRPr lang="en-US" sz="1400" dirty="0"/>
          </a:p>
        </p:txBody>
      </p:sp>
      <p:sp>
        <p:nvSpPr>
          <p:cNvPr id="24" name="Shape 21"/>
          <p:cNvSpPr/>
          <p:nvPr/>
        </p:nvSpPr>
        <p:spPr>
          <a:xfrm>
            <a:off x="2738628" y="3538728"/>
            <a:ext cx="2171090" cy="649224"/>
          </a:xfrm>
          <a:prstGeom prst="rect">
            <a:avLst/>
          </a:prstGeom>
          <a:solidFill>
            <a:srgbClr val="FFFFFF"/>
          </a:solidFill>
          <a:ln w="9525">
            <a:solidFill>
              <a:srgbClr val="BFBFBF"/>
            </a:solidFill>
            <a:prstDash val="solid"/>
          </a:ln>
        </p:spPr>
      </p:sp>
      <p:sp>
        <p:nvSpPr>
          <p:cNvPr id="25" name="Text 22"/>
          <p:cNvSpPr txBox="1"/>
          <p:nvPr/>
        </p:nvSpPr>
        <p:spPr>
          <a:xfrm>
            <a:off x="2875788" y="353872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準備する</a:t>
            </a:r>
            <a:endParaRPr lang="en-US" sz="1400" dirty="0"/>
          </a:p>
        </p:txBody>
      </p:sp>
      <p:sp>
        <p:nvSpPr>
          <p:cNvPr id="26" name="Shape 23"/>
          <p:cNvSpPr/>
          <p:nvPr/>
        </p:nvSpPr>
        <p:spPr>
          <a:xfrm>
            <a:off x="5056022" y="3538728"/>
            <a:ext cx="2171090" cy="649224"/>
          </a:xfrm>
          <a:prstGeom prst="rect">
            <a:avLst/>
          </a:prstGeom>
          <a:solidFill>
            <a:srgbClr val="FFFFFF"/>
          </a:solidFill>
          <a:ln w="19050">
            <a:solidFill>
              <a:srgbClr val="000F78"/>
            </a:solidFill>
            <a:prstDash val="solid"/>
          </a:ln>
        </p:spPr>
      </p:sp>
      <p:sp>
        <p:nvSpPr>
          <p:cNvPr id="27" name="Text 24"/>
          <p:cNvSpPr txBox="1"/>
          <p:nvPr/>
        </p:nvSpPr>
        <p:spPr>
          <a:xfrm>
            <a:off x="5193182" y="3538728"/>
            <a:ext cx="1896770" cy="649224"/>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開始する</a:t>
            </a:r>
            <a:endParaRPr lang="en-US" sz="1400" dirty="0"/>
          </a:p>
        </p:txBody>
      </p:sp>
      <p:sp>
        <p:nvSpPr>
          <p:cNvPr id="28" name="Shape 25"/>
          <p:cNvSpPr/>
          <p:nvPr/>
        </p:nvSpPr>
        <p:spPr>
          <a:xfrm>
            <a:off x="7373417" y="3538728"/>
            <a:ext cx="2171090" cy="649224"/>
          </a:xfrm>
          <a:prstGeom prst="rect">
            <a:avLst/>
          </a:prstGeom>
          <a:solidFill>
            <a:srgbClr val="FFFFFF"/>
          </a:solidFill>
          <a:ln w="9525">
            <a:solidFill>
              <a:srgbClr val="BFBFBF"/>
            </a:solidFill>
            <a:prstDash val="solid"/>
          </a:ln>
        </p:spPr>
      </p:sp>
      <p:sp>
        <p:nvSpPr>
          <p:cNvPr id="29" name="Text 26"/>
          <p:cNvSpPr txBox="1"/>
          <p:nvPr/>
        </p:nvSpPr>
        <p:spPr>
          <a:xfrm>
            <a:off x="7510577" y="353872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定着させる</a:t>
            </a:r>
            <a:endParaRPr lang="en-US" sz="1400" dirty="0"/>
          </a:p>
        </p:txBody>
      </p:sp>
      <p:sp>
        <p:nvSpPr>
          <p:cNvPr id="30" name="Text 27"/>
          <p:cNvSpPr txBox="1"/>
          <p:nvPr/>
        </p:nvSpPr>
        <p:spPr>
          <a:xfrm>
            <a:off x="288036" y="4389120"/>
            <a:ext cx="2286000" cy="8686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【施策C】</a:t>
            </a:r>
            <a:endParaRPr lang="en-US" sz="1400" dirty="0"/>
          </a:p>
        </p:txBody>
      </p:sp>
      <p:sp>
        <p:nvSpPr>
          <p:cNvPr id="31" name="Text 28"/>
          <p:cNvSpPr txBox="1"/>
          <p:nvPr/>
        </p:nvSpPr>
        <p:spPr>
          <a:xfrm>
            <a:off x="2665476" y="4389120"/>
            <a:ext cx="2317394" cy="868680"/>
          </a:xfrm>
          <a:prstGeom prst="rect">
            <a:avLst/>
          </a:prstGeom>
          <a:noFill/>
          <a:ln/>
        </p:spPr>
        <p:txBody>
          <a:bodyPr wrap="square" lIns="0" tIns="0" rIns="0" bIns="0" rtlCol="0" anchor="ctr"/>
          <a:lstStyle/>
          <a:p>
            <a:pPr algn="ctr" indent="0" marL="0">
              <a:buNone/>
            </a:pPr>
            <a:r>
              <a:rPr lang="en-US" sz="1400" dirty="0">
                <a:solidFill>
                  <a:srgbClr val="BFBFBF"/>
                </a:solidFill>
                <a:latin typeface="Yu Gothic UI" pitchFamily="34" charset="0"/>
                <a:ea typeface="Yu Gothic UI" pitchFamily="34" charset="-122"/>
                <a:cs typeface="Yu Gothic UI" pitchFamily="34" charset="-120"/>
              </a:rPr>
              <a:t>―</a:t>
            </a:r>
            <a:endParaRPr lang="en-US" sz="1400" dirty="0"/>
          </a:p>
        </p:txBody>
      </p:sp>
      <p:sp>
        <p:nvSpPr>
          <p:cNvPr id="32" name="Shape 29"/>
          <p:cNvSpPr/>
          <p:nvPr/>
        </p:nvSpPr>
        <p:spPr>
          <a:xfrm>
            <a:off x="5056022" y="4498848"/>
            <a:ext cx="2171090" cy="649224"/>
          </a:xfrm>
          <a:prstGeom prst="rect">
            <a:avLst/>
          </a:prstGeom>
          <a:solidFill>
            <a:srgbClr val="FFFFFF"/>
          </a:solidFill>
          <a:ln w="9525">
            <a:solidFill>
              <a:srgbClr val="BFBFBF"/>
            </a:solidFill>
            <a:prstDash val="solid"/>
          </a:ln>
        </p:spPr>
      </p:sp>
      <p:sp>
        <p:nvSpPr>
          <p:cNvPr id="33" name="Text 30"/>
          <p:cNvSpPr txBox="1"/>
          <p:nvPr/>
        </p:nvSpPr>
        <p:spPr>
          <a:xfrm>
            <a:off x="5193182" y="449884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検討する</a:t>
            </a:r>
            <a:endParaRPr lang="en-US" sz="1400" dirty="0"/>
          </a:p>
        </p:txBody>
      </p:sp>
      <p:sp>
        <p:nvSpPr>
          <p:cNvPr id="34" name="Shape 31"/>
          <p:cNvSpPr/>
          <p:nvPr/>
        </p:nvSpPr>
        <p:spPr>
          <a:xfrm>
            <a:off x="7373417" y="4498848"/>
            <a:ext cx="2171090" cy="649224"/>
          </a:xfrm>
          <a:prstGeom prst="rect">
            <a:avLst/>
          </a:prstGeom>
          <a:solidFill>
            <a:srgbClr val="FFFFFF"/>
          </a:solidFill>
          <a:ln w="9525">
            <a:solidFill>
              <a:srgbClr val="BFBFBF"/>
            </a:solidFill>
            <a:prstDash val="solid"/>
          </a:ln>
        </p:spPr>
      </p:sp>
      <p:sp>
        <p:nvSpPr>
          <p:cNvPr id="35" name="Text 32"/>
          <p:cNvSpPr txBox="1"/>
          <p:nvPr/>
        </p:nvSpPr>
        <p:spPr>
          <a:xfrm>
            <a:off x="7510577" y="449884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試行する</a:t>
            </a:r>
            <a:endParaRPr lang="en-US" sz="1400" dirty="0"/>
          </a:p>
        </p:txBody>
      </p:sp>
      <p:sp>
        <p:nvSpPr>
          <p:cNvPr id="36" name="Text 33"/>
          <p:cNvSpPr txBox="1"/>
          <p:nvPr/>
        </p:nvSpPr>
        <p:spPr>
          <a:xfrm>
            <a:off x="288036" y="5349240"/>
            <a:ext cx="2286000" cy="8686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体制</a:t>
            </a:r>
            <a:endParaRPr lang="en-US" sz="1400" dirty="0"/>
          </a:p>
        </p:txBody>
      </p:sp>
      <p:sp>
        <p:nvSpPr>
          <p:cNvPr id="37" name="Shape 34"/>
          <p:cNvSpPr/>
          <p:nvPr/>
        </p:nvSpPr>
        <p:spPr>
          <a:xfrm>
            <a:off x="2738628" y="5458968"/>
            <a:ext cx="2171090" cy="649224"/>
          </a:xfrm>
          <a:prstGeom prst="rect">
            <a:avLst/>
          </a:prstGeom>
          <a:solidFill>
            <a:srgbClr val="FFFFFF"/>
          </a:solidFill>
          <a:ln w="9525">
            <a:solidFill>
              <a:srgbClr val="BFBFBF"/>
            </a:solidFill>
            <a:prstDash val="solid"/>
          </a:ln>
        </p:spPr>
      </p:sp>
      <p:sp>
        <p:nvSpPr>
          <p:cNvPr id="38" name="Text 35"/>
          <p:cNvSpPr txBox="1"/>
          <p:nvPr/>
        </p:nvSpPr>
        <p:spPr>
          <a:xfrm>
            <a:off x="2875788" y="545896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推進室を設ける</a:t>
            </a:r>
            <a:endParaRPr lang="en-US" sz="1400" dirty="0"/>
          </a:p>
        </p:txBody>
      </p:sp>
      <p:sp>
        <p:nvSpPr>
          <p:cNvPr id="39" name="Shape 36"/>
          <p:cNvSpPr/>
          <p:nvPr/>
        </p:nvSpPr>
        <p:spPr>
          <a:xfrm>
            <a:off x="5056022" y="5458968"/>
            <a:ext cx="2171090" cy="649224"/>
          </a:xfrm>
          <a:prstGeom prst="rect">
            <a:avLst/>
          </a:prstGeom>
          <a:solidFill>
            <a:srgbClr val="FFFFFF"/>
          </a:solidFill>
          <a:ln w="9525">
            <a:solidFill>
              <a:srgbClr val="BFBFBF"/>
            </a:solidFill>
            <a:prstDash val="solid"/>
          </a:ln>
        </p:spPr>
      </p:sp>
      <p:sp>
        <p:nvSpPr>
          <p:cNvPr id="40" name="Text 37"/>
          <p:cNvSpPr txBox="1"/>
          <p:nvPr/>
        </p:nvSpPr>
        <p:spPr>
          <a:xfrm>
            <a:off x="5193182" y="545896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人員を増やす</a:t>
            </a:r>
            <a:endParaRPr lang="en-US" sz="1400" dirty="0"/>
          </a:p>
        </p:txBody>
      </p:sp>
      <p:sp>
        <p:nvSpPr>
          <p:cNvPr id="41" name="Shape 38"/>
          <p:cNvSpPr/>
          <p:nvPr/>
        </p:nvSpPr>
        <p:spPr>
          <a:xfrm>
            <a:off x="7373417" y="5458968"/>
            <a:ext cx="2171090" cy="649224"/>
          </a:xfrm>
          <a:prstGeom prst="rect">
            <a:avLst/>
          </a:prstGeom>
          <a:solidFill>
            <a:srgbClr val="FFFFFF"/>
          </a:solidFill>
          <a:ln w="9525">
            <a:solidFill>
              <a:srgbClr val="BFBFBF"/>
            </a:solidFill>
            <a:prstDash val="solid"/>
          </a:ln>
        </p:spPr>
      </p:sp>
      <p:sp>
        <p:nvSpPr>
          <p:cNvPr id="42" name="Text 39"/>
          <p:cNvSpPr txBox="1"/>
          <p:nvPr/>
        </p:nvSpPr>
        <p:spPr>
          <a:xfrm>
            <a:off x="7510577" y="5458968"/>
            <a:ext cx="1896770" cy="649224"/>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自走させる</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利用者が増えるほど便数と収入が増え、さらに利用者が増える好循環を作れる。最初の1年は起点の【起点】に投資を集中すべきである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利用拡大の好循環</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46</a:t>
            </a:r>
            <a:endParaRPr lang="en-US" sz="900" dirty="0"/>
          </a:p>
        </p:txBody>
      </p:sp>
      <p:sp>
        <p:nvSpPr>
          <p:cNvPr id="12" name="Shape 9"/>
          <p:cNvSpPr/>
          <p:nvPr/>
        </p:nvSpPr>
        <p:spPr>
          <a:xfrm>
            <a:off x="2849728" y="2011680"/>
            <a:ext cx="2011680" cy="731520"/>
          </a:xfrm>
          <a:prstGeom prst="rect">
            <a:avLst/>
          </a:prstGeom>
          <a:solidFill>
            <a:srgbClr val="FFFFFF"/>
          </a:solidFill>
          <a:ln w="19050">
            <a:solidFill>
              <a:srgbClr val="000F78"/>
            </a:solidFill>
            <a:prstDash val="solid"/>
          </a:ln>
        </p:spPr>
      </p:sp>
      <p:sp>
        <p:nvSpPr>
          <p:cNvPr id="13" name="Text 10"/>
          <p:cNvSpPr txBox="1"/>
          <p:nvPr/>
        </p:nvSpPr>
        <p:spPr>
          <a:xfrm>
            <a:off x="2986888" y="2011680"/>
            <a:ext cx="1737360" cy="73152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【起点】</a:t>
            </a:r>
            <a:endParaRPr lang="en-US" sz="1400" dirty="0"/>
          </a:p>
          <a:p>
            <a:pPr algn="ctr" indent="0" marL="0">
              <a:buNone/>
            </a:pPr>
            <a:r>
              <a:rPr lang="en-US" sz="1400" b="1" dirty="0">
                <a:solidFill>
                  <a:srgbClr val="000F78"/>
                </a:solidFill>
                <a:latin typeface="Yu Gothic UI" pitchFamily="34" charset="0"/>
                <a:ea typeface="Yu Gothic UI" pitchFamily="34" charset="-122"/>
                <a:cs typeface="Yu Gothic UI" pitchFamily="34" charset="-120"/>
              </a:rPr>
              <a:t>便数を増やす</a:t>
            </a:r>
            <a:endParaRPr lang="en-US" sz="1400" dirty="0"/>
          </a:p>
        </p:txBody>
      </p:sp>
      <p:sp>
        <p:nvSpPr>
          <p:cNvPr id="14" name="Shape 11"/>
          <p:cNvSpPr/>
          <p:nvPr/>
        </p:nvSpPr>
        <p:spPr>
          <a:xfrm>
            <a:off x="4975708" y="3429000"/>
            <a:ext cx="2011680" cy="731520"/>
          </a:xfrm>
          <a:prstGeom prst="rect">
            <a:avLst/>
          </a:prstGeom>
          <a:solidFill>
            <a:srgbClr val="FFFFFF"/>
          </a:solidFill>
          <a:ln w="9525">
            <a:solidFill>
              <a:srgbClr val="BFBFBF"/>
            </a:solidFill>
            <a:prstDash val="solid"/>
          </a:ln>
        </p:spPr>
      </p:sp>
      <p:sp>
        <p:nvSpPr>
          <p:cNvPr id="15" name="Text 12"/>
          <p:cNvSpPr txBox="1"/>
          <p:nvPr/>
        </p:nvSpPr>
        <p:spPr>
          <a:xfrm>
            <a:off x="5112868" y="3429000"/>
            <a:ext cx="1737360" cy="73152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待ち時間が減る</a:t>
            </a:r>
            <a:endParaRPr lang="en-US" sz="1400" dirty="0"/>
          </a:p>
        </p:txBody>
      </p:sp>
      <p:sp>
        <p:nvSpPr>
          <p:cNvPr id="16" name="Shape 13"/>
          <p:cNvSpPr/>
          <p:nvPr/>
        </p:nvSpPr>
        <p:spPr>
          <a:xfrm>
            <a:off x="2849728" y="4846320"/>
            <a:ext cx="2011680" cy="731520"/>
          </a:xfrm>
          <a:prstGeom prst="rect">
            <a:avLst/>
          </a:prstGeom>
          <a:solidFill>
            <a:srgbClr val="FFFFFF"/>
          </a:solidFill>
          <a:ln w="9525">
            <a:solidFill>
              <a:srgbClr val="BFBFBF"/>
            </a:solidFill>
            <a:prstDash val="solid"/>
          </a:ln>
        </p:spPr>
      </p:sp>
      <p:sp>
        <p:nvSpPr>
          <p:cNvPr id="17" name="Text 14"/>
          <p:cNvSpPr txBox="1"/>
          <p:nvPr/>
        </p:nvSpPr>
        <p:spPr>
          <a:xfrm>
            <a:off x="2986888" y="4846320"/>
            <a:ext cx="1737360" cy="73152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利用者が増える</a:t>
            </a:r>
            <a:endParaRPr lang="en-US" sz="1400" dirty="0"/>
          </a:p>
        </p:txBody>
      </p:sp>
      <p:sp>
        <p:nvSpPr>
          <p:cNvPr id="18" name="Shape 15"/>
          <p:cNvSpPr/>
          <p:nvPr/>
        </p:nvSpPr>
        <p:spPr>
          <a:xfrm>
            <a:off x="723748" y="3429000"/>
            <a:ext cx="2011680" cy="731520"/>
          </a:xfrm>
          <a:prstGeom prst="rect">
            <a:avLst/>
          </a:prstGeom>
          <a:solidFill>
            <a:srgbClr val="FFFFFF"/>
          </a:solidFill>
          <a:ln w="9525">
            <a:solidFill>
              <a:srgbClr val="BFBFBF"/>
            </a:solidFill>
            <a:prstDash val="solid"/>
          </a:ln>
        </p:spPr>
      </p:sp>
      <p:sp>
        <p:nvSpPr>
          <p:cNvPr id="19" name="Text 16"/>
          <p:cNvSpPr txBox="1"/>
          <p:nvPr/>
        </p:nvSpPr>
        <p:spPr>
          <a:xfrm>
            <a:off x="860908" y="3429000"/>
            <a:ext cx="1737360" cy="73152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運賃収入が増える</a:t>
            </a:r>
            <a:endParaRPr lang="en-US" sz="1400" dirty="0"/>
          </a:p>
        </p:txBody>
      </p:sp>
      <p:sp>
        <p:nvSpPr>
          <p:cNvPr id="20" name="Shape 17"/>
          <p:cNvSpPr/>
          <p:nvPr/>
        </p:nvSpPr>
        <p:spPr>
          <a:xfrm>
            <a:off x="4907128" y="2468880"/>
            <a:ext cx="1120140" cy="960120"/>
          </a:xfrm>
          <a:prstGeom prst="line">
            <a:avLst/>
          </a:prstGeom>
          <a:noFill/>
          <a:ln w="15875">
            <a:solidFill>
              <a:srgbClr val="7F7F7F"/>
            </a:solidFill>
            <a:prstDash val="solid"/>
            <a:tailEnd type="triangle"/>
          </a:ln>
        </p:spPr>
      </p:sp>
      <p:sp>
        <p:nvSpPr>
          <p:cNvPr id="21" name="Shape 18"/>
          <p:cNvSpPr/>
          <p:nvPr/>
        </p:nvSpPr>
        <p:spPr>
          <a:xfrm>
            <a:off x="5798668" y="4206240"/>
            <a:ext cx="-937260" cy="640080"/>
          </a:xfrm>
          <a:prstGeom prst="line">
            <a:avLst/>
          </a:prstGeom>
          <a:noFill/>
          <a:ln w="15875">
            <a:solidFill>
              <a:srgbClr val="7F7F7F"/>
            </a:solidFill>
            <a:prstDash val="solid"/>
            <a:tailEnd type="triangle"/>
          </a:ln>
        </p:spPr>
      </p:sp>
      <p:sp>
        <p:nvSpPr>
          <p:cNvPr id="22" name="Shape 19"/>
          <p:cNvSpPr/>
          <p:nvPr/>
        </p:nvSpPr>
        <p:spPr>
          <a:xfrm>
            <a:off x="2804008" y="5120640"/>
            <a:ext cx="-1120140" cy="-960120"/>
          </a:xfrm>
          <a:prstGeom prst="line">
            <a:avLst/>
          </a:prstGeom>
          <a:noFill/>
          <a:ln w="15875">
            <a:solidFill>
              <a:srgbClr val="7F7F7F"/>
            </a:solidFill>
            <a:prstDash val="solid"/>
            <a:tailEnd type="triangle"/>
          </a:ln>
        </p:spPr>
      </p:sp>
      <p:sp>
        <p:nvSpPr>
          <p:cNvPr id="23" name="Shape 20"/>
          <p:cNvSpPr/>
          <p:nvPr/>
        </p:nvSpPr>
        <p:spPr>
          <a:xfrm>
            <a:off x="1912468" y="3383280"/>
            <a:ext cx="937260" cy="-640080"/>
          </a:xfrm>
          <a:prstGeom prst="line">
            <a:avLst/>
          </a:prstGeom>
          <a:noFill/>
          <a:ln w="15875">
            <a:solidFill>
              <a:srgbClr val="7F7F7F"/>
            </a:solidFill>
            <a:prstDash val="solid"/>
            <a:tailEnd type="triangle"/>
          </a:ln>
        </p:spPr>
      </p:sp>
      <p:sp>
        <p:nvSpPr>
          <p:cNvPr id="24" name="Text 21"/>
          <p:cNvSpPr txBox="1"/>
          <p:nvPr/>
        </p:nvSpPr>
        <p:spPr>
          <a:xfrm>
            <a:off x="7240219" y="2148840"/>
            <a:ext cx="237744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投資を集中する点</a:t>
            </a:r>
            <a:endParaRPr lang="en-US" sz="1400" dirty="0"/>
          </a:p>
        </p:txBody>
      </p:sp>
      <p:sp>
        <p:nvSpPr>
          <p:cNvPr id="25" name="Text 22"/>
          <p:cNvSpPr txBox="1"/>
          <p:nvPr/>
        </p:nvSpPr>
        <p:spPr>
          <a:xfrm>
            <a:off x="7240219" y="2468880"/>
            <a:ext cx="2377440" cy="64008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便数を1時間2本から3本へ</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（年【数値】の追加費用）</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【業界】の付加価値の半分は下流の「運営・保守」で生まれるが、【対象】の事業は「製造」に偏る。下流への展開が収益改善の鍵となる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【業界】のバリューチェーンと付加価値の配分</a:t>
            </a:r>
            <a:pPr indent="0" marL="0">
              <a:buNone/>
            </a:pPr>
            <a:r>
              <a:rPr lang="en-US" sz="1100" dirty="0">
                <a:solidFill>
                  <a:srgbClr val="595959"/>
                </a:solidFill>
                <a:latin typeface="Yu Gothic UI" pitchFamily="34" charset="0"/>
                <a:ea typeface="Yu Gothic UI" pitchFamily="34" charset="-122"/>
                <a:cs typeface="Yu Gothic UI" pitchFamily="34" charset="-120"/>
              </a:rPr>
              <a:t>　（%、【年度】）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47</a:t>
            </a:r>
            <a:endParaRPr lang="en-US" sz="900" dirty="0"/>
          </a:p>
        </p:txBody>
      </p:sp>
      <p:sp>
        <p:nvSpPr>
          <p:cNvPr id="12" name="Shape 9"/>
          <p:cNvSpPr/>
          <p:nvPr/>
        </p:nvSpPr>
        <p:spPr>
          <a:xfrm>
            <a:off x="288036" y="2011680"/>
            <a:ext cx="1975653" cy="685800"/>
          </a:xfrm>
          <a:prstGeom prst="homePlate">
            <a:avLst/>
          </a:prstGeom>
          <a:solidFill>
            <a:srgbClr val="FFFFFF"/>
          </a:solidFill>
          <a:ln w="12700">
            <a:solidFill>
              <a:srgbClr val="7F7F7F"/>
            </a:solidFill>
            <a:prstDash val="solid"/>
          </a:ln>
        </p:spPr>
      </p:sp>
      <p:sp>
        <p:nvSpPr>
          <p:cNvPr id="13" name="Text 10"/>
          <p:cNvSpPr txBox="1"/>
          <p:nvPr/>
        </p:nvSpPr>
        <p:spPr>
          <a:xfrm>
            <a:off x="562356" y="2011680"/>
            <a:ext cx="1472733" cy="6858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企画</a:t>
            </a:r>
            <a:endParaRPr lang="en-US" sz="1400" dirty="0"/>
          </a:p>
        </p:txBody>
      </p:sp>
      <p:sp>
        <p:nvSpPr>
          <p:cNvPr id="14" name="Text 11"/>
          <p:cNvSpPr txBox="1"/>
          <p:nvPr/>
        </p:nvSpPr>
        <p:spPr>
          <a:xfrm>
            <a:off x="379476" y="2926080"/>
            <a:ext cx="1701333" cy="548640"/>
          </a:xfrm>
          <a:prstGeom prst="rect">
            <a:avLst/>
          </a:prstGeom>
          <a:noFill/>
          <a:ln/>
        </p:spPr>
        <p:txBody>
          <a:bodyPr wrap="square" lIns="0" tIns="0" rIns="0" bIns="0" rtlCol="0" anchor="t"/>
          <a:lstStyle/>
          <a:p>
            <a:pPr algn="ctr" indent="0" marL="0">
              <a:buNone/>
            </a:pPr>
            <a:r>
              <a:rPr lang="en-US" sz="2400" b="1" dirty="0">
                <a:solidFill>
                  <a:srgbClr val="595959"/>
                </a:solidFill>
                <a:latin typeface="Arial" pitchFamily="34" charset="0"/>
                <a:ea typeface="Arial" pitchFamily="34" charset="-122"/>
                <a:cs typeface="Arial" pitchFamily="34" charset="-120"/>
              </a:rPr>
              <a:t>8%</a:t>
            </a:r>
            <a:endParaRPr lang="en-US" sz="2400" dirty="0"/>
          </a:p>
        </p:txBody>
      </p:sp>
      <p:sp>
        <p:nvSpPr>
          <p:cNvPr id="15" name="Shape 12"/>
          <p:cNvSpPr/>
          <p:nvPr/>
        </p:nvSpPr>
        <p:spPr>
          <a:xfrm>
            <a:off x="955822" y="5138928"/>
            <a:ext cx="457200" cy="256032"/>
          </a:xfrm>
          <a:prstGeom prst="rect">
            <a:avLst/>
          </a:prstGeom>
          <a:solidFill>
            <a:srgbClr val="BFBFBF"/>
          </a:solidFill>
          <a:ln/>
        </p:spPr>
      </p:sp>
      <p:sp>
        <p:nvSpPr>
          <p:cNvPr id="16" name="Shape 13"/>
          <p:cNvSpPr/>
          <p:nvPr/>
        </p:nvSpPr>
        <p:spPr>
          <a:xfrm>
            <a:off x="2126529" y="2011680"/>
            <a:ext cx="1975653" cy="685800"/>
          </a:xfrm>
          <a:prstGeom prst="chevron">
            <a:avLst/>
          </a:prstGeom>
          <a:solidFill>
            <a:srgbClr val="FFFFFF"/>
          </a:solidFill>
          <a:ln w="12700">
            <a:solidFill>
              <a:srgbClr val="7F7F7F"/>
            </a:solidFill>
            <a:prstDash val="solid"/>
          </a:ln>
        </p:spPr>
      </p:sp>
      <p:sp>
        <p:nvSpPr>
          <p:cNvPr id="17" name="Text 14"/>
          <p:cNvSpPr txBox="1"/>
          <p:nvPr/>
        </p:nvSpPr>
        <p:spPr>
          <a:xfrm>
            <a:off x="2400849" y="2011680"/>
            <a:ext cx="1472733" cy="6858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設計</a:t>
            </a:r>
            <a:endParaRPr lang="en-US" sz="1400" dirty="0"/>
          </a:p>
        </p:txBody>
      </p:sp>
      <p:sp>
        <p:nvSpPr>
          <p:cNvPr id="18" name="Text 15"/>
          <p:cNvSpPr txBox="1"/>
          <p:nvPr/>
        </p:nvSpPr>
        <p:spPr>
          <a:xfrm>
            <a:off x="2217969" y="2926080"/>
            <a:ext cx="1701333" cy="548640"/>
          </a:xfrm>
          <a:prstGeom prst="rect">
            <a:avLst/>
          </a:prstGeom>
          <a:noFill/>
          <a:ln/>
        </p:spPr>
        <p:txBody>
          <a:bodyPr wrap="square" lIns="0" tIns="0" rIns="0" bIns="0" rtlCol="0" anchor="t"/>
          <a:lstStyle/>
          <a:p>
            <a:pPr algn="ctr" indent="0" marL="0">
              <a:buNone/>
            </a:pPr>
            <a:r>
              <a:rPr lang="en-US" sz="2400" b="1" dirty="0">
                <a:solidFill>
                  <a:srgbClr val="595959"/>
                </a:solidFill>
                <a:latin typeface="Arial" pitchFamily="34" charset="0"/>
                <a:ea typeface="Arial" pitchFamily="34" charset="-122"/>
                <a:cs typeface="Arial" pitchFamily="34" charset="-120"/>
              </a:rPr>
              <a:t>12%</a:t>
            </a:r>
            <a:endParaRPr lang="en-US" sz="2400" dirty="0"/>
          </a:p>
        </p:txBody>
      </p:sp>
      <p:sp>
        <p:nvSpPr>
          <p:cNvPr id="19" name="Shape 16"/>
          <p:cNvSpPr/>
          <p:nvPr/>
        </p:nvSpPr>
        <p:spPr>
          <a:xfrm>
            <a:off x="2794315" y="5010912"/>
            <a:ext cx="457200" cy="384048"/>
          </a:xfrm>
          <a:prstGeom prst="rect">
            <a:avLst/>
          </a:prstGeom>
          <a:solidFill>
            <a:srgbClr val="BFBFBF"/>
          </a:solidFill>
          <a:ln/>
        </p:spPr>
      </p:sp>
      <p:sp>
        <p:nvSpPr>
          <p:cNvPr id="20" name="Shape 17"/>
          <p:cNvSpPr/>
          <p:nvPr/>
        </p:nvSpPr>
        <p:spPr>
          <a:xfrm>
            <a:off x="3965021" y="2011680"/>
            <a:ext cx="1975653" cy="685800"/>
          </a:xfrm>
          <a:prstGeom prst="chevron">
            <a:avLst/>
          </a:prstGeom>
          <a:solidFill>
            <a:srgbClr val="FFFFFF"/>
          </a:solidFill>
          <a:ln w="12700">
            <a:solidFill>
              <a:srgbClr val="7F7F7F"/>
            </a:solidFill>
            <a:prstDash val="solid"/>
          </a:ln>
        </p:spPr>
      </p:sp>
      <p:sp>
        <p:nvSpPr>
          <p:cNvPr id="21" name="Text 18"/>
          <p:cNvSpPr txBox="1"/>
          <p:nvPr/>
        </p:nvSpPr>
        <p:spPr>
          <a:xfrm>
            <a:off x="4239341" y="2011680"/>
            <a:ext cx="1472733" cy="6858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製造</a:t>
            </a:r>
            <a:endParaRPr lang="en-US" sz="1400" dirty="0"/>
          </a:p>
        </p:txBody>
      </p:sp>
      <p:sp>
        <p:nvSpPr>
          <p:cNvPr id="22" name="Text 19"/>
          <p:cNvSpPr txBox="1"/>
          <p:nvPr/>
        </p:nvSpPr>
        <p:spPr>
          <a:xfrm>
            <a:off x="4056461" y="2926080"/>
            <a:ext cx="1701333" cy="548640"/>
          </a:xfrm>
          <a:prstGeom prst="rect">
            <a:avLst/>
          </a:prstGeom>
          <a:noFill/>
          <a:ln/>
        </p:spPr>
        <p:txBody>
          <a:bodyPr wrap="square" lIns="0" tIns="0" rIns="0" bIns="0" rtlCol="0" anchor="t"/>
          <a:lstStyle/>
          <a:p>
            <a:pPr algn="ctr" indent="0" marL="0">
              <a:buNone/>
            </a:pPr>
            <a:r>
              <a:rPr lang="en-US" sz="2400" b="1" dirty="0">
                <a:solidFill>
                  <a:srgbClr val="595959"/>
                </a:solidFill>
                <a:latin typeface="Arial" pitchFamily="34" charset="0"/>
                <a:ea typeface="Arial" pitchFamily="34" charset="-122"/>
                <a:cs typeface="Arial" pitchFamily="34" charset="-120"/>
              </a:rPr>
              <a:t>20%</a:t>
            </a:r>
            <a:endParaRPr lang="en-US" sz="2400" dirty="0"/>
          </a:p>
        </p:txBody>
      </p:sp>
      <p:sp>
        <p:nvSpPr>
          <p:cNvPr id="23" name="Shape 20"/>
          <p:cNvSpPr/>
          <p:nvPr/>
        </p:nvSpPr>
        <p:spPr>
          <a:xfrm>
            <a:off x="4632808" y="4754880"/>
            <a:ext cx="457200" cy="640080"/>
          </a:xfrm>
          <a:prstGeom prst="rect">
            <a:avLst/>
          </a:prstGeom>
          <a:solidFill>
            <a:srgbClr val="BFBFBF"/>
          </a:solidFill>
          <a:ln/>
        </p:spPr>
      </p:sp>
      <p:sp>
        <p:nvSpPr>
          <p:cNvPr id="24" name="Shape 21"/>
          <p:cNvSpPr/>
          <p:nvPr/>
        </p:nvSpPr>
        <p:spPr>
          <a:xfrm>
            <a:off x="5803514" y="2011680"/>
            <a:ext cx="1975653" cy="685800"/>
          </a:xfrm>
          <a:prstGeom prst="chevron">
            <a:avLst/>
          </a:prstGeom>
          <a:solidFill>
            <a:srgbClr val="FFFFFF"/>
          </a:solidFill>
          <a:ln w="12700">
            <a:solidFill>
              <a:srgbClr val="7F7F7F"/>
            </a:solidFill>
            <a:prstDash val="solid"/>
          </a:ln>
        </p:spPr>
      </p:sp>
      <p:sp>
        <p:nvSpPr>
          <p:cNvPr id="25" name="Text 22"/>
          <p:cNvSpPr txBox="1"/>
          <p:nvPr/>
        </p:nvSpPr>
        <p:spPr>
          <a:xfrm>
            <a:off x="6077834" y="2011680"/>
            <a:ext cx="1472733" cy="68580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販売</a:t>
            </a:r>
            <a:endParaRPr lang="en-US" sz="1400" dirty="0"/>
          </a:p>
        </p:txBody>
      </p:sp>
      <p:sp>
        <p:nvSpPr>
          <p:cNvPr id="26" name="Text 23"/>
          <p:cNvSpPr txBox="1"/>
          <p:nvPr/>
        </p:nvSpPr>
        <p:spPr>
          <a:xfrm>
            <a:off x="5894954" y="2926080"/>
            <a:ext cx="1701333" cy="548640"/>
          </a:xfrm>
          <a:prstGeom prst="rect">
            <a:avLst/>
          </a:prstGeom>
          <a:noFill/>
          <a:ln/>
        </p:spPr>
        <p:txBody>
          <a:bodyPr wrap="square" lIns="0" tIns="0" rIns="0" bIns="0" rtlCol="0" anchor="t"/>
          <a:lstStyle/>
          <a:p>
            <a:pPr algn="ctr" indent="0" marL="0">
              <a:buNone/>
            </a:pPr>
            <a:r>
              <a:rPr lang="en-US" sz="2400" b="1" dirty="0">
                <a:solidFill>
                  <a:srgbClr val="595959"/>
                </a:solidFill>
                <a:latin typeface="Arial" pitchFamily="34" charset="0"/>
                <a:ea typeface="Arial" pitchFamily="34" charset="-122"/>
                <a:cs typeface="Arial" pitchFamily="34" charset="-120"/>
              </a:rPr>
              <a:t>10%</a:t>
            </a:r>
            <a:endParaRPr lang="en-US" sz="2400" dirty="0"/>
          </a:p>
        </p:txBody>
      </p:sp>
      <p:sp>
        <p:nvSpPr>
          <p:cNvPr id="27" name="Shape 24"/>
          <p:cNvSpPr/>
          <p:nvPr/>
        </p:nvSpPr>
        <p:spPr>
          <a:xfrm>
            <a:off x="6471300" y="5074920"/>
            <a:ext cx="457200" cy="320040"/>
          </a:xfrm>
          <a:prstGeom prst="rect">
            <a:avLst/>
          </a:prstGeom>
          <a:solidFill>
            <a:srgbClr val="BFBFBF"/>
          </a:solidFill>
          <a:ln/>
        </p:spPr>
      </p:sp>
      <p:sp>
        <p:nvSpPr>
          <p:cNvPr id="28" name="Shape 25"/>
          <p:cNvSpPr/>
          <p:nvPr/>
        </p:nvSpPr>
        <p:spPr>
          <a:xfrm>
            <a:off x="7642007" y="2011680"/>
            <a:ext cx="1975653" cy="685800"/>
          </a:xfrm>
          <a:prstGeom prst="chevron">
            <a:avLst/>
          </a:prstGeom>
          <a:solidFill>
            <a:srgbClr val="000F78"/>
          </a:solidFill>
          <a:ln w="12700">
            <a:solidFill>
              <a:srgbClr val="000F78"/>
            </a:solidFill>
            <a:prstDash val="solid"/>
          </a:ln>
        </p:spPr>
      </p:sp>
      <p:sp>
        <p:nvSpPr>
          <p:cNvPr id="29" name="Text 26"/>
          <p:cNvSpPr txBox="1"/>
          <p:nvPr/>
        </p:nvSpPr>
        <p:spPr>
          <a:xfrm>
            <a:off x="7916327" y="2011680"/>
            <a:ext cx="1472733"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運営・保守</a:t>
            </a:r>
            <a:endParaRPr lang="en-US" sz="1400" dirty="0"/>
          </a:p>
        </p:txBody>
      </p:sp>
      <p:sp>
        <p:nvSpPr>
          <p:cNvPr id="30" name="Text 27"/>
          <p:cNvSpPr txBox="1"/>
          <p:nvPr/>
        </p:nvSpPr>
        <p:spPr>
          <a:xfrm>
            <a:off x="7733447" y="2926080"/>
            <a:ext cx="1701333" cy="548640"/>
          </a:xfrm>
          <a:prstGeom prst="rect">
            <a:avLst/>
          </a:prstGeom>
          <a:noFill/>
          <a:ln/>
        </p:spPr>
        <p:txBody>
          <a:bodyPr wrap="square" lIns="0" tIns="0" rIns="0" bIns="0" rtlCol="0" anchor="t"/>
          <a:lstStyle/>
          <a:p>
            <a:pPr algn="ctr" indent="0" marL="0">
              <a:buNone/>
            </a:pPr>
            <a:r>
              <a:rPr lang="en-US" sz="2400" b="1" dirty="0">
                <a:solidFill>
                  <a:srgbClr val="000F78"/>
                </a:solidFill>
                <a:latin typeface="Arial" pitchFamily="34" charset="0"/>
                <a:ea typeface="Arial" pitchFamily="34" charset="-122"/>
                <a:cs typeface="Arial" pitchFamily="34" charset="-120"/>
              </a:rPr>
              <a:t>50%</a:t>
            </a:r>
            <a:endParaRPr lang="en-US" sz="2400" dirty="0"/>
          </a:p>
        </p:txBody>
      </p:sp>
      <p:sp>
        <p:nvSpPr>
          <p:cNvPr id="31" name="Shape 28"/>
          <p:cNvSpPr/>
          <p:nvPr/>
        </p:nvSpPr>
        <p:spPr>
          <a:xfrm>
            <a:off x="8309793" y="3794760"/>
            <a:ext cx="457200" cy="1600200"/>
          </a:xfrm>
          <a:prstGeom prst="rect">
            <a:avLst/>
          </a:prstGeom>
          <a:solidFill>
            <a:srgbClr val="000F78"/>
          </a:solidFill>
          <a:ln/>
        </p:spPr>
      </p:sp>
      <p:sp>
        <p:nvSpPr>
          <p:cNvPr id="32" name="Shape 29"/>
          <p:cNvSpPr/>
          <p:nvPr/>
        </p:nvSpPr>
        <p:spPr>
          <a:xfrm>
            <a:off x="288036" y="5394960"/>
            <a:ext cx="9329623" cy="0"/>
          </a:xfrm>
          <a:prstGeom prst="line">
            <a:avLst/>
          </a:prstGeom>
          <a:noFill/>
          <a:ln w="9525">
            <a:solidFill>
              <a:srgbClr val="BFBFBF"/>
            </a:solidFill>
            <a:prstDash val="solid"/>
          </a:ln>
        </p:spPr>
      </p:sp>
      <p:sp>
        <p:nvSpPr>
          <p:cNvPr id="33" name="Text 30"/>
          <p:cNvSpPr txBox="1"/>
          <p:nvPr/>
        </p:nvSpPr>
        <p:spPr>
          <a:xfrm>
            <a:off x="3965021" y="5486400"/>
            <a:ext cx="1701333"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【対象】の事業</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【時期】の需要調査で、道は2つに分かれる。利用率30%以上なら拡大し、未満なら縮小して代替手段に移行する判断を1年以内に下す</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判断の分岐</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48</a:t>
            </a:r>
            <a:endParaRPr lang="en-US" sz="900" dirty="0"/>
          </a:p>
        </p:txBody>
      </p:sp>
      <p:sp>
        <p:nvSpPr>
          <p:cNvPr id="12" name="Shape 9"/>
          <p:cNvSpPr/>
          <p:nvPr/>
        </p:nvSpPr>
        <p:spPr>
          <a:xfrm>
            <a:off x="470916" y="3154680"/>
            <a:ext cx="1737360" cy="1188720"/>
          </a:xfrm>
          <a:prstGeom prst="diamond">
            <a:avLst/>
          </a:prstGeom>
          <a:solidFill>
            <a:srgbClr val="FFFFFF"/>
          </a:solidFill>
          <a:ln w="12700">
            <a:solidFill>
              <a:srgbClr val="7F7F7F"/>
            </a:solidFill>
            <a:prstDash val="solid"/>
          </a:ln>
        </p:spPr>
      </p:sp>
      <p:sp>
        <p:nvSpPr>
          <p:cNvPr id="13" name="Text 10"/>
          <p:cNvSpPr txBox="1"/>
          <p:nvPr/>
        </p:nvSpPr>
        <p:spPr>
          <a:xfrm>
            <a:off x="470916" y="3154680"/>
            <a:ext cx="1737360" cy="1188720"/>
          </a:xfrm>
          <a:prstGeom prst="rect">
            <a:avLst/>
          </a:prstGeom>
          <a:noFill/>
          <a:ln/>
        </p:spPr>
        <p:txBody>
          <a:bodyPr wrap="square" lIns="0" tIns="0" rIns="0" bIns="0" rtlCol="0" anchor="ct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需要調査</a:t>
            </a:r>
            <a:endParaRPr lang="en-US" sz="1400" dirty="0"/>
          </a:p>
          <a:p>
            <a:pPr algn="ctr" indent="0" marL="0">
              <a:buNone/>
            </a:pPr>
            <a:r>
              <a:rPr lang="en-US" sz="1400" b="1" dirty="0">
                <a:solidFill>
                  <a:srgbClr val="000000"/>
                </a:solidFill>
                <a:latin typeface="Yu Gothic UI" pitchFamily="34" charset="0"/>
                <a:ea typeface="Yu Gothic UI" pitchFamily="34" charset="-122"/>
                <a:cs typeface="Yu Gothic UI" pitchFamily="34" charset="-120"/>
              </a:rPr>
              <a:t>【時期】</a:t>
            </a:r>
            <a:endParaRPr lang="en-US" sz="1400" dirty="0"/>
          </a:p>
        </p:txBody>
      </p:sp>
      <p:sp>
        <p:nvSpPr>
          <p:cNvPr id="14" name="Shape 11"/>
          <p:cNvSpPr/>
          <p:nvPr/>
        </p:nvSpPr>
        <p:spPr>
          <a:xfrm>
            <a:off x="2208276" y="3749040"/>
            <a:ext cx="548640" cy="0"/>
          </a:xfrm>
          <a:prstGeom prst="line">
            <a:avLst/>
          </a:prstGeom>
          <a:noFill/>
          <a:ln w="12700">
            <a:solidFill>
              <a:srgbClr val="BFBFBF"/>
            </a:solidFill>
            <a:prstDash val="solid"/>
          </a:ln>
        </p:spPr>
      </p:sp>
      <p:sp>
        <p:nvSpPr>
          <p:cNvPr id="15" name="Shape 12"/>
          <p:cNvSpPr/>
          <p:nvPr/>
        </p:nvSpPr>
        <p:spPr>
          <a:xfrm>
            <a:off x="2756916" y="2606040"/>
            <a:ext cx="0" cy="1143000"/>
          </a:xfrm>
          <a:prstGeom prst="line">
            <a:avLst/>
          </a:prstGeom>
          <a:noFill/>
          <a:ln w="12700">
            <a:solidFill>
              <a:srgbClr val="BFBFBF"/>
            </a:solidFill>
            <a:prstDash val="solid"/>
          </a:ln>
        </p:spPr>
      </p:sp>
      <p:sp>
        <p:nvSpPr>
          <p:cNvPr id="16" name="Shape 13"/>
          <p:cNvSpPr/>
          <p:nvPr/>
        </p:nvSpPr>
        <p:spPr>
          <a:xfrm>
            <a:off x="2756916" y="2606040"/>
            <a:ext cx="457200" cy="0"/>
          </a:xfrm>
          <a:prstGeom prst="line">
            <a:avLst/>
          </a:prstGeom>
          <a:noFill/>
          <a:ln w="19050">
            <a:solidFill>
              <a:srgbClr val="000F78"/>
            </a:solidFill>
            <a:prstDash val="solid"/>
            <a:tailEnd type="triangle"/>
          </a:ln>
        </p:spPr>
      </p:sp>
      <p:sp>
        <p:nvSpPr>
          <p:cNvPr id="17" name="Text 14"/>
          <p:cNvSpPr txBox="1"/>
          <p:nvPr/>
        </p:nvSpPr>
        <p:spPr>
          <a:xfrm>
            <a:off x="2802636" y="2212848"/>
            <a:ext cx="210312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利用率 30%以上</a:t>
            </a:r>
            <a:endParaRPr lang="en-US" sz="1400" dirty="0"/>
          </a:p>
        </p:txBody>
      </p:sp>
      <p:sp>
        <p:nvSpPr>
          <p:cNvPr id="18" name="Shape 15"/>
          <p:cNvSpPr/>
          <p:nvPr/>
        </p:nvSpPr>
        <p:spPr>
          <a:xfrm>
            <a:off x="5042916" y="2103120"/>
            <a:ext cx="2011680" cy="1005840"/>
          </a:xfrm>
          <a:prstGeom prst="rect">
            <a:avLst/>
          </a:prstGeom>
          <a:solidFill>
            <a:srgbClr val="FFFFFF"/>
          </a:solidFill>
          <a:ln w="19050">
            <a:solidFill>
              <a:srgbClr val="000F78"/>
            </a:solidFill>
            <a:prstDash val="solid"/>
          </a:ln>
        </p:spPr>
      </p:sp>
      <p:sp>
        <p:nvSpPr>
          <p:cNvPr id="19" name="Text 16"/>
          <p:cNvSpPr txBox="1"/>
          <p:nvPr/>
        </p:nvSpPr>
        <p:spPr>
          <a:xfrm>
            <a:off x="5180076" y="2103120"/>
            <a:ext cx="1737360" cy="1005840"/>
          </a:xfrm>
          <a:prstGeom prst="rect">
            <a:avLst/>
          </a:prstGeom>
          <a:noFill/>
          <a:ln/>
        </p:spPr>
        <p:txBody>
          <a:bodyPr wrap="square" lIns="0" tIns="0" rIns="0" bIns="0" rtlCol="0" anchor="ct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拡大する</a:t>
            </a:r>
            <a:endParaRPr lang="en-US" sz="1400" dirty="0"/>
          </a:p>
        </p:txBody>
      </p:sp>
      <p:sp>
        <p:nvSpPr>
          <p:cNvPr id="20" name="Text 17"/>
          <p:cNvSpPr txBox="1"/>
          <p:nvPr/>
        </p:nvSpPr>
        <p:spPr>
          <a:xfrm>
            <a:off x="7237476" y="2103120"/>
            <a:ext cx="2380183" cy="100584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便数を1.5倍に増やし、対象地域を広げる</a:t>
            </a:r>
            <a:endParaRPr lang="en-US" sz="1400" dirty="0"/>
          </a:p>
        </p:txBody>
      </p:sp>
      <p:sp>
        <p:nvSpPr>
          <p:cNvPr id="21" name="Shape 18"/>
          <p:cNvSpPr/>
          <p:nvPr/>
        </p:nvSpPr>
        <p:spPr>
          <a:xfrm>
            <a:off x="2208276" y="3749040"/>
            <a:ext cx="548640" cy="0"/>
          </a:xfrm>
          <a:prstGeom prst="line">
            <a:avLst/>
          </a:prstGeom>
          <a:noFill/>
          <a:ln w="12700">
            <a:solidFill>
              <a:srgbClr val="BFBFBF"/>
            </a:solidFill>
            <a:prstDash val="solid"/>
          </a:ln>
        </p:spPr>
      </p:sp>
      <p:sp>
        <p:nvSpPr>
          <p:cNvPr id="22" name="Shape 19"/>
          <p:cNvSpPr/>
          <p:nvPr/>
        </p:nvSpPr>
        <p:spPr>
          <a:xfrm>
            <a:off x="2756916" y="3749040"/>
            <a:ext cx="0" cy="1280160"/>
          </a:xfrm>
          <a:prstGeom prst="line">
            <a:avLst/>
          </a:prstGeom>
          <a:noFill/>
          <a:ln w="12700">
            <a:solidFill>
              <a:srgbClr val="BFBFBF"/>
            </a:solidFill>
            <a:prstDash val="solid"/>
          </a:ln>
        </p:spPr>
      </p:sp>
      <p:sp>
        <p:nvSpPr>
          <p:cNvPr id="23" name="Shape 20"/>
          <p:cNvSpPr/>
          <p:nvPr/>
        </p:nvSpPr>
        <p:spPr>
          <a:xfrm>
            <a:off x="2756916" y="5029200"/>
            <a:ext cx="457200" cy="0"/>
          </a:xfrm>
          <a:prstGeom prst="line">
            <a:avLst/>
          </a:prstGeom>
          <a:noFill/>
          <a:ln w="12700">
            <a:solidFill>
              <a:srgbClr val="7F7F7F"/>
            </a:solidFill>
            <a:prstDash val="solid"/>
            <a:tailEnd type="triangle"/>
          </a:ln>
        </p:spPr>
      </p:sp>
      <p:sp>
        <p:nvSpPr>
          <p:cNvPr id="24" name="Text 21"/>
          <p:cNvSpPr txBox="1"/>
          <p:nvPr/>
        </p:nvSpPr>
        <p:spPr>
          <a:xfrm>
            <a:off x="2802636" y="4636008"/>
            <a:ext cx="210312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利用率 30%未満</a:t>
            </a:r>
            <a:endParaRPr lang="en-US" sz="1400" dirty="0"/>
          </a:p>
        </p:txBody>
      </p:sp>
      <p:sp>
        <p:nvSpPr>
          <p:cNvPr id="25" name="Shape 22"/>
          <p:cNvSpPr/>
          <p:nvPr/>
        </p:nvSpPr>
        <p:spPr>
          <a:xfrm>
            <a:off x="5042916" y="4526280"/>
            <a:ext cx="2011680" cy="1005840"/>
          </a:xfrm>
          <a:prstGeom prst="rect">
            <a:avLst/>
          </a:prstGeom>
          <a:solidFill>
            <a:srgbClr val="FFFFFF"/>
          </a:solidFill>
          <a:ln w="9525">
            <a:solidFill>
              <a:srgbClr val="BFBFBF"/>
            </a:solidFill>
            <a:prstDash val="solid"/>
          </a:ln>
        </p:spPr>
      </p:sp>
      <p:sp>
        <p:nvSpPr>
          <p:cNvPr id="26" name="Text 23"/>
          <p:cNvSpPr txBox="1"/>
          <p:nvPr/>
        </p:nvSpPr>
        <p:spPr>
          <a:xfrm>
            <a:off x="5180076" y="4526280"/>
            <a:ext cx="1737360" cy="1005840"/>
          </a:xfrm>
          <a:prstGeom prst="rect">
            <a:avLst/>
          </a:prstGeom>
          <a:noFill/>
          <a:ln/>
        </p:spPr>
        <p:txBody>
          <a:bodyPr wrap="square" lIns="0" tIns="0" rIns="0" bIns="0" rtlCol="0" anchor="ct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縮小して移行する</a:t>
            </a:r>
            <a:endParaRPr lang="en-US" sz="1400" dirty="0"/>
          </a:p>
        </p:txBody>
      </p:sp>
      <p:sp>
        <p:nvSpPr>
          <p:cNvPr id="27" name="Text 24"/>
          <p:cNvSpPr txBox="1"/>
          <p:nvPr/>
        </p:nvSpPr>
        <p:spPr>
          <a:xfrm>
            <a:off x="7237476" y="4526280"/>
            <a:ext cx="2380183" cy="100584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デマンド交通に置き換え、費用を4割削減</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4つの外部動向はいずれも従来の事業モデルの前提を弱める方向に働く。中でも【動向1】の影響が最も大きく、5年以内に顕在化する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事業環境の主な変化</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49</a:t>
            </a:r>
            <a:endParaRPr lang="en-US" sz="900" dirty="0"/>
          </a:p>
        </p:txBody>
      </p:sp>
      <p:sp>
        <p:nvSpPr>
          <p:cNvPr id="12" name="Shape 9"/>
          <p:cNvSpPr/>
          <p:nvPr/>
        </p:nvSpPr>
        <p:spPr>
          <a:xfrm>
            <a:off x="288036" y="1920240"/>
            <a:ext cx="4527652" cy="1965960"/>
          </a:xfrm>
          <a:prstGeom prst="rect">
            <a:avLst/>
          </a:prstGeom>
          <a:solidFill>
            <a:srgbClr val="FFFFFF"/>
          </a:solidFill>
          <a:ln w="19050">
            <a:solidFill>
              <a:srgbClr val="000F78"/>
            </a:solidFill>
            <a:prstDash val="solid"/>
          </a:ln>
        </p:spPr>
      </p:sp>
      <p:sp>
        <p:nvSpPr>
          <p:cNvPr id="13" name="Text 10"/>
          <p:cNvSpPr txBox="1"/>
          <p:nvPr/>
        </p:nvSpPr>
        <p:spPr>
          <a:xfrm>
            <a:off x="470916" y="205740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政策</a:t>
            </a:r>
            <a:endParaRPr lang="en-US" sz="1400" dirty="0"/>
          </a:p>
        </p:txBody>
      </p:sp>
      <p:sp>
        <p:nvSpPr>
          <p:cNvPr id="14" name="Text 11"/>
          <p:cNvSpPr txBox="1"/>
          <p:nvPr/>
        </p:nvSpPr>
        <p:spPr>
          <a:xfrm>
            <a:off x="470916" y="2377440"/>
            <a:ext cx="2515972" cy="3657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【動向1】</a:t>
            </a:r>
            <a:endParaRPr lang="en-US" sz="1400" dirty="0"/>
          </a:p>
        </p:txBody>
      </p:sp>
      <p:sp>
        <p:nvSpPr>
          <p:cNvPr id="15" name="Text 12"/>
          <p:cNvSpPr txBox="1"/>
          <p:nvPr/>
        </p:nvSpPr>
        <p:spPr>
          <a:xfrm>
            <a:off x="2986888" y="2194560"/>
            <a:ext cx="1645920" cy="731520"/>
          </a:xfrm>
          <a:prstGeom prst="rect">
            <a:avLst/>
          </a:prstGeom>
          <a:noFill/>
          <a:ln/>
        </p:spPr>
        <p:txBody>
          <a:bodyPr wrap="square" lIns="0" tIns="0" rIns="0" bIns="0" rtlCol="0" anchor="t"/>
          <a:lstStyle/>
          <a:p>
            <a:pPr algn="r" indent="0" marL="0">
              <a:buNone/>
            </a:pPr>
            <a:r>
              <a:rPr lang="en-US" sz="2800" b="1" dirty="0">
                <a:solidFill>
                  <a:srgbClr val="000F78"/>
                </a:solidFill>
                <a:latin typeface="Arial" pitchFamily="34" charset="0"/>
                <a:ea typeface="Arial" pitchFamily="34" charset="-122"/>
                <a:cs typeface="Arial" pitchFamily="34" charset="-120"/>
              </a:rPr>
              <a:t>【数値】</a:t>
            </a:r>
            <a:endParaRPr lang="en-US" sz="2800" dirty="0"/>
          </a:p>
        </p:txBody>
      </p:sp>
      <p:sp>
        <p:nvSpPr>
          <p:cNvPr id="16" name="Text 13"/>
          <p:cNvSpPr txBox="1"/>
          <p:nvPr/>
        </p:nvSpPr>
        <p:spPr>
          <a:xfrm>
            <a:off x="470916" y="2971800"/>
            <a:ext cx="4161892" cy="3657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2030年までに◯◯を義務化</a:t>
            </a:r>
            <a:endParaRPr lang="en-US" sz="1400" dirty="0"/>
          </a:p>
        </p:txBody>
      </p:sp>
      <p:sp>
        <p:nvSpPr>
          <p:cNvPr id="17" name="Text 14"/>
          <p:cNvSpPr txBox="1"/>
          <p:nvPr/>
        </p:nvSpPr>
        <p:spPr>
          <a:xfrm>
            <a:off x="470916" y="3429000"/>
            <a:ext cx="4161892" cy="274320"/>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出所）【発行主体】「【資料名】」（【年】）</a:t>
            </a:r>
            <a:endParaRPr lang="en-US" sz="900" dirty="0"/>
          </a:p>
        </p:txBody>
      </p:sp>
      <p:sp>
        <p:nvSpPr>
          <p:cNvPr id="18" name="Shape 15"/>
          <p:cNvSpPr/>
          <p:nvPr/>
        </p:nvSpPr>
        <p:spPr>
          <a:xfrm>
            <a:off x="5090008" y="1920240"/>
            <a:ext cx="4527652" cy="1965960"/>
          </a:xfrm>
          <a:prstGeom prst="rect">
            <a:avLst/>
          </a:prstGeom>
          <a:solidFill>
            <a:srgbClr val="FFFFFF"/>
          </a:solidFill>
          <a:ln w="9525">
            <a:solidFill>
              <a:srgbClr val="BFBFBF"/>
            </a:solidFill>
            <a:prstDash val="solid"/>
          </a:ln>
        </p:spPr>
      </p:sp>
      <p:sp>
        <p:nvSpPr>
          <p:cNvPr id="19" name="Text 16"/>
          <p:cNvSpPr txBox="1"/>
          <p:nvPr/>
        </p:nvSpPr>
        <p:spPr>
          <a:xfrm>
            <a:off x="5272888" y="205740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技術</a:t>
            </a:r>
            <a:endParaRPr lang="en-US" sz="1400" dirty="0"/>
          </a:p>
        </p:txBody>
      </p:sp>
      <p:sp>
        <p:nvSpPr>
          <p:cNvPr id="20" name="Text 17"/>
          <p:cNvSpPr txBox="1"/>
          <p:nvPr/>
        </p:nvSpPr>
        <p:spPr>
          <a:xfrm>
            <a:off x="5272888" y="2377440"/>
            <a:ext cx="2515972"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【動向2】</a:t>
            </a:r>
            <a:endParaRPr lang="en-US" sz="1400" dirty="0"/>
          </a:p>
        </p:txBody>
      </p:sp>
      <p:sp>
        <p:nvSpPr>
          <p:cNvPr id="21" name="Text 18"/>
          <p:cNvSpPr txBox="1"/>
          <p:nvPr/>
        </p:nvSpPr>
        <p:spPr>
          <a:xfrm>
            <a:off x="7788859" y="2194560"/>
            <a:ext cx="1645920" cy="731520"/>
          </a:xfrm>
          <a:prstGeom prst="rect">
            <a:avLst/>
          </a:prstGeom>
          <a:noFill/>
          <a:ln/>
        </p:spPr>
        <p:txBody>
          <a:bodyPr wrap="square" lIns="0" tIns="0" rIns="0" bIns="0" rtlCol="0" anchor="t"/>
          <a:lstStyle/>
          <a:p>
            <a:pPr algn="r" indent="0" marL="0">
              <a:buNone/>
            </a:pPr>
            <a:r>
              <a:rPr lang="en-US" sz="2800" b="1" dirty="0">
                <a:solidFill>
                  <a:srgbClr val="000000"/>
                </a:solidFill>
                <a:latin typeface="Arial" pitchFamily="34" charset="0"/>
                <a:ea typeface="Arial" pitchFamily="34" charset="-122"/>
                <a:cs typeface="Arial" pitchFamily="34" charset="-120"/>
              </a:rPr>
              <a:t>【数値】</a:t>
            </a:r>
            <a:endParaRPr lang="en-US" sz="2800" dirty="0"/>
          </a:p>
        </p:txBody>
      </p:sp>
      <p:sp>
        <p:nvSpPr>
          <p:cNvPr id="22" name="Text 19"/>
          <p:cNvSpPr txBox="1"/>
          <p:nvPr/>
        </p:nvSpPr>
        <p:spPr>
          <a:xfrm>
            <a:off x="5272888" y="2971800"/>
            <a:ext cx="4161892" cy="3657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導入費用が5年で半減</a:t>
            </a:r>
            <a:endParaRPr lang="en-US" sz="1400" dirty="0"/>
          </a:p>
        </p:txBody>
      </p:sp>
      <p:sp>
        <p:nvSpPr>
          <p:cNvPr id="23" name="Text 20"/>
          <p:cNvSpPr txBox="1"/>
          <p:nvPr/>
        </p:nvSpPr>
        <p:spPr>
          <a:xfrm>
            <a:off x="5272888" y="3429000"/>
            <a:ext cx="4161892" cy="274320"/>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出所）【発行主体】「【資料名】」（【年】）</a:t>
            </a:r>
            <a:endParaRPr lang="en-US" sz="900" dirty="0"/>
          </a:p>
        </p:txBody>
      </p:sp>
      <p:sp>
        <p:nvSpPr>
          <p:cNvPr id="24" name="Shape 21"/>
          <p:cNvSpPr/>
          <p:nvPr/>
        </p:nvSpPr>
        <p:spPr>
          <a:xfrm>
            <a:off x="288036" y="4069080"/>
            <a:ext cx="4527652" cy="1965960"/>
          </a:xfrm>
          <a:prstGeom prst="rect">
            <a:avLst/>
          </a:prstGeom>
          <a:solidFill>
            <a:srgbClr val="FFFFFF"/>
          </a:solidFill>
          <a:ln w="9525">
            <a:solidFill>
              <a:srgbClr val="BFBFBF"/>
            </a:solidFill>
            <a:prstDash val="solid"/>
          </a:ln>
        </p:spPr>
      </p:sp>
      <p:sp>
        <p:nvSpPr>
          <p:cNvPr id="25" name="Text 22"/>
          <p:cNvSpPr txBox="1"/>
          <p:nvPr/>
        </p:nvSpPr>
        <p:spPr>
          <a:xfrm>
            <a:off x="470916" y="420624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社会</a:t>
            </a:r>
            <a:endParaRPr lang="en-US" sz="1400" dirty="0"/>
          </a:p>
        </p:txBody>
      </p:sp>
      <p:sp>
        <p:nvSpPr>
          <p:cNvPr id="26" name="Text 23"/>
          <p:cNvSpPr txBox="1"/>
          <p:nvPr/>
        </p:nvSpPr>
        <p:spPr>
          <a:xfrm>
            <a:off x="470916" y="4526280"/>
            <a:ext cx="2515972"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【動向3】</a:t>
            </a:r>
            <a:endParaRPr lang="en-US" sz="1400" dirty="0"/>
          </a:p>
        </p:txBody>
      </p:sp>
      <p:sp>
        <p:nvSpPr>
          <p:cNvPr id="27" name="Text 24"/>
          <p:cNvSpPr txBox="1"/>
          <p:nvPr/>
        </p:nvSpPr>
        <p:spPr>
          <a:xfrm>
            <a:off x="2986888" y="4343400"/>
            <a:ext cx="1645920" cy="731520"/>
          </a:xfrm>
          <a:prstGeom prst="rect">
            <a:avLst/>
          </a:prstGeom>
          <a:noFill/>
          <a:ln/>
        </p:spPr>
        <p:txBody>
          <a:bodyPr wrap="square" lIns="0" tIns="0" rIns="0" bIns="0" rtlCol="0" anchor="t"/>
          <a:lstStyle/>
          <a:p>
            <a:pPr algn="r" indent="0" marL="0">
              <a:buNone/>
            </a:pPr>
            <a:r>
              <a:rPr lang="en-US" sz="2800" b="1" dirty="0">
                <a:solidFill>
                  <a:srgbClr val="000000"/>
                </a:solidFill>
                <a:latin typeface="Arial" pitchFamily="34" charset="0"/>
                <a:ea typeface="Arial" pitchFamily="34" charset="-122"/>
                <a:cs typeface="Arial" pitchFamily="34" charset="-120"/>
              </a:rPr>
              <a:t>【数値】</a:t>
            </a:r>
            <a:endParaRPr lang="en-US" sz="2800" dirty="0"/>
          </a:p>
        </p:txBody>
      </p:sp>
      <p:sp>
        <p:nvSpPr>
          <p:cNvPr id="28" name="Text 25"/>
          <p:cNvSpPr txBox="1"/>
          <p:nvPr/>
        </p:nvSpPr>
        <p:spPr>
          <a:xfrm>
            <a:off x="470916" y="5120640"/>
            <a:ext cx="4161892" cy="3657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担い手が10年で3割減</a:t>
            </a:r>
            <a:endParaRPr lang="en-US" sz="1400" dirty="0"/>
          </a:p>
        </p:txBody>
      </p:sp>
      <p:sp>
        <p:nvSpPr>
          <p:cNvPr id="29" name="Text 26"/>
          <p:cNvSpPr txBox="1"/>
          <p:nvPr/>
        </p:nvSpPr>
        <p:spPr>
          <a:xfrm>
            <a:off x="470916" y="5577840"/>
            <a:ext cx="4161892" cy="274320"/>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出所）【発行主体】「【資料名】」（【年】）</a:t>
            </a:r>
            <a:endParaRPr lang="en-US" sz="900" dirty="0"/>
          </a:p>
        </p:txBody>
      </p:sp>
      <p:sp>
        <p:nvSpPr>
          <p:cNvPr id="30" name="Shape 27"/>
          <p:cNvSpPr/>
          <p:nvPr/>
        </p:nvSpPr>
        <p:spPr>
          <a:xfrm>
            <a:off x="5090008" y="4069080"/>
            <a:ext cx="4527652" cy="1965960"/>
          </a:xfrm>
          <a:prstGeom prst="rect">
            <a:avLst/>
          </a:prstGeom>
          <a:solidFill>
            <a:srgbClr val="FFFFFF"/>
          </a:solidFill>
          <a:ln w="9525">
            <a:solidFill>
              <a:srgbClr val="BFBFBF"/>
            </a:solidFill>
            <a:prstDash val="solid"/>
          </a:ln>
        </p:spPr>
      </p:sp>
      <p:sp>
        <p:nvSpPr>
          <p:cNvPr id="31" name="Text 28"/>
          <p:cNvSpPr txBox="1"/>
          <p:nvPr/>
        </p:nvSpPr>
        <p:spPr>
          <a:xfrm>
            <a:off x="5272888" y="420624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競争</a:t>
            </a:r>
            <a:endParaRPr lang="en-US" sz="1400" dirty="0"/>
          </a:p>
        </p:txBody>
      </p:sp>
      <p:sp>
        <p:nvSpPr>
          <p:cNvPr id="32" name="Text 29"/>
          <p:cNvSpPr txBox="1"/>
          <p:nvPr/>
        </p:nvSpPr>
        <p:spPr>
          <a:xfrm>
            <a:off x="5272888" y="4526280"/>
            <a:ext cx="2515972"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【動向4】</a:t>
            </a:r>
            <a:endParaRPr lang="en-US" sz="1400" dirty="0"/>
          </a:p>
        </p:txBody>
      </p:sp>
      <p:sp>
        <p:nvSpPr>
          <p:cNvPr id="33" name="Text 30"/>
          <p:cNvSpPr txBox="1"/>
          <p:nvPr/>
        </p:nvSpPr>
        <p:spPr>
          <a:xfrm>
            <a:off x="7788859" y="4343400"/>
            <a:ext cx="1645920" cy="731520"/>
          </a:xfrm>
          <a:prstGeom prst="rect">
            <a:avLst/>
          </a:prstGeom>
          <a:noFill/>
          <a:ln/>
        </p:spPr>
        <p:txBody>
          <a:bodyPr wrap="square" lIns="0" tIns="0" rIns="0" bIns="0" rtlCol="0" anchor="t"/>
          <a:lstStyle/>
          <a:p>
            <a:pPr algn="r" indent="0" marL="0">
              <a:buNone/>
            </a:pPr>
            <a:r>
              <a:rPr lang="en-US" sz="2800" b="1" dirty="0">
                <a:solidFill>
                  <a:srgbClr val="000000"/>
                </a:solidFill>
                <a:latin typeface="Arial" pitchFamily="34" charset="0"/>
                <a:ea typeface="Arial" pitchFamily="34" charset="-122"/>
                <a:cs typeface="Arial" pitchFamily="34" charset="-120"/>
              </a:rPr>
              <a:t>【数値】</a:t>
            </a:r>
            <a:endParaRPr lang="en-US" sz="2800" dirty="0"/>
          </a:p>
        </p:txBody>
      </p:sp>
      <p:sp>
        <p:nvSpPr>
          <p:cNvPr id="34" name="Text 31"/>
          <p:cNvSpPr txBox="1"/>
          <p:nvPr/>
        </p:nvSpPr>
        <p:spPr>
          <a:xfrm>
            <a:off x="5272888" y="5120640"/>
            <a:ext cx="4161892" cy="3657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新規参入が年【数値】社</a:t>
            </a:r>
            <a:endParaRPr lang="en-US" sz="1400" dirty="0"/>
          </a:p>
        </p:txBody>
      </p:sp>
      <p:sp>
        <p:nvSpPr>
          <p:cNvPr id="35" name="Text 32"/>
          <p:cNvSpPr txBox="1"/>
          <p:nvPr/>
        </p:nvSpPr>
        <p:spPr>
          <a:xfrm>
            <a:off x="5272888" y="5577840"/>
            <a:ext cx="4161892" cy="274320"/>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出所）【発行主体】「【資料名】」（【年】）</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0　全体像</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本資料の結論は、ヒアリング32件、アンケート1,200件、10年分の運行データの3つの調査に基づき、定量と定性の両面で裏付けている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調査の概要</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50</a:t>
            </a:r>
            <a:endParaRPr lang="en-US" sz="900" dirty="0"/>
          </a:p>
        </p:txBody>
      </p:sp>
      <p:sp>
        <p:nvSpPr>
          <p:cNvPr id="12" name="Text 9"/>
          <p:cNvSpPr txBox="1"/>
          <p:nvPr/>
        </p:nvSpPr>
        <p:spPr>
          <a:xfrm>
            <a:off x="288036" y="1965960"/>
            <a:ext cx="2926994"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関係者ヒアリング</a:t>
            </a:r>
            <a:endParaRPr lang="en-US" sz="1400" dirty="0"/>
          </a:p>
        </p:txBody>
      </p:sp>
      <p:sp>
        <p:nvSpPr>
          <p:cNvPr id="13" name="Shape 10"/>
          <p:cNvSpPr/>
          <p:nvPr/>
        </p:nvSpPr>
        <p:spPr>
          <a:xfrm>
            <a:off x="288036" y="2276856"/>
            <a:ext cx="2926994" cy="0"/>
          </a:xfrm>
          <a:prstGeom prst="line">
            <a:avLst/>
          </a:prstGeom>
          <a:noFill/>
          <a:ln w="6350">
            <a:solidFill>
              <a:srgbClr val="BFBFBF"/>
            </a:solidFill>
            <a:prstDash val="solid"/>
          </a:ln>
        </p:spPr>
      </p:sp>
      <p:sp>
        <p:nvSpPr>
          <p:cNvPr id="14" name="Text 11"/>
          <p:cNvSpPr txBox="1"/>
          <p:nvPr/>
        </p:nvSpPr>
        <p:spPr>
          <a:xfrm>
            <a:off x="288036" y="2514600"/>
            <a:ext cx="2926994" cy="914400"/>
          </a:xfrm>
          <a:prstGeom prst="rect">
            <a:avLst/>
          </a:prstGeom>
          <a:noFill/>
          <a:ln/>
        </p:spPr>
        <p:txBody>
          <a:bodyPr wrap="square" lIns="0" tIns="0" rIns="0" bIns="0" rtlCol="0" anchor="ctr"/>
          <a:lstStyle/>
          <a:p>
            <a:pPr indent="0" marL="0">
              <a:buNone/>
            </a:pPr>
            <a:r>
              <a:rPr lang="en-US" sz="4000" b="1" dirty="0">
                <a:solidFill>
                  <a:srgbClr val="000000"/>
                </a:solidFill>
                <a:latin typeface="Arial" pitchFamily="34" charset="0"/>
                <a:ea typeface="Arial" pitchFamily="34" charset="-122"/>
                <a:cs typeface="Arial" pitchFamily="34" charset="-120"/>
              </a:rPr>
              <a:t>32</a:t>
            </a:r>
            <a:pPr indent="0" marL="0">
              <a:buNone/>
            </a:pPr>
            <a:r>
              <a:rPr lang="en-US" sz="1600" dirty="0">
                <a:solidFill>
                  <a:srgbClr val="595959"/>
                </a:solidFill>
                <a:latin typeface="Yu Gothic UI" pitchFamily="34" charset="0"/>
                <a:ea typeface="Yu Gothic UI" pitchFamily="34" charset="-122"/>
                <a:cs typeface="Yu Gothic UI" pitchFamily="34" charset="-120"/>
              </a:rPr>
              <a:t> 件</a:t>
            </a:r>
            <a:endParaRPr lang="en-US" sz="1400" dirty="0"/>
          </a:p>
        </p:txBody>
      </p:sp>
      <p:sp>
        <p:nvSpPr>
          <p:cNvPr id="15" name="Text 12"/>
          <p:cNvSpPr txBox="1"/>
          <p:nvPr/>
        </p:nvSpPr>
        <p:spPr>
          <a:xfrm>
            <a:off x="288036" y="3611880"/>
            <a:ext cx="2926994" cy="91440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自治体・事業者・利用者団体</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【時期】実施</a:t>
            </a:r>
            <a:endParaRPr lang="en-US" sz="1400" dirty="0"/>
          </a:p>
        </p:txBody>
      </p:sp>
      <p:sp>
        <p:nvSpPr>
          <p:cNvPr id="16" name="Text 13"/>
          <p:cNvSpPr txBox="1"/>
          <p:nvPr/>
        </p:nvSpPr>
        <p:spPr>
          <a:xfrm>
            <a:off x="3489350" y="1965960"/>
            <a:ext cx="2926994"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利用者アンケート</a:t>
            </a:r>
            <a:endParaRPr lang="en-US" sz="1400" dirty="0"/>
          </a:p>
        </p:txBody>
      </p:sp>
      <p:sp>
        <p:nvSpPr>
          <p:cNvPr id="17" name="Shape 14"/>
          <p:cNvSpPr/>
          <p:nvPr/>
        </p:nvSpPr>
        <p:spPr>
          <a:xfrm>
            <a:off x="3489350" y="2276856"/>
            <a:ext cx="2926994" cy="0"/>
          </a:xfrm>
          <a:prstGeom prst="line">
            <a:avLst/>
          </a:prstGeom>
          <a:noFill/>
          <a:ln w="15875">
            <a:solidFill>
              <a:srgbClr val="000F78"/>
            </a:solidFill>
            <a:prstDash val="solid"/>
          </a:ln>
        </p:spPr>
      </p:sp>
      <p:sp>
        <p:nvSpPr>
          <p:cNvPr id="18" name="Text 15"/>
          <p:cNvSpPr txBox="1"/>
          <p:nvPr/>
        </p:nvSpPr>
        <p:spPr>
          <a:xfrm>
            <a:off x="3489350" y="2514600"/>
            <a:ext cx="2926994" cy="914400"/>
          </a:xfrm>
          <a:prstGeom prst="rect">
            <a:avLst/>
          </a:prstGeom>
          <a:noFill/>
          <a:ln/>
        </p:spPr>
        <p:txBody>
          <a:bodyPr wrap="square" lIns="0" tIns="0" rIns="0" bIns="0" rtlCol="0" anchor="ctr"/>
          <a:lstStyle/>
          <a:p>
            <a:pPr indent="0" marL="0">
              <a:buNone/>
            </a:pPr>
            <a:r>
              <a:rPr lang="en-US" sz="4000" b="1" dirty="0">
                <a:solidFill>
                  <a:srgbClr val="000F78"/>
                </a:solidFill>
                <a:latin typeface="Arial" pitchFamily="34" charset="0"/>
                <a:ea typeface="Arial" pitchFamily="34" charset="-122"/>
                <a:cs typeface="Arial" pitchFamily="34" charset="-120"/>
              </a:rPr>
              <a:t>1,200</a:t>
            </a:r>
            <a:pPr indent="0" marL="0">
              <a:buNone/>
            </a:pPr>
            <a:r>
              <a:rPr lang="en-US" sz="1600" dirty="0">
                <a:solidFill>
                  <a:srgbClr val="595959"/>
                </a:solidFill>
                <a:latin typeface="Yu Gothic UI" pitchFamily="34" charset="0"/>
                <a:ea typeface="Yu Gothic UI" pitchFamily="34" charset="-122"/>
                <a:cs typeface="Yu Gothic UI" pitchFamily="34" charset="-120"/>
              </a:rPr>
              <a:t> 件</a:t>
            </a:r>
            <a:endParaRPr lang="en-US" sz="1400" dirty="0"/>
          </a:p>
        </p:txBody>
      </p:sp>
      <p:sp>
        <p:nvSpPr>
          <p:cNvPr id="19" name="Text 16"/>
          <p:cNvSpPr txBox="1"/>
          <p:nvPr/>
        </p:nvSpPr>
        <p:spPr>
          <a:xfrm>
            <a:off x="3489350" y="3611880"/>
            <a:ext cx="2926994" cy="91440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沿線住民（無作為抽出）</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【時期】実施、回収率【数値】%</a:t>
            </a:r>
            <a:endParaRPr lang="en-US" sz="1400" dirty="0"/>
          </a:p>
        </p:txBody>
      </p:sp>
      <p:sp>
        <p:nvSpPr>
          <p:cNvPr id="20" name="Text 17"/>
          <p:cNvSpPr txBox="1"/>
          <p:nvPr/>
        </p:nvSpPr>
        <p:spPr>
          <a:xfrm>
            <a:off x="6690665" y="1965960"/>
            <a:ext cx="2926994"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運行データ分析</a:t>
            </a:r>
            <a:endParaRPr lang="en-US" sz="1400" dirty="0"/>
          </a:p>
        </p:txBody>
      </p:sp>
      <p:sp>
        <p:nvSpPr>
          <p:cNvPr id="21" name="Shape 18"/>
          <p:cNvSpPr/>
          <p:nvPr/>
        </p:nvSpPr>
        <p:spPr>
          <a:xfrm>
            <a:off x="6690665" y="2276856"/>
            <a:ext cx="2926994" cy="0"/>
          </a:xfrm>
          <a:prstGeom prst="line">
            <a:avLst/>
          </a:prstGeom>
          <a:noFill/>
          <a:ln w="6350">
            <a:solidFill>
              <a:srgbClr val="BFBFBF"/>
            </a:solidFill>
            <a:prstDash val="solid"/>
          </a:ln>
        </p:spPr>
      </p:sp>
      <p:sp>
        <p:nvSpPr>
          <p:cNvPr id="22" name="Text 19"/>
          <p:cNvSpPr txBox="1"/>
          <p:nvPr/>
        </p:nvSpPr>
        <p:spPr>
          <a:xfrm>
            <a:off x="6690665" y="2514600"/>
            <a:ext cx="2926994" cy="914400"/>
          </a:xfrm>
          <a:prstGeom prst="rect">
            <a:avLst/>
          </a:prstGeom>
          <a:noFill/>
          <a:ln/>
        </p:spPr>
        <p:txBody>
          <a:bodyPr wrap="square" lIns="0" tIns="0" rIns="0" bIns="0" rtlCol="0" anchor="ctr"/>
          <a:lstStyle/>
          <a:p>
            <a:pPr indent="0" marL="0">
              <a:buNone/>
            </a:pPr>
            <a:r>
              <a:rPr lang="en-US" sz="4000" b="1" dirty="0">
                <a:solidFill>
                  <a:srgbClr val="000000"/>
                </a:solidFill>
                <a:latin typeface="Arial" pitchFamily="34" charset="0"/>
                <a:ea typeface="Arial" pitchFamily="34" charset="-122"/>
                <a:cs typeface="Arial" pitchFamily="34" charset="-120"/>
              </a:rPr>
              <a:t>10</a:t>
            </a:r>
            <a:pPr indent="0" marL="0">
              <a:buNone/>
            </a:pPr>
            <a:r>
              <a:rPr lang="en-US" sz="1600" dirty="0">
                <a:solidFill>
                  <a:srgbClr val="595959"/>
                </a:solidFill>
                <a:latin typeface="Yu Gothic UI" pitchFamily="34" charset="0"/>
                <a:ea typeface="Yu Gothic UI" pitchFamily="34" charset="-122"/>
                <a:cs typeface="Yu Gothic UI" pitchFamily="34" charset="-120"/>
              </a:rPr>
              <a:t> 年分</a:t>
            </a:r>
            <a:endParaRPr lang="en-US" sz="1400" dirty="0"/>
          </a:p>
        </p:txBody>
      </p:sp>
      <p:sp>
        <p:nvSpPr>
          <p:cNvPr id="23" name="Text 20"/>
          <p:cNvSpPr txBox="1"/>
          <p:nvPr/>
        </p:nvSpPr>
        <p:spPr>
          <a:xfrm>
            <a:off x="6690665" y="3611880"/>
            <a:ext cx="2926994" cy="91440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駅別・時間帯別の乗降データ</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【年度】〜【年度】</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6つの取組のうち4つは計画どおりだが、【取組C】は3か月遅れ、年度内の完了が難しい。追加の人員配置を本日決めていただきたい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取組の進捗</a:t>
            </a:r>
            <a:pPr indent="0" marL="0">
              <a:buNone/>
            </a:pPr>
            <a:r>
              <a:rPr lang="en-US" sz="1100" dirty="0">
                <a:solidFill>
                  <a:srgbClr val="595959"/>
                </a:solidFill>
                <a:latin typeface="Yu Gothic UI" pitchFamily="34" charset="0"/>
                <a:ea typeface="Yu Gothic UI" pitchFamily="34" charset="-122"/>
                <a:cs typeface="Yu Gothic UI" pitchFamily="34" charset="-120"/>
              </a:rPr>
              <a:t>　（【年月】時点）</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51</a:t>
            </a:r>
            <a:endParaRPr lang="en-US" sz="9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2194560"/>
                <a:gridCol w="1463040"/>
                <a:gridCol w="1188720"/>
                <a:gridCol w="4483303"/>
              </a:tblGrid>
              <a:tr h="4114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取組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状態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進捗</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コメント</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603504">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【取組A】</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 順調</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80%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予定どおり【月】に完了</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03504">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【取組B】</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 順調</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60%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03504">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【取組C】</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 遅延</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3か月遅れ。人員2名の追加が必要</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03504">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【取組D】</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 順調</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50%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03504">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【取組E】</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 注意</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40%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関係者の合意待ち（【月】見込み）</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03504">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【取組F】</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 順調</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新しい申請は3つの操作で完了し、所要時間は紙の申請の20分から5分に短くなる。最も時間を減らすのは、操作2の自動入力である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申請画面の操作手順</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52</a:t>
            </a:r>
            <a:endParaRPr lang="en-US" sz="900" dirty="0"/>
          </a:p>
        </p:txBody>
      </p:sp>
      <p:sp>
        <p:nvSpPr>
          <p:cNvPr id="12" name="Shape 9"/>
          <p:cNvSpPr/>
          <p:nvPr/>
        </p:nvSpPr>
        <p:spPr>
          <a:xfrm>
            <a:off x="288036" y="1965960"/>
            <a:ext cx="4754880" cy="3931920"/>
          </a:xfrm>
          <a:prstGeom prst="rect">
            <a:avLst/>
          </a:prstGeom>
          <a:solidFill>
            <a:srgbClr val="F2F2F2"/>
          </a:solidFill>
          <a:ln w="9525">
            <a:solidFill>
              <a:srgbClr val="BFBFBF"/>
            </a:solidFill>
            <a:prstDash val="solid"/>
          </a:ln>
        </p:spPr>
      </p:sp>
      <p:sp>
        <p:nvSpPr>
          <p:cNvPr id="13" name="Text 10"/>
          <p:cNvSpPr txBox="1"/>
          <p:nvPr/>
        </p:nvSpPr>
        <p:spPr>
          <a:xfrm>
            <a:off x="288036" y="3611880"/>
            <a:ext cx="4754880" cy="365760"/>
          </a:xfrm>
          <a:prstGeom prst="rect">
            <a:avLst/>
          </a:prstGeom>
          <a:noFill/>
          <a:ln/>
        </p:spPr>
        <p:txBody>
          <a:bodyPr wrap="square" lIns="0" tIns="0" rIns="0" bIns="0" rtlCol="0" anchor="t"/>
          <a:lstStyle/>
          <a:p>
            <a:pPr algn="ctr" indent="0" marL="0">
              <a:buNone/>
            </a:pPr>
            <a:r>
              <a:rPr lang="en-US" sz="1400" dirty="0">
                <a:solidFill>
                  <a:srgbClr val="7F7F7F"/>
                </a:solidFill>
                <a:latin typeface="Yu Gothic UI" pitchFamily="34" charset="0"/>
                <a:ea typeface="Yu Gothic UI" pitchFamily="34" charset="-122"/>
                <a:cs typeface="Yu Gothic UI" pitchFamily="34" charset="-120"/>
              </a:rPr>
              <a:t>【画面のスクリーンショット】</a:t>
            </a:r>
            <a:endParaRPr lang="en-US" sz="1400" dirty="0"/>
          </a:p>
        </p:txBody>
      </p:sp>
      <p:sp>
        <p:nvSpPr>
          <p:cNvPr id="14" name="Shape 11"/>
          <p:cNvSpPr/>
          <p:nvPr/>
        </p:nvSpPr>
        <p:spPr>
          <a:xfrm>
            <a:off x="653796" y="2286000"/>
            <a:ext cx="329184" cy="329184"/>
          </a:xfrm>
          <a:prstGeom prst="ellipse">
            <a:avLst/>
          </a:prstGeom>
          <a:solidFill>
            <a:srgbClr val="FFFFFF"/>
          </a:solidFill>
          <a:ln w="12700">
            <a:solidFill>
              <a:srgbClr val="000F78"/>
            </a:solidFill>
            <a:prstDash val="solid"/>
          </a:ln>
        </p:spPr>
      </p:sp>
      <p:sp>
        <p:nvSpPr>
          <p:cNvPr id="15" name="Text 12"/>
          <p:cNvSpPr txBox="1"/>
          <p:nvPr/>
        </p:nvSpPr>
        <p:spPr>
          <a:xfrm>
            <a:off x="653796" y="2286000"/>
            <a:ext cx="329184" cy="329184"/>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1</a:t>
            </a:r>
            <a:endParaRPr lang="en-US" sz="1400" dirty="0"/>
          </a:p>
        </p:txBody>
      </p:sp>
      <p:sp>
        <p:nvSpPr>
          <p:cNvPr id="16" name="Shape 13"/>
          <p:cNvSpPr/>
          <p:nvPr/>
        </p:nvSpPr>
        <p:spPr>
          <a:xfrm>
            <a:off x="2665476" y="3017520"/>
            <a:ext cx="329184" cy="329184"/>
          </a:xfrm>
          <a:prstGeom prst="ellipse">
            <a:avLst/>
          </a:prstGeom>
          <a:solidFill>
            <a:srgbClr val="000F78"/>
          </a:solidFill>
          <a:ln w="12700">
            <a:solidFill>
              <a:srgbClr val="000F78"/>
            </a:solidFill>
            <a:prstDash val="solid"/>
          </a:ln>
        </p:spPr>
      </p:sp>
      <p:sp>
        <p:nvSpPr>
          <p:cNvPr id="17" name="Text 14"/>
          <p:cNvSpPr txBox="1"/>
          <p:nvPr/>
        </p:nvSpPr>
        <p:spPr>
          <a:xfrm>
            <a:off x="2665476" y="30175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Shape 15"/>
          <p:cNvSpPr/>
          <p:nvPr/>
        </p:nvSpPr>
        <p:spPr>
          <a:xfrm>
            <a:off x="4219956" y="5212080"/>
            <a:ext cx="329184" cy="329184"/>
          </a:xfrm>
          <a:prstGeom prst="ellipse">
            <a:avLst/>
          </a:prstGeom>
          <a:solidFill>
            <a:srgbClr val="FFFFFF"/>
          </a:solidFill>
          <a:ln w="12700">
            <a:solidFill>
              <a:srgbClr val="000F78"/>
            </a:solidFill>
            <a:prstDash val="solid"/>
          </a:ln>
        </p:spPr>
      </p:sp>
      <p:sp>
        <p:nvSpPr>
          <p:cNvPr id="19" name="Text 16"/>
          <p:cNvSpPr txBox="1"/>
          <p:nvPr/>
        </p:nvSpPr>
        <p:spPr>
          <a:xfrm>
            <a:off x="4219956" y="5212080"/>
            <a:ext cx="329184" cy="329184"/>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3</a:t>
            </a:r>
            <a:endParaRPr lang="en-US" sz="1400" dirty="0"/>
          </a:p>
        </p:txBody>
      </p:sp>
      <p:sp>
        <p:nvSpPr>
          <p:cNvPr id="20" name="Shape 17"/>
          <p:cNvSpPr/>
          <p:nvPr/>
        </p:nvSpPr>
        <p:spPr>
          <a:xfrm>
            <a:off x="5408676" y="2011680"/>
            <a:ext cx="329184" cy="329184"/>
          </a:xfrm>
          <a:prstGeom prst="ellipse">
            <a:avLst/>
          </a:prstGeom>
          <a:solidFill>
            <a:srgbClr val="FFFFFF"/>
          </a:solidFill>
          <a:ln w="12700">
            <a:solidFill>
              <a:srgbClr val="000F78"/>
            </a:solidFill>
            <a:prstDash val="solid"/>
          </a:ln>
        </p:spPr>
      </p:sp>
      <p:sp>
        <p:nvSpPr>
          <p:cNvPr id="21" name="Text 18"/>
          <p:cNvSpPr txBox="1"/>
          <p:nvPr/>
        </p:nvSpPr>
        <p:spPr>
          <a:xfrm>
            <a:off x="5408676" y="2011680"/>
            <a:ext cx="329184" cy="329184"/>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1</a:t>
            </a:r>
            <a:endParaRPr lang="en-US" sz="1400" dirty="0"/>
          </a:p>
        </p:txBody>
      </p:sp>
      <p:sp>
        <p:nvSpPr>
          <p:cNvPr id="22" name="Text 19"/>
          <p:cNvSpPr txBox="1"/>
          <p:nvPr/>
        </p:nvSpPr>
        <p:spPr>
          <a:xfrm>
            <a:off x="5865876" y="1993392"/>
            <a:ext cx="3751783"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利用者番号を入力する</a:t>
            </a:r>
            <a:endParaRPr lang="en-US" sz="1400" dirty="0"/>
          </a:p>
        </p:txBody>
      </p:sp>
      <p:sp>
        <p:nvSpPr>
          <p:cNvPr id="23" name="Text 20"/>
          <p:cNvSpPr txBox="1"/>
          <p:nvPr/>
        </p:nvSpPr>
        <p:spPr>
          <a:xfrm>
            <a:off x="5865876" y="2395728"/>
            <a:ext cx="3751783"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番号は通知書の右上に記載</a:t>
            </a:r>
            <a:endParaRPr lang="en-US" sz="1400" dirty="0"/>
          </a:p>
        </p:txBody>
      </p:sp>
      <p:sp>
        <p:nvSpPr>
          <p:cNvPr id="24" name="Shape 21"/>
          <p:cNvSpPr/>
          <p:nvPr/>
        </p:nvSpPr>
        <p:spPr>
          <a:xfrm>
            <a:off x="5408676" y="3063240"/>
            <a:ext cx="4208983" cy="0"/>
          </a:xfrm>
          <a:prstGeom prst="line">
            <a:avLst/>
          </a:prstGeom>
          <a:noFill/>
          <a:ln w="9525">
            <a:solidFill>
              <a:srgbClr val="E7E6E6"/>
            </a:solidFill>
            <a:prstDash val="solid"/>
          </a:ln>
        </p:spPr>
      </p:sp>
      <p:sp>
        <p:nvSpPr>
          <p:cNvPr id="25" name="Shape 22"/>
          <p:cNvSpPr/>
          <p:nvPr/>
        </p:nvSpPr>
        <p:spPr>
          <a:xfrm>
            <a:off x="5408676" y="3291840"/>
            <a:ext cx="329184" cy="329184"/>
          </a:xfrm>
          <a:prstGeom prst="ellipse">
            <a:avLst/>
          </a:prstGeom>
          <a:solidFill>
            <a:srgbClr val="000F78"/>
          </a:solidFill>
          <a:ln w="12700">
            <a:solidFill>
              <a:srgbClr val="000F78"/>
            </a:solidFill>
            <a:prstDash val="solid"/>
          </a:ln>
        </p:spPr>
      </p:sp>
      <p:sp>
        <p:nvSpPr>
          <p:cNvPr id="26" name="Text 23"/>
          <p:cNvSpPr txBox="1"/>
          <p:nvPr/>
        </p:nvSpPr>
        <p:spPr>
          <a:xfrm>
            <a:off x="5408676" y="32918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7" name="Text 24"/>
          <p:cNvSpPr txBox="1"/>
          <p:nvPr/>
        </p:nvSpPr>
        <p:spPr>
          <a:xfrm>
            <a:off x="5865876" y="3273552"/>
            <a:ext cx="3751783" cy="3657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「自動入力」を押す</a:t>
            </a:r>
            <a:endParaRPr lang="en-US" sz="1400" dirty="0"/>
          </a:p>
        </p:txBody>
      </p:sp>
      <p:sp>
        <p:nvSpPr>
          <p:cNvPr id="28" name="Text 25"/>
          <p:cNvSpPr txBox="1"/>
          <p:nvPr/>
        </p:nvSpPr>
        <p:spPr>
          <a:xfrm>
            <a:off x="5865876" y="3675888"/>
            <a:ext cx="3751783"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住所・氏名が登録情報から入る（約15分短縮）</a:t>
            </a:r>
            <a:endParaRPr lang="en-US" sz="1400" dirty="0"/>
          </a:p>
        </p:txBody>
      </p:sp>
      <p:sp>
        <p:nvSpPr>
          <p:cNvPr id="29" name="Shape 26"/>
          <p:cNvSpPr/>
          <p:nvPr/>
        </p:nvSpPr>
        <p:spPr>
          <a:xfrm>
            <a:off x="5408676" y="4343400"/>
            <a:ext cx="4208983" cy="0"/>
          </a:xfrm>
          <a:prstGeom prst="line">
            <a:avLst/>
          </a:prstGeom>
          <a:noFill/>
          <a:ln w="9525">
            <a:solidFill>
              <a:srgbClr val="E7E6E6"/>
            </a:solidFill>
            <a:prstDash val="solid"/>
          </a:ln>
        </p:spPr>
      </p:sp>
      <p:sp>
        <p:nvSpPr>
          <p:cNvPr id="30" name="Shape 27"/>
          <p:cNvSpPr/>
          <p:nvPr/>
        </p:nvSpPr>
        <p:spPr>
          <a:xfrm>
            <a:off x="5408676" y="4572000"/>
            <a:ext cx="329184" cy="329184"/>
          </a:xfrm>
          <a:prstGeom prst="ellipse">
            <a:avLst/>
          </a:prstGeom>
          <a:solidFill>
            <a:srgbClr val="FFFFFF"/>
          </a:solidFill>
          <a:ln w="12700">
            <a:solidFill>
              <a:srgbClr val="000F78"/>
            </a:solidFill>
            <a:prstDash val="solid"/>
          </a:ln>
        </p:spPr>
      </p:sp>
      <p:sp>
        <p:nvSpPr>
          <p:cNvPr id="31" name="Text 28"/>
          <p:cNvSpPr txBox="1"/>
          <p:nvPr/>
        </p:nvSpPr>
        <p:spPr>
          <a:xfrm>
            <a:off x="5408676" y="4572000"/>
            <a:ext cx="329184" cy="329184"/>
          </a:xfrm>
          <a:prstGeom prst="rect">
            <a:avLst/>
          </a:prstGeom>
          <a:noFill/>
          <a:ln/>
        </p:spPr>
        <p:txBody>
          <a:bodyPr wrap="square" lIns="0" tIns="0" rIns="0" bIns="0" rtlCol="0" anchor="ctr"/>
          <a:lstStyle/>
          <a:p>
            <a:pPr algn="ctr" indent="0" marL="0">
              <a:buNone/>
            </a:pPr>
            <a:r>
              <a:rPr lang="en-US" sz="1400" b="1" dirty="0">
                <a:solidFill>
                  <a:srgbClr val="000F78"/>
                </a:solidFill>
                <a:latin typeface="Arial" pitchFamily="34" charset="0"/>
                <a:ea typeface="Arial" pitchFamily="34" charset="-122"/>
                <a:cs typeface="Arial" pitchFamily="34" charset="-120"/>
              </a:rPr>
              <a:t>3</a:t>
            </a:r>
            <a:endParaRPr lang="en-US" sz="1400" dirty="0"/>
          </a:p>
        </p:txBody>
      </p:sp>
      <p:sp>
        <p:nvSpPr>
          <p:cNvPr id="32" name="Text 29"/>
          <p:cNvSpPr txBox="1"/>
          <p:nvPr/>
        </p:nvSpPr>
        <p:spPr>
          <a:xfrm>
            <a:off x="5865876" y="4553712"/>
            <a:ext cx="3751783" cy="36576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内容を確認して送信する</a:t>
            </a:r>
            <a:endParaRPr lang="en-US" sz="1400" dirty="0"/>
          </a:p>
        </p:txBody>
      </p:sp>
      <p:sp>
        <p:nvSpPr>
          <p:cNvPr id="33" name="Text 30"/>
          <p:cNvSpPr txBox="1"/>
          <p:nvPr/>
        </p:nvSpPr>
        <p:spPr>
          <a:xfrm>
            <a:off x="5865876" y="4956048"/>
            <a:ext cx="3751783" cy="5486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控えがメールで届く</a:t>
            </a:r>
            <a:endParaRPr lang="en-US" sz="1400" dirty="0"/>
          </a:p>
        </p:txBody>
      </p:sp>
      <p:sp>
        <p:nvSpPr>
          <p:cNvPr id="34" name="Shape 31"/>
          <p:cNvSpPr/>
          <p:nvPr/>
        </p:nvSpPr>
        <p:spPr>
          <a:xfrm>
            <a:off x="5408676" y="5623560"/>
            <a:ext cx="4208983" cy="0"/>
          </a:xfrm>
          <a:prstGeom prst="line">
            <a:avLst/>
          </a:prstGeom>
          <a:noFill/>
          <a:ln w="9525">
            <a:solidFill>
              <a:srgbClr val="E7E6E6"/>
            </a:solidFill>
            <a:prstDash val="solid"/>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支援が必要な【数値A】世帯のうち、3つの条件が重なる【数値B】世帯が最も支援を要する。まずこの層に絞って支援を始めるべきである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支援が必要な世帯の重なり</a:t>
            </a:r>
            <a:pPr indent="0" marL="0">
              <a:buNone/>
            </a:pPr>
            <a:r>
              <a:rPr lang="en-US" sz="1100" dirty="0">
                <a:solidFill>
                  <a:srgbClr val="595959"/>
                </a:solidFill>
                <a:latin typeface="Yu Gothic UI" pitchFamily="34" charset="0"/>
                <a:ea typeface="Yu Gothic UI" pitchFamily="34" charset="-122"/>
                <a:cs typeface="Yu Gothic UI" pitchFamily="34" charset="-120"/>
              </a:rPr>
              <a:t>　（世帯、【年度】）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53</a:t>
            </a:r>
            <a:endParaRPr lang="en-US" sz="900" dirty="0"/>
          </a:p>
        </p:txBody>
      </p:sp>
      <p:sp>
        <p:nvSpPr>
          <p:cNvPr id="12" name="Shape 9"/>
          <p:cNvSpPr/>
          <p:nvPr/>
        </p:nvSpPr>
        <p:spPr>
          <a:xfrm>
            <a:off x="1293876" y="2011680"/>
            <a:ext cx="2468880" cy="2468880"/>
          </a:xfrm>
          <a:prstGeom prst="ellipse">
            <a:avLst/>
          </a:prstGeom>
          <a:ln w="15875">
            <a:solidFill>
              <a:srgbClr val="7F7F7F"/>
            </a:solidFill>
            <a:prstDash val="solid"/>
          </a:ln>
        </p:spPr>
      </p:sp>
      <p:sp>
        <p:nvSpPr>
          <p:cNvPr id="13" name="Text 10"/>
          <p:cNvSpPr txBox="1"/>
          <p:nvPr/>
        </p:nvSpPr>
        <p:spPr>
          <a:xfrm>
            <a:off x="-169164" y="2103120"/>
            <a:ext cx="1645920" cy="274320"/>
          </a:xfrm>
          <a:prstGeom prst="rect">
            <a:avLst/>
          </a:prstGeom>
          <a:noFill/>
          <a:ln/>
        </p:spPr>
        <p:txBody>
          <a:bodyPr wrap="square" lIns="0" tIns="0" rIns="0" bIns="0" rtlCol="0" anchor="t"/>
          <a:lstStyle/>
          <a:p>
            <a:pPr algn="r" indent="0" marL="0">
              <a:buNone/>
            </a:pPr>
            <a:r>
              <a:rPr lang="en-US" sz="1400" b="1" dirty="0">
                <a:solidFill>
                  <a:srgbClr val="000000"/>
                </a:solidFill>
                <a:latin typeface="Yu Gothic UI" pitchFamily="34" charset="0"/>
                <a:ea typeface="Yu Gothic UI" pitchFamily="34" charset="-122"/>
                <a:cs typeface="Yu Gothic UI" pitchFamily="34" charset="-120"/>
              </a:rPr>
              <a:t>高齢単身</a:t>
            </a:r>
            <a:endParaRPr lang="en-US" sz="1400" dirty="0"/>
          </a:p>
        </p:txBody>
      </p:sp>
      <p:sp>
        <p:nvSpPr>
          <p:cNvPr id="14" name="Shape 11"/>
          <p:cNvSpPr/>
          <p:nvPr/>
        </p:nvSpPr>
        <p:spPr>
          <a:xfrm>
            <a:off x="2665476" y="2011680"/>
            <a:ext cx="2468880" cy="2468880"/>
          </a:xfrm>
          <a:prstGeom prst="ellipse">
            <a:avLst/>
          </a:prstGeom>
          <a:ln w="15875">
            <a:solidFill>
              <a:srgbClr val="7F7F7F"/>
            </a:solidFill>
            <a:prstDash val="solid"/>
          </a:ln>
        </p:spPr>
      </p:sp>
      <p:sp>
        <p:nvSpPr>
          <p:cNvPr id="15" name="Text 12"/>
          <p:cNvSpPr txBox="1"/>
          <p:nvPr/>
        </p:nvSpPr>
        <p:spPr>
          <a:xfrm>
            <a:off x="5225796" y="2103120"/>
            <a:ext cx="1645920" cy="274320"/>
          </a:xfrm>
          <a:prstGeom prst="rect">
            <a:avLst/>
          </a:prstGeom>
          <a:noFill/>
          <a:ln/>
        </p:spPr>
        <p:txBody>
          <a:bodyPr wrap="square" lIns="0" tIns="0" rIns="0" bIns="0" rtlCol="0" anchor="t"/>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移動手段なし</a:t>
            </a:r>
            <a:endParaRPr lang="en-US" sz="1400" dirty="0"/>
          </a:p>
        </p:txBody>
      </p:sp>
      <p:sp>
        <p:nvSpPr>
          <p:cNvPr id="16" name="Shape 13"/>
          <p:cNvSpPr/>
          <p:nvPr/>
        </p:nvSpPr>
        <p:spPr>
          <a:xfrm>
            <a:off x="1979676" y="3108960"/>
            <a:ext cx="2468880" cy="2468880"/>
          </a:xfrm>
          <a:prstGeom prst="ellipse">
            <a:avLst/>
          </a:prstGeom>
          <a:ln w="15875">
            <a:solidFill>
              <a:srgbClr val="7F7F7F"/>
            </a:solidFill>
            <a:prstDash val="solid"/>
          </a:ln>
        </p:spPr>
      </p:sp>
      <p:sp>
        <p:nvSpPr>
          <p:cNvPr id="17" name="Text 14"/>
          <p:cNvSpPr txBox="1"/>
          <p:nvPr/>
        </p:nvSpPr>
        <p:spPr>
          <a:xfrm>
            <a:off x="2391156" y="5623560"/>
            <a:ext cx="1645920" cy="27432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低所得</a:t>
            </a:r>
            <a:endParaRPr lang="en-US" sz="1400" dirty="0"/>
          </a:p>
        </p:txBody>
      </p:sp>
      <p:sp>
        <p:nvSpPr>
          <p:cNvPr id="18" name="Shape 15"/>
          <p:cNvSpPr/>
          <p:nvPr/>
        </p:nvSpPr>
        <p:spPr>
          <a:xfrm>
            <a:off x="2894076" y="3429000"/>
            <a:ext cx="640080" cy="640080"/>
          </a:xfrm>
          <a:prstGeom prst="ellipse">
            <a:avLst/>
          </a:prstGeom>
          <a:solidFill>
            <a:srgbClr val="000F78"/>
          </a:solidFill>
          <a:ln/>
        </p:spPr>
      </p:sp>
      <p:sp>
        <p:nvSpPr>
          <p:cNvPr id="19" name="Text 16"/>
          <p:cNvSpPr txBox="1"/>
          <p:nvPr/>
        </p:nvSpPr>
        <p:spPr>
          <a:xfrm>
            <a:off x="2802636" y="3566160"/>
            <a:ext cx="8229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【B】</a:t>
            </a:r>
            <a:endParaRPr lang="en-US" sz="1400" dirty="0"/>
          </a:p>
        </p:txBody>
      </p:sp>
      <p:sp>
        <p:nvSpPr>
          <p:cNvPr id="20" name="Text 17"/>
          <p:cNvSpPr txBox="1"/>
          <p:nvPr/>
        </p:nvSpPr>
        <p:spPr>
          <a:xfrm>
            <a:off x="6414516" y="2377440"/>
            <a:ext cx="3203143"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3条件すべてに当たる世帯</a:t>
            </a:r>
            <a:endParaRPr lang="en-US" sz="1400" dirty="0"/>
          </a:p>
        </p:txBody>
      </p:sp>
      <p:sp>
        <p:nvSpPr>
          <p:cNvPr id="21" name="Text 18"/>
          <p:cNvSpPr txBox="1"/>
          <p:nvPr/>
        </p:nvSpPr>
        <p:spPr>
          <a:xfrm>
            <a:off x="6414516" y="2743200"/>
            <a:ext cx="3203143" cy="640080"/>
          </a:xfrm>
          <a:prstGeom prst="rect">
            <a:avLst/>
          </a:prstGeom>
          <a:noFill/>
          <a:ln/>
        </p:spPr>
        <p:txBody>
          <a:bodyPr wrap="square" lIns="0" tIns="0" rIns="0" bIns="0" rtlCol="0" anchor="t"/>
          <a:lstStyle/>
          <a:p>
            <a:pPr indent="0" marL="0">
              <a:buNone/>
            </a:pPr>
            <a:r>
              <a:rPr lang="en-US" sz="2800" b="1" dirty="0">
                <a:solidFill>
                  <a:srgbClr val="000F78"/>
                </a:solidFill>
                <a:latin typeface="Yu Gothic UI" pitchFamily="34" charset="0"/>
                <a:ea typeface="Yu Gothic UI" pitchFamily="34" charset="-122"/>
                <a:cs typeface="Yu Gothic UI" pitchFamily="34" charset="-120"/>
              </a:rPr>
              <a:t>【数値B】世帯</a:t>
            </a:r>
            <a:endParaRPr lang="en-US" sz="2800" dirty="0"/>
          </a:p>
        </p:txBody>
      </p:sp>
      <p:sp>
        <p:nvSpPr>
          <p:cNvPr id="22" name="Shape 19"/>
          <p:cNvSpPr/>
          <p:nvPr/>
        </p:nvSpPr>
        <p:spPr>
          <a:xfrm>
            <a:off x="6414516" y="3520440"/>
            <a:ext cx="3203143" cy="0"/>
          </a:xfrm>
          <a:prstGeom prst="line">
            <a:avLst/>
          </a:prstGeom>
          <a:noFill/>
          <a:ln w="9525">
            <a:solidFill>
              <a:srgbClr val="E7E6E6"/>
            </a:solidFill>
            <a:prstDash val="solid"/>
          </a:ln>
        </p:spPr>
      </p:sp>
      <p:sp>
        <p:nvSpPr>
          <p:cNvPr id="23" name="Text 20"/>
          <p:cNvSpPr txBox="1"/>
          <p:nvPr/>
        </p:nvSpPr>
        <p:spPr>
          <a:xfrm>
            <a:off x="6414516" y="3657600"/>
            <a:ext cx="3203143" cy="7315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支援が必要な世帯全体</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【数値A】世帯</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立場の異なる関係者が共通して「【論点】」を最大の不安に挙げた。数字に表れにくいこの不安への手当てが、合意形成の前提となる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ヒアリングで聞かれた声</a:t>
            </a:r>
            <a:pPr indent="0" marL="0">
              <a:buNone/>
            </a:pPr>
            <a:r>
              <a:rPr lang="en-US" sz="1100" dirty="0">
                <a:solidFill>
                  <a:srgbClr val="595959"/>
                </a:solidFill>
                <a:latin typeface="Yu Gothic UI" pitchFamily="34" charset="0"/>
                <a:ea typeface="Yu Gothic UI" pitchFamily="34" charset="-122"/>
                <a:cs typeface="Yu Gothic UI" pitchFamily="34" charset="-120"/>
              </a:rPr>
              <a:t>　（ヒアリング32件より抜粋）</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54</a:t>
            </a:r>
            <a:endParaRPr lang="en-US" sz="900" dirty="0"/>
          </a:p>
        </p:txBody>
      </p:sp>
      <p:sp>
        <p:nvSpPr>
          <p:cNvPr id="12" name="Shape 9"/>
          <p:cNvSpPr/>
          <p:nvPr/>
        </p:nvSpPr>
        <p:spPr>
          <a:xfrm>
            <a:off x="288036" y="2011680"/>
            <a:ext cx="0" cy="960120"/>
          </a:xfrm>
          <a:prstGeom prst="line">
            <a:avLst/>
          </a:prstGeom>
          <a:noFill/>
          <a:ln w="38100">
            <a:solidFill>
              <a:srgbClr val="000F78"/>
            </a:solidFill>
            <a:prstDash val="solid"/>
          </a:ln>
        </p:spPr>
      </p:sp>
      <p:sp>
        <p:nvSpPr>
          <p:cNvPr id="13" name="Text 10"/>
          <p:cNvSpPr txBox="1"/>
          <p:nvPr/>
        </p:nvSpPr>
        <p:spPr>
          <a:xfrm>
            <a:off x="562356" y="2011680"/>
            <a:ext cx="9055303" cy="548640"/>
          </a:xfrm>
          <a:prstGeom prst="rect">
            <a:avLst/>
          </a:prstGeom>
          <a:noFill/>
          <a:ln/>
        </p:spPr>
        <p:txBody>
          <a:bodyPr wrap="square" lIns="0" tIns="0" rIns="0" bIns="0" rtlCol="0" anchor="ctr"/>
          <a:lstStyle/>
          <a:p>
            <a:pPr indent="0" marL="0">
              <a:buNone/>
            </a:pPr>
            <a:r>
              <a:rPr lang="en-US" sz="1600" b="1" dirty="0">
                <a:solidFill>
                  <a:srgbClr val="000F78"/>
                </a:solidFill>
                <a:latin typeface="Yu Gothic UI" pitchFamily="34" charset="0"/>
                <a:ea typeface="Yu Gothic UI" pitchFamily="34" charset="-122"/>
                <a:cs typeface="Yu Gothic UI" pitchFamily="34" charset="-120"/>
              </a:rPr>
              <a:t>「【発言1：主張を最も端的に表す声】」</a:t>
            </a:r>
            <a:endParaRPr lang="en-US" sz="1600" dirty="0"/>
          </a:p>
        </p:txBody>
      </p:sp>
      <p:sp>
        <p:nvSpPr>
          <p:cNvPr id="14" name="Text 11"/>
          <p:cNvSpPr txBox="1"/>
          <p:nvPr/>
        </p:nvSpPr>
        <p:spPr>
          <a:xfrm>
            <a:off x="562356" y="2606040"/>
            <a:ext cx="9055303" cy="320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沿線自治体 交通政策担当</a:t>
            </a:r>
            <a:endParaRPr lang="en-US" sz="1400" dirty="0"/>
          </a:p>
        </p:txBody>
      </p:sp>
      <p:sp>
        <p:nvSpPr>
          <p:cNvPr id="15" name="Shape 12"/>
          <p:cNvSpPr/>
          <p:nvPr/>
        </p:nvSpPr>
        <p:spPr>
          <a:xfrm>
            <a:off x="288036" y="3337560"/>
            <a:ext cx="0" cy="960120"/>
          </a:xfrm>
          <a:prstGeom prst="line">
            <a:avLst/>
          </a:prstGeom>
          <a:noFill/>
          <a:ln w="19050">
            <a:solidFill>
              <a:srgbClr val="BFBFBF"/>
            </a:solidFill>
            <a:prstDash val="solid"/>
          </a:ln>
        </p:spPr>
      </p:sp>
      <p:sp>
        <p:nvSpPr>
          <p:cNvPr id="16" name="Text 13"/>
          <p:cNvSpPr txBox="1"/>
          <p:nvPr/>
        </p:nvSpPr>
        <p:spPr>
          <a:xfrm>
            <a:off x="562356" y="3337560"/>
            <a:ext cx="9055303" cy="54864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「【発言2】」</a:t>
            </a:r>
            <a:endParaRPr lang="en-US" sz="1400" dirty="0"/>
          </a:p>
        </p:txBody>
      </p:sp>
      <p:sp>
        <p:nvSpPr>
          <p:cNvPr id="17" name="Text 14"/>
          <p:cNvSpPr txBox="1"/>
          <p:nvPr/>
        </p:nvSpPr>
        <p:spPr>
          <a:xfrm>
            <a:off x="562356" y="3931920"/>
            <a:ext cx="9055303" cy="320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地元事業者 経営者</a:t>
            </a:r>
            <a:endParaRPr lang="en-US" sz="1400" dirty="0"/>
          </a:p>
        </p:txBody>
      </p:sp>
      <p:sp>
        <p:nvSpPr>
          <p:cNvPr id="18" name="Shape 15"/>
          <p:cNvSpPr/>
          <p:nvPr/>
        </p:nvSpPr>
        <p:spPr>
          <a:xfrm>
            <a:off x="288036" y="4663440"/>
            <a:ext cx="0" cy="960120"/>
          </a:xfrm>
          <a:prstGeom prst="line">
            <a:avLst/>
          </a:prstGeom>
          <a:noFill/>
          <a:ln w="19050">
            <a:solidFill>
              <a:srgbClr val="BFBFBF"/>
            </a:solidFill>
            <a:prstDash val="solid"/>
          </a:ln>
        </p:spPr>
      </p:sp>
      <p:sp>
        <p:nvSpPr>
          <p:cNvPr id="19" name="Text 16"/>
          <p:cNvSpPr txBox="1"/>
          <p:nvPr/>
        </p:nvSpPr>
        <p:spPr>
          <a:xfrm>
            <a:off x="562356" y="4663440"/>
            <a:ext cx="9055303" cy="54864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「【発言3】」</a:t>
            </a:r>
            <a:endParaRPr lang="en-US" sz="1400" dirty="0"/>
          </a:p>
        </p:txBody>
      </p:sp>
      <p:sp>
        <p:nvSpPr>
          <p:cNvPr id="20" name="Text 17"/>
          <p:cNvSpPr txBox="1"/>
          <p:nvPr/>
        </p:nvSpPr>
        <p:spPr>
          <a:xfrm>
            <a:off x="562356" y="5257800"/>
            <a:ext cx="9055303" cy="320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利用者団体 代表</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【指標】は【属性】ほど低く、最も低い層では全体の半分にとどまる。数字の背景には【理由】があり、支援は最も低い層から始めるべきである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属性別の【指標】</a:t>
            </a:r>
            <a:pPr indent="0" marL="0">
              <a:buNone/>
            </a:pPr>
            <a:r>
              <a:rPr lang="en-US" sz="1100" dirty="0">
                <a:solidFill>
                  <a:srgbClr val="595959"/>
                </a:solidFill>
                <a:latin typeface="Yu Gothic UI" pitchFamily="34" charset="0"/>
                <a:ea typeface="Yu Gothic UI" pitchFamily="34" charset="-122"/>
                <a:cs typeface="Yu Gothic UI" pitchFamily="34" charset="-120"/>
              </a:rPr>
              <a:t>　（%、n＝【数値】、【調査時期】）</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55</a:t>
            </a:r>
            <a:endParaRPr lang="en-US" sz="900" dirty="0"/>
          </a:p>
        </p:txBody>
      </p:sp>
      <p:graphicFrame>
        <p:nvGraphicFramePr>
          <p:cNvPr id="12" name="Chart 0" descr=""/>
          <p:cNvGraphicFramePr/>
          <p:nvPr/>
        </p:nvGraphicFramePr>
        <p:xfrm>
          <a:off x="288036" y="1920240"/>
          <a:ext cx="5669280" cy="411480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6231636" y="1920240"/>
            <a:ext cx="3386023" cy="4114800"/>
          </a:xfrm>
          <a:prstGeom prst="rect">
            <a:avLst/>
          </a:prstGeom>
          <a:solidFill>
            <a:srgbClr val="F2F2F2"/>
          </a:solidFill>
          <a:ln/>
        </p:spPr>
      </p:sp>
      <p:sp>
        <p:nvSpPr>
          <p:cNvPr id="14" name="Text 10"/>
          <p:cNvSpPr txBox="1"/>
          <p:nvPr/>
        </p:nvSpPr>
        <p:spPr>
          <a:xfrm>
            <a:off x="6414516" y="2057400"/>
            <a:ext cx="3020263" cy="27432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現場の声</a:t>
            </a:r>
            <a:endParaRPr lang="en-US" sz="1400" dirty="0"/>
          </a:p>
        </p:txBody>
      </p:sp>
      <p:sp>
        <p:nvSpPr>
          <p:cNvPr id="15" name="Text 11"/>
          <p:cNvSpPr txBox="1"/>
          <p:nvPr/>
        </p:nvSpPr>
        <p:spPr>
          <a:xfrm>
            <a:off x="6414516" y="2423160"/>
            <a:ext cx="3020263" cy="137160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「【声1】」</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「【声2】」</a:t>
            </a:r>
            <a:endParaRPr lang="en-US" sz="1400" dirty="0"/>
          </a:p>
        </p:txBody>
      </p:sp>
      <p:sp>
        <p:nvSpPr>
          <p:cNvPr id="16" name="Shape 12"/>
          <p:cNvSpPr/>
          <p:nvPr/>
        </p:nvSpPr>
        <p:spPr>
          <a:xfrm>
            <a:off x="6414516" y="3977640"/>
            <a:ext cx="3020263" cy="0"/>
          </a:xfrm>
          <a:prstGeom prst="line">
            <a:avLst/>
          </a:prstGeom>
          <a:noFill/>
          <a:ln w="9525">
            <a:solidFill>
              <a:srgbClr val="BFBFBF"/>
            </a:solidFill>
            <a:prstDash val="solid"/>
          </a:ln>
        </p:spPr>
      </p:sp>
      <p:sp>
        <p:nvSpPr>
          <p:cNvPr id="17" name="Text 13"/>
          <p:cNvSpPr txBox="1"/>
          <p:nvPr/>
        </p:nvSpPr>
        <p:spPr>
          <a:xfrm>
            <a:off x="6414516" y="4114800"/>
            <a:ext cx="3020263" cy="27432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示唆</a:t>
            </a:r>
            <a:endParaRPr lang="en-US" sz="1400" dirty="0"/>
          </a:p>
        </p:txBody>
      </p:sp>
      <p:sp>
        <p:nvSpPr>
          <p:cNvPr id="18" name="Text 14"/>
          <p:cNvSpPr txBox="1"/>
          <p:nvPr/>
        </p:nvSpPr>
        <p:spPr>
          <a:xfrm>
            <a:off x="6414516" y="4480560"/>
            <a:ext cx="3020263" cy="109728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【属性D】から支援を始め、【理由】を取り除く</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8つの指標のうち6つで【対象】は平均を下回り、特に【指標3】は平均の半分にとどまる。弱みは【領域】に集中しており、ここを優先して改善する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指標別の比較</a:t>
            </a:r>
            <a:pPr indent="0" marL="0">
              <a:buNone/>
            </a:pPr>
            <a:r>
              <a:rPr lang="en-US" sz="1100" dirty="0">
                <a:solidFill>
                  <a:srgbClr val="595959"/>
                </a:solidFill>
                <a:latin typeface="Yu Gothic UI" pitchFamily="34" charset="0"/>
                <a:ea typeface="Yu Gothic UI" pitchFamily="34" charset="-122"/>
                <a:cs typeface="Yu Gothic UI" pitchFamily="34" charset="-120"/>
              </a:rPr>
              <a:t>　（比較対象の平均＝100、【年度】）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931859" y="1417320"/>
            <a:ext cx="68580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見本</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注）ダミー値による見本。実際の資料ではエビデンスExcelの値に差し替える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出所）【発行主体】「【資料名】」（【発行年月】）</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56</a:t>
            </a:r>
            <a:endParaRPr lang="en-US" sz="900" dirty="0"/>
          </a:p>
        </p:txBody>
      </p:sp>
      <p:sp>
        <p:nvSpPr>
          <p:cNvPr id="12" name="Text 9"/>
          <p:cNvSpPr txBox="1"/>
          <p:nvPr/>
        </p:nvSpPr>
        <p:spPr>
          <a:xfrm>
            <a:off x="288036" y="1920240"/>
            <a:ext cx="2743200" cy="32004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指標</a:t>
            </a:r>
            <a:endParaRPr lang="en-US" sz="1400" dirty="0"/>
          </a:p>
        </p:txBody>
      </p:sp>
      <p:sp>
        <p:nvSpPr>
          <p:cNvPr id="13" name="Text 10"/>
          <p:cNvSpPr txBox="1"/>
          <p:nvPr/>
        </p:nvSpPr>
        <p:spPr>
          <a:xfrm>
            <a:off x="3122676" y="1920240"/>
            <a:ext cx="914400" cy="320040"/>
          </a:xfrm>
          <a:prstGeom prst="rect">
            <a:avLst/>
          </a:prstGeom>
          <a:noFill/>
          <a:ln/>
        </p:spPr>
        <p:txBody>
          <a:bodyPr wrap="square" lIns="0" tIns="0" rIns="0" bIns="0" rtlCol="0" anchor="t"/>
          <a:lstStyle/>
          <a:p>
            <a:pPr algn="r" indent="0" marL="0">
              <a:buNone/>
            </a:pPr>
            <a:r>
              <a:rPr lang="en-US" sz="1400" b="1" dirty="0">
                <a:solidFill>
                  <a:srgbClr val="000000"/>
                </a:solidFill>
                <a:latin typeface="Yu Gothic UI" pitchFamily="34" charset="0"/>
                <a:ea typeface="Yu Gothic UI" pitchFamily="34" charset="-122"/>
                <a:cs typeface="Yu Gothic UI" pitchFamily="34" charset="-120"/>
              </a:rPr>
              <a:t>指数</a:t>
            </a:r>
            <a:endParaRPr lang="en-US" sz="1400" dirty="0"/>
          </a:p>
        </p:txBody>
      </p:sp>
      <p:sp>
        <p:nvSpPr>
          <p:cNvPr id="14" name="Shape 11"/>
          <p:cNvSpPr/>
          <p:nvPr/>
        </p:nvSpPr>
        <p:spPr>
          <a:xfrm>
            <a:off x="288036" y="2304288"/>
            <a:ext cx="9329623" cy="0"/>
          </a:xfrm>
          <a:prstGeom prst="line">
            <a:avLst/>
          </a:prstGeom>
          <a:noFill/>
          <a:ln w="12700">
            <a:solidFill>
              <a:srgbClr val="7F7F7F"/>
            </a:solidFill>
            <a:prstDash val="solid"/>
          </a:ln>
        </p:spPr>
      </p:sp>
      <p:sp>
        <p:nvSpPr>
          <p:cNvPr id="15" name="Text 12"/>
          <p:cNvSpPr txBox="1"/>
          <p:nvPr/>
        </p:nvSpPr>
        <p:spPr>
          <a:xfrm>
            <a:off x="288036" y="2377440"/>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【指標1】</a:t>
            </a:r>
            <a:endParaRPr lang="en-US" sz="1400" dirty="0"/>
          </a:p>
        </p:txBody>
      </p:sp>
      <p:sp>
        <p:nvSpPr>
          <p:cNvPr id="16" name="Text 13"/>
          <p:cNvSpPr txBox="1"/>
          <p:nvPr/>
        </p:nvSpPr>
        <p:spPr>
          <a:xfrm>
            <a:off x="3122676" y="2377440"/>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112</a:t>
            </a:r>
            <a:endParaRPr lang="en-US" sz="1400" dirty="0"/>
          </a:p>
        </p:txBody>
      </p:sp>
      <p:sp>
        <p:nvSpPr>
          <p:cNvPr id="17" name="Shape 14"/>
          <p:cNvSpPr/>
          <p:nvPr/>
        </p:nvSpPr>
        <p:spPr>
          <a:xfrm>
            <a:off x="4219956" y="2496312"/>
            <a:ext cx="3584448" cy="192024"/>
          </a:xfrm>
          <a:prstGeom prst="rect">
            <a:avLst/>
          </a:prstGeom>
          <a:solidFill>
            <a:srgbClr val="BFBFBF"/>
          </a:solidFill>
          <a:ln/>
        </p:spPr>
      </p:sp>
      <p:sp>
        <p:nvSpPr>
          <p:cNvPr id="18" name="Shape 15"/>
          <p:cNvSpPr/>
          <p:nvPr/>
        </p:nvSpPr>
        <p:spPr>
          <a:xfrm>
            <a:off x="288036" y="2807208"/>
            <a:ext cx="9329623" cy="0"/>
          </a:xfrm>
          <a:prstGeom prst="line">
            <a:avLst/>
          </a:prstGeom>
          <a:noFill/>
          <a:ln w="6350">
            <a:solidFill>
              <a:srgbClr val="E7E6E6"/>
            </a:solidFill>
            <a:prstDash val="solid"/>
          </a:ln>
        </p:spPr>
      </p:sp>
      <p:sp>
        <p:nvSpPr>
          <p:cNvPr id="19" name="Text 16"/>
          <p:cNvSpPr txBox="1"/>
          <p:nvPr/>
        </p:nvSpPr>
        <p:spPr>
          <a:xfrm>
            <a:off x="288036" y="2807208"/>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【指標2】</a:t>
            </a:r>
            <a:endParaRPr lang="en-US" sz="1400" dirty="0"/>
          </a:p>
        </p:txBody>
      </p:sp>
      <p:sp>
        <p:nvSpPr>
          <p:cNvPr id="20" name="Text 17"/>
          <p:cNvSpPr txBox="1"/>
          <p:nvPr/>
        </p:nvSpPr>
        <p:spPr>
          <a:xfrm>
            <a:off x="3122676" y="2807208"/>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95</a:t>
            </a:r>
            <a:endParaRPr lang="en-US" sz="1400" dirty="0"/>
          </a:p>
        </p:txBody>
      </p:sp>
      <p:sp>
        <p:nvSpPr>
          <p:cNvPr id="21" name="Shape 18"/>
          <p:cNvSpPr/>
          <p:nvPr/>
        </p:nvSpPr>
        <p:spPr>
          <a:xfrm>
            <a:off x="4219956" y="2926080"/>
            <a:ext cx="3040380" cy="192024"/>
          </a:xfrm>
          <a:prstGeom prst="rect">
            <a:avLst/>
          </a:prstGeom>
          <a:solidFill>
            <a:srgbClr val="BFBFBF"/>
          </a:solidFill>
          <a:ln/>
        </p:spPr>
      </p:sp>
      <p:sp>
        <p:nvSpPr>
          <p:cNvPr id="22" name="Shape 19"/>
          <p:cNvSpPr/>
          <p:nvPr/>
        </p:nvSpPr>
        <p:spPr>
          <a:xfrm>
            <a:off x="288036" y="3236976"/>
            <a:ext cx="9329623" cy="0"/>
          </a:xfrm>
          <a:prstGeom prst="line">
            <a:avLst/>
          </a:prstGeom>
          <a:noFill/>
          <a:ln w="6350">
            <a:solidFill>
              <a:srgbClr val="E7E6E6"/>
            </a:solidFill>
            <a:prstDash val="solid"/>
          </a:ln>
        </p:spPr>
      </p:sp>
      <p:sp>
        <p:nvSpPr>
          <p:cNvPr id="23" name="Text 20"/>
          <p:cNvSpPr txBox="1"/>
          <p:nvPr/>
        </p:nvSpPr>
        <p:spPr>
          <a:xfrm>
            <a:off x="288036" y="3236976"/>
            <a:ext cx="2743200" cy="429768"/>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【指標3】</a:t>
            </a:r>
            <a:endParaRPr lang="en-US" sz="1400" dirty="0"/>
          </a:p>
        </p:txBody>
      </p:sp>
      <p:sp>
        <p:nvSpPr>
          <p:cNvPr id="24" name="Text 21"/>
          <p:cNvSpPr txBox="1"/>
          <p:nvPr/>
        </p:nvSpPr>
        <p:spPr>
          <a:xfrm>
            <a:off x="3122676" y="3236976"/>
            <a:ext cx="914400" cy="429768"/>
          </a:xfrm>
          <a:prstGeom prst="rect">
            <a:avLst/>
          </a:prstGeom>
          <a:noFill/>
          <a:ln/>
        </p:spPr>
        <p:txBody>
          <a:bodyPr wrap="square" lIns="0" tIns="0" rIns="0" bIns="0" rtlCol="0" anchor="ctr"/>
          <a:lstStyle/>
          <a:p>
            <a:pPr algn="r" indent="0" marL="0">
              <a:buNone/>
            </a:pPr>
            <a:r>
              <a:rPr lang="en-US" sz="1400" b="1" dirty="0">
                <a:solidFill>
                  <a:srgbClr val="000F78"/>
                </a:solidFill>
                <a:latin typeface="Arial" pitchFamily="34" charset="0"/>
                <a:ea typeface="Arial" pitchFamily="34" charset="-122"/>
                <a:cs typeface="Arial" pitchFamily="34" charset="-120"/>
              </a:rPr>
              <a:t>50</a:t>
            </a:r>
            <a:endParaRPr lang="en-US" sz="1400" dirty="0"/>
          </a:p>
        </p:txBody>
      </p:sp>
      <p:sp>
        <p:nvSpPr>
          <p:cNvPr id="25" name="Shape 22"/>
          <p:cNvSpPr/>
          <p:nvPr/>
        </p:nvSpPr>
        <p:spPr>
          <a:xfrm>
            <a:off x="4219956" y="3355848"/>
            <a:ext cx="1600200" cy="192024"/>
          </a:xfrm>
          <a:prstGeom prst="rect">
            <a:avLst/>
          </a:prstGeom>
          <a:solidFill>
            <a:srgbClr val="000F78"/>
          </a:solidFill>
          <a:ln/>
        </p:spPr>
      </p:sp>
      <p:sp>
        <p:nvSpPr>
          <p:cNvPr id="26" name="Shape 23"/>
          <p:cNvSpPr/>
          <p:nvPr/>
        </p:nvSpPr>
        <p:spPr>
          <a:xfrm>
            <a:off x="288036" y="3666744"/>
            <a:ext cx="9329623" cy="0"/>
          </a:xfrm>
          <a:prstGeom prst="line">
            <a:avLst/>
          </a:prstGeom>
          <a:noFill/>
          <a:ln w="6350">
            <a:solidFill>
              <a:srgbClr val="E7E6E6"/>
            </a:solidFill>
            <a:prstDash val="solid"/>
          </a:ln>
        </p:spPr>
      </p:sp>
      <p:sp>
        <p:nvSpPr>
          <p:cNvPr id="27" name="Text 24"/>
          <p:cNvSpPr txBox="1"/>
          <p:nvPr/>
        </p:nvSpPr>
        <p:spPr>
          <a:xfrm>
            <a:off x="288036" y="3666744"/>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【指標4】</a:t>
            </a:r>
            <a:endParaRPr lang="en-US" sz="1400" dirty="0"/>
          </a:p>
        </p:txBody>
      </p:sp>
      <p:sp>
        <p:nvSpPr>
          <p:cNvPr id="28" name="Text 25"/>
          <p:cNvSpPr txBox="1"/>
          <p:nvPr/>
        </p:nvSpPr>
        <p:spPr>
          <a:xfrm>
            <a:off x="3122676" y="3666744"/>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88</a:t>
            </a:r>
            <a:endParaRPr lang="en-US" sz="1400" dirty="0"/>
          </a:p>
        </p:txBody>
      </p:sp>
      <p:sp>
        <p:nvSpPr>
          <p:cNvPr id="29" name="Shape 26"/>
          <p:cNvSpPr/>
          <p:nvPr/>
        </p:nvSpPr>
        <p:spPr>
          <a:xfrm>
            <a:off x="4219956" y="3785616"/>
            <a:ext cx="2816352" cy="192024"/>
          </a:xfrm>
          <a:prstGeom prst="rect">
            <a:avLst/>
          </a:prstGeom>
          <a:solidFill>
            <a:srgbClr val="BFBFBF"/>
          </a:solidFill>
          <a:ln/>
        </p:spPr>
      </p:sp>
      <p:sp>
        <p:nvSpPr>
          <p:cNvPr id="30" name="Shape 27"/>
          <p:cNvSpPr/>
          <p:nvPr/>
        </p:nvSpPr>
        <p:spPr>
          <a:xfrm>
            <a:off x="288036" y="4096512"/>
            <a:ext cx="9329623" cy="0"/>
          </a:xfrm>
          <a:prstGeom prst="line">
            <a:avLst/>
          </a:prstGeom>
          <a:noFill/>
          <a:ln w="6350">
            <a:solidFill>
              <a:srgbClr val="E7E6E6"/>
            </a:solidFill>
            <a:prstDash val="solid"/>
          </a:ln>
        </p:spPr>
      </p:sp>
      <p:sp>
        <p:nvSpPr>
          <p:cNvPr id="31" name="Text 28"/>
          <p:cNvSpPr txBox="1"/>
          <p:nvPr/>
        </p:nvSpPr>
        <p:spPr>
          <a:xfrm>
            <a:off x="288036" y="4096512"/>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【指標5】</a:t>
            </a:r>
            <a:endParaRPr lang="en-US" sz="1400" dirty="0"/>
          </a:p>
        </p:txBody>
      </p:sp>
      <p:sp>
        <p:nvSpPr>
          <p:cNvPr id="32" name="Text 29"/>
          <p:cNvSpPr txBox="1"/>
          <p:nvPr/>
        </p:nvSpPr>
        <p:spPr>
          <a:xfrm>
            <a:off x="3122676" y="4096512"/>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104</a:t>
            </a:r>
            <a:endParaRPr lang="en-US" sz="1400" dirty="0"/>
          </a:p>
        </p:txBody>
      </p:sp>
      <p:sp>
        <p:nvSpPr>
          <p:cNvPr id="33" name="Shape 30"/>
          <p:cNvSpPr/>
          <p:nvPr/>
        </p:nvSpPr>
        <p:spPr>
          <a:xfrm>
            <a:off x="4219956" y="4215384"/>
            <a:ext cx="3328416" cy="192024"/>
          </a:xfrm>
          <a:prstGeom prst="rect">
            <a:avLst/>
          </a:prstGeom>
          <a:solidFill>
            <a:srgbClr val="BFBFBF"/>
          </a:solidFill>
          <a:ln/>
        </p:spPr>
      </p:sp>
      <p:sp>
        <p:nvSpPr>
          <p:cNvPr id="34" name="Shape 31"/>
          <p:cNvSpPr/>
          <p:nvPr/>
        </p:nvSpPr>
        <p:spPr>
          <a:xfrm>
            <a:off x="288036" y="4526280"/>
            <a:ext cx="9329623" cy="0"/>
          </a:xfrm>
          <a:prstGeom prst="line">
            <a:avLst/>
          </a:prstGeom>
          <a:noFill/>
          <a:ln w="6350">
            <a:solidFill>
              <a:srgbClr val="E7E6E6"/>
            </a:solidFill>
            <a:prstDash val="solid"/>
          </a:ln>
        </p:spPr>
      </p:sp>
      <p:sp>
        <p:nvSpPr>
          <p:cNvPr id="35" name="Text 32"/>
          <p:cNvSpPr txBox="1"/>
          <p:nvPr/>
        </p:nvSpPr>
        <p:spPr>
          <a:xfrm>
            <a:off x="288036" y="4526280"/>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【指標6】</a:t>
            </a:r>
            <a:endParaRPr lang="en-US" sz="1400" dirty="0"/>
          </a:p>
        </p:txBody>
      </p:sp>
      <p:sp>
        <p:nvSpPr>
          <p:cNvPr id="36" name="Text 33"/>
          <p:cNvSpPr txBox="1"/>
          <p:nvPr/>
        </p:nvSpPr>
        <p:spPr>
          <a:xfrm>
            <a:off x="3122676" y="4526280"/>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76</a:t>
            </a:r>
            <a:endParaRPr lang="en-US" sz="1400" dirty="0"/>
          </a:p>
        </p:txBody>
      </p:sp>
      <p:sp>
        <p:nvSpPr>
          <p:cNvPr id="37" name="Shape 34"/>
          <p:cNvSpPr/>
          <p:nvPr/>
        </p:nvSpPr>
        <p:spPr>
          <a:xfrm>
            <a:off x="4219956" y="4645152"/>
            <a:ext cx="2432304" cy="192024"/>
          </a:xfrm>
          <a:prstGeom prst="rect">
            <a:avLst/>
          </a:prstGeom>
          <a:solidFill>
            <a:srgbClr val="BFBFBF"/>
          </a:solidFill>
          <a:ln/>
        </p:spPr>
      </p:sp>
      <p:sp>
        <p:nvSpPr>
          <p:cNvPr id="38" name="Shape 35"/>
          <p:cNvSpPr/>
          <p:nvPr/>
        </p:nvSpPr>
        <p:spPr>
          <a:xfrm>
            <a:off x="288036" y="4956048"/>
            <a:ext cx="9329623" cy="0"/>
          </a:xfrm>
          <a:prstGeom prst="line">
            <a:avLst/>
          </a:prstGeom>
          <a:noFill/>
          <a:ln w="6350">
            <a:solidFill>
              <a:srgbClr val="E7E6E6"/>
            </a:solidFill>
            <a:prstDash val="solid"/>
          </a:ln>
        </p:spPr>
      </p:sp>
      <p:sp>
        <p:nvSpPr>
          <p:cNvPr id="39" name="Text 36"/>
          <p:cNvSpPr txBox="1"/>
          <p:nvPr/>
        </p:nvSpPr>
        <p:spPr>
          <a:xfrm>
            <a:off x="288036" y="4956048"/>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【指標7】</a:t>
            </a:r>
            <a:endParaRPr lang="en-US" sz="1400" dirty="0"/>
          </a:p>
        </p:txBody>
      </p:sp>
      <p:sp>
        <p:nvSpPr>
          <p:cNvPr id="40" name="Text 37"/>
          <p:cNvSpPr txBox="1"/>
          <p:nvPr/>
        </p:nvSpPr>
        <p:spPr>
          <a:xfrm>
            <a:off x="3122676" y="4956048"/>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91</a:t>
            </a:r>
            <a:endParaRPr lang="en-US" sz="1400" dirty="0"/>
          </a:p>
        </p:txBody>
      </p:sp>
      <p:sp>
        <p:nvSpPr>
          <p:cNvPr id="41" name="Shape 38"/>
          <p:cNvSpPr/>
          <p:nvPr/>
        </p:nvSpPr>
        <p:spPr>
          <a:xfrm>
            <a:off x="4219956" y="5074920"/>
            <a:ext cx="2912364" cy="192024"/>
          </a:xfrm>
          <a:prstGeom prst="rect">
            <a:avLst/>
          </a:prstGeom>
          <a:solidFill>
            <a:srgbClr val="BFBFBF"/>
          </a:solidFill>
          <a:ln/>
        </p:spPr>
      </p:sp>
      <p:sp>
        <p:nvSpPr>
          <p:cNvPr id="42" name="Shape 39"/>
          <p:cNvSpPr/>
          <p:nvPr/>
        </p:nvSpPr>
        <p:spPr>
          <a:xfrm>
            <a:off x="288036" y="5385816"/>
            <a:ext cx="9329623" cy="0"/>
          </a:xfrm>
          <a:prstGeom prst="line">
            <a:avLst/>
          </a:prstGeom>
          <a:noFill/>
          <a:ln w="6350">
            <a:solidFill>
              <a:srgbClr val="E7E6E6"/>
            </a:solidFill>
            <a:prstDash val="solid"/>
          </a:ln>
        </p:spPr>
      </p:sp>
      <p:sp>
        <p:nvSpPr>
          <p:cNvPr id="43" name="Text 40"/>
          <p:cNvSpPr txBox="1"/>
          <p:nvPr/>
        </p:nvSpPr>
        <p:spPr>
          <a:xfrm>
            <a:off x="288036" y="5385816"/>
            <a:ext cx="2743200" cy="429768"/>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【指標8】</a:t>
            </a:r>
            <a:endParaRPr lang="en-US" sz="1400" dirty="0"/>
          </a:p>
        </p:txBody>
      </p:sp>
      <p:sp>
        <p:nvSpPr>
          <p:cNvPr id="44" name="Text 41"/>
          <p:cNvSpPr txBox="1"/>
          <p:nvPr/>
        </p:nvSpPr>
        <p:spPr>
          <a:xfrm>
            <a:off x="3122676" y="5385816"/>
            <a:ext cx="914400" cy="429768"/>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83</a:t>
            </a:r>
            <a:endParaRPr lang="en-US" sz="1400" dirty="0"/>
          </a:p>
        </p:txBody>
      </p:sp>
      <p:sp>
        <p:nvSpPr>
          <p:cNvPr id="45" name="Shape 42"/>
          <p:cNvSpPr/>
          <p:nvPr/>
        </p:nvSpPr>
        <p:spPr>
          <a:xfrm>
            <a:off x="4219956" y="5504688"/>
            <a:ext cx="2656332" cy="192024"/>
          </a:xfrm>
          <a:prstGeom prst="rect">
            <a:avLst/>
          </a:prstGeom>
          <a:solidFill>
            <a:srgbClr val="BFBFBF"/>
          </a:solidFill>
          <a:ln/>
        </p:spPr>
      </p:sp>
      <p:sp>
        <p:nvSpPr>
          <p:cNvPr id="46" name="Shape 43"/>
          <p:cNvSpPr/>
          <p:nvPr/>
        </p:nvSpPr>
        <p:spPr>
          <a:xfrm>
            <a:off x="288036" y="5815584"/>
            <a:ext cx="9329623" cy="0"/>
          </a:xfrm>
          <a:prstGeom prst="line">
            <a:avLst/>
          </a:prstGeom>
          <a:noFill/>
          <a:ln w="6350">
            <a:solidFill>
              <a:srgbClr val="E7E6E6"/>
            </a:solidFill>
            <a:prstDash val="solid"/>
          </a:ln>
        </p:spPr>
      </p:sp>
      <p:sp>
        <p:nvSpPr>
          <p:cNvPr id="47" name="Shape 44"/>
          <p:cNvSpPr/>
          <p:nvPr/>
        </p:nvSpPr>
        <p:spPr>
          <a:xfrm>
            <a:off x="7420356" y="2331720"/>
            <a:ext cx="0" cy="3529584"/>
          </a:xfrm>
          <a:prstGeom prst="line">
            <a:avLst/>
          </a:prstGeom>
          <a:noFill/>
          <a:ln w="12700">
            <a:solidFill>
              <a:srgbClr val="595959"/>
            </a:solidFill>
            <a:prstDash val="dash"/>
          </a:ln>
        </p:spPr>
      </p:sp>
      <p:sp>
        <p:nvSpPr>
          <p:cNvPr id="48" name="Text 45"/>
          <p:cNvSpPr txBox="1"/>
          <p:nvPr/>
        </p:nvSpPr>
        <p:spPr>
          <a:xfrm>
            <a:off x="6871716" y="5907024"/>
            <a:ext cx="1097280"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平均＝100</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731520" y="2011680"/>
            <a:ext cx="8229600" cy="457200"/>
          </a:xfrm>
          <a:prstGeom prst="rect">
            <a:avLst/>
          </a:prstGeom>
          <a:noFill/>
          <a:ln/>
        </p:spPr>
        <p:txBody>
          <a:bodyPr wrap="square" lIns="0" tIns="0" rIns="0" bIns="0" rtlCol="0" anchor="t"/>
          <a:lstStyle/>
          <a:p>
            <a:pPr indent="0" marL="0">
              <a:buNone/>
            </a:pPr>
            <a:r>
              <a:rPr lang="en-US" sz="1800" dirty="0">
                <a:solidFill>
                  <a:srgbClr val="595959"/>
                </a:solidFill>
                <a:latin typeface="Yu Gothic UI" pitchFamily="34" charset="0"/>
                <a:ea typeface="Yu Gothic UI" pitchFamily="34" charset="-122"/>
                <a:cs typeface="Yu Gothic UI" pitchFamily="34" charset="-120"/>
              </a:rPr>
              <a:t>完成例</a:t>
            </a:r>
            <a:endParaRPr lang="en-US" sz="1800" dirty="0"/>
          </a:p>
        </p:txBody>
      </p:sp>
      <p:sp>
        <p:nvSpPr>
          <p:cNvPr id="3" name="Text 1"/>
          <p:cNvSpPr txBox="1"/>
          <p:nvPr/>
        </p:nvSpPr>
        <p:spPr>
          <a:xfrm>
            <a:off x="731520" y="2514600"/>
            <a:ext cx="8686800" cy="731520"/>
          </a:xfrm>
          <a:prstGeom prst="rect">
            <a:avLst/>
          </a:prstGeom>
          <a:noFill/>
          <a:ln/>
        </p:spPr>
        <p:txBody>
          <a:bodyPr wrap="square" lIns="0" tIns="0" rIns="0" bIns="0" rtlCol="0" anchor="t"/>
          <a:lstStyle/>
          <a:p>
            <a:pPr indent="0" marL="0">
              <a:buNone/>
            </a:pPr>
            <a:r>
              <a:rPr lang="en-US" sz="2800" b="1" dirty="0">
                <a:solidFill>
                  <a:srgbClr val="000F78"/>
                </a:solidFill>
                <a:latin typeface="Yu Gothic UI" pitchFamily="34" charset="0"/>
                <a:ea typeface="Yu Gothic UI" pitchFamily="34" charset="-122"/>
                <a:cs typeface="Yu Gothic UI" pitchFamily="34" charset="-120"/>
              </a:rPr>
              <a:t>架空の地方鉄道「みなと鉄道」の運営形態の見直し</a:t>
            </a:r>
            <a:endParaRPr lang="en-US" sz="2800" dirty="0"/>
          </a:p>
        </p:txBody>
      </p:sp>
      <p:sp>
        <p:nvSpPr>
          <p:cNvPr id="4" name="Shape 2"/>
          <p:cNvSpPr/>
          <p:nvPr/>
        </p:nvSpPr>
        <p:spPr>
          <a:xfrm>
            <a:off x="731520" y="3383280"/>
            <a:ext cx="8412480" cy="0"/>
          </a:xfrm>
          <a:prstGeom prst="line">
            <a:avLst/>
          </a:prstGeom>
          <a:noFill/>
          <a:ln w="9525">
            <a:solidFill>
              <a:srgbClr val="BFBFBF"/>
            </a:solidFill>
            <a:prstDash val="solid"/>
          </a:ln>
        </p:spPr>
      </p:sp>
      <p:sp>
        <p:nvSpPr>
          <p:cNvPr id="5" name="Text 3"/>
          <p:cNvSpPr txBox="1"/>
          <p:nvPr/>
        </p:nvSpPr>
        <p:spPr>
          <a:xfrm>
            <a:off x="731520" y="3566160"/>
            <a:ext cx="8595360" cy="146304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型の見本（P01〜P55）を組み合わせて、表紙から判断事項までを通した24枚の完成例。</a:t>
            </a:r>
            <a:endParaRPr lang="en-US" sz="1400" dirty="0"/>
          </a:p>
          <a:p>
            <a:pPr indent="0" marL="0">
              <a:buNone/>
            </a:pPr>
            <a:r>
              <a:rPr lang="en-US" sz="1400" dirty="0">
                <a:solidFill>
                  <a:srgbClr val="595959"/>
                </a:solidFill>
                <a:latin typeface="Yu Gothic UI" pitchFamily="34" charset="0"/>
                <a:ea typeface="Yu Gothic UI" pitchFamily="34" charset="-122"/>
                <a:cs typeface="Yu Gothic UI" pitchFamily="34" charset="-120"/>
              </a:rPr>
              <a:t>メッセージラインのつながり、章の切り替え、エグゼクティブサマリーと本文の対応を確かめるための手本として使う。</a:t>
            </a:r>
            <a:endParaRPr lang="en-US" sz="1400" dirty="0"/>
          </a:p>
          <a:p>
            <a:pPr indent="0" marL="0">
              <a:buNone/>
            </a:pPr>
            <a:r>
              <a:rPr lang="en-US" sz="1400" dirty="0">
                <a:solidFill>
                  <a:srgbClr val="595959"/>
                </a:solidFill>
                <a:latin typeface="Yu Gothic UI" pitchFamily="34" charset="0"/>
                <a:ea typeface="Yu Gothic UI" pitchFamily="34" charset="-122"/>
                <a:cs typeface="Yu Gothic UI" pitchFamily="34" charset="-120"/>
              </a:rPr>
              <a:t>路線・数値はすべて架空。数値は互いに整合するよう設計している。</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731520" y="2103120"/>
            <a:ext cx="64008" cy="1371600"/>
          </a:xfrm>
          <a:prstGeom prst="rect">
            <a:avLst/>
          </a:prstGeom>
          <a:solidFill>
            <a:srgbClr val="000F78"/>
          </a:solidFill>
          <a:ln/>
        </p:spPr>
      </p:sp>
      <p:sp>
        <p:nvSpPr>
          <p:cNvPr id="3" name="Text 1"/>
          <p:cNvSpPr txBox="1"/>
          <p:nvPr/>
        </p:nvSpPr>
        <p:spPr>
          <a:xfrm>
            <a:off x="960120" y="2103120"/>
            <a:ext cx="8229600" cy="822960"/>
          </a:xfrm>
          <a:prstGeom prst="rect">
            <a:avLst/>
          </a:prstGeom>
          <a:noFill/>
          <a:ln/>
        </p:spPr>
        <p:txBody>
          <a:bodyPr wrap="square" lIns="0" tIns="0" rIns="0" bIns="0" rtlCol="0" anchor="t"/>
          <a:lstStyle/>
          <a:p>
            <a:pPr indent="0" marL="0">
              <a:buNone/>
            </a:pPr>
            <a:r>
              <a:rPr lang="en-US" sz="2800" b="1" dirty="0">
                <a:solidFill>
                  <a:srgbClr val="000F78"/>
                </a:solidFill>
                <a:latin typeface="Yu Gothic UI" pitchFamily="34" charset="0"/>
                <a:ea typeface="Yu Gothic UI" pitchFamily="34" charset="-122"/>
                <a:cs typeface="Yu Gothic UI" pitchFamily="34" charset="-120"/>
              </a:rPr>
              <a:t>みなと鉄道の持続可能な運営形態について</a:t>
            </a:r>
            <a:endParaRPr lang="en-US" sz="2800" dirty="0"/>
          </a:p>
        </p:txBody>
      </p:sp>
      <p:sp>
        <p:nvSpPr>
          <p:cNvPr id="4" name="Text 2"/>
          <p:cNvSpPr txBox="1"/>
          <p:nvPr/>
        </p:nvSpPr>
        <p:spPr>
          <a:xfrm>
            <a:off x="960120" y="2926080"/>
            <a:ext cx="8229600" cy="457200"/>
          </a:xfrm>
          <a:prstGeom prst="rect">
            <a:avLst/>
          </a:prstGeom>
          <a:noFill/>
          <a:ln/>
        </p:spPr>
        <p:txBody>
          <a:bodyPr wrap="square" lIns="0" tIns="0" rIns="0" bIns="0" rtlCol="0" anchor="t"/>
          <a:lstStyle/>
          <a:p>
            <a:pPr indent="0" marL="0">
              <a:buNone/>
            </a:pPr>
            <a:r>
              <a:rPr lang="en-US" sz="1800" dirty="0">
                <a:solidFill>
                  <a:srgbClr val="000000"/>
                </a:solidFill>
                <a:latin typeface="Yu Gothic UI" pitchFamily="34" charset="0"/>
                <a:ea typeface="Yu Gothic UI" pitchFamily="34" charset="-122"/>
                <a:cs typeface="Yu Gothic UI" pitchFamily="34" charset="-120"/>
              </a:rPr>
              <a:t>上下分離への移行に関する検討結果（最終報告）</a:t>
            </a:r>
            <a:endParaRPr lang="en-US" sz="1800" dirty="0"/>
          </a:p>
        </p:txBody>
      </p:sp>
      <p:sp>
        <p:nvSpPr>
          <p:cNvPr id="5" name="Text 3"/>
          <p:cNvSpPr txBox="1"/>
          <p:nvPr/>
        </p:nvSpPr>
        <p:spPr>
          <a:xfrm>
            <a:off x="960120" y="4754880"/>
            <a:ext cx="8229600" cy="7315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2026年10月</a:t>
            </a:r>
            <a:endParaRPr lang="en-US" sz="1400" dirty="0"/>
          </a:p>
          <a:p>
            <a:pPr indent="0" marL="0">
              <a:buNone/>
            </a:pPr>
            <a:r>
              <a:rPr lang="en-US" sz="1400" dirty="0">
                <a:solidFill>
                  <a:srgbClr val="595959"/>
                </a:solidFill>
                <a:latin typeface="Yu Gothic UI" pitchFamily="34" charset="0"/>
                <a:ea typeface="Yu Gothic UI" pitchFamily="34" charset="-122"/>
                <a:cs typeface="Yu Gothic UI" pitchFamily="34" charset="-120"/>
              </a:rPr>
              <a:t>みなと鉄道沿線地域公共交通活性化協議会　事務局</a:t>
            </a:r>
            <a:endParaRPr lang="en-US" sz="1400" dirty="0"/>
          </a:p>
        </p:txBody>
      </p:sp>
      <p:sp>
        <p:nvSpPr>
          <p:cNvPr id="6" name="Text 4"/>
          <p:cNvSpPr txBox="1"/>
          <p:nvPr/>
        </p:nvSpPr>
        <p:spPr>
          <a:xfrm>
            <a:off x="8657539" y="36576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00　エグゼクティブサマリー</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みなと鉄道の赤字は10年で2.5倍の年5.2億円に拡大した。上下分離に移行すれば、自治体の実質負担は年2.2億円に抑えられる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57</a:t>
            </a:r>
            <a:endParaRPr lang="en-US" sz="900" dirty="0"/>
          </a:p>
        </p:txBody>
      </p:sp>
      <p:sp>
        <p:nvSpPr>
          <p:cNvPr id="10" name="Text 7"/>
          <p:cNvSpPr txBox="1"/>
          <p:nvPr/>
        </p:nvSpPr>
        <p:spPr>
          <a:xfrm>
            <a:off x="288036" y="1481328"/>
            <a:ext cx="100584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現状</a:t>
            </a:r>
            <a:endParaRPr lang="en-US" sz="1400" dirty="0"/>
          </a:p>
        </p:txBody>
      </p:sp>
      <p:sp>
        <p:nvSpPr>
          <p:cNvPr id="11" name="Text 8"/>
          <p:cNvSpPr txBox="1"/>
          <p:nvPr/>
        </p:nvSpPr>
        <p:spPr>
          <a:xfrm>
            <a:off x="1431036" y="1481328"/>
            <a:ext cx="81866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輸送人員は10年で25%減り、年158万人となった</a:t>
            </a:r>
            <a:endParaRPr lang="en-US" sz="1400" dirty="0"/>
          </a:p>
        </p:txBody>
      </p:sp>
      <p:sp>
        <p:nvSpPr>
          <p:cNvPr id="12" name="Text 9"/>
          <p:cNvSpPr txBox="1"/>
          <p:nvPr/>
        </p:nvSpPr>
        <p:spPr>
          <a:xfrm>
            <a:off x="1431036" y="1810512"/>
            <a:ext cx="8186623" cy="292608"/>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通学の減少が大きく、沿線人口は2050年までに3割減る見通し</a:t>
            </a:r>
            <a:endParaRPr lang="en-US" sz="1400" dirty="0"/>
          </a:p>
        </p:txBody>
      </p:sp>
      <p:sp>
        <p:nvSpPr>
          <p:cNvPr id="13" name="Shape 10"/>
          <p:cNvSpPr/>
          <p:nvPr/>
        </p:nvSpPr>
        <p:spPr>
          <a:xfrm>
            <a:off x="288036" y="2258568"/>
            <a:ext cx="9329623" cy="0"/>
          </a:xfrm>
          <a:prstGeom prst="line">
            <a:avLst/>
          </a:prstGeom>
          <a:noFill/>
          <a:ln w="9525">
            <a:solidFill>
              <a:srgbClr val="E7E6E6"/>
            </a:solidFill>
            <a:prstDash val="solid"/>
          </a:ln>
        </p:spPr>
      </p:sp>
      <p:sp>
        <p:nvSpPr>
          <p:cNvPr id="14" name="Text 11"/>
          <p:cNvSpPr txBox="1"/>
          <p:nvPr/>
        </p:nvSpPr>
        <p:spPr>
          <a:xfrm>
            <a:off x="288036" y="2414016"/>
            <a:ext cx="100584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課題</a:t>
            </a:r>
            <a:endParaRPr lang="en-US" sz="1400" dirty="0"/>
          </a:p>
        </p:txBody>
      </p:sp>
      <p:sp>
        <p:nvSpPr>
          <p:cNvPr id="15" name="Text 12"/>
          <p:cNvSpPr txBox="1"/>
          <p:nvPr/>
        </p:nvSpPr>
        <p:spPr>
          <a:xfrm>
            <a:off x="1431036" y="2414016"/>
            <a:ext cx="81866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赤字は10年で3.1億円増え、年5.2億円に拡大した</a:t>
            </a:r>
            <a:endParaRPr lang="en-US" sz="1400" dirty="0"/>
          </a:p>
        </p:txBody>
      </p:sp>
      <p:sp>
        <p:nvSpPr>
          <p:cNvPr id="16" name="Text 13"/>
          <p:cNvSpPr txBox="1"/>
          <p:nvPr/>
        </p:nvSpPr>
        <p:spPr>
          <a:xfrm>
            <a:off x="1431036" y="2743200"/>
            <a:ext cx="8186623" cy="292608"/>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増加分の6割は運賃収入の減少。黒字化には輸送人員1.6倍が必要</a:t>
            </a:r>
            <a:endParaRPr lang="en-US" sz="1400" dirty="0"/>
          </a:p>
        </p:txBody>
      </p:sp>
      <p:sp>
        <p:nvSpPr>
          <p:cNvPr id="17" name="Shape 14"/>
          <p:cNvSpPr/>
          <p:nvPr/>
        </p:nvSpPr>
        <p:spPr>
          <a:xfrm>
            <a:off x="288036" y="3191256"/>
            <a:ext cx="9329623" cy="0"/>
          </a:xfrm>
          <a:prstGeom prst="line">
            <a:avLst/>
          </a:prstGeom>
          <a:noFill/>
          <a:ln w="9525">
            <a:solidFill>
              <a:srgbClr val="E7E6E6"/>
            </a:solidFill>
            <a:prstDash val="solid"/>
          </a:ln>
        </p:spPr>
      </p:sp>
      <p:sp>
        <p:nvSpPr>
          <p:cNvPr id="18" name="Text 15"/>
          <p:cNvSpPr txBox="1"/>
          <p:nvPr/>
        </p:nvSpPr>
        <p:spPr>
          <a:xfrm>
            <a:off x="288036" y="3346704"/>
            <a:ext cx="1005840" cy="54864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打ち手</a:t>
            </a:r>
            <a:endParaRPr lang="en-US" sz="1400" dirty="0"/>
          </a:p>
        </p:txBody>
      </p:sp>
      <p:sp>
        <p:nvSpPr>
          <p:cNvPr id="19" name="Text 16"/>
          <p:cNvSpPr txBox="1"/>
          <p:nvPr/>
        </p:nvSpPr>
        <p:spPr>
          <a:xfrm>
            <a:off x="1431036" y="3346704"/>
            <a:ext cx="8186623" cy="292608"/>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3案のうち上下分離が、負担と利便性の両面で最も優れる</a:t>
            </a:r>
            <a:endParaRPr lang="en-US" sz="1400" dirty="0"/>
          </a:p>
        </p:txBody>
      </p:sp>
      <p:sp>
        <p:nvSpPr>
          <p:cNvPr id="20" name="Text 17"/>
          <p:cNvSpPr txBox="1"/>
          <p:nvPr/>
        </p:nvSpPr>
        <p:spPr>
          <a:xfrm>
            <a:off x="1431036" y="3675888"/>
            <a:ext cx="8186623" cy="292608"/>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自治体の実質負担は年2.2億円で、現行の補填の3分の1にとどまる</a:t>
            </a:r>
            <a:endParaRPr lang="en-US" sz="1400" dirty="0"/>
          </a:p>
        </p:txBody>
      </p:sp>
      <p:sp>
        <p:nvSpPr>
          <p:cNvPr id="21" name="Shape 18"/>
          <p:cNvSpPr/>
          <p:nvPr/>
        </p:nvSpPr>
        <p:spPr>
          <a:xfrm>
            <a:off x="288036" y="4123944"/>
            <a:ext cx="9329623" cy="0"/>
          </a:xfrm>
          <a:prstGeom prst="line">
            <a:avLst/>
          </a:prstGeom>
          <a:noFill/>
          <a:ln w="9525">
            <a:solidFill>
              <a:srgbClr val="E7E6E6"/>
            </a:solidFill>
            <a:prstDash val="solid"/>
          </a:ln>
        </p:spPr>
      </p:sp>
      <p:sp>
        <p:nvSpPr>
          <p:cNvPr id="22" name="Shape 19"/>
          <p:cNvSpPr/>
          <p:nvPr/>
        </p:nvSpPr>
        <p:spPr>
          <a:xfrm>
            <a:off x="288036" y="4389120"/>
            <a:ext cx="9329623" cy="1280160"/>
          </a:xfrm>
          <a:prstGeom prst="rect">
            <a:avLst/>
          </a:prstGeom>
          <a:solidFill>
            <a:srgbClr val="000F78">
              <a:alpha val="10000"/>
            </a:srgbClr>
          </a:solidFill>
          <a:ln w="19050">
            <a:solidFill>
              <a:srgbClr val="000F78"/>
            </a:solidFill>
            <a:prstDash val="solid"/>
          </a:ln>
        </p:spPr>
      </p:sp>
      <p:sp>
        <p:nvSpPr>
          <p:cNvPr id="23" name="Text 20"/>
          <p:cNvSpPr txBox="1"/>
          <p:nvPr/>
        </p:nvSpPr>
        <p:spPr>
          <a:xfrm>
            <a:off x="470916" y="4553712"/>
            <a:ext cx="91440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提言</a:t>
            </a:r>
            <a:endParaRPr lang="en-US" sz="1400" dirty="0"/>
          </a:p>
        </p:txBody>
      </p:sp>
      <p:sp>
        <p:nvSpPr>
          <p:cNvPr id="24" name="Text 21"/>
          <p:cNvSpPr txBox="1"/>
          <p:nvPr/>
        </p:nvSpPr>
        <p:spPr>
          <a:xfrm>
            <a:off x="1431036" y="4553712"/>
            <a:ext cx="8003743" cy="9601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上下分離（案B）を基本方針とし、2026年度に法定協議会を設けて実施計画を策定する。</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2028年4月の移行を目指し、並行して増収策で鉄道会社の収支を黒字にする</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本報告は「どの運営形態を選ぶべきか」に4章で答える。結論を左右するのは第3章の運営形態の比較であり、ここに最も紙幅を割く</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本報告の構成</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 </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58</a:t>
            </a:r>
            <a:endParaRPr lang="en-US" sz="9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288036" y="1965960"/>
          <a:ext cx="9329623" cy="914400"/>
        </p:xfrm>
        <a:graphic>
          <a:graphicData uri="http://schemas.openxmlformats.org/drawingml/2006/table">
            <a:tbl>
              <a:tblPr/>
              <a:tblGrid>
                <a:gridCol w="1737360"/>
                <a:gridCol w="3017520"/>
                <a:gridCol w="3477463"/>
                <a:gridCol w="1097280"/>
              </a:tblGrid>
              <a:tr h="4114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章</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答える問い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主な分析</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ページ</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77724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1　現状</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利用と沿線はどう変わったか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輸送人員・利用者構成・人口推計・住民アンケート</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5–9</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77724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2　課題</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なぜ赤字が拡大したか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要因分解・費用比較・計算ロジック・感度分析</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10–14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777240">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3　打ち手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どの運営形態を選ぶべきか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F78"/>
                          </a:solidFill>
                          <a:latin typeface="Yu Gothic UI" pitchFamily="34" charset="0"/>
                          <a:ea typeface="Yu Gothic UI" pitchFamily="34" charset="-122"/>
                          <a:cs typeface="Yu Gothic UI" pitchFamily="34" charset="-120"/>
                        </a:rPr>
                        <a:t>3案の評価・上下分離の仕組み・負担比較・増収策</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F78"/>
                          </a:solidFill>
                          <a:latin typeface="Arial" pitchFamily="34" charset="0"/>
                          <a:ea typeface="Arial" pitchFamily="34" charset="-122"/>
                          <a:cs typeface="Arial" pitchFamily="34" charset="-120"/>
                        </a:rPr>
                        <a:t>15–19</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77724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4　実行計画</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いつ何を決め、何をするか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ロードマップ・効果・リスク・判断事項</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20–24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結論は、ヒアリング32件、住民アンケート1,200件、10年分の運行・決算データの3つの調査に基づき、定量と定性の両面で裏付けている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調査の概要</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59</a:t>
            </a:r>
            <a:endParaRPr lang="en-US" sz="900" dirty="0"/>
          </a:p>
        </p:txBody>
      </p:sp>
      <p:sp>
        <p:nvSpPr>
          <p:cNvPr id="12" name="Text 9"/>
          <p:cNvSpPr txBox="1"/>
          <p:nvPr/>
        </p:nvSpPr>
        <p:spPr>
          <a:xfrm>
            <a:off x="288036" y="1965960"/>
            <a:ext cx="2926994"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関係者ヒアリング</a:t>
            </a:r>
            <a:endParaRPr lang="en-US" sz="1400" dirty="0"/>
          </a:p>
        </p:txBody>
      </p:sp>
      <p:sp>
        <p:nvSpPr>
          <p:cNvPr id="13" name="Shape 10"/>
          <p:cNvSpPr/>
          <p:nvPr/>
        </p:nvSpPr>
        <p:spPr>
          <a:xfrm>
            <a:off x="288036" y="2276856"/>
            <a:ext cx="2926994" cy="0"/>
          </a:xfrm>
          <a:prstGeom prst="line">
            <a:avLst/>
          </a:prstGeom>
          <a:noFill/>
          <a:ln w="6350">
            <a:solidFill>
              <a:srgbClr val="BFBFBF"/>
            </a:solidFill>
            <a:prstDash val="solid"/>
          </a:ln>
        </p:spPr>
      </p:sp>
      <p:sp>
        <p:nvSpPr>
          <p:cNvPr id="14" name="Text 11"/>
          <p:cNvSpPr txBox="1"/>
          <p:nvPr/>
        </p:nvSpPr>
        <p:spPr>
          <a:xfrm>
            <a:off x="288036" y="2514600"/>
            <a:ext cx="2926994" cy="914400"/>
          </a:xfrm>
          <a:prstGeom prst="rect">
            <a:avLst/>
          </a:prstGeom>
          <a:noFill/>
          <a:ln/>
        </p:spPr>
        <p:txBody>
          <a:bodyPr wrap="square" lIns="0" tIns="0" rIns="0" bIns="0" rtlCol="0" anchor="ctr"/>
          <a:lstStyle/>
          <a:p>
            <a:pPr indent="0" marL="0">
              <a:buNone/>
            </a:pPr>
            <a:r>
              <a:rPr lang="en-US" sz="4000" b="1" dirty="0">
                <a:solidFill>
                  <a:srgbClr val="000000"/>
                </a:solidFill>
                <a:latin typeface="Arial" pitchFamily="34" charset="0"/>
                <a:ea typeface="Arial" pitchFamily="34" charset="-122"/>
                <a:cs typeface="Arial" pitchFamily="34" charset="-120"/>
              </a:rPr>
              <a:t>32</a:t>
            </a:r>
            <a:pPr indent="0" marL="0">
              <a:buNone/>
            </a:pPr>
            <a:r>
              <a:rPr lang="en-US" sz="1600" dirty="0">
                <a:solidFill>
                  <a:srgbClr val="595959"/>
                </a:solidFill>
                <a:latin typeface="Yu Gothic UI" pitchFamily="34" charset="0"/>
                <a:ea typeface="Yu Gothic UI" pitchFamily="34" charset="-122"/>
                <a:cs typeface="Yu Gothic UI" pitchFamily="34" charset="-120"/>
              </a:rPr>
              <a:t> 件</a:t>
            </a:r>
            <a:endParaRPr lang="en-US" sz="1400" dirty="0"/>
          </a:p>
        </p:txBody>
      </p:sp>
      <p:sp>
        <p:nvSpPr>
          <p:cNvPr id="15" name="Text 12"/>
          <p:cNvSpPr txBox="1"/>
          <p:nvPr/>
        </p:nvSpPr>
        <p:spPr>
          <a:xfrm>
            <a:off x="288036" y="3611880"/>
            <a:ext cx="2926994" cy="8229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沿線3市・県・事業者・学校・</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利用者団体（2026年4〜6月）</a:t>
            </a:r>
            <a:endParaRPr lang="en-US" sz="1400" dirty="0"/>
          </a:p>
        </p:txBody>
      </p:sp>
      <p:sp>
        <p:nvSpPr>
          <p:cNvPr id="16" name="Text 13"/>
          <p:cNvSpPr txBox="1"/>
          <p:nvPr/>
        </p:nvSpPr>
        <p:spPr>
          <a:xfrm>
            <a:off x="3489350" y="1965960"/>
            <a:ext cx="2926994"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沿線住民アンケート</a:t>
            </a:r>
            <a:endParaRPr lang="en-US" sz="1400" dirty="0"/>
          </a:p>
        </p:txBody>
      </p:sp>
      <p:sp>
        <p:nvSpPr>
          <p:cNvPr id="17" name="Shape 14"/>
          <p:cNvSpPr/>
          <p:nvPr/>
        </p:nvSpPr>
        <p:spPr>
          <a:xfrm>
            <a:off x="3489350" y="2276856"/>
            <a:ext cx="2926994" cy="0"/>
          </a:xfrm>
          <a:prstGeom prst="line">
            <a:avLst/>
          </a:prstGeom>
          <a:noFill/>
          <a:ln w="15875">
            <a:solidFill>
              <a:srgbClr val="000F78"/>
            </a:solidFill>
            <a:prstDash val="solid"/>
          </a:ln>
        </p:spPr>
      </p:sp>
      <p:sp>
        <p:nvSpPr>
          <p:cNvPr id="18" name="Text 15"/>
          <p:cNvSpPr txBox="1"/>
          <p:nvPr/>
        </p:nvSpPr>
        <p:spPr>
          <a:xfrm>
            <a:off x="3489350" y="2514600"/>
            <a:ext cx="2926994" cy="914400"/>
          </a:xfrm>
          <a:prstGeom prst="rect">
            <a:avLst/>
          </a:prstGeom>
          <a:noFill/>
          <a:ln/>
        </p:spPr>
        <p:txBody>
          <a:bodyPr wrap="square" lIns="0" tIns="0" rIns="0" bIns="0" rtlCol="0" anchor="ctr"/>
          <a:lstStyle/>
          <a:p>
            <a:pPr indent="0" marL="0">
              <a:buNone/>
            </a:pPr>
            <a:r>
              <a:rPr lang="en-US" sz="4000" b="1" dirty="0">
                <a:solidFill>
                  <a:srgbClr val="000F78"/>
                </a:solidFill>
                <a:latin typeface="Arial" pitchFamily="34" charset="0"/>
                <a:ea typeface="Arial" pitchFamily="34" charset="-122"/>
                <a:cs typeface="Arial" pitchFamily="34" charset="-120"/>
              </a:rPr>
              <a:t>1,200</a:t>
            </a:r>
            <a:pPr indent="0" marL="0">
              <a:buNone/>
            </a:pPr>
            <a:r>
              <a:rPr lang="en-US" sz="1600" dirty="0">
                <a:solidFill>
                  <a:srgbClr val="595959"/>
                </a:solidFill>
                <a:latin typeface="Yu Gothic UI" pitchFamily="34" charset="0"/>
                <a:ea typeface="Yu Gothic UI" pitchFamily="34" charset="-122"/>
                <a:cs typeface="Yu Gothic UI" pitchFamily="34" charset="-120"/>
              </a:rPr>
              <a:t> 件</a:t>
            </a:r>
            <a:endParaRPr lang="en-US" sz="1400" dirty="0"/>
          </a:p>
        </p:txBody>
      </p:sp>
      <p:sp>
        <p:nvSpPr>
          <p:cNvPr id="19" name="Text 16"/>
          <p:cNvSpPr txBox="1"/>
          <p:nvPr/>
        </p:nvSpPr>
        <p:spPr>
          <a:xfrm>
            <a:off x="3489350" y="3611880"/>
            <a:ext cx="2926994" cy="8229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無作為抽出3,000人に郵送</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回収率40%（2026年5月）</a:t>
            </a:r>
            <a:endParaRPr lang="en-US" sz="1400" dirty="0"/>
          </a:p>
        </p:txBody>
      </p:sp>
      <p:sp>
        <p:nvSpPr>
          <p:cNvPr id="20" name="Text 17"/>
          <p:cNvSpPr txBox="1"/>
          <p:nvPr/>
        </p:nvSpPr>
        <p:spPr>
          <a:xfrm>
            <a:off x="6690665" y="1965960"/>
            <a:ext cx="2926994"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運行・決算データ</a:t>
            </a:r>
            <a:endParaRPr lang="en-US" sz="1400" dirty="0"/>
          </a:p>
        </p:txBody>
      </p:sp>
      <p:sp>
        <p:nvSpPr>
          <p:cNvPr id="21" name="Shape 18"/>
          <p:cNvSpPr/>
          <p:nvPr/>
        </p:nvSpPr>
        <p:spPr>
          <a:xfrm>
            <a:off x="6690665" y="2276856"/>
            <a:ext cx="2926994" cy="0"/>
          </a:xfrm>
          <a:prstGeom prst="line">
            <a:avLst/>
          </a:prstGeom>
          <a:noFill/>
          <a:ln w="6350">
            <a:solidFill>
              <a:srgbClr val="BFBFBF"/>
            </a:solidFill>
            <a:prstDash val="solid"/>
          </a:ln>
        </p:spPr>
      </p:sp>
      <p:sp>
        <p:nvSpPr>
          <p:cNvPr id="22" name="Text 19"/>
          <p:cNvSpPr txBox="1"/>
          <p:nvPr/>
        </p:nvSpPr>
        <p:spPr>
          <a:xfrm>
            <a:off x="6690665" y="2514600"/>
            <a:ext cx="2926994" cy="914400"/>
          </a:xfrm>
          <a:prstGeom prst="rect">
            <a:avLst/>
          </a:prstGeom>
          <a:noFill/>
          <a:ln/>
        </p:spPr>
        <p:txBody>
          <a:bodyPr wrap="square" lIns="0" tIns="0" rIns="0" bIns="0" rtlCol="0" anchor="ctr"/>
          <a:lstStyle/>
          <a:p>
            <a:pPr indent="0" marL="0">
              <a:buNone/>
            </a:pPr>
            <a:r>
              <a:rPr lang="en-US" sz="4000" b="1" dirty="0">
                <a:solidFill>
                  <a:srgbClr val="000000"/>
                </a:solidFill>
                <a:latin typeface="Arial" pitchFamily="34" charset="0"/>
                <a:ea typeface="Arial" pitchFamily="34" charset="-122"/>
                <a:cs typeface="Arial" pitchFamily="34" charset="-120"/>
              </a:rPr>
              <a:t>10</a:t>
            </a:r>
            <a:pPr indent="0" marL="0">
              <a:buNone/>
            </a:pPr>
            <a:r>
              <a:rPr lang="en-US" sz="1600" dirty="0">
                <a:solidFill>
                  <a:srgbClr val="595959"/>
                </a:solidFill>
                <a:latin typeface="Yu Gothic UI" pitchFamily="34" charset="0"/>
                <a:ea typeface="Yu Gothic UI" pitchFamily="34" charset="-122"/>
                <a:cs typeface="Yu Gothic UI" pitchFamily="34" charset="-120"/>
              </a:rPr>
              <a:t> 年分</a:t>
            </a:r>
            <a:endParaRPr lang="en-US" sz="1400" dirty="0"/>
          </a:p>
        </p:txBody>
      </p:sp>
      <p:sp>
        <p:nvSpPr>
          <p:cNvPr id="23" name="Text 20"/>
          <p:cNvSpPr txBox="1"/>
          <p:nvPr/>
        </p:nvSpPr>
        <p:spPr>
          <a:xfrm>
            <a:off x="6690665" y="3611880"/>
            <a:ext cx="2926994" cy="82296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駅別乗降・定期券種別・</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費目別決算（2014〜2024年度）</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第1章では、利用と沿線の変化を示す。輸送人員は減り続けているが、住民の約7割は存続を望んでおり、廃止は選択肢になりにくい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 </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60</a:t>
            </a:r>
            <a:endParaRPr lang="en-US" sz="900" dirty="0"/>
          </a:p>
        </p:txBody>
      </p:sp>
      <p:sp>
        <p:nvSpPr>
          <p:cNvPr id="10" name="Text 7"/>
          <p:cNvSpPr txBox="1"/>
          <p:nvPr/>
        </p:nvSpPr>
        <p:spPr>
          <a:xfrm>
            <a:off x="562356" y="1737360"/>
            <a:ext cx="731520" cy="548640"/>
          </a:xfrm>
          <a:prstGeom prst="rect">
            <a:avLst/>
          </a:prstGeom>
          <a:noFill/>
          <a:ln/>
        </p:spPr>
        <p:txBody>
          <a:bodyPr wrap="square" lIns="0" tIns="0" rIns="0" bIns="0" rtlCol="0" anchor="ctr"/>
          <a:lstStyle/>
          <a:p>
            <a:pPr indent="0" marL="0">
              <a:buNone/>
            </a:pPr>
            <a:r>
              <a:rPr lang="en-US" sz="2200" b="1" dirty="0">
                <a:solidFill>
                  <a:srgbClr val="000F78"/>
                </a:solidFill>
                <a:latin typeface="Arial" pitchFamily="34" charset="0"/>
                <a:ea typeface="Arial" pitchFamily="34" charset="-122"/>
                <a:cs typeface="Arial" pitchFamily="34" charset="-120"/>
              </a:rPr>
              <a:t>01</a:t>
            </a:r>
            <a:endParaRPr lang="en-US" sz="2200" dirty="0"/>
          </a:p>
        </p:txBody>
      </p:sp>
      <p:sp>
        <p:nvSpPr>
          <p:cNvPr id="11" name="Text 8"/>
          <p:cNvSpPr txBox="1"/>
          <p:nvPr/>
        </p:nvSpPr>
        <p:spPr>
          <a:xfrm>
            <a:off x="1476756" y="1737360"/>
            <a:ext cx="7772400" cy="548640"/>
          </a:xfrm>
          <a:prstGeom prst="rect">
            <a:avLst/>
          </a:prstGeom>
          <a:noFill/>
          <a:ln/>
        </p:spPr>
        <p:txBody>
          <a:bodyPr wrap="square" lIns="0" tIns="0" rIns="0" bIns="0" rtlCol="0" anchor="ctr"/>
          <a:lstStyle/>
          <a:p>
            <a:pPr indent="0" marL="0">
              <a:buNone/>
            </a:pPr>
            <a:r>
              <a:rPr lang="en-US" sz="1800" b="1" dirty="0">
                <a:solidFill>
                  <a:srgbClr val="000F78"/>
                </a:solidFill>
                <a:latin typeface="Yu Gothic UI" pitchFamily="34" charset="0"/>
                <a:ea typeface="Yu Gothic UI" pitchFamily="34" charset="-122"/>
                <a:cs typeface="Yu Gothic UI" pitchFamily="34" charset="-120"/>
              </a:rPr>
              <a:t>現状：利用と沿線の変化</a:t>
            </a:r>
            <a:endParaRPr lang="en-US" sz="1800" dirty="0"/>
          </a:p>
        </p:txBody>
      </p:sp>
      <p:sp>
        <p:nvSpPr>
          <p:cNvPr id="12" name="Shape 9"/>
          <p:cNvSpPr/>
          <p:nvPr/>
        </p:nvSpPr>
        <p:spPr>
          <a:xfrm>
            <a:off x="562356" y="2487168"/>
            <a:ext cx="8780983" cy="0"/>
          </a:xfrm>
          <a:prstGeom prst="line">
            <a:avLst/>
          </a:prstGeom>
          <a:noFill/>
          <a:ln w="9525">
            <a:solidFill>
              <a:srgbClr val="E7E6E6"/>
            </a:solidFill>
            <a:prstDash val="solid"/>
          </a:ln>
        </p:spPr>
      </p:sp>
      <p:sp>
        <p:nvSpPr>
          <p:cNvPr id="13" name="Text 10"/>
          <p:cNvSpPr txBox="1"/>
          <p:nvPr/>
        </p:nvSpPr>
        <p:spPr>
          <a:xfrm>
            <a:off x="562356" y="269748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02</a:t>
            </a:r>
            <a:endParaRPr lang="en-US" sz="2200" dirty="0"/>
          </a:p>
        </p:txBody>
      </p:sp>
      <p:sp>
        <p:nvSpPr>
          <p:cNvPr id="14" name="Text 11"/>
          <p:cNvSpPr txBox="1"/>
          <p:nvPr/>
        </p:nvSpPr>
        <p:spPr>
          <a:xfrm>
            <a:off x="1476756" y="269748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課題：収支悪化の構造</a:t>
            </a:r>
            <a:endParaRPr lang="en-US" sz="1800" dirty="0"/>
          </a:p>
        </p:txBody>
      </p:sp>
      <p:sp>
        <p:nvSpPr>
          <p:cNvPr id="15" name="Shape 12"/>
          <p:cNvSpPr/>
          <p:nvPr/>
        </p:nvSpPr>
        <p:spPr>
          <a:xfrm>
            <a:off x="562356" y="3447288"/>
            <a:ext cx="8780983" cy="0"/>
          </a:xfrm>
          <a:prstGeom prst="line">
            <a:avLst/>
          </a:prstGeom>
          <a:noFill/>
          <a:ln w="9525">
            <a:solidFill>
              <a:srgbClr val="E7E6E6"/>
            </a:solidFill>
            <a:prstDash val="solid"/>
          </a:ln>
        </p:spPr>
      </p:sp>
      <p:sp>
        <p:nvSpPr>
          <p:cNvPr id="16" name="Text 13"/>
          <p:cNvSpPr txBox="1"/>
          <p:nvPr/>
        </p:nvSpPr>
        <p:spPr>
          <a:xfrm>
            <a:off x="562356" y="365760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03</a:t>
            </a:r>
            <a:endParaRPr lang="en-US" sz="2200" dirty="0"/>
          </a:p>
        </p:txBody>
      </p:sp>
      <p:sp>
        <p:nvSpPr>
          <p:cNvPr id="17" name="Text 14"/>
          <p:cNvSpPr txBox="1"/>
          <p:nvPr/>
        </p:nvSpPr>
        <p:spPr>
          <a:xfrm>
            <a:off x="1476756" y="365760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打ち手：運営形態の選択</a:t>
            </a:r>
            <a:endParaRPr lang="en-US" sz="1800" dirty="0"/>
          </a:p>
        </p:txBody>
      </p:sp>
      <p:sp>
        <p:nvSpPr>
          <p:cNvPr id="18" name="Shape 15"/>
          <p:cNvSpPr/>
          <p:nvPr/>
        </p:nvSpPr>
        <p:spPr>
          <a:xfrm>
            <a:off x="562356" y="4407408"/>
            <a:ext cx="8780983" cy="0"/>
          </a:xfrm>
          <a:prstGeom prst="line">
            <a:avLst/>
          </a:prstGeom>
          <a:noFill/>
          <a:ln w="9525">
            <a:solidFill>
              <a:srgbClr val="E7E6E6"/>
            </a:solidFill>
            <a:prstDash val="solid"/>
          </a:ln>
        </p:spPr>
      </p:sp>
      <p:sp>
        <p:nvSpPr>
          <p:cNvPr id="19" name="Text 16"/>
          <p:cNvSpPr txBox="1"/>
          <p:nvPr/>
        </p:nvSpPr>
        <p:spPr>
          <a:xfrm>
            <a:off x="562356" y="461772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04</a:t>
            </a:r>
            <a:endParaRPr lang="en-US" sz="2200" dirty="0"/>
          </a:p>
        </p:txBody>
      </p:sp>
      <p:sp>
        <p:nvSpPr>
          <p:cNvPr id="20" name="Text 17"/>
          <p:cNvSpPr txBox="1"/>
          <p:nvPr/>
        </p:nvSpPr>
        <p:spPr>
          <a:xfrm>
            <a:off x="1476756" y="461772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実行計画とご判断いただきたい事項</a:t>
            </a:r>
            <a:endParaRPr lang="en-US" sz="1800" dirty="0"/>
          </a:p>
        </p:txBody>
      </p:sp>
      <p:sp>
        <p:nvSpPr>
          <p:cNvPr id="21" name="Shape 18"/>
          <p:cNvSpPr/>
          <p:nvPr/>
        </p:nvSpPr>
        <p:spPr>
          <a:xfrm>
            <a:off x="562356" y="5367528"/>
            <a:ext cx="8780983" cy="0"/>
          </a:xfrm>
          <a:prstGeom prst="line">
            <a:avLst/>
          </a:prstGeom>
          <a:noFill/>
          <a:ln w="9525">
            <a:solidFill>
              <a:srgbClr val="E7E6E6"/>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現状：利用と沿線の変化</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輸送人員は10年で25%減り、2024年度は158万人となった。2020年度の落ち込みから回復しつつあるが、減少は構造的である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輸送人員の推移</a:t>
            </a:r>
            <a:pPr indent="0" marL="0">
              <a:buNone/>
            </a:pPr>
            <a:r>
              <a:rPr lang="en-US" sz="1100" dirty="0">
                <a:solidFill>
                  <a:srgbClr val="595959"/>
                </a:solidFill>
                <a:latin typeface="Yu Gothic UI" pitchFamily="34" charset="0"/>
                <a:ea typeface="Yu Gothic UI" pitchFamily="34" charset="-122"/>
                <a:cs typeface="Yu Gothic UI" pitchFamily="34" charset="-120"/>
              </a:rPr>
              <a:t>　（万人、2014–2024年度）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61</a:t>
            </a:r>
            <a:endParaRPr lang="en-US" sz="900" dirty="0"/>
          </a:p>
        </p:txBody>
      </p:sp>
      <p:graphicFrame>
        <p:nvGraphicFramePr>
          <p:cNvPr id="12" name="Chart 0" descr=""/>
          <p:cNvGraphicFramePr/>
          <p:nvPr/>
        </p:nvGraphicFramePr>
        <p:xfrm>
          <a:off x="288036" y="1965960"/>
          <a:ext cx="9329623" cy="411480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1568196" y="2377440"/>
            <a:ext cx="6949440" cy="0"/>
          </a:xfrm>
          <a:prstGeom prst="line">
            <a:avLst/>
          </a:prstGeom>
          <a:noFill/>
          <a:ln w="15875">
            <a:solidFill>
              <a:srgbClr val="000F78"/>
            </a:solidFill>
            <a:prstDash val="solid"/>
            <a:tailEnd type="triangle"/>
          </a:ln>
        </p:spPr>
      </p:sp>
      <p:sp>
        <p:nvSpPr>
          <p:cNvPr id="14" name="Text 10"/>
          <p:cNvSpPr txBox="1"/>
          <p:nvPr/>
        </p:nvSpPr>
        <p:spPr>
          <a:xfrm>
            <a:off x="3031236" y="2011680"/>
            <a:ext cx="4206240" cy="292608"/>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年平均 −2.8%（10年で−25%）</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現状：利用と沿線の変化</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通学の比率は10年で6ポイント下がり、通院・買物と観光が増えた。少子化で通学は今後も減るため、日中の利用を伸ばす転換が要る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目的別の利用者構成</a:t>
            </a:r>
            <a:pPr indent="0" marL="0">
              <a:buNone/>
            </a:pPr>
            <a:r>
              <a:rPr lang="en-US" sz="1100" dirty="0">
                <a:solidFill>
                  <a:srgbClr val="595959"/>
                </a:solidFill>
                <a:latin typeface="Yu Gothic UI" pitchFamily="34" charset="0"/>
                <a:ea typeface="Yu Gothic UI" pitchFamily="34" charset="-122"/>
                <a:cs typeface="Yu Gothic UI" pitchFamily="34" charset="-120"/>
              </a:rPr>
              <a:t>　（%、2014年度と2024年度）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62</a:t>
            </a:r>
            <a:endParaRPr lang="en-US" sz="900" dirty="0"/>
          </a:p>
        </p:txBody>
      </p:sp>
      <p:graphicFrame>
        <p:nvGraphicFramePr>
          <p:cNvPr id="12" name="Chart 0" descr=""/>
          <p:cNvGraphicFramePr/>
          <p:nvPr/>
        </p:nvGraphicFramePr>
        <p:xfrm>
          <a:off x="288036" y="1920240"/>
          <a:ext cx="6035040" cy="416052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460236" y="2240280"/>
            <a:ext cx="137160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観光</a:t>
            </a:r>
            <a:endParaRPr lang="en-US" sz="1400" dirty="0"/>
          </a:p>
        </p:txBody>
      </p:sp>
      <p:sp>
        <p:nvSpPr>
          <p:cNvPr id="14" name="Text 10"/>
          <p:cNvSpPr txBox="1"/>
          <p:nvPr/>
        </p:nvSpPr>
        <p:spPr>
          <a:xfrm>
            <a:off x="6460236" y="2697480"/>
            <a:ext cx="137160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通院・買物</a:t>
            </a:r>
            <a:endParaRPr lang="en-US" sz="1400" dirty="0"/>
          </a:p>
        </p:txBody>
      </p:sp>
      <p:sp>
        <p:nvSpPr>
          <p:cNvPr id="15" name="Text 11"/>
          <p:cNvSpPr txBox="1"/>
          <p:nvPr/>
        </p:nvSpPr>
        <p:spPr>
          <a:xfrm>
            <a:off x="6460236" y="3429000"/>
            <a:ext cx="137160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通勤</a:t>
            </a:r>
            <a:endParaRPr lang="en-US" sz="1400" dirty="0"/>
          </a:p>
        </p:txBody>
      </p:sp>
      <p:sp>
        <p:nvSpPr>
          <p:cNvPr id="16" name="Text 12"/>
          <p:cNvSpPr txBox="1"/>
          <p:nvPr/>
        </p:nvSpPr>
        <p:spPr>
          <a:xfrm>
            <a:off x="6460236" y="4709160"/>
            <a:ext cx="137160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通学</a:t>
            </a:r>
            <a:endParaRPr lang="en-US" sz="1400" dirty="0"/>
          </a:p>
        </p:txBody>
      </p:sp>
      <p:sp>
        <p:nvSpPr>
          <p:cNvPr id="17" name="Text 13"/>
          <p:cNvSpPr txBox="1"/>
          <p:nvPr/>
        </p:nvSpPr>
        <p:spPr>
          <a:xfrm>
            <a:off x="7877556" y="4709160"/>
            <a:ext cx="914400" cy="274320"/>
          </a:xfrm>
          <a:prstGeom prst="rect">
            <a:avLst/>
          </a:prstGeom>
          <a:noFill/>
          <a:ln/>
        </p:spPr>
        <p:txBody>
          <a:bodyPr wrap="square" lIns="0" tIns="0" rIns="0" bIns="0" rtlCol="0" anchor="t"/>
          <a:lstStyle/>
          <a:p>
            <a:pPr indent="0" marL="0">
              <a:buNone/>
            </a:pPr>
            <a:r>
              <a:rPr lang="en-US" sz="1400" b="1" dirty="0">
                <a:solidFill>
                  <a:srgbClr val="000F78"/>
                </a:solidFill>
                <a:latin typeface="Arial" pitchFamily="34" charset="0"/>
                <a:ea typeface="Arial" pitchFamily="34" charset="-122"/>
                <a:cs typeface="Arial" pitchFamily="34" charset="-120"/>
              </a:rPr>
              <a:t>−6pt</a:t>
            </a:r>
            <a:endParaRPr lang="en-US" sz="1400" dirty="0"/>
          </a:p>
        </p:txBody>
      </p:sp>
      <p:sp>
        <p:nvSpPr>
          <p:cNvPr id="18" name="Text 14"/>
          <p:cNvSpPr txBox="1"/>
          <p:nvPr/>
        </p:nvSpPr>
        <p:spPr>
          <a:xfrm>
            <a:off x="7877556" y="224028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Arial" pitchFamily="34" charset="0"/>
                <a:ea typeface="Arial" pitchFamily="34" charset="-122"/>
                <a:cs typeface="Arial" pitchFamily="34" charset="-120"/>
              </a:rPr>
              <a:t>＋4pt</a:t>
            </a:r>
            <a:endParaRPr lang="en-US" sz="1400" dirty="0"/>
          </a:p>
        </p:txBody>
      </p:sp>
      <p:sp>
        <p:nvSpPr>
          <p:cNvPr id="19" name="Text 15"/>
          <p:cNvSpPr txBox="1"/>
          <p:nvPr/>
        </p:nvSpPr>
        <p:spPr>
          <a:xfrm>
            <a:off x="7877556" y="269748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Arial" pitchFamily="34" charset="0"/>
                <a:ea typeface="Arial" pitchFamily="34" charset="-122"/>
                <a:cs typeface="Arial" pitchFamily="34" charset="-120"/>
              </a:rPr>
              <a:t>＋4pt</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現状：利用と沿線の変化</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輸送人員は基本シナリオでも2045年度に118万人まで減り、楽観シナリオでも1割以上減る。利用の自然回復には期待できない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注）路線・数値はすべて架空の完成例。2025年度は推計の起点</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出所）架空の将来人口推計を基に作成</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63</a:t>
            </a:r>
            <a:endParaRPr lang="en-US" sz="900" dirty="0"/>
          </a:p>
        </p:txBody>
      </p:sp>
      <p:sp>
        <p:nvSpPr>
          <p:cNvPr id="10" name="Text 7"/>
          <p:cNvSpPr txBox="1"/>
          <p:nvPr/>
        </p:nvSpPr>
        <p:spPr>
          <a:xfrm>
            <a:off x="288036" y="1417320"/>
            <a:ext cx="548640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輸送人員の見通し</a:t>
            </a:r>
            <a:pPr indent="0" marL="0">
              <a:buNone/>
            </a:pPr>
            <a:r>
              <a:rPr lang="en-US" sz="1100" dirty="0">
                <a:solidFill>
                  <a:srgbClr val="595959"/>
                </a:solidFill>
                <a:latin typeface="Yu Gothic UI" pitchFamily="34" charset="0"/>
                <a:ea typeface="Yu Gothic UI" pitchFamily="34" charset="-122"/>
                <a:cs typeface="Yu Gothic UI" pitchFamily="34" charset="-120"/>
              </a:rPr>
              <a:t>　（万人、2025–2045年度（予測））</a:t>
            </a:r>
            <a:endParaRPr lang="en-US" sz="1400" dirty="0"/>
          </a:p>
        </p:txBody>
      </p:sp>
      <p:sp>
        <p:nvSpPr>
          <p:cNvPr id="11" name="Shape 8"/>
          <p:cNvSpPr/>
          <p:nvPr/>
        </p:nvSpPr>
        <p:spPr>
          <a:xfrm>
            <a:off x="288036" y="1728216"/>
            <a:ext cx="5486400" cy="0"/>
          </a:xfrm>
          <a:prstGeom prst="line">
            <a:avLst/>
          </a:prstGeom>
          <a:noFill/>
          <a:ln w="6350">
            <a:solidFill>
              <a:srgbClr val="BFBFBF"/>
            </a:solidFill>
            <a:prstDash val="solid"/>
          </a:ln>
        </p:spPr>
      </p:sp>
      <p:graphicFrame>
        <p:nvGraphicFramePr>
          <p:cNvPr id="12" name="Chart 0" descr=""/>
          <p:cNvGraphicFramePr/>
          <p:nvPr/>
        </p:nvGraphicFramePr>
        <p:xfrm>
          <a:off x="288036" y="1874520"/>
          <a:ext cx="4663440" cy="416052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4905756" y="251460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楽観 140</a:t>
            </a:r>
            <a:endParaRPr lang="en-US" sz="1400" dirty="0"/>
          </a:p>
        </p:txBody>
      </p:sp>
      <p:sp>
        <p:nvSpPr>
          <p:cNvPr id="14" name="Text 10"/>
          <p:cNvSpPr txBox="1"/>
          <p:nvPr/>
        </p:nvSpPr>
        <p:spPr>
          <a:xfrm>
            <a:off x="4905756" y="3429000"/>
            <a:ext cx="91440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基本 118</a:t>
            </a:r>
            <a:endParaRPr lang="en-US" sz="1400" dirty="0"/>
          </a:p>
        </p:txBody>
      </p:sp>
      <p:sp>
        <p:nvSpPr>
          <p:cNvPr id="15" name="Text 11"/>
          <p:cNvSpPr txBox="1"/>
          <p:nvPr/>
        </p:nvSpPr>
        <p:spPr>
          <a:xfrm>
            <a:off x="4905756" y="438912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悲観 95</a:t>
            </a:r>
            <a:endParaRPr lang="en-US" sz="1400" dirty="0"/>
          </a:p>
        </p:txBody>
      </p:sp>
      <p:sp>
        <p:nvSpPr>
          <p:cNvPr id="16" name="Text 12"/>
          <p:cNvSpPr txBox="1"/>
          <p:nvPr/>
        </p:nvSpPr>
        <p:spPr>
          <a:xfrm>
            <a:off x="6048756" y="1417320"/>
            <a:ext cx="3568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各シナリオの前提</a:t>
            </a:r>
            <a:endParaRPr lang="en-US" sz="1400" dirty="0"/>
          </a:p>
        </p:txBody>
      </p:sp>
      <p:sp>
        <p:nvSpPr>
          <p:cNvPr id="17" name="Shape 13"/>
          <p:cNvSpPr/>
          <p:nvPr/>
        </p:nvSpPr>
        <p:spPr>
          <a:xfrm>
            <a:off x="6048756" y="1728216"/>
            <a:ext cx="3568903" cy="0"/>
          </a:xfrm>
          <a:prstGeom prst="line">
            <a:avLst/>
          </a:prstGeom>
          <a:noFill/>
          <a:ln w="6350">
            <a:solidFill>
              <a:srgbClr val="BFBFBF"/>
            </a:solidFill>
            <a:prstDash val="solid"/>
          </a:ln>
        </p:spPr>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048756" y="1965960"/>
          <a:ext cx="3568903" cy="914400"/>
        </p:xfrm>
        <a:graphic>
          <a:graphicData uri="http://schemas.openxmlformats.org/drawingml/2006/table">
            <a:tbl>
              <a:tblPr/>
              <a:tblGrid>
                <a:gridCol w="914400"/>
                <a:gridCol w="1327252"/>
                <a:gridCol w="1327252"/>
              </a:tblGrid>
              <a:tr h="457200">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沿線人口</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利用率</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6400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楽観</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＋2pt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40080">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基本</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−25%</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±0pt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6400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悲観</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−30%</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−2pt</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
        <p:nvSpPr>
          <p:cNvPr id="19" name="Text 14"/>
          <p:cNvSpPr txBox="1"/>
          <p:nvPr/>
        </p:nvSpPr>
        <p:spPr>
          <a:xfrm>
            <a:off x="6048756" y="4572000"/>
            <a:ext cx="3568903" cy="64008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沿線人口：2020年 8.4万人 → 2045年 6.3万人（基本）</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1　現状：利用と沿線の変化</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沿線住民の68%が存続を望み、10〜20代と70代以上では7割を超える。日常の足として必要とする層が明確で、廃止は合意を得にくい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「みなと鉄道は存続すべきだと思うか」への回答</a:t>
            </a:r>
            <a:pPr indent="0" marL="0">
              <a:buNone/>
            </a:pPr>
            <a:r>
              <a:rPr lang="en-US" sz="1100" dirty="0">
                <a:solidFill>
                  <a:srgbClr val="595959"/>
                </a:solidFill>
                <a:latin typeface="Yu Gothic UI" pitchFamily="34" charset="0"/>
                <a:ea typeface="Yu Gothic UI" pitchFamily="34" charset="-122"/>
                <a:cs typeface="Yu Gothic UI" pitchFamily="34" charset="-120"/>
              </a:rPr>
              <a:t>　（%、n＝1,200、2026年5月）</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64</a:t>
            </a:r>
            <a:endParaRPr lang="en-US" sz="900" dirty="0"/>
          </a:p>
        </p:txBody>
      </p:sp>
      <p:graphicFrame>
        <p:nvGraphicFramePr>
          <p:cNvPr id="12" name="Chart 0" descr=""/>
          <p:cNvGraphicFramePr/>
          <p:nvPr/>
        </p:nvGraphicFramePr>
        <p:xfrm>
          <a:off x="288036" y="2240280"/>
          <a:ext cx="9329623" cy="384048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1751076" y="1892808"/>
            <a:ext cx="182880" cy="182880"/>
          </a:xfrm>
          <a:prstGeom prst="rect">
            <a:avLst/>
          </a:prstGeom>
          <a:solidFill>
            <a:srgbClr val="000F78"/>
          </a:solidFill>
          <a:ln/>
        </p:spPr>
      </p:sp>
      <p:sp>
        <p:nvSpPr>
          <p:cNvPr id="14" name="Text 10"/>
          <p:cNvSpPr txBox="1"/>
          <p:nvPr/>
        </p:nvSpPr>
        <p:spPr>
          <a:xfrm>
            <a:off x="2007108" y="1847088"/>
            <a:ext cx="1737360" cy="27432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そう思う</a:t>
            </a:r>
            <a:endParaRPr lang="en-US" sz="1400" dirty="0"/>
          </a:p>
        </p:txBody>
      </p:sp>
      <p:sp>
        <p:nvSpPr>
          <p:cNvPr id="15" name="Shape 11"/>
          <p:cNvSpPr/>
          <p:nvPr/>
        </p:nvSpPr>
        <p:spPr>
          <a:xfrm>
            <a:off x="3808476" y="1892808"/>
            <a:ext cx="182880" cy="182880"/>
          </a:xfrm>
          <a:prstGeom prst="rect">
            <a:avLst/>
          </a:prstGeom>
          <a:solidFill>
            <a:srgbClr val="595959"/>
          </a:solidFill>
          <a:ln/>
        </p:spPr>
      </p:sp>
      <p:sp>
        <p:nvSpPr>
          <p:cNvPr id="16" name="Text 12"/>
          <p:cNvSpPr txBox="1"/>
          <p:nvPr/>
        </p:nvSpPr>
        <p:spPr>
          <a:xfrm>
            <a:off x="4064508" y="1847088"/>
            <a:ext cx="173736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ややそう思う</a:t>
            </a:r>
            <a:endParaRPr lang="en-US" sz="1400" dirty="0"/>
          </a:p>
        </p:txBody>
      </p:sp>
      <p:sp>
        <p:nvSpPr>
          <p:cNvPr id="17" name="Shape 13"/>
          <p:cNvSpPr/>
          <p:nvPr/>
        </p:nvSpPr>
        <p:spPr>
          <a:xfrm>
            <a:off x="5865876" y="1892808"/>
            <a:ext cx="182880" cy="182880"/>
          </a:xfrm>
          <a:prstGeom prst="rect">
            <a:avLst/>
          </a:prstGeom>
          <a:solidFill>
            <a:srgbClr val="7F7F7F"/>
          </a:solidFill>
          <a:ln/>
        </p:spPr>
      </p:sp>
      <p:sp>
        <p:nvSpPr>
          <p:cNvPr id="18" name="Text 14"/>
          <p:cNvSpPr txBox="1"/>
          <p:nvPr/>
        </p:nvSpPr>
        <p:spPr>
          <a:xfrm>
            <a:off x="6121908" y="1847088"/>
            <a:ext cx="173736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どちらでもない</a:t>
            </a:r>
            <a:endParaRPr lang="en-US" sz="1400" dirty="0"/>
          </a:p>
        </p:txBody>
      </p:sp>
      <p:sp>
        <p:nvSpPr>
          <p:cNvPr id="19" name="Shape 15"/>
          <p:cNvSpPr/>
          <p:nvPr/>
        </p:nvSpPr>
        <p:spPr>
          <a:xfrm>
            <a:off x="7923276" y="1892808"/>
            <a:ext cx="182880" cy="182880"/>
          </a:xfrm>
          <a:prstGeom prst="rect">
            <a:avLst/>
          </a:prstGeom>
          <a:solidFill>
            <a:srgbClr val="A6A6A6"/>
          </a:solidFill>
          <a:ln/>
        </p:spPr>
      </p:sp>
      <p:sp>
        <p:nvSpPr>
          <p:cNvPr id="20" name="Text 16"/>
          <p:cNvSpPr txBox="1"/>
          <p:nvPr/>
        </p:nvSpPr>
        <p:spPr>
          <a:xfrm>
            <a:off x="8179308" y="1847088"/>
            <a:ext cx="1737360" cy="2743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そう思わない</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第2章では、赤字が10年で2.5倍に拡大した要因を示す。主因は運賃収入の減少であり、費用削減だけでは黒字化できない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 </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65</a:t>
            </a:r>
            <a:endParaRPr lang="en-US" sz="900" dirty="0"/>
          </a:p>
        </p:txBody>
      </p:sp>
      <p:sp>
        <p:nvSpPr>
          <p:cNvPr id="10" name="Text 7"/>
          <p:cNvSpPr txBox="1"/>
          <p:nvPr/>
        </p:nvSpPr>
        <p:spPr>
          <a:xfrm>
            <a:off x="562356" y="173736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01</a:t>
            </a:r>
            <a:endParaRPr lang="en-US" sz="2200" dirty="0"/>
          </a:p>
        </p:txBody>
      </p:sp>
      <p:sp>
        <p:nvSpPr>
          <p:cNvPr id="11" name="Text 8"/>
          <p:cNvSpPr txBox="1"/>
          <p:nvPr/>
        </p:nvSpPr>
        <p:spPr>
          <a:xfrm>
            <a:off x="1476756" y="173736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現状：利用と沿線の変化</a:t>
            </a:r>
            <a:endParaRPr lang="en-US" sz="1800" dirty="0"/>
          </a:p>
        </p:txBody>
      </p:sp>
      <p:sp>
        <p:nvSpPr>
          <p:cNvPr id="12" name="Shape 9"/>
          <p:cNvSpPr/>
          <p:nvPr/>
        </p:nvSpPr>
        <p:spPr>
          <a:xfrm>
            <a:off x="562356" y="2487168"/>
            <a:ext cx="8780983" cy="0"/>
          </a:xfrm>
          <a:prstGeom prst="line">
            <a:avLst/>
          </a:prstGeom>
          <a:noFill/>
          <a:ln w="9525">
            <a:solidFill>
              <a:srgbClr val="E7E6E6"/>
            </a:solidFill>
            <a:prstDash val="solid"/>
          </a:ln>
        </p:spPr>
      </p:sp>
      <p:sp>
        <p:nvSpPr>
          <p:cNvPr id="13" name="Text 10"/>
          <p:cNvSpPr txBox="1"/>
          <p:nvPr/>
        </p:nvSpPr>
        <p:spPr>
          <a:xfrm>
            <a:off x="562356" y="2697480"/>
            <a:ext cx="731520" cy="548640"/>
          </a:xfrm>
          <a:prstGeom prst="rect">
            <a:avLst/>
          </a:prstGeom>
          <a:noFill/>
          <a:ln/>
        </p:spPr>
        <p:txBody>
          <a:bodyPr wrap="square" lIns="0" tIns="0" rIns="0" bIns="0" rtlCol="0" anchor="ctr"/>
          <a:lstStyle/>
          <a:p>
            <a:pPr indent="0" marL="0">
              <a:buNone/>
            </a:pPr>
            <a:r>
              <a:rPr lang="en-US" sz="2200" b="1" dirty="0">
                <a:solidFill>
                  <a:srgbClr val="000F78"/>
                </a:solidFill>
                <a:latin typeface="Arial" pitchFamily="34" charset="0"/>
                <a:ea typeface="Arial" pitchFamily="34" charset="-122"/>
                <a:cs typeface="Arial" pitchFamily="34" charset="-120"/>
              </a:rPr>
              <a:t>02</a:t>
            </a:r>
            <a:endParaRPr lang="en-US" sz="2200" dirty="0"/>
          </a:p>
        </p:txBody>
      </p:sp>
      <p:sp>
        <p:nvSpPr>
          <p:cNvPr id="14" name="Text 11"/>
          <p:cNvSpPr txBox="1"/>
          <p:nvPr/>
        </p:nvSpPr>
        <p:spPr>
          <a:xfrm>
            <a:off x="1476756" y="2697480"/>
            <a:ext cx="7772400" cy="548640"/>
          </a:xfrm>
          <a:prstGeom prst="rect">
            <a:avLst/>
          </a:prstGeom>
          <a:noFill/>
          <a:ln/>
        </p:spPr>
        <p:txBody>
          <a:bodyPr wrap="square" lIns="0" tIns="0" rIns="0" bIns="0" rtlCol="0" anchor="ctr"/>
          <a:lstStyle/>
          <a:p>
            <a:pPr indent="0" marL="0">
              <a:buNone/>
            </a:pPr>
            <a:r>
              <a:rPr lang="en-US" sz="1800" b="1" dirty="0">
                <a:solidFill>
                  <a:srgbClr val="000F78"/>
                </a:solidFill>
                <a:latin typeface="Yu Gothic UI" pitchFamily="34" charset="0"/>
                <a:ea typeface="Yu Gothic UI" pitchFamily="34" charset="-122"/>
                <a:cs typeface="Yu Gothic UI" pitchFamily="34" charset="-120"/>
              </a:rPr>
              <a:t>課題：収支悪化の構造</a:t>
            </a:r>
            <a:endParaRPr lang="en-US" sz="1800" dirty="0"/>
          </a:p>
        </p:txBody>
      </p:sp>
      <p:sp>
        <p:nvSpPr>
          <p:cNvPr id="15" name="Shape 12"/>
          <p:cNvSpPr/>
          <p:nvPr/>
        </p:nvSpPr>
        <p:spPr>
          <a:xfrm>
            <a:off x="562356" y="3447288"/>
            <a:ext cx="8780983" cy="0"/>
          </a:xfrm>
          <a:prstGeom prst="line">
            <a:avLst/>
          </a:prstGeom>
          <a:noFill/>
          <a:ln w="9525">
            <a:solidFill>
              <a:srgbClr val="E7E6E6"/>
            </a:solidFill>
            <a:prstDash val="solid"/>
          </a:ln>
        </p:spPr>
      </p:sp>
      <p:sp>
        <p:nvSpPr>
          <p:cNvPr id="16" name="Text 13"/>
          <p:cNvSpPr txBox="1"/>
          <p:nvPr/>
        </p:nvSpPr>
        <p:spPr>
          <a:xfrm>
            <a:off x="562356" y="365760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03</a:t>
            </a:r>
            <a:endParaRPr lang="en-US" sz="2200" dirty="0"/>
          </a:p>
        </p:txBody>
      </p:sp>
      <p:sp>
        <p:nvSpPr>
          <p:cNvPr id="17" name="Text 14"/>
          <p:cNvSpPr txBox="1"/>
          <p:nvPr/>
        </p:nvSpPr>
        <p:spPr>
          <a:xfrm>
            <a:off x="1476756" y="365760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打ち手：運営形態の選択</a:t>
            </a:r>
            <a:endParaRPr lang="en-US" sz="1800" dirty="0"/>
          </a:p>
        </p:txBody>
      </p:sp>
      <p:sp>
        <p:nvSpPr>
          <p:cNvPr id="18" name="Shape 15"/>
          <p:cNvSpPr/>
          <p:nvPr/>
        </p:nvSpPr>
        <p:spPr>
          <a:xfrm>
            <a:off x="562356" y="4407408"/>
            <a:ext cx="8780983" cy="0"/>
          </a:xfrm>
          <a:prstGeom prst="line">
            <a:avLst/>
          </a:prstGeom>
          <a:noFill/>
          <a:ln w="9525">
            <a:solidFill>
              <a:srgbClr val="E7E6E6"/>
            </a:solidFill>
            <a:prstDash val="solid"/>
          </a:ln>
        </p:spPr>
      </p:sp>
      <p:sp>
        <p:nvSpPr>
          <p:cNvPr id="19" name="Text 16"/>
          <p:cNvSpPr txBox="1"/>
          <p:nvPr/>
        </p:nvSpPr>
        <p:spPr>
          <a:xfrm>
            <a:off x="562356" y="461772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04</a:t>
            </a:r>
            <a:endParaRPr lang="en-US" sz="2200" dirty="0"/>
          </a:p>
        </p:txBody>
      </p:sp>
      <p:sp>
        <p:nvSpPr>
          <p:cNvPr id="20" name="Text 17"/>
          <p:cNvSpPr txBox="1"/>
          <p:nvPr/>
        </p:nvSpPr>
        <p:spPr>
          <a:xfrm>
            <a:off x="1476756" y="461772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実行計画とご判断いただきたい事項</a:t>
            </a:r>
            <a:endParaRPr lang="en-US" sz="1800" dirty="0"/>
          </a:p>
        </p:txBody>
      </p:sp>
      <p:sp>
        <p:nvSpPr>
          <p:cNvPr id="21" name="Shape 18"/>
          <p:cNvSpPr/>
          <p:nvPr/>
        </p:nvSpPr>
        <p:spPr>
          <a:xfrm>
            <a:off x="562356" y="5367528"/>
            <a:ext cx="8780983" cy="0"/>
          </a:xfrm>
          <a:prstGeom prst="line">
            <a:avLst/>
          </a:prstGeom>
          <a:noFill/>
          <a:ln w="9525">
            <a:solidFill>
              <a:srgbClr val="E7E6E6"/>
            </a:solidFill>
            <a:prstDash val="solid"/>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課題：収支悪化の構造</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赤字は10年で3.1億円増えて年5.2億円となり、増加分の6割は運賃収入の減少による。修繕費も0.8億円増え、施設の老朽化が重い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営業損失の増減要因</a:t>
            </a:r>
            <a:pPr indent="0" marL="0">
              <a:buNone/>
            </a:pPr>
            <a:r>
              <a:rPr lang="en-US" sz="1100" dirty="0">
                <a:solidFill>
                  <a:srgbClr val="595959"/>
                </a:solidFill>
                <a:latin typeface="Yu Gothic UI" pitchFamily="34" charset="0"/>
                <a:ea typeface="Yu Gothic UI" pitchFamily="34" charset="-122"/>
                <a:cs typeface="Yu Gothic UI" pitchFamily="34" charset="-120"/>
              </a:rPr>
              <a:t>　（億円、2014年度→2024年度）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66</a:t>
            </a:r>
            <a:endParaRPr lang="en-US" sz="900" dirty="0"/>
          </a:p>
        </p:txBody>
      </p:sp>
      <p:sp>
        <p:nvSpPr>
          <p:cNvPr id="12" name="Shape 9"/>
          <p:cNvSpPr/>
          <p:nvPr/>
        </p:nvSpPr>
        <p:spPr>
          <a:xfrm>
            <a:off x="470916" y="4295851"/>
            <a:ext cx="868680" cy="1190549"/>
          </a:xfrm>
          <a:prstGeom prst="rect">
            <a:avLst/>
          </a:prstGeom>
          <a:solidFill>
            <a:srgbClr val="7F7F7F"/>
          </a:solidFill>
          <a:ln/>
        </p:spPr>
      </p:sp>
      <p:sp>
        <p:nvSpPr>
          <p:cNvPr id="13" name="Text 10"/>
          <p:cNvSpPr txBox="1"/>
          <p:nvPr/>
        </p:nvSpPr>
        <p:spPr>
          <a:xfrm>
            <a:off x="470916" y="4003243"/>
            <a:ext cx="86868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2.1</a:t>
            </a:r>
            <a:endParaRPr lang="en-US" sz="1400" dirty="0"/>
          </a:p>
        </p:txBody>
      </p:sp>
      <p:sp>
        <p:nvSpPr>
          <p:cNvPr id="14" name="Text 11"/>
          <p:cNvSpPr txBox="1"/>
          <p:nvPr/>
        </p:nvSpPr>
        <p:spPr>
          <a:xfrm>
            <a:off x="333756"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2014年度</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赤字</a:t>
            </a:r>
            <a:endParaRPr lang="en-US" sz="1400" dirty="0"/>
          </a:p>
        </p:txBody>
      </p:sp>
      <p:sp>
        <p:nvSpPr>
          <p:cNvPr id="15" name="Shape 12"/>
          <p:cNvSpPr/>
          <p:nvPr/>
        </p:nvSpPr>
        <p:spPr>
          <a:xfrm>
            <a:off x="1339596" y="4295851"/>
            <a:ext cx="384048" cy="0"/>
          </a:xfrm>
          <a:prstGeom prst="line">
            <a:avLst/>
          </a:prstGeom>
          <a:noFill/>
          <a:ln w="6350">
            <a:solidFill>
              <a:srgbClr val="BFBFBF"/>
            </a:solidFill>
            <a:prstDash val="dash"/>
          </a:ln>
        </p:spPr>
      </p:sp>
      <p:sp>
        <p:nvSpPr>
          <p:cNvPr id="16" name="Shape 13"/>
          <p:cNvSpPr/>
          <p:nvPr/>
        </p:nvSpPr>
        <p:spPr>
          <a:xfrm>
            <a:off x="1723644" y="3218688"/>
            <a:ext cx="868680" cy="1077163"/>
          </a:xfrm>
          <a:prstGeom prst="rect">
            <a:avLst/>
          </a:prstGeom>
          <a:solidFill>
            <a:srgbClr val="000F78"/>
          </a:solidFill>
          <a:ln/>
        </p:spPr>
      </p:sp>
      <p:sp>
        <p:nvSpPr>
          <p:cNvPr id="17" name="Text 14"/>
          <p:cNvSpPr txBox="1"/>
          <p:nvPr/>
        </p:nvSpPr>
        <p:spPr>
          <a:xfrm>
            <a:off x="1723644" y="2926080"/>
            <a:ext cx="868680" cy="256032"/>
          </a:xfrm>
          <a:prstGeom prst="rect">
            <a:avLst/>
          </a:prstGeom>
          <a:noFill/>
          <a:ln/>
        </p:spPr>
        <p:txBody>
          <a:bodyPr wrap="square" lIns="0" tIns="0" rIns="0" bIns="0" rtlCol="0" anchor="t"/>
          <a:lstStyle/>
          <a:p>
            <a:pPr algn="ctr" indent="0" marL="0">
              <a:buNone/>
            </a:pPr>
            <a:r>
              <a:rPr lang="en-US" sz="1400" b="1" dirty="0">
                <a:solidFill>
                  <a:srgbClr val="000F78"/>
                </a:solidFill>
                <a:latin typeface="Arial" pitchFamily="34" charset="0"/>
                <a:ea typeface="Arial" pitchFamily="34" charset="-122"/>
                <a:cs typeface="Arial" pitchFamily="34" charset="-120"/>
              </a:rPr>
              <a:t>＋1.9</a:t>
            </a:r>
            <a:endParaRPr lang="en-US" sz="1400" dirty="0"/>
          </a:p>
        </p:txBody>
      </p:sp>
      <p:sp>
        <p:nvSpPr>
          <p:cNvPr id="18" name="Text 15"/>
          <p:cNvSpPr txBox="1"/>
          <p:nvPr/>
        </p:nvSpPr>
        <p:spPr>
          <a:xfrm>
            <a:off x="1586484"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運賃収入</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の減少</a:t>
            </a:r>
            <a:endParaRPr lang="en-US" sz="1400" dirty="0"/>
          </a:p>
        </p:txBody>
      </p:sp>
      <p:sp>
        <p:nvSpPr>
          <p:cNvPr id="19" name="Shape 16"/>
          <p:cNvSpPr/>
          <p:nvPr/>
        </p:nvSpPr>
        <p:spPr>
          <a:xfrm>
            <a:off x="2592324" y="3218688"/>
            <a:ext cx="384048" cy="0"/>
          </a:xfrm>
          <a:prstGeom prst="line">
            <a:avLst/>
          </a:prstGeom>
          <a:noFill/>
          <a:ln w="6350">
            <a:solidFill>
              <a:srgbClr val="BFBFBF"/>
            </a:solidFill>
            <a:prstDash val="dash"/>
          </a:ln>
        </p:spPr>
      </p:sp>
      <p:sp>
        <p:nvSpPr>
          <p:cNvPr id="20" name="Shape 17"/>
          <p:cNvSpPr/>
          <p:nvPr/>
        </p:nvSpPr>
        <p:spPr>
          <a:xfrm>
            <a:off x="2976372" y="2765146"/>
            <a:ext cx="868680" cy="453542"/>
          </a:xfrm>
          <a:prstGeom prst="rect">
            <a:avLst/>
          </a:prstGeom>
          <a:solidFill>
            <a:srgbClr val="BFBFBF"/>
          </a:solidFill>
          <a:ln/>
        </p:spPr>
      </p:sp>
      <p:sp>
        <p:nvSpPr>
          <p:cNvPr id="21" name="Text 18"/>
          <p:cNvSpPr txBox="1"/>
          <p:nvPr/>
        </p:nvSpPr>
        <p:spPr>
          <a:xfrm>
            <a:off x="2976372" y="2472538"/>
            <a:ext cx="86868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＋0.8</a:t>
            </a:r>
            <a:endParaRPr lang="en-US" sz="1400" dirty="0"/>
          </a:p>
        </p:txBody>
      </p:sp>
      <p:sp>
        <p:nvSpPr>
          <p:cNvPr id="22" name="Text 19"/>
          <p:cNvSpPr txBox="1"/>
          <p:nvPr/>
        </p:nvSpPr>
        <p:spPr>
          <a:xfrm>
            <a:off x="2839212"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修繕費</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の増加</a:t>
            </a:r>
            <a:endParaRPr lang="en-US" sz="1400" dirty="0"/>
          </a:p>
        </p:txBody>
      </p:sp>
      <p:sp>
        <p:nvSpPr>
          <p:cNvPr id="23" name="Shape 20"/>
          <p:cNvSpPr/>
          <p:nvPr/>
        </p:nvSpPr>
        <p:spPr>
          <a:xfrm>
            <a:off x="3845052" y="2765146"/>
            <a:ext cx="384048" cy="0"/>
          </a:xfrm>
          <a:prstGeom prst="line">
            <a:avLst/>
          </a:prstGeom>
          <a:noFill/>
          <a:ln w="6350">
            <a:solidFill>
              <a:srgbClr val="BFBFBF"/>
            </a:solidFill>
            <a:prstDash val="dash"/>
          </a:ln>
        </p:spPr>
      </p:sp>
      <p:sp>
        <p:nvSpPr>
          <p:cNvPr id="24" name="Shape 21"/>
          <p:cNvSpPr/>
          <p:nvPr/>
        </p:nvSpPr>
        <p:spPr>
          <a:xfrm>
            <a:off x="4229100" y="2481682"/>
            <a:ext cx="868680" cy="283464"/>
          </a:xfrm>
          <a:prstGeom prst="rect">
            <a:avLst/>
          </a:prstGeom>
          <a:solidFill>
            <a:srgbClr val="BFBFBF"/>
          </a:solidFill>
          <a:ln/>
        </p:spPr>
      </p:sp>
      <p:sp>
        <p:nvSpPr>
          <p:cNvPr id="25" name="Text 22"/>
          <p:cNvSpPr txBox="1"/>
          <p:nvPr/>
        </p:nvSpPr>
        <p:spPr>
          <a:xfrm>
            <a:off x="4229100" y="2189074"/>
            <a:ext cx="86868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＋0.5</a:t>
            </a:r>
            <a:endParaRPr lang="en-US" sz="1400" dirty="0"/>
          </a:p>
        </p:txBody>
      </p:sp>
      <p:sp>
        <p:nvSpPr>
          <p:cNvPr id="26" name="Text 23"/>
          <p:cNvSpPr txBox="1"/>
          <p:nvPr/>
        </p:nvSpPr>
        <p:spPr>
          <a:xfrm>
            <a:off x="4091940"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動力費</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の増加</a:t>
            </a:r>
            <a:endParaRPr lang="en-US" sz="1400" dirty="0"/>
          </a:p>
        </p:txBody>
      </p:sp>
      <p:sp>
        <p:nvSpPr>
          <p:cNvPr id="27" name="Shape 24"/>
          <p:cNvSpPr/>
          <p:nvPr/>
        </p:nvSpPr>
        <p:spPr>
          <a:xfrm>
            <a:off x="5097780" y="2481682"/>
            <a:ext cx="384048" cy="0"/>
          </a:xfrm>
          <a:prstGeom prst="line">
            <a:avLst/>
          </a:prstGeom>
          <a:noFill/>
          <a:ln w="6350">
            <a:solidFill>
              <a:srgbClr val="BFBFBF"/>
            </a:solidFill>
            <a:prstDash val="dash"/>
          </a:ln>
        </p:spPr>
      </p:sp>
      <p:sp>
        <p:nvSpPr>
          <p:cNvPr id="28" name="Shape 25"/>
          <p:cNvSpPr/>
          <p:nvPr/>
        </p:nvSpPr>
        <p:spPr>
          <a:xfrm>
            <a:off x="5481828" y="2368296"/>
            <a:ext cx="868680" cy="113386"/>
          </a:xfrm>
          <a:prstGeom prst="rect">
            <a:avLst/>
          </a:prstGeom>
          <a:solidFill>
            <a:srgbClr val="BFBFBF"/>
          </a:solidFill>
          <a:ln/>
        </p:spPr>
      </p:sp>
      <p:sp>
        <p:nvSpPr>
          <p:cNvPr id="29" name="Text 26"/>
          <p:cNvSpPr txBox="1"/>
          <p:nvPr/>
        </p:nvSpPr>
        <p:spPr>
          <a:xfrm>
            <a:off x="5481828" y="2075688"/>
            <a:ext cx="86868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＋0.2</a:t>
            </a:r>
            <a:endParaRPr lang="en-US" sz="1400" dirty="0"/>
          </a:p>
        </p:txBody>
      </p:sp>
      <p:sp>
        <p:nvSpPr>
          <p:cNvPr id="30" name="Text 27"/>
          <p:cNvSpPr txBox="1"/>
          <p:nvPr/>
        </p:nvSpPr>
        <p:spPr>
          <a:xfrm>
            <a:off x="5344668"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人件費</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の増加</a:t>
            </a:r>
            <a:endParaRPr lang="en-US" sz="1400" dirty="0"/>
          </a:p>
        </p:txBody>
      </p:sp>
      <p:sp>
        <p:nvSpPr>
          <p:cNvPr id="31" name="Shape 28"/>
          <p:cNvSpPr/>
          <p:nvPr/>
        </p:nvSpPr>
        <p:spPr>
          <a:xfrm>
            <a:off x="6350508" y="2368296"/>
            <a:ext cx="384048" cy="0"/>
          </a:xfrm>
          <a:prstGeom prst="line">
            <a:avLst/>
          </a:prstGeom>
          <a:noFill/>
          <a:ln w="6350">
            <a:solidFill>
              <a:srgbClr val="BFBFBF"/>
            </a:solidFill>
            <a:prstDash val="dash"/>
          </a:ln>
        </p:spPr>
      </p:sp>
      <p:sp>
        <p:nvSpPr>
          <p:cNvPr id="32" name="Shape 29"/>
          <p:cNvSpPr/>
          <p:nvPr/>
        </p:nvSpPr>
        <p:spPr>
          <a:xfrm>
            <a:off x="6734556" y="2368296"/>
            <a:ext cx="868680" cy="170078"/>
          </a:xfrm>
          <a:prstGeom prst="rect">
            <a:avLst/>
          </a:prstGeom>
          <a:solidFill>
            <a:srgbClr val="BFBFBF"/>
          </a:solidFill>
          <a:ln/>
        </p:spPr>
      </p:sp>
      <p:sp>
        <p:nvSpPr>
          <p:cNvPr id="33" name="Text 30"/>
          <p:cNvSpPr txBox="1"/>
          <p:nvPr/>
        </p:nvSpPr>
        <p:spPr>
          <a:xfrm>
            <a:off x="6734556" y="2075688"/>
            <a:ext cx="86868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−0.3</a:t>
            </a:r>
            <a:endParaRPr lang="en-US" sz="1400" dirty="0"/>
          </a:p>
        </p:txBody>
      </p:sp>
      <p:sp>
        <p:nvSpPr>
          <p:cNvPr id="34" name="Text 31"/>
          <p:cNvSpPr txBox="1"/>
          <p:nvPr/>
        </p:nvSpPr>
        <p:spPr>
          <a:xfrm>
            <a:off x="6597396"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その他</a:t>
            </a:r>
            <a:endParaRPr lang="en-US" sz="1400" dirty="0"/>
          </a:p>
        </p:txBody>
      </p:sp>
      <p:sp>
        <p:nvSpPr>
          <p:cNvPr id="35" name="Shape 32"/>
          <p:cNvSpPr/>
          <p:nvPr/>
        </p:nvSpPr>
        <p:spPr>
          <a:xfrm>
            <a:off x="7603236" y="2538374"/>
            <a:ext cx="384048" cy="0"/>
          </a:xfrm>
          <a:prstGeom prst="line">
            <a:avLst/>
          </a:prstGeom>
          <a:noFill/>
          <a:ln w="6350">
            <a:solidFill>
              <a:srgbClr val="BFBFBF"/>
            </a:solidFill>
            <a:prstDash val="dash"/>
          </a:ln>
        </p:spPr>
      </p:sp>
      <p:sp>
        <p:nvSpPr>
          <p:cNvPr id="36" name="Shape 33"/>
          <p:cNvSpPr/>
          <p:nvPr/>
        </p:nvSpPr>
        <p:spPr>
          <a:xfrm>
            <a:off x="7987284" y="2538374"/>
            <a:ext cx="868680" cy="2948026"/>
          </a:xfrm>
          <a:prstGeom prst="rect">
            <a:avLst/>
          </a:prstGeom>
          <a:solidFill>
            <a:srgbClr val="7F7F7F"/>
          </a:solidFill>
          <a:ln/>
        </p:spPr>
      </p:sp>
      <p:sp>
        <p:nvSpPr>
          <p:cNvPr id="37" name="Text 34"/>
          <p:cNvSpPr txBox="1"/>
          <p:nvPr/>
        </p:nvSpPr>
        <p:spPr>
          <a:xfrm>
            <a:off x="7987284" y="2245766"/>
            <a:ext cx="868680" cy="256032"/>
          </a:xfrm>
          <a:prstGeom prst="rect">
            <a:avLst/>
          </a:prstGeom>
          <a:noFill/>
          <a:ln/>
        </p:spPr>
        <p:txBody>
          <a:bodyPr wrap="square" lIns="0" tIns="0" rIns="0" bIns="0" rtlCol="0" anchor="t"/>
          <a:lstStyle/>
          <a:p>
            <a:pPr algn="ctr" indent="0" marL="0">
              <a:buNone/>
            </a:pPr>
            <a:r>
              <a:rPr lang="en-US" sz="1400" dirty="0">
                <a:solidFill>
                  <a:srgbClr val="000000"/>
                </a:solidFill>
                <a:latin typeface="Arial" pitchFamily="34" charset="0"/>
                <a:ea typeface="Arial" pitchFamily="34" charset="-122"/>
                <a:cs typeface="Arial" pitchFamily="34" charset="-120"/>
              </a:rPr>
              <a:t>5.2</a:t>
            </a:r>
            <a:endParaRPr lang="en-US" sz="1400" dirty="0"/>
          </a:p>
        </p:txBody>
      </p:sp>
      <p:sp>
        <p:nvSpPr>
          <p:cNvPr id="38" name="Text 35"/>
          <p:cNvSpPr txBox="1"/>
          <p:nvPr/>
        </p:nvSpPr>
        <p:spPr>
          <a:xfrm>
            <a:off x="7850124" y="5559552"/>
            <a:ext cx="1143000" cy="548640"/>
          </a:xfrm>
          <a:prstGeom prst="rect">
            <a:avLst/>
          </a:prstGeom>
          <a:noFill/>
          <a:ln/>
        </p:spPr>
        <p:txBody>
          <a:bodyPr wrap="square" lIns="0" tIns="0" rIns="0" bIns="0" rtlCol="0" anchor="t"/>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2024年度</a:t>
            </a:r>
            <a:endParaRPr lang="en-US" sz="1400" dirty="0"/>
          </a:p>
          <a:p>
            <a:pPr algn="ctr" indent="0" marL="0">
              <a:buNone/>
            </a:pPr>
            <a:r>
              <a:rPr lang="en-US" sz="1400" dirty="0">
                <a:solidFill>
                  <a:srgbClr val="000000"/>
                </a:solidFill>
                <a:latin typeface="Yu Gothic UI" pitchFamily="34" charset="0"/>
                <a:ea typeface="Yu Gothic UI" pitchFamily="34" charset="-122"/>
                <a:cs typeface="Yu Gothic UI" pitchFamily="34" charset="-120"/>
              </a:rPr>
              <a:t>赤字</a:t>
            </a:r>
            <a:endParaRPr lang="en-US" sz="1400" dirty="0"/>
          </a:p>
        </p:txBody>
      </p:sp>
      <p:sp>
        <p:nvSpPr>
          <p:cNvPr id="39" name="Shape 36"/>
          <p:cNvSpPr/>
          <p:nvPr/>
        </p:nvSpPr>
        <p:spPr>
          <a:xfrm>
            <a:off x="288036" y="5486400"/>
            <a:ext cx="9329623" cy="0"/>
          </a:xfrm>
          <a:prstGeom prst="line">
            <a:avLst/>
          </a:prstGeom>
          <a:noFill/>
          <a:ln w="9525">
            <a:solidFill>
              <a:srgbClr val="BFBFBF"/>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課題：収支悪化の構造</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1人当たりの営業費用は937円で、同規模の地方鉄道の平均620円の1.5倍に達する。利用の減少に費用の削減が追いついていない</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67</a:t>
            </a:r>
            <a:endParaRPr lang="en-US" sz="900" dirty="0"/>
          </a:p>
        </p:txBody>
      </p:sp>
      <p:sp>
        <p:nvSpPr>
          <p:cNvPr id="10" name="Text 7"/>
          <p:cNvSpPr txBox="1"/>
          <p:nvPr/>
        </p:nvSpPr>
        <p:spPr>
          <a:xfrm>
            <a:off x="288036" y="2011680"/>
            <a:ext cx="4116172" cy="320040"/>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みなと鉄道</a:t>
            </a:r>
            <a:endParaRPr lang="en-US" sz="1400" dirty="0"/>
          </a:p>
        </p:txBody>
      </p:sp>
      <p:sp>
        <p:nvSpPr>
          <p:cNvPr id="11" name="Shape 8"/>
          <p:cNvSpPr/>
          <p:nvPr/>
        </p:nvSpPr>
        <p:spPr>
          <a:xfrm>
            <a:off x="288036" y="2395728"/>
            <a:ext cx="4116172" cy="0"/>
          </a:xfrm>
          <a:prstGeom prst="line">
            <a:avLst/>
          </a:prstGeom>
          <a:noFill/>
          <a:ln w="15875">
            <a:solidFill>
              <a:srgbClr val="000F78"/>
            </a:solidFill>
            <a:prstDash val="solid"/>
          </a:ln>
        </p:spPr>
      </p:sp>
      <p:sp>
        <p:nvSpPr>
          <p:cNvPr id="12" name="Text 9"/>
          <p:cNvSpPr txBox="1"/>
          <p:nvPr/>
        </p:nvSpPr>
        <p:spPr>
          <a:xfrm>
            <a:off x="288036" y="2651760"/>
            <a:ext cx="4116172" cy="1188720"/>
          </a:xfrm>
          <a:prstGeom prst="rect">
            <a:avLst/>
          </a:prstGeom>
          <a:noFill/>
          <a:ln/>
        </p:spPr>
        <p:txBody>
          <a:bodyPr wrap="square" lIns="0" tIns="0" rIns="0" bIns="0" rtlCol="0" anchor="ctr"/>
          <a:lstStyle/>
          <a:p>
            <a:pPr algn="ctr" indent="0" marL="0">
              <a:buNone/>
            </a:pPr>
            <a:r>
              <a:rPr lang="en-US" sz="5400" b="1" dirty="0">
                <a:solidFill>
                  <a:srgbClr val="000F78"/>
                </a:solidFill>
                <a:latin typeface="Arial" pitchFamily="34" charset="0"/>
                <a:ea typeface="Arial" pitchFamily="34" charset="-122"/>
                <a:cs typeface="Arial" pitchFamily="34" charset="-120"/>
              </a:rPr>
              <a:t>937</a:t>
            </a:r>
            <a:endParaRPr lang="en-US" sz="5400" dirty="0"/>
          </a:p>
        </p:txBody>
      </p:sp>
      <p:sp>
        <p:nvSpPr>
          <p:cNvPr id="13" name="Text 10"/>
          <p:cNvSpPr txBox="1"/>
          <p:nvPr/>
        </p:nvSpPr>
        <p:spPr>
          <a:xfrm>
            <a:off x="288036" y="3886200"/>
            <a:ext cx="4116172"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円／人</a:t>
            </a:r>
            <a:endParaRPr lang="en-US" sz="1400" dirty="0"/>
          </a:p>
        </p:txBody>
      </p:sp>
      <p:sp>
        <p:nvSpPr>
          <p:cNvPr id="14" name="Text 11"/>
          <p:cNvSpPr txBox="1"/>
          <p:nvPr/>
        </p:nvSpPr>
        <p:spPr>
          <a:xfrm>
            <a:off x="5501488" y="2011680"/>
            <a:ext cx="4116172" cy="320040"/>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同規模の地方鉄道10社の平均</a:t>
            </a:r>
            <a:endParaRPr lang="en-US" sz="1400" dirty="0"/>
          </a:p>
        </p:txBody>
      </p:sp>
      <p:sp>
        <p:nvSpPr>
          <p:cNvPr id="15" name="Shape 12"/>
          <p:cNvSpPr/>
          <p:nvPr/>
        </p:nvSpPr>
        <p:spPr>
          <a:xfrm>
            <a:off x="5501488" y="2395728"/>
            <a:ext cx="4116172" cy="0"/>
          </a:xfrm>
          <a:prstGeom prst="line">
            <a:avLst/>
          </a:prstGeom>
          <a:noFill/>
          <a:ln w="6350">
            <a:solidFill>
              <a:srgbClr val="BFBFBF"/>
            </a:solidFill>
            <a:prstDash val="solid"/>
          </a:ln>
        </p:spPr>
      </p:sp>
      <p:sp>
        <p:nvSpPr>
          <p:cNvPr id="16" name="Text 13"/>
          <p:cNvSpPr txBox="1"/>
          <p:nvPr/>
        </p:nvSpPr>
        <p:spPr>
          <a:xfrm>
            <a:off x="5501488" y="2651760"/>
            <a:ext cx="4116172" cy="1188720"/>
          </a:xfrm>
          <a:prstGeom prst="rect">
            <a:avLst/>
          </a:prstGeom>
          <a:noFill/>
          <a:ln/>
        </p:spPr>
        <p:txBody>
          <a:bodyPr wrap="square" lIns="0" tIns="0" rIns="0" bIns="0" rtlCol="0" anchor="ctr"/>
          <a:lstStyle/>
          <a:p>
            <a:pPr algn="ctr" indent="0" marL="0">
              <a:buNone/>
            </a:pPr>
            <a:r>
              <a:rPr lang="en-US" sz="5400" b="1" dirty="0">
                <a:solidFill>
                  <a:srgbClr val="7F7F7F"/>
                </a:solidFill>
                <a:latin typeface="Arial" pitchFamily="34" charset="0"/>
                <a:ea typeface="Arial" pitchFamily="34" charset="-122"/>
                <a:cs typeface="Arial" pitchFamily="34" charset="-120"/>
              </a:rPr>
              <a:t>620</a:t>
            </a:r>
            <a:endParaRPr lang="en-US" sz="5400" dirty="0"/>
          </a:p>
        </p:txBody>
      </p:sp>
      <p:sp>
        <p:nvSpPr>
          <p:cNvPr id="17" name="Text 14"/>
          <p:cNvSpPr txBox="1"/>
          <p:nvPr/>
        </p:nvSpPr>
        <p:spPr>
          <a:xfrm>
            <a:off x="5501488" y="3886200"/>
            <a:ext cx="4116172"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円／人</a:t>
            </a:r>
            <a:endParaRPr lang="en-US" sz="1400" dirty="0"/>
          </a:p>
        </p:txBody>
      </p:sp>
      <p:sp>
        <p:nvSpPr>
          <p:cNvPr id="18" name="Text 15"/>
          <p:cNvSpPr txBox="1"/>
          <p:nvPr/>
        </p:nvSpPr>
        <p:spPr>
          <a:xfrm>
            <a:off x="4404208" y="2971800"/>
            <a:ext cx="1097280" cy="548640"/>
          </a:xfrm>
          <a:prstGeom prst="rect">
            <a:avLst/>
          </a:prstGeom>
          <a:noFill/>
          <a:ln/>
        </p:spPr>
        <p:txBody>
          <a:bodyPr wrap="square" lIns="0" tIns="0" rIns="0" bIns="0" rtlCol="0" anchor="ctr"/>
          <a:lstStyle/>
          <a:p>
            <a:pPr algn="ctr" indent="0" marL="0">
              <a:buNone/>
            </a:pPr>
            <a:r>
              <a:rPr lang="en-US" sz="2000" b="1" dirty="0">
                <a:solidFill>
                  <a:srgbClr val="000F78"/>
                </a:solidFill>
                <a:latin typeface="Yu Gothic UI" pitchFamily="34" charset="0"/>
                <a:ea typeface="Yu Gothic UI" pitchFamily="34" charset="-122"/>
                <a:cs typeface="Yu Gothic UI" pitchFamily="34" charset="-120"/>
              </a:rPr>
              <a:t>×1.5</a:t>
            </a:r>
            <a:endParaRPr lang="en-US" sz="2000" dirty="0"/>
          </a:p>
        </p:txBody>
      </p:sp>
      <p:sp>
        <p:nvSpPr>
          <p:cNvPr id="19" name="Text 16"/>
          <p:cNvSpPr txBox="1"/>
          <p:nvPr/>
        </p:nvSpPr>
        <p:spPr>
          <a:xfrm>
            <a:off x="288036" y="4754880"/>
            <a:ext cx="9329623" cy="274320"/>
          </a:xfrm>
          <a:prstGeom prst="rect">
            <a:avLst/>
          </a:prstGeom>
          <a:noFill/>
          <a:ln/>
        </p:spPr>
        <p:txBody>
          <a:bodyPr wrap="square" lIns="0" tIns="0" rIns="0" bIns="0" rtlCol="0" anchor="t"/>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補足：1人当たり営業費用＝営業費用÷輸送人員（2024年度）。平均は営業距離20〜40kmの10社の単純平均</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課題：収支悪化の構造</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赤字5.2億円は、運賃収入8.1億円が費用14.8億円を大きく下回るためである。黒字化には輸送人員を現在の1.6倍に増やす必要がある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収支の計算ロジック</a:t>
            </a:r>
            <a:pPr indent="0" marL="0">
              <a:buNone/>
            </a:pPr>
            <a:r>
              <a:rPr lang="en-US" sz="1100" dirty="0">
                <a:solidFill>
                  <a:srgbClr val="595959"/>
                </a:solidFill>
                <a:latin typeface="Yu Gothic UI" pitchFamily="34" charset="0"/>
                <a:ea typeface="Yu Gothic UI" pitchFamily="34" charset="-122"/>
                <a:cs typeface="Yu Gothic UI" pitchFamily="34" charset="-120"/>
              </a:rPr>
              <a:t>　（2024年度）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68</a:t>
            </a:r>
            <a:endParaRPr lang="en-US" sz="900" dirty="0"/>
          </a:p>
        </p:txBody>
      </p:sp>
      <p:sp>
        <p:nvSpPr>
          <p:cNvPr id="12" name="Shape 9"/>
          <p:cNvSpPr/>
          <p:nvPr/>
        </p:nvSpPr>
        <p:spPr>
          <a:xfrm>
            <a:off x="288036" y="2011680"/>
            <a:ext cx="1737360" cy="914400"/>
          </a:xfrm>
          <a:prstGeom prst="rect">
            <a:avLst/>
          </a:prstGeom>
          <a:solidFill>
            <a:srgbClr val="FFFFFF"/>
          </a:solidFill>
          <a:ln w="9525">
            <a:solidFill>
              <a:srgbClr val="7F7F7F"/>
            </a:solidFill>
            <a:prstDash val="solid"/>
          </a:ln>
        </p:spPr>
      </p:sp>
      <p:sp>
        <p:nvSpPr>
          <p:cNvPr id="13" name="Text 10"/>
          <p:cNvSpPr txBox="1"/>
          <p:nvPr/>
        </p:nvSpPr>
        <p:spPr>
          <a:xfrm>
            <a:off x="379476" y="2103120"/>
            <a:ext cx="155448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営業損失</a:t>
            </a:r>
            <a:endParaRPr lang="en-US" sz="1400" dirty="0"/>
          </a:p>
        </p:txBody>
      </p:sp>
      <p:sp>
        <p:nvSpPr>
          <p:cNvPr id="14" name="Text 11"/>
          <p:cNvSpPr txBox="1"/>
          <p:nvPr/>
        </p:nvSpPr>
        <p:spPr>
          <a:xfrm>
            <a:off x="379476" y="2423160"/>
            <a:ext cx="155448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−5.2億円</a:t>
            </a:r>
            <a:endParaRPr lang="en-US" sz="1800" dirty="0"/>
          </a:p>
        </p:txBody>
      </p:sp>
      <p:sp>
        <p:nvSpPr>
          <p:cNvPr id="15" name="Text 12"/>
          <p:cNvSpPr txBox="1"/>
          <p:nvPr/>
        </p:nvSpPr>
        <p:spPr>
          <a:xfrm>
            <a:off x="2025396" y="2011680"/>
            <a:ext cx="41148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16" name="Shape 13"/>
          <p:cNvSpPr/>
          <p:nvPr/>
        </p:nvSpPr>
        <p:spPr>
          <a:xfrm>
            <a:off x="2436876" y="2011680"/>
            <a:ext cx="1737360" cy="914400"/>
          </a:xfrm>
          <a:prstGeom prst="rect">
            <a:avLst/>
          </a:prstGeom>
          <a:solidFill>
            <a:srgbClr val="FFFFFF"/>
          </a:solidFill>
          <a:ln w="9525">
            <a:solidFill>
              <a:srgbClr val="7F7F7F"/>
            </a:solidFill>
            <a:prstDash val="solid"/>
          </a:ln>
        </p:spPr>
      </p:sp>
      <p:sp>
        <p:nvSpPr>
          <p:cNvPr id="17" name="Text 14"/>
          <p:cNvSpPr txBox="1"/>
          <p:nvPr/>
        </p:nvSpPr>
        <p:spPr>
          <a:xfrm>
            <a:off x="2528316" y="2103120"/>
            <a:ext cx="155448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営業収益</a:t>
            </a:r>
            <a:endParaRPr lang="en-US" sz="1400" dirty="0"/>
          </a:p>
        </p:txBody>
      </p:sp>
      <p:sp>
        <p:nvSpPr>
          <p:cNvPr id="18" name="Text 15"/>
          <p:cNvSpPr txBox="1"/>
          <p:nvPr/>
        </p:nvSpPr>
        <p:spPr>
          <a:xfrm>
            <a:off x="2528316" y="2423160"/>
            <a:ext cx="155448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9.6億円</a:t>
            </a:r>
            <a:endParaRPr lang="en-US" sz="1800" dirty="0"/>
          </a:p>
        </p:txBody>
      </p:sp>
      <p:sp>
        <p:nvSpPr>
          <p:cNvPr id="19" name="Text 16"/>
          <p:cNvSpPr txBox="1"/>
          <p:nvPr/>
        </p:nvSpPr>
        <p:spPr>
          <a:xfrm>
            <a:off x="4174236" y="2011680"/>
            <a:ext cx="41148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20" name="Shape 17"/>
          <p:cNvSpPr/>
          <p:nvPr/>
        </p:nvSpPr>
        <p:spPr>
          <a:xfrm>
            <a:off x="4585716" y="2011680"/>
            <a:ext cx="1737360" cy="914400"/>
          </a:xfrm>
          <a:prstGeom prst="rect">
            <a:avLst/>
          </a:prstGeom>
          <a:solidFill>
            <a:srgbClr val="FFFFFF"/>
          </a:solidFill>
          <a:ln w="9525">
            <a:solidFill>
              <a:srgbClr val="7F7F7F"/>
            </a:solidFill>
            <a:prstDash val="solid"/>
          </a:ln>
        </p:spPr>
      </p:sp>
      <p:sp>
        <p:nvSpPr>
          <p:cNvPr id="21" name="Text 18"/>
          <p:cNvSpPr txBox="1"/>
          <p:nvPr/>
        </p:nvSpPr>
        <p:spPr>
          <a:xfrm>
            <a:off x="4677156" y="2103120"/>
            <a:ext cx="155448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営業費用</a:t>
            </a:r>
            <a:endParaRPr lang="en-US" sz="1400" dirty="0"/>
          </a:p>
        </p:txBody>
      </p:sp>
      <p:sp>
        <p:nvSpPr>
          <p:cNvPr id="22" name="Text 19"/>
          <p:cNvSpPr txBox="1"/>
          <p:nvPr/>
        </p:nvSpPr>
        <p:spPr>
          <a:xfrm>
            <a:off x="4677156" y="2423160"/>
            <a:ext cx="155448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14.8億円</a:t>
            </a:r>
            <a:endParaRPr lang="en-US" sz="1800" dirty="0"/>
          </a:p>
        </p:txBody>
      </p:sp>
      <p:sp>
        <p:nvSpPr>
          <p:cNvPr id="23" name="Shape 20"/>
          <p:cNvSpPr/>
          <p:nvPr/>
        </p:nvSpPr>
        <p:spPr>
          <a:xfrm>
            <a:off x="3305556" y="2926080"/>
            <a:ext cx="0" cy="411480"/>
          </a:xfrm>
          <a:prstGeom prst="line">
            <a:avLst/>
          </a:prstGeom>
          <a:noFill/>
          <a:ln w="9525">
            <a:solidFill>
              <a:srgbClr val="BFBFBF"/>
            </a:solidFill>
            <a:prstDash val="solid"/>
          </a:ln>
        </p:spPr>
      </p:sp>
      <p:sp>
        <p:nvSpPr>
          <p:cNvPr id="24" name="Shape 21"/>
          <p:cNvSpPr/>
          <p:nvPr/>
        </p:nvSpPr>
        <p:spPr>
          <a:xfrm>
            <a:off x="1202436" y="3337560"/>
            <a:ext cx="3291840" cy="0"/>
          </a:xfrm>
          <a:prstGeom prst="line">
            <a:avLst/>
          </a:prstGeom>
          <a:noFill/>
          <a:ln w="9525">
            <a:solidFill>
              <a:srgbClr val="BFBFBF"/>
            </a:solidFill>
            <a:prstDash val="solid"/>
          </a:ln>
        </p:spPr>
      </p:sp>
      <p:sp>
        <p:nvSpPr>
          <p:cNvPr id="25" name="Shape 22"/>
          <p:cNvSpPr/>
          <p:nvPr/>
        </p:nvSpPr>
        <p:spPr>
          <a:xfrm>
            <a:off x="288036" y="3611880"/>
            <a:ext cx="1417320" cy="914400"/>
          </a:xfrm>
          <a:prstGeom prst="rect">
            <a:avLst/>
          </a:prstGeom>
          <a:solidFill>
            <a:srgbClr val="FFFFFF"/>
          </a:solidFill>
          <a:ln w="22225">
            <a:solidFill>
              <a:srgbClr val="000F78"/>
            </a:solidFill>
            <a:prstDash val="solid"/>
          </a:ln>
        </p:spPr>
      </p:sp>
      <p:sp>
        <p:nvSpPr>
          <p:cNvPr id="26" name="Text 23"/>
          <p:cNvSpPr txBox="1"/>
          <p:nvPr/>
        </p:nvSpPr>
        <p:spPr>
          <a:xfrm>
            <a:off x="379476" y="3703320"/>
            <a:ext cx="1234440" cy="292608"/>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輸送人員</a:t>
            </a:r>
            <a:endParaRPr lang="en-US" sz="1400" dirty="0"/>
          </a:p>
        </p:txBody>
      </p:sp>
      <p:sp>
        <p:nvSpPr>
          <p:cNvPr id="27" name="Text 24"/>
          <p:cNvSpPr txBox="1"/>
          <p:nvPr/>
        </p:nvSpPr>
        <p:spPr>
          <a:xfrm>
            <a:off x="379476" y="4023360"/>
            <a:ext cx="1234440" cy="411480"/>
          </a:xfrm>
          <a:prstGeom prst="rect">
            <a:avLst/>
          </a:prstGeom>
          <a:noFill/>
          <a:ln/>
        </p:spPr>
        <p:txBody>
          <a:bodyPr wrap="square" lIns="0" tIns="0" rIns="0" bIns="0" rtlCol="0" anchor="t"/>
          <a:lstStyle/>
          <a:p>
            <a:pPr algn="ctr" indent="0" marL="0">
              <a:buNone/>
            </a:pPr>
            <a:r>
              <a:rPr lang="en-US" sz="1800" b="1" dirty="0">
                <a:solidFill>
                  <a:srgbClr val="000F78"/>
                </a:solidFill>
                <a:latin typeface="Yu Gothic UI" pitchFamily="34" charset="0"/>
                <a:ea typeface="Yu Gothic UI" pitchFamily="34" charset="-122"/>
                <a:cs typeface="Yu Gothic UI" pitchFamily="34" charset="-120"/>
              </a:rPr>
              <a:t>158万人</a:t>
            </a:r>
            <a:endParaRPr lang="en-US" sz="1800" dirty="0"/>
          </a:p>
        </p:txBody>
      </p:sp>
      <p:sp>
        <p:nvSpPr>
          <p:cNvPr id="28" name="Text 25"/>
          <p:cNvSpPr txBox="1"/>
          <p:nvPr/>
        </p:nvSpPr>
        <p:spPr>
          <a:xfrm>
            <a:off x="1705356" y="3611880"/>
            <a:ext cx="41148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29" name="Shape 26"/>
          <p:cNvSpPr/>
          <p:nvPr/>
        </p:nvSpPr>
        <p:spPr>
          <a:xfrm>
            <a:off x="2116836" y="3611880"/>
            <a:ext cx="1417320" cy="914400"/>
          </a:xfrm>
          <a:prstGeom prst="rect">
            <a:avLst/>
          </a:prstGeom>
          <a:solidFill>
            <a:srgbClr val="FFFFFF"/>
          </a:solidFill>
          <a:ln w="9525">
            <a:solidFill>
              <a:srgbClr val="7F7F7F"/>
            </a:solidFill>
            <a:prstDash val="solid"/>
          </a:ln>
        </p:spPr>
      </p:sp>
      <p:sp>
        <p:nvSpPr>
          <p:cNvPr id="30" name="Text 27"/>
          <p:cNvSpPr txBox="1"/>
          <p:nvPr/>
        </p:nvSpPr>
        <p:spPr>
          <a:xfrm>
            <a:off x="2208276" y="3703320"/>
            <a:ext cx="123444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平均運賃</a:t>
            </a:r>
            <a:endParaRPr lang="en-US" sz="1400" dirty="0"/>
          </a:p>
        </p:txBody>
      </p:sp>
      <p:sp>
        <p:nvSpPr>
          <p:cNvPr id="31" name="Text 28"/>
          <p:cNvSpPr txBox="1"/>
          <p:nvPr/>
        </p:nvSpPr>
        <p:spPr>
          <a:xfrm>
            <a:off x="2208276" y="4023360"/>
            <a:ext cx="123444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513円</a:t>
            </a:r>
            <a:endParaRPr lang="en-US" sz="1800" dirty="0"/>
          </a:p>
        </p:txBody>
      </p:sp>
      <p:sp>
        <p:nvSpPr>
          <p:cNvPr id="32" name="Text 29"/>
          <p:cNvSpPr txBox="1"/>
          <p:nvPr/>
        </p:nvSpPr>
        <p:spPr>
          <a:xfrm>
            <a:off x="3534156" y="3611880"/>
            <a:ext cx="411480" cy="914400"/>
          </a:xfrm>
          <a:prstGeom prst="rect">
            <a:avLst/>
          </a:prstGeom>
          <a:noFill/>
          <a:ln/>
        </p:spPr>
        <p:txBody>
          <a:bodyPr wrap="square" lIns="0" tIns="0" rIns="0" bIns="0" rtlCol="0" anchor="ctr"/>
          <a:lstStyle/>
          <a:p>
            <a:pPr algn="ctr" indent="0" marL="0">
              <a:buNone/>
            </a:pPr>
            <a:r>
              <a:rPr lang="en-US" sz="2000" b="1" dirty="0">
                <a:solidFill>
                  <a:srgbClr val="595959"/>
                </a:solidFill>
                <a:latin typeface="Yu Gothic UI" pitchFamily="34" charset="0"/>
                <a:ea typeface="Yu Gothic UI" pitchFamily="34" charset="-122"/>
                <a:cs typeface="Yu Gothic UI" pitchFamily="34" charset="-120"/>
              </a:rPr>
              <a:t>＋</a:t>
            </a:r>
            <a:endParaRPr lang="en-US" sz="2000" dirty="0"/>
          </a:p>
        </p:txBody>
      </p:sp>
      <p:sp>
        <p:nvSpPr>
          <p:cNvPr id="33" name="Shape 30"/>
          <p:cNvSpPr/>
          <p:nvPr/>
        </p:nvSpPr>
        <p:spPr>
          <a:xfrm>
            <a:off x="3945636" y="3611880"/>
            <a:ext cx="1280160" cy="914400"/>
          </a:xfrm>
          <a:prstGeom prst="rect">
            <a:avLst/>
          </a:prstGeom>
          <a:solidFill>
            <a:srgbClr val="FFFFFF"/>
          </a:solidFill>
          <a:ln w="9525">
            <a:solidFill>
              <a:srgbClr val="7F7F7F"/>
            </a:solidFill>
            <a:prstDash val="solid"/>
          </a:ln>
        </p:spPr>
      </p:sp>
      <p:sp>
        <p:nvSpPr>
          <p:cNvPr id="34" name="Text 31"/>
          <p:cNvSpPr txBox="1"/>
          <p:nvPr/>
        </p:nvSpPr>
        <p:spPr>
          <a:xfrm>
            <a:off x="4037076" y="3703320"/>
            <a:ext cx="1097280" cy="292608"/>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運輸雑収</a:t>
            </a:r>
            <a:endParaRPr lang="en-US" sz="1400" dirty="0"/>
          </a:p>
        </p:txBody>
      </p:sp>
      <p:sp>
        <p:nvSpPr>
          <p:cNvPr id="35" name="Text 32"/>
          <p:cNvSpPr txBox="1"/>
          <p:nvPr/>
        </p:nvSpPr>
        <p:spPr>
          <a:xfrm>
            <a:off x="4037076" y="4023360"/>
            <a:ext cx="1097280" cy="411480"/>
          </a:xfrm>
          <a:prstGeom prst="rect">
            <a:avLst/>
          </a:prstGeom>
          <a:noFill/>
          <a:ln/>
        </p:spPr>
        <p:txBody>
          <a:bodyPr wrap="square" lIns="0" tIns="0" rIns="0" bIns="0" rtlCol="0" anchor="t"/>
          <a:lstStyle/>
          <a:p>
            <a:pPr algn="ctr" indent="0" marL="0">
              <a:buNone/>
            </a:pPr>
            <a:r>
              <a:rPr lang="en-US" sz="1800" b="1" dirty="0">
                <a:solidFill>
                  <a:srgbClr val="000000"/>
                </a:solidFill>
                <a:latin typeface="Yu Gothic UI" pitchFamily="34" charset="0"/>
                <a:ea typeface="Yu Gothic UI" pitchFamily="34" charset="-122"/>
                <a:cs typeface="Yu Gothic UI" pitchFamily="34" charset="-120"/>
              </a:rPr>
              <a:t>1.5億円</a:t>
            </a:r>
            <a:endParaRPr lang="en-US" sz="1800" dirty="0"/>
          </a:p>
        </p:txBody>
      </p:sp>
      <p:sp>
        <p:nvSpPr>
          <p:cNvPr id="36" name="Shape 33"/>
          <p:cNvSpPr/>
          <p:nvPr/>
        </p:nvSpPr>
        <p:spPr>
          <a:xfrm>
            <a:off x="1001268" y="3337560"/>
            <a:ext cx="0" cy="274320"/>
          </a:xfrm>
          <a:prstGeom prst="line">
            <a:avLst/>
          </a:prstGeom>
          <a:noFill/>
          <a:ln w="9525">
            <a:solidFill>
              <a:srgbClr val="BFBFBF"/>
            </a:solidFill>
            <a:prstDash val="solid"/>
          </a:ln>
        </p:spPr>
      </p:sp>
      <p:sp>
        <p:nvSpPr>
          <p:cNvPr id="37" name="Shape 34"/>
          <p:cNvSpPr/>
          <p:nvPr/>
        </p:nvSpPr>
        <p:spPr>
          <a:xfrm>
            <a:off x="2830068" y="3337560"/>
            <a:ext cx="0" cy="274320"/>
          </a:xfrm>
          <a:prstGeom prst="line">
            <a:avLst/>
          </a:prstGeom>
          <a:noFill/>
          <a:ln w="9525">
            <a:solidFill>
              <a:srgbClr val="BFBFBF"/>
            </a:solidFill>
            <a:prstDash val="solid"/>
          </a:ln>
        </p:spPr>
      </p:sp>
      <p:sp>
        <p:nvSpPr>
          <p:cNvPr id="38" name="Shape 35"/>
          <p:cNvSpPr/>
          <p:nvPr/>
        </p:nvSpPr>
        <p:spPr>
          <a:xfrm>
            <a:off x="4585716" y="3337560"/>
            <a:ext cx="0" cy="274320"/>
          </a:xfrm>
          <a:prstGeom prst="line">
            <a:avLst/>
          </a:prstGeom>
          <a:noFill/>
          <a:ln w="9525">
            <a:solidFill>
              <a:srgbClr val="BFBFBF"/>
            </a:solidFill>
            <a:prstDash val="solid"/>
          </a:ln>
        </p:spPr>
      </p:sp>
      <p:sp>
        <p:nvSpPr>
          <p:cNvPr id="39" name="Shape 36"/>
          <p:cNvSpPr/>
          <p:nvPr/>
        </p:nvSpPr>
        <p:spPr>
          <a:xfrm>
            <a:off x="5454396" y="2926080"/>
            <a:ext cx="0" cy="411480"/>
          </a:xfrm>
          <a:prstGeom prst="line">
            <a:avLst/>
          </a:prstGeom>
          <a:noFill/>
          <a:ln w="9525">
            <a:solidFill>
              <a:srgbClr val="BFBFBF"/>
            </a:solidFill>
            <a:prstDash val="solid"/>
          </a:ln>
        </p:spPr>
      </p:sp>
      <p:sp>
        <p:nvSpPr>
          <p:cNvPr id="40" name="Text 37"/>
          <p:cNvSpPr txBox="1"/>
          <p:nvPr/>
        </p:nvSpPr>
        <p:spPr>
          <a:xfrm>
            <a:off x="5682996" y="3429000"/>
            <a:ext cx="3934663" cy="274320"/>
          </a:xfrm>
          <a:prstGeom prst="rect">
            <a:avLst/>
          </a:prstGeom>
          <a:noFill/>
          <a:ln/>
        </p:spPr>
        <p:txBody>
          <a:bodyPr wrap="square" lIns="0" tIns="0" rIns="0" bIns="0" rtlCol="0" anchor="t"/>
          <a:lstStyle/>
          <a:p>
            <a:pPr indent="0" marL="0">
              <a:buNone/>
            </a:pPr>
            <a:r>
              <a:rPr lang="en-US" sz="1400" b="1" dirty="0">
                <a:solidFill>
                  <a:srgbClr val="595959"/>
                </a:solidFill>
                <a:latin typeface="Yu Gothic UI" pitchFamily="34" charset="0"/>
                <a:ea typeface="Yu Gothic UI" pitchFamily="34" charset="-122"/>
                <a:cs typeface="Yu Gothic UI" pitchFamily="34" charset="-120"/>
              </a:rPr>
              <a:t>費用の内訳</a:t>
            </a:r>
            <a:endParaRPr lang="en-US" sz="1400" dirty="0"/>
          </a:p>
        </p:txBody>
      </p:sp>
      <p:sp>
        <p:nvSpPr>
          <p:cNvPr id="41" name="Text 38"/>
          <p:cNvSpPr txBox="1"/>
          <p:nvPr/>
        </p:nvSpPr>
        <p:spPr>
          <a:xfrm>
            <a:off x="5682996" y="3749040"/>
            <a:ext cx="2011680" cy="29260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人件費</a:t>
            </a:r>
            <a:endParaRPr lang="en-US" sz="1400" dirty="0"/>
          </a:p>
        </p:txBody>
      </p:sp>
      <p:sp>
        <p:nvSpPr>
          <p:cNvPr id="42" name="Text 39"/>
          <p:cNvSpPr txBox="1"/>
          <p:nvPr/>
        </p:nvSpPr>
        <p:spPr>
          <a:xfrm>
            <a:off x="8337499" y="3749040"/>
            <a:ext cx="1280160" cy="292608"/>
          </a:xfrm>
          <a:prstGeom prst="rect">
            <a:avLst/>
          </a:prstGeom>
          <a:noFill/>
          <a:ln/>
        </p:spPr>
        <p:txBody>
          <a:bodyPr wrap="square" lIns="0" tIns="0" rIns="0" bIns="0" rtlCol="0" anchor="t"/>
          <a:lstStyle/>
          <a:p>
            <a:pPr algn="r" indent="0" marL="0">
              <a:buNone/>
            </a:pPr>
            <a:r>
              <a:rPr lang="en-US" sz="1400" dirty="0">
                <a:solidFill>
                  <a:srgbClr val="000000"/>
                </a:solidFill>
                <a:latin typeface="Arial" pitchFamily="34" charset="0"/>
                <a:ea typeface="Arial" pitchFamily="34" charset="-122"/>
                <a:cs typeface="Arial" pitchFamily="34" charset="-120"/>
              </a:rPr>
              <a:t>6.9億円</a:t>
            </a:r>
            <a:endParaRPr lang="en-US" sz="1400" dirty="0"/>
          </a:p>
        </p:txBody>
      </p:sp>
      <p:sp>
        <p:nvSpPr>
          <p:cNvPr id="43" name="Text 40"/>
          <p:cNvSpPr txBox="1"/>
          <p:nvPr/>
        </p:nvSpPr>
        <p:spPr>
          <a:xfrm>
            <a:off x="5682996" y="4078224"/>
            <a:ext cx="2011680" cy="29260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修繕費</a:t>
            </a:r>
            <a:endParaRPr lang="en-US" sz="1400" dirty="0"/>
          </a:p>
        </p:txBody>
      </p:sp>
      <p:sp>
        <p:nvSpPr>
          <p:cNvPr id="44" name="Text 41"/>
          <p:cNvSpPr txBox="1"/>
          <p:nvPr/>
        </p:nvSpPr>
        <p:spPr>
          <a:xfrm>
            <a:off x="8337499" y="4078224"/>
            <a:ext cx="1280160" cy="292608"/>
          </a:xfrm>
          <a:prstGeom prst="rect">
            <a:avLst/>
          </a:prstGeom>
          <a:noFill/>
          <a:ln/>
        </p:spPr>
        <p:txBody>
          <a:bodyPr wrap="square" lIns="0" tIns="0" rIns="0" bIns="0" rtlCol="0" anchor="t"/>
          <a:lstStyle/>
          <a:p>
            <a:pPr algn="r" indent="0" marL="0">
              <a:buNone/>
            </a:pPr>
            <a:r>
              <a:rPr lang="en-US" sz="1400" dirty="0">
                <a:solidFill>
                  <a:srgbClr val="000000"/>
                </a:solidFill>
                <a:latin typeface="Arial" pitchFamily="34" charset="0"/>
                <a:ea typeface="Arial" pitchFamily="34" charset="-122"/>
                <a:cs typeface="Arial" pitchFamily="34" charset="-120"/>
              </a:rPr>
              <a:t>3.2億円</a:t>
            </a:r>
            <a:endParaRPr lang="en-US" sz="1400" dirty="0"/>
          </a:p>
        </p:txBody>
      </p:sp>
      <p:sp>
        <p:nvSpPr>
          <p:cNvPr id="45" name="Text 42"/>
          <p:cNvSpPr txBox="1"/>
          <p:nvPr/>
        </p:nvSpPr>
        <p:spPr>
          <a:xfrm>
            <a:off x="5682996" y="4407408"/>
            <a:ext cx="2011680" cy="29260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減価償却費</a:t>
            </a:r>
            <a:endParaRPr lang="en-US" sz="1400" dirty="0"/>
          </a:p>
        </p:txBody>
      </p:sp>
      <p:sp>
        <p:nvSpPr>
          <p:cNvPr id="46" name="Text 43"/>
          <p:cNvSpPr txBox="1"/>
          <p:nvPr/>
        </p:nvSpPr>
        <p:spPr>
          <a:xfrm>
            <a:off x="8337499" y="4407408"/>
            <a:ext cx="1280160" cy="292608"/>
          </a:xfrm>
          <a:prstGeom prst="rect">
            <a:avLst/>
          </a:prstGeom>
          <a:noFill/>
          <a:ln/>
        </p:spPr>
        <p:txBody>
          <a:bodyPr wrap="square" lIns="0" tIns="0" rIns="0" bIns="0" rtlCol="0" anchor="t"/>
          <a:lstStyle/>
          <a:p>
            <a:pPr algn="r" indent="0" marL="0">
              <a:buNone/>
            </a:pPr>
            <a:r>
              <a:rPr lang="en-US" sz="1400" dirty="0">
                <a:solidFill>
                  <a:srgbClr val="000000"/>
                </a:solidFill>
                <a:latin typeface="Arial" pitchFamily="34" charset="0"/>
                <a:ea typeface="Arial" pitchFamily="34" charset="-122"/>
                <a:cs typeface="Arial" pitchFamily="34" charset="-120"/>
              </a:rPr>
              <a:t>2.1億円</a:t>
            </a:r>
            <a:endParaRPr lang="en-US" sz="1400" dirty="0"/>
          </a:p>
        </p:txBody>
      </p:sp>
      <p:sp>
        <p:nvSpPr>
          <p:cNvPr id="47" name="Text 44"/>
          <p:cNvSpPr txBox="1"/>
          <p:nvPr/>
        </p:nvSpPr>
        <p:spPr>
          <a:xfrm>
            <a:off x="5682996" y="4736592"/>
            <a:ext cx="2011680" cy="29260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動力費</a:t>
            </a:r>
            <a:endParaRPr lang="en-US" sz="1400" dirty="0"/>
          </a:p>
        </p:txBody>
      </p:sp>
      <p:sp>
        <p:nvSpPr>
          <p:cNvPr id="48" name="Text 45"/>
          <p:cNvSpPr txBox="1"/>
          <p:nvPr/>
        </p:nvSpPr>
        <p:spPr>
          <a:xfrm>
            <a:off x="8337499" y="4736592"/>
            <a:ext cx="1280160" cy="292608"/>
          </a:xfrm>
          <a:prstGeom prst="rect">
            <a:avLst/>
          </a:prstGeom>
          <a:noFill/>
          <a:ln/>
        </p:spPr>
        <p:txBody>
          <a:bodyPr wrap="square" lIns="0" tIns="0" rIns="0" bIns="0" rtlCol="0" anchor="t"/>
          <a:lstStyle/>
          <a:p>
            <a:pPr algn="r" indent="0" marL="0">
              <a:buNone/>
            </a:pPr>
            <a:r>
              <a:rPr lang="en-US" sz="1400" dirty="0">
                <a:solidFill>
                  <a:srgbClr val="000000"/>
                </a:solidFill>
                <a:latin typeface="Arial" pitchFamily="34" charset="0"/>
                <a:ea typeface="Arial" pitchFamily="34" charset="-122"/>
                <a:cs typeface="Arial" pitchFamily="34" charset="-120"/>
              </a:rPr>
              <a:t>1.4億円</a:t>
            </a:r>
            <a:endParaRPr lang="en-US" sz="1400" dirty="0"/>
          </a:p>
        </p:txBody>
      </p:sp>
      <p:sp>
        <p:nvSpPr>
          <p:cNvPr id="49" name="Text 46"/>
          <p:cNvSpPr txBox="1"/>
          <p:nvPr/>
        </p:nvSpPr>
        <p:spPr>
          <a:xfrm>
            <a:off x="5682996" y="5065776"/>
            <a:ext cx="2011680" cy="292608"/>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その他</a:t>
            </a:r>
            <a:endParaRPr lang="en-US" sz="1400" dirty="0"/>
          </a:p>
        </p:txBody>
      </p:sp>
      <p:sp>
        <p:nvSpPr>
          <p:cNvPr id="50" name="Text 47"/>
          <p:cNvSpPr txBox="1"/>
          <p:nvPr/>
        </p:nvSpPr>
        <p:spPr>
          <a:xfrm>
            <a:off x="8337499" y="5065776"/>
            <a:ext cx="1280160" cy="292608"/>
          </a:xfrm>
          <a:prstGeom prst="rect">
            <a:avLst/>
          </a:prstGeom>
          <a:noFill/>
          <a:ln/>
        </p:spPr>
        <p:txBody>
          <a:bodyPr wrap="square" lIns="0" tIns="0" rIns="0" bIns="0" rtlCol="0" anchor="t"/>
          <a:lstStyle/>
          <a:p>
            <a:pPr algn="r" indent="0" marL="0">
              <a:buNone/>
            </a:pPr>
            <a:r>
              <a:rPr lang="en-US" sz="1400" dirty="0">
                <a:solidFill>
                  <a:srgbClr val="000000"/>
                </a:solidFill>
                <a:latin typeface="Arial" pitchFamily="34" charset="0"/>
                <a:ea typeface="Arial" pitchFamily="34" charset="-122"/>
                <a:cs typeface="Arial" pitchFamily="34" charset="-120"/>
              </a:rPr>
              <a:t>1.2億円</a:t>
            </a:r>
            <a:endParaRPr lang="en-US" sz="1400" dirty="0"/>
          </a:p>
        </p:txBody>
      </p:sp>
      <p:sp>
        <p:nvSpPr>
          <p:cNvPr id="51" name="Text 48"/>
          <p:cNvSpPr txBox="1"/>
          <p:nvPr/>
        </p:nvSpPr>
        <p:spPr>
          <a:xfrm>
            <a:off x="288036" y="5623560"/>
            <a:ext cx="5943600"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黒字化に必要な輸送人員：＋101万人（現在の1.6倍）</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2　課題：収支悪化の構造</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収支を最も左右するのは輸送人員で、10%の変動で0.8億円動く。人件費も0.7億円と大きく、利用の維持と要員の見直しを同時に進める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各前提が10%変動したときの営業損益の変化</a:t>
            </a:r>
            <a:pPr indent="0" marL="0">
              <a:buNone/>
            </a:pPr>
            <a:r>
              <a:rPr lang="en-US" sz="1100" dirty="0">
                <a:solidFill>
                  <a:srgbClr val="595959"/>
                </a:solidFill>
                <a:latin typeface="Yu Gothic UI" pitchFamily="34" charset="0"/>
                <a:ea typeface="Yu Gothic UI" pitchFamily="34" charset="-122"/>
                <a:cs typeface="Yu Gothic UI" pitchFamily="34" charset="-120"/>
              </a:rPr>
              <a:t>　（億円、基本ケース＝−5.2億円）</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69</a:t>
            </a:r>
            <a:endParaRPr lang="en-US" sz="900" dirty="0"/>
          </a:p>
        </p:txBody>
      </p:sp>
      <p:sp>
        <p:nvSpPr>
          <p:cNvPr id="12" name="Text 9"/>
          <p:cNvSpPr txBox="1"/>
          <p:nvPr/>
        </p:nvSpPr>
        <p:spPr>
          <a:xfrm>
            <a:off x="3947008" y="1828800"/>
            <a:ext cx="2011680" cy="256032"/>
          </a:xfrm>
          <a:prstGeom prst="rect">
            <a:avLst/>
          </a:prstGeom>
          <a:noFill/>
          <a:ln/>
        </p:spPr>
        <p:txBody>
          <a:bodyPr wrap="square" lIns="0" tIns="0" rIns="0" bIns="0" rtlCol="0" anchor="t"/>
          <a:lstStyle/>
          <a:p>
            <a:pPr algn="r" indent="0" marL="0">
              <a:buNone/>
            </a:pPr>
            <a:r>
              <a:rPr lang="en-US" sz="1400" dirty="0">
                <a:solidFill>
                  <a:srgbClr val="595959"/>
                </a:solidFill>
                <a:latin typeface="Yu Gothic UI" pitchFamily="34" charset="0"/>
                <a:ea typeface="Yu Gothic UI" pitchFamily="34" charset="-122"/>
                <a:cs typeface="Yu Gothic UI" pitchFamily="34" charset="-120"/>
              </a:rPr>
              <a:t>悪化</a:t>
            </a:r>
            <a:endParaRPr lang="en-US" sz="1400" dirty="0"/>
          </a:p>
        </p:txBody>
      </p:sp>
      <p:sp>
        <p:nvSpPr>
          <p:cNvPr id="13" name="Text 10"/>
          <p:cNvSpPr txBox="1"/>
          <p:nvPr/>
        </p:nvSpPr>
        <p:spPr>
          <a:xfrm>
            <a:off x="6324448" y="1828800"/>
            <a:ext cx="2011680" cy="256032"/>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改善</a:t>
            </a:r>
            <a:endParaRPr lang="en-US" sz="1400" dirty="0"/>
          </a:p>
        </p:txBody>
      </p:sp>
      <p:sp>
        <p:nvSpPr>
          <p:cNvPr id="14" name="Text 11"/>
          <p:cNvSpPr txBox="1"/>
          <p:nvPr/>
        </p:nvSpPr>
        <p:spPr>
          <a:xfrm>
            <a:off x="288036" y="2286000"/>
            <a:ext cx="2194560" cy="4572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輸送人員</a:t>
            </a:r>
            <a:endParaRPr lang="en-US" sz="1400" dirty="0"/>
          </a:p>
        </p:txBody>
      </p:sp>
      <p:sp>
        <p:nvSpPr>
          <p:cNvPr id="15" name="Shape 12"/>
          <p:cNvSpPr/>
          <p:nvPr/>
        </p:nvSpPr>
        <p:spPr>
          <a:xfrm>
            <a:off x="3549244" y="2350008"/>
            <a:ext cx="2592324" cy="329184"/>
          </a:xfrm>
          <a:prstGeom prst="rect">
            <a:avLst/>
          </a:prstGeom>
          <a:solidFill>
            <a:srgbClr val="000F78"/>
          </a:solidFill>
          <a:ln/>
        </p:spPr>
      </p:sp>
      <p:sp>
        <p:nvSpPr>
          <p:cNvPr id="16" name="Shape 13"/>
          <p:cNvSpPr/>
          <p:nvPr/>
        </p:nvSpPr>
        <p:spPr>
          <a:xfrm>
            <a:off x="6141568" y="2350008"/>
            <a:ext cx="2592324" cy="329184"/>
          </a:xfrm>
          <a:prstGeom prst="rect">
            <a:avLst/>
          </a:prstGeom>
          <a:solidFill>
            <a:srgbClr val="000F78"/>
          </a:solidFill>
          <a:ln/>
        </p:spPr>
      </p:sp>
      <p:sp>
        <p:nvSpPr>
          <p:cNvPr id="17" name="Text 14"/>
          <p:cNvSpPr txBox="1"/>
          <p:nvPr/>
        </p:nvSpPr>
        <p:spPr>
          <a:xfrm>
            <a:off x="2817724" y="2286000"/>
            <a:ext cx="685800" cy="457200"/>
          </a:xfrm>
          <a:prstGeom prst="rect">
            <a:avLst/>
          </a:prstGeom>
          <a:noFill/>
          <a:ln/>
        </p:spPr>
        <p:txBody>
          <a:bodyPr wrap="square" lIns="0" tIns="0" rIns="0" bIns="0" rtlCol="0" anchor="ctr"/>
          <a:lstStyle/>
          <a:p>
            <a:pPr algn="r" indent="0" marL="0">
              <a:buNone/>
            </a:pPr>
            <a:r>
              <a:rPr lang="en-US" sz="1400" b="1" dirty="0">
                <a:solidFill>
                  <a:srgbClr val="000F78"/>
                </a:solidFill>
                <a:latin typeface="Arial" pitchFamily="34" charset="0"/>
                <a:ea typeface="Arial" pitchFamily="34" charset="-122"/>
                <a:cs typeface="Arial" pitchFamily="34" charset="-120"/>
              </a:rPr>
              <a:t>−0.81</a:t>
            </a:r>
            <a:endParaRPr lang="en-US" sz="1400" dirty="0"/>
          </a:p>
        </p:txBody>
      </p:sp>
      <p:sp>
        <p:nvSpPr>
          <p:cNvPr id="18" name="Text 15"/>
          <p:cNvSpPr txBox="1"/>
          <p:nvPr/>
        </p:nvSpPr>
        <p:spPr>
          <a:xfrm>
            <a:off x="8779612" y="2286000"/>
            <a:ext cx="731520" cy="457200"/>
          </a:xfrm>
          <a:prstGeom prst="rect">
            <a:avLst/>
          </a:prstGeom>
          <a:noFill/>
          <a:ln/>
        </p:spPr>
        <p:txBody>
          <a:bodyPr wrap="square" lIns="0" tIns="0" rIns="0" bIns="0" rtlCol="0" anchor="ctr"/>
          <a:lstStyle/>
          <a:p>
            <a:pPr indent="0" marL="0">
              <a:buNone/>
            </a:pPr>
            <a:r>
              <a:rPr lang="en-US" sz="1400" b="1" dirty="0">
                <a:solidFill>
                  <a:srgbClr val="000F78"/>
                </a:solidFill>
                <a:latin typeface="Arial" pitchFamily="34" charset="0"/>
                <a:ea typeface="Arial" pitchFamily="34" charset="-122"/>
                <a:cs typeface="Arial" pitchFamily="34" charset="-120"/>
              </a:rPr>
              <a:t>＋0.81</a:t>
            </a:r>
            <a:endParaRPr lang="en-US" sz="1400" dirty="0"/>
          </a:p>
        </p:txBody>
      </p:sp>
      <p:sp>
        <p:nvSpPr>
          <p:cNvPr id="19" name="Text 16"/>
          <p:cNvSpPr txBox="1"/>
          <p:nvPr/>
        </p:nvSpPr>
        <p:spPr>
          <a:xfrm>
            <a:off x="288036" y="3035808"/>
            <a:ext cx="219456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人件費</a:t>
            </a:r>
            <a:endParaRPr lang="en-US" sz="1400" dirty="0"/>
          </a:p>
        </p:txBody>
      </p:sp>
      <p:sp>
        <p:nvSpPr>
          <p:cNvPr id="20" name="Shape 17"/>
          <p:cNvSpPr/>
          <p:nvPr/>
        </p:nvSpPr>
        <p:spPr>
          <a:xfrm>
            <a:off x="3933292" y="3099816"/>
            <a:ext cx="2208276" cy="329184"/>
          </a:xfrm>
          <a:prstGeom prst="rect">
            <a:avLst/>
          </a:prstGeom>
          <a:solidFill>
            <a:srgbClr val="BFBFBF"/>
          </a:solidFill>
          <a:ln/>
        </p:spPr>
      </p:sp>
      <p:sp>
        <p:nvSpPr>
          <p:cNvPr id="21" name="Shape 18"/>
          <p:cNvSpPr/>
          <p:nvPr/>
        </p:nvSpPr>
        <p:spPr>
          <a:xfrm>
            <a:off x="6141568" y="3099816"/>
            <a:ext cx="2208276" cy="329184"/>
          </a:xfrm>
          <a:prstGeom prst="rect">
            <a:avLst/>
          </a:prstGeom>
          <a:solidFill>
            <a:srgbClr val="BFBFBF"/>
          </a:solidFill>
          <a:ln/>
        </p:spPr>
      </p:sp>
      <p:sp>
        <p:nvSpPr>
          <p:cNvPr id="22" name="Text 19"/>
          <p:cNvSpPr txBox="1"/>
          <p:nvPr/>
        </p:nvSpPr>
        <p:spPr>
          <a:xfrm>
            <a:off x="3201772" y="3035808"/>
            <a:ext cx="68580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−0.69</a:t>
            </a:r>
            <a:endParaRPr lang="en-US" sz="1400" dirty="0"/>
          </a:p>
        </p:txBody>
      </p:sp>
      <p:sp>
        <p:nvSpPr>
          <p:cNvPr id="23" name="Text 20"/>
          <p:cNvSpPr txBox="1"/>
          <p:nvPr/>
        </p:nvSpPr>
        <p:spPr>
          <a:xfrm>
            <a:off x="8395564" y="3035808"/>
            <a:ext cx="73152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＋0.69</a:t>
            </a:r>
            <a:endParaRPr lang="en-US" sz="1400" dirty="0"/>
          </a:p>
        </p:txBody>
      </p:sp>
      <p:sp>
        <p:nvSpPr>
          <p:cNvPr id="24" name="Text 21"/>
          <p:cNvSpPr txBox="1"/>
          <p:nvPr/>
        </p:nvSpPr>
        <p:spPr>
          <a:xfrm>
            <a:off x="288036" y="3785616"/>
            <a:ext cx="219456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修繕費</a:t>
            </a:r>
            <a:endParaRPr lang="en-US" sz="1400" dirty="0"/>
          </a:p>
        </p:txBody>
      </p:sp>
      <p:sp>
        <p:nvSpPr>
          <p:cNvPr id="25" name="Shape 22"/>
          <p:cNvSpPr/>
          <p:nvPr/>
        </p:nvSpPr>
        <p:spPr>
          <a:xfrm>
            <a:off x="5117440" y="3849624"/>
            <a:ext cx="1024128" cy="329184"/>
          </a:xfrm>
          <a:prstGeom prst="rect">
            <a:avLst/>
          </a:prstGeom>
          <a:solidFill>
            <a:srgbClr val="BFBFBF"/>
          </a:solidFill>
          <a:ln/>
        </p:spPr>
      </p:sp>
      <p:sp>
        <p:nvSpPr>
          <p:cNvPr id="26" name="Shape 23"/>
          <p:cNvSpPr/>
          <p:nvPr/>
        </p:nvSpPr>
        <p:spPr>
          <a:xfrm>
            <a:off x="6141568" y="3849624"/>
            <a:ext cx="1024128" cy="329184"/>
          </a:xfrm>
          <a:prstGeom prst="rect">
            <a:avLst/>
          </a:prstGeom>
          <a:solidFill>
            <a:srgbClr val="BFBFBF"/>
          </a:solidFill>
          <a:ln/>
        </p:spPr>
      </p:sp>
      <p:sp>
        <p:nvSpPr>
          <p:cNvPr id="27" name="Text 24"/>
          <p:cNvSpPr txBox="1"/>
          <p:nvPr/>
        </p:nvSpPr>
        <p:spPr>
          <a:xfrm>
            <a:off x="4385920" y="3785616"/>
            <a:ext cx="68580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−0.32</a:t>
            </a:r>
            <a:endParaRPr lang="en-US" sz="1400" dirty="0"/>
          </a:p>
        </p:txBody>
      </p:sp>
      <p:sp>
        <p:nvSpPr>
          <p:cNvPr id="28" name="Text 25"/>
          <p:cNvSpPr txBox="1"/>
          <p:nvPr/>
        </p:nvSpPr>
        <p:spPr>
          <a:xfrm>
            <a:off x="7211416" y="3785616"/>
            <a:ext cx="73152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＋0.32</a:t>
            </a:r>
            <a:endParaRPr lang="en-US" sz="1400" dirty="0"/>
          </a:p>
        </p:txBody>
      </p:sp>
      <p:sp>
        <p:nvSpPr>
          <p:cNvPr id="29" name="Text 26"/>
          <p:cNvSpPr txBox="1"/>
          <p:nvPr/>
        </p:nvSpPr>
        <p:spPr>
          <a:xfrm>
            <a:off x="288036" y="4535424"/>
            <a:ext cx="219456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減価償却費</a:t>
            </a:r>
            <a:endParaRPr lang="en-US" sz="1400" dirty="0"/>
          </a:p>
        </p:txBody>
      </p:sp>
      <p:sp>
        <p:nvSpPr>
          <p:cNvPr id="30" name="Shape 27"/>
          <p:cNvSpPr/>
          <p:nvPr/>
        </p:nvSpPr>
        <p:spPr>
          <a:xfrm>
            <a:off x="5469484" y="4599432"/>
            <a:ext cx="672084" cy="329184"/>
          </a:xfrm>
          <a:prstGeom prst="rect">
            <a:avLst/>
          </a:prstGeom>
          <a:solidFill>
            <a:srgbClr val="BFBFBF"/>
          </a:solidFill>
          <a:ln/>
        </p:spPr>
      </p:sp>
      <p:sp>
        <p:nvSpPr>
          <p:cNvPr id="31" name="Shape 28"/>
          <p:cNvSpPr/>
          <p:nvPr/>
        </p:nvSpPr>
        <p:spPr>
          <a:xfrm>
            <a:off x="6141568" y="4599432"/>
            <a:ext cx="672084" cy="329184"/>
          </a:xfrm>
          <a:prstGeom prst="rect">
            <a:avLst/>
          </a:prstGeom>
          <a:solidFill>
            <a:srgbClr val="BFBFBF"/>
          </a:solidFill>
          <a:ln/>
        </p:spPr>
      </p:sp>
      <p:sp>
        <p:nvSpPr>
          <p:cNvPr id="32" name="Text 29"/>
          <p:cNvSpPr txBox="1"/>
          <p:nvPr/>
        </p:nvSpPr>
        <p:spPr>
          <a:xfrm>
            <a:off x="4737964" y="4535424"/>
            <a:ext cx="68580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−0.21</a:t>
            </a:r>
            <a:endParaRPr lang="en-US" sz="1400" dirty="0"/>
          </a:p>
        </p:txBody>
      </p:sp>
      <p:sp>
        <p:nvSpPr>
          <p:cNvPr id="33" name="Text 30"/>
          <p:cNvSpPr txBox="1"/>
          <p:nvPr/>
        </p:nvSpPr>
        <p:spPr>
          <a:xfrm>
            <a:off x="6859372" y="4535424"/>
            <a:ext cx="73152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＋0.21</a:t>
            </a:r>
            <a:endParaRPr lang="en-US" sz="1400" dirty="0"/>
          </a:p>
        </p:txBody>
      </p:sp>
      <p:sp>
        <p:nvSpPr>
          <p:cNvPr id="34" name="Text 31"/>
          <p:cNvSpPr txBox="1"/>
          <p:nvPr/>
        </p:nvSpPr>
        <p:spPr>
          <a:xfrm>
            <a:off x="288036" y="5285232"/>
            <a:ext cx="2194560" cy="4572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動力費</a:t>
            </a:r>
            <a:endParaRPr lang="en-US" sz="1400" dirty="0"/>
          </a:p>
        </p:txBody>
      </p:sp>
      <p:sp>
        <p:nvSpPr>
          <p:cNvPr id="35" name="Shape 32"/>
          <p:cNvSpPr/>
          <p:nvPr/>
        </p:nvSpPr>
        <p:spPr>
          <a:xfrm>
            <a:off x="5693512" y="5349240"/>
            <a:ext cx="448056" cy="329184"/>
          </a:xfrm>
          <a:prstGeom prst="rect">
            <a:avLst/>
          </a:prstGeom>
          <a:solidFill>
            <a:srgbClr val="BFBFBF"/>
          </a:solidFill>
          <a:ln/>
        </p:spPr>
      </p:sp>
      <p:sp>
        <p:nvSpPr>
          <p:cNvPr id="36" name="Shape 33"/>
          <p:cNvSpPr/>
          <p:nvPr/>
        </p:nvSpPr>
        <p:spPr>
          <a:xfrm>
            <a:off x="6141568" y="5349240"/>
            <a:ext cx="448056" cy="329184"/>
          </a:xfrm>
          <a:prstGeom prst="rect">
            <a:avLst/>
          </a:prstGeom>
          <a:solidFill>
            <a:srgbClr val="BFBFBF"/>
          </a:solidFill>
          <a:ln/>
        </p:spPr>
      </p:sp>
      <p:sp>
        <p:nvSpPr>
          <p:cNvPr id="37" name="Text 34"/>
          <p:cNvSpPr txBox="1"/>
          <p:nvPr/>
        </p:nvSpPr>
        <p:spPr>
          <a:xfrm>
            <a:off x="4961992" y="5285232"/>
            <a:ext cx="685800" cy="457200"/>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−0.14</a:t>
            </a:r>
            <a:endParaRPr lang="en-US" sz="1400" dirty="0"/>
          </a:p>
        </p:txBody>
      </p:sp>
      <p:sp>
        <p:nvSpPr>
          <p:cNvPr id="38" name="Text 35"/>
          <p:cNvSpPr txBox="1"/>
          <p:nvPr/>
        </p:nvSpPr>
        <p:spPr>
          <a:xfrm>
            <a:off x="6635344" y="5285232"/>
            <a:ext cx="731520" cy="4572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＋0.14</a:t>
            </a:r>
            <a:endParaRPr lang="en-US" sz="1400" dirty="0"/>
          </a:p>
        </p:txBody>
      </p:sp>
      <p:sp>
        <p:nvSpPr>
          <p:cNvPr id="39" name="Shape 36"/>
          <p:cNvSpPr/>
          <p:nvPr/>
        </p:nvSpPr>
        <p:spPr>
          <a:xfrm>
            <a:off x="6141568" y="2148840"/>
            <a:ext cx="0" cy="3886200"/>
          </a:xfrm>
          <a:prstGeom prst="line">
            <a:avLst/>
          </a:prstGeom>
          <a:noFill/>
          <a:ln w="12700">
            <a:solidFill>
              <a:srgbClr val="7F7F7F"/>
            </a:solidFill>
            <a:prstDash val="solid"/>
          </a:ln>
        </p:spPr>
      </p:sp>
      <p:sp>
        <p:nvSpPr>
          <p:cNvPr id="40" name="Text 37"/>
          <p:cNvSpPr txBox="1"/>
          <p:nvPr/>
        </p:nvSpPr>
        <p:spPr>
          <a:xfrm>
            <a:off x="5227168" y="6080760"/>
            <a:ext cx="1828800"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基本ケース −5.2</a:t>
            </a:r>
            <a:endParaRPr lang="en-US" sz="1400" dirty="0"/>
          </a:p>
        </p:txBody>
      </p:sp>
      <p:sp>
        <p:nvSpPr>
          <p:cNvPr id="41" name="Text 38"/>
          <p:cNvSpPr txBox="1"/>
          <p:nvPr/>
        </p:nvSpPr>
        <p:spPr>
          <a:xfrm>
            <a:off x="288036" y="5897880"/>
            <a:ext cx="5486400" cy="274320"/>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補足：輸送人員の変動は運賃収入に比例すると仮定</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第3章では、3つの運営形態を比べ、上下分離を推奨する理由を示す。上下分離は自治体の実質負担が最も小さく、鉄道の利便性も保てる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 </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70</a:t>
            </a:r>
            <a:endParaRPr lang="en-US" sz="900" dirty="0"/>
          </a:p>
        </p:txBody>
      </p:sp>
      <p:sp>
        <p:nvSpPr>
          <p:cNvPr id="10" name="Text 7"/>
          <p:cNvSpPr txBox="1"/>
          <p:nvPr/>
        </p:nvSpPr>
        <p:spPr>
          <a:xfrm>
            <a:off x="562356" y="173736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01</a:t>
            </a:r>
            <a:endParaRPr lang="en-US" sz="2200" dirty="0"/>
          </a:p>
        </p:txBody>
      </p:sp>
      <p:sp>
        <p:nvSpPr>
          <p:cNvPr id="11" name="Text 8"/>
          <p:cNvSpPr txBox="1"/>
          <p:nvPr/>
        </p:nvSpPr>
        <p:spPr>
          <a:xfrm>
            <a:off x="1476756" y="173736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現状：利用と沿線の変化</a:t>
            </a:r>
            <a:endParaRPr lang="en-US" sz="1800" dirty="0"/>
          </a:p>
        </p:txBody>
      </p:sp>
      <p:sp>
        <p:nvSpPr>
          <p:cNvPr id="12" name="Shape 9"/>
          <p:cNvSpPr/>
          <p:nvPr/>
        </p:nvSpPr>
        <p:spPr>
          <a:xfrm>
            <a:off x="562356" y="2487168"/>
            <a:ext cx="8780983" cy="0"/>
          </a:xfrm>
          <a:prstGeom prst="line">
            <a:avLst/>
          </a:prstGeom>
          <a:noFill/>
          <a:ln w="9525">
            <a:solidFill>
              <a:srgbClr val="E7E6E6"/>
            </a:solidFill>
            <a:prstDash val="solid"/>
          </a:ln>
        </p:spPr>
      </p:sp>
      <p:sp>
        <p:nvSpPr>
          <p:cNvPr id="13" name="Text 10"/>
          <p:cNvSpPr txBox="1"/>
          <p:nvPr/>
        </p:nvSpPr>
        <p:spPr>
          <a:xfrm>
            <a:off x="562356" y="269748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02</a:t>
            </a:r>
            <a:endParaRPr lang="en-US" sz="2200" dirty="0"/>
          </a:p>
        </p:txBody>
      </p:sp>
      <p:sp>
        <p:nvSpPr>
          <p:cNvPr id="14" name="Text 11"/>
          <p:cNvSpPr txBox="1"/>
          <p:nvPr/>
        </p:nvSpPr>
        <p:spPr>
          <a:xfrm>
            <a:off x="1476756" y="269748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課題：収支悪化の構造</a:t>
            </a:r>
            <a:endParaRPr lang="en-US" sz="1800" dirty="0"/>
          </a:p>
        </p:txBody>
      </p:sp>
      <p:sp>
        <p:nvSpPr>
          <p:cNvPr id="15" name="Shape 12"/>
          <p:cNvSpPr/>
          <p:nvPr/>
        </p:nvSpPr>
        <p:spPr>
          <a:xfrm>
            <a:off x="562356" y="3447288"/>
            <a:ext cx="8780983" cy="0"/>
          </a:xfrm>
          <a:prstGeom prst="line">
            <a:avLst/>
          </a:prstGeom>
          <a:noFill/>
          <a:ln w="9525">
            <a:solidFill>
              <a:srgbClr val="E7E6E6"/>
            </a:solidFill>
            <a:prstDash val="solid"/>
          </a:ln>
        </p:spPr>
      </p:sp>
      <p:sp>
        <p:nvSpPr>
          <p:cNvPr id="16" name="Text 13"/>
          <p:cNvSpPr txBox="1"/>
          <p:nvPr/>
        </p:nvSpPr>
        <p:spPr>
          <a:xfrm>
            <a:off x="562356" y="3657600"/>
            <a:ext cx="731520" cy="548640"/>
          </a:xfrm>
          <a:prstGeom prst="rect">
            <a:avLst/>
          </a:prstGeom>
          <a:noFill/>
          <a:ln/>
        </p:spPr>
        <p:txBody>
          <a:bodyPr wrap="square" lIns="0" tIns="0" rIns="0" bIns="0" rtlCol="0" anchor="ctr"/>
          <a:lstStyle/>
          <a:p>
            <a:pPr indent="0" marL="0">
              <a:buNone/>
            </a:pPr>
            <a:r>
              <a:rPr lang="en-US" sz="2200" b="1" dirty="0">
                <a:solidFill>
                  <a:srgbClr val="000F78"/>
                </a:solidFill>
                <a:latin typeface="Arial" pitchFamily="34" charset="0"/>
                <a:ea typeface="Arial" pitchFamily="34" charset="-122"/>
                <a:cs typeface="Arial" pitchFamily="34" charset="-120"/>
              </a:rPr>
              <a:t>03</a:t>
            </a:r>
            <a:endParaRPr lang="en-US" sz="2200" dirty="0"/>
          </a:p>
        </p:txBody>
      </p:sp>
      <p:sp>
        <p:nvSpPr>
          <p:cNvPr id="17" name="Text 14"/>
          <p:cNvSpPr txBox="1"/>
          <p:nvPr/>
        </p:nvSpPr>
        <p:spPr>
          <a:xfrm>
            <a:off x="1476756" y="3657600"/>
            <a:ext cx="7772400" cy="548640"/>
          </a:xfrm>
          <a:prstGeom prst="rect">
            <a:avLst/>
          </a:prstGeom>
          <a:noFill/>
          <a:ln/>
        </p:spPr>
        <p:txBody>
          <a:bodyPr wrap="square" lIns="0" tIns="0" rIns="0" bIns="0" rtlCol="0" anchor="ctr"/>
          <a:lstStyle/>
          <a:p>
            <a:pPr indent="0" marL="0">
              <a:buNone/>
            </a:pPr>
            <a:r>
              <a:rPr lang="en-US" sz="1800" b="1" dirty="0">
                <a:solidFill>
                  <a:srgbClr val="000F78"/>
                </a:solidFill>
                <a:latin typeface="Yu Gothic UI" pitchFamily="34" charset="0"/>
                <a:ea typeface="Yu Gothic UI" pitchFamily="34" charset="-122"/>
                <a:cs typeface="Yu Gothic UI" pitchFamily="34" charset="-120"/>
              </a:rPr>
              <a:t>打ち手：運営形態の選択</a:t>
            </a:r>
            <a:endParaRPr lang="en-US" sz="1800" dirty="0"/>
          </a:p>
        </p:txBody>
      </p:sp>
      <p:sp>
        <p:nvSpPr>
          <p:cNvPr id="18" name="Shape 15"/>
          <p:cNvSpPr/>
          <p:nvPr/>
        </p:nvSpPr>
        <p:spPr>
          <a:xfrm>
            <a:off x="562356" y="4407408"/>
            <a:ext cx="8780983" cy="0"/>
          </a:xfrm>
          <a:prstGeom prst="line">
            <a:avLst/>
          </a:prstGeom>
          <a:noFill/>
          <a:ln w="9525">
            <a:solidFill>
              <a:srgbClr val="E7E6E6"/>
            </a:solidFill>
            <a:prstDash val="solid"/>
          </a:ln>
        </p:spPr>
      </p:sp>
      <p:sp>
        <p:nvSpPr>
          <p:cNvPr id="19" name="Text 16"/>
          <p:cNvSpPr txBox="1"/>
          <p:nvPr/>
        </p:nvSpPr>
        <p:spPr>
          <a:xfrm>
            <a:off x="562356" y="461772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04</a:t>
            </a:r>
            <a:endParaRPr lang="en-US" sz="2200" dirty="0"/>
          </a:p>
        </p:txBody>
      </p:sp>
      <p:sp>
        <p:nvSpPr>
          <p:cNvPr id="20" name="Text 17"/>
          <p:cNvSpPr txBox="1"/>
          <p:nvPr/>
        </p:nvSpPr>
        <p:spPr>
          <a:xfrm>
            <a:off x="1476756" y="461772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実行計画とご判断いただきたい事項</a:t>
            </a:r>
            <a:endParaRPr lang="en-US" sz="1800" dirty="0"/>
          </a:p>
        </p:txBody>
      </p:sp>
      <p:sp>
        <p:nvSpPr>
          <p:cNvPr id="21" name="Shape 18"/>
          <p:cNvSpPr/>
          <p:nvPr/>
        </p:nvSpPr>
        <p:spPr>
          <a:xfrm>
            <a:off x="562356" y="5367528"/>
            <a:ext cx="8780983" cy="0"/>
          </a:xfrm>
          <a:prstGeom prst="line">
            <a:avLst/>
          </a:prstGeom>
          <a:noFill/>
          <a:ln w="9525">
            <a:solidFill>
              <a:srgbClr val="E7E6E6"/>
            </a:solidFill>
            <a:prstDash val="solid"/>
          </a:ln>
        </p:spPr>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打ち手：運営形態の選択</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上下分離は4基準のうち公的負担・利便性・持続性の3つで最も高い。実現性の課題である3市の負担割合は、協議会の調整で解決できる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運営形態の3案の評価</a:t>
            </a:r>
            <a:pPr indent="0" marL="0">
              <a:buNone/>
            </a:pPr>
            <a:r>
              <a:rPr lang="en-US" sz="1100" dirty="0">
                <a:solidFill>
                  <a:srgbClr val="595959"/>
                </a:solidFill>
                <a:latin typeface="Yu Gothic UI" pitchFamily="34" charset="0"/>
                <a:ea typeface="Yu Gothic UI" pitchFamily="34" charset="-122"/>
                <a:cs typeface="Yu Gothic UI" pitchFamily="34" charset="-120"/>
              </a:rPr>
              <a:t>　（●高　◑中　○低）</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注）路線・数値はすべて架空の完成例。公的負担は2030年度の自治体の実質負担で評価</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71</a:t>
            </a:r>
            <a:endParaRPr lang="en-US" sz="9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2743200"/>
                <a:gridCol w="2194560"/>
                <a:gridCol w="2194560"/>
                <a:gridCol w="2197303"/>
              </a:tblGrid>
              <a:tr h="731520">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評価基準</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案A　現行維持</a:t>
                      </a:r>
                      <a:endParaRPr lang="en-US" sz="1400" dirty="0">
                        <a:latin typeface="Yu Gothic UI" charset="0"/>
                        <a:ea typeface="Yu Gothic UI" charset="0"/>
                        <a:cs typeface="Yu Gothic UI" charset="0"/>
                      </a:endParaRPr>
                    </a:p>
                    <a:p>
                      <a:pPr algn="ctr" indent="0" marL="0">
                        <a:buNone/>
                      </a:pPr>
                      <a:r>
                        <a:rPr lang="en-US" sz="1400" b="1" dirty="0">
                          <a:solidFill>
                            <a:srgbClr val="000000"/>
                          </a:solidFill>
                          <a:latin typeface="Yu Gothic UI" pitchFamily="34" charset="0"/>
                          <a:ea typeface="Yu Gothic UI" pitchFamily="34" charset="-122"/>
                          <a:cs typeface="Yu Gothic UI" pitchFamily="34" charset="-120"/>
                        </a:rPr>
                        <a:t>（赤字を補填）</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案B　上下分離</a:t>
                      </a:r>
                      <a:endParaRPr lang="en-US" sz="1400" dirty="0">
                        <a:latin typeface="Yu Gothic UI" charset="0"/>
                        <a:ea typeface="Yu Gothic UI" charset="0"/>
                        <a:cs typeface="Yu Gothic UI" charset="0"/>
                      </a:endParaRPr>
                    </a:p>
                    <a:p>
                      <a:pPr algn="ctr" indent="0" marL="0">
                        <a:buNone/>
                      </a:pPr>
                      <a:r>
                        <a:rPr lang="en-US" sz="1400" b="1" dirty="0">
                          <a:solidFill>
                            <a:srgbClr val="000F78"/>
                          </a:solidFill>
                          <a:latin typeface="Yu Gothic UI" pitchFamily="34" charset="0"/>
                          <a:ea typeface="Yu Gothic UI" pitchFamily="34" charset="-122"/>
                          <a:cs typeface="Yu Gothic UI" pitchFamily="34" charset="-120"/>
                        </a:rPr>
                        <a:t>（推奨）</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案C　BRT転換</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82296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公的負担の小ささ</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2296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利便性（速さ・定時性）</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2296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実現性（合意・手続き）</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2296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将来の持続性</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000F78"/>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200" dirty="0">
                          <a:solidFill>
                            <a:srgbClr val="7F7F7F"/>
                          </a:solidFill>
                          <a:latin typeface="Yu Gothic UI" pitchFamily="34" charset="0"/>
                          <a:ea typeface="Yu Gothic UI" pitchFamily="34" charset="-122"/>
                          <a:cs typeface="Yu Gothic UI" pitchFamily="34" charset="-120"/>
                        </a:rPr>
                        <a:t>◑</a:t>
                      </a:r>
                      <a:endParaRPr lang="en-US" sz="22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
        <p:nvSpPr>
          <p:cNvPr id="13" name="Shape 9"/>
          <p:cNvSpPr/>
          <p:nvPr/>
        </p:nvSpPr>
        <p:spPr>
          <a:xfrm>
            <a:off x="5225796" y="1874520"/>
            <a:ext cx="2194560" cy="4114800"/>
          </a:xfrm>
          <a:prstGeom prst="rect">
            <a:avLst/>
          </a:prstGeom>
          <a:ln w="19050">
            <a:solidFill>
              <a:srgbClr val="000F78"/>
            </a:solidFill>
            <a:prstDash val="soli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打ち手：運営形態の選択</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上下分離では県と3市が線路・駅を保有し、会社は運行に専念する。施設の費用5.3億円が自治体に移り、会社は使用料1.0億円を払う</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上下分離の仕組み</a:t>
            </a:r>
            <a:pPr indent="0" marL="0">
              <a:buNone/>
            </a:pPr>
            <a:r>
              <a:rPr lang="en-US" sz="1100" dirty="0">
                <a:solidFill>
                  <a:srgbClr val="595959"/>
                </a:solidFill>
                <a:latin typeface="Yu Gothic UI" pitchFamily="34" charset="0"/>
                <a:ea typeface="Yu Gothic UI" pitchFamily="34" charset="-122"/>
                <a:cs typeface="Yu Gothic UI" pitchFamily="34" charset="-120"/>
              </a:rPr>
              <a:t>　（2028年度以降）</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72</a:t>
            </a:r>
            <a:endParaRPr lang="en-US" sz="900" dirty="0"/>
          </a:p>
        </p:txBody>
      </p:sp>
      <p:sp>
        <p:nvSpPr>
          <p:cNvPr id="12" name="Shape 9"/>
          <p:cNvSpPr/>
          <p:nvPr/>
        </p:nvSpPr>
        <p:spPr>
          <a:xfrm>
            <a:off x="1110996" y="2148840"/>
            <a:ext cx="1051560" cy="1051560"/>
          </a:xfrm>
          <a:prstGeom prst="ellipse">
            <a:avLst/>
          </a:prstGeom>
          <a:solidFill>
            <a:srgbClr val="FFFFFF"/>
          </a:solidFill>
          <a:ln w="12700">
            <a:solidFill>
              <a:srgbClr val="7F7F7F"/>
            </a:solidFill>
            <a:prstDash val="solid"/>
          </a:ln>
        </p:spPr>
      </p:sp>
      <p:sp>
        <p:nvSpPr>
          <p:cNvPr id="13" name="Text 10"/>
          <p:cNvSpPr txBox="1"/>
          <p:nvPr/>
        </p:nvSpPr>
        <p:spPr>
          <a:xfrm>
            <a:off x="745236" y="2496312"/>
            <a:ext cx="1783080" cy="365760"/>
          </a:xfrm>
          <a:prstGeom prst="rect">
            <a:avLst/>
          </a:prstGeom>
          <a:noFill/>
          <a:ln/>
        </p:spPr>
        <p:txBody>
          <a:bodyPr wrap="square" lIns="0" tIns="0" rIns="0" bIns="0" rtlCol="0" anchor="t"/>
          <a:lstStyle/>
          <a:p>
            <a:pPr algn="ctr" indent="0" marL="0">
              <a:buNone/>
            </a:pPr>
            <a:r>
              <a:rPr lang="en-US" sz="1100" dirty="0">
                <a:solidFill>
                  <a:srgbClr val="7F7F7F"/>
                </a:solidFill>
                <a:latin typeface="Yu Gothic UI" pitchFamily="34" charset="0"/>
                <a:ea typeface="Yu Gothic UI" pitchFamily="34" charset="-122"/>
                <a:cs typeface="Yu Gothic UI" pitchFamily="34" charset="-120"/>
              </a:rPr>
              <a:t>補助</a:t>
            </a:r>
            <a:endParaRPr lang="en-US" sz="1100" dirty="0"/>
          </a:p>
        </p:txBody>
      </p:sp>
      <p:sp>
        <p:nvSpPr>
          <p:cNvPr id="14" name="Text 11"/>
          <p:cNvSpPr txBox="1"/>
          <p:nvPr/>
        </p:nvSpPr>
        <p:spPr>
          <a:xfrm>
            <a:off x="470916" y="3246120"/>
            <a:ext cx="2331720" cy="310896"/>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国</a:t>
            </a:r>
            <a:endParaRPr lang="en-US" sz="1400" dirty="0"/>
          </a:p>
        </p:txBody>
      </p:sp>
      <p:sp>
        <p:nvSpPr>
          <p:cNvPr id="15" name="Shape 12"/>
          <p:cNvSpPr/>
          <p:nvPr/>
        </p:nvSpPr>
        <p:spPr>
          <a:xfrm>
            <a:off x="4219956" y="2148840"/>
            <a:ext cx="1051560" cy="1051560"/>
          </a:xfrm>
          <a:prstGeom prst="ellipse">
            <a:avLst/>
          </a:prstGeom>
          <a:solidFill>
            <a:srgbClr val="FFFFFF"/>
          </a:solidFill>
          <a:ln w="25400">
            <a:solidFill>
              <a:srgbClr val="000F78"/>
            </a:solidFill>
            <a:prstDash val="solid"/>
          </a:ln>
        </p:spPr>
      </p:sp>
      <p:sp>
        <p:nvSpPr>
          <p:cNvPr id="16" name="Text 13"/>
          <p:cNvSpPr txBox="1"/>
          <p:nvPr/>
        </p:nvSpPr>
        <p:spPr>
          <a:xfrm>
            <a:off x="3854196" y="2496312"/>
            <a:ext cx="1783080" cy="365760"/>
          </a:xfrm>
          <a:prstGeom prst="rect">
            <a:avLst/>
          </a:prstGeom>
          <a:noFill/>
          <a:ln/>
        </p:spPr>
        <p:txBody>
          <a:bodyPr wrap="square" lIns="0" tIns="0" rIns="0" bIns="0" rtlCol="0" anchor="t"/>
          <a:lstStyle/>
          <a:p>
            <a:pPr algn="ctr" indent="0" marL="0">
              <a:buNone/>
            </a:pPr>
            <a:r>
              <a:rPr lang="en-US" sz="1100" dirty="0">
                <a:solidFill>
                  <a:srgbClr val="7F7F7F"/>
                </a:solidFill>
                <a:latin typeface="Yu Gothic UI" pitchFamily="34" charset="0"/>
                <a:ea typeface="Yu Gothic UI" pitchFamily="34" charset="-122"/>
                <a:cs typeface="Yu Gothic UI" pitchFamily="34" charset="-120"/>
              </a:rPr>
              <a:t>施設を保有</a:t>
            </a:r>
            <a:endParaRPr lang="en-US" sz="1100" dirty="0"/>
          </a:p>
        </p:txBody>
      </p:sp>
      <p:sp>
        <p:nvSpPr>
          <p:cNvPr id="17" name="Text 14"/>
          <p:cNvSpPr txBox="1"/>
          <p:nvPr/>
        </p:nvSpPr>
        <p:spPr>
          <a:xfrm>
            <a:off x="3579876" y="3246120"/>
            <a:ext cx="2331720" cy="310896"/>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県・沿線3市</a:t>
            </a:r>
            <a:endParaRPr lang="en-US" sz="1400" dirty="0"/>
          </a:p>
        </p:txBody>
      </p:sp>
      <p:sp>
        <p:nvSpPr>
          <p:cNvPr id="18" name="Shape 15"/>
          <p:cNvSpPr/>
          <p:nvPr/>
        </p:nvSpPr>
        <p:spPr>
          <a:xfrm>
            <a:off x="7420356" y="2148840"/>
            <a:ext cx="1051560" cy="1051560"/>
          </a:xfrm>
          <a:prstGeom prst="ellipse">
            <a:avLst/>
          </a:prstGeom>
          <a:solidFill>
            <a:srgbClr val="FFFFFF"/>
          </a:solidFill>
          <a:ln w="12700">
            <a:solidFill>
              <a:srgbClr val="7F7F7F"/>
            </a:solidFill>
            <a:prstDash val="solid"/>
          </a:ln>
        </p:spPr>
      </p:sp>
      <p:sp>
        <p:nvSpPr>
          <p:cNvPr id="19" name="Text 16"/>
          <p:cNvSpPr txBox="1"/>
          <p:nvPr/>
        </p:nvSpPr>
        <p:spPr>
          <a:xfrm>
            <a:off x="7054596" y="2496312"/>
            <a:ext cx="1783080" cy="365760"/>
          </a:xfrm>
          <a:prstGeom prst="rect">
            <a:avLst/>
          </a:prstGeom>
          <a:noFill/>
          <a:ln/>
        </p:spPr>
        <p:txBody>
          <a:bodyPr wrap="square" lIns="0" tIns="0" rIns="0" bIns="0" rtlCol="0" anchor="t"/>
          <a:lstStyle/>
          <a:p>
            <a:pPr algn="ctr" indent="0" marL="0">
              <a:buNone/>
            </a:pPr>
            <a:r>
              <a:rPr lang="en-US" sz="1100" dirty="0">
                <a:solidFill>
                  <a:srgbClr val="7F7F7F"/>
                </a:solidFill>
                <a:latin typeface="Yu Gothic UI" pitchFamily="34" charset="0"/>
                <a:ea typeface="Yu Gothic UI" pitchFamily="34" charset="-122"/>
                <a:cs typeface="Yu Gothic UI" pitchFamily="34" charset="-120"/>
              </a:rPr>
              <a:t>運行に専念</a:t>
            </a:r>
            <a:endParaRPr lang="en-US" sz="1100" dirty="0"/>
          </a:p>
        </p:txBody>
      </p:sp>
      <p:sp>
        <p:nvSpPr>
          <p:cNvPr id="20" name="Text 17"/>
          <p:cNvSpPr txBox="1"/>
          <p:nvPr/>
        </p:nvSpPr>
        <p:spPr>
          <a:xfrm>
            <a:off x="6780276" y="3246120"/>
            <a:ext cx="2331720" cy="310896"/>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みなと鉄道</a:t>
            </a:r>
            <a:endParaRPr lang="en-US" sz="1400" dirty="0"/>
          </a:p>
        </p:txBody>
      </p:sp>
      <p:sp>
        <p:nvSpPr>
          <p:cNvPr id="21" name="Shape 18"/>
          <p:cNvSpPr/>
          <p:nvPr/>
        </p:nvSpPr>
        <p:spPr>
          <a:xfrm>
            <a:off x="7420356" y="4434840"/>
            <a:ext cx="1051560" cy="1051560"/>
          </a:xfrm>
          <a:prstGeom prst="ellipse">
            <a:avLst/>
          </a:prstGeom>
          <a:solidFill>
            <a:srgbClr val="FFFFFF"/>
          </a:solidFill>
          <a:ln w="12700">
            <a:solidFill>
              <a:srgbClr val="7F7F7F"/>
            </a:solidFill>
            <a:prstDash val="solid"/>
          </a:ln>
        </p:spPr>
      </p:sp>
      <p:sp>
        <p:nvSpPr>
          <p:cNvPr id="22" name="Text 19"/>
          <p:cNvSpPr txBox="1"/>
          <p:nvPr/>
        </p:nvSpPr>
        <p:spPr>
          <a:xfrm>
            <a:off x="7054596" y="4782312"/>
            <a:ext cx="1783080" cy="365760"/>
          </a:xfrm>
          <a:prstGeom prst="rect">
            <a:avLst/>
          </a:prstGeom>
          <a:noFill/>
          <a:ln/>
        </p:spPr>
        <p:txBody>
          <a:bodyPr wrap="square" lIns="0" tIns="0" rIns="0" bIns="0" rtlCol="0" anchor="t"/>
          <a:lstStyle/>
          <a:p>
            <a:pPr algn="ctr" indent="0" marL="0">
              <a:buNone/>
            </a:pPr>
            <a:endParaRPr lang="en-US" sz="1100" dirty="0"/>
          </a:p>
        </p:txBody>
      </p:sp>
      <p:sp>
        <p:nvSpPr>
          <p:cNvPr id="23" name="Text 20"/>
          <p:cNvSpPr txBox="1"/>
          <p:nvPr/>
        </p:nvSpPr>
        <p:spPr>
          <a:xfrm>
            <a:off x="6780276" y="5532120"/>
            <a:ext cx="2331720" cy="310896"/>
          </a:xfrm>
          <a:prstGeom prst="rect">
            <a:avLst/>
          </a:prstGeom>
          <a:noFill/>
          <a:ln/>
        </p:spPr>
        <p:txBody>
          <a:bodyPr wrap="square" lIns="0" tIns="0" rIns="0" bIns="0" rtlCol="0" anchor="t"/>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利用者</a:t>
            </a:r>
            <a:endParaRPr lang="en-US" sz="1400" dirty="0"/>
          </a:p>
        </p:txBody>
      </p:sp>
      <p:sp>
        <p:nvSpPr>
          <p:cNvPr id="24" name="Shape 21"/>
          <p:cNvSpPr/>
          <p:nvPr/>
        </p:nvSpPr>
        <p:spPr>
          <a:xfrm>
            <a:off x="2208276" y="2670048"/>
            <a:ext cx="1965960" cy="0"/>
          </a:xfrm>
          <a:prstGeom prst="line">
            <a:avLst/>
          </a:prstGeom>
          <a:noFill/>
          <a:ln w="15875">
            <a:solidFill>
              <a:srgbClr val="7F7F7F"/>
            </a:solidFill>
            <a:prstDash val="solid"/>
            <a:tailEnd type="triangle"/>
          </a:ln>
        </p:spPr>
      </p:sp>
      <p:sp>
        <p:nvSpPr>
          <p:cNvPr id="25" name="Text 22"/>
          <p:cNvSpPr txBox="1"/>
          <p:nvPr/>
        </p:nvSpPr>
        <p:spPr>
          <a:xfrm>
            <a:off x="2025396" y="2286000"/>
            <a:ext cx="2377440" cy="310896"/>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補助 2.1億円</a:t>
            </a:r>
            <a:endParaRPr lang="en-US" sz="1400" dirty="0"/>
          </a:p>
        </p:txBody>
      </p:sp>
      <p:sp>
        <p:nvSpPr>
          <p:cNvPr id="26" name="Shape 23"/>
          <p:cNvSpPr/>
          <p:nvPr/>
        </p:nvSpPr>
        <p:spPr>
          <a:xfrm>
            <a:off x="5317236" y="2514600"/>
            <a:ext cx="2057400" cy="0"/>
          </a:xfrm>
          <a:prstGeom prst="line">
            <a:avLst/>
          </a:prstGeom>
          <a:noFill/>
          <a:ln w="22225">
            <a:solidFill>
              <a:srgbClr val="000F78"/>
            </a:solidFill>
            <a:prstDash val="solid"/>
            <a:tailEnd type="triangle"/>
          </a:ln>
        </p:spPr>
      </p:sp>
      <p:sp>
        <p:nvSpPr>
          <p:cNvPr id="27" name="Text 24"/>
          <p:cNvSpPr txBox="1"/>
          <p:nvPr/>
        </p:nvSpPr>
        <p:spPr>
          <a:xfrm>
            <a:off x="5134356" y="2130552"/>
            <a:ext cx="2377440" cy="310896"/>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線路・駅を貸す</a:t>
            </a:r>
            <a:endParaRPr lang="en-US" sz="1400" dirty="0"/>
          </a:p>
        </p:txBody>
      </p:sp>
      <p:sp>
        <p:nvSpPr>
          <p:cNvPr id="28" name="Shape 25"/>
          <p:cNvSpPr/>
          <p:nvPr/>
        </p:nvSpPr>
        <p:spPr>
          <a:xfrm>
            <a:off x="7374636" y="2880360"/>
            <a:ext cx="-2011680" cy="0"/>
          </a:xfrm>
          <a:prstGeom prst="line">
            <a:avLst/>
          </a:prstGeom>
          <a:noFill/>
          <a:ln w="15875">
            <a:solidFill>
              <a:srgbClr val="7F7F7F"/>
            </a:solidFill>
            <a:prstDash val="solid"/>
            <a:tailEnd type="triangle"/>
          </a:ln>
        </p:spPr>
      </p:sp>
      <p:sp>
        <p:nvSpPr>
          <p:cNvPr id="29" name="Text 26"/>
          <p:cNvSpPr txBox="1"/>
          <p:nvPr/>
        </p:nvSpPr>
        <p:spPr>
          <a:xfrm>
            <a:off x="5134356" y="2944368"/>
            <a:ext cx="2377440" cy="310896"/>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線路使用料 1.0億円</a:t>
            </a:r>
            <a:endParaRPr lang="en-US" sz="1400" dirty="0"/>
          </a:p>
        </p:txBody>
      </p:sp>
      <p:sp>
        <p:nvSpPr>
          <p:cNvPr id="30" name="Shape 27"/>
          <p:cNvSpPr/>
          <p:nvPr/>
        </p:nvSpPr>
        <p:spPr>
          <a:xfrm>
            <a:off x="7941564" y="3246120"/>
            <a:ext cx="0" cy="1143000"/>
          </a:xfrm>
          <a:prstGeom prst="line">
            <a:avLst/>
          </a:prstGeom>
          <a:noFill/>
          <a:ln w="15875">
            <a:solidFill>
              <a:srgbClr val="7F7F7F"/>
            </a:solidFill>
            <a:prstDash val="solid"/>
            <a:tailEnd type="triangle"/>
          </a:ln>
        </p:spPr>
      </p:sp>
      <p:sp>
        <p:nvSpPr>
          <p:cNvPr id="31" name="Text 28"/>
          <p:cNvSpPr txBox="1"/>
          <p:nvPr/>
        </p:nvSpPr>
        <p:spPr>
          <a:xfrm>
            <a:off x="8106156" y="3611880"/>
            <a:ext cx="914400" cy="274320"/>
          </a:xfrm>
          <a:prstGeom prst="rect">
            <a:avLst/>
          </a:prstGeom>
          <a:noFill/>
          <a:ln/>
        </p:spPr>
        <p:txBody>
          <a:bodyPr wrap="square" lIns="0" tIns="0" rIns="0" bIns="0" rtlCol="0" anchor="t"/>
          <a:lstStyle/>
          <a:p>
            <a:pPr indent="0" marL="0">
              <a:buNone/>
            </a:pPr>
            <a:r>
              <a:rPr lang="en-US" sz="1400" dirty="0">
                <a:solidFill>
                  <a:srgbClr val="595959"/>
                </a:solidFill>
                <a:latin typeface="Yu Gothic UI" pitchFamily="34" charset="0"/>
                <a:ea typeface="Yu Gothic UI" pitchFamily="34" charset="-122"/>
                <a:cs typeface="Yu Gothic UI" pitchFamily="34" charset="-120"/>
              </a:rPr>
              <a:t>運行</a:t>
            </a:r>
            <a:endParaRPr lang="en-US" sz="1400" dirty="0"/>
          </a:p>
        </p:txBody>
      </p:sp>
      <p:sp>
        <p:nvSpPr>
          <p:cNvPr id="32" name="Text 29"/>
          <p:cNvSpPr txBox="1"/>
          <p:nvPr/>
        </p:nvSpPr>
        <p:spPr>
          <a:xfrm>
            <a:off x="3214116" y="3657600"/>
            <a:ext cx="3108960" cy="310896"/>
          </a:xfrm>
          <a:prstGeom prst="rect">
            <a:avLst/>
          </a:prstGeom>
          <a:noFill/>
          <a:ln/>
        </p:spPr>
        <p:txBody>
          <a:bodyPr wrap="square" lIns="0" tIns="0" rIns="0" bIns="0" rtlCol="0" anchor="t"/>
          <a:lstStyle/>
          <a:p>
            <a:pPr algn="ctr" indent="0" marL="0">
              <a:buNone/>
            </a:pPr>
            <a:r>
              <a:rPr lang="en-US" sz="1400" b="1" dirty="0">
                <a:solidFill>
                  <a:srgbClr val="000F78"/>
                </a:solidFill>
                <a:latin typeface="Yu Gothic UI" pitchFamily="34" charset="0"/>
                <a:ea typeface="Yu Gothic UI" pitchFamily="34" charset="-122"/>
                <a:cs typeface="Yu Gothic UI" pitchFamily="34" charset="-120"/>
              </a:rPr>
              <a:t>施設の費用 5.3億円を負担</a:t>
            </a:r>
            <a:endParaRPr lang="en-US" sz="1400" dirty="0"/>
          </a:p>
        </p:txBody>
      </p:sp>
      <p:sp>
        <p:nvSpPr>
          <p:cNvPr id="33" name="Text 30"/>
          <p:cNvSpPr txBox="1"/>
          <p:nvPr/>
        </p:nvSpPr>
        <p:spPr>
          <a:xfrm>
            <a:off x="288036" y="5120640"/>
            <a:ext cx="6035040"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自治体の実質負担＝5.3−1.0−2.1＝2.2億円／年</a:t>
            </a:r>
            <a:endParaRPr lang="en-US" sz="1400" dirty="0"/>
          </a:p>
        </p:txBody>
      </p:sp>
      <p:sp>
        <p:nvSpPr>
          <p:cNvPr id="34" name="Text 31"/>
          <p:cNvSpPr txBox="1"/>
          <p:nvPr/>
        </p:nvSpPr>
        <p:spPr>
          <a:xfrm>
            <a:off x="288036" y="5486400"/>
            <a:ext cx="6035040" cy="274320"/>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補足：国の補助は施設費用の差額の2分の1と仮定</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打ち手：運営形態の選択</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2030年度の自治体の実質負担は、現行維持の6.3億円に対し上下分離は2.2億円と最も小さい。BRT転換より鉄道の利便性も保てる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自治体の実質負担の比較</a:t>
            </a:r>
            <a:pPr indent="0" marL="0">
              <a:buNone/>
            </a:pPr>
            <a:r>
              <a:rPr lang="en-US" sz="1100" dirty="0">
                <a:solidFill>
                  <a:srgbClr val="595959"/>
                </a:solidFill>
                <a:latin typeface="Yu Gothic UI" pitchFamily="34" charset="0"/>
                <a:ea typeface="Yu Gothic UI" pitchFamily="34" charset="-122"/>
                <a:cs typeface="Yu Gothic UI" pitchFamily="34" charset="-120"/>
              </a:rPr>
              <a:t>　（億円／年、2030年度推計）</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73</a:t>
            </a:r>
            <a:endParaRPr lang="en-US" sz="900" dirty="0"/>
          </a:p>
        </p:txBody>
      </p:sp>
      <p:graphicFrame>
        <p:nvGraphicFramePr>
          <p:cNvPr id="12" name="Chart 0" descr=""/>
          <p:cNvGraphicFramePr/>
          <p:nvPr/>
        </p:nvGraphicFramePr>
        <p:xfrm>
          <a:off x="288036" y="196596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146036" y="4526280"/>
            <a:ext cx="2468880" cy="32004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現行維持の約3分の1</a:t>
            </a:r>
            <a:endParaRPr lang="en-US" sz="1400" dirty="0"/>
          </a:p>
        </p:txBody>
      </p:sp>
      <p:sp>
        <p:nvSpPr>
          <p:cNvPr id="14" name="Text 10"/>
          <p:cNvSpPr txBox="1"/>
          <p:nvPr/>
        </p:nvSpPr>
        <p:spPr>
          <a:xfrm>
            <a:off x="7146036" y="4846320"/>
            <a:ext cx="2468880" cy="457200"/>
          </a:xfrm>
          <a:prstGeom prst="rect">
            <a:avLst/>
          </a:prstGeom>
          <a:noFill/>
          <a:ln/>
        </p:spPr>
        <p:txBody>
          <a:bodyPr wrap="square" lIns="0" tIns="0" rIns="0" bIns="0" rtlCol="0" anchor="t"/>
          <a:lstStyle/>
          <a:p>
            <a:pPr indent="0" marL="0">
              <a:buNone/>
            </a:pPr>
            <a:r>
              <a:rPr lang="en-US" sz="2000" b="1" dirty="0">
                <a:solidFill>
                  <a:srgbClr val="000F78"/>
                </a:solidFill>
                <a:latin typeface="Arial" pitchFamily="34" charset="0"/>
                <a:ea typeface="Arial" pitchFamily="34" charset="-122"/>
                <a:cs typeface="Arial" pitchFamily="34" charset="-120"/>
              </a:rPr>
              <a:t>−4.1億円／年</a:t>
            </a:r>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3　打ち手：運営形態の選択</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5つの増収策で年1.0億円の増収が見込め、上下分離後の会社の収支は0.9億円の赤字から黒字に転じる。最大は運賃改定の0.4億円である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増収策ごとの効果</a:t>
            </a:r>
            <a:pPr indent="0" marL="0">
              <a:buNone/>
            </a:pPr>
            <a:r>
              <a:rPr lang="en-US" sz="1100" dirty="0">
                <a:solidFill>
                  <a:srgbClr val="595959"/>
                </a:solidFill>
                <a:latin typeface="Yu Gothic UI" pitchFamily="34" charset="0"/>
                <a:ea typeface="Yu Gothic UI" pitchFamily="34" charset="-122"/>
                <a:cs typeface="Yu Gothic UI" pitchFamily="34" charset="-120"/>
              </a:rPr>
              <a:t>　（億円／年、2030年度）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74</a:t>
            </a:r>
            <a:endParaRPr lang="en-US" sz="9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2651760"/>
                <a:gridCol w="1005840"/>
                <a:gridCol w="3200400"/>
                <a:gridCol w="1371600"/>
                <a:gridCol w="1100023"/>
              </a:tblGrid>
              <a:tr h="41148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増収策</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効果</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効果の大きさ</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開始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確度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548640">
                <a:tc>
                  <a:txBody>
                    <a:bodyP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運賃の5%改定</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b="1" dirty="0">
                          <a:solidFill>
                            <a:srgbClr val="000F78"/>
                          </a:solidFill>
                          <a:latin typeface="Arial" pitchFamily="34" charset="0"/>
                          <a:ea typeface="Arial" pitchFamily="34" charset="-122"/>
                          <a:cs typeface="Arial" pitchFamily="34" charset="-120"/>
                        </a:rPr>
                        <a:t>0.40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2028年度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中</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観光列車と周遊券</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0.30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2027年度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中</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通学定期の家族割</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0.15</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2027年度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高</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駅のパーク＆ライド</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0.10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2028年度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高</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Yu Gothic UI" pitchFamily="34" charset="0"/>
                          <a:ea typeface="Yu Gothic UI" pitchFamily="34" charset="-122"/>
                          <a:cs typeface="Yu Gothic UI" pitchFamily="34" charset="-120"/>
                        </a:rPr>
                        <a:t>沿線企業の通勤定期</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0.05</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2027年度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1400" dirty="0">
                          <a:solidFill>
                            <a:srgbClr val="000000"/>
                          </a:solidFill>
                          <a:latin typeface="Yu Gothic UI" pitchFamily="34" charset="0"/>
                          <a:ea typeface="Yu Gothic UI" pitchFamily="34" charset="-122"/>
                          <a:cs typeface="Yu Gothic UI" pitchFamily="34" charset="-120"/>
                        </a:rPr>
                        <a:t>高</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548640">
                <a:tc>
                  <a:txBody>
                    <a:bodyP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合計</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indent="0" marL="0">
                        <a:buNone/>
                      </a:pP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bl>
          </a:graphicData>
        </a:graphic>
      </p:graphicFrame>
      <p:sp>
        <p:nvSpPr>
          <p:cNvPr id="13" name="Shape 9"/>
          <p:cNvSpPr/>
          <p:nvPr/>
        </p:nvSpPr>
        <p:spPr>
          <a:xfrm>
            <a:off x="3991356" y="2487168"/>
            <a:ext cx="2743200" cy="237744"/>
          </a:xfrm>
          <a:prstGeom prst="rect">
            <a:avLst/>
          </a:prstGeom>
          <a:solidFill>
            <a:srgbClr val="000F78"/>
          </a:solidFill>
          <a:ln/>
        </p:spPr>
      </p:sp>
      <p:sp>
        <p:nvSpPr>
          <p:cNvPr id="14" name="Shape 10"/>
          <p:cNvSpPr/>
          <p:nvPr/>
        </p:nvSpPr>
        <p:spPr>
          <a:xfrm>
            <a:off x="3991356" y="3035808"/>
            <a:ext cx="2057400" cy="237744"/>
          </a:xfrm>
          <a:prstGeom prst="rect">
            <a:avLst/>
          </a:prstGeom>
          <a:solidFill>
            <a:srgbClr val="BFBFBF"/>
          </a:solidFill>
          <a:ln/>
        </p:spPr>
      </p:sp>
      <p:sp>
        <p:nvSpPr>
          <p:cNvPr id="15" name="Shape 11"/>
          <p:cNvSpPr/>
          <p:nvPr/>
        </p:nvSpPr>
        <p:spPr>
          <a:xfrm>
            <a:off x="3991356" y="3584448"/>
            <a:ext cx="1028700" cy="237744"/>
          </a:xfrm>
          <a:prstGeom prst="rect">
            <a:avLst/>
          </a:prstGeom>
          <a:solidFill>
            <a:srgbClr val="BFBFBF"/>
          </a:solidFill>
          <a:ln/>
        </p:spPr>
      </p:sp>
      <p:sp>
        <p:nvSpPr>
          <p:cNvPr id="16" name="Shape 12"/>
          <p:cNvSpPr/>
          <p:nvPr/>
        </p:nvSpPr>
        <p:spPr>
          <a:xfrm>
            <a:off x="3991356" y="4133088"/>
            <a:ext cx="685800" cy="237744"/>
          </a:xfrm>
          <a:prstGeom prst="rect">
            <a:avLst/>
          </a:prstGeom>
          <a:solidFill>
            <a:srgbClr val="BFBFBF"/>
          </a:solidFill>
          <a:ln/>
        </p:spPr>
      </p:sp>
      <p:sp>
        <p:nvSpPr>
          <p:cNvPr id="17" name="Shape 13"/>
          <p:cNvSpPr/>
          <p:nvPr/>
        </p:nvSpPr>
        <p:spPr>
          <a:xfrm>
            <a:off x="3991356" y="4681728"/>
            <a:ext cx="342900" cy="237744"/>
          </a:xfrm>
          <a:prstGeom prst="rect">
            <a:avLst/>
          </a:prstGeom>
          <a:solidFill>
            <a:srgbClr val="BFBFBF"/>
          </a:solidFill>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目次</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第4章では、2028年4月の移行までの工程・効果・リスクと判断事項を示す。最初の判断点は2027年3月の協議会での合意である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 </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75</a:t>
            </a:r>
            <a:endParaRPr lang="en-US" sz="900" dirty="0"/>
          </a:p>
        </p:txBody>
      </p:sp>
      <p:sp>
        <p:nvSpPr>
          <p:cNvPr id="10" name="Text 7"/>
          <p:cNvSpPr txBox="1"/>
          <p:nvPr/>
        </p:nvSpPr>
        <p:spPr>
          <a:xfrm>
            <a:off x="562356" y="173736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01</a:t>
            </a:r>
            <a:endParaRPr lang="en-US" sz="2200" dirty="0"/>
          </a:p>
        </p:txBody>
      </p:sp>
      <p:sp>
        <p:nvSpPr>
          <p:cNvPr id="11" name="Text 8"/>
          <p:cNvSpPr txBox="1"/>
          <p:nvPr/>
        </p:nvSpPr>
        <p:spPr>
          <a:xfrm>
            <a:off x="1476756" y="173736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現状：利用と沿線の変化</a:t>
            </a:r>
            <a:endParaRPr lang="en-US" sz="1800" dirty="0"/>
          </a:p>
        </p:txBody>
      </p:sp>
      <p:sp>
        <p:nvSpPr>
          <p:cNvPr id="12" name="Shape 9"/>
          <p:cNvSpPr/>
          <p:nvPr/>
        </p:nvSpPr>
        <p:spPr>
          <a:xfrm>
            <a:off x="562356" y="2487168"/>
            <a:ext cx="8780983" cy="0"/>
          </a:xfrm>
          <a:prstGeom prst="line">
            <a:avLst/>
          </a:prstGeom>
          <a:noFill/>
          <a:ln w="9525">
            <a:solidFill>
              <a:srgbClr val="E7E6E6"/>
            </a:solidFill>
            <a:prstDash val="solid"/>
          </a:ln>
        </p:spPr>
      </p:sp>
      <p:sp>
        <p:nvSpPr>
          <p:cNvPr id="13" name="Text 10"/>
          <p:cNvSpPr txBox="1"/>
          <p:nvPr/>
        </p:nvSpPr>
        <p:spPr>
          <a:xfrm>
            <a:off x="562356" y="269748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02</a:t>
            </a:r>
            <a:endParaRPr lang="en-US" sz="2200" dirty="0"/>
          </a:p>
        </p:txBody>
      </p:sp>
      <p:sp>
        <p:nvSpPr>
          <p:cNvPr id="14" name="Text 11"/>
          <p:cNvSpPr txBox="1"/>
          <p:nvPr/>
        </p:nvSpPr>
        <p:spPr>
          <a:xfrm>
            <a:off x="1476756" y="269748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課題：収支悪化の構造</a:t>
            </a:r>
            <a:endParaRPr lang="en-US" sz="1800" dirty="0"/>
          </a:p>
        </p:txBody>
      </p:sp>
      <p:sp>
        <p:nvSpPr>
          <p:cNvPr id="15" name="Shape 12"/>
          <p:cNvSpPr/>
          <p:nvPr/>
        </p:nvSpPr>
        <p:spPr>
          <a:xfrm>
            <a:off x="562356" y="3447288"/>
            <a:ext cx="8780983" cy="0"/>
          </a:xfrm>
          <a:prstGeom prst="line">
            <a:avLst/>
          </a:prstGeom>
          <a:noFill/>
          <a:ln w="9525">
            <a:solidFill>
              <a:srgbClr val="E7E6E6"/>
            </a:solidFill>
            <a:prstDash val="solid"/>
          </a:ln>
        </p:spPr>
      </p:sp>
      <p:sp>
        <p:nvSpPr>
          <p:cNvPr id="16" name="Text 13"/>
          <p:cNvSpPr txBox="1"/>
          <p:nvPr/>
        </p:nvSpPr>
        <p:spPr>
          <a:xfrm>
            <a:off x="562356" y="3657600"/>
            <a:ext cx="731520" cy="548640"/>
          </a:xfrm>
          <a:prstGeom prst="rect">
            <a:avLst/>
          </a:prstGeom>
          <a:noFill/>
          <a:ln/>
        </p:spPr>
        <p:txBody>
          <a:bodyPr wrap="square" lIns="0" tIns="0" rIns="0" bIns="0" rtlCol="0" anchor="ctr"/>
          <a:lstStyle/>
          <a:p>
            <a:pPr indent="0" marL="0">
              <a:buNone/>
            </a:pPr>
            <a:r>
              <a:rPr lang="en-US" sz="2200" b="1" dirty="0">
                <a:solidFill>
                  <a:srgbClr val="BFBFBF"/>
                </a:solidFill>
                <a:latin typeface="Arial" pitchFamily="34" charset="0"/>
                <a:ea typeface="Arial" pitchFamily="34" charset="-122"/>
                <a:cs typeface="Arial" pitchFamily="34" charset="-120"/>
              </a:rPr>
              <a:t>03</a:t>
            </a:r>
            <a:endParaRPr lang="en-US" sz="2200" dirty="0"/>
          </a:p>
        </p:txBody>
      </p:sp>
      <p:sp>
        <p:nvSpPr>
          <p:cNvPr id="17" name="Text 14"/>
          <p:cNvSpPr txBox="1"/>
          <p:nvPr/>
        </p:nvSpPr>
        <p:spPr>
          <a:xfrm>
            <a:off x="1476756" y="3657600"/>
            <a:ext cx="7772400" cy="548640"/>
          </a:xfrm>
          <a:prstGeom prst="rect">
            <a:avLst/>
          </a:prstGeom>
          <a:noFill/>
          <a:ln/>
        </p:spPr>
        <p:txBody>
          <a:bodyPr wrap="square" lIns="0" tIns="0" rIns="0" bIns="0" rtlCol="0" anchor="ctr"/>
          <a:lstStyle/>
          <a:p>
            <a:pPr indent="0" marL="0">
              <a:buNone/>
            </a:pPr>
            <a:r>
              <a:rPr lang="en-US" sz="1800" dirty="0">
                <a:solidFill>
                  <a:srgbClr val="7F7F7F"/>
                </a:solidFill>
                <a:latin typeface="Yu Gothic UI" pitchFamily="34" charset="0"/>
                <a:ea typeface="Yu Gothic UI" pitchFamily="34" charset="-122"/>
                <a:cs typeface="Yu Gothic UI" pitchFamily="34" charset="-120"/>
              </a:rPr>
              <a:t>打ち手：運営形態の選択</a:t>
            </a:r>
            <a:endParaRPr lang="en-US" sz="1800" dirty="0"/>
          </a:p>
        </p:txBody>
      </p:sp>
      <p:sp>
        <p:nvSpPr>
          <p:cNvPr id="18" name="Shape 15"/>
          <p:cNvSpPr/>
          <p:nvPr/>
        </p:nvSpPr>
        <p:spPr>
          <a:xfrm>
            <a:off x="562356" y="4407408"/>
            <a:ext cx="8780983" cy="0"/>
          </a:xfrm>
          <a:prstGeom prst="line">
            <a:avLst/>
          </a:prstGeom>
          <a:noFill/>
          <a:ln w="9525">
            <a:solidFill>
              <a:srgbClr val="E7E6E6"/>
            </a:solidFill>
            <a:prstDash val="solid"/>
          </a:ln>
        </p:spPr>
      </p:sp>
      <p:sp>
        <p:nvSpPr>
          <p:cNvPr id="19" name="Text 16"/>
          <p:cNvSpPr txBox="1"/>
          <p:nvPr/>
        </p:nvSpPr>
        <p:spPr>
          <a:xfrm>
            <a:off x="562356" y="4617720"/>
            <a:ext cx="731520" cy="548640"/>
          </a:xfrm>
          <a:prstGeom prst="rect">
            <a:avLst/>
          </a:prstGeom>
          <a:noFill/>
          <a:ln/>
        </p:spPr>
        <p:txBody>
          <a:bodyPr wrap="square" lIns="0" tIns="0" rIns="0" bIns="0" rtlCol="0" anchor="ctr"/>
          <a:lstStyle/>
          <a:p>
            <a:pPr indent="0" marL="0">
              <a:buNone/>
            </a:pPr>
            <a:r>
              <a:rPr lang="en-US" sz="2200" b="1" dirty="0">
                <a:solidFill>
                  <a:srgbClr val="000F78"/>
                </a:solidFill>
                <a:latin typeface="Arial" pitchFamily="34" charset="0"/>
                <a:ea typeface="Arial" pitchFamily="34" charset="-122"/>
                <a:cs typeface="Arial" pitchFamily="34" charset="-120"/>
              </a:rPr>
              <a:t>04</a:t>
            </a:r>
            <a:endParaRPr lang="en-US" sz="2200" dirty="0"/>
          </a:p>
        </p:txBody>
      </p:sp>
      <p:sp>
        <p:nvSpPr>
          <p:cNvPr id="20" name="Text 17"/>
          <p:cNvSpPr txBox="1"/>
          <p:nvPr/>
        </p:nvSpPr>
        <p:spPr>
          <a:xfrm>
            <a:off x="1476756" y="4617720"/>
            <a:ext cx="7772400" cy="548640"/>
          </a:xfrm>
          <a:prstGeom prst="rect">
            <a:avLst/>
          </a:prstGeom>
          <a:noFill/>
          <a:ln/>
        </p:spPr>
        <p:txBody>
          <a:bodyPr wrap="square" lIns="0" tIns="0" rIns="0" bIns="0" rtlCol="0" anchor="ctr"/>
          <a:lstStyle/>
          <a:p>
            <a:pPr indent="0" marL="0">
              <a:buNone/>
            </a:pPr>
            <a:r>
              <a:rPr lang="en-US" sz="1800" b="1" dirty="0">
                <a:solidFill>
                  <a:srgbClr val="000F78"/>
                </a:solidFill>
                <a:latin typeface="Yu Gothic UI" pitchFamily="34" charset="0"/>
                <a:ea typeface="Yu Gothic UI" pitchFamily="34" charset="-122"/>
                <a:cs typeface="Yu Gothic UI" pitchFamily="34" charset="-120"/>
              </a:rPr>
              <a:t>実行計画とご判断いただきたい事項</a:t>
            </a:r>
            <a:endParaRPr lang="en-US" sz="1800" dirty="0"/>
          </a:p>
        </p:txBody>
      </p:sp>
      <p:sp>
        <p:nvSpPr>
          <p:cNvPr id="21" name="Shape 18"/>
          <p:cNvSpPr/>
          <p:nvPr/>
        </p:nvSpPr>
        <p:spPr>
          <a:xfrm>
            <a:off x="562356" y="5367528"/>
            <a:ext cx="8780983" cy="0"/>
          </a:xfrm>
          <a:prstGeom prst="line">
            <a:avLst/>
          </a:prstGeom>
          <a:noFill/>
          <a:ln w="9525">
            <a:solidFill>
              <a:srgbClr val="E7E6E6"/>
            </a:solidFill>
            <a:prstDash val="solid"/>
          </a:ln>
        </p:spPr>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実行計画とご判断いただきたい事項</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移行は3段階で進め、2028年4月に上下分離へ移る。2027年3月の協議会で3市の負担割合に合意できれば、国の認定申請に進める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上下分離への移行ロードマップ</a:t>
            </a:r>
            <a:pPr indent="0" marL="0">
              <a:buNone/>
            </a:pPr>
            <a:r>
              <a:rPr lang="en-US" sz="1100" dirty="0">
                <a:solidFill>
                  <a:srgbClr val="595959"/>
                </a:solidFill>
                <a:latin typeface="Yu Gothic UI" pitchFamily="34" charset="0"/>
                <a:ea typeface="Yu Gothic UI" pitchFamily="34" charset="-122"/>
                <a:cs typeface="Yu Gothic UI" pitchFamily="34" charset="-120"/>
              </a:rPr>
              <a:t>　（2026–2028年度）</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76</a:t>
            </a:r>
            <a:endParaRPr lang="en-US" sz="900" dirty="0"/>
          </a:p>
        </p:txBody>
      </p:sp>
      <p:sp>
        <p:nvSpPr>
          <p:cNvPr id="12" name="Shape 9"/>
          <p:cNvSpPr/>
          <p:nvPr/>
        </p:nvSpPr>
        <p:spPr>
          <a:xfrm>
            <a:off x="288036" y="1965960"/>
            <a:ext cx="3018434" cy="640080"/>
          </a:xfrm>
          <a:prstGeom prst="chevron">
            <a:avLst/>
          </a:prstGeom>
          <a:solidFill>
            <a:srgbClr val="000F78"/>
          </a:solidFill>
          <a:ln w="12700">
            <a:solidFill>
              <a:srgbClr val="000F78"/>
            </a:solidFill>
            <a:prstDash val="solid"/>
          </a:ln>
        </p:spPr>
      </p:sp>
      <p:sp>
        <p:nvSpPr>
          <p:cNvPr id="13" name="Text 10"/>
          <p:cNvSpPr txBox="1"/>
          <p:nvPr/>
        </p:nvSpPr>
        <p:spPr>
          <a:xfrm>
            <a:off x="608076" y="1965960"/>
            <a:ext cx="2469794" cy="640080"/>
          </a:xfrm>
          <a:prstGeom prst="rect">
            <a:avLst/>
          </a:prstGeom>
          <a:noFill/>
          <a:ln/>
        </p:spPr>
        <p:txBody>
          <a:bodyPr wrap="square" lIns="0" tIns="0" rIns="0" bIns="0" rtlCol="0" anchor="ctr"/>
          <a:lstStyle/>
          <a:p>
            <a:pPr indent="0" marL="0">
              <a:buNone/>
            </a:pPr>
            <a:r>
              <a:rPr lang="en-US" sz="1400" b="1" dirty="0">
                <a:solidFill>
                  <a:srgbClr val="FFFFFF"/>
                </a:solidFill>
                <a:latin typeface="Yu Gothic UI" pitchFamily="34" charset="0"/>
                <a:ea typeface="Yu Gothic UI" pitchFamily="34" charset="-122"/>
                <a:cs typeface="Yu Gothic UI" pitchFamily="34" charset="-120"/>
              </a:rPr>
              <a:t>段階1　計画をつくる</a:t>
            </a:r>
            <a:endParaRPr lang="en-US" sz="1400" dirty="0"/>
          </a:p>
        </p:txBody>
      </p:sp>
      <p:sp>
        <p:nvSpPr>
          <p:cNvPr id="14" name="Text 11"/>
          <p:cNvSpPr txBox="1"/>
          <p:nvPr/>
        </p:nvSpPr>
        <p:spPr>
          <a:xfrm>
            <a:off x="288036" y="2743200"/>
            <a:ext cx="3018434"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2026年度</a:t>
            </a:r>
            <a:endParaRPr lang="en-US" sz="1400" dirty="0"/>
          </a:p>
        </p:txBody>
      </p:sp>
      <p:sp>
        <p:nvSpPr>
          <p:cNvPr id="15" name="Text 12"/>
          <p:cNvSpPr txBox="1"/>
          <p:nvPr/>
        </p:nvSpPr>
        <p:spPr>
          <a:xfrm>
            <a:off x="470916" y="324612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・法定協議会を設置</a:t>
            </a:r>
            <a:endParaRPr lang="en-US" sz="1400" dirty="0"/>
          </a:p>
        </p:txBody>
      </p:sp>
      <p:sp>
        <p:nvSpPr>
          <p:cNvPr id="16" name="Text 13"/>
          <p:cNvSpPr txBox="1"/>
          <p:nvPr/>
        </p:nvSpPr>
        <p:spPr>
          <a:xfrm>
            <a:off x="470916" y="365760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・再構築実施計画を策定</a:t>
            </a:r>
            <a:endParaRPr lang="en-US" sz="1400" dirty="0"/>
          </a:p>
        </p:txBody>
      </p:sp>
      <p:sp>
        <p:nvSpPr>
          <p:cNvPr id="17" name="Shape 14"/>
          <p:cNvSpPr/>
          <p:nvPr/>
        </p:nvSpPr>
        <p:spPr>
          <a:xfrm>
            <a:off x="3443630" y="1965960"/>
            <a:ext cx="3018434" cy="640080"/>
          </a:xfrm>
          <a:prstGeom prst="chevron">
            <a:avLst/>
          </a:prstGeom>
          <a:solidFill>
            <a:srgbClr val="FFFFFF"/>
          </a:solidFill>
          <a:ln w="12700">
            <a:solidFill>
              <a:srgbClr val="7F7F7F"/>
            </a:solidFill>
            <a:prstDash val="solid"/>
          </a:ln>
        </p:spPr>
      </p:sp>
      <p:sp>
        <p:nvSpPr>
          <p:cNvPr id="18" name="Text 15"/>
          <p:cNvSpPr txBox="1"/>
          <p:nvPr/>
        </p:nvSpPr>
        <p:spPr>
          <a:xfrm>
            <a:off x="3763670" y="1965960"/>
            <a:ext cx="2469794" cy="6400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段階2　移行を準備する</a:t>
            </a:r>
            <a:endParaRPr lang="en-US" sz="1400" dirty="0"/>
          </a:p>
        </p:txBody>
      </p:sp>
      <p:sp>
        <p:nvSpPr>
          <p:cNvPr id="19" name="Text 16"/>
          <p:cNvSpPr txBox="1"/>
          <p:nvPr/>
        </p:nvSpPr>
        <p:spPr>
          <a:xfrm>
            <a:off x="3443630" y="2743200"/>
            <a:ext cx="3018434"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2027年度</a:t>
            </a:r>
            <a:endParaRPr lang="en-US" sz="1400" dirty="0"/>
          </a:p>
        </p:txBody>
      </p:sp>
      <p:sp>
        <p:nvSpPr>
          <p:cNvPr id="20" name="Text 17"/>
          <p:cNvSpPr txBox="1"/>
          <p:nvPr/>
        </p:nvSpPr>
        <p:spPr>
          <a:xfrm>
            <a:off x="3626510" y="324612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・国の認定を申請</a:t>
            </a:r>
            <a:endParaRPr lang="en-US" sz="1400" dirty="0"/>
          </a:p>
        </p:txBody>
      </p:sp>
      <p:sp>
        <p:nvSpPr>
          <p:cNvPr id="21" name="Text 18"/>
          <p:cNvSpPr txBox="1"/>
          <p:nvPr/>
        </p:nvSpPr>
        <p:spPr>
          <a:xfrm>
            <a:off x="3626510" y="365760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・施設の譲渡契約を締結</a:t>
            </a:r>
            <a:endParaRPr lang="en-US" sz="1400" dirty="0"/>
          </a:p>
        </p:txBody>
      </p:sp>
      <p:sp>
        <p:nvSpPr>
          <p:cNvPr id="22" name="Shape 19"/>
          <p:cNvSpPr/>
          <p:nvPr/>
        </p:nvSpPr>
        <p:spPr>
          <a:xfrm>
            <a:off x="6599225" y="1965960"/>
            <a:ext cx="3018434" cy="640080"/>
          </a:xfrm>
          <a:prstGeom prst="chevron">
            <a:avLst/>
          </a:prstGeom>
          <a:solidFill>
            <a:srgbClr val="FFFFFF"/>
          </a:solidFill>
          <a:ln w="12700">
            <a:solidFill>
              <a:srgbClr val="7F7F7F"/>
            </a:solidFill>
            <a:prstDash val="solid"/>
          </a:ln>
        </p:spPr>
      </p:sp>
      <p:sp>
        <p:nvSpPr>
          <p:cNvPr id="23" name="Text 20"/>
          <p:cNvSpPr txBox="1"/>
          <p:nvPr/>
        </p:nvSpPr>
        <p:spPr>
          <a:xfrm>
            <a:off x="6919265" y="1965960"/>
            <a:ext cx="2469794" cy="64008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段階3　移行する</a:t>
            </a:r>
            <a:endParaRPr lang="en-US" sz="1400" dirty="0"/>
          </a:p>
        </p:txBody>
      </p:sp>
      <p:sp>
        <p:nvSpPr>
          <p:cNvPr id="24" name="Text 21"/>
          <p:cNvSpPr txBox="1"/>
          <p:nvPr/>
        </p:nvSpPr>
        <p:spPr>
          <a:xfrm>
            <a:off x="6599225" y="2743200"/>
            <a:ext cx="3018434" cy="27432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2028年4月〜</a:t>
            </a:r>
            <a:endParaRPr lang="en-US" sz="1400" dirty="0"/>
          </a:p>
        </p:txBody>
      </p:sp>
      <p:sp>
        <p:nvSpPr>
          <p:cNvPr id="25" name="Text 22"/>
          <p:cNvSpPr txBox="1"/>
          <p:nvPr/>
        </p:nvSpPr>
        <p:spPr>
          <a:xfrm>
            <a:off x="6782105" y="324612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・上下分離で運行開始</a:t>
            </a:r>
            <a:endParaRPr lang="en-US" sz="1400" dirty="0"/>
          </a:p>
        </p:txBody>
      </p:sp>
      <p:sp>
        <p:nvSpPr>
          <p:cNvPr id="26" name="Text 23"/>
          <p:cNvSpPr txBox="1"/>
          <p:nvPr/>
        </p:nvSpPr>
        <p:spPr>
          <a:xfrm>
            <a:off x="6782105" y="3657600"/>
            <a:ext cx="2744114" cy="32004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・増収策を本格実施</a:t>
            </a:r>
            <a:endParaRPr lang="en-US" sz="1400" dirty="0"/>
          </a:p>
        </p:txBody>
      </p:sp>
      <p:sp>
        <p:nvSpPr>
          <p:cNvPr id="27" name="Shape 24"/>
          <p:cNvSpPr/>
          <p:nvPr/>
        </p:nvSpPr>
        <p:spPr>
          <a:xfrm>
            <a:off x="3169310" y="4434840"/>
            <a:ext cx="310896" cy="310896"/>
          </a:xfrm>
          <a:prstGeom prst="diamond">
            <a:avLst/>
          </a:prstGeom>
          <a:solidFill>
            <a:srgbClr val="000F78"/>
          </a:solidFill>
          <a:ln/>
        </p:spPr>
      </p:sp>
      <p:sp>
        <p:nvSpPr>
          <p:cNvPr id="28" name="Text 25"/>
          <p:cNvSpPr txBox="1"/>
          <p:nvPr/>
        </p:nvSpPr>
        <p:spPr>
          <a:xfrm>
            <a:off x="3599078" y="4343400"/>
            <a:ext cx="5029200" cy="594360"/>
          </a:xfrm>
          <a:prstGeom prst="rect">
            <a:avLst/>
          </a:prstGeom>
          <a:noFill/>
          <a:ln/>
        </p:spPr>
        <p:txBody>
          <a:bodyPr wrap="square" lIns="0" tIns="0" rIns="0" bIns="0" rtlCol="0" anchor="t"/>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判断点：2027年3月の協議会</a:t>
            </a:r>
            <a:endParaRPr lang="en-US" sz="1400" dirty="0"/>
          </a:p>
          <a:p>
            <a:pPr indent="0" marL="0">
              <a:buNone/>
            </a:pPr>
            <a:r>
              <a:rPr lang="en-US" sz="1400" b="1" dirty="0">
                <a:solidFill>
                  <a:srgbClr val="000F78"/>
                </a:solidFill>
                <a:latin typeface="Yu Gothic UI" pitchFamily="34" charset="0"/>
                <a:ea typeface="Yu Gothic UI" pitchFamily="34" charset="-122"/>
                <a:cs typeface="Yu Gothic UI" pitchFamily="34" charset="-120"/>
              </a:rPr>
              <a:t>沿線3市の負担割合に合意できれば認定申請へ</a:t>
            </a:r>
            <a:endParaRPr lang="en-US" sz="1400" dirty="0"/>
          </a:p>
        </p:txBody>
      </p:sp>
      <p:sp>
        <p:nvSpPr>
          <p:cNvPr id="29" name="Shape 26"/>
          <p:cNvSpPr/>
          <p:nvPr/>
        </p:nvSpPr>
        <p:spPr>
          <a:xfrm>
            <a:off x="288036" y="4590288"/>
            <a:ext cx="9329623" cy="0"/>
          </a:xfrm>
          <a:prstGeom prst="line">
            <a:avLst/>
          </a:prstGeom>
          <a:noFill/>
          <a:ln w="9525">
            <a:solidFill>
              <a:srgbClr val="BFBFBF"/>
            </a:solidFill>
            <a:prstDash val="solid"/>
          </a:ln>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実行計画とご判断いただきたい事項</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上下分離と増収策で、2030年度に自治体の実質負担は年4.1億円減り、会社の収支は黒字に転じる。運行本数も1日44本を維持できる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施策実行後の効果</a:t>
            </a:r>
            <a:pPr indent="0" marL="0">
              <a:buNone/>
            </a:pPr>
            <a:r>
              <a:rPr lang="en-US" sz="1100" dirty="0">
                <a:solidFill>
                  <a:srgbClr val="595959"/>
                </a:solidFill>
                <a:latin typeface="Yu Gothic UI" pitchFamily="34" charset="0"/>
                <a:ea typeface="Yu Gothic UI" pitchFamily="34" charset="-122"/>
                <a:cs typeface="Yu Gothic UI" pitchFamily="34" charset="-120"/>
              </a:rPr>
              <a:t>　（2030年度、現行維持との比較）</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77</a:t>
            </a:r>
            <a:endParaRPr lang="en-US" sz="900" dirty="0"/>
          </a:p>
        </p:txBody>
      </p:sp>
      <p:sp>
        <p:nvSpPr>
          <p:cNvPr id="12" name="Text 9"/>
          <p:cNvSpPr txBox="1"/>
          <p:nvPr/>
        </p:nvSpPr>
        <p:spPr>
          <a:xfrm>
            <a:off x="379476" y="219456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自治体の実質負担</a:t>
            </a:r>
            <a:endParaRPr lang="en-US" sz="1400" dirty="0"/>
          </a:p>
        </p:txBody>
      </p:sp>
      <p:sp>
        <p:nvSpPr>
          <p:cNvPr id="13" name="Text 10"/>
          <p:cNvSpPr txBox="1"/>
          <p:nvPr/>
        </p:nvSpPr>
        <p:spPr>
          <a:xfrm>
            <a:off x="379476" y="2743200"/>
            <a:ext cx="2149526" cy="914400"/>
          </a:xfrm>
          <a:prstGeom prst="rect">
            <a:avLst/>
          </a:prstGeom>
          <a:noFill/>
          <a:ln/>
        </p:spPr>
        <p:txBody>
          <a:bodyPr wrap="square" lIns="0" tIns="0" rIns="0" bIns="0" rtlCol="0" anchor="ctr"/>
          <a:lstStyle/>
          <a:p>
            <a:pPr algn="ctr" indent="0" marL="0">
              <a:buNone/>
            </a:pPr>
            <a:r>
              <a:rPr lang="en-US" sz="3000" b="1" dirty="0">
                <a:solidFill>
                  <a:srgbClr val="000F78"/>
                </a:solidFill>
                <a:latin typeface="Arial" pitchFamily="34" charset="0"/>
                <a:ea typeface="Arial" pitchFamily="34" charset="-122"/>
                <a:cs typeface="Arial" pitchFamily="34" charset="-120"/>
              </a:rPr>
              <a:t>−4.1</a:t>
            </a:r>
            <a:endParaRPr lang="en-US" sz="3000" dirty="0"/>
          </a:p>
        </p:txBody>
      </p:sp>
      <p:sp>
        <p:nvSpPr>
          <p:cNvPr id="14" name="Text 11"/>
          <p:cNvSpPr txBox="1"/>
          <p:nvPr/>
        </p:nvSpPr>
        <p:spPr>
          <a:xfrm>
            <a:off x="379476" y="370332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億円／年</a:t>
            </a:r>
            <a:endParaRPr lang="en-US" sz="1400" dirty="0"/>
          </a:p>
        </p:txBody>
      </p:sp>
      <p:sp>
        <p:nvSpPr>
          <p:cNvPr id="15" name="Text 12"/>
          <p:cNvSpPr txBox="1"/>
          <p:nvPr/>
        </p:nvSpPr>
        <p:spPr>
          <a:xfrm>
            <a:off x="379476" y="4389120"/>
            <a:ext cx="2149526" cy="5486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6.3 → 2.2億円</a:t>
            </a:r>
            <a:endParaRPr lang="en-US" sz="1400" dirty="0"/>
          </a:p>
        </p:txBody>
      </p:sp>
      <p:sp>
        <p:nvSpPr>
          <p:cNvPr id="16" name="Shape 13"/>
          <p:cNvSpPr/>
          <p:nvPr/>
        </p:nvSpPr>
        <p:spPr>
          <a:xfrm>
            <a:off x="2620442" y="2103120"/>
            <a:ext cx="0" cy="3108960"/>
          </a:xfrm>
          <a:prstGeom prst="line">
            <a:avLst/>
          </a:prstGeom>
          <a:noFill/>
          <a:ln w="9525">
            <a:solidFill>
              <a:srgbClr val="E7E6E6"/>
            </a:solidFill>
            <a:prstDash val="solid"/>
          </a:ln>
        </p:spPr>
      </p:sp>
      <p:sp>
        <p:nvSpPr>
          <p:cNvPr id="17" name="Text 14"/>
          <p:cNvSpPr txBox="1"/>
          <p:nvPr/>
        </p:nvSpPr>
        <p:spPr>
          <a:xfrm>
            <a:off x="2711882" y="219456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会社の営業収支</a:t>
            </a:r>
            <a:endParaRPr lang="en-US" sz="1400" dirty="0"/>
          </a:p>
        </p:txBody>
      </p:sp>
      <p:sp>
        <p:nvSpPr>
          <p:cNvPr id="18" name="Text 15"/>
          <p:cNvSpPr txBox="1"/>
          <p:nvPr/>
        </p:nvSpPr>
        <p:spPr>
          <a:xfrm>
            <a:off x="2711882" y="2743200"/>
            <a:ext cx="2149526" cy="914400"/>
          </a:xfrm>
          <a:prstGeom prst="rect">
            <a:avLst/>
          </a:prstGeom>
          <a:noFill/>
          <a:ln/>
        </p:spPr>
        <p:txBody>
          <a:bodyPr wrap="square" lIns="0" tIns="0" rIns="0" bIns="0" rtlCol="0" anchor="ctr"/>
          <a:lstStyle/>
          <a:p>
            <a:pPr algn="ctr" indent="0" marL="0">
              <a:buNone/>
            </a:pPr>
            <a:r>
              <a:rPr lang="en-US" sz="3000" b="1" dirty="0">
                <a:solidFill>
                  <a:srgbClr val="000000"/>
                </a:solidFill>
                <a:latin typeface="Arial" pitchFamily="34" charset="0"/>
                <a:ea typeface="Arial" pitchFamily="34" charset="-122"/>
                <a:cs typeface="Arial" pitchFamily="34" charset="-120"/>
              </a:rPr>
              <a:t>＋0.1</a:t>
            </a:r>
            <a:endParaRPr lang="en-US" sz="3000" dirty="0"/>
          </a:p>
        </p:txBody>
      </p:sp>
      <p:sp>
        <p:nvSpPr>
          <p:cNvPr id="19" name="Text 16"/>
          <p:cNvSpPr txBox="1"/>
          <p:nvPr/>
        </p:nvSpPr>
        <p:spPr>
          <a:xfrm>
            <a:off x="2711882" y="370332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億円／年</a:t>
            </a:r>
            <a:endParaRPr lang="en-US" sz="1400" dirty="0"/>
          </a:p>
        </p:txBody>
      </p:sp>
      <p:sp>
        <p:nvSpPr>
          <p:cNvPr id="20" name="Text 17"/>
          <p:cNvSpPr txBox="1"/>
          <p:nvPr/>
        </p:nvSpPr>
        <p:spPr>
          <a:xfrm>
            <a:off x="2711882" y="4389120"/>
            <a:ext cx="2149526" cy="5486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−5.2 → ＋0.1億円</a:t>
            </a:r>
            <a:endParaRPr lang="en-US" sz="1400" dirty="0"/>
          </a:p>
        </p:txBody>
      </p:sp>
      <p:sp>
        <p:nvSpPr>
          <p:cNvPr id="21" name="Shape 18"/>
          <p:cNvSpPr/>
          <p:nvPr/>
        </p:nvSpPr>
        <p:spPr>
          <a:xfrm>
            <a:off x="4952848" y="2103120"/>
            <a:ext cx="0" cy="3108960"/>
          </a:xfrm>
          <a:prstGeom prst="line">
            <a:avLst/>
          </a:prstGeom>
          <a:noFill/>
          <a:ln w="9525">
            <a:solidFill>
              <a:srgbClr val="E7E6E6"/>
            </a:solidFill>
            <a:prstDash val="solid"/>
          </a:ln>
        </p:spPr>
      </p:sp>
      <p:sp>
        <p:nvSpPr>
          <p:cNvPr id="22" name="Text 19"/>
          <p:cNvSpPr txBox="1"/>
          <p:nvPr/>
        </p:nvSpPr>
        <p:spPr>
          <a:xfrm>
            <a:off x="5044288" y="219456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運行本数</a:t>
            </a:r>
            <a:endParaRPr lang="en-US" sz="1400" dirty="0"/>
          </a:p>
        </p:txBody>
      </p:sp>
      <p:sp>
        <p:nvSpPr>
          <p:cNvPr id="23" name="Text 20"/>
          <p:cNvSpPr txBox="1"/>
          <p:nvPr/>
        </p:nvSpPr>
        <p:spPr>
          <a:xfrm>
            <a:off x="5044288" y="2743200"/>
            <a:ext cx="2149526" cy="914400"/>
          </a:xfrm>
          <a:prstGeom prst="rect">
            <a:avLst/>
          </a:prstGeom>
          <a:noFill/>
          <a:ln/>
        </p:spPr>
        <p:txBody>
          <a:bodyPr wrap="square" lIns="0" tIns="0" rIns="0" bIns="0" rtlCol="0" anchor="ctr"/>
          <a:lstStyle/>
          <a:p>
            <a:pPr algn="ctr" indent="0" marL="0">
              <a:buNone/>
            </a:pPr>
            <a:r>
              <a:rPr lang="en-US" sz="3000" b="1" dirty="0">
                <a:solidFill>
                  <a:srgbClr val="000000"/>
                </a:solidFill>
                <a:latin typeface="Arial" pitchFamily="34" charset="0"/>
                <a:ea typeface="Arial" pitchFamily="34" charset="-122"/>
                <a:cs typeface="Arial" pitchFamily="34" charset="-120"/>
              </a:rPr>
              <a:t>44</a:t>
            </a:r>
            <a:endParaRPr lang="en-US" sz="3000" dirty="0"/>
          </a:p>
        </p:txBody>
      </p:sp>
      <p:sp>
        <p:nvSpPr>
          <p:cNvPr id="24" name="Text 21"/>
          <p:cNvSpPr txBox="1"/>
          <p:nvPr/>
        </p:nvSpPr>
        <p:spPr>
          <a:xfrm>
            <a:off x="5044288" y="370332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本／日</a:t>
            </a:r>
            <a:endParaRPr lang="en-US" sz="1400" dirty="0"/>
          </a:p>
        </p:txBody>
      </p:sp>
      <p:sp>
        <p:nvSpPr>
          <p:cNvPr id="25" name="Text 22"/>
          <p:cNvSpPr txBox="1"/>
          <p:nvPr/>
        </p:nvSpPr>
        <p:spPr>
          <a:xfrm>
            <a:off x="5044288" y="4389120"/>
            <a:ext cx="2149526" cy="5486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現行の本数を維持</a:t>
            </a:r>
            <a:endParaRPr lang="en-US" sz="1400" dirty="0"/>
          </a:p>
        </p:txBody>
      </p:sp>
      <p:sp>
        <p:nvSpPr>
          <p:cNvPr id="26" name="Shape 23"/>
          <p:cNvSpPr/>
          <p:nvPr/>
        </p:nvSpPr>
        <p:spPr>
          <a:xfrm>
            <a:off x="7285253" y="2103120"/>
            <a:ext cx="0" cy="3108960"/>
          </a:xfrm>
          <a:prstGeom prst="line">
            <a:avLst/>
          </a:prstGeom>
          <a:noFill/>
          <a:ln w="9525">
            <a:solidFill>
              <a:srgbClr val="E7E6E6"/>
            </a:solidFill>
            <a:prstDash val="solid"/>
          </a:ln>
        </p:spPr>
      </p:sp>
      <p:sp>
        <p:nvSpPr>
          <p:cNvPr id="27" name="Text 24"/>
          <p:cNvSpPr txBox="1"/>
          <p:nvPr/>
        </p:nvSpPr>
        <p:spPr>
          <a:xfrm>
            <a:off x="7376693" y="219456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輸送人員</a:t>
            </a:r>
            <a:endParaRPr lang="en-US" sz="1400" dirty="0"/>
          </a:p>
        </p:txBody>
      </p:sp>
      <p:sp>
        <p:nvSpPr>
          <p:cNvPr id="28" name="Text 25"/>
          <p:cNvSpPr txBox="1"/>
          <p:nvPr/>
        </p:nvSpPr>
        <p:spPr>
          <a:xfrm>
            <a:off x="7376693" y="2743200"/>
            <a:ext cx="2149526" cy="914400"/>
          </a:xfrm>
          <a:prstGeom prst="rect">
            <a:avLst/>
          </a:prstGeom>
          <a:noFill/>
          <a:ln/>
        </p:spPr>
        <p:txBody>
          <a:bodyPr wrap="square" lIns="0" tIns="0" rIns="0" bIns="0" rtlCol="0" anchor="ctr"/>
          <a:lstStyle/>
          <a:p>
            <a:pPr algn="ctr" indent="0" marL="0">
              <a:buNone/>
            </a:pPr>
            <a:r>
              <a:rPr lang="en-US" sz="3000" b="1" dirty="0">
                <a:solidFill>
                  <a:srgbClr val="000000"/>
                </a:solidFill>
                <a:latin typeface="Arial" pitchFamily="34" charset="0"/>
                <a:ea typeface="Arial" pitchFamily="34" charset="-122"/>
                <a:cs typeface="Arial" pitchFamily="34" charset="-120"/>
              </a:rPr>
              <a:t>＋4%</a:t>
            </a:r>
            <a:endParaRPr lang="en-US" sz="3000" dirty="0"/>
          </a:p>
        </p:txBody>
      </p:sp>
      <p:sp>
        <p:nvSpPr>
          <p:cNvPr id="29" name="Text 26"/>
          <p:cNvSpPr txBox="1"/>
          <p:nvPr/>
        </p:nvSpPr>
        <p:spPr>
          <a:xfrm>
            <a:off x="7376693" y="3703320"/>
            <a:ext cx="2149526" cy="3200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（2030年度）</a:t>
            </a:r>
            <a:endParaRPr lang="en-US" sz="1400" dirty="0"/>
          </a:p>
        </p:txBody>
      </p:sp>
      <p:sp>
        <p:nvSpPr>
          <p:cNvPr id="30" name="Text 27"/>
          <p:cNvSpPr txBox="1"/>
          <p:nvPr/>
        </p:nvSpPr>
        <p:spPr>
          <a:xfrm>
            <a:off x="7376693" y="4389120"/>
            <a:ext cx="2149526" cy="548640"/>
          </a:xfrm>
          <a:prstGeom prst="rect">
            <a:avLst/>
          </a:prstGeom>
          <a:noFill/>
          <a:ln/>
        </p:spPr>
        <p:txBody>
          <a:bodyPr wrap="square" lIns="0" tIns="0" rIns="0" bIns="0" rtlCol="0" anchor="t"/>
          <a:lstStyle/>
          <a:p>
            <a:pPr algn="ctr" indent="0" marL="0">
              <a:buNone/>
            </a:pPr>
            <a:r>
              <a:rPr lang="en-US" sz="1400" dirty="0">
                <a:solidFill>
                  <a:srgbClr val="595959"/>
                </a:solidFill>
                <a:latin typeface="Yu Gothic UI" pitchFamily="34" charset="0"/>
                <a:ea typeface="Yu Gothic UI" pitchFamily="34" charset="-122"/>
                <a:cs typeface="Yu Gothic UI" pitchFamily="34" charset="-120"/>
              </a:rPr>
              <a:t>148 → 154万人（基本比）</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実行計画とご判断いただきたい事項</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最大のリスクは国の補助が得られないことで、その場合は実質負担が4.3億円に増える。2026年度中に国と協議し、認定の見通しを確かめる</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288036" y="1417320"/>
            <a:ext cx="814090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主なリスクと対応</a:t>
            </a:r>
            <a:pPr indent="0" marL="0">
              <a:buNone/>
            </a:pPr>
            <a:r>
              <a:rPr lang="en-US" sz="1100" dirty="0">
                <a:solidFill>
                  <a:srgbClr val="595959"/>
                </a:solidFill>
                <a:latin typeface="Yu Gothic UI" pitchFamily="34" charset="0"/>
                <a:ea typeface="Yu Gothic UI" pitchFamily="34" charset="-122"/>
                <a:cs typeface="Yu Gothic UI" pitchFamily="34" charset="-120"/>
              </a:rPr>
              <a:t>　（影響度：●大　◑中　○小）</a:t>
            </a:r>
            <a:endParaRPr lang="en-US" sz="1400" dirty="0"/>
          </a:p>
        </p:txBody>
      </p:sp>
      <p:sp>
        <p:nvSpPr>
          <p:cNvPr id="7" name="Shape 5"/>
          <p:cNvSpPr/>
          <p:nvPr/>
        </p:nvSpPr>
        <p:spPr>
          <a:xfrm>
            <a:off x="288036" y="1728216"/>
            <a:ext cx="9329623" cy="0"/>
          </a:xfrm>
          <a:prstGeom prst="line">
            <a:avLst/>
          </a:prstGeom>
          <a:noFill/>
          <a:ln w="6350">
            <a:solidFill>
              <a:srgbClr val="BFBFBF"/>
            </a:solidFill>
            <a:prstDash val="solid"/>
          </a:ln>
        </p:spPr>
      </p:sp>
      <p:sp>
        <p:nvSpPr>
          <p:cNvPr id="8" name="Text 6"/>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9" name="Text 7"/>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10" name="Text 8"/>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78</a:t>
            </a:r>
            <a:endParaRPr lang="en-US" sz="9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288036" y="1920240"/>
          <a:ext cx="9329623" cy="914400"/>
        </p:xfrm>
        <a:graphic>
          <a:graphicData uri="http://schemas.openxmlformats.org/drawingml/2006/table">
            <a:tbl>
              <a:tblPr/>
              <a:tblGrid>
                <a:gridCol w="2743200"/>
                <a:gridCol w="3017520"/>
                <a:gridCol w="914400"/>
                <a:gridCol w="2654503"/>
              </a:tblGrid>
              <a:tr h="457200">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リスク</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兆候（何を見るか）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ctr" indent="0" marL="0">
                        <a:buNone/>
                      </a:pPr>
                      <a:r>
                        <a:rPr lang="en-US" sz="1400" b="1" dirty="0">
                          <a:solidFill>
                            <a:srgbClr val="000000"/>
                          </a:solidFill>
                          <a:latin typeface="Yu Gothic UI" pitchFamily="34" charset="0"/>
                          <a:ea typeface="Yu Gothic UI" pitchFamily="34" charset="-122"/>
                          <a:cs typeface="Yu Gothic UI" pitchFamily="34" charset="-120"/>
                        </a:rPr>
                        <a:t>影響度</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c>
                  <a:txBody>
                    <a:bodyPr/>
                    <a:lstStyle/>
                    <a:p>
                      <a:pPr algn="l" indent="0" marL="0">
                        <a:buNone/>
                      </a:pPr>
                      <a:r>
                        <a:rPr lang="en-US" sz="1400" b="1" dirty="0">
                          <a:solidFill>
                            <a:srgbClr val="000000"/>
                          </a:solidFill>
                          <a:latin typeface="Yu Gothic UI" pitchFamily="34" charset="0"/>
                          <a:ea typeface="Yu Gothic UI" pitchFamily="34" charset="-122"/>
                          <a:cs typeface="Yu Gothic UI" pitchFamily="34" charset="-120"/>
                        </a:rPr>
                        <a:t>対応</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7F7F7F"/>
                      </a:solidFill>
                      <a:prstDash val="solid"/>
                      <a:round/>
                      <a:headEnd type="none" w="med" len="med"/>
                      <a:tailEnd type="none" w="med" len="med"/>
                    </a:lnB>
                  </a:tcPr>
                </a:tc>
              </a:tr>
              <a:tr h="868680">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国の補助が得られない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2026年度末までに認定の見通しが立たない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000F78"/>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b="1" dirty="0">
                          <a:solidFill>
                            <a:srgbClr val="000F78"/>
                          </a:solidFill>
                          <a:latin typeface="Yu Gothic UI" pitchFamily="34" charset="0"/>
                          <a:ea typeface="Yu Gothic UI" pitchFamily="34" charset="-122"/>
                          <a:cs typeface="Yu Gothic UI" pitchFamily="34" charset="-120"/>
                        </a:rPr>
                        <a:t>国と事前協議を重ね、計画を補強する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沿線3市の負担割合で合意できない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2027年1月の幹事会で案がまとまらない</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7F7F7F"/>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県が調整案を示す</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運賃改定に利用者が反発する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パブリックコメントで反対が過半</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7F7F7F"/>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通学定期の家族割と同時に実施</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r h="868680">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修繕費が想定を上回る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橋りょう点検で大規模補修が必要と判明</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ctr" indent="0" marL="0">
                        <a:buNone/>
                      </a:pPr>
                      <a:r>
                        <a:rPr lang="en-US" sz="2000" dirty="0">
                          <a:solidFill>
                            <a:srgbClr val="7F7F7F"/>
                          </a:solidFill>
                          <a:latin typeface="Yu Gothic UI" pitchFamily="34" charset="0"/>
                          <a:ea typeface="Yu Gothic UI" pitchFamily="34" charset="-122"/>
                          <a:cs typeface="Yu Gothic UI" pitchFamily="34" charset="-120"/>
                        </a:rPr>
                        <a:t>◑</a:t>
                      </a:r>
                      <a:endParaRPr lang="en-US" sz="20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c>
                  <a:txBody>
                    <a:bodyPr/>
                    <a:lstStyle/>
                    <a:p>
                      <a:pPr algn="l" indent="0" marL="0">
                        <a:buNone/>
                      </a:pPr>
                      <a:r>
                        <a:rPr lang="en-US" sz="1400" dirty="0">
                          <a:solidFill>
                            <a:srgbClr val="000000"/>
                          </a:solidFill>
                          <a:latin typeface="Yu Gothic UI" pitchFamily="34" charset="0"/>
                          <a:ea typeface="Yu Gothic UI" pitchFamily="34" charset="-122"/>
                          <a:cs typeface="Yu Gothic UI" pitchFamily="34" charset="-120"/>
                        </a:rPr>
                        <a:t>補修計画を前倒しで精査する</a:t>
                      </a:r>
                      <a:endParaRPr lang="en-US" sz="1400" dirty="0">
                        <a:latin typeface="Yu Gothic UI" charset="0"/>
                        <a:ea typeface="Yu Gothic UI" charset="0"/>
                        <a:cs typeface="Yu Gothic U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288036" y="256032"/>
            <a:ext cx="50292" cy="914400"/>
          </a:xfrm>
          <a:prstGeom prst="rect">
            <a:avLst/>
          </a:prstGeom>
          <a:solidFill>
            <a:srgbClr val="000F78"/>
          </a:solidFill>
          <a:ln/>
        </p:spPr>
      </p:sp>
      <p:sp>
        <p:nvSpPr>
          <p:cNvPr id="3" name="Text 1"/>
          <p:cNvSpPr txBox="1"/>
          <p:nvPr/>
        </p:nvSpPr>
        <p:spPr>
          <a:xfrm>
            <a:off x="434340" y="237744"/>
            <a:ext cx="9183319" cy="219456"/>
          </a:xfrm>
          <a:prstGeom prst="rect">
            <a:avLst/>
          </a:prstGeom>
          <a:noFill/>
          <a:ln/>
        </p:spPr>
        <p:txBody>
          <a:bodyPr wrap="square" lIns="0" tIns="0" rIns="0" bIns="0" rtlCol="0" anchor="t"/>
          <a:lstStyle/>
          <a:p>
            <a:pPr indent="0" marL="0">
              <a:buNone/>
            </a:pPr>
            <a:r>
              <a:rPr lang="en-US" sz="1100" dirty="0">
                <a:solidFill>
                  <a:srgbClr val="595959"/>
                </a:solidFill>
                <a:latin typeface="Yu Gothic UI" pitchFamily="34" charset="0"/>
                <a:ea typeface="Yu Gothic UI" pitchFamily="34" charset="-122"/>
                <a:cs typeface="Yu Gothic UI" pitchFamily="34" charset="-120"/>
              </a:rPr>
              <a:t>4　ご判断いただきたい事項</a:t>
            </a:r>
            <a:endParaRPr lang="en-US" sz="1100" dirty="0"/>
          </a:p>
        </p:txBody>
      </p:sp>
      <p:sp>
        <p:nvSpPr>
          <p:cNvPr id="4" name="Text 2"/>
          <p:cNvSpPr txBox="1"/>
          <p:nvPr/>
        </p:nvSpPr>
        <p:spPr>
          <a:xfrm>
            <a:off x="434340" y="475488"/>
            <a:ext cx="9183319" cy="694944"/>
          </a:xfrm>
          <a:prstGeom prst="rect">
            <a:avLst/>
          </a:prstGeom>
          <a:noFill/>
          <a:ln/>
        </p:spPr>
        <p:txBody>
          <a:bodyPr wrap="square" lIns="0" tIns="0" rIns="0" bIns="0" rtlCol="0" anchor="ctr"/>
          <a:lstStyle/>
          <a:p>
            <a:pPr indent="0" marL="0">
              <a:lnSpc>
                <a:spcPct val="100000"/>
              </a:lnSpc>
              <a:buNone/>
            </a:pPr>
            <a:r>
              <a:rPr lang="en-US" sz="2000" b="1" dirty="0">
                <a:solidFill>
                  <a:srgbClr val="000F78"/>
                </a:solidFill>
                <a:latin typeface="Yu Gothic UI" pitchFamily="34" charset="0"/>
                <a:ea typeface="Yu Gothic UI" pitchFamily="34" charset="-122"/>
                <a:cs typeface="Yu Gothic UI" pitchFamily="34" charset="-120"/>
              </a:rPr>
              <a:t>本日は、上下分離を基本方針とし、2026年度に協議会を設けることをご判断いただきたい。決定すれば2028年4月の移行に間に合う</a:t>
            </a:r>
            <a:endParaRPr lang="en-US" sz="2000" dirty="0"/>
          </a:p>
        </p:txBody>
      </p:sp>
      <p:sp>
        <p:nvSpPr>
          <p:cNvPr id="5" name="Shape 3"/>
          <p:cNvSpPr/>
          <p:nvPr/>
        </p:nvSpPr>
        <p:spPr>
          <a:xfrm>
            <a:off x="288036" y="1280160"/>
            <a:ext cx="9329623" cy="0"/>
          </a:xfrm>
          <a:prstGeom prst="line">
            <a:avLst/>
          </a:prstGeom>
          <a:noFill/>
          <a:ln w="9525">
            <a:solidFill>
              <a:srgbClr val="BFBFBF"/>
            </a:solidFill>
            <a:prstDash val="solid"/>
          </a:ln>
        </p:spPr>
      </p:sp>
      <p:sp>
        <p:nvSpPr>
          <p:cNvPr id="6" name="Text 4"/>
          <p:cNvSpPr txBox="1"/>
          <p:nvPr/>
        </p:nvSpPr>
        <p:spPr>
          <a:xfrm>
            <a:off x="8657539" y="1417320"/>
            <a:ext cx="960120" cy="237744"/>
          </a:xfrm>
          <a:prstGeom prst="rect">
            <a:avLst/>
          </a:prstGeom>
          <a:noFill/>
          <a:ln w="9525">
            <a:solidFill>
              <a:srgbClr val="BFBFBF"/>
            </a:solidFill>
          </a:ln>
        </p:spPr>
        <p:txBody>
          <a:bodyPr wrap="square" lIns="0" tIns="0" rIns="0" bIns="0" rtlCol="0" anchor="ctr"/>
          <a:lstStyle/>
          <a:p>
            <a:pPr algn="ctr" indent="0" marL="0">
              <a:buNone/>
            </a:pPr>
            <a:r>
              <a:rPr lang="en-US" sz="1100" dirty="0">
                <a:solidFill>
                  <a:srgbClr val="595959"/>
                </a:solidFill>
                <a:latin typeface="Yu Gothic UI" pitchFamily="34" charset="0"/>
                <a:ea typeface="Yu Gothic UI" pitchFamily="34" charset="-122"/>
                <a:cs typeface="Yu Gothic UI" pitchFamily="34" charset="-120"/>
              </a:rPr>
              <a:t>架空の例</a:t>
            </a:r>
            <a:endParaRPr lang="en-US" sz="1100" dirty="0"/>
          </a:p>
        </p:txBody>
      </p:sp>
      <p:sp>
        <p:nvSpPr>
          <p:cNvPr id="7" name="Text 5"/>
          <p:cNvSpPr txBox="1"/>
          <p:nvPr/>
        </p:nvSpPr>
        <p:spPr>
          <a:xfrm>
            <a:off x="288036" y="6272784"/>
            <a:ext cx="7863840" cy="384048"/>
          </a:xfrm>
          <a:prstGeom prst="rect">
            <a:avLst/>
          </a:prstGeom>
          <a:noFill/>
          <a:ln/>
        </p:spPr>
        <p:txBody>
          <a:bodyPr wrap="square" lIns="0" tIns="0" rIns="0" bIns="0" rtlCol="0" anchor="t"/>
          <a:lstStyle/>
          <a:p>
            <a:pPr indent="0" marL="0">
              <a:buNone/>
            </a:pPr>
            <a:r>
              <a:rPr lang="en-US" sz="900" dirty="0">
                <a:solidFill>
                  <a:srgbClr val="595959"/>
                </a:solidFill>
                <a:latin typeface="Yu Gothic UI" pitchFamily="34" charset="0"/>
                <a:ea typeface="Yu Gothic UI" pitchFamily="34" charset="-122"/>
                <a:cs typeface="Yu Gothic UI" pitchFamily="34" charset="-120"/>
              </a:rPr>
              <a:t>注）路線・数値はすべて架空の完成例</a:t>
            </a:r>
            <a:endParaRPr lang="en-US" sz="900" dirty="0"/>
          </a:p>
          <a:p>
            <a:pPr indent="0" marL="0">
              <a:buNone/>
            </a:pPr>
            <a:r>
              <a:rPr lang="en-US" sz="900" dirty="0">
                <a:solidFill>
                  <a:srgbClr val="595959"/>
                </a:solidFill>
                <a:latin typeface="Yu Gothic UI" pitchFamily="34" charset="0"/>
                <a:ea typeface="Yu Gothic UI" pitchFamily="34" charset="-122"/>
                <a:cs typeface="Yu Gothic UI" pitchFamily="34" charset="-120"/>
              </a:rPr>
              <a:t>出所）架空のデータを基に作成</a:t>
            </a:r>
            <a:endParaRPr lang="en-US" sz="900" dirty="0"/>
          </a:p>
        </p:txBody>
      </p:sp>
      <p:sp>
        <p:nvSpPr>
          <p:cNvPr id="8" name="Text 6"/>
          <p:cNvSpPr txBox="1"/>
          <p:nvPr/>
        </p:nvSpPr>
        <p:spPr>
          <a:xfrm>
            <a:off x="9160459" y="6473952"/>
            <a:ext cx="457200" cy="182880"/>
          </a:xfrm>
          <a:prstGeom prst="rect">
            <a:avLst/>
          </a:prstGeom>
          <a:noFill/>
          <a:ln/>
        </p:spPr>
        <p:txBody>
          <a:bodyPr wrap="square" lIns="0" tIns="0" rIns="0" bIns="0" rtlCol="0" anchor="t"/>
          <a:lstStyle/>
          <a:p>
            <a:pPr algn="r" indent="0" marL="0">
              <a:buNone/>
            </a:pPr>
            <a:r>
              <a:rPr lang="en-US" sz="900" dirty="0">
                <a:solidFill>
                  <a:srgbClr val="595959"/>
                </a:solidFill>
                <a:latin typeface="Yu Gothic UI" pitchFamily="34" charset="0"/>
                <a:ea typeface="Yu Gothic UI" pitchFamily="34" charset="-122"/>
                <a:cs typeface="Yu Gothic UI" pitchFamily="34" charset="-120"/>
              </a:rPr>
              <a:t>79</a:t>
            </a:r>
            <a:endParaRPr lang="en-US" sz="900" dirty="0"/>
          </a:p>
        </p:txBody>
      </p:sp>
      <p:sp>
        <p:nvSpPr>
          <p:cNvPr id="10" name="Shape 7"/>
          <p:cNvSpPr/>
          <p:nvPr/>
        </p:nvSpPr>
        <p:spPr>
          <a:xfrm>
            <a:off x="288036" y="1417320"/>
            <a:ext cx="8232343" cy="685800"/>
          </a:xfrm>
          <a:prstGeom prst="rect">
            <a:avLst/>
          </a:prstGeom>
          <a:solidFill>
            <a:srgbClr val="000F78">
              <a:alpha val="10000"/>
            </a:srgbClr>
          </a:solidFill>
          <a:ln w="15875">
            <a:solidFill>
              <a:srgbClr val="000F78"/>
            </a:solidFill>
            <a:prstDash val="solid"/>
          </a:ln>
        </p:spPr>
      </p:sp>
      <p:sp>
        <p:nvSpPr>
          <p:cNvPr id="11" name="Text 8"/>
          <p:cNvSpPr txBox="1"/>
          <p:nvPr/>
        </p:nvSpPr>
        <p:spPr>
          <a:xfrm>
            <a:off x="470916" y="1417320"/>
            <a:ext cx="237744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決めていただきたいこと</a:t>
            </a:r>
            <a:endParaRPr lang="en-US" sz="1400" dirty="0"/>
          </a:p>
        </p:txBody>
      </p:sp>
      <p:sp>
        <p:nvSpPr>
          <p:cNvPr id="12" name="Text 9"/>
          <p:cNvSpPr txBox="1"/>
          <p:nvPr/>
        </p:nvSpPr>
        <p:spPr>
          <a:xfrm>
            <a:off x="2939796" y="1417320"/>
            <a:ext cx="5397703"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上下分離（案B）を基本方針とし、2026年6月に法定協議会を設置すること</a:t>
            </a:r>
            <a:endParaRPr lang="en-US" sz="1400" dirty="0"/>
          </a:p>
        </p:txBody>
      </p:sp>
      <p:sp>
        <p:nvSpPr>
          <p:cNvPr id="13" name="Text 10"/>
          <p:cNvSpPr txBox="1"/>
          <p:nvPr/>
        </p:nvSpPr>
        <p:spPr>
          <a:xfrm>
            <a:off x="288036" y="2331720"/>
            <a:ext cx="5120640"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選択肢</a:t>
            </a:r>
            <a:endParaRPr lang="en-US" sz="1400" dirty="0"/>
          </a:p>
        </p:txBody>
      </p:sp>
      <p:sp>
        <p:nvSpPr>
          <p:cNvPr id="14" name="Shape 11"/>
          <p:cNvSpPr/>
          <p:nvPr/>
        </p:nvSpPr>
        <p:spPr>
          <a:xfrm>
            <a:off x="288036" y="2642616"/>
            <a:ext cx="5120640" cy="0"/>
          </a:xfrm>
          <a:prstGeom prst="line">
            <a:avLst/>
          </a:prstGeom>
          <a:noFill/>
          <a:ln w="6350">
            <a:solidFill>
              <a:srgbClr val="BFBFBF"/>
            </a:solidFill>
            <a:prstDash val="solid"/>
          </a:ln>
        </p:spPr>
      </p:sp>
      <p:sp>
        <p:nvSpPr>
          <p:cNvPr id="15" name="Text 12"/>
          <p:cNvSpPr txBox="1"/>
          <p:nvPr/>
        </p:nvSpPr>
        <p:spPr>
          <a:xfrm>
            <a:off x="288036" y="2743200"/>
            <a:ext cx="19202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案A　現行維持</a:t>
            </a:r>
            <a:endParaRPr lang="en-US" sz="1400" dirty="0"/>
          </a:p>
        </p:txBody>
      </p:sp>
      <p:sp>
        <p:nvSpPr>
          <p:cNvPr id="16" name="Text 13"/>
          <p:cNvSpPr txBox="1"/>
          <p:nvPr/>
        </p:nvSpPr>
        <p:spPr>
          <a:xfrm>
            <a:off x="2253996" y="2743200"/>
            <a:ext cx="182880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実質負担 6.3億円</a:t>
            </a:r>
            <a:endParaRPr lang="en-US" sz="1400" dirty="0"/>
          </a:p>
        </p:txBody>
      </p:sp>
      <p:sp>
        <p:nvSpPr>
          <p:cNvPr id="17" name="Text 14"/>
          <p:cNvSpPr txBox="1"/>
          <p:nvPr/>
        </p:nvSpPr>
        <p:spPr>
          <a:xfrm>
            <a:off x="4128516" y="2743200"/>
            <a:ext cx="128016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利便性 高</a:t>
            </a:r>
            <a:endParaRPr lang="en-US" sz="1400" dirty="0"/>
          </a:p>
        </p:txBody>
      </p:sp>
      <p:sp>
        <p:nvSpPr>
          <p:cNvPr id="18" name="Shape 15"/>
          <p:cNvSpPr/>
          <p:nvPr/>
        </p:nvSpPr>
        <p:spPr>
          <a:xfrm>
            <a:off x="288036" y="3520440"/>
            <a:ext cx="5120640" cy="0"/>
          </a:xfrm>
          <a:prstGeom prst="line">
            <a:avLst/>
          </a:prstGeom>
          <a:noFill/>
          <a:ln w="9525">
            <a:solidFill>
              <a:srgbClr val="E7E6E6"/>
            </a:solidFill>
            <a:prstDash val="solid"/>
          </a:ln>
        </p:spPr>
      </p:sp>
      <p:sp>
        <p:nvSpPr>
          <p:cNvPr id="19" name="Text 16"/>
          <p:cNvSpPr txBox="1"/>
          <p:nvPr/>
        </p:nvSpPr>
        <p:spPr>
          <a:xfrm>
            <a:off x="288036" y="3611880"/>
            <a:ext cx="192024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案B　上下分離</a:t>
            </a:r>
            <a:endParaRPr lang="en-US" sz="1400" dirty="0"/>
          </a:p>
        </p:txBody>
      </p:sp>
      <p:sp>
        <p:nvSpPr>
          <p:cNvPr id="20" name="Text 17"/>
          <p:cNvSpPr txBox="1"/>
          <p:nvPr/>
        </p:nvSpPr>
        <p:spPr>
          <a:xfrm>
            <a:off x="2253996" y="3611880"/>
            <a:ext cx="182880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実質負担 2.2億円</a:t>
            </a:r>
            <a:endParaRPr lang="en-US" sz="1400" dirty="0"/>
          </a:p>
        </p:txBody>
      </p:sp>
      <p:sp>
        <p:nvSpPr>
          <p:cNvPr id="21" name="Text 18"/>
          <p:cNvSpPr txBox="1"/>
          <p:nvPr/>
        </p:nvSpPr>
        <p:spPr>
          <a:xfrm>
            <a:off x="4128516" y="3611880"/>
            <a:ext cx="1280160" cy="685800"/>
          </a:xfrm>
          <a:prstGeom prst="rect">
            <a:avLst/>
          </a:prstGeom>
          <a:noFill/>
          <a:ln/>
        </p:spPr>
        <p:txBody>
          <a:bodyPr wrap="square" lIns="0" tIns="0" rIns="0" bIns="0" rtlCol="0" anchor="ctr"/>
          <a:lstStyle/>
          <a:p>
            <a:pPr indent="0" marL="0">
              <a:buNone/>
            </a:pPr>
            <a:r>
              <a:rPr lang="en-US" sz="1400" b="1" dirty="0">
                <a:solidFill>
                  <a:srgbClr val="000F78"/>
                </a:solidFill>
                <a:latin typeface="Yu Gothic UI" pitchFamily="34" charset="0"/>
                <a:ea typeface="Yu Gothic UI" pitchFamily="34" charset="-122"/>
                <a:cs typeface="Yu Gothic UI" pitchFamily="34" charset="-120"/>
              </a:rPr>
              <a:t>利便性 高</a:t>
            </a:r>
            <a:endParaRPr lang="en-US" sz="1400" dirty="0"/>
          </a:p>
        </p:txBody>
      </p:sp>
      <p:sp>
        <p:nvSpPr>
          <p:cNvPr id="22" name="Shape 19"/>
          <p:cNvSpPr/>
          <p:nvPr/>
        </p:nvSpPr>
        <p:spPr>
          <a:xfrm>
            <a:off x="288036" y="4389120"/>
            <a:ext cx="5120640" cy="0"/>
          </a:xfrm>
          <a:prstGeom prst="line">
            <a:avLst/>
          </a:prstGeom>
          <a:noFill/>
          <a:ln w="9525">
            <a:solidFill>
              <a:srgbClr val="E7E6E6"/>
            </a:solidFill>
            <a:prstDash val="solid"/>
          </a:ln>
        </p:spPr>
      </p:sp>
      <p:sp>
        <p:nvSpPr>
          <p:cNvPr id="23" name="Text 20"/>
          <p:cNvSpPr txBox="1"/>
          <p:nvPr/>
        </p:nvSpPr>
        <p:spPr>
          <a:xfrm>
            <a:off x="288036" y="4480560"/>
            <a:ext cx="19202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案C　BRT転換</a:t>
            </a:r>
            <a:endParaRPr lang="en-US" sz="1400" dirty="0"/>
          </a:p>
        </p:txBody>
      </p:sp>
      <p:sp>
        <p:nvSpPr>
          <p:cNvPr id="24" name="Text 21"/>
          <p:cNvSpPr txBox="1"/>
          <p:nvPr/>
        </p:nvSpPr>
        <p:spPr>
          <a:xfrm>
            <a:off x="2253996" y="4480560"/>
            <a:ext cx="182880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実質負担 2.4億円</a:t>
            </a:r>
            <a:endParaRPr lang="en-US" sz="1400" dirty="0"/>
          </a:p>
        </p:txBody>
      </p:sp>
      <p:sp>
        <p:nvSpPr>
          <p:cNvPr id="25" name="Text 22"/>
          <p:cNvSpPr txBox="1"/>
          <p:nvPr/>
        </p:nvSpPr>
        <p:spPr>
          <a:xfrm>
            <a:off x="4128516" y="4480560"/>
            <a:ext cx="1280160" cy="685800"/>
          </a:xfrm>
          <a:prstGeom prst="rect">
            <a:avLst/>
          </a:prstGeom>
          <a:noFill/>
          <a:ln/>
        </p:spPr>
        <p:txBody>
          <a:bodyPr wrap="square" lIns="0" tIns="0" rIns="0" bIns="0" rtlCol="0" anchor="ctr"/>
          <a:lstStyle/>
          <a:p>
            <a:pPr indent="0" marL="0">
              <a:buNone/>
            </a:pPr>
            <a:r>
              <a:rPr lang="en-US" sz="1400" dirty="0">
                <a:solidFill>
                  <a:srgbClr val="000000"/>
                </a:solidFill>
                <a:latin typeface="Yu Gothic UI" pitchFamily="34" charset="0"/>
                <a:ea typeface="Yu Gothic UI" pitchFamily="34" charset="-122"/>
                <a:cs typeface="Yu Gothic UI" pitchFamily="34" charset="-120"/>
              </a:rPr>
              <a:t>利便性 中</a:t>
            </a:r>
            <a:endParaRPr lang="en-US" sz="1400" dirty="0"/>
          </a:p>
        </p:txBody>
      </p:sp>
      <p:sp>
        <p:nvSpPr>
          <p:cNvPr id="26" name="Shape 23"/>
          <p:cNvSpPr/>
          <p:nvPr/>
        </p:nvSpPr>
        <p:spPr>
          <a:xfrm>
            <a:off x="288036" y="5257800"/>
            <a:ext cx="5120640" cy="0"/>
          </a:xfrm>
          <a:prstGeom prst="line">
            <a:avLst/>
          </a:prstGeom>
          <a:noFill/>
          <a:ln w="9525">
            <a:solidFill>
              <a:srgbClr val="E7E6E6"/>
            </a:solidFill>
            <a:prstDash val="solid"/>
          </a:ln>
        </p:spPr>
      </p:sp>
      <p:sp>
        <p:nvSpPr>
          <p:cNvPr id="27" name="Shape 24"/>
          <p:cNvSpPr/>
          <p:nvPr/>
        </p:nvSpPr>
        <p:spPr>
          <a:xfrm>
            <a:off x="242316" y="3611880"/>
            <a:ext cx="5212080" cy="777240"/>
          </a:xfrm>
          <a:prstGeom prst="rect">
            <a:avLst/>
          </a:prstGeom>
          <a:ln w="19050">
            <a:solidFill>
              <a:srgbClr val="000F78"/>
            </a:solidFill>
            <a:prstDash val="solid"/>
          </a:ln>
        </p:spPr>
      </p:sp>
      <p:sp>
        <p:nvSpPr>
          <p:cNvPr id="28" name="Text 25"/>
          <p:cNvSpPr txBox="1"/>
          <p:nvPr/>
        </p:nvSpPr>
        <p:spPr>
          <a:xfrm>
            <a:off x="5774436" y="2331720"/>
            <a:ext cx="384322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判断の前提</a:t>
            </a:r>
            <a:endParaRPr lang="en-US" sz="1400" dirty="0"/>
          </a:p>
        </p:txBody>
      </p:sp>
      <p:sp>
        <p:nvSpPr>
          <p:cNvPr id="29" name="Shape 26"/>
          <p:cNvSpPr/>
          <p:nvPr/>
        </p:nvSpPr>
        <p:spPr>
          <a:xfrm>
            <a:off x="5774436" y="2642616"/>
            <a:ext cx="3843223" cy="0"/>
          </a:xfrm>
          <a:prstGeom prst="line">
            <a:avLst/>
          </a:prstGeom>
          <a:noFill/>
          <a:ln w="6350">
            <a:solidFill>
              <a:srgbClr val="BFBFBF"/>
            </a:solidFill>
            <a:prstDash val="solid"/>
          </a:ln>
        </p:spPr>
      </p:sp>
      <p:sp>
        <p:nvSpPr>
          <p:cNvPr id="30" name="Text 27"/>
          <p:cNvSpPr txBox="1"/>
          <p:nvPr/>
        </p:nvSpPr>
        <p:spPr>
          <a:xfrm>
            <a:off x="5774436" y="2743200"/>
            <a:ext cx="3843223" cy="11887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・国の補助は施設費用差額の2分の1</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・線路使用料は年1.0億円</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・負担割合は協議会で決める</a:t>
            </a:r>
            <a:endParaRPr lang="en-US" sz="1400" dirty="0"/>
          </a:p>
        </p:txBody>
      </p:sp>
      <p:sp>
        <p:nvSpPr>
          <p:cNvPr id="31" name="Text 28"/>
          <p:cNvSpPr txBox="1"/>
          <p:nvPr/>
        </p:nvSpPr>
        <p:spPr>
          <a:xfrm>
            <a:off x="5774436" y="4069080"/>
            <a:ext cx="3843223" cy="274320"/>
          </a:xfrm>
          <a:prstGeom prst="rect">
            <a:avLst/>
          </a:prstGeom>
          <a:noFill/>
          <a:ln/>
        </p:spPr>
        <p:txBody>
          <a:bodyPr wrap="square" lIns="0" tIns="0" rIns="0" bIns="0" rtlCol="0" anchor="t"/>
          <a:lstStyle/>
          <a:p>
            <a:pPr indent="0" marL="0">
              <a:buNone/>
            </a:pPr>
            <a:r>
              <a:rPr lang="en-US" sz="1400" b="1" dirty="0">
                <a:solidFill>
                  <a:srgbClr val="000000"/>
                </a:solidFill>
                <a:latin typeface="Yu Gothic UI" pitchFamily="34" charset="0"/>
                <a:ea typeface="Yu Gothic UI" pitchFamily="34" charset="-122"/>
                <a:cs typeface="Yu Gothic UI" pitchFamily="34" charset="-120"/>
              </a:rPr>
              <a:t>決定後の動き</a:t>
            </a:r>
            <a:endParaRPr lang="en-US" sz="1400" dirty="0"/>
          </a:p>
        </p:txBody>
      </p:sp>
      <p:sp>
        <p:nvSpPr>
          <p:cNvPr id="32" name="Shape 29"/>
          <p:cNvSpPr/>
          <p:nvPr/>
        </p:nvSpPr>
        <p:spPr>
          <a:xfrm>
            <a:off x="5774436" y="4379976"/>
            <a:ext cx="3843223" cy="0"/>
          </a:xfrm>
          <a:prstGeom prst="line">
            <a:avLst/>
          </a:prstGeom>
          <a:noFill/>
          <a:ln w="6350">
            <a:solidFill>
              <a:srgbClr val="BFBFBF"/>
            </a:solidFill>
            <a:prstDash val="solid"/>
          </a:ln>
        </p:spPr>
      </p:sp>
      <p:sp>
        <p:nvSpPr>
          <p:cNvPr id="33" name="Text 30"/>
          <p:cNvSpPr txBox="1"/>
          <p:nvPr/>
        </p:nvSpPr>
        <p:spPr>
          <a:xfrm>
            <a:off x="5774436" y="4480560"/>
            <a:ext cx="3843223" cy="1188720"/>
          </a:xfrm>
          <a:prstGeom prst="rect">
            <a:avLst/>
          </a:prstGeom>
          <a:noFill/>
          <a:ln/>
        </p:spPr>
        <p:txBody>
          <a:bodyPr wrap="square" lIns="0" tIns="0" rIns="0" bIns="0" rtlCol="0" anchor="t"/>
          <a:lstStyle/>
          <a:p>
            <a:pPr indent="0" marL="0">
              <a:buNone/>
            </a:pPr>
            <a:r>
              <a:rPr lang="en-US" sz="1400" dirty="0">
                <a:solidFill>
                  <a:srgbClr val="000000"/>
                </a:solidFill>
                <a:latin typeface="Yu Gothic UI" pitchFamily="34" charset="0"/>
                <a:ea typeface="Yu Gothic UI" pitchFamily="34" charset="-122"/>
                <a:cs typeface="Yu Gothic UI" pitchFamily="34" charset="-120"/>
              </a:rPr>
              <a:t>2026年6月　法定協議会を設置</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2027年3月　負担割合を合意</a:t>
            </a:r>
            <a:endParaRPr lang="en-US" sz="1400" dirty="0"/>
          </a:p>
          <a:p>
            <a:pPr indent="0" marL="0">
              <a:buNone/>
            </a:pPr>
            <a:r>
              <a:rPr lang="en-US" sz="1400" dirty="0">
                <a:solidFill>
                  <a:srgbClr val="000000"/>
                </a:solidFill>
                <a:latin typeface="Yu Gothic UI" pitchFamily="34" charset="0"/>
                <a:ea typeface="Yu Gothic UI" pitchFamily="34" charset="-122"/>
                <a:cs typeface="Yu Gothic UI" pitchFamily="34" charset="-120"/>
              </a:rPr>
              <a:t>2028年4月　上下分離で運行開始</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パターン見本デッキ</dc:title>
  <dc:subject>PptxGenJS Presentation</dc:subject>
  <dc:creator>PptxGenJS</dc:creator>
  <cp:lastModifiedBy>PptxGenJS</cp:lastModifiedBy>
  <cp:revision>1</cp:revision>
  <dcterms:created xsi:type="dcterms:W3CDTF">2026-10-20T07:54:39Z</dcterms:created>
  <dcterms:modified xsi:type="dcterms:W3CDTF">2026-10-20T07:54:39Z</dcterms:modified>
</cp:coreProperties>
</file>